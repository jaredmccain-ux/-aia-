
<file path=[Content_Types].xml><?xml version="1.0" encoding="utf-8"?>
<Types xmlns="http://schemas.openxmlformats.org/package/2006/content-types">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Lst>
  <p:notesMasterIdLst>
    <p:notesMasterId r:id="rId66"/>
  </p:notesMasterIdLst>
  <p:handoutMasterIdLst>
    <p:handoutMasterId r:id="rId67"/>
  </p:handoutMasterIdLst>
  <p:sldIdLst>
    <p:sldId id="345" r:id="rId3"/>
    <p:sldId id="346" r:id="rId4"/>
    <p:sldId id="387" r:id="rId5"/>
    <p:sldId id="356" r:id="rId6"/>
    <p:sldId id="418" r:id="rId7"/>
    <p:sldId id="419" r:id="rId8"/>
    <p:sldId id="390" r:id="rId9"/>
    <p:sldId id="389" r:id="rId10"/>
    <p:sldId id="421" r:id="rId11"/>
    <p:sldId id="388" r:id="rId12"/>
    <p:sldId id="391" r:id="rId13"/>
    <p:sldId id="420" r:id="rId14"/>
    <p:sldId id="392" r:id="rId15"/>
    <p:sldId id="393" r:id="rId16"/>
    <p:sldId id="349" r:id="rId17"/>
    <p:sldId id="444" r:id="rId18"/>
    <p:sldId id="445" r:id="rId19"/>
    <p:sldId id="394" r:id="rId20"/>
    <p:sldId id="397" r:id="rId21"/>
    <p:sldId id="469" r:id="rId22"/>
    <p:sldId id="385" r:id="rId23"/>
    <p:sldId id="402" r:id="rId24"/>
    <p:sldId id="404" r:id="rId25"/>
    <p:sldId id="405" r:id="rId26"/>
    <p:sldId id="424" r:id="rId27"/>
    <p:sldId id="466" r:id="rId28"/>
    <p:sldId id="447" r:id="rId29"/>
    <p:sldId id="386" r:id="rId30"/>
    <p:sldId id="449" r:id="rId31"/>
    <p:sldId id="464" r:id="rId32"/>
    <p:sldId id="451" r:id="rId33"/>
    <p:sldId id="452" r:id="rId34"/>
    <p:sldId id="465" r:id="rId35"/>
    <p:sldId id="454" r:id="rId36"/>
    <p:sldId id="455" r:id="rId37"/>
    <p:sldId id="395" r:id="rId38"/>
    <p:sldId id="396" r:id="rId39"/>
    <p:sldId id="398" r:id="rId40"/>
    <p:sldId id="456" r:id="rId41"/>
    <p:sldId id="457" r:id="rId42"/>
    <p:sldId id="401" r:id="rId43"/>
    <p:sldId id="458" r:id="rId44"/>
    <p:sldId id="460" r:id="rId45"/>
    <p:sldId id="406" r:id="rId46"/>
    <p:sldId id="416" r:id="rId47"/>
    <p:sldId id="417" r:id="rId48"/>
    <p:sldId id="408" r:id="rId49"/>
    <p:sldId id="461" r:id="rId50"/>
    <p:sldId id="462" r:id="rId51"/>
    <p:sldId id="442" r:id="rId52"/>
    <p:sldId id="434" r:id="rId53"/>
    <p:sldId id="431" r:id="rId54"/>
    <p:sldId id="432" r:id="rId55"/>
    <p:sldId id="436" r:id="rId56"/>
    <p:sldId id="437" r:id="rId57"/>
    <p:sldId id="438" r:id="rId58"/>
    <p:sldId id="433" r:id="rId59"/>
    <p:sldId id="439" r:id="rId60"/>
    <p:sldId id="430" r:id="rId61"/>
    <p:sldId id="443" r:id="rId62"/>
    <p:sldId id="423" r:id="rId63"/>
    <p:sldId id="429" r:id="rId64"/>
    <p:sldId id="368" r:id="rId65"/>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越 李" initials="越" lastIdx="1" clrIdx="0">
    <p:extLst>
      <p:ext uri="{19B8F6BF-5375-455C-9EA6-DF929625EA0E}">
        <p15:presenceInfo xmlns:p15="http://schemas.microsoft.com/office/powerpoint/2012/main" userId="62eeef3d7da66e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5C5FF"/>
    <a:srgbClr val="FFFFFF"/>
    <a:srgbClr val="898989"/>
    <a:srgbClr val="E600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70" autoAdjust="0"/>
    <p:restoredTop sz="83441" autoAdjust="0"/>
  </p:normalViewPr>
  <p:slideViewPr>
    <p:cSldViewPr snapToGrid="0" showGuides="1">
      <p:cViewPr varScale="1">
        <p:scale>
          <a:sx n="88" d="100"/>
          <a:sy n="88" d="100"/>
        </p:scale>
        <p:origin x="632" y="18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a:t>集成学习的表现</a:t>
            </a:r>
            <a:endParaRPr lang="en-GB"/>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zh-CN"/>
        </a:p>
      </c:txPr>
    </c:title>
    <c:autoTitleDeleted val="0"/>
    <c:plotArea>
      <c:layout/>
      <c:lineChart>
        <c:grouping val="stacked"/>
        <c:varyColors val="0"/>
        <c:ser>
          <c:idx val="0"/>
          <c:order val="0"/>
          <c:tx>
            <c:strRef>
              <c:f>Sheet1!$B$1</c:f>
              <c:strCache>
                <c:ptCount val="1"/>
                <c:pt idx="0">
                  <c:v>Combination</c:v>
                </c:pt>
              </c:strCache>
            </c:strRef>
          </c:tx>
          <c:spPr>
            <a:ln w="31750" cap="rnd">
              <a:solidFill>
                <a:schemeClr val="accent1"/>
              </a:solidFill>
              <a:round/>
            </a:ln>
            <a:effectLst/>
          </c:spPr>
          <c:marker>
            <c:symbol val="none"/>
          </c:marker>
          <c:cat>
            <c:numRef>
              <c:f>Sheet1!$A$2:$A$6</c:f>
              <c:numCache>
                <c:formatCode>General</c:formatCode>
                <c:ptCount val="5"/>
                <c:pt idx="0">
                  <c:v>0</c:v>
                </c:pt>
                <c:pt idx="1">
                  <c:v>5</c:v>
                </c:pt>
                <c:pt idx="2">
                  <c:v>15</c:v>
                </c:pt>
                <c:pt idx="3">
                  <c:v>20</c:v>
                </c:pt>
                <c:pt idx="4">
                  <c:v>25</c:v>
                </c:pt>
              </c:numCache>
            </c:numRef>
          </c:cat>
          <c:val>
            <c:numRef>
              <c:f>Sheet1!$B$2:$B$6</c:f>
              <c:numCache>
                <c:formatCode>General</c:formatCode>
                <c:ptCount val="5"/>
                <c:pt idx="0">
                  <c:v>0</c:v>
                </c:pt>
                <c:pt idx="1">
                  <c:v>0.01</c:v>
                </c:pt>
                <c:pt idx="2">
                  <c:v>0.03</c:v>
                </c:pt>
                <c:pt idx="3">
                  <c:v>7.0000000000000007E-2</c:v>
                </c:pt>
                <c:pt idx="4">
                  <c:v>0.15</c:v>
                </c:pt>
              </c:numCache>
            </c:numRef>
          </c:val>
          <c:smooth val="0"/>
          <c:extLst>
            <c:ext xmlns:c16="http://schemas.microsoft.com/office/drawing/2014/chart" uri="{C3380CC4-5D6E-409C-BE32-E72D297353CC}">
              <c16:uniqueId val="{00000000-2942-FA4C-9DB3-554B717D82C2}"/>
            </c:ext>
          </c:extLst>
        </c:ser>
        <c:ser>
          <c:idx val="1"/>
          <c:order val="1"/>
          <c:tx>
            <c:strRef>
              <c:f>Sheet1!$C$1</c:f>
              <c:strCache>
                <c:ptCount val="1"/>
                <c:pt idx="0">
                  <c:v>Best single</c:v>
                </c:pt>
              </c:strCache>
            </c:strRef>
          </c:tx>
          <c:spPr>
            <a:ln w="31750" cap="rnd">
              <a:solidFill>
                <a:schemeClr val="accent2"/>
              </a:solidFill>
              <a:round/>
            </a:ln>
            <a:effectLst/>
          </c:spPr>
          <c:marker>
            <c:symbol val="none"/>
          </c:marker>
          <c:cat>
            <c:numRef>
              <c:f>Sheet1!$A$2:$A$6</c:f>
              <c:numCache>
                <c:formatCode>General</c:formatCode>
                <c:ptCount val="5"/>
                <c:pt idx="0">
                  <c:v>0</c:v>
                </c:pt>
                <c:pt idx="1">
                  <c:v>5</c:v>
                </c:pt>
                <c:pt idx="2">
                  <c:v>15</c:v>
                </c:pt>
                <c:pt idx="3">
                  <c:v>20</c:v>
                </c:pt>
                <c:pt idx="4">
                  <c:v>25</c:v>
                </c:pt>
              </c:numCache>
            </c:numRef>
          </c:cat>
          <c:val>
            <c:numRef>
              <c:f>Sheet1!$C$2:$C$6</c:f>
              <c:numCache>
                <c:formatCode>General</c:formatCode>
                <c:ptCount val="5"/>
                <c:pt idx="0">
                  <c:v>0</c:v>
                </c:pt>
                <c:pt idx="1">
                  <c:v>0.02</c:v>
                </c:pt>
                <c:pt idx="2">
                  <c:v>0.05</c:v>
                </c:pt>
                <c:pt idx="3">
                  <c:v>0.11</c:v>
                </c:pt>
                <c:pt idx="4">
                  <c:v>0.21</c:v>
                </c:pt>
              </c:numCache>
            </c:numRef>
          </c:val>
          <c:smooth val="0"/>
          <c:extLst>
            <c:ext xmlns:c16="http://schemas.microsoft.com/office/drawing/2014/chart" uri="{C3380CC4-5D6E-409C-BE32-E72D297353CC}">
              <c16:uniqueId val="{00000001-2942-FA4C-9DB3-554B717D82C2}"/>
            </c:ext>
          </c:extLst>
        </c:ser>
        <c:ser>
          <c:idx val="2"/>
          <c:order val="2"/>
          <c:tx>
            <c:strRef>
              <c:f>Sheet1!$D$1</c:f>
              <c:strCache>
                <c:ptCount val="1"/>
                <c:pt idx="0">
                  <c:v>Average</c:v>
                </c:pt>
              </c:strCache>
            </c:strRef>
          </c:tx>
          <c:spPr>
            <a:ln w="31750" cap="rnd">
              <a:solidFill>
                <a:schemeClr val="accent3"/>
              </a:solidFill>
              <a:round/>
            </a:ln>
            <a:effectLst/>
          </c:spPr>
          <c:marker>
            <c:symbol val="none"/>
          </c:marker>
          <c:cat>
            <c:numRef>
              <c:f>Sheet1!$A$2:$A$6</c:f>
              <c:numCache>
                <c:formatCode>General</c:formatCode>
                <c:ptCount val="5"/>
                <c:pt idx="0">
                  <c:v>0</c:v>
                </c:pt>
                <c:pt idx="1">
                  <c:v>5</c:v>
                </c:pt>
                <c:pt idx="2">
                  <c:v>15</c:v>
                </c:pt>
                <c:pt idx="3">
                  <c:v>20</c:v>
                </c:pt>
                <c:pt idx="4">
                  <c:v>25</c:v>
                </c:pt>
              </c:numCache>
            </c:numRef>
          </c:cat>
          <c:val>
            <c:numRef>
              <c:f>Sheet1!$D$2:$D$6</c:f>
              <c:numCache>
                <c:formatCode>General</c:formatCode>
                <c:ptCount val="5"/>
                <c:pt idx="0">
                  <c:v>0</c:v>
                </c:pt>
                <c:pt idx="1">
                  <c:v>0.03</c:v>
                </c:pt>
                <c:pt idx="2">
                  <c:v>0.06</c:v>
                </c:pt>
                <c:pt idx="3">
                  <c:v>0.13</c:v>
                </c:pt>
                <c:pt idx="4">
                  <c:v>0.24</c:v>
                </c:pt>
              </c:numCache>
            </c:numRef>
          </c:val>
          <c:smooth val="0"/>
          <c:extLst>
            <c:ext xmlns:c16="http://schemas.microsoft.com/office/drawing/2014/chart" uri="{C3380CC4-5D6E-409C-BE32-E72D297353CC}">
              <c16:uniqueId val="{00000002-2942-FA4C-9DB3-554B717D82C2}"/>
            </c:ext>
          </c:extLst>
        </c:ser>
        <c:dLbls>
          <c:showLegendKey val="0"/>
          <c:showVal val="0"/>
          <c:showCatName val="0"/>
          <c:showSerName val="0"/>
          <c:showPercent val="0"/>
          <c:showBubbleSize val="0"/>
        </c:dLbls>
        <c:hiLowLines>
          <c:spPr>
            <a:ln w="9525">
              <a:solidFill>
                <a:schemeClr val="tx2">
                  <a:lumMod val="60000"/>
                  <a:lumOff val="40000"/>
                </a:schemeClr>
              </a:solidFill>
              <a:prstDash val="dash"/>
            </a:ln>
            <a:effectLst/>
          </c:spPr>
        </c:hiLowLines>
        <c:smooth val="0"/>
        <c:axId val="799309807"/>
        <c:axId val="600773311"/>
      </c:lineChart>
      <c:catAx>
        <c:axId val="799309807"/>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ltLang="zh-CN" dirty="0"/>
                  <a:t>Noise</a:t>
                </a:r>
                <a:r>
                  <a:rPr lang="zh-CN" altLang="en-US" dirty="0"/>
                  <a:t> </a:t>
                </a:r>
                <a:r>
                  <a:rPr lang="en-US" altLang="zh-CN" dirty="0"/>
                  <a:t>level</a:t>
                </a:r>
                <a:endParaRPr lang="en-GB"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zh-CN"/>
          </a:p>
        </c:txPr>
        <c:crossAx val="600773311"/>
        <c:crosses val="autoZero"/>
        <c:auto val="1"/>
        <c:lblAlgn val="ctr"/>
        <c:lblOffset val="100"/>
        <c:noMultiLvlLbl val="0"/>
      </c:catAx>
      <c:valAx>
        <c:axId val="600773311"/>
        <c:scaling>
          <c:orientation val="minMax"/>
        </c:scaling>
        <c:delete val="0"/>
        <c:axPos val="l"/>
        <c:majorGridlines>
          <c:spPr>
            <a:ln w="9525" cap="flat" cmpd="sng" algn="ctr">
              <a:solidFill>
                <a:schemeClr val="lt1">
                  <a:hueOff val="0"/>
                  <a:satOff val="0"/>
                  <a:lumOff val="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US" altLang="zh-CN" dirty="0"/>
                  <a:t>error</a:t>
                </a:r>
                <a:endParaRPr lang="en-GB"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zh-C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zh-CN"/>
          </a:p>
        </c:txPr>
        <c:crossAx val="799309807"/>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zh-CN"/>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b="1"/>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1">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F1B8D-104D-AB4C-A0C0-DB8C4902FC94}"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GB"/>
        </a:p>
      </dgm:t>
    </dgm:pt>
    <dgm:pt modelId="{AC3E6B0F-F1CA-4641-9C8B-1B56162FFBF4}">
      <dgm:prSet phldrT="[Text]"/>
      <dgm:spPr/>
      <dgm:t>
        <a:bodyPr/>
        <a:lstStyle/>
        <a:p>
          <a:r>
            <a:rPr lang="en-GB" dirty="0" err="1"/>
            <a:t>并行集成思想</a:t>
          </a:r>
          <a:endParaRPr lang="en-GB" dirty="0"/>
        </a:p>
      </dgm:t>
    </dgm:pt>
    <dgm:pt modelId="{66AB75D5-EF04-9541-AFEB-DF4C9BEFB9B7}" type="parTrans" cxnId="{73AA6B0D-0CE5-5049-AC7C-F507EE883C51}">
      <dgm:prSet/>
      <dgm:spPr/>
      <dgm:t>
        <a:bodyPr/>
        <a:lstStyle/>
        <a:p>
          <a:endParaRPr lang="en-GB"/>
        </a:p>
      </dgm:t>
    </dgm:pt>
    <dgm:pt modelId="{9330186B-E380-0B41-9F7E-E95B60FC7EB8}" type="sibTrans" cxnId="{73AA6B0D-0CE5-5049-AC7C-F507EE883C51}">
      <dgm:prSet/>
      <dgm:spPr/>
      <dgm:t>
        <a:bodyPr/>
        <a:lstStyle/>
        <a:p>
          <a:endParaRPr lang="en-GB"/>
        </a:p>
      </dgm:t>
    </dgm:pt>
    <dgm:pt modelId="{CFEEC66A-49F3-0A4E-B0FC-1503D966EF58}">
      <dgm:prSet phldrT="[Text]"/>
      <dgm:spPr/>
      <dgm:t>
        <a:bodyPr/>
        <a:lstStyle/>
        <a:p>
          <a:r>
            <a:rPr lang="en-US" altLang="zh-CN" dirty="0"/>
            <a:t>Bagging</a:t>
          </a:r>
          <a:r>
            <a:rPr lang="zh-CN" altLang="en-US" dirty="0"/>
            <a:t>算法</a:t>
          </a:r>
          <a:endParaRPr lang="en-GB" dirty="0"/>
        </a:p>
      </dgm:t>
    </dgm:pt>
    <dgm:pt modelId="{520134DD-3B9D-5E4F-8651-7BEF146DD906}" type="parTrans" cxnId="{57A241E1-2ACA-D448-B961-2585BA262723}">
      <dgm:prSet/>
      <dgm:spPr/>
      <dgm:t>
        <a:bodyPr/>
        <a:lstStyle/>
        <a:p>
          <a:endParaRPr lang="en-GB"/>
        </a:p>
      </dgm:t>
    </dgm:pt>
    <dgm:pt modelId="{1895AB2B-850A-9F42-9D15-60A179F1FEDD}" type="sibTrans" cxnId="{57A241E1-2ACA-D448-B961-2585BA262723}">
      <dgm:prSet/>
      <dgm:spPr/>
      <dgm:t>
        <a:bodyPr/>
        <a:lstStyle/>
        <a:p>
          <a:endParaRPr lang="en-GB"/>
        </a:p>
      </dgm:t>
    </dgm:pt>
    <dgm:pt modelId="{BA320F82-11DE-6549-8FE8-A4F56275A1BF}">
      <dgm:prSet phldrT="[Text]"/>
      <dgm:spPr/>
      <dgm:t>
        <a:bodyPr/>
        <a:lstStyle/>
        <a:p>
          <a:r>
            <a:rPr lang="en-GB" dirty="0" err="1"/>
            <a:t>随机森林</a:t>
          </a:r>
          <a:endParaRPr lang="en-GB" dirty="0"/>
        </a:p>
      </dgm:t>
    </dgm:pt>
    <dgm:pt modelId="{F8FD69BE-D425-504A-B2E3-1D300A35F734}" type="parTrans" cxnId="{878F27FB-B8F5-7D46-9EE5-98E629455C10}">
      <dgm:prSet/>
      <dgm:spPr/>
      <dgm:t>
        <a:bodyPr/>
        <a:lstStyle/>
        <a:p>
          <a:endParaRPr lang="en-GB"/>
        </a:p>
      </dgm:t>
    </dgm:pt>
    <dgm:pt modelId="{A552C4F1-8909-D04B-8B66-A68C94A67E0B}" type="sibTrans" cxnId="{878F27FB-B8F5-7D46-9EE5-98E629455C10}">
      <dgm:prSet/>
      <dgm:spPr/>
      <dgm:t>
        <a:bodyPr/>
        <a:lstStyle/>
        <a:p>
          <a:endParaRPr lang="en-GB"/>
        </a:p>
      </dgm:t>
    </dgm:pt>
    <dgm:pt modelId="{39316FB3-BC05-A24A-843B-B5DF4644FDD1}" type="pres">
      <dgm:prSet presAssocID="{7D9F1B8D-104D-AB4C-A0C0-DB8C4902FC94}" presName="rootnode" presStyleCnt="0">
        <dgm:presLayoutVars>
          <dgm:chMax/>
          <dgm:chPref/>
          <dgm:dir/>
          <dgm:animLvl val="lvl"/>
        </dgm:presLayoutVars>
      </dgm:prSet>
      <dgm:spPr/>
    </dgm:pt>
    <dgm:pt modelId="{F786409A-EED4-DB44-9774-C5518BB0F07B}" type="pres">
      <dgm:prSet presAssocID="{AC3E6B0F-F1CA-4641-9C8B-1B56162FFBF4}" presName="composite" presStyleCnt="0"/>
      <dgm:spPr/>
    </dgm:pt>
    <dgm:pt modelId="{0F0112FF-A221-9B4A-A8CF-2162868A0822}" type="pres">
      <dgm:prSet presAssocID="{AC3E6B0F-F1CA-4641-9C8B-1B56162FFBF4}" presName="bentUpArrow1" presStyleLbl="alignImgPlace1" presStyleIdx="0" presStyleCnt="2" custScaleX="66326" custScaleY="110123" custLinFactNeighborX="-1841" custLinFactNeighborY="-27248"/>
      <dgm:spPr/>
    </dgm:pt>
    <dgm:pt modelId="{549BC535-03B8-9A48-BD89-6F15B200CBEA}" type="pres">
      <dgm:prSet presAssocID="{AC3E6B0F-F1CA-4641-9C8B-1B56162FFBF4}" presName="ParentText" presStyleLbl="node1" presStyleIdx="0" presStyleCnt="3" custScaleX="161005" custScaleY="47228">
        <dgm:presLayoutVars>
          <dgm:chMax val="1"/>
          <dgm:chPref val="1"/>
          <dgm:bulletEnabled val="1"/>
        </dgm:presLayoutVars>
      </dgm:prSet>
      <dgm:spPr/>
    </dgm:pt>
    <dgm:pt modelId="{36CD6A65-D7FE-D848-8536-2C415C1AD604}" type="pres">
      <dgm:prSet presAssocID="{AC3E6B0F-F1CA-4641-9C8B-1B56162FFBF4}" presName="ChildText" presStyleLbl="revTx" presStyleIdx="0" presStyleCnt="2">
        <dgm:presLayoutVars>
          <dgm:chMax val="0"/>
          <dgm:chPref val="0"/>
          <dgm:bulletEnabled val="1"/>
        </dgm:presLayoutVars>
      </dgm:prSet>
      <dgm:spPr/>
    </dgm:pt>
    <dgm:pt modelId="{9B520D02-C073-E14C-973B-BDFCE3D83BD9}" type="pres">
      <dgm:prSet presAssocID="{9330186B-E380-0B41-9F7E-E95B60FC7EB8}" presName="sibTrans" presStyleCnt="0"/>
      <dgm:spPr/>
    </dgm:pt>
    <dgm:pt modelId="{3ACAA875-96F1-F845-B638-9CBC7EEEF029}" type="pres">
      <dgm:prSet presAssocID="{CFEEC66A-49F3-0A4E-B0FC-1503D966EF58}" presName="composite" presStyleCnt="0"/>
      <dgm:spPr/>
    </dgm:pt>
    <dgm:pt modelId="{767ECD5B-C965-8145-9C7B-BBBF6140C76F}" type="pres">
      <dgm:prSet presAssocID="{CFEEC66A-49F3-0A4E-B0FC-1503D966EF58}" presName="bentUpArrow1" presStyleLbl="alignImgPlace1" presStyleIdx="1" presStyleCnt="2" custLinFactNeighborX="26171" custLinFactNeighborY="-32987"/>
      <dgm:spPr/>
    </dgm:pt>
    <dgm:pt modelId="{D05DAF7B-6E65-F349-B64F-502D66BBCDC9}" type="pres">
      <dgm:prSet presAssocID="{CFEEC66A-49F3-0A4E-B0FC-1503D966EF58}" presName="ParentText" presStyleLbl="node1" presStyleIdx="1" presStyleCnt="3" custScaleY="45091">
        <dgm:presLayoutVars>
          <dgm:chMax val="1"/>
          <dgm:chPref val="1"/>
          <dgm:bulletEnabled val="1"/>
        </dgm:presLayoutVars>
      </dgm:prSet>
      <dgm:spPr/>
    </dgm:pt>
    <dgm:pt modelId="{C86206F3-4B44-2643-95DB-CF9DFCA66DB9}" type="pres">
      <dgm:prSet presAssocID="{CFEEC66A-49F3-0A4E-B0FC-1503D966EF58}" presName="ChildText" presStyleLbl="revTx" presStyleIdx="1" presStyleCnt="2">
        <dgm:presLayoutVars>
          <dgm:chMax val="0"/>
          <dgm:chPref val="0"/>
          <dgm:bulletEnabled val="1"/>
        </dgm:presLayoutVars>
      </dgm:prSet>
      <dgm:spPr/>
    </dgm:pt>
    <dgm:pt modelId="{20B3BD01-4CCB-564A-B7E6-71EF4F9B2AE2}" type="pres">
      <dgm:prSet presAssocID="{1895AB2B-850A-9F42-9D15-60A179F1FEDD}" presName="sibTrans" presStyleCnt="0"/>
      <dgm:spPr/>
    </dgm:pt>
    <dgm:pt modelId="{6DC64014-FA75-F74B-B495-B056AA0E9904}" type="pres">
      <dgm:prSet presAssocID="{BA320F82-11DE-6549-8FE8-A4F56275A1BF}" presName="composite" presStyleCnt="0"/>
      <dgm:spPr/>
    </dgm:pt>
    <dgm:pt modelId="{D3163A0D-6CDE-C440-837C-C4BB2E0B63C0}" type="pres">
      <dgm:prSet presAssocID="{BA320F82-11DE-6549-8FE8-A4F56275A1BF}" presName="ParentText" presStyleLbl="node1" presStyleIdx="2" presStyleCnt="3" custScaleY="50678">
        <dgm:presLayoutVars>
          <dgm:chMax val="1"/>
          <dgm:chPref val="1"/>
          <dgm:bulletEnabled val="1"/>
        </dgm:presLayoutVars>
      </dgm:prSet>
      <dgm:spPr/>
    </dgm:pt>
  </dgm:ptLst>
  <dgm:cxnLst>
    <dgm:cxn modelId="{73AA6B0D-0CE5-5049-AC7C-F507EE883C51}" srcId="{7D9F1B8D-104D-AB4C-A0C0-DB8C4902FC94}" destId="{AC3E6B0F-F1CA-4641-9C8B-1B56162FFBF4}" srcOrd="0" destOrd="0" parTransId="{66AB75D5-EF04-9541-AFEB-DF4C9BEFB9B7}" sibTransId="{9330186B-E380-0B41-9F7E-E95B60FC7EB8}"/>
    <dgm:cxn modelId="{6D1C3233-4438-554A-BCBE-B27E3E4E1C94}" type="presOf" srcId="{BA320F82-11DE-6549-8FE8-A4F56275A1BF}" destId="{D3163A0D-6CDE-C440-837C-C4BB2E0B63C0}" srcOrd="0" destOrd="0" presId="urn:microsoft.com/office/officeart/2005/8/layout/StepDownProcess"/>
    <dgm:cxn modelId="{C9DBC14B-B9CB-F040-977C-94273D761DBE}" type="presOf" srcId="{CFEEC66A-49F3-0A4E-B0FC-1503D966EF58}" destId="{D05DAF7B-6E65-F349-B64F-502D66BBCDC9}" srcOrd="0" destOrd="0" presId="urn:microsoft.com/office/officeart/2005/8/layout/StepDownProcess"/>
    <dgm:cxn modelId="{652D917B-95E8-7044-AD84-72AE12BC3264}" type="presOf" srcId="{7D9F1B8D-104D-AB4C-A0C0-DB8C4902FC94}" destId="{39316FB3-BC05-A24A-843B-B5DF4644FDD1}" srcOrd="0" destOrd="0" presId="urn:microsoft.com/office/officeart/2005/8/layout/StepDownProcess"/>
    <dgm:cxn modelId="{97A8BCC1-5F35-134C-BCA5-559DAA251C5B}" type="presOf" srcId="{AC3E6B0F-F1CA-4641-9C8B-1B56162FFBF4}" destId="{549BC535-03B8-9A48-BD89-6F15B200CBEA}" srcOrd="0" destOrd="0" presId="urn:microsoft.com/office/officeart/2005/8/layout/StepDownProcess"/>
    <dgm:cxn modelId="{57A241E1-2ACA-D448-B961-2585BA262723}" srcId="{7D9F1B8D-104D-AB4C-A0C0-DB8C4902FC94}" destId="{CFEEC66A-49F3-0A4E-B0FC-1503D966EF58}" srcOrd="1" destOrd="0" parTransId="{520134DD-3B9D-5E4F-8651-7BEF146DD906}" sibTransId="{1895AB2B-850A-9F42-9D15-60A179F1FEDD}"/>
    <dgm:cxn modelId="{878F27FB-B8F5-7D46-9EE5-98E629455C10}" srcId="{7D9F1B8D-104D-AB4C-A0C0-DB8C4902FC94}" destId="{BA320F82-11DE-6549-8FE8-A4F56275A1BF}" srcOrd="2" destOrd="0" parTransId="{F8FD69BE-D425-504A-B2E3-1D300A35F734}" sibTransId="{A552C4F1-8909-D04B-8B66-A68C94A67E0B}"/>
    <dgm:cxn modelId="{A98C75DF-1FEF-DF42-81E4-7E90E246FED1}" type="presParOf" srcId="{39316FB3-BC05-A24A-843B-B5DF4644FDD1}" destId="{F786409A-EED4-DB44-9774-C5518BB0F07B}" srcOrd="0" destOrd="0" presId="urn:microsoft.com/office/officeart/2005/8/layout/StepDownProcess"/>
    <dgm:cxn modelId="{30D356B8-D0AB-764A-8D2E-24684DCCCF62}" type="presParOf" srcId="{F786409A-EED4-DB44-9774-C5518BB0F07B}" destId="{0F0112FF-A221-9B4A-A8CF-2162868A0822}" srcOrd="0" destOrd="0" presId="urn:microsoft.com/office/officeart/2005/8/layout/StepDownProcess"/>
    <dgm:cxn modelId="{EBB733A0-C636-DF49-8C9D-13CE910F9C05}" type="presParOf" srcId="{F786409A-EED4-DB44-9774-C5518BB0F07B}" destId="{549BC535-03B8-9A48-BD89-6F15B200CBEA}" srcOrd="1" destOrd="0" presId="urn:microsoft.com/office/officeart/2005/8/layout/StepDownProcess"/>
    <dgm:cxn modelId="{6F017CEC-8E89-CE44-9721-4BA951469D8D}" type="presParOf" srcId="{F786409A-EED4-DB44-9774-C5518BB0F07B}" destId="{36CD6A65-D7FE-D848-8536-2C415C1AD604}" srcOrd="2" destOrd="0" presId="urn:microsoft.com/office/officeart/2005/8/layout/StepDownProcess"/>
    <dgm:cxn modelId="{445C513F-6AD5-EC4F-952C-51E3435E3FA6}" type="presParOf" srcId="{39316FB3-BC05-A24A-843B-B5DF4644FDD1}" destId="{9B520D02-C073-E14C-973B-BDFCE3D83BD9}" srcOrd="1" destOrd="0" presId="urn:microsoft.com/office/officeart/2005/8/layout/StepDownProcess"/>
    <dgm:cxn modelId="{138DC906-1109-4748-8AEA-0B2CB5550775}" type="presParOf" srcId="{39316FB3-BC05-A24A-843B-B5DF4644FDD1}" destId="{3ACAA875-96F1-F845-B638-9CBC7EEEF029}" srcOrd="2" destOrd="0" presId="urn:microsoft.com/office/officeart/2005/8/layout/StepDownProcess"/>
    <dgm:cxn modelId="{8081259E-FBBC-FF4C-B345-2761EBFD5BB3}" type="presParOf" srcId="{3ACAA875-96F1-F845-B638-9CBC7EEEF029}" destId="{767ECD5B-C965-8145-9C7B-BBBF6140C76F}" srcOrd="0" destOrd="0" presId="urn:microsoft.com/office/officeart/2005/8/layout/StepDownProcess"/>
    <dgm:cxn modelId="{0025E09A-D486-5242-8DF2-47C16468BA59}" type="presParOf" srcId="{3ACAA875-96F1-F845-B638-9CBC7EEEF029}" destId="{D05DAF7B-6E65-F349-B64F-502D66BBCDC9}" srcOrd="1" destOrd="0" presId="urn:microsoft.com/office/officeart/2005/8/layout/StepDownProcess"/>
    <dgm:cxn modelId="{1C40EE5E-93BF-D14F-9EFF-C85773E3A44C}" type="presParOf" srcId="{3ACAA875-96F1-F845-B638-9CBC7EEEF029}" destId="{C86206F3-4B44-2643-95DB-CF9DFCA66DB9}" srcOrd="2" destOrd="0" presId="urn:microsoft.com/office/officeart/2005/8/layout/StepDownProcess"/>
    <dgm:cxn modelId="{C9BF1834-2BDE-D742-A4DA-6D5830526069}" type="presParOf" srcId="{39316FB3-BC05-A24A-843B-B5DF4644FDD1}" destId="{20B3BD01-4CCB-564A-B7E6-71EF4F9B2AE2}" srcOrd="3" destOrd="0" presId="urn:microsoft.com/office/officeart/2005/8/layout/StepDownProcess"/>
    <dgm:cxn modelId="{156B0580-2754-7F4E-BE79-1C77669A0F5B}" type="presParOf" srcId="{39316FB3-BC05-A24A-843B-B5DF4644FDD1}" destId="{6DC64014-FA75-F74B-B495-B056AA0E9904}" srcOrd="4" destOrd="0" presId="urn:microsoft.com/office/officeart/2005/8/layout/StepDownProcess"/>
    <dgm:cxn modelId="{E2AD3B6C-3C6E-4B40-9F91-856C7F580CFE}" type="presParOf" srcId="{6DC64014-FA75-F74B-B495-B056AA0E9904}" destId="{D3163A0D-6CDE-C440-837C-C4BB2E0B63C0}"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9F1B8D-104D-AB4C-A0C0-DB8C4902FC94}"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GB"/>
        </a:p>
      </dgm:t>
    </dgm:pt>
    <dgm:pt modelId="{AC3E6B0F-F1CA-4641-9C8B-1B56162FFBF4}">
      <dgm:prSet phldrT="[Text]"/>
      <dgm:spPr/>
      <dgm:t>
        <a:bodyPr/>
        <a:lstStyle/>
        <a:p>
          <a:r>
            <a:rPr lang="en-GB" dirty="0" err="1"/>
            <a:t>串行集成思想</a:t>
          </a:r>
          <a:r>
            <a:rPr lang="zh-CN" altLang="en-US" dirty="0"/>
            <a:t>（</a:t>
          </a:r>
          <a:r>
            <a:rPr lang="en-US" altLang="zh-CN" dirty="0">
              <a:solidFill>
                <a:srgbClr val="FF0000"/>
              </a:solidFill>
            </a:rPr>
            <a:t>Boosting</a:t>
          </a:r>
          <a:r>
            <a:rPr lang="en-US" altLang="zh-CN" dirty="0"/>
            <a:t>)</a:t>
          </a:r>
          <a:endParaRPr lang="en-GB" dirty="0"/>
        </a:p>
      </dgm:t>
    </dgm:pt>
    <dgm:pt modelId="{66AB75D5-EF04-9541-AFEB-DF4C9BEFB9B7}" type="parTrans" cxnId="{73AA6B0D-0CE5-5049-AC7C-F507EE883C51}">
      <dgm:prSet/>
      <dgm:spPr/>
      <dgm:t>
        <a:bodyPr/>
        <a:lstStyle/>
        <a:p>
          <a:endParaRPr lang="en-GB"/>
        </a:p>
      </dgm:t>
    </dgm:pt>
    <dgm:pt modelId="{9330186B-E380-0B41-9F7E-E95B60FC7EB8}" type="sibTrans" cxnId="{73AA6B0D-0CE5-5049-AC7C-F507EE883C51}">
      <dgm:prSet/>
      <dgm:spPr/>
      <dgm:t>
        <a:bodyPr/>
        <a:lstStyle/>
        <a:p>
          <a:endParaRPr lang="en-GB"/>
        </a:p>
      </dgm:t>
    </dgm:pt>
    <dgm:pt modelId="{CFEEC66A-49F3-0A4E-B0FC-1503D966EF58}">
      <dgm:prSet phldrT="[Text]" custT="1"/>
      <dgm:spPr/>
      <dgm:t>
        <a:bodyPr/>
        <a:lstStyle/>
        <a:p>
          <a:r>
            <a:rPr lang="en-US" altLang="zh-CN" sz="2400" dirty="0" err="1">
              <a:solidFill>
                <a:srgbClr val="FFFF00"/>
              </a:solidFill>
            </a:rPr>
            <a:t>Adaboost</a:t>
          </a:r>
          <a:r>
            <a:rPr lang="zh-CN" altLang="en-US" sz="2400" dirty="0">
              <a:solidFill>
                <a:srgbClr val="FFFF00"/>
              </a:solidFill>
            </a:rPr>
            <a:t>算法</a:t>
          </a:r>
          <a:endParaRPr lang="en-GB" sz="2400" dirty="0">
            <a:solidFill>
              <a:srgbClr val="FFFF00"/>
            </a:solidFill>
          </a:endParaRPr>
        </a:p>
      </dgm:t>
    </dgm:pt>
    <dgm:pt modelId="{520134DD-3B9D-5E4F-8651-7BEF146DD906}" type="parTrans" cxnId="{57A241E1-2ACA-D448-B961-2585BA262723}">
      <dgm:prSet/>
      <dgm:spPr/>
      <dgm:t>
        <a:bodyPr/>
        <a:lstStyle/>
        <a:p>
          <a:endParaRPr lang="en-GB"/>
        </a:p>
      </dgm:t>
    </dgm:pt>
    <dgm:pt modelId="{1895AB2B-850A-9F42-9D15-60A179F1FEDD}" type="sibTrans" cxnId="{57A241E1-2ACA-D448-B961-2585BA262723}">
      <dgm:prSet/>
      <dgm:spPr/>
      <dgm:t>
        <a:bodyPr/>
        <a:lstStyle/>
        <a:p>
          <a:endParaRPr lang="en-GB"/>
        </a:p>
      </dgm:t>
    </dgm:pt>
    <dgm:pt modelId="{BA320F82-11DE-6549-8FE8-A4F56275A1BF}">
      <dgm:prSet phldrT="[Text]" custT="1"/>
      <dgm:spPr/>
      <dgm:t>
        <a:bodyPr/>
        <a:lstStyle/>
        <a:p>
          <a:r>
            <a:rPr lang="en-US" sz="2000" dirty="0"/>
            <a:t>Gradient Boosting</a:t>
          </a:r>
          <a:endParaRPr lang="en-GB" sz="2000" dirty="0"/>
        </a:p>
      </dgm:t>
    </dgm:pt>
    <dgm:pt modelId="{F8FD69BE-D425-504A-B2E3-1D300A35F734}" type="parTrans" cxnId="{878F27FB-B8F5-7D46-9EE5-98E629455C10}">
      <dgm:prSet/>
      <dgm:spPr/>
      <dgm:t>
        <a:bodyPr/>
        <a:lstStyle/>
        <a:p>
          <a:endParaRPr lang="en-GB"/>
        </a:p>
      </dgm:t>
    </dgm:pt>
    <dgm:pt modelId="{A552C4F1-8909-D04B-8B66-A68C94A67E0B}" type="sibTrans" cxnId="{878F27FB-B8F5-7D46-9EE5-98E629455C10}">
      <dgm:prSet/>
      <dgm:spPr/>
      <dgm:t>
        <a:bodyPr/>
        <a:lstStyle/>
        <a:p>
          <a:endParaRPr lang="en-GB"/>
        </a:p>
      </dgm:t>
    </dgm:pt>
    <dgm:pt modelId="{A3CE13C1-BE92-7541-B3F6-C813347CBFB5}">
      <dgm:prSet/>
      <dgm:spPr/>
      <dgm:t>
        <a:bodyPr/>
        <a:lstStyle/>
        <a:p>
          <a:r>
            <a:rPr lang="en-US" altLang="zh-CN" dirty="0"/>
            <a:t>XGBOOST</a:t>
          </a:r>
          <a:endParaRPr lang="en-GB" dirty="0"/>
        </a:p>
      </dgm:t>
    </dgm:pt>
    <dgm:pt modelId="{DAA5A153-DBD7-9D4B-86C7-EDB5480103DD}" type="parTrans" cxnId="{A9CB46D8-D4CD-0442-8DC4-9449EAAA240E}">
      <dgm:prSet/>
      <dgm:spPr/>
      <dgm:t>
        <a:bodyPr/>
        <a:lstStyle/>
        <a:p>
          <a:endParaRPr lang="en-GB"/>
        </a:p>
      </dgm:t>
    </dgm:pt>
    <dgm:pt modelId="{BEFF2020-4456-574C-AC3E-86DCA7E087E7}" type="sibTrans" cxnId="{A9CB46D8-D4CD-0442-8DC4-9449EAAA240E}">
      <dgm:prSet/>
      <dgm:spPr/>
      <dgm:t>
        <a:bodyPr/>
        <a:lstStyle/>
        <a:p>
          <a:endParaRPr lang="en-GB"/>
        </a:p>
      </dgm:t>
    </dgm:pt>
    <dgm:pt modelId="{39316FB3-BC05-A24A-843B-B5DF4644FDD1}" type="pres">
      <dgm:prSet presAssocID="{7D9F1B8D-104D-AB4C-A0C0-DB8C4902FC94}" presName="rootnode" presStyleCnt="0">
        <dgm:presLayoutVars>
          <dgm:chMax/>
          <dgm:chPref/>
          <dgm:dir/>
          <dgm:animLvl val="lvl"/>
        </dgm:presLayoutVars>
      </dgm:prSet>
      <dgm:spPr/>
    </dgm:pt>
    <dgm:pt modelId="{F786409A-EED4-DB44-9774-C5518BB0F07B}" type="pres">
      <dgm:prSet presAssocID="{AC3E6B0F-F1CA-4641-9C8B-1B56162FFBF4}" presName="composite" presStyleCnt="0"/>
      <dgm:spPr/>
    </dgm:pt>
    <dgm:pt modelId="{0F0112FF-A221-9B4A-A8CF-2162868A0822}" type="pres">
      <dgm:prSet presAssocID="{AC3E6B0F-F1CA-4641-9C8B-1B56162FFBF4}" presName="bentUpArrow1" presStyleLbl="alignImgPlace1" presStyleIdx="0" presStyleCnt="3" custScaleX="64513" custScaleY="77641" custLinFactNeighborX="4111" custLinFactNeighborY="-38985"/>
      <dgm:spPr/>
    </dgm:pt>
    <dgm:pt modelId="{549BC535-03B8-9A48-BD89-6F15B200CBEA}" type="pres">
      <dgm:prSet presAssocID="{AC3E6B0F-F1CA-4641-9C8B-1B56162FFBF4}" presName="ParentText" presStyleLbl="node1" presStyleIdx="0" presStyleCnt="4" custScaleX="161005" custScaleY="47228">
        <dgm:presLayoutVars>
          <dgm:chMax val="1"/>
          <dgm:chPref val="1"/>
          <dgm:bulletEnabled val="1"/>
        </dgm:presLayoutVars>
      </dgm:prSet>
      <dgm:spPr/>
    </dgm:pt>
    <dgm:pt modelId="{36CD6A65-D7FE-D848-8536-2C415C1AD604}" type="pres">
      <dgm:prSet presAssocID="{AC3E6B0F-F1CA-4641-9C8B-1B56162FFBF4}" presName="ChildText" presStyleLbl="revTx" presStyleIdx="0" presStyleCnt="3">
        <dgm:presLayoutVars>
          <dgm:chMax val="0"/>
          <dgm:chPref val="0"/>
          <dgm:bulletEnabled val="1"/>
        </dgm:presLayoutVars>
      </dgm:prSet>
      <dgm:spPr/>
    </dgm:pt>
    <dgm:pt modelId="{9B520D02-C073-E14C-973B-BDFCE3D83BD9}" type="pres">
      <dgm:prSet presAssocID="{9330186B-E380-0B41-9F7E-E95B60FC7EB8}" presName="sibTrans" presStyleCnt="0"/>
      <dgm:spPr/>
    </dgm:pt>
    <dgm:pt modelId="{3ACAA875-96F1-F845-B638-9CBC7EEEF029}" type="pres">
      <dgm:prSet presAssocID="{CFEEC66A-49F3-0A4E-B0FC-1503D966EF58}" presName="composite" presStyleCnt="0"/>
      <dgm:spPr/>
    </dgm:pt>
    <dgm:pt modelId="{767ECD5B-C965-8145-9C7B-BBBF6140C76F}" type="pres">
      <dgm:prSet presAssocID="{CFEEC66A-49F3-0A4E-B0FC-1503D966EF58}" presName="bentUpArrow1" presStyleLbl="alignImgPlace1" presStyleIdx="1" presStyleCnt="3" custScaleY="65447" custLinFactNeighborX="18502" custLinFactNeighborY="-64208"/>
      <dgm:spPr/>
    </dgm:pt>
    <dgm:pt modelId="{D05DAF7B-6E65-F349-B64F-502D66BBCDC9}" type="pres">
      <dgm:prSet presAssocID="{CFEEC66A-49F3-0A4E-B0FC-1503D966EF58}" presName="ParentText" presStyleLbl="node1" presStyleIdx="1" presStyleCnt="4" custScaleX="129078" custScaleY="45091" custLinFactNeighborX="421" custLinFactNeighborY="-12380">
        <dgm:presLayoutVars>
          <dgm:chMax val="1"/>
          <dgm:chPref val="1"/>
          <dgm:bulletEnabled val="1"/>
        </dgm:presLayoutVars>
      </dgm:prSet>
      <dgm:spPr/>
    </dgm:pt>
    <dgm:pt modelId="{C86206F3-4B44-2643-95DB-CF9DFCA66DB9}" type="pres">
      <dgm:prSet presAssocID="{CFEEC66A-49F3-0A4E-B0FC-1503D966EF58}" presName="ChildText" presStyleLbl="revTx" presStyleIdx="1" presStyleCnt="3">
        <dgm:presLayoutVars>
          <dgm:chMax val="0"/>
          <dgm:chPref val="0"/>
          <dgm:bulletEnabled val="1"/>
        </dgm:presLayoutVars>
      </dgm:prSet>
      <dgm:spPr/>
    </dgm:pt>
    <dgm:pt modelId="{20B3BD01-4CCB-564A-B7E6-71EF4F9B2AE2}" type="pres">
      <dgm:prSet presAssocID="{1895AB2B-850A-9F42-9D15-60A179F1FEDD}" presName="sibTrans" presStyleCnt="0"/>
      <dgm:spPr/>
    </dgm:pt>
    <dgm:pt modelId="{6DC64014-FA75-F74B-B495-B056AA0E9904}" type="pres">
      <dgm:prSet presAssocID="{BA320F82-11DE-6549-8FE8-A4F56275A1BF}" presName="composite" presStyleCnt="0"/>
      <dgm:spPr/>
    </dgm:pt>
    <dgm:pt modelId="{B47F1706-9FEC-1447-BAAC-CAEB9D137B60}" type="pres">
      <dgm:prSet presAssocID="{BA320F82-11DE-6549-8FE8-A4F56275A1BF}" presName="bentUpArrow1" presStyleLbl="alignImgPlace1" presStyleIdx="2" presStyleCnt="3" custLinFactNeighborX="18708" custLinFactNeighborY="-46146"/>
      <dgm:spPr/>
    </dgm:pt>
    <dgm:pt modelId="{D3163A0D-6CDE-C440-837C-C4BB2E0B63C0}" type="pres">
      <dgm:prSet presAssocID="{BA320F82-11DE-6549-8FE8-A4F56275A1BF}" presName="ParentText" presStyleLbl="node1" presStyleIdx="2" presStyleCnt="4" custScaleX="155190" custScaleY="54622" custLinFactNeighborX="5891" custLinFactNeighborY="-16593">
        <dgm:presLayoutVars>
          <dgm:chMax val="1"/>
          <dgm:chPref val="1"/>
          <dgm:bulletEnabled val="1"/>
        </dgm:presLayoutVars>
      </dgm:prSet>
      <dgm:spPr/>
    </dgm:pt>
    <dgm:pt modelId="{FEC1D690-E037-AF4E-BADE-605AE9F86579}" type="pres">
      <dgm:prSet presAssocID="{BA320F82-11DE-6549-8FE8-A4F56275A1BF}" presName="ChildText" presStyleLbl="revTx" presStyleIdx="2" presStyleCnt="3">
        <dgm:presLayoutVars>
          <dgm:chMax val="0"/>
          <dgm:chPref val="0"/>
          <dgm:bulletEnabled val="1"/>
        </dgm:presLayoutVars>
      </dgm:prSet>
      <dgm:spPr/>
    </dgm:pt>
    <dgm:pt modelId="{7C7C3D09-3431-724A-9B11-E94B46905522}" type="pres">
      <dgm:prSet presAssocID="{A552C4F1-8909-D04B-8B66-A68C94A67E0B}" presName="sibTrans" presStyleCnt="0"/>
      <dgm:spPr/>
    </dgm:pt>
    <dgm:pt modelId="{A2FBF775-2886-AA44-90FD-DCABCAB1E7D1}" type="pres">
      <dgm:prSet presAssocID="{A3CE13C1-BE92-7541-B3F6-C813347CBFB5}" presName="composite" presStyleCnt="0"/>
      <dgm:spPr/>
    </dgm:pt>
    <dgm:pt modelId="{CAA88E9F-DDDC-2E4B-AED6-B9DDF658726A}" type="pres">
      <dgm:prSet presAssocID="{A3CE13C1-BE92-7541-B3F6-C813347CBFB5}" presName="ParentText" presStyleLbl="node1" presStyleIdx="3" presStyleCnt="4" custScaleY="49344" custLinFactNeighborX="919" custLinFactNeighborY="-7848">
        <dgm:presLayoutVars>
          <dgm:chMax val="1"/>
          <dgm:chPref val="1"/>
          <dgm:bulletEnabled val="1"/>
        </dgm:presLayoutVars>
      </dgm:prSet>
      <dgm:spPr/>
    </dgm:pt>
  </dgm:ptLst>
  <dgm:cxnLst>
    <dgm:cxn modelId="{73AA6B0D-0CE5-5049-AC7C-F507EE883C51}" srcId="{7D9F1B8D-104D-AB4C-A0C0-DB8C4902FC94}" destId="{AC3E6B0F-F1CA-4641-9C8B-1B56162FFBF4}" srcOrd="0" destOrd="0" parTransId="{66AB75D5-EF04-9541-AFEB-DF4C9BEFB9B7}" sibTransId="{9330186B-E380-0B41-9F7E-E95B60FC7EB8}"/>
    <dgm:cxn modelId="{6D1C3233-4438-554A-BCBE-B27E3E4E1C94}" type="presOf" srcId="{BA320F82-11DE-6549-8FE8-A4F56275A1BF}" destId="{D3163A0D-6CDE-C440-837C-C4BB2E0B63C0}" srcOrd="0" destOrd="0" presId="urn:microsoft.com/office/officeart/2005/8/layout/StepDownProcess"/>
    <dgm:cxn modelId="{C9DBC14B-B9CB-F040-977C-94273D761DBE}" type="presOf" srcId="{CFEEC66A-49F3-0A4E-B0FC-1503D966EF58}" destId="{D05DAF7B-6E65-F349-B64F-502D66BBCDC9}" srcOrd="0" destOrd="0" presId="urn:microsoft.com/office/officeart/2005/8/layout/StepDownProcess"/>
    <dgm:cxn modelId="{652D917B-95E8-7044-AD84-72AE12BC3264}" type="presOf" srcId="{7D9F1B8D-104D-AB4C-A0C0-DB8C4902FC94}" destId="{39316FB3-BC05-A24A-843B-B5DF4644FDD1}" srcOrd="0" destOrd="0" presId="urn:microsoft.com/office/officeart/2005/8/layout/StepDownProcess"/>
    <dgm:cxn modelId="{407EBA8F-63B1-A449-A5D0-675E2F56EB87}" type="presOf" srcId="{A3CE13C1-BE92-7541-B3F6-C813347CBFB5}" destId="{CAA88E9F-DDDC-2E4B-AED6-B9DDF658726A}" srcOrd="0" destOrd="0" presId="urn:microsoft.com/office/officeart/2005/8/layout/StepDownProcess"/>
    <dgm:cxn modelId="{97A8BCC1-5F35-134C-BCA5-559DAA251C5B}" type="presOf" srcId="{AC3E6B0F-F1CA-4641-9C8B-1B56162FFBF4}" destId="{549BC535-03B8-9A48-BD89-6F15B200CBEA}" srcOrd="0" destOrd="0" presId="urn:microsoft.com/office/officeart/2005/8/layout/StepDownProcess"/>
    <dgm:cxn modelId="{A9CB46D8-D4CD-0442-8DC4-9449EAAA240E}" srcId="{7D9F1B8D-104D-AB4C-A0C0-DB8C4902FC94}" destId="{A3CE13C1-BE92-7541-B3F6-C813347CBFB5}" srcOrd="3" destOrd="0" parTransId="{DAA5A153-DBD7-9D4B-86C7-EDB5480103DD}" sibTransId="{BEFF2020-4456-574C-AC3E-86DCA7E087E7}"/>
    <dgm:cxn modelId="{57A241E1-2ACA-D448-B961-2585BA262723}" srcId="{7D9F1B8D-104D-AB4C-A0C0-DB8C4902FC94}" destId="{CFEEC66A-49F3-0A4E-B0FC-1503D966EF58}" srcOrd="1" destOrd="0" parTransId="{520134DD-3B9D-5E4F-8651-7BEF146DD906}" sibTransId="{1895AB2B-850A-9F42-9D15-60A179F1FEDD}"/>
    <dgm:cxn modelId="{878F27FB-B8F5-7D46-9EE5-98E629455C10}" srcId="{7D9F1B8D-104D-AB4C-A0C0-DB8C4902FC94}" destId="{BA320F82-11DE-6549-8FE8-A4F56275A1BF}" srcOrd="2" destOrd="0" parTransId="{F8FD69BE-D425-504A-B2E3-1D300A35F734}" sibTransId="{A552C4F1-8909-D04B-8B66-A68C94A67E0B}"/>
    <dgm:cxn modelId="{A98C75DF-1FEF-DF42-81E4-7E90E246FED1}" type="presParOf" srcId="{39316FB3-BC05-A24A-843B-B5DF4644FDD1}" destId="{F786409A-EED4-DB44-9774-C5518BB0F07B}" srcOrd="0" destOrd="0" presId="urn:microsoft.com/office/officeart/2005/8/layout/StepDownProcess"/>
    <dgm:cxn modelId="{30D356B8-D0AB-764A-8D2E-24684DCCCF62}" type="presParOf" srcId="{F786409A-EED4-DB44-9774-C5518BB0F07B}" destId="{0F0112FF-A221-9B4A-A8CF-2162868A0822}" srcOrd="0" destOrd="0" presId="urn:microsoft.com/office/officeart/2005/8/layout/StepDownProcess"/>
    <dgm:cxn modelId="{EBB733A0-C636-DF49-8C9D-13CE910F9C05}" type="presParOf" srcId="{F786409A-EED4-DB44-9774-C5518BB0F07B}" destId="{549BC535-03B8-9A48-BD89-6F15B200CBEA}" srcOrd="1" destOrd="0" presId="urn:microsoft.com/office/officeart/2005/8/layout/StepDownProcess"/>
    <dgm:cxn modelId="{6F017CEC-8E89-CE44-9721-4BA951469D8D}" type="presParOf" srcId="{F786409A-EED4-DB44-9774-C5518BB0F07B}" destId="{36CD6A65-D7FE-D848-8536-2C415C1AD604}" srcOrd="2" destOrd="0" presId="urn:microsoft.com/office/officeart/2005/8/layout/StepDownProcess"/>
    <dgm:cxn modelId="{445C513F-6AD5-EC4F-952C-51E3435E3FA6}" type="presParOf" srcId="{39316FB3-BC05-A24A-843B-B5DF4644FDD1}" destId="{9B520D02-C073-E14C-973B-BDFCE3D83BD9}" srcOrd="1" destOrd="0" presId="urn:microsoft.com/office/officeart/2005/8/layout/StepDownProcess"/>
    <dgm:cxn modelId="{138DC906-1109-4748-8AEA-0B2CB5550775}" type="presParOf" srcId="{39316FB3-BC05-A24A-843B-B5DF4644FDD1}" destId="{3ACAA875-96F1-F845-B638-9CBC7EEEF029}" srcOrd="2" destOrd="0" presId="urn:microsoft.com/office/officeart/2005/8/layout/StepDownProcess"/>
    <dgm:cxn modelId="{8081259E-FBBC-FF4C-B345-2761EBFD5BB3}" type="presParOf" srcId="{3ACAA875-96F1-F845-B638-9CBC7EEEF029}" destId="{767ECD5B-C965-8145-9C7B-BBBF6140C76F}" srcOrd="0" destOrd="0" presId="urn:microsoft.com/office/officeart/2005/8/layout/StepDownProcess"/>
    <dgm:cxn modelId="{0025E09A-D486-5242-8DF2-47C16468BA59}" type="presParOf" srcId="{3ACAA875-96F1-F845-B638-9CBC7EEEF029}" destId="{D05DAF7B-6E65-F349-B64F-502D66BBCDC9}" srcOrd="1" destOrd="0" presId="urn:microsoft.com/office/officeart/2005/8/layout/StepDownProcess"/>
    <dgm:cxn modelId="{1C40EE5E-93BF-D14F-9EFF-C85773E3A44C}" type="presParOf" srcId="{3ACAA875-96F1-F845-B638-9CBC7EEEF029}" destId="{C86206F3-4B44-2643-95DB-CF9DFCA66DB9}" srcOrd="2" destOrd="0" presId="urn:microsoft.com/office/officeart/2005/8/layout/StepDownProcess"/>
    <dgm:cxn modelId="{C9BF1834-2BDE-D742-A4DA-6D5830526069}" type="presParOf" srcId="{39316FB3-BC05-A24A-843B-B5DF4644FDD1}" destId="{20B3BD01-4CCB-564A-B7E6-71EF4F9B2AE2}" srcOrd="3" destOrd="0" presId="urn:microsoft.com/office/officeart/2005/8/layout/StepDownProcess"/>
    <dgm:cxn modelId="{156B0580-2754-7F4E-BE79-1C77669A0F5B}" type="presParOf" srcId="{39316FB3-BC05-A24A-843B-B5DF4644FDD1}" destId="{6DC64014-FA75-F74B-B495-B056AA0E9904}" srcOrd="4" destOrd="0" presId="urn:microsoft.com/office/officeart/2005/8/layout/StepDownProcess"/>
    <dgm:cxn modelId="{D48B3ACD-5571-C549-92A6-2643D657DB47}" type="presParOf" srcId="{6DC64014-FA75-F74B-B495-B056AA0E9904}" destId="{B47F1706-9FEC-1447-BAAC-CAEB9D137B60}" srcOrd="0" destOrd="0" presId="urn:microsoft.com/office/officeart/2005/8/layout/StepDownProcess"/>
    <dgm:cxn modelId="{E2AD3B6C-3C6E-4B40-9F91-856C7F580CFE}" type="presParOf" srcId="{6DC64014-FA75-F74B-B495-B056AA0E9904}" destId="{D3163A0D-6CDE-C440-837C-C4BB2E0B63C0}" srcOrd="1" destOrd="0" presId="urn:microsoft.com/office/officeart/2005/8/layout/StepDownProcess"/>
    <dgm:cxn modelId="{E0B95864-B296-D149-9A12-411A67F6646E}" type="presParOf" srcId="{6DC64014-FA75-F74B-B495-B056AA0E9904}" destId="{FEC1D690-E037-AF4E-BADE-605AE9F86579}" srcOrd="2" destOrd="0" presId="urn:microsoft.com/office/officeart/2005/8/layout/StepDownProcess"/>
    <dgm:cxn modelId="{A7BE7E26-A351-3E4E-B936-C964B4C53418}" type="presParOf" srcId="{39316FB3-BC05-A24A-843B-B5DF4644FDD1}" destId="{7C7C3D09-3431-724A-9B11-E94B46905522}" srcOrd="5" destOrd="0" presId="urn:microsoft.com/office/officeart/2005/8/layout/StepDownProcess"/>
    <dgm:cxn modelId="{746945C3-D42D-D041-81C7-C72336D034CD}" type="presParOf" srcId="{39316FB3-BC05-A24A-843B-B5DF4644FDD1}" destId="{A2FBF775-2886-AA44-90FD-DCABCAB1E7D1}" srcOrd="6" destOrd="0" presId="urn:microsoft.com/office/officeart/2005/8/layout/StepDownProcess"/>
    <dgm:cxn modelId="{ECF4AAE3-952C-5E4D-BCE9-E0F9F0695EB6}" type="presParOf" srcId="{A2FBF775-2886-AA44-90FD-DCABCAB1E7D1}" destId="{CAA88E9F-DDDC-2E4B-AED6-B9DDF658726A}"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9F1B8D-104D-AB4C-A0C0-DB8C4902FC94}"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GB"/>
        </a:p>
      </dgm:t>
    </dgm:pt>
    <dgm:pt modelId="{AC3E6B0F-F1CA-4641-9C8B-1B56162FFBF4}">
      <dgm:prSet phldrT="[Text]"/>
      <dgm:spPr/>
      <dgm:t>
        <a:bodyPr/>
        <a:lstStyle/>
        <a:p>
          <a:r>
            <a:rPr lang="en-GB" dirty="0" err="1"/>
            <a:t>串行集成思想</a:t>
          </a:r>
          <a:r>
            <a:rPr lang="zh-CN" altLang="en-US" dirty="0"/>
            <a:t>（</a:t>
          </a:r>
          <a:r>
            <a:rPr lang="en-US" altLang="zh-CN" dirty="0"/>
            <a:t>Boosting)</a:t>
          </a:r>
          <a:endParaRPr lang="en-GB" dirty="0"/>
        </a:p>
      </dgm:t>
    </dgm:pt>
    <dgm:pt modelId="{66AB75D5-EF04-9541-AFEB-DF4C9BEFB9B7}" type="parTrans" cxnId="{73AA6B0D-0CE5-5049-AC7C-F507EE883C51}">
      <dgm:prSet/>
      <dgm:spPr/>
      <dgm:t>
        <a:bodyPr/>
        <a:lstStyle/>
        <a:p>
          <a:endParaRPr lang="en-GB"/>
        </a:p>
      </dgm:t>
    </dgm:pt>
    <dgm:pt modelId="{9330186B-E380-0B41-9F7E-E95B60FC7EB8}" type="sibTrans" cxnId="{73AA6B0D-0CE5-5049-AC7C-F507EE883C51}">
      <dgm:prSet/>
      <dgm:spPr/>
      <dgm:t>
        <a:bodyPr/>
        <a:lstStyle/>
        <a:p>
          <a:endParaRPr lang="en-GB"/>
        </a:p>
      </dgm:t>
    </dgm:pt>
    <dgm:pt modelId="{CFEEC66A-49F3-0A4E-B0FC-1503D966EF58}">
      <dgm:prSet phldrT="[Text]" custT="1"/>
      <dgm:spPr/>
      <dgm:t>
        <a:bodyPr/>
        <a:lstStyle/>
        <a:p>
          <a:r>
            <a:rPr lang="en-US" altLang="zh-CN" sz="2400" dirty="0" err="1">
              <a:solidFill>
                <a:srgbClr val="FFFF00"/>
              </a:solidFill>
            </a:rPr>
            <a:t>Adaboost</a:t>
          </a:r>
          <a:r>
            <a:rPr lang="zh-CN" altLang="en-US" sz="2400" dirty="0">
              <a:solidFill>
                <a:srgbClr val="FFFF00"/>
              </a:solidFill>
            </a:rPr>
            <a:t>算法</a:t>
          </a:r>
          <a:endParaRPr lang="en-GB" sz="2400" dirty="0">
            <a:solidFill>
              <a:srgbClr val="FFFF00"/>
            </a:solidFill>
          </a:endParaRPr>
        </a:p>
      </dgm:t>
    </dgm:pt>
    <dgm:pt modelId="{520134DD-3B9D-5E4F-8651-7BEF146DD906}" type="parTrans" cxnId="{57A241E1-2ACA-D448-B961-2585BA262723}">
      <dgm:prSet/>
      <dgm:spPr/>
      <dgm:t>
        <a:bodyPr/>
        <a:lstStyle/>
        <a:p>
          <a:endParaRPr lang="en-GB"/>
        </a:p>
      </dgm:t>
    </dgm:pt>
    <dgm:pt modelId="{1895AB2B-850A-9F42-9D15-60A179F1FEDD}" type="sibTrans" cxnId="{57A241E1-2ACA-D448-B961-2585BA262723}">
      <dgm:prSet/>
      <dgm:spPr/>
      <dgm:t>
        <a:bodyPr/>
        <a:lstStyle/>
        <a:p>
          <a:endParaRPr lang="en-GB"/>
        </a:p>
      </dgm:t>
    </dgm:pt>
    <dgm:pt modelId="{BA320F82-11DE-6549-8FE8-A4F56275A1BF}">
      <dgm:prSet phldrT="[Text]" custT="1"/>
      <dgm:spPr/>
      <dgm:t>
        <a:bodyPr/>
        <a:lstStyle/>
        <a:p>
          <a:r>
            <a:rPr lang="en-US" sz="2000" dirty="0"/>
            <a:t>Gradient Boosting</a:t>
          </a:r>
          <a:endParaRPr lang="en-GB" sz="2000" dirty="0"/>
        </a:p>
      </dgm:t>
    </dgm:pt>
    <dgm:pt modelId="{F8FD69BE-D425-504A-B2E3-1D300A35F734}" type="parTrans" cxnId="{878F27FB-B8F5-7D46-9EE5-98E629455C10}">
      <dgm:prSet/>
      <dgm:spPr/>
      <dgm:t>
        <a:bodyPr/>
        <a:lstStyle/>
        <a:p>
          <a:endParaRPr lang="en-GB"/>
        </a:p>
      </dgm:t>
    </dgm:pt>
    <dgm:pt modelId="{A552C4F1-8909-D04B-8B66-A68C94A67E0B}" type="sibTrans" cxnId="{878F27FB-B8F5-7D46-9EE5-98E629455C10}">
      <dgm:prSet/>
      <dgm:spPr/>
      <dgm:t>
        <a:bodyPr/>
        <a:lstStyle/>
        <a:p>
          <a:endParaRPr lang="en-GB"/>
        </a:p>
      </dgm:t>
    </dgm:pt>
    <dgm:pt modelId="{A3CE13C1-BE92-7541-B3F6-C813347CBFB5}">
      <dgm:prSet/>
      <dgm:spPr/>
      <dgm:t>
        <a:bodyPr/>
        <a:lstStyle/>
        <a:p>
          <a:r>
            <a:rPr lang="en-US" altLang="zh-CN" dirty="0"/>
            <a:t>XGBOOST</a:t>
          </a:r>
          <a:endParaRPr lang="en-GB" dirty="0"/>
        </a:p>
      </dgm:t>
    </dgm:pt>
    <dgm:pt modelId="{DAA5A153-DBD7-9D4B-86C7-EDB5480103DD}" type="parTrans" cxnId="{A9CB46D8-D4CD-0442-8DC4-9449EAAA240E}">
      <dgm:prSet/>
      <dgm:spPr/>
      <dgm:t>
        <a:bodyPr/>
        <a:lstStyle/>
        <a:p>
          <a:endParaRPr lang="en-GB"/>
        </a:p>
      </dgm:t>
    </dgm:pt>
    <dgm:pt modelId="{BEFF2020-4456-574C-AC3E-86DCA7E087E7}" type="sibTrans" cxnId="{A9CB46D8-D4CD-0442-8DC4-9449EAAA240E}">
      <dgm:prSet/>
      <dgm:spPr/>
      <dgm:t>
        <a:bodyPr/>
        <a:lstStyle/>
        <a:p>
          <a:endParaRPr lang="en-GB"/>
        </a:p>
      </dgm:t>
    </dgm:pt>
    <dgm:pt modelId="{39316FB3-BC05-A24A-843B-B5DF4644FDD1}" type="pres">
      <dgm:prSet presAssocID="{7D9F1B8D-104D-AB4C-A0C0-DB8C4902FC94}" presName="rootnode" presStyleCnt="0">
        <dgm:presLayoutVars>
          <dgm:chMax/>
          <dgm:chPref/>
          <dgm:dir/>
          <dgm:animLvl val="lvl"/>
        </dgm:presLayoutVars>
      </dgm:prSet>
      <dgm:spPr/>
    </dgm:pt>
    <dgm:pt modelId="{F786409A-EED4-DB44-9774-C5518BB0F07B}" type="pres">
      <dgm:prSet presAssocID="{AC3E6B0F-F1CA-4641-9C8B-1B56162FFBF4}" presName="composite" presStyleCnt="0"/>
      <dgm:spPr/>
    </dgm:pt>
    <dgm:pt modelId="{0F0112FF-A221-9B4A-A8CF-2162868A0822}" type="pres">
      <dgm:prSet presAssocID="{AC3E6B0F-F1CA-4641-9C8B-1B56162FFBF4}" presName="bentUpArrow1" presStyleLbl="alignImgPlace1" presStyleIdx="0" presStyleCnt="3" custScaleX="64513" custScaleY="77641" custLinFactNeighborX="4111" custLinFactNeighborY="-38985"/>
      <dgm:spPr/>
    </dgm:pt>
    <dgm:pt modelId="{549BC535-03B8-9A48-BD89-6F15B200CBEA}" type="pres">
      <dgm:prSet presAssocID="{AC3E6B0F-F1CA-4641-9C8B-1B56162FFBF4}" presName="ParentText" presStyleLbl="node1" presStyleIdx="0" presStyleCnt="4" custScaleX="161005" custScaleY="47228">
        <dgm:presLayoutVars>
          <dgm:chMax val="1"/>
          <dgm:chPref val="1"/>
          <dgm:bulletEnabled val="1"/>
        </dgm:presLayoutVars>
      </dgm:prSet>
      <dgm:spPr/>
    </dgm:pt>
    <dgm:pt modelId="{36CD6A65-D7FE-D848-8536-2C415C1AD604}" type="pres">
      <dgm:prSet presAssocID="{AC3E6B0F-F1CA-4641-9C8B-1B56162FFBF4}" presName="ChildText" presStyleLbl="revTx" presStyleIdx="0" presStyleCnt="3">
        <dgm:presLayoutVars>
          <dgm:chMax val="0"/>
          <dgm:chPref val="0"/>
          <dgm:bulletEnabled val="1"/>
        </dgm:presLayoutVars>
      </dgm:prSet>
      <dgm:spPr/>
    </dgm:pt>
    <dgm:pt modelId="{9B520D02-C073-E14C-973B-BDFCE3D83BD9}" type="pres">
      <dgm:prSet presAssocID="{9330186B-E380-0B41-9F7E-E95B60FC7EB8}" presName="sibTrans" presStyleCnt="0"/>
      <dgm:spPr/>
    </dgm:pt>
    <dgm:pt modelId="{3ACAA875-96F1-F845-B638-9CBC7EEEF029}" type="pres">
      <dgm:prSet presAssocID="{CFEEC66A-49F3-0A4E-B0FC-1503D966EF58}" presName="composite" presStyleCnt="0"/>
      <dgm:spPr/>
    </dgm:pt>
    <dgm:pt modelId="{767ECD5B-C965-8145-9C7B-BBBF6140C76F}" type="pres">
      <dgm:prSet presAssocID="{CFEEC66A-49F3-0A4E-B0FC-1503D966EF58}" presName="bentUpArrow1" presStyleLbl="alignImgPlace1" presStyleIdx="1" presStyleCnt="3" custScaleY="65447" custLinFactNeighborX="18502" custLinFactNeighborY="-64208"/>
      <dgm:spPr/>
    </dgm:pt>
    <dgm:pt modelId="{D05DAF7B-6E65-F349-B64F-502D66BBCDC9}" type="pres">
      <dgm:prSet presAssocID="{CFEEC66A-49F3-0A4E-B0FC-1503D966EF58}" presName="ParentText" presStyleLbl="node1" presStyleIdx="1" presStyleCnt="4" custScaleX="129078" custScaleY="45091" custLinFactNeighborX="421" custLinFactNeighborY="-12380">
        <dgm:presLayoutVars>
          <dgm:chMax val="1"/>
          <dgm:chPref val="1"/>
          <dgm:bulletEnabled val="1"/>
        </dgm:presLayoutVars>
      </dgm:prSet>
      <dgm:spPr/>
    </dgm:pt>
    <dgm:pt modelId="{C86206F3-4B44-2643-95DB-CF9DFCA66DB9}" type="pres">
      <dgm:prSet presAssocID="{CFEEC66A-49F3-0A4E-B0FC-1503D966EF58}" presName="ChildText" presStyleLbl="revTx" presStyleIdx="1" presStyleCnt="3">
        <dgm:presLayoutVars>
          <dgm:chMax val="0"/>
          <dgm:chPref val="0"/>
          <dgm:bulletEnabled val="1"/>
        </dgm:presLayoutVars>
      </dgm:prSet>
      <dgm:spPr/>
    </dgm:pt>
    <dgm:pt modelId="{20B3BD01-4CCB-564A-B7E6-71EF4F9B2AE2}" type="pres">
      <dgm:prSet presAssocID="{1895AB2B-850A-9F42-9D15-60A179F1FEDD}" presName="sibTrans" presStyleCnt="0"/>
      <dgm:spPr/>
    </dgm:pt>
    <dgm:pt modelId="{6DC64014-FA75-F74B-B495-B056AA0E9904}" type="pres">
      <dgm:prSet presAssocID="{BA320F82-11DE-6549-8FE8-A4F56275A1BF}" presName="composite" presStyleCnt="0"/>
      <dgm:spPr/>
    </dgm:pt>
    <dgm:pt modelId="{B47F1706-9FEC-1447-BAAC-CAEB9D137B60}" type="pres">
      <dgm:prSet presAssocID="{BA320F82-11DE-6549-8FE8-A4F56275A1BF}" presName="bentUpArrow1" presStyleLbl="alignImgPlace1" presStyleIdx="2" presStyleCnt="3" custLinFactNeighborX="18708" custLinFactNeighborY="-46146"/>
      <dgm:spPr/>
    </dgm:pt>
    <dgm:pt modelId="{D3163A0D-6CDE-C440-837C-C4BB2E0B63C0}" type="pres">
      <dgm:prSet presAssocID="{BA320F82-11DE-6549-8FE8-A4F56275A1BF}" presName="ParentText" presStyleLbl="node1" presStyleIdx="2" presStyleCnt="4" custScaleX="155190" custScaleY="54622" custLinFactNeighborX="5891" custLinFactNeighborY="-16593">
        <dgm:presLayoutVars>
          <dgm:chMax val="1"/>
          <dgm:chPref val="1"/>
          <dgm:bulletEnabled val="1"/>
        </dgm:presLayoutVars>
      </dgm:prSet>
      <dgm:spPr/>
    </dgm:pt>
    <dgm:pt modelId="{FEC1D690-E037-AF4E-BADE-605AE9F86579}" type="pres">
      <dgm:prSet presAssocID="{BA320F82-11DE-6549-8FE8-A4F56275A1BF}" presName="ChildText" presStyleLbl="revTx" presStyleIdx="2" presStyleCnt="3">
        <dgm:presLayoutVars>
          <dgm:chMax val="0"/>
          <dgm:chPref val="0"/>
          <dgm:bulletEnabled val="1"/>
        </dgm:presLayoutVars>
      </dgm:prSet>
      <dgm:spPr/>
    </dgm:pt>
    <dgm:pt modelId="{7C7C3D09-3431-724A-9B11-E94B46905522}" type="pres">
      <dgm:prSet presAssocID="{A552C4F1-8909-D04B-8B66-A68C94A67E0B}" presName="sibTrans" presStyleCnt="0"/>
      <dgm:spPr/>
    </dgm:pt>
    <dgm:pt modelId="{A2FBF775-2886-AA44-90FD-DCABCAB1E7D1}" type="pres">
      <dgm:prSet presAssocID="{A3CE13C1-BE92-7541-B3F6-C813347CBFB5}" presName="composite" presStyleCnt="0"/>
      <dgm:spPr/>
    </dgm:pt>
    <dgm:pt modelId="{CAA88E9F-DDDC-2E4B-AED6-B9DDF658726A}" type="pres">
      <dgm:prSet presAssocID="{A3CE13C1-BE92-7541-B3F6-C813347CBFB5}" presName="ParentText" presStyleLbl="node1" presStyleIdx="3" presStyleCnt="4" custScaleY="49344" custLinFactNeighborX="919" custLinFactNeighborY="-7848">
        <dgm:presLayoutVars>
          <dgm:chMax val="1"/>
          <dgm:chPref val="1"/>
          <dgm:bulletEnabled val="1"/>
        </dgm:presLayoutVars>
      </dgm:prSet>
      <dgm:spPr/>
    </dgm:pt>
  </dgm:ptLst>
  <dgm:cxnLst>
    <dgm:cxn modelId="{73AA6B0D-0CE5-5049-AC7C-F507EE883C51}" srcId="{7D9F1B8D-104D-AB4C-A0C0-DB8C4902FC94}" destId="{AC3E6B0F-F1CA-4641-9C8B-1B56162FFBF4}" srcOrd="0" destOrd="0" parTransId="{66AB75D5-EF04-9541-AFEB-DF4C9BEFB9B7}" sibTransId="{9330186B-E380-0B41-9F7E-E95B60FC7EB8}"/>
    <dgm:cxn modelId="{6D1C3233-4438-554A-BCBE-B27E3E4E1C94}" type="presOf" srcId="{BA320F82-11DE-6549-8FE8-A4F56275A1BF}" destId="{D3163A0D-6CDE-C440-837C-C4BB2E0B63C0}" srcOrd="0" destOrd="0" presId="urn:microsoft.com/office/officeart/2005/8/layout/StepDownProcess"/>
    <dgm:cxn modelId="{C9DBC14B-B9CB-F040-977C-94273D761DBE}" type="presOf" srcId="{CFEEC66A-49F3-0A4E-B0FC-1503D966EF58}" destId="{D05DAF7B-6E65-F349-B64F-502D66BBCDC9}" srcOrd="0" destOrd="0" presId="urn:microsoft.com/office/officeart/2005/8/layout/StepDownProcess"/>
    <dgm:cxn modelId="{652D917B-95E8-7044-AD84-72AE12BC3264}" type="presOf" srcId="{7D9F1B8D-104D-AB4C-A0C0-DB8C4902FC94}" destId="{39316FB3-BC05-A24A-843B-B5DF4644FDD1}" srcOrd="0" destOrd="0" presId="urn:microsoft.com/office/officeart/2005/8/layout/StepDownProcess"/>
    <dgm:cxn modelId="{407EBA8F-63B1-A449-A5D0-675E2F56EB87}" type="presOf" srcId="{A3CE13C1-BE92-7541-B3F6-C813347CBFB5}" destId="{CAA88E9F-DDDC-2E4B-AED6-B9DDF658726A}" srcOrd="0" destOrd="0" presId="urn:microsoft.com/office/officeart/2005/8/layout/StepDownProcess"/>
    <dgm:cxn modelId="{97A8BCC1-5F35-134C-BCA5-559DAA251C5B}" type="presOf" srcId="{AC3E6B0F-F1CA-4641-9C8B-1B56162FFBF4}" destId="{549BC535-03B8-9A48-BD89-6F15B200CBEA}" srcOrd="0" destOrd="0" presId="urn:microsoft.com/office/officeart/2005/8/layout/StepDownProcess"/>
    <dgm:cxn modelId="{A9CB46D8-D4CD-0442-8DC4-9449EAAA240E}" srcId="{7D9F1B8D-104D-AB4C-A0C0-DB8C4902FC94}" destId="{A3CE13C1-BE92-7541-B3F6-C813347CBFB5}" srcOrd="3" destOrd="0" parTransId="{DAA5A153-DBD7-9D4B-86C7-EDB5480103DD}" sibTransId="{BEFF2020-4456-574C-AC3E-86DCA7E087E7}"/>
    <dgm:cxn modelId="{57A241E1-2ACA-D448-B961-2585BA262723}" srcId="{7D9F1B8D-104D-AB4C-A0C0-DB8C4902FC94}" destId="{CFEEC66A-49F3-0A4E-B0FC-1503D966EF58}" srcOrd="1" destOrd="0" parTransId="{520134DD-3B9D-5E4F-8651-7BEF146DD906}" sibTransId="{1895AB2B-850A-9F42-9D15-60A179F1FEDD}"/>
    <dgm:cxn modelId="{878F27FB-B8F5-7D46-9EE5-98E629455C10}" srcId="{7D9F1B8D-104D-AB4C-A0C0-DB8C4902FC94}" destId="{BA320F82-11DE-6549-8FE8-A4F56275A1BF}" srcOrd="2" destOrd="0" parTransId="{F8FD69BE-D425-504A-B2E3-1D300A35F734}" sibTransId="{A552C4F1-8909-D04B-8B66-A68C94A67E0B}"/>
    <dgm:cxn modelId="{A98C75DF-1FEF-DF42-81E4-7E90E246FED1}" type="presParOf" srcId="{39316FB3-BC05-A24A-843B-B5DF4644FDD1}" destId="{F786409A-EED4-DB44-9774-C5518BB0F07B}" srcOrd="0" destOrd="0" presId="urn:microsoft.com/office/officeart/2005/8/layout/StepDownProcess"/>
    <dgm:cxn modelId="{30D356B8-D0AB-764A-8D2E-24684DCCCF62}" type="presParOf" srcId="{F786409A-EED4-DB44-9774-C5518BB0F07B}" destId="{0F0112FF-A221-9B4A-A8CF-2162868A0822}" srcOrd="0" destOrd="0" presId="urn:microsoft.com/office/officeart/2005/8/layout/StepDownProcess"/>
    <dgm:cxn modelId="{EBB733A0-C636-DF49-8C9D-13CE910F9C05}" type="presParOf" srcId="{F786409A-EED4-DB44-9774-C5518BB0F07B}" destId="{549BC535-03B8-9A48-BD89-6F15B200CBEA}" srcOrd="1" destOrd="0" presId="urn:microsoft.com/office/officeart/2005/8/layout/StepDownProcess"/>
    <dgm:cxn modelId="{6F017CEC-8E89-CE44-9721-4BA951469D8D}" type="presParOf" srcId="{F786409A-EED4-DB44-9774-C5518BB0F07B}" destId="{36CD6A65-D7FE-D848-8536-2C415C1AD604}" srcOrd="2" destOrd="0" presId="urn:microsoft.com/office/officeart/2005/8/layout/StepDownProcess"/>
    <dgm:cxn modelId="{445C513F-6AD5-EC4F-952C-51E3435E3FA6}" type="presParOf" srcId="{39316FB3-BC05-A24A-843B-B5DF4644FDD1}" destId="{9B520D02-C073-E14C-973B-BDFCE3D83BD9}" srcOrd="1" destOrd="0" presId="urn:microsoft.com/office/officeart/2005/8/layout/StepDownProcess"/>
    <dgm:cxn modelId="{138DC906-1109-4748-8AEA-0B2CB5550775}" type="presParOf" srcId="{39316FB3-BC05-A24A-843B-B5DF4644FDD1}" destId="{3ACAA875-96F1-F845-B638-9CBC7EEEF029}" srcOrd="2" destOrd="0" presId="urn:microsoft.com/office/officeart/2005/8/layout/StepDownProcess"/>
    <dgm:cxn modelId="{8081259E-FBBC-FF4C-B345-2761EBFD5BB3}" type="presParOf" srcId="{3ACAA875-96F1-F845-B638-9CBC7EEEF029}" destId="{767ECD5B-C965-8145-9C7B-BBBF6140C76F}" srcOrd="0" destOrd="0" presId="urn:microsoft.com/office/officeart/2005/8/layout/StepDownProcess"/>
    <dgm:cxn modelId="{0025E09A-D486-5242-8DF2-47C16468BA59}" type="presParOf" srcId="{3ACAA875-96F1-F845-B638-9CBC7EEEF029}" destId="{D05DAF7B-6E65-F349-B64F-502D66BBCDC9}" srcOrd="1" destOrd="0" presId="urn:microsoft.com/office/officeart/2005/8/layout/StepDownProcess"/>
    <dgm:cxn modelId="{1C40EE5E-93BF-D14F-9EFF-C85773E3A44C}" type="presParOf" srcId="{3ACAA875-96F1-F845-B638-9CBC7EEEF029}" destId="{C86206F3-4B44-2643-95DB-CF9DFCA66DB9}" srcOrd="2" destOrd="0" presId="urn:microsoft.com/office/officeart/2005/8/layout/StepDownProcess"/>
    <dgm:cxn modelId="{C9BF1834-2BDE-D742-A4DA-6D5830526069}" type="presParOf" srcId="{39316FB3-BC05-A24A-843B-B5DF4644FDD1}" destId="{20B3BD01-4CCB-564A-B7E6-71EF4F9B2AE2}" srcOrd="3" destOrd="0" presId="urn:microsoft.com/office/officeart/2005/8/layout/StepDownProcess"/>
    <dgm:cxn modelId="{156B0580-2754-7F4E-BE79-1C77669A0F5B}" type="presParOf" srcId="{39316FB3-BC05-A24A-843B-B5DF4644FDD1}" destId="{6DC64014-FA75-F74B-B495-B056AA0E9904}" srcOrd="4" destOrd="0" presId="urn:microsoft.com/office/officeart/2005/8/layout/StepDownProcess"/>
    <dgm:cxn modelId="{D48B3ACD-5571-C549-92A6-2643D657DB47}" type="presParOf" srcId="{6DC64014-FA75-F74B-B495-B056AA0E9904}" destId="{B47F1706-9FEC-1447-BAAC-CAEB9D137B60}" srcOrd="0" destOrd="0" presId="urn:microsoft.com/office/officeart/2005/8/layout/StepDownProcess"/>
    <dgm:cxn modelId="{E2AD3B6C-3C6E-4B40-9F91-856C7F580CFE}" type="presParOf" srcId="{6DC64014-FA75-F74B-B495-B056AA0E9904}" destId="{D3163A0D-6CDE-C440-837C-C4BB2E0B63C0}" srcOrd="1" destOrd="0" presId="urn:microsoft.com/office/officeart/2005/8/layout/StepDownProcess"/>
    <dgm:cxn modelId="{E0B95864-B296-D149-9A12-411A67F6646E}" type="presParOf" srcId="{6DC64014-FA75-F74B-B495-B056AA0E9904}" destId="{FEC1D690-E037-AF4E-BADE-605AE9F86579}" srcOrd="2" destOrd="0" presId="urn:microsoft.com/office/officeart/2005/8/layout/StepDownProcess"/>
    <dgm:cxn modelId="{A7BE7E26-A351-3E4E-B936-C964B4C53418}" type="presParOf" srcId="{39316FB3-BC05-A24A-843B-B5DF4644FDD1}" destId="{7C7C3D09-3431-724A-9B11-E94B46905522}" srcOrd="5" destOrd="0" presId="urn:microsoft.com/office/officeart/2005/8/layout/StepDownProcess"/>
    <dgm:cxn modelId="{746945C3-D42D-D041-81C7-C72336D034CD}" type="presParOf" srcId="{39316FB3-BC05-A24A-843B-B5DF4644FDD1}" destId="{A2FBF775-2886-AA44-90FD-DCABCAB1E7D1}" srcOrd="6" destOrd="0" presId="urn:microsoft.com/office/officeart/2005/8/layout/StepDownProcess"/>
    <dgm:cxn modelId="{ECF4AAE3-952C-5E4D-BCE9-E0F9F0695EB6}" type="presParOf" srcId="{A2FBF775-2886-AA44-90FD-DCABCAB1E7D1}" destId="{CAA88E9F-DDDC-2E4B-AED6-B9DDF658726A}"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112FF-A221-9B4A-A8CF-2162868A0822}">
      <dsp:nvSpPr>
        <dsp:cNvPr id="0" name=""/>
        <dsp:cNvSpPr/>
      </dsp:nvSpPr>
      <dsp:spPr>
        <a:xfrm rot="5400000">
          <a:off x="1236152" y="1518573"/>
          <a:ext cx="1752398" cy="1201595"/>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9BC535-03B8-9A48-BD89-6F15B200CBEA}">
      <dsp:nvSpPr>
        <dsp:cNvPr id="0" name=""/>
        <dsp:cNvSpPr/>
      </dsp:nvSpPr>
      <dsp:spPr>
        <a:xfrm>
          <a:off x="111338" y="377909"/>
          <a:ext cx="4313049" cy="88556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dirty="0" err="1"/>
            <a:t>并行集成思想</a:t>
          </a:r>
          <a:endParaRPr lang="en-GB" sz="2700" kern="1200" dirty="0"/>
        </a:p>
      </dsp:txBody>
      <dsp:txXfrm>
        <a:off x="154576" y="421147"/>
        <a:ext cx="4226573" cy="799093"/>
      </dsp:txXfrm>
    </dsp:sp>
    <dsp:sp modelId="{36CD6A65-D7FE-D848-8536-2C415C1AD604}">
      <dsp:nvSpPr>
        <dsp:cNvPr id="0" name=""/>
        <dsp:cNvSpPr/>
      </dsp:nvSpPr>
      <dsp:spPr>
        <a:xfrm>
          <a:off x="3607277" y="61980"/>
          <a:ext cx="1948325" cy="1515533"/>
        </a:xfrm>
        <a:prstGeom prst="rect">
          <a:avLst/>
        </a:prstGeom>
        <a:noFill/>
        <a:ln>
          <a:noFill/>
        </a:ln>
        <a:effectLst/>
      </dsp:spPr>
      <dsp:style>
        <a:lnRef idx="0">
          <a:scrgbClr r="0" g="0" b="0"/>
        </a:lnRef>
        <a:fillRef idx="0">
          <a:scrgbClr r="0" g="0" b="0"/>
        </a:fillRef>
        <a:effectRef idx="0">
          <a:scrgbClr r="0" g="0" b="0"/>
        </a:effectRef>
        <a:fontRef idx="minor"/>
      </dsp:style>
    </dsp:sp>
    <dsp:sp modelId="{767ECD5B-C965-8145-9C7B-BBBF6140C76F}">
      <dsp:nvSpPr>
        <dsp:cNvPr id="0" name=""/>
        <dsp:cNvSpPr/>
      </dsp:nvSpPr>
      <dsp:spPr>
        <a:xfrm rot="5400000">
          <a:off x="3620312" y="3130281"/>
          <a:ext cx="1591310" cy="181165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5DAF7B-6E65-F349-B64F-502D66BBCDC9}">
      <dsp:nvSpPr>
        <dsp:cNvPr id="0" name=""/>
        <dsp:cNvSpPr/>
      </dsp:nvSpPr>
      <dsp:spPr>
        <a:xfrm>
          <a:off x="2724585" y="2406005"/>
          <a:ext cx="2678829" cy="845498"/>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altLang="zh-CN" sz="2700" kern="1200" dirty="0"/>
            <a:t>Bagging</a:t>
          </a:r>
          <a:r>
            <a:rPr lang="zh-CN" altLang="en-US" sz="2700" kern="1200" dirty="0"/>
            <a:t>算法</a:t>
          </a:r>
          <a:endParaRPr lang="en-GB" sz="2700" kern="1200" dirty="0"/>
        </a:p>
      </dsp:txBody>
      <dsp:txXfrm>
        <a:off x="2765866" y="2447286"/>
        <a:ext cx="2596267" cy="762936"/>
      </dsp:txXfrm>
    </dsp:sp>
    <dsp:sp modelId="{C86206F3-4B44-2643-95DB-CF9DFCA66DB9}">
      <dsp:nvSpPr>
        <dsp:cNvPr id="0" name=""/>
        <dsp:cNvSpPr/>
      </dsp:nvSpPr>
      <dsp:spPr>
        <a:xfrm>
          <a:off x="5403414" y="2070040"/>
          <a:ext cx="1948325" cy="1515533"/>
        </a:xfrm>
        <a:prstGeom prst="rect">
          <a:avLst/>
        </a:prstGeom>
        <a:noFill/>
        <a:ln>
          <a:noFill/>
        </a:ln>
        <a:effectLst/>
      </dsp:spPr>
      <dsp:style>
        <a:lnRef idx="0">
          <a:scrgbClr r="0" g="0" b="0"/>
        </a:lnRef>
        <a:fillRef idx="0">
          <a:scrgbClr r="0" g="0" b="0"/>
        </a:fillRef>
        <a:effectRef idx="0">
          <a:scrgbClr r="0" g="0" b="0"/>
        </a:effectRef>
        <a:fontRef idx="minor"/>
      </dsp:style>
    </dsp:sp>
    <dsp:sp modelId="{D3163A0D-6CDE-C440-837C-C4BB2E0B63C0}">
      <dsp:nvSpPr>
        <dsp:cNvPr id="0" name=""/>
        <dsp:cNvSpPr/>
      </dsp:nvSpPr>
      <dsp:spPr>
        <a:xfrm>
          <a:off x="5337832" y="3997556"/>
          <a:ext cx="2678829" cy="950260"/>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GB" sz="2700" kern="1200" dirty="0" err="1"/>
            <a:t>随机森林</a:t>
          </a:r>
          <a:endParaRPr lang="en-GB" sz="2700" kern="1200" dirty="0"/>
        </a:p>
      </dsp:txBody>
      <dsp:txXfrm>
        <a:off x="5384228" y="4043952"/>
        <a:ext cx="2586037" cy="8574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112FF-A221-9B4A-A8CF-2162868A0822}">
      <dsp:nvSpPr>
        <dsp:cNvPr id="0" name=""/>
        <dsp:cNvSpPr/>
      </dsp:nvSpPr>
      <dsp:spPr>
        <a:xfrm rot="5400000">
          <a:off x="1146212" y="1131201"/>
          <a:ext cx="947338" cy="89615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9BC535-03B8-9A48-BD89-6F15B200CBEA}">
      <dsp:nvSpPr>
        <dsp:cNvPr id="0" name=""/>
        <dsp:cNvSpPr/>
      </dsp:nvSpPr>
      <dsp:spPr>
        <a:xfrm>
          <a:off x="2905" y="387202"/>
          <a:ext cx="3307072" cy="679018"/>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err="1"/>
            <a:t>串行集成思想</a:t>
          </a:r>
          <a:r>
            <a:rPr lang="zh-CN" altLang="en-US" sz="2200" kern="1200" dirty="0"/>
            <a:t>（</a:t>
          </a:r>
          <a:r>
            <a:rPr lang="en-US" altLang="zh-CN" sz="2200" kern="1200" dirty="0">
              <a:solidFill>
                <a:srgbClr val="FF0000"/>
              </a:solidFill>
            </a:rPr>
            <a:t>Boosting</a:t>
          </a:r>
          <a:r>
            <a:rPr lang="en-US" altLang="zh-CN" sz="2200" kern="1200" dirty="0"/>
            <a:t>)</a:t>
          </a:r>
          <a:endParaRPr lang="en-GB" sz="2200" kern="1200" dirty="0"/>
        </a:p>
      </dsp:txBody>
      <dsp:txXfrm>
        <a:off x="36058" y="420355"/>
        <a:ext cx="3240766" cy="612712"/>
      </dsp:txXfrm>
    </dsp:sp>
    <dsp:sp modelId="{36CD6A65-D7FE-D848-8536-2C415C1AD604}">
      <dsp:nvSpPr>
        <dsp:cNvPr id="0" name=""/>
        <dsp:cNvSpPr/>
      </dsp:nvSpPr>
      <dsp:spPr>
        <a:xfrm>
          <a:off x="2683451" y="144960"/>
          <a:ext cx="1493897" cy="1162050"/>
        </a:xfrm>
        <a:prstGeom prst="rect">
          <a:avLst/>
        </a:prstGeom>
        <a:noFill/>
        <a:ln>
          <a:noFill/>
        </a:ln>
        <a:effectLst/>
      </dsp:spPr>
      <dsp:style>
        <a:lnRef idx="0">
          <a:scrgbClr r="0" g="0" b="0"/>
        </a:lnRef>
        <a:fillRef idx="0">
          <a:scrgbClr r="0" g="0" b="0"/>
        </a:fillRef>
        <a:effectRef idx="0">
          <a:scrgbClr r="0" g="0" b="0"/>
        </a:effectRef>
        <a:fontRef idx="minor"/>
      </dsp:style>
    </dsp:sp>
    <dsp:sp modelId="{767ECD5B-C965-8145-9C7B-BBBF6140C76F}">
      <dsp:nvSpPr>
        <dsp:cNvPr id="0" name=""/>
        <dsp:cNvSpPr/>
      </dsp:nvSpPr>
      <dsp:spPr>
        <a:xfrm rot="5400000">
          <a:off x="3096349" y="1918501"/>
          <a:ext cx="798553" cy="138910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5DAF7B-6E65-F349-B64F-502D66BBCDC9}">
      <dsp:nvSpPr>
        <dsp:cNvPr id="0" name=""/>
        <dsp:cNvSpPr/>
      </dsp:nvSpPr>
      <dsp:spPr>
        <a:xfrm>
          <a:off x="2015286" y="1566106"/>
          <a:ext cx="2651286" cy="64829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err="1">
              <a:solidFill>
                <a:srgbClr val="FFFF00"/>
              </a:solidFill>
            </a:rPr>
            <a:t>Adaboost</a:t>
          </a:r>
          <a:r>
            <a:rPr lang="zh-CN" altLang="en-US" sz="2400" kern="1200" dirty="0">
              <a:solidFill>
                <a:srgbClr val="FFFF00"/>
              </a:solidFill>
            </a:rPr>
            <a:t>算法</a:t>
          </a:r>
          <a:endParaRPr lang="en-GB" sz="2400" kern="1200" dirty="0">
            <a:solidFill>
              <a:srgbClr val="FFFF00"/>
            </a:solidFill>
          </a:endParaRPr>
        </a:p>
      </dsp:txBody>
      <dsp:txXfrm>
        <a:off x="2046939" y="1597759"/>
        <a:ext cx="2587980" cy="584988"/>
      </dsp:txXfrm>
    </dsp:sp>
    <dsp:sp modelId="{C86206F3-4B44-2643-95DB-CF9DFCA66DB9}">
      <dsp:nvSpPr>
        <dsp:cNvPr id="0" name=""/>
        <dsp:cNvSpPr/>
      </dsp:nvSpPr>
      <dsp:spPr>
        <a:xfrm>
          <a:off x="4359291" y="1486495"/>
          <a:ext cx="1493897" cy="1162050"/>
        </a:xfrm>
        <a:prstGeom prst="rect">
          <a:avLst/>
        </a:prstGeom>
        <a:noFill/>
        <a:ln>
          <a:noFill/>
        </a:ln>
        <a:effectLst/>
      </dsp:spPr>
      <dsp:style>
        <a:lnRef idx="0">
          <a:scrgbClr r="0" g="0" b="0"/>
        </a:lnRef>
        <a:fillRef idx="0">
          <a:scrgbClr r="0" g="0" b="0"/>
        </a:fillRef>
        <a:effectRef idx="0">
          <a:scrgbClr r="0" g="0" b="0"/>
        </a:effectRef>
        <a:fontRef idx="minor"/>
      </dsp:style>
    </dsp:sp>
    <dsp:sp modelId="{B47F1706-9FEC-1447-BAAC-CAEB9D137B60}">
      <dsp:nvSpPr>
        <dsp:cNvPr id="0" name=""/>
        <dsp:cNvSpPr/>
      </dsp:nvSpPr>
      <dsp:spPr>
        <a:xfrm rot="5400000">
          <a:off x="5160317" y="3406027"/>
          <a:ext cx="1220152" cy="138910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163A0D-6CDE-C440-837C-C4BB2E0B63C0}">
      <dsp:nvSpPr>
        <dsp:cNvPr id="0" name=""/>
        <dsp:cNvSpPr/>
      </dsp:nvSpPr>
      <dsp:spPr>
        <a:xfrm>
          <a:off x="4131373" y="2704160"/>
          <a:ext cx="3187631" cy="7853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Gradient Boosting</a:t>
          </a:r>
          <a:endParaRPr lang="en-GB" sz="2000" kern="1200" dirty="0"/>
        </a:p>
      </dsp:txBody>
      <dsp:txXfrm>
        <a:off x="4169716" y="2742503"/>
        <a:ext cx="3110945" cy="708639"/>
      </dsp:txXfrm>
    </dsp:sp>
    <dsp:sp modelId="{FEC1D690-E037-AF4E-BADE-605AE9F86579}">
      <dsp:nvSpPr>
        <dsp:cNvPr id="0" name=""/>
        <dsp:cNvSpPr/>
      </dsp:nvSpPr>
      <dsp:spPr>
        <a:xfrm>
          <a:off x="6631196" y="2753637"/>
          <a:ext cx="1493897" cy="1162050"/>
        </a:xfrm>
        <a:prstGeom prst="rect">
          <a:avLst/>
        </a:prstGeom>
        <a:noFill/>
        <a:ln>
          <a:noFill/>
        </a:ln>
        <a:effectLst/>
      </dsp:spPr>
      <dsp:style>
        <a:lnRef idx="0">
          <a:scrgbClr r="0" g="0" b="0"/>
        </a:lnRef>
        <a:fillRef idx="0">
          <a:scrgbClr r="0" g="0" b="0"/>
        </a:fillRef>
        <a:effectRef idx="0">
          <a:scrgbClr r="0" g="0" b="0"/>
        </a:effectRef>
        <a:fontRef idx="minor"/>
      </dsp:style>
    </dsp:sp>
    <dsp:sp modelId="{CAA88E9F-DDDC-2E4B-AED6-B9DDF658726A}">
      <dsp:nvSpPr>
        <dsp:cNvPr id="0" name=""/>
        <dsp:cNvSpPr/>
      </dsp:nvSpPr>
      <dsp:spPr>
        <a:xfrm>
          <a:off x="6032980" y="4118745"/>
          <a:ext cx="2054018" cy="709441"/>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XGBOOST</a:t>
          </a:r>
          <a:endParaRPr lang="en-GB" sz="2200" kern="1200" dirty="0"/>
        </a:p>
      </dsp:txBody>
      <dsp:txXfrm>
        <a:off x="6067618" y="4153383"/>
        <a:ext cx="1984742" cy="6401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112FF-A221-9B4A-A8CF-2162868A0822}">
      <dsp:nvSpPr>
        <dsp:cNvPr id="0" name=""/>
        <dsp:cNvSpPr/>
      </dsp:nvSpPr>
      <dsp:spPr>
        <a:xfrm rot="5400000">
          <a:off x="1146212" y="1131201"/>
          <a:ext cx="947338" cy="89615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9BC535-03B8-9A48-BD89-6F15B200CBEA}">
      <dsp:nvSpPr>
        <dsp:cNvPr id="0" name=""/>
        <dsp:cNvSpPr/>
      </dsp:nvSpPr>
      <dsp:spPr>
        <a:xfrm>
          <a:off x="2905" y="387202"/>
          <a:ext cx="3307072" cy="679018"/>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err="1"/>
            <a:t>串行集成思想</a:t>
          </a:r>
          <a:r>
            <a:rPr lang="zh-CN" altLang="en-US" sz="2200" kern="1200" dirty="0"/>
            <a:t>（</a:t>
          </a:r>
          <a:r>
            <a:rPr lang="en-US" altLang="zh-CN" sz="2200" kern="1200" dirty="0"/>
            <a:t>Boosting)</a:t>
          </a:r>
          <a:endParaRPr lang="en-GB" sz="2200" kern="1200" dirty="0"/>
        </a:p>
      </dsp:txBody>
      <dsp:txXfrm>
        <a:off x="36058" y="420355"/>
        <a:ext cx="3240766" cy="612712"/>
      </dsp:txXfrm>
    </dsp:sp>
    <dsp:sp modelId="{36CD6A65-D7FE-D848-8536-2C415C1AD604}">
      <dsp:nvSpPr>
        <dsp:cNvPr id="0" name=""/>
        <dsp:cNvSpPr/>
      </dsp:nvSpPr>
      <dsp:spPr>
        <a:xfrm>
          <a:off x="2683451" y="144960"/>
          <a:ext cx="1493897" cy="1162050"/>
        </a:xfrm>
        <a:prstGeom prst="rect">
          <a:avLst/>
        </a:prstGeom>
        <a:noFill/>
        <a:ln>
          <a:noFill/>
        </a:ln>
        <a:effectLst/>
      </dsp:spPr>
      <dsp:style>
        <a:lnRef idx="0">
          <a:scrgbClr r="0" g="0" b="0"/>
        </a:lnRef>
        <a:fillRef idx="0">
          <a:scrgbClr r="0" g="0" b="0"/>
        </a:fillRef>
        <a:effectRef idx="0">
          <a:scrgbClr r="0" g="0" b="0"/>
        </a:effectRef>
        <a:fontRef idx="minor"/>
      </dsp:style>
    </dsp:sp>
    <dsp:sp modelId="{767ECD5B-C965-8145-9C7B-BBBF6140C76F}">
      <dsp:nvSpPr>
        <dsp:cNvPr id="0" name=""/>
        <dsp:cNvSpPr/>
      </dsp:nvSpPr>
      <dsp:spPr>
        <a:xfrm rot="5400000">
          <a:off x="3096349" y="1918501"/>
          <a:ext cx="798553" cy="138910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5DAF7B-6E65-F349-B64F-502D66BBCDC9}">
      <dsp:nvSpPr>
        <dsp:cNvPr id="0" name=""/>
        <dsp:cNvSpPr/>
      </dsp:nvSpPr>
      <dsp:spPr>
        <a:xfrm>
          <a:off x="2015286" y="1566106"/>
          <a:ext cx="2651286" cy="648294"/>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altLang="zh-CN" sz="2400" kern="1200" dirty="0" err="1">
              <a:solidFill>
                <a:srgbClr val="FFFF00"/>
              </a:solidFill>
            </a:rPr>
            <a:t>Adaboost</a:t>
          </a:r>
          <a:r>
            <a:rPr lang="zh-CN" altLang="en-US" sz="2400" kern="1200" dirty="0">
              <a:solidFill>
                <a:srgbClr val="FFFF00"/>
              </a:solidFill>
            </a:rPr>
            <a:t>算法</a:t>
          </a:r>
          <a:endParaRPr lang="en-GB" sz="2400" kern="1200" dirty="0">
            <a:solidFill>
              <a:srgbClr val="FFFF00"/>
            </a:solidFill>
          </a:endParaRPr>
        </a:p>
      </dsp:txBody>
      <dsp:txXfrm>
        <a:off x="2046939" y="1597759"/>
        <a:ext cx="2587980" cy="584988"/>
      </dsp:txXfrm>
    </dsp:sp>
    <dsp:sp modelId="{C86206F3-4B44-2643-95DB-CF9DFCA66DB9}">
      <dsp:nvSpPr>
        <dsp:cNvPr id="0" name=""/>
        <dsp:cNvSpPr/>
      </dsp:nvSpPr>
      <dsp:spPr>
        <a:xfrm>
          <a:off x="4359291" y="1486495"/>
          <a:ext cx="1493897" cy="1162050"/>
        </a:xfrm>
        <a:prstGeom prst="rect">
          <a:avLst/>
        </a:prstGeom>
        <a:noFill/>
        <a:ln>
          <a:noFill/>
        </a:ln>
        <a:effectLst/>
      </dsp:spPr>
      <dsp:style>
        <a:lnRef idx="0">
          <a:scrgbClr r="0" g="0" b="0"/>
        </a:lnRef>
        <a:fillRef idx="0">
          <a:scrgbClr r="0" g="0" b="0"/>
        </a:fillRef>
        <a:effectRef idx="0">
          <a:scrgbClr r="0" g="0" b="0"/>
        </a:effectRef>
        <a:fontRef idx="minor"/>
      </dsp:style>
    </dsp:sp>
    <dsp:sp modelId="{B47F1706-9FEC-1447-BAAC-CAEB9D137B60}">
      <dsp:nvSpPr>
        <dsp:cNvPr id="0" name=""/>
        <dsp:cNvSpPr/>
      </dsp:nvSpPr>
      <dsp:spPr>
        <a:xfrm rot="5400000">
          <a:off x="5160317" y="3406027"/>
          <a:ext cx="1220152" cy="1389100"/>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163A0D-6CDE-C440-837C-C4BB2E0B63C0}">
      <dsp:nvSpPr>
        <dsp:cNvPr id="0" name=""/>
        <dsp:cNvSpPr/>
      </dsp:nvSpPr>
      <dsp:spPr>
        <a:xfrm>
          <a:off x="4131373" y="2704160"/>
          <a:ext cx="3187631" cy="785325"/>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Gradient Boosting</a:t>
          </a:r>
          <a:endParaRPr lang="en-GB" sz="2000" kern="1200" dirty="0"/>
        </a:p>
      </dsp:txBody>
      <dsp:txXfrm>
        <a:off x="4169716" y="2742503"/>
        <a:ext cx="3110945" cy="708639"/>
      </dsp:txXfrm>
    </dsp:sp>
    <dsp:sp modelId="{FEC1D690-E037-AF4E-BADE-605AE9F86579}">
      <dsp:nvSpPr>
        <dsp:cNvPr id="0" name=""/>
        <dsp:cNvSpPr/>
      </dsp:nvSpPr>
      <dsp:spPr>
        <a:xfrm>
          <a:off x="6631196" y="2753637"/>
          <a:ext cx="1493897" cy="1162050"/>
        </a:xfrm>
        <a:prstGeom prst="rect">
          <a:avLst/>
        </a:prstGeom>
        <a:noFill/>
        <a:ln>
          <a:noFill/>
        </a:ln>
        <a:effectLst/>
      </dsp:spPr>
      <dsp:style>
        <a:lnRef idx="0">
          <a:scrgbClr r="0" g="0" b="0"/>
        </a:lnRef>
        <a:fillRef idx="0">
          <a:scrgbClr r="0" g="0" b="0"/>
        </a:fillRef>
        <a:effectRef idx="0">
          <a:scrgbClr r="0" g="0" b="0"/>
        </a:effectRef>
        <a:fontRef idx="minor"/>
      </dsp:style>
    </dsp:sp>
    <dsp:sp modelId="{CAA88E9F-DDDC-2E4B-AED6-B9DDF658726A}">
      <dsp:nvSpPr>
        <dsp:cNvPr id="0" name=""/>
        <dsp:cNvSpPr/>
      </dsp:nvSpPr>
      <dsp:spPr>
        <a:xfrm>
          <a:off x="6032980" y="4118745"/>
          <a:ext cx="2054018" cy="709441"/>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altLang="zh-CN" sz="2200" kern="1200" dirty="0"/>
            <a:t>XGBOOST</a:t>
          </a:r>
          <a:endParaRPr lang="en-GB" sz="2200" kern="1200" dirty="0"/>
        </a:p>
      </dsp:txBody>
      <dsp:txXfrm>
        <a:off x="6067618" y="4153383"/>
        <a:ext cx="1984742" cy="640165"/>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E870044-25ED-4E18-901A-C6EB763D6C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F289518-C443-4D56-AE28-EFD59093B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A445A5-EAEA-471A-A764-D02BDE2350C3}" type="datetimeFigureOut">
              <a:rPr lang="zh-CN" altLang="en-US" smtClean="0"/>
              <a:t>2025/11/17</a:t>
            </a:fld>
            <a:endParaRPr lang="zh-CN" altLang="en-US"/>
          </a:p>
        </p:txBody>
      </p:sp>
      <p:sp>
        <p:nvSpPr>
          <p:cNvPr id="4" name="页脚占位符 3">
            <a:extLst>
              <a:ext uri="{FF2B5EF4-FFF2-40B4-BE49-F238E27FC236}">
                <a16:creationId xmlns:a16="http://schemas.microsoft.com/office/drawing/2014/main" id="{0CAB52DA-5EBE-4165-AC1A-DBC6F4BC4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519C8A6-40B6-456C-A701-2ABBF283DB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6B029-1D43-47DC-AA71-792A29313082}" type="slidenum">
              <a:rPr lang="zh-CN" altLang="en-US" smtClean="0"/>
              <a:t>‹#›</a:t>
            </a:fld>
            <a:endParaRPr lang="zh-CN" altLang="en-US"/>
          </a:p>
        </p:txBody>
      </p:sp>
    </p:spTree>
    <p:extLst>
      <p:ext uri="{BB962C8B-B14F-4D97-AF65-F5344CB8AC3E}">
        <p14:creationId xmlns:p14="http://schemas.microsoft.com/office/powerpoint/2010/main" val="2865379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A2A3E-3786-4FE7-BA9C-4C7CD2D5C4D8}" type="datetimeFigureOut">
              <a:rPr lang="zh-CN" altLang="en-US" smtClean="0"/>
              <a:t>2025/11/17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5D5D6-4E3F-411C-8722-AE80321700F2}" type="slidenum">
              <a:rPr lang="zh-CN" altLang="en-US" smtClean="0"/>
              <a:t>‹#›</a:t>
            </a:fld>
            <a:endParaRPr lang="zh-CN" altLang="en-US"/>
          </a:p>
        </p:txBody>
      </p:sp>
    </p:spTree>
    <p:extLst>
      <p:ext uri="{BB962C8B-B14F-4D97-AF65-F5344CB8AC3E}">
        <p14:creationId xmlns:p14="http://schemas.microsoft.com/office/powerpoint/2010/main" val="4120114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www.515ppt.com</a:t>
            </a:r>
          </a:p>
        </p:txBody>
      </p:sp>
      <p:sp>
        <p:nvSpPr>
          <p:cNvPr id="4" name="灯片编号占位符 3"/>
          <p:cNvSpPr>
            <a:spLocks noGrp="1"/>
          </p:cNvSpPr>
          <p:nvPr>
            <p:ph type="sldNum" sz="quarter" idx="10"/>
          </p:nvPr>
        </p:nvSpPr>
        <p:spPr/>
        <p:txBody>
          <a:bodyPr/>
          <a:lstStyle/>
          <a:p>
            <a:fld id="{8A036312-6A05-4643-B813-780AEBCA5446}" type="slidenum">
              <a:rPr lang="zh-CN" altLang="en-US" smtClean="0"/>
              <a:t>1</a:t>
            </a:fld>
            <a:endParaRPr lang="zh-CN" altLang="en-US"/>
          </a:p>
        </p:txBody>
      </p:sp>
    </p:spTree>
    <p:extLst>
      <p:ext uri="{BB962C8B-B14F-4D97-AF65-F5344CB8AC3E}">
        <p14:creationId xmlns:p14="http://schemas.microsoft.com/office/powerpoint/2010/main" val="204482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16213" y="506413"/>
            <a:ext cx="4510087" cy="2536825"/>
          </a:xfrm>
        </p:spPr>
      </p:sp>
      <p:sp>
        <p:nvSpPr>
          <p:cNvPr id="3" name="备注占位符 2"/>
          <p:cNvSpPr>
            <a:spLocks noGrp="1"/>
          </p:cNvSpPr>
          <p:nvPr>
            <p:ph type="body" idx="1"/>
          </p:nvPr>
        </p:nvSpPr>
        <p:spPr/>
        <p:txBody>
          <a:bodyPr/>
          <a:lstStyle/>
          <a:p>
            <a:r>
              <a:rPr lang="zh-CN" altLang="en-US" dirty="0"/>
              <a:t>集成思想 </a:t>
            </a:r>
            <a:r>
              <a:rPr lang="en-US" altLang="zh-CN" dirty="0"/>
              <a:t>= </a:t>
            </a:r>
            <a:r>
              <a:rPr lang="zh-CN" altLang="en-US" dirty="0"/>
              <a:t>降方差（</a:t>
            </a:r>
            <a:r>
              <a:rPr lang="en" altLang="zh-CN" dirty="0"/>
              <a:t>Bagging</a:t>
            </a:r>
            <a:r>
              <a:rPr lang="zh-CN" altLang="en" dirty="0"/>
              <a:t>） </a:t>
            </a:r>
            <a:r>
              <a:rPr lang="en" altLang="zh-CN" dirty="0"/>
              <a:t>+ </a:t>
            </a:r>
            <a:r>
              <a:rPr lang="zh-CN" altLang="en-US" dirty="0"/>
              <a:t>降偏差（</a:t>
            </a:r>
            <a:r>
              <a:rPr lang="en" altLang="zh-CN" dirty="0"/>
              <a:t>Boosting</a:t>
            </a:r>
            <a:r>
              <a:rPr lang="zh-CN" altLang="en" dirty="0"/>
              <a:t>）</a:t>
            </a:r>
            <a:endParaRPr lang="zh-CN" altLang="en-US" dirty="0"/>
          </a:p>
        </p:txBody>
      </p:sp>
      <p:sp>
        <p:nvSpPr>
          <p:cNvPr id="4" name="灯片编号占位符 3"/>
          <p:cNvSpPr>
            <a:spLocks noGrp="1"/>
          </p:cNvSpPr>
          <p:nvPr>
            <p:ph type="sldNum" sz="quarter" idx="10"/>
          </p:nvPr>
        </p:nvSpPr>
        <p:spPr/>
        <p:txBody>
          <a:bodyPr/>
          <a:lstStyle/>
          <a:p>
            <a:fld id="{8A036312-6A05-4643-B813-780AEBCA5446}" type="slidenum">
              <a:rPr lang="zh-CN" altLang="en-US" smtClean="0"/>
              <a:t>2</a:t>
            </a:fld>
            <a:endParaRPr lang="zh-CN" altLang="en-US"/>
          </a:p>
        </p:txBody>
      </p:sp>
    </p:spTree>
    <p:extLst>
      <p:ext uri="{BB962C8B-B14F-4D97-AF65-F5344CB8AC3E}">
        <p14:creationId xmlns:p14="http://schemas.microsoft.com/office/powerpoint/2010/main" val="3865119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为什么需要集成学习？</a:t>
            </a:r>
            <a:br>
              <a:rPr lang="zh-CN" altLang="en-US" dirty="0"/>
            </a:br>
            <a:r>
              <a:rPr lang="zh-CN" altLang="en-US" dirty="0"/>
              <a:t>因为很多弱模型单独表现不好，但如果让它们投票，它们能变得非常强（</a:t>
            </a:r>
            <a:r>
              <a:rPr lang="en" altLang="zh-CN" dirty="0" err="1"/>
              <a:t>Schapire</a:t>
            </a:r>
            <a:r>
              <a:rPr lang="en" altLang="zh-CN" dirty="0"/>
              <a:t> </a:t>
            </a:r>
            <a:r>
              <a:rPr lang="zh-CN" altLang="en-US" dirty="0"/>
              <a:t>的弱可学习性定理）。</a:t>
            </a:r>
          </a:p>
        </p:txBody>
      </p:sp>
      <p:sp>
        <p:nvSpPr>
          <p:cNvPr id="4" name="灯片编号占位符 3"/>
          <p:cNvSpPr>
            <a:spLocks noGrp="1"/>
          </p:cNvSpPr>
          <p:nvPr>
            <p:ph type="sldNum" sz="quarter" idx="5"/>
          </p:nvPr>
        </p:nvSpPr>
        <p:spPr/>
        <p:txBody>
          <a:bodyPr/>
          <a:lstStyle/>
          <a:p>
            <a:fld id="{E285D5D6-4E3F-411C-8722-AE80321700F2}" type="slidenum">
              <a:rPr lang="zh-CN" altLang="en-US" smtClean="0"/>
              <a:t>3</a:t>
            </a:fld>
            <a:endParaRPr lang="zh-CN" altLang="en-US"/>
          </a:p>
        </p:txBody>
      </p:sp>
    </p:spTree>
    <p:extLst>
      <p:ext uri="{BB962C8B-B14F-4D97-AF65-F5344CB8AC3E}">
        <p14:creationId xmlns:p14="http://schemas.microsoft.com/office/powerpoint/2010/main" val="4071589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集成学习的方法是通过训练多个学习器，并通过学习器的合并来解决一个问题。他的根本思路是对统一问题使用一系列学习器进行学习，并使用一定的策略把各个不同的学习结果进行整合从而获得比单个学习器更好的学习效果。集成学习也被成为基于委员会的学习</a:t>
            </a:r>
            <a:r>
              <a:rPr lang="en-US" sz="1200" kern="1200" dirty="0">
                <a:solidFill>
                  <a:schemeClr val="tx1"/>
                </a:solidFill>
                <a:effectLst/>
                <a:latin typeface="+mn-lt"/>
                <a:ea typeface="+mn-ea"/>
                <a:cs typeface="+mn-cs"/>
              </a:rPr>
              <a:t>(committee-based learning)</a:t>
            </a:r>
            <a:r>
              <a:rPr lang="zh-CN" altLang="en-US" sz="1200" kern="1200" dirty="0">
                <a:solidFill>
                  <a:schemeClr val="tx1"/>
                </a:solidFill>
                <a:effectLst/>
                <a:latin typeface="+mn-lt"/>
                <a:ea typeface="+mn-ea"/>
                <a:cs typeface="+mn-cs"/>
              </a:rPr>
              <a:t>或多分类器系统（</a:t>
            </a:r>
            <a:r>
              <a:rPr lang="en-US" sz="1200" kern="1200" dirty="0">
                <a:solidFill>
                  <a:schemeClr val="tx1"/>
                </a:solidFill>
                <a:effectLst/>
                <a:latin typeface="+mn-lt"/>
                <a:ea typeface="+mn-ea"/>
                <a:cs typeface="+mn-cs"/>
              </a:rPr>
              <a:t>multiple classifier system</a:t>
            </a:r>
            <a:r>
              <a:rPr lang="zh-CN" altLang="en-US" sz="1200" kern="1200" dirty="0">
                <a:solidFill>
                  <a:schemeClr val="tx1"/>
                </a:solidFill>
                <a:effectLst/>
                <a:latin typeface="+mn-lt"/>
                <a:ea typeface="+mn-ea"/>
                <a:cs typeface="+mn-cs"/>
              </a:rPr>
              <a:t>）。</a:t>
            </a:r>
            <a:r>
              <a:rPr lang="en-CN" dirty="0">
                <a:effectLst/>
              </a:rPr>
              <a:t> </a:t>
            </a:r>
          </a:p>
          <a:p>
            <a:endParaRPr lang="en-CN" altLang="zh-CN" dirty="0">
              <a:effectLst/>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a:t>
            </a:fld>
            <a:endParaRPr lang="zh-CN" altLang="en-US"/>
          </a:p>
        </p:txBody>
      </p:sp>
    </p:spTree>
    <p:extLst>
      <p:ext uri="{BB962C8B-B14F-4D97-AF65-F5344CB8AC3E}">
        <p14:creationId xmlns:p14="http://schemas.microsoft.com/office/powerpoint/2010/main" val="1213211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zh-CN" altLang="en-US" sz="1200" kern="1200" dirty="0">
                <a:solidFill>
                  <a:schemeClr val="tx1"/>
                </a:solidFill>
                <a:effectLst/>
                <a:latin typeface="+mn-lt"/>
                <a:ea typeface="+mn-ea"/>
                <a:cs typeface="+mn-cs"/>
              </a:rPr>
              <a:t>上图给出了一个通用的集成学习框架。可以看出，它首先是由多个基学习器</a:t>
            </a:r>
            <a:r>
              <a:rPr lang="en-US" sz="1200" kern="1200" dirty="0">
                <a:solidFill>
                  <a:schemeClr val="tx1"/>
                </a:solidFill>
                <a:effectLst/>
                <a:latin typeface="+mn-lt"/>
                <a:ea typeface="+mn-ea"/>
                <a:cs typeface="+mn-cs"/>
              </a:rPr>
              <a:t>(base learner)</a:t>
            </a:r>
            <a:r>
              <a:rPr lang="zh-CN" altLang="en-US" sz="1200" kern="1200" dirty="0">
                <a:solidFill>
                  <a:schemeClr val="tx1"/>
                </a:solidFill>
                <a:effectLst/>
                <a:latin typeface="+mn-lt"/>
                <a:ea typeface="+mn-ea"/>
                <a:cs typeface="+mn-cs"/>
              </a:rPr>
              <a:t>构成，而基学习器由基学习算法（</a:t>
            </a:r>
            <a:r>
              <a:rPr lang="en-US" sz="1200" kern="1200" dirty="0">
                <a:solidFill>
                  <a:schemeClr val="tx1"/>
                </a:solidFill>
                <a:effectLst/>
                <a:latin typeface="+mn-lt"/>
                <a:ea typeface="+mn-ea"/>
                <a:cs typeface="+mn-cs"/>
              </a:rPr>
              <a:t>base learning algorithm</a:t>
            </a:r>
            <a:r>
              <a:rPr lang="zh-CN" altLang="en-US" sz="1200" kern="1200" dirty="0">
                <a:solidFill>
                  <a:schemeClr val="tx1"/>
                </a:solidFill>
                <a:effectLst/>
                <a:latin typeface="+mn-lt"/>
                <a:ea typeface="+mn-ea"/>
                <a:cs typeface="+mn-cs"/>
              </a:rPr>
              <a:t>）在训练数据上训练获得，它们可以是前面我们学到的决策树、简单的分类算法如</a:t>
            </a:r>
            <a:r>
              <a:rPr lang="en-US" sz="1200" kern="1200" dirty="0">
                <a:solidFill>
                  <a:schemeClr val="tx1"/>
                </a:solidFill>
                <a:effectLst/>
                <a:latin typeface="+mn-lt"/>
                <a:ea typeface="+mn-ea"/>
                <a:cs typeface="+mn-cs"/>
              </a:rPr>
              <a:t>SVM</a:t>
            </a:r>
            <a:r>
              <a:rPr lang="zh-CN" altLang="en-US" sz="1200" kern="1200" dirty="0">
                <a:solidFill>
                  <a:schemeClr val="tx1"/>
                </a:solidFill>
                <a:effectLst/>
                <a:latin typeface="+mn-lt"/>
                <a:ea typeface="+mn-ea"/>
                <a:cs typeface="+mn-cs"/>
              </a:rPr>
              <a:t>、或者是复杂的神经网络等各种学习方法。大多数集成学习方法使用一种基学习算法产生同质的基学习器，即相同种类的学习器，生成同质集成（</a:t>
            </a:r>
            <a:r>
              <a:rPr lang="en-US" sz="1200" kern="1200" dirty="0">
                <a:solidFill>
                  <a:schemeClr val="tx1"/>
                </a:solidFill>
                <a:effectLst/>
                <a:latin typeface="+mn-lt"/>
                <a:ea typeface="+mn-ea"/>
                <a:cs typeface="+mn-cs"/>
              </a:rPr>
              <a:t>homogeneous ensemble</a:t>
            </a:r>
            <a:r>
              <a:rPr lang="zh-CN" altLang="en-US"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同时，也有一些方法使用多种学习算法训练不同种类的学习器，构建异质集成（</a:t>
            </a:r>
            <a:r>
              <a:rPr lang="en-US" sz="1200" kern="1200" dirty="0">
                <a:solidFill>
                  <a:schemeClr val="tx1"/>
                </a:solidFill>
                <a:effectLst/>
                <a:latin typeface="+mn-lt"/>
                <a:ea typeface="+mn-ea"/>
                <a:cs typeface="+mn-cs"/>
              </a:rPr>
              <a:t>heterogeneous ensemble</a:t>
            </a:r>
            <a:r>
              <a:rPr lang="zh-CN" altLang="en-US" sz="1200" kern="1200" dirty="0">
                <a:solidFill>
                  <a:schemeClr val="tx1"/>
                </a:solidFill>
                <a:effectLst/>
                <a:latin typeface="+mn-lt"/>
                <a:ea typeface="+mn-ea"/>
                <a:cs typeface="+mn-cs"/>
              </a:rPr>
              <a:t>）。</a:t>
            </a:r>
            <a:endParaRPr lang="en-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5</a:t>
            </a:fld>
            <a:endParaRPr lang="zh-CN" altLang="en-US"/>
          </a:p>
        </p:txBody>
      </p:sp>
    </p:spTree>
    <p:extLst>
      <p:ext uri="{BB962C8B-B14F-4D97-AF65-F5344CB8AC3E}">
        <p14:creationId xmlns:p14="http://schemas.microsoft.com/office/powerpoint/2010/main" val="1557192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zh-CN" altLang="en-US" sz="1200" kern="1200" dirty="0">
                <a:solidFill>
                  <a:schemeClr val="tx1"/>
                </a:solidFill>
                <a:effectLst/>
                <a:latin typeface="+mn-lt"/>
                <a:ea typeface="+mn-ea"/>
                <a:cs typeface="+mn-cs"/>
              </a:rPr>
              <a:t>那么上图中的</a:t>
            </a:r>
            <a:r>
              <a:rPr lang="en-US" sz="1200" kern="1200" dirty="0">
                <a:solidFill>
                  <a:schemeClr val="tx1"/>
                </a:solidFill>
                <a:effectLst/>
                <a:latin typeface="+mn-lt"/>
                <a:ea typeface="+mn-ea"/>
                <a:cs typeface="+mn-cs"/>
              </a:rPr>
              <a:t>Combiner</a:t>
            </a:r>
            <a:r>
              <a:rPr lang="zh-CN" altLang="en-US" sz="1200" kern="1200" dirty="0">
                <a:solidFill>
                  <a:schemeClr val="tx1"/>
                </a:solidFill>
                <a:effectLst/>
                <a:latin typeface="+mn-lt"/>
                <a:ea typeface="+mn-ea"/>
                <a:cs typeface="+mn-cs"/>
              </a:rPr>
              <a:t>（集成器）使得整个集成算法具有更强的泛化能力。实际上，集成学习之所以越来越受欢迎，很大程度上是因为他们能够把比随机猜测稍好的弱学习器（</a:t>
            </a:r>
            <a:r>
              <a:rPr lang="en-US" sz="1200" kern="1200" dirty="0">
                <a:solidFill>
                  <a:schemeClr val="tx1"/>
                </a:solidFill>
                <a:effectLst/>
                <a:latin typeface="+mn-lt"/>
                <a:ea typeface="+mn-ea"/>
                <a:cs typeface="+mn-cs"/>
              </a:rPr>
              <a:t>weak learner</a:t>
            </a:r>
            <a:r>
              <a:rPr lang="zh-CN" altLang="en-US" sz="1200" kern="1200" dirty="0">
                <a:solidFill>
                  <a:schemeClr val="tx1"/>
                </a:solidFill>
                <a:effectLst/>
                <a:latin typeface="+mn-lt"/>
                <a:ea typeface="+mn-ea"/>
                <a:cs typeface="+mn-cs"/>
              </a:rPr>
              <a:t>）变成可以精确预测的强学习器（</a:t>
            </a:r>
            <a:r>
              <a:rPr lang="en-US" sz="1200" kern="1200" dirty="0">
                <a:solidFill>
                  <a:schemeClr val="tx1"/>
                </a:solidFill>
                <a:effectLst/>
                <a:latin typeface="+mn-lt"/>
                <a:ea typeface="+mn-ea"/>
                <a:cs typeface="+mn-cs"/>
              </a:rPr>
              <a:t>strong learner</a:t>
            </a:r>
            <a:r>
              <a:rPr lang="zh-CN" altLang="en-US" sz="120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集成学习潜在的思想是即便某一个弱分类器得到了错误的预测，其他的弱分类器也可以将错误纠正回来。</a:t>
            </a:r>
            <a:endParaRPr lang="en-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6</a:t>
            </a:fld>
            <a:endParaRPr lang="zh-CN" altLang="en-US"/>
          </a:p>
        </p:txBody>
      </p:sp>
    </p:spTree>
    <p:extLst>
      <p:ext uri="{BB962C8B-B14F-4D97-AF65-F5344CB8AC3E}">
        <p14:creationId xmlns:p14="http://schemas.microsoft.com/office/powerpoint/2010/main" val="2237980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tx1"/>
                </a:solidFill>
                <a:effectLst/>
                <a:latin typeface="+mn-lt"/>
                <a:ea typeface="+mn-ea"/>
                <a:cs typeface="+mn-cs"/>
              </a:rPr>
              <a:t>但是要注意集成学习需要生成即相关又不相同的分类器。比如采用不同的参数、不同的训练集、不同的特征、或者初始值不同。且分类器不用很强，越强的分类器训练起来复杂度很高，且容易过拟合。</a:t>
            </a:r>
            <a:endParaRPr lang="en-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7</a:t>
            </a:fld>
            <a:endParaRPr lang="zh-CN" altLang="en-US"/>
          </a:p>
        </p:txBody>
      </p:sp>
    </p:spTree>
    <p:extLst>
      <p:ext uri="{BB962C8B-B14F-4D97-AF65-F5344CB8AC3E}">
        <p14:creationId xmlns:p14="http://schemas.microsoft.com/office/powerpoint/2010/main" val="3749156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8</a:t>
            </a:fld>
            <a:endParaRPr lang="zh-CN" altLang="en-US"/>
          </a:p>
        </p:txBody>
      </p:sp>
    </p:spTree>
    <p:extLst>
      <p:ext uri="{BB962C8B-B14F-4D97-AF65-F5344CB8AC3E}">
        <p14:creationId xmlns:p14="http://schemas.microsoft.com/office/powerpoint/2010/main" val="4059355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实验方面：</a:t>
            </a:r>
            <a:r>
              <a:rPr lang="en-CN" sz="1200" kern="1200" dirty="0">
                <a:solidFill>
                  <a:schemeClr val="tx1"/>
                </a:solidFill>
                <a:effectLst/>
                <a:latin typeface="+mn-lt"/>
                <a:ea typeface="+mn-ea"/>
                <a:cs typeface="+mn-cs"/>
              </a:rPr>
              <a:t>1990</a:t>
            </a:r>
            <a:r>
              <a:rPr lang="zh-CN" altLang="en-US" sz="1200" kern="1200" dirty="0">
                <a:solidFill>
                  <a:schemeClr val="tx1"/>
                </a:solidFill>
                <a:effectLst/>
                <a:latin typeface="+mn-lt"/>
                <a:ea typeface="+mn-ea"/>
                <a:cs typeface="+mn-cs"/>
              </a:rPr>
              <a:t>年，</a:t>
            </a:r>
            <a:r>
              <a:rPr lang="en-CN" sz="1200" kern="1200" dirty="0">
                <a:solidFill>
                  <a:schemeClr val="tx1"/>
                </a:solidFill>
                <a:effectLst/>
                <a:latin typeface="+mn-lt"/>
                <a:ea typeface="+mn-ea"/>
                <a:cs typeface="+mn-cs"/>
              </a:rPr>
              <a:t>Hanson</a:t>
            </a:r>
            <a:r>
              <a:rPr lang="zh-CN" altLang="en-US" sz="1200" kern="1200" dirty="0">
                <a:solidFill>
                  <a:schemeClr val="tx1"/>
                </a:solidFill>
                <a:effectLst/>
                <a:latin typeface="+mn-lt"/>
                <a:ea typeface="+mn-ea"/>
                <a:cs typeface="+mn-cs"/>
              </a:rPr>
              <a:t>和</a:t>
            </a:r>
            <a:r>
              <a:rPr lang="en-CN" sz="1200" kern="1200" dirty="0">
                <a:solidFill>
                  <a:schemeClr val="tx1"/>
                </a:solidFill>
                <a:effectLst/>
                <a:latin typeface="+mn-lt"/>
                <a:ea typeface="+mn-ea"/>
                <a:cs typeface="+mn-cs"/>
              </a:rPr>
              <a:t>Salamon</a:t>
            </a:r>
            <a:r>
              <a:rPr lang="zh-CN" altLang="en-US" sz="1200" kern="1200" dirty="0">
                <a:solidFill>
                  <a:schemeClr val="tx1"/>
                </a:solidFill>
                <a:effectLst/>
                <a:latin typeface="+mn-lt"/>
                <a:ea typeface="+mn-ea"/>
                <a:cs typeface="+mn-cs"/>
              </a:rPr>
              <a:t>对神经网络集成进行了研究，第一次提出了神经网络集成的概念。他们证明，在保证神经网络的精度高于</a:t>
            </a:r>
            <a:r>
              <a:rPr lang="en-CN" sz="1200" kern="1200" dirty="0">
                <a:solidFill>
                  <a:schemeClr val="tx1"/>
                </a:solidFill>
                <a:effectLst/>
                <a:latin typeface="+mn-lt"/>
                <a:ea typeface="+mn-ea"/>
                <a:cs typeface="+mn-cs"/>
              </a:rPr>
              <a:t>50%</a:t>
            </a:r>
            <a:r>
              <a:rPr lang="zh-CN" altLang="en-US" sz="1200" kern="1200" dirty="0">
                <a:solidFill>
                  <a:schemeClr val="tx1"/>
                </a:solidFill>
                <a:effectLst/>
                <a:latin typeface="+mn-lt"/>
                <a:ea typeface="+mn-ea"/>
                <a:cs typeface="+mn-cs"/>
              </a:rPr>
              <a:t>的情况下，通过训练多个神经网络并将其结果通过投票法进行结合，可以显著地提高学习系统的泛化能力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理论方面：</a:t>
            </a:r>
            <a:r>
              <a:rPr lang="en-US" altLang="zh-CN" sz="1200" kern="1200" dirty="0" err="1">
                <a:solidFill>
                  <a:schemeClr val="tx1"/>
                </a:solidFill>
                <a:effectLst/>
                <a:latin typeface="+mn-lt"/>
                <a:ea typeface="+mn-ea"/>
                <a:cs typeface="+mn-cs"/>
              </a:rPr>
              <a:t>Schapire</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1990</a:t>
            </a:r>
            <a:r>
              <a:rPr lang="zh-CN" altLang="en-US" sz="1200" kern="1200" dirty="0">
                <a:solidFill>
                  <a:schemeClr val="tx1"/>
                </a:solidFill>
                <a:effectLst/>
                <a:latin typeface="+mn-lt"/>
                <a:ea typeface="+mn-ea"/>
                <a:cs typeface="+mn-cs"/>
              </a:rPr>
              <a:t>年在理论方面构造性的证明了弱学习器可以被提升为强学习器。</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这个理论成果为使用集成学习方法获得强学习器指明了方向。</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9</a:t>
            </a:fld>
            <a:endParaRPr lang="zh-CN" altLang="en-US"/>
          </a:p>
        </p:txBody>
      </p:sp>
    </p:spTree>
    <p:extLst>
      <p:ext uri="{BB962C8B-B14F-4D97-AF65-F5344CB8AC3E}">
        <p14:creationId xmlns:p14="http://schemas.microsoft.com/office/powerpoint/2010/main" val="2719036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“几乎所有的数据分析任务，要想成绩好，都要上</a:t>
            </a:r>
            <a:r>
              <a:rPr lang="en-US" sz="1200" kern="1200" dirty="0">
                <a:solidFill>
                  <a:schemeClr val="tx1"/>
                </a:solidFill>
                <a:effectLst/>
                <a:latin typeface="+mn-lt"/>
                <a:ea typeface="+mn-ea"/>
                <a:cs typeface="+mn-cs"/>
              </a:rPr>
              <a:t>ensemble</a:t>
            </a:r>
            <a:r>
              <a:rPr lang="zh-CN" altLang="en-US" sz="1200" kern="1200" dirty="0">
                <a:solidFill>
                  <a:schemeClr val="tx1"/>
                </a:solidFill>
                <a:effectLst/>
                <a:latin typeface="+mn-lt"/>
                <a:ea typeface="+mn-ea"/>
                <a:cs typeface="+mn-cs"/>
              </a:rPr>
              <a:t>。”“ 集成学习（</a:t>
            </a:r>
            <a:r>
              <a:rPr lang="en-US" sz="1200" kern="1200" dirty="0">
                <a:solidFill>
                  <a:schemeClr val="tx1"/>
                </a:solidFill>
                <a:effectLst/>
                <a:latin typeface="+mn-lt"/>
                <a:ea typeface="+mn-ea"/>
                <a:cs typeface="+mn-cs"/>
              </a:rPr>
              <a:t>ensemble learning</a:t>
            </a:r>
            <a:r>
              <a:rPr lang="zh-CN" altLang="en-US" sz="1200" kern="1200" dirty="0">
                <a:solidFill>
                  <a:schemeClr val="tx1"/>
                </a:solidFill>
                <a:effectLst/>
                <a:latin typeface="+mn-lt"/>
                <a:ea typeface="+mn-ea"/>
                <a:cs typeface="+mn-cs"/>
              </a:rPr>
              <a:t>）可以说是刷榜必备。” 集成学习</a:t>
            </a:r>
            <a:r>
              <a:rPr lang="en-US" sz="1200" kern="1200" dirty="0">
                <a:solidFill>
                  <a:schemeClr val="tx1"/>
                </a:solidFill>
                <a:effectLst/>
                <a:latin typeface="+mn-lt"/>
                <a:ea typeface="+mn-ea"/>
                <a:cs typeface="+mn-cs"/>
              </a:rPr>
              <a:t>(ensemble learning)</a:t>
            </a:r>
            <a:r>
              <a:rPr lang="zh-CN" altLang="en-US" sz="1200" kern="1200" dirty="0">
                <a:solidFill>
                  <a:schemeClr val="tx1"/>
                </a:solidFill>
                <a:effectLst/>
                <a:latin typeface="+mn-lt"/>
                <a:ea typeface="+mn-ea"/>
                <a:cs typeface="+mn-cs"/>
              </a:rPr>
              <a:t>可以说是现在非常火爆的机器学习方法了。目前，集成方法在许多著名的机器学习比赛</a:t>
            </a:r>
            <a:r>
              <a:rPr lang="en-US"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如</a:t>
            </a:r>
            <a:r>
              <a:rPr lang="en-US" sz="1200" kern="1200" dirty="0">
                <a:solidFill>
                  <a:schemeClr val="tx1"/>
                </a:solidFill>
                <a:effectLst/>
                <a:latin typeface="+mn-lt"/>
                <a:ea typeface="+mn-ea"/>
                <a:cs typeface="+mn-cs"/>
              </a:rPr>
              <a:t> Netflix</a:t>
            </a:r>
            <a:r>
              <a:rPr lang="zh-CN" altLang="en-US"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KDD 2009 </a:t>
            </a:r>
            <a:r>
              <a:rPr lang="zh-CN" altLang="en-US" sz="1200" kern="1200" dirty="0">
                <a:solidFill>
                  <a:schemeClr val="tx1"/>
                </a:solidFill>
                <a:effectLst/>
                <a:latin typeface="+mn-lt"/>
                <a:ea typeface="+mn-ea"/>
                <a:cs typeface="+mn-cs"/>
              </a:rPr>
              <a:t>和</a:t>
            </a:r>
            <a:r>
              <a:rPr lang="en-US" sz="1200" kern="1200" dirty="0">
                <a:solidFill>
                  <a:schemeClr val="tx1"/>
                </a:solidFill>
                <a:effectLst/>
                <a:latin typeface="+mn-lt"/>
                <a:ea typeface="+mn-ea"/>
                <a:cs typeface="+mn-cs"/>
              </a:rPr>
              <a:t> Kaggle </a:t>
            </a:r>
            <a:r>
              <a:rPr lang="zh-CN" altLang="en-US" sz="1200" kern="1200" dirty="0">
                <a:solidFill>
                  <a:schemeClr val="tx1"/>
                </a:solidFill>
                <a:effectLst/>
                <a:latin typeface="+mn-lt"/>
                <a:ea typeface="+mn-ea"/>
                <a:cs typeface="+mn-cs"/>
              </a:rPr>
              <a:t>比赛</a:t>
            </a:r>
            <a:r>
              <a:rPr lang="en-US"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中能够取得很好的名次。</a:t>
            </a:r>
            <a:endParaRPr lang="en-CN" sz="1200" kern="1200" dirty="0">
              <a:solidFill>
                <a:schemeClr val="tx1"/>
              </a:solidFill>
              <a:effectLst/>
              <a:latin typeface="+mn-lt"/>
              <a:ea typeface="+mn-ea"/>
              <a:cs typeface="+mn-cs"/>
            </a:endParaRPr>
          </a:p>
          <a:p>
            <a:endParaRPr lang="en-CN" sz="1200" kern="1200" dirty="0">
              <a:solidFill>
                <a:schemeClr val="tx1"/>
              </a:solidFill>
              <a:effectLst/>
              <a:latin typeface="+mn-lt"/>
              <a:ea typeface="+mn-ea"/>
              <a:cs typeface="+mn-cs"/>
            </a:endParaRPr>
          </a:p>
          <a:p>
            <a:endParaRPr lang="en-CN" sz="1200" kern="1200" dirty="0">
              <a:solidFill>
                <a:schemeClr val="tx1"/>
              </a:solidFill>
              <a:effectLst/>
              <a:latin typeface="+mn-lt"/>
              <a:ea typeface="+mn-ea"/>
              <a:cs typeface="+mn-cs"/>
            </a:endParaRPr>
          </a:p>
          <a:p>
            <a:r>
              <a:rPr lang="en-CN" sz="1200" kern="1200" dirty="0">
                <a:solidFill>
                  <a:schemeClr val="tx1"/>
                </a:solidFill>
                <a:effectLst/>
                <a:latin typeface="+mn-lt"/>
                <a:ea typeface="+mn-ea"/>
                <a:cs typeface="+mn-cs"/>
              </a:rPr>
              <a:t>1990</a:t>
            </a:r>
            <a:r>
              <a:rPr lang="zh-CN" altLang="en-US" sz="1200" kern="1200" dirty="0">
                <a:solidFill>
                  <a:schemeClr val="tx1"/>
                </a:solidFill>
                <a:effectLst/>
                <a:latin typeface="+mn-lt"/>
                <a:ea typeface="+mn-ea"/>
                <a:cs typeface="+mn-cs"/>
              </a:rPr>
              <a:t>年，</a:t>
            </a:r>
            <a:r>
              <a:rPr lang="en-CN" sz="1200" kern="1200" dirty="0">
                <a:solidFill>
                  <a:schemeClr val="tx1"/>
                </a:solidFill>
                <a:effectLst/>
                <a:latin typeface="+mn-lt"/>
                <a:ea typeface="+mn-ea"/>
                <a:cs typeface="+mn-cs"/>
              </a:rPr>
              <a:t>Hanson</a:t>
            </a:r>
            <a:r>
              <a:rPr lang="zh-CN" altLang="en-US" sz="1200" kern="1200" dirty="0">
                <a:solidFill>
                  <a:schemeClr val="tx1"/>
                </a:solidFill>
                <a:effectLst/>
                <a:latin typeface="+mn-lt"/>
                <a:ea typeface="+mn-ea"/>
                <a:cs typeface="+mn-cs"/>
              </a:rPr>
              <a:t>和</a:t>
            </a:r>
            <a:r>
              <a:rPr lang="en-CN" sz="1200" kern="1200" dirty="0">
                <a:solidFill>
                  <a:schemeClr val="tx1"/>
                </a:solidFill>
                <a:effectLst/>
                <a:latin typeface="+mn-lt"/>
                <a:ea typeface="+mn-ea"/>
                <a:cs typeface="+mn-cs"/>
              </a:rPr>
              <a:t>Salamon</a:t>
            </a:r>
            <a:r>
              <a:rPr lang="zh-CN" altLang="en-US" sz="1200" kern="1200" dirty="0">
                <a:solidFill>
                  <a:schemeClr val="tx1"/>
                </a:solidFill>
                <a:effectLst/>
                <a:latin typeface="+mn-lt"/>
                <a:ea typeface="+mn-ea"/>
                <a:cs typeface="+mn-cs"/>
              </a:rPr>
              <a:t>对神经网络集成进行了研究，第一次提出了神经网络集成的概念。他们证明，在保证神经网络的精度高于</a:t>
            </a:r>
            <a:r>
              <a:rPr lang="en-CN" sz="1200" kern="1200" dirty="0">
                <a:solidFill>
                  <a:schemeClr val="tx1"/>
                </a:solidFill>
                <a:effectLst/>
                <a:latin typeface="+mn-lt"/>
                <a:ea typeface="+mn-ea"/>
                <a:cs typeface="+mn-cs"/>
              </a:rPr>
              <a:t>50%</a:t>
            </a:r>
            <a:r>
              <a:rPr lang="zh-CN" altLang="en-US" sz="1200" kern="1200" dirty="0">
                <a:solidFill>
                  <a:schemeClr val="tx1"/>
                </a:solidFill>
                <a:effectLst/>
                <a:latin typeface="+mn-lt"/>
                <a:ea typeface="+mn-ea"/>
                <a:cs typeface="+mn-cs"/>
              </a:rPr>
              <a:t>的情况下，通过训练多个神经网络并将其结果通过投票法进行结合，可以显著地提高学习系统的泛化能力 </a:t>
            </a:r>
            <a:r>
              <a:rPr lang="en-CN" sz="1200" kern="1200" dirty="0">
                <a:solidFill>
                  <a:schemeClr val="tx1"/>
                </a:solidFill>
                <a:effectLst/>
                <a:latin typeface="+mn-lt"/>
                <a:ea typeface="+mn-ea"/>
                <a:cs typeface="+mn-cs"/>
              </a:rPr>
              <a:t>(Hansen, L. K., &amp; Salamon, P. (1990). Neural network ensembles. IEEE transactions on pattern analysis and machine intelligence, 12(10), 993-1001.)</a:t>
            </a:r>
            <a:r>
              <a:rPr lang="zh-CN" altLang="en-US" sz="1200" kern="1200" dirty="0">
                <a:solidFill>
                  <a:schemeClr val="tx1"/>
                </a:solidFill>
                <a:effectLst/>
                <a:latin typeface="+mn-lt"/>
                <a:ea typeface="+mn-ea"/>
                <a:cs typeface="+mn-cs"/>
              </a:rPr>
              <a:t>。</a:t>
            </a:r>
            <a:r>
              <a:rPr lang="en-CN" dirty="0">
                <a:effectLst/>
              </a:rPr>
              <a:t> </a:t>
            </a:r>
            <a:r>
              <a:rPr lang="en-CN" sz="1200" b="1" kern="1200" dirty="0">
                <a:solidFill>
                  <a:schemeClr val="tx1"/>
                </a:solidFill>
                <a:effectLst/>
                <a:latin typeface="+mn-lt"/>
                <a:ea typeface="+mn-ea"/>
                <a:cs typeface="+mn-cs"/>
              </a:rPr>
              <a:t>Valiant</a:t>
            </a:r>
            <a:r>
              <a:rPr lang="zh-CN" altLang="en-US" sz="1200" b="1" kern="1200" dirty="0">
                <a:solidFill>
                  <a:schemeClr val="tx1"/>
                </a:solidFill>
                <a:effectLst/>
                <a:latin typeface="+mn-lt"/>
                <a:ea typeface="+mn-ea"/>
                <a:cs typeface="+mn-cs"/>
              </a:rPr>
              <a:t>和</a:t>
            </a:r>
            <a:r>
              <a:rPr lang="en-CN" sz="1200" b="1" kern="1200" dirty="0">
                <a:solidFill>
                  <a:schemeClr val="tx1"/>
                </a:solidFill>
                <a:effectLst/>
                <a:latin typeface="+mn-lt"/>
                <a:ea typeface="+mn-ea"/>
                <a:cs typeface="+mn-cs"/>
              </a:rPr>
              <a:t> Kearns</a:t>
            </a:r>
            <a:r>
              <a:rPr lang="zh-CN" altLang="en-US" sz="1200" b="1" kern="1200" dirty="0">
                <a:solidFill>
                  <a:schemeClr val="tx1"/>
                </a:solidFill>
                <a:effectLst/>
                <a:latin typeface="+mn-lt"/>
                <a:ea typeface="+mn-ea"/>
                <a:cs typeface="+mn-cs"/>
              </a:rPr>
              <a:t>提出了弱学习和强学习的概念 。识别错误率小于</a:t>
            </a:r>
            <a:r>
              <a:rPr lang="en-CN" sz="1200" b="1" kern="1200" dirty="0">
                <a:solidFill>
                  <a:schemeClr val="tx1"/>
                </a:solidFill>
                <a:effectLst/>
                <a:latin typeface="+mn-lt"/>
                <a:ea typeface="+mn-ea"/>
                <a:cs typeface="+mn-cs"/>
              </a:rPr>
              <a:t>1/2,</a:t>
            </a:r>
            <a:r>
              <a:rPr lang="zh-CN" altLang="en-US" sz="1200" b="1" kern="1200" dirty="0">
                <a:solidFill>
                  <a:schemeClr val="tx1"/>
                </a:solidFill>
                <a:effectLst/>
                <a:latin typeface="+mn-lt"/>
                <a:ea typeface="+mn-ea"/>
                <a:cs typeface="+mn-cs"/>
              </a:rPr>
              <a:t>也即准确率仅比随机猜测略高的学习算法称为弱学习算法</a:t>
            </a:r>
            <a:r>
              <a:rPr lang="en-CN" sz="1200" b="1" kern="1200" dirty="0">
                <a:solidFill>
                  <a:schemeClr val="tx1"/>
                </a:solidFill>
                <a:effectLst/>
                <a:latin typeface="+mn-lt"/>
                <a:ea typeface="+mn-ea"/>
                <a:cs typeface="+mn-cs"/>
              </a:rPr>
              <a:t>;</a:t>
            </a:r>
            <a:r>
              <a:rPr lang="zh-CN" altLang="en-US" sz="1200" b="1" kern="1200" dirty="0">
                <a:solidFill>
                  <a:schemeClr val="tx1"/>
                </a:solidFill>
                <a:effectLst/>
                <a:latin typeface="+mn-lt"/>
                <a:ea typeface="+mn-ea"/>
                <a:cs typeface="+mn-cs"/>
              </a:rPr>
              <a:t>识别准确率很高并能在多项式时间内完成的学习算法称为强学习算法</a:t>
            </a:r>
            <a:r>
              <a:rPr lang="zh-CN" altLang="en-US" sz="1200" kern="1200" dirty="0">
                <a:solidFill>
                  <a:schemeClr val="tx1"/>
                </a:solidFill>
                <a:effectLst/>
                <a:latin typeface="+mn-lt"/>
                <a:ea typeface="+mn-ea"/>
                <a:cs typeface="+mn-cs"/>
              </a:rPr>
              <a:t>。</a:t>
            </a:r>
            <a:r>
              <a:rPr lang="en-CN" dirty="0">
                <a:effectLst/>
              </a:rPr>
              <a:t> </a:t>
            </a:r>
          </a:p>
          <a:p>
            <a:endParaRPr lang="en-CN" altLang="zh-CN" dirty="0">
              <a:effectLst/>
            </a:endParaRPr>
          </a:p>
          <a:p>
            <a:r>
              <a:rPr lang="en-CN" sz="1200" kern="1200" dirty="0">
                <a:solidFill>
                  <a:schemeClr val="tx1"/>
                </a:solidFill>
                <a:effectLst/>
                <a:latin typeface="+mn-lt"/>
                <a:ea typeface="+mn-ea"/>
                <a:cs typeface="+mn-cs"/>
              </a:rPr>
              <a:t>1996</a:t>
            </a:r>
            <a:r>
              <a:rPr lang="zh-CN" altLang="en-US" sz="1200" kern="1200" dirty="0">
                <a:solidFill>
                  <a:schemeClr val="tx1"/>
                </a:solidFill>
                <a:effectLst/>
                <a:latin typeface="+mn-lt"/>
                <a:ea typeface="+mn-ea"/>
                <a:cs typeface="+mn-cs"/>
              </a:rPr>
              <a:t>年，</a:t>
            </a:r>
            <a:r>
              <a:rPr lang="en-CN" sz="1200" kern="1200" dirty="0">
                <a:solidFill>
                  <a:schemeClr val="tx1"/>
                </a:solidFill>
                <a:effectLst/>
                <a:latin typeface="+mn-lt"/>
                <a:ea typeface="+mn-ea"/>
                <a:cs typeface="+mn-cs"/>
              </a:rPr>
              <a:t>Freund</a:t>
            </a:r>
            <a:r>
              <a:rPr lang="zh-CN" altLang="en-US" sz="1200" kern="1200" dirty="0">
                <a:solidFill>
                  <a:schemeClr val="tx1"/>
                </a:solidFill>
                <a:effectLst/>
                <a:latin typeface="+mn-lt"/>
                <a:ea typeface="+mn-ea"/>
                <a:cs typeface="+mn-cs"/>
              </a:rPr>
              <a:t>和</a:t>
            </a:r>
            <a:r>
              <a:rPr lang="en-CN" sz="1200" kern="1200" dirty="0">
                <a:solidFill>
                  <a:schemeClr val="tx1"/>
                </a:solidFill>
                <a:effectLst/>
                <a:latin typeface="+mn-lt"/>
                <a:ea typeface="+mn-ea"/>
                <a:cs typeface="+mn-cs"/>
              </a:rPr>
              <a:t>Schapire</a:t>
            </a:r>
            <a:r>
              <a:rPr lang="zh-CN" altLang="en-US" sz="1200" kern="1200" dirty="0">
                <a:solidFill>
                  <a:schemeClr val="tx1"/>
                </a:solidFill>
                <a:effectLst/>
                <a:latin typeface="+mn-lt"/>
                <a:ea typeface="+mn-ea"/>
                <a:cs typeface="+mn-cs"/>
              </a:rPr>
              <a:t>提出了著名的</a:t>
            </a:r>
            <a:r>
              <a:rPr lang="en-CN" sz="1200" kern="1200" dirty="0">
                <a:solidFill>
                  <a:schemeClr val="tx1"/>
                </a:solidFill>
                <a:effectLst/>
                <a:latin typeface="+mn-lt"/>
                <a:ea typeface="+mn-ea"/>
                <a:cs typeface="+mn-cs"/>
              </a:rPr>
              <a:t>AdaBoost(Adaptive Boost)</a:t>
            </a:r>
            <a:r>
              <a:rPr lang="zh-CN" altLang="en-US" sz="1200" kern="1200" dirty="0">
                <a:solidFill>
                  <a:schemeClr val="tx1"/>
                </a:solidFill>
                <a:effectLst/>
                <a:latin typeface="+mn-lt"/>
                <a:ea typeface="+mn-ea"/>
                <a:cs typeface="+mn-cs"/>
              </a:rPr>
              <a:t>算法，该算法的效率与</a:t>
            </a:r>
            <a:r>
              <a:rPr lang="en-CN" sz="1200" kern="1200" dirty="0">
                <a:solidFill>
                  <a:schemeClr val="tx1"/>
                </a:solidFill>
                <a:effectLst/>
                <a:latin typeface="+mn-lt"/>
                <a:ea typeface="+mn-ea"/>
                <a:cs typeface="+mn-cs"/>
              </a:rPr>
              <a:t>Freund</a:t>
            </a:r>
            <a:r>
              <a:rPr lang="zh-CN" altLang="en-US" sz="1200" kern="1200" dirty="0">
                <a:solidFill>
                  <a:schemeClr val="tx1"/>
                </a:solidFill>
                <a:effectLst/>
                <a:latin typeface="+mn-lt"/>
                <a:ea typeface="+mn-ea"/>
                <a:cs typeface="+mn-cs"/>
              </a:rPr>
              <a:t>算法很接近，却可以非常容易地应用到实际问题中，因此，该算法已成为目前最流行的</a:t>
            </a:r>
            <a:r>
              <a:rPr lang="en-CN" sz="1200" kern="1200" dirty="0">
                <a:solidFill>
                  <a:schemeClr val="tx1"/>
                </a:solidFill>
                <a:effectLst/>
                <a:latin typeface="+mn-lt"/>
                <a:ea typeface="+mn-ea"/>
                <a:cs typeface="+mn-cs"/>
              </a:rPr>
              <a:t>Boosting</a:t>
            </a:r>
            <a:r>
              <a:rPr lang="zh-CN" altLang="en-US" sz="1200" kern="1200" dirty="0">
                <a:solidFill>
                  <a:schemeClr val="tx1"/>
                </a:solidFill>
                <a:effectLst/>
                <a:latin typeface="+mn-lt"/>
                <a:ea typeface="+mn-ea"/>
                <a:cs typeface="+mn-cs"/>
              </a:rPr>
              <a:t>算法。</a:t>
            </a:r>
            <a:r>
              <a:rPr lang="en-CN" sz="1200" kern="1200" dirty="0">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是一种迭代算法，其核心思想是针对同一个训练集训练不同的分类器</a:t>
            </a:r>
            <a:r>
              <a:rPr lang="en-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弱分类器</a:t>
            </a:r>
            <a:r>
              <a:rPr lang="en-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，然后把这些弱分类器集合起来，构成一个更强的最终分类器</a:t>
            </a:r>
            <a:r>
              <a:rPr lang="en-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强分类器</a:t>
            </a:r>
            <a:r>
              <a:rPr lang="en-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CN" sz="1200" kern="1200" dirty="0">
                <a:solidFill>
                  <a:schemeClr val="tx1"/>
                </a:solidFill>
                <a:effectLst/>
                <a:latin typeface="+mn-lt"/>
                <a:ea typeface="+mn-ea"/>
                <a:cs typeface="+mn-cs"/>
              </a:rPr>
              <a:t> 1996</a:t>
            </a:r>
            <a:r>
              <a:rPr lang="zh-CN" altLang="en-US" sz="1200" kern="1200" dirty="0">
                <a:solidFill>
                  <a:schemeClr val="tx1"/>
                </a:solidFill>
                <a:effectLst/>
                <a:latin typeface="+mn-lt"/>
                <a:ea typeface="+mn-ea"/>
                <a:cs typeface="+mn-cs"/>
              </a:rPr>
              <a:t>年，</a:t>
            </a:r>
            <a:r>
              <a:rPr lang="en-CN" sz="1200" kern="1200" dirty="0">
                <a:solidFill>
                  <a:schemeClr val="tx1"/>
                </a:solidFill>
                <a:effectLst/>
                <a:latin typeface="+mn-lt"/>
                <a:ea typeface="+mn-ea"/>
                <a:cs typeface="+mn-cs"/>
              </a:rPr>
              <a:t>Breiman</a:t>
            </a:r>
            <a:r>
              <a:rPr lang="zh-CN" altLang="en-US" sz="1200" kern="1200" dirty="0">
                <a:solidFill>
                  <a:schemeClr val="tx1"/>
                </a:solidFill>
                <a:effectLst/>
                <a:latin typeface="+mn-lt"/>
                <a:ea typeface="+mn-ea"/>
                <a:cs typeface="+mn-cs"/>
              </a:rPr>
              <a:t>从可重复取样技术</a:t>
            </a:r>
            <a:r>
              <a:rPr lang="en-CN" sz="1200" kern="1200" dirty="0">
                <a:solidFill>
                  <a:schemeClr val="tx1"/>
                </a:solidFill>
                <a:effectLst/>
                <a:latin typeface="+mn-lt"/>
                <a:ea typeface="+mn-ea"/>
                <a:cs typeface="+mn-cs"/>
              </a:rPr>
              <a:t>(Bootstrap Sampling)</a:t>
            </a:r>
            <a:r>
              <a:rPr lang="zh-CN" altLang="en-US" sz="1200" kern="1200" dirty="0">
                <a:solidFill>
                  <a:schemeClr val="tx1"/>
                </a:solidFill>
                <a:effectLst/>
                <a:latin typeface="+mn-lt"/>
                <a:ea typeface="+mn-ea"/>
                <a:cs typeface="+mn-cs"/>
              </a:rPr>
              <a:t>入手，提出了著名的</a:t>
            </a:r>
            <a:r>
              <a:rPr lang="en-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方法。在该方法中，各学习器的训练集由从原始训练集中随机选取若干示例组成，训练集的规模与原始训练集相当，训练样本允许重复选取。这样，原始训练集中某些示例可能在新的训练集中出现多次，而另外一些示例则可能一次也不出现。在预测新的示例时，所有学习器的结果通过投票的方式来决定新示例的最后预测结果。</a:t>
            </a:r>
            <a:r>
              <a:rPr lang="en-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方法通过重新选取训练集增加了个体学习器的差异，</a:t>
            </a:r>
            <a:r>
              <a:rPr lang="en-CN" sz="1200" kern="1200" dirty="0">
                <a:solidFill>
                  <a:schemeClr val="tx1"/>
                </a:solidFill>
                <a:effectLst/>
                <a:latin typeface="+mn-lt"/>
                <a:ea typeface="+mn-ea"/>
                <a:cs typeface="+mn-cs"/>
              </a:rPr>
              <a:t>Breiman</a:t>
            </a:r>
            <a:r>
              <a:rPr lang="zh-CN" altLang="en-US" sz="1200" kern="1200" dirty="0">
                <a:solidFill>
                  <a:schemeClr val="tx1"/>
                </a:solidFill>
                <a:effectLst/>
                <a:latin typeface="+mn-lt"/>
                <a:ea typeface="+mn-ea"/>
                <a:cs typeface="+mn-cs"/>
              </a:rPr>
              <a:t>将此类算法称为</a:t>
            </a:r>
            <a:r>
              <a:rPr lang="en-CN" sz="1200" kern="1200" dirty="0">
                <a:solidFill>
                  <a:schemeClr val="tx1"/>
                </a:solidFill>
                <a:effectLst/>
                <a:latin typeface="+mn-lt"/>
                <a:ea typeface="+mn-ea"/>
                <a:cs typeface="+mn-cs"/>
              </a:rPr>
              <a:t>P&amp;C(Perturb and Combine)</a:t>
            </a:r>
            <a:r>
              <a:rPr lang="zh-CN" altLang="en-US" sz="1200" kern="1200" dirty="0">
                <a:solidFill>
                  <a:schemeClr val="tx1"/>
                </a:solidFill>
                <a:effectLst/>
                <a:latin typeface="+mn-lt"/>
                <a:ea typeface="+mn-ea"/>
                <a:cs typeface="+mn-cs"/>
              </a:rPr>
              <a:t>族算法，他指出，稳定性是</a:t>
            </a:r>
            <a:r>
              <a:rPr lang="en-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能否发挥作用的关键因素，</a:t>
            </a:r>
            <a:r>
              <a:rPr lang="en-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能提高不稳定学习算法例如神经网络和决策树的预测精度，而对稳定的学习算法例如</a:t>
            </a:r>
            <a:r>
              <a:rPr lang="en-CN"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近邻和简单贝叶斯算法效果则不明显，有时甚至使预测精度降低。</a:t>
            </a:r>
            <a:r>
              <a:rPr lang="en-CN" dirty="0">
                <a:effectLst/>
              </a:rPr>
              <a:t>  </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10</a:t>
            </a:fld>
            <a:endParaRPr lang="zh-CN" altLang="en-US"/>
          </a:p>
        </p:txBody>
      </p:sp>
    </p:spTree>
    <p:extLst>
      <p:ext uri="{BB962C8B-B14F-4D97-AF65-F5344CB8AC3E}">
        <p14:creationId xmlns:p14="http://schemas.microsoft.com/office/powerpoint/2010/main" val="2844058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根据基分类器的生成方式，集成学习可以分为两种：“串行生成基分类器”的串行集成方法，以及并行生成分类器的“并行集成方法”。两者分别以</a:t>
            </a:r>
            <a:r>
              <a:rPr lang="en-CN" sz="1200" kern="1200" dirty="0">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和</a:t>
            </a:r>
            <a:r>
              <a:rPr lang="en-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为代表。这一节我们首先讨论并行集成方法，其内在原理是利用基学习器之间的独立性，这主要是因为结合相互独立的基分类器能够显著减小方差（</a:t>
            </a:r>
            <a:r>
              <a:rPr lang="en-CN" sz="1200" kern="1200" dirty="0">
                <a:solidFill>
                  <a:schemeClr val="tx1"/>
                </a:solidFill>
                <a:effectLst/>
                <a:latin typeface="+mn-lt"/>
                <a:ea typeface="+mn-ea"/>
                <a:cs typeface="+mn-cs"/>
              </a:rPr>
              <a:t>Variance</a:t>
            </a:r>
            <a:r>
              <a:rPr lang="zh-CN" altLang="en-US" sz="1200" kern="1200" dirty="0">
                <a:solidFill>
                  <a:schemeClr val="tx1"/>
                </a:solidFill>
                <a:effectLst/>
                <a:latin typeface="+mn-lt"/>
                <a:ea typeface="+mn-ea"/>
                <a:cs typeface="+mn-cs"/>
              </a:rPr>
              <a:t>）。</a:t>
            </a:r>
            <a:endParaRPr lang="en-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11</a:t>
            </a:fld>
            <a:endParaRPr lang="zh-CN" altLang="en-US"/>
          </a:p>
        </p:txBody>
      </p:sp>
    </p:spTree>
    <p:extLst>
      <p:ext uri="{BB962C8B-B14F-4D97-AF65-F5344CB8AC3E}">
        <p14:creationId xmlns:p14="http://schemas.microsoft.com/office/powerpoint/2010/main" val="2160031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CN" sz="1200" kern="1200" dirty="0">
                <a:solidFill>
                  <a:schemeClr val="tx1"/>
                </a:solidFill>
                <a:effectLst/>
                <a:latin typeface="+mn-lt"/>
                <a:ea typeface="+mn-ea"/>
                <a:cs typeface="+mn-cs"/>
              </a:rPr>
              <a:t>我们</a:t>
            </a:r>
            <a:r>
              <a:rPr lang="zh-CN" altLang="en-US" sz="1200" kern="1200" dirty="0">
                <a:solidFill>
                  <a:schemeClr val="tx1"/>
                </a:solidFill>
                <a:effectLst/>
                <a:latin typeface="+mn-lt"/>
                <a:ea typeface="+mn-ea"/>
                <a:cs typeface="+mn-cs"/>
              </a:rPr>
              <a:t>首先学习的是集成学习中的并行集成方法，第一部分讨论并行集成思想，然后引出</a:t>
            </a:r>
            <a:r>
              <a:rPr lang="en-US" altLang="zh-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算法，然后介绍一种应用广泛的基于</a:t>
            </a:r>
            <a:r>
              <a:rPr lang="en-US" altLang="zh-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的扩展集成学习方法：随机森林。下面就对这三部分进行逐一介绍。</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12</a:t>
            </a:fld>
            <a:endParaRPr lang="zh-CN" altLang="en-US"/>
          </a:p>
        </p:txBody>
      </p:sp>
    </p:spTree>
    <p:extLst>
      <p:ext uri="{BB962C8B-B14F-4D97-AF65-F5344CB8AC3E}">
        <p14:creationId xmlns:p14="http://schemas.microsoft.com/office/powerpoint/2010/main" val="1415174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13</a:t>
            </a:fld>
            <a:endParaRPr lang="zh-CN" altLang="en-US"/>
          </a:p>
        </p:txBody>
      </p:sp>
    </p:spTree>
    <p:extLst>
      <p:ext uri="{BB962C8B-B14F-4D97-AF65-F5344CB8AC3E}">
        <p14:creationId xmlns:p14="http://schemas.microsoft.com/office/powerpoint/2010/main" val="1317227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\begin{equation} P(H(n)\</a:t>
                </a:r>
                <a:r>
                  <a:rPr lang="en-US" altLang="zh-CN" dirty="0" err="1"/>
                  <a:t>leq</a:t>
                </a:r>
                <a:r>
                  <a:rPr lang="en-US" altLang="zh-CN" dirty="0"/>
                  <a:t> k)=\sum_{</a:t>
                </a:r>
                <a:r>
                  <a:rPr lang="en-US" altLang="zh-CN" dirty="0" err="1"/>
                  <a:t>i</a:t>
                </a:r>
                <a:r>
                  <a:rPr lang="en-US" altLang="zh-CN" dirty="0"/>
                  <a:t>=0}^</a:t>
                </a:r>
                <a:r>
                  <a:rPr lang="en-US" altLang="zh-CN" dirty="0" err="1"/>
                  <a:t>kC_n^i</a:t>
                </a:r>
                <a:r>
                  <a:rPr lang="en-US" altLang="zh-CN" dirty="0"/>
                  <a:t>(1-\epsilon)^</a:t>
                </a:r>
                <a:r>
                  <a:rPr lang="en-US" altLang="zh-CN" dirty="0" err="1"/>
                  <a:t>i</a:t>
                </a:r>
                <a:r>
                  <a:rPr lang="en-US" altLang="zh-CN" dirty="0"/>
                  <a:t>\epsilon^{n-</a:t>
                </a:r>
                <a:r>
                  <a:rPr lang="en-US" altLang="zh-CN" dirty="0" err="1"/>
                  <a:t>i</a:t>
                </a:r>
                <a:r>
                  <a:rPr lang="en-US" altLang="zh-CN" dirty="0"/>
                  <a:t>} \end{equation}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m:t>
                      </m:r>
                      <m:r>
                        <a:rPr lang="zh-CN" altLang="en-US" i="1">
                          <a:latin typeface="Cambria Math" panose="02040503050406030204" pitchFamily="18" charset="0"/>
                        </a:rPr>
                        <m:t>𝑙𝑒𝑞</m:t>
                      </m:r>
                      <m:r>
                        <a:rPr lang="zh-CN" altLang="en-US" i="1">
                          <a:latin typeface="Cambria Math" panose="02040503050406030204" pitchFamily="18" charset="0"/>
                        </a:rPr>
                        <m:t> </m:t>
                      </m:r>
                      <m:r>
                        <a:rPr lang="zh-CN" altLang="en-US" i="1">
                          <a:latin typeface="Cambria Math" panose="02040503050406030204" pitchFamily="18" charset="0"/>
                        </a:rPr>
                        <m:t>𝑒𝑥𝑝</m:t>
                      </m:r>
                      <m:r>
                        <a:rPr lang="en-US" altLang="zh-CN" i="1">
                          <a:latin typeface="Cambria Math" panose="02040503050406030204" pitchFamily="18" charset="0"/>
                        </a:rPr>
                        <m:t>(−\</m:t>
                      </m:r>
                      <m:r>
                        <a:rPr lang="zh-CN" altLang="en-US" i="1">
                          <a:latin typeface="Cambria Math" panose="02040503050406030204" pitchFamily="18" charset="0"/>
                        </a:rPr>
                        <m:t>𝑓𝑟𝑎𝑐</m:t>
                      </m:r>
                      <m:r>
                        <a:rPr lang="en-US" altLang="zh-CN" i="1">
                          <a:latin typeface="Cambria Math" panose="02040503050406030204" pitchFamily="18" charset="0"/>
                        </a:rPr>
                        <m:t>{</m:t>
                      </m:r>
                      <m:r>
                        <a:rPr lang="zh-CN" altLang="en-US" i="1">
                          <a:latin typeface="Cambria Math" panose="02040503050406030204" pitchFamily="18" charset="0"/>
                        </a:rPr>
                        <m:t>𝑛</m:t>
                      </m:r>
                      <m:r>
                        <a:rPr lang="en-US" altLang="zh-CN" i="1">
                          <a:latin typeface="Cambria Math" panose="02040503050406030204" pitchFamily="18" charset="0"/>
                        </a:rPr>
                        <m:t>}{2}(1−2\</m:t>
                      </m:r>
                      <m:r>
                        <a:rPr lang="zh-CN" altLang="en-US" i="1">
                          <a:latin typeface="Cambria Math" panose="02040503050406030204" pitchFamily="18" charset="0"/>
                        </a:rPr>
                        <m:t>𝑒𝑝𝑠𝑖𝑙𝑜𝑛</m:t>
                      </m:r>
                      <m:r>
                        <a:rPr lang="en-US" altLang="zh-CN" i="1">
                          <a:latin typeface="Cambria Math" panose="02040503050406030204" pitchFamily="18" charset="0"/>
                        </a:rPr>
                        <m:t>^2))\</m:t>
                      </m:r>
                      <m:r>
                        <a:rPr lang="zh-CN" altLang="en-US" i="1">
                          <a:latin typeface="Cambria Math" panose="02040503050406030204" pitchFamily="18" charset="0"/>
                        </a:rPr>
                        <m:t>𝑞𝑢𝑎𝑑</m:t>
                      </m:r>
                      <m:r>
                        <a:rPr lang="en-US" altLang="zh-CN" i="1">
                          <a:latin typeface="Cambria Math" panose="02040503050406030204" pitchFamily="18" charset="0"/>
                        </a:rPr>
                        <m:t>(</m:t>
                      </m:r>
                      <m:r>
                        <a:rPr lang="zh-CN" altLang="en-US" i="1">
                          <a:latin typeface="Cambria Math" panose="02040503050406030204" pitchFamily="18" charset="0"/>
                        </a:rPr>
                        <m:t>由</m:t>
                      </m:r>
                      <m:r>
                        <a:rPr lang="en-US" altLang="zh-CN" i="1">
                          <a:latin typeface="Cambria Math" panose="02040503050406030204" pitchFamily="18" charset="0"/>
                        </a:rPr>
                        <m:t>\</m:t>
                      </m:r>
                      <m:r>
                        <a:rPr lang="zh-CN" altLang="en-US" i="1">
                          <a:latin typeface="Cambria Math" panose="02040503050406030204" pitchFamily="18" charset="0"/>
                        </a:rPr>
                        <m:t>𝑣𝑎𝑟𝑒𝑝𝑠𝑖𝑙𝑜𝑛</m:t>
                      </m:r>
                      <m:r>
                        <a:rPr lang="en-US" altLang="zh-CN" i="1">
                          <a:latin typeface="Cambria Math" panose="02040503050406030204" pitchFamily="18" charset="0"/>
                        </a:rPr>
                        <m:t>=\</m:t>
                      </m:r>
                      <m:r>
                        <a:rPr lang="zh-CN" altLang="en-US" i="1">
                          <a:latin typeface="Cambria Math" panose="02040503050406030204" pitchFamily="18" charset="0"/>
                        </a:rPr>
                        <m:t>𝑓𝑟𝑎𝑐</m:t>
                      </m:r>
                      <m:r>
                        <a:rPr lang="en-US" altLang="zh-CN" i="1">
                          <a:latin typeface="Cambria Math" panose="02040503050406030204" pitchFamily="18" charset="0"/>
                        </a:rPr>
                        <m:t>{1}{2}−\</m:t>
                      </m:r>
                      <m:r>
                        <a:rPr lang="zh-CN" altLang="en-US" i="1">
                          <a:latin typeface="Cambria Math" panose="02040503050406030204" pitchFamily="18" charset="0"/>
                        </a:rPr>
                        <m:t>𝑒𝑝𝑠𝑖𝑙𝑜𝑛</m:t>
                      </m:r>
                      <m:r>
                        <a:rPr lang="zh-CN" altLang="en-US" i="1">
                          <a:latin typeface="Cambria Math" panose="02040503050406030204" pitchFamily="18" charset="0"/>
                        </a:rPr>
                        <m:t> </m:t>
                      </m:r>
                      <m:r>
                        <a:rPr lang="zh-CN" altLang="en-US" i="1">
                          <a:latin typeface="Cambria Math" panose="02040503050406030204" pitchFamily="18" charset="0"/>
                        </a:rPr>
                        <m:t>可得</m:t>
                      </m:r>
                      <m:r>
                        <a:rPr lang="en-US" altLang="zh-CN" i="1">
                          <a:latin typeface="Cambria Math" panose="02040503050406030204" pitchFamily="18" charset="0"/>
                        </a:rPr>
                        <m:t>)=\</m:t>
                      </m:r>
                      <m:r>
                        <a:rPr lang="zh-CN" altLang="en-US" i="1">
                          <a:latin typeface="Cambria Math" panose="02040503050406030204" pitchFamily="18" charset="0"/>
                        </a:rPr>
                        <m:t>𝑠𝑢𝑚</m:t>
                      </m:r>
                      <m:r>
                        <a:rPr lang="en-US" altLang="zh-CN" i="1">
                          <a:latin typeface="Cambria Math" panose="02040503050406030204" pitchFamily="18" charset="0"/>
                        </a:rPr>
                        <m:t>_{</m:t>
                      </m:r>
                      <m:r>
                        <a:rPr lang="zh-CN" altLang="en-US" i="1">
                          <a:latin typeface="Cambria Math" panose="02040503050406030204" pitchFamily="18" charset="0"/>
                        </a:rPr>
                        <m:t>𝑖</m:t>
                      </m:r>
                      <m:r>
                        <a:rPr lang="en-US" altLang="zh-CN" i="1">
                          <a:latin typeface="Cambria Math" panose="02040503050406030204" pitchFamily="18" charset="0"/>
                        </a:rPr>
                        <m:t>=0}^{\</m:t>
                      </m:r>
                      <m:r>
                        <a:rPr lang="zh-CN" altLang="en-US" i="1">
                          <a:latin typeface="Cambria Math" panose="02040503050406030204" pitchFamily="18" charset="0"/>
                        </a:rPr>
                        <m:t>𝑓𝑟𝑎𝑐</m:t>
                      </m:r>
                      <m:r>
                        <a:rPr lang="en-US" altLang="zh-CN" i="1">
                          <a:latin typeface="Cambria Math" panose="02040503050406030204" pitchFamily="18" charset="0"/>
                        </a:rPr>
                        <m:t>{</m:t>
                      </m:r>
                      <m:r>
                        <a:rPr lang="zh-CN" altLang="en-US" i="1">
                          <a:latin typeface="Cambria Math" panose="02040503050406030204" pitchFamily="18" charset="0"/>
                        </a:rPr>
                        <m:t>𝑛</m:t>
                      </m:r>
                      <m:r>
                        <a:rPr lang="en-US" altLang="zh-CN" i="1">
                          <a:latin typeface="Cambria Math" panose="02040503050406030204" pitchFamily="18" charset="0"/>
                        </a:rPr>
                        <m:t>}{2}}</m:t>
                      </m:r>
                      <m:r>
                        <a:rPr lang="zh-CN" altLang="en-US" i="1">
                          <a:latin typeface="Cambria Math" panose="02040503050406030204" pitchFamily="18" charset="0"/>
                        </a:rPr>
                        <m:t>𝐶</m:t>
                      </m:r>
                      <m:r>
                        <a:rPr lang="en-US" altLang="zh-CN" i="1">
                          <a:latin typeface="Cambria Math" panose="02040503050406030204" pitchFamily="18" charset="0"/>
                        </a:rPr>
                        <m:t>_</m:t>
                      </m:r>
                      <m:r>
                        <a:rPr lang="zh-CN" altLang="en-US" i="1">
                          <a:latin typeface="Cambria Math" panose="02040503050406030204" pitchFamily="18" charset="0"/>
                        </a:rPr>
                        <m:t>𝑛</m:t>
                      </m:r>
                      <m:r>
                        <a:rPr lang="en-US" altLang="zh-CN" i="1">
                          <a:latin typeface="Cambria Math" panose="02040503050406030204" pitchFamily="18" charset="0"/>
                        </a:rPr>
                        <m:t>^</m:t>
                      </m:r>
                      <m:r>
                        <a:rPr lang="zh-CN" altLang="en-US" i="1">
                          <a:latin typeface="Cambria Math" panose="02040503050406030204" pitchFamily="18" charset="0"/>
                        </a:rPr>
                        <m:t>𝑖</m:t>
                      </m:r>
                      <m:r>
                        <a:rPr lang="en-US" altLang="zh-CN" i="1">
                          <a:latin typeface="Cambria Math" panose="02040503050406030204" pitchFamily="18" charset="0"/>
                        </a:rPr>
                        <m:t>(1−\</m:t>
                      </m:r>
                      <m:r>
                        <a:rPr lang="zh-CN" altLang="en-US" i="1">
                          <a:latin typeface="Cambria Math" panose="02040503050406030204" pitchFamily="18" charset="0"/>
                        </a:rPr>
                        <m:t>𝑒𝑝𝑠𝑖𝑙𝑜𝑛</m:t>
                      </m:r>
                      <m:r>
                        <a:rPr lang="en-US" altLang="zh-CN" i="1">
                          <a:latin typeface="Cambria Math" panose="02040503050406030204" pitchFamily="18" charset="0"/>
                        </a:rPr>
                        <m:t>)^</m:t>
                      </m:r>
                      <m:r>
                        <a:rPr lang="zh-CN" altLang="en-US" i="1">
                          <a:latin typeface="Cambria Math" panose="02040503050406030204" pitchFamily="18" charset="0"/>
                        </a:rPr>
                        <m:t>𝑖</m:t>
                      </m:r>
                      <m:r>
                        <a:rPr lang="en-US" altLang="zh-CN" i="1">
                          <a:latin typeface="Cambria Math" panose="02040503050406030204" pitchFamily="18" charset="0"/>
                        </a:rPr>
                        <m:t>\</m:t>
                      </m:r>
                      <m:r>
                        <a:rPr lang="zh-CN" altLang="en-US" i="1">
                          <a:latin typeface="Cambria Math" panose="02040503050406030204" pitchFamily="18" charset="0"/>
                        </a:rPr>
                        <m:t>𝑒𝑝𝑠𝑖𝑙𝑜𝑛</m:t>
                      </m:r>
                      <m:r>
                        <a:rPr lang="en-US" altLang="zh-CN" i="1">
                          <a:latin typeface="Cambria Math" panose="02040503050406030204" pitchFamily="18" charset="0"/>
                        </a:rPr>
                        <m:t>^{</m:t>
                      </m:r>
                      <m:r>
                        <a:rPr lang="zh-CN" altLang="en-US" i="1">
                          <a:latin typeface="Cambria Math" panose="02040503050406030204" pitchFamily="18" charset="0"/>
                        </a:rPr>
                        <m:t>𝑛</m:t>
                      </m:r>
                      <m:r>
                        <a:rPr lang="zh-CN" altLang="en-US" i="1">
                          <a:latin typeface="Cambria Math" panose="02040503050406030204" pitchFamily="18" charset="0"/>
                        </a:rPr>
                        <m:t>−</m:t>
                      </m:r>
                      <m:r>
                        <a:rPr lang="zh-CN" altLang="en-US" i="1">
                          <a:latin typeface="Cambria Math" panose="02040503050406030204" pitchFamily="18" charset="0"/>
                        </a:rPr>
                        <m:t>𝑖</m:t>
                      </m:r>
                      <m:r>
                        <a:rPr lang="en-US" altLang="zh-CN" i="1">
                          <a:latin typeface="Cambria Math" panose="02040503050406030204" pitchFamily="18" charset="0"/>
                        </a:rPr>
                        <m:t>}\\</m:t>
                      </m:r>
                      <m:r>
                        <a:rPr lang="zh-CN" altLang="en-US" i="1">
                          <a:latin typeface="Cambria Math" panose="02040503050406030204" pitchFamily="18" charset="0"/>
                        </a:rPr>
                        <m:t>𝑃</m:t>
                      </m:r>
                      <m:r>
                        <a:rPr lang="en-US" altLang="zh-CN" i="1">
                          <a:latin typeface="Cambria Math" panose="02040503050406030204" pitchFamily="18" charset="0"/>
                        </a:rPr>
                        <m:t>(</m:t>
                      </m:r>
                      <m:r>
                        <a:rPr lang="zh-CN" altLang="en-US" i="1">
                          <a:latin typeface="Cambria Math" panose="02040503050406030204" pitchFamily="18" charset="0"/>
                        </a:rPr>
                        <m:t>集成分类错误</m:t>
                      </m:r>
                      <m:r>
                        <a:rPr lang="en-US" altLang="zh-CN" i="1">
                          <a:latin typeface="Cambria Math" panose="02040503050406030204" pitchFamily="18" charset="0"/>
                        </a:rPr>
                        <m:t>)=</m:t>
                      </m:r>
                      <m:r>
                        <a:rPr lang="zh-CN" altLang="en-US" i="1">
                          <a:latin typeface="Cambria Math" panose="02040503050406030204" pitchFamily="18" charset="0"/>
                        </a:rPr>
                        <m:t>𝑃</m:t>
                      </m:r>
                      <m:r>
                        <a:rPr lang="en-US" altLang="zh-CN" i="1">
                          <a:latin typeface="Cambria Math" panose="02040503050406030204" pitchFamily="18" charset="0"/>
                        </a:rPr>
                        <m:t>(</m:t>
                      </m:r>
                      <m:r>
                        <a:rPr lang="zh-CN" altLang="en-US" i="1">
                          <a:latin typeface="Cambria Math" panose="02040503050406030204" pitchFamily="18" charset="0"/>
                        </a:rPr>
                        <m:t>𝐻</m:t>
                      </m:r>
                      <m:r>
                        <a:rPr lang="en-US" altLang="zh-CN" i="1">
                          <a:latin typeface="Cambria Math" panose="02040503050406030204" pitchFamily="18" charset="0"/>
                        </a:rPr>
                        <m:t>(</m:t>
                      </m:r>
                      <m:r>
                        <a:rPr lang="zh-CN" altLang="en-US" i="1">
                          <a:latin typeface="Cambria Math" panose="02040503050406030204" pitchFamily="18" charset="0"/>
                        </a:rPr>
                        <m:t>𝑛</m:t>
                      </m:r>
                      <m:r>
                        <a:rPr lang="en-US" altLang="zh-CN" i="1">
                          <a:latin typeface="Cambria Math" panose="02040503050406030204" pitchFamily="18" charset="0"/>
                        </a:rPr>
                        <m:t>)\</m:t>
                      </m:r>
                      <m:r>
                        <a:rPr lang="zh-CN" altLang="en-US" i="1">
                          <a:latin typeface="Cambria Math" panose="02040503050406030204" pitchFamily="18" charset="0"/>
                        </a:rPr>
                        <m:t>𝑙𝑒𝑞</m:t>
                      </m:r>
                      <m:r>
                        <a:rPr lang="zh-CN" altLang="en-US" i="1">
                          <a:latin typeface="Cambria Math" panose="02040503050406030204" pitchFamily="18" charset="0"/>
                        </a:rPr>
                        <m:t> \</m:t>
                      </m:r>
                      <m:r>
                        <a:rPr lang="zh-CN" altLang="en-US" i="1">
                          <a:latin typeface="Cambria Math" panose="02040503050406030204" pitchFamily="18" charset="0"/>
                        </a:rPr>
                        <m:t>𝑓𝑟𝑎𝑐</m:t>
                      </m:r>
                      <m:r>
                        <a:rPr lang="en-US" altLang="zh-CN" i="1">
                          <a:latin typeface="Cambria Math" panose="02040503050406030204" pitchFamily="18" charset="0"/>
                        </a:rPr>
                        <m:t>{</m:t>
                      </m:r>
                      <m:r>
                        <a:rPr lang="zh-CN" altLang="en-US" i="1">
                          <a:latin typeface="Cambria Math" panose="02040503050406030204" pitchFamily="18" charset="0"/>
                        </a:rPr>
                        <m:t>𝑛</m:t>
                      </m:r>
                      <m:r>
                        <a:rPr lang="en-US" altLang="zh-CN" i="1">
                          <a:latin typeface="Cambria Math" panose="02040503050406030204" pitchFamily="18" charset="0"/>
                        </a:rPr>
                        <m:t>}{2})\\</m:t>
                      </m:r>
                    </m:oMath>
                  </m:oMathPara>
                </a14:m>
                <a:endParaRPr lang="zh-CN" altLang="en-US" dirty="0"/>
              </a:p>
              <a:p>
                <a:endParaRPr lang="zh-CN" altLang="en-US"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从以上公式可以看出，集成器的规模越大，也就是</a:t>
                </a:r>
                <a:r>
                  <a:rPr lang="en-CN"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越大，集成模型的犯错的概率会显著性的呈指数下降，并且随着</a:t>
                </a:r>
                <a:r>
                  <a:rPr lang="en-CN" sz="1200" i="1"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趋向无穷大而趋于</a:t>
                </a:r>
                <a:r>
                  <a:rPr lang="en-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。由于基分类器由相同的训练数据产生，不是完全独立同分布的，因此很难得到完全独立的基分类器，但可以通过随机的方法减少他们之间的相关性，并通过集成实现更好的泛化能力。（</a:t>
                </a:r>
                <a:r>
                  <a:rPr lang="en-US" altLang="zh-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的提出有效的解决了这一问题）</a:t>
                </a:r>
                <a:endParaRPr lang="en-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\begin{equation} P(H(n)\</a:t>
                </a:r>
                <a:r>
                  <a:rPr lang="en-US" altLang="zh-CN" dirty="0" err="1"/>
                  <a:t>leq</a:t>
                </a:r>
                <a:r>
                  <a:rPr lang="en-US" altLang="zh-CN" dirty="0"/>
                  <a:t> k)=\sum_{</a:t>
                </a:r>
                <a:r>
                  <a:rPr lang="en-US" altLang="zh-CN" dirty="0" err="1"/>
                  <a:t>i</a:t>
                </a:r>
                <a:r>
                  <a:rPr lang="en-US" altLang="zh-CN" dirty="0"/>
                  <a:t>=0}^</a:t>
                </a:r>
                <a:r>
                  <a:rPr lang="en-US" altLang="zh-CN" dirty="0" err="1"/>
                  <a:t>kC_n^i</a:t>
                </a:r>
                <a:r>
                  <a:rPr lang="en-US" altLang="zh-CN" dirty="0"/>
                  <a:t>(1-\epsilon)^</a:t>
                </a:r>
                <a:r>
                  <a:rPr lang="en-US" altLang="zh-CN" dirty="0" err="1"/>
                  <a:t>i</a:t>
                </a:r>
                <a:r>
                  <a:rPr lang="en-US" altLang="zh-CN" dirty="0"/>
                  <a:t>\epsilon^{n-</a:t>
                </a:r>
                <a:r>
                  <a:rPr lang="en-US" altLang="zh-CN" dirty="0" err="1"/>
                  <a:t>i</a:t>
                </a:r>
                <a:r>
                  <a:rPr lang="en-US" altLang="zh-CN" dirty="0"/>
                  <a:t>} \end{equation}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a:r>
                  <a:rPr lang="en-US" altLang="zh-CN" i="0">
                    <a:latin typeface="Cambria Math" panose="02040503050406030204" pitchFamily="18" charset="0"/>
                  </a:rPr>
                  <a:t>\</a:t>
                </a:r>
                <a:r>
                  <a:rPr lang="zh-CN" altLang="en-US" i="0">
                    <a:latin typeface="Cambria Math" panose="02040503050406030204" pitchFamily="18" charset="0"/>
                  </a:rPr>
                  <a:t>𝑙𝑒𝑞 𝑒𝑥𝑝</a:t>
                </a:r>
                <a:r>
                  <a:rPr lang="en-US" altLang="zh-CN" i="0">
                    <a:latin typeface="Cambria Math" panose="02040503050406030204" pitchFamily="18" charset="0"/>
                  </a:rPr>
                  <a:t>(−\</a:t>
                </a:r>
                <a:r>
                  <a:rPr lang="zh-CN" altLang="en-US" i="0">
                    <a:latin typeface="Cambria Math" panose="02040503050406030204" pitchFamily="18" charset="0"/>
                  </a:rPr>
                  <a:t>𝑓𝑟𝑎𝑐</a:t>
                </a:r>
                <a:r>
                  <a:rPr lang="en-US" altLang="zh-CN" i="0">
                    <a:latin typeface="Cambria Math" panose="02040503050406030204" pitchFamily="18" charset="0"/>
                  </a:rPr>
                  <a:t>{</a:t>
                </a:r>
                <a:r>
                  <a:rPr lang="zh-CN" altLang="en-US" i="0">
                    <a:latin typeface="Cambria Math" panose="02040503050406030204" pitchFamily="18" charset="0"/>
                  </a:rPr>
                  <a:t>𝑛</a:t>
                </a:r>
                <a:r>
                  <a:rPr lang="en-US" altLang="zh-CN" i="0">
                    <a:latin typeface="Cambria Math" panose="02040503050406030204" pitchFamily="18" charset="0"/>
                  </a:rPr>
                  <a:t>}{2}(1−2\</a:t>
                </a:r>
                <a:r>
                  <a:rPr lang="zh-CN" altLang="en-US" i="0">
                    <a:latin typeface="Cambria Math" panose="02040503050406030204" pitchFamily="18" charset="0"/>
                  </a:rPr>
                  <a:t>𝑒𝑝𝑠𝑖𝑙𝑜𝑛</a:t>
                </a:r>
                <a:r>
                  <a:rPr lang="en-US" altLang="zh-CN" i="0">
                    <a:latin typeface="Cambria Math" panose="02040503050406030204" pitchFamily="18" charset="0"/>
                  </a:rPr>
                  <a:t>^2))\</a:t>
                </a:r>
                <a:r>
                  <a:rPr lang="zh-CN" altLang="en-US" i="0">
                    <a:latin typeface="Cambria Math" panose="02040503050406030204" pitchFamily="18" charset="0"/>
                  </a:rPr>
                  <a:t>𝑞𝑢𝑎𝑑</a:t>
                </a:r>
                <a:r>
                  <a:rPr lang="en-US" altLang="zh-CN" i="0">
                    <a:latin typeface="Cambria Math" panose="02040503050406030204" pitchFamily="18" charset="0"/>
                  </a:rPr>
                  <a:t>(</a:t>
                </a:r>
                <a:r>
                  <a:rPr lang="zh-CN" altLang="en-US" i="0">
                    <a:latin typeface="Cambria Math" panose="02040503050406030204" pitchFamily="18" charset="0"/>
                  </a:rPr>
                  <a:t>由</a:t>
                </a:r>
                <a:r>
                  <a:rPr lang="en-US" altLang="zh-CN" i="0">
                    <a:latin typeface="Cambria Math" panose="02040503050406030204" pitchFamily="18" charset="0"/>
                  </a:rPr>
                  <a:t>\</a:t>
                </a:r>
                <a:r>
                  <a:rPr lang="zh-CN" altLang="en-US" i="0">
                    <a:latin typeface="Cambria Math" panose="02040503050406030204" pitchFamily="18" charset="0"/>
                  </a:rPr>
                  <a:t>𝑣𝑎𝑟𝑒𝑝𝑠𝑖𝑙𝑜𝑛</a:t>
                </a:r>
                <a:r>
                  <a:rPr lang="en-US" altLang="zh-CN" i="0">
                    <a:latin typeface="Cambria Math" panose="02040503050406030204" pitchFamily="18" charset="0"/>
                  </a:rPr>
                  <a:t>=\</a:t>
                </a:r>
                <a:r>
                  <a:rPr lang="zh-CN" altLang="en-US" i="0">
                    <a:latin typeface="Cambria Math" panose="02040503050406030204" pitchFamily="18" charset="0"/>
                  </a:rPr>
                  <a:t>𝑓𝑟𝑎𝑐</a:t>
                </a:r>
                <a:r>
                  <a:rPr lang="en-US" altLang="zh-CN" i="0">
                    <a:latin typeface="Cambria Math" panose="02040503050406030204" pitchFamily="18" charset="0"/>
                  </a:rPr>
                  <a:t>{1}{2}−\</a:t>
                </a:r>
                <a:r>
                  <a:rPr lang="zh-CN" altLang="en-US" i="0">
                    <a:latin typeface="Cambria Math" panose="02040503050406030204" pitchFamily="18" charset="0"/>
                  </a:rPr>
                  <a:t>𝑒𝑝𝑠𝑖𝑙𝑜𝑛 可得</a:t>
                </a:r>
                <a:r>
                  <a:rPr lang="en-US" altLang="zh-CN" i="0">
                    <a:latin typeface="Cambria Math" panose="02040503050406030204" pitchFamily="18" charset="0"/>
                  </a:rPr>
                  <a:t>)=\</a:t>
                </a:r>
                <a:r>
                  <a:rPr lang="zh-CN" altLang="en-US" i="0">
                    <a:latin typeface="Cambria Math" panose="02040503050406030204" pitchFamily="18" charset="0"/>
                  </a:rPr>
                  <a:t>𝑠𝑢𝑚</a:t>
                </a:r>
                <a:r>
                  <a:rPr lang="en-US" altLang="zh-CN" i="0">
                    <a:latin typeface="Cambria Math" panose="02040503050406030204" pitchFamily="18" charset="0"/>
                  </a:rPr>
                  <a:t>_{</a:t>
                </a:r>
                <a:r>
                  <a:rPr lang="zh-CN" altLang="en-US" i="0">
                    <a:latin typeface="Cambria Math" panose="02040503050406030204" pitchFamily="18" charset="0"/>
                  </a:rPr>
                  <a:t>𝑖</a:t>
                </a:r>
                <a:r>
                  <a:rPr lang="en-US" altLang="zh-CN" i="0">
                    <a:latin typeface="Cambria Math" panose="02040503050406030204" pitchFamily="18" charset="0"/>
                  </a:rPr>
                  <a:t>=0}^{\</a:t>
                </a:r>
                <a:r>
                  <a:rPr lang="zh-CN" altLang="en-US" i="0">
                    <a:latin typeface="Cambria Math" panose="02040503050406030204" pitchFamily="18" charset="0"/>
                  </a:rPr>
                  <a:t>𝑓𝑟𝑎𝑐</a:t>
                </a:r>
                <a:r>
                  <a:rPr lang="en-US" altLang="zh-CN" i="0">
                    <a:latin typeface="Cambria Math" panose="02040503050406030204" pitchFamily="18" charset="0"/>
                  </a:rPr>
                  <a:t>{</a:t>
                </a:r>
                <a:r>
                  <a:rPr lang="zh-CN" altLang="en-US" i="0">
                    <a:latin typeface="Cambria Math" panose="02040503050406030204" pitchFamily="18" charset="0"/>
                  </a:rPr>
                  <a:t>𝑛</a:t>
                </a:r>
                <a:r>
                  <a:rPr lang="en-US" altLang="zh-CN" i="0">
                    <a:latin typeface="Cambria Math" panose="02040503050406030204" pitchFamily="18" charset="0"/>
                  </a:rPr>
                  <a:t>}{2}}</a:t>
                </a:r>
                <a:r>
                  <a:rPr lang="zh-CN" altLang="en-US" i="0">
                    <a:latin typeface="Cambria Math" panose="02040503050406030204" pitchFamily="18" charset="0"/>
                  </a:rPr>
                  <a:t>𝐶</a:t>
                </a:r>
                <a:r>
                  <a:rPr lang="en-US" altLang="zh-CN" i="0">
                    <a:latin typeface="Cambria Math" panose="02040503050406030204" pitchFamily="18" charset="0"/>
                  </a:rPr>
                  <a:t>_</a:t>
                </a:r>
                <a:r>
                  <a:rPr lang="zh-CN" altLang="en-US" i="0">
                    <a:latin typeface="Cambria Math" panose="02040503050406030204" pitchFamily="18" charset="0"/>
                  </a:rPr>
                  <a:t>𝑛</a:t>
                </a:r>
                <a:r>
                  <a:rPr lang="en-US" altLang="zh-CN" i="0">
                    <a:latin typeface="Cambria Math" panose="02040503050406030204" pitchFamily="18" charset="0"/>
                  </a:rPr>
                  <a:t>^</a:t>
                </a:r>
                <a:r>
                  <a:rPr lang="zh-CN" altLang="en-US" i="0">
                    <a:latin typeface="Cambria Math" panose="02040503050406030204" pitchFamily="18" charset="0"/>
                  </a:rPr>
                  <a:t>𝑖</a:t>
                </a:r>
                <a:r>
                  <a:rPr lang="en-US" altLang="zh-CN" i="0">
                    <a:latin typeface="Cambria Math" panose="02040503050406030204" pitchFamily="18" charset="0"/>
                  </a:rPr>
                  <a:t>(1−\</a:t>
                </a:r>
                <a:r>
                  <a:rPr lang="zh-CN" altLang="en-US" i="0">
                    <a:latin typeface="Cambria Math" panose="02040503050406030204" pitchFamily="18" charset="0"/>
                  </a:rPr>
                  <a:t>𝑒𝑝𝑠𝑖𝑙𝑜𝑛</a:t>
                </a:r>
                <a:r>
                  <a:rPr lang="en-US" altLang="zh-CN" i="0">
                    <a:latin typeface="Cambria Math" panose="02040503050406030204" pitchFamily="18" charset="0"/>
                  </a:rPr>
                  <a:t>)^</a:t>
                </a:r>
                <a:r>
                  <a:rPr lang="zh-CN" altLang="en-US" i="0">
                    <a:latin typeface="Cambria Math" panose="02040503050406030204" pitchFamily="18" charset="0"/>
                  </a:rPr>
                  <a:t>𝑖</a:t>
                </a:r>
                <a:r>
                  <a:rPr lang="en-US" altLang="zh-CN" i="0">
                    <a:latin typeface="Cambria Math" panose="02040503050406030204" pitchFamily="18" charset="0"/>
                  </a:rPr>
                  <a:t>\</a:t>
                </a:r>
                <a:r>
                  <a:rPr lang="zh-CN" altLang="en-US" i="0">
                    <a:latin typeface="Cambria Math" panose="02040503050406030204" pitchFamily="18" charset="0"/>
                  </a:rPr>
                  <a:t>𝑒𝑝𝑠𝑖𝑙𝑜𝑛</a:t>
                </a:r>
                <a:r>
                  <a:rPr lang="en-US" altLang="zh-CN" i="0">
                    <a:latin typeface="Cambria Math" panose="02040503050406030204" pitchFamily="18" charset="0"/>
                  </a:rPr>
                  <a:t>^{</a:t>
                </a:r>
                <a:r>
                  <a:rPr lang="zh-CN" altLang="en-US" i="0">
                    <a:latin typeface="Cambria Math" panose="02040503050406030204" pitchFamily="18" charset="0"/>
                  </a:rPr>
                  <a:t>𝑛−𝑖</a:t>
                </a:r>
                <a:r>
                  <a:rPr lang="en-US" altLang="zh-CN" i="0">
                    <a:latin typeface="Cambria Math" panose="02040503050406030204" pitchFamily="18" charset="0"/>
                  </a:rPr>
                  <a:t>}\\</a:t>
                </a:r>
                <a:r>
                  <a:rPr lang="zh-CN" altLang="en-US" i="0">
                    <a:latin typeface="Cambria Math" panose="02040503050406030204" pitchFamily="18" charset="0"/>
                  </a:rPr>
                  <a:t>𝑃</a:t>
                </a:r>
                <a:r>
                  <a:rPr lang="en-US" altLang="zh-CN" i="0">
                    <a:latin typeface="Cambria Math" panose="02040503050406030204" pitchFamily="18" charset="0"/>
                  </a:rPr>
                  <a:t>(</a:t>
                </a:r>
                <a:r>
                  <a:rPr lang="zh-CN" altLang="en-US" i="0">
                    <a:latin typeface="Cambria Math" panose="02040503050406030204" pitchFamily="18" charset="0"/>
                  </a:rPr>
                  <a:t>集成分类错误</a:t>
                </a:r>
                <a:r>
                  <a:rPr lang="en-US" altLang="zh-CN" i="0">
                    <a:latin typeface="Cambria Math" panose="02040503050406030204" pitchFamily="18" charset="0"/>
                  </a:rPr>
                  <a:t>)=</a:t>
                </a:r>
                <a:r>
                  <a:rPr lang="zh-CN" altLang="en-US" i="0">
                    <a:latin typeface="Cambria Math" panose="02040503050406030204" pitchFamily="18" charset="0"/>
                  </a:rPr>
                  <a:t>𝑃</a:t>
                </a:r>
                <a:r>
                  <a:rPr lang="en-US" altLang="zh-CN" i="0">
                    <a:latin typeface="Cambria Math" panose="02040503050406030204" pitchFamily="18" charset="0"/>
                  </a:rPr>
                  <a:t>(</a:t>
                </a:r>
                <a:r>
                  <a:rPr lang="zh-CN" altLang="en-US" i="0">
                    <a:latin typeface="Cambria Math" panose="02040503050406030204" pitchFamily="18" charset="0"/>
                  </a:rPr>
                  <a:t>𝐻</a:t>
                </a:r>
                <a:r>
                  <a:rPr lang="en-US" altLang="zh-CN" i="0">
                    <a:latin typeface="Cambria Math" panose="02040503050406030204" pitchFamily="18" charset="0"/>
                  </a:rPr>
                  <a:t>(</a:t>
                </a:r>
                <a:r>
                  <a:rPr lang="zh-CN" altLang="en-US" i="0">
                    <a:latin typeface="Cambria Math" panose="02040503050406030204" pitchFamily="18" charset="0"/>
                  </a:rPr>
                  <a:t>𝑛</a:t>
                </a:r>
                <a:r>
                  <a:rPr lang="en-US" altLang="zh-CN" i="0">
                    <a:latin typeface="Cambria Math" panose="02040503050406030204" pitchFamily="18" charset="0"/>
                  </a:rPr>
                  <a:t>)\</a:t>
                </a:r>
                <a:r>
                  <a:rPr lang="zh-CN" altLang="en-US" i="0">
                    <a:latin typeface="Cambria Math" panose="02040503050406030204" pitchFamily="18" charset="0"/>
                  </a:rPr>
                  <a:t>𝑙𝑒𝑞 </a:t>
                </a:r>
                <a:r>
                  <a:rPr lang="en-US" altLang="zh-CN" i="0">
                    <a:latin typeface="Cambria Math" panose="02040503050406030204" pitchFamily="18" charset="0"/>
                  </a:rPr>
                  <a:t>\</a:t>
                </a:r>
                <a:r>
                  <a:rPr lang="zh-CN" altLang="en-US" i="0">
                    <a:latin typeface="Cambria Math" panose="02040503050406030204" pitchFamily="18" charset="0"/>
                  </a:rPr>
                  <a:t>𝑓𝑟𝑎𝑐</a:t>
                </a:r>
                <a:r>
                  <a:rPr lang="en-US" altLang="zh-CN" i="0">
                    <a:latin typeface="Cambria Math" panose="02040503050406030204" pitchFamily="18" charset="0"/>
                  </a:rPr>
                  <a:t>{</a:t>
                </a:r>
                <a:r>
                  <a:rPr lang="zh-CN" altLang="en-US" i="0">
                    <a:latin typeface="Cambria Math" panose="02040503050406030204" pitchFamily="18" charset="0"/>
                  </a:rPr>
                  <a:t>𝑛</a:t>
                </a:r>
                <a:r>
                  <a:rPr lang="en-US" altLang="zh-CN" i="0">
                    <a:latin typeface="Cambria Math" panose="02040503050406030204" pitchFamily="18" charset="0"/>
                  </a:rPr>
                  <a:t>}{2})\\</a:t>
                </a:r>
                <a:endParaRPr lang="zh-CN" altLang="en-US" dirty="0"/>
              </a:p>
              <a:p>
                <a:endParaRPr lang="zh-CN" altLang="en-US"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从以上公式可以看出，集成器的规模越大，也就是</a:t>
                </a:r>
                <a:r>
                  <a:rPr lang="en-CN"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越大，集成模型的犯错的概率会显著性的呈指数下降，并且随着</a:t>
                </a:r>
                <a:r>
                  <a:rPr lang="en-CN" sz="1200" i="1"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趋向无穷大而趋于</a:t>
                </a:r>
                <a:r>
                  <a:rPr lang="en-CN" sz="1200" kern="1200" dirty="0">
                    <a:solidFill>
                      <a:schemeClr val="tx1"/>
                    </a:solidFill>
                    <a:effectLst/>
                    <a:latin typeface="+mn-lt"/>
                    <a:ea typeface="+mn-ea"/>
                    <a:cs typeface="+mn-cs"/>
                  </a:rPr>
                  <a:t>0</a:t>
                </a:r>
                <a:r>
                  <a:rPr lang="zh-CN" altLang="en-US" sz="1200" kern="1200" dirty="0">
                    <a:solidFill>
                      <a:schemeClr val="tx1"/>
                    </a:solidFill>
                    <a:effectLst/>
                    <a:latin typeface="+mn-lt"/>
                    <a:ea typeface="+mn-ea"/>
                    <a:cs typeface="+mn-cs"/>
                  </a:rPr>
                  <a:t>。由于基分类器由相同的训练数据产生，不是完全独立同分布的，因此很难得到完全独立的基分类器，但可以通过随机的方法减少他们之间的相关性，并通过集成实现更好的泛化能力。（</a:t>
                </a:r>
                <a:r>
                  <a:rPr lang="en-US" altLang="zh-CN"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的提出有效的解决了这一问题）</a:t>
                </a:r>
                <a:endParaRPr lang="en-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fld id="{E285D5D6-4E3F-411C-8722-AE80321700F2}" type="slidenum">
              <a:rPr lang="zh-CN" altLang="en-US" smtClean="0"/>
              <a:t>14</a:t>
            </a:fld>
            <a:endParaRPr lang="zh-CN" altLang="en-US"/>
          </a:p>
        </p:txBody>
      </p:sp>
    </p:spTree>
    <p:extLst>
      <p:ext uri="{BB962C8B-B14F-4D97-AF65-F5344CB8AC3E}">
        <p14:creationId xmlns:p14="http://schemas.microsoft.com/office/powerpoint/2010/main" val="18952604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15</a:t>
            </a:fld>
            <a:endParaRPr lang="zh-CN" altLang="en-US"/>
          </a:p>
        </p:txBody>
      </p:sp>
    </p:spTree>
    <p:extLst>
      <p:ext uri="{BB962C8B-B14F-4D97-AF65-F5344CB8AC3E}">
        <p14:creationId xmlns:p14="http://schemas.microsoft.com/office/powerpoint/2010/main" val="3391667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zh-CN" dirty="0"/>
              <a:t>Bagging = </a:t>
            </a:r>
            <a:r>
              <a:rPr lang="zh-CN" altLang="en-US" dirty="0"/>
              <a:t>给模型多次机会重新看训练集。</a:t>
            </a:r>
            <a:endParaRPr lang="en-CN" dirty="0"/>
          </a:p>
        </p:txBody>
      </p:sp>
      <p:sp>
        <p:nvSpPr>
          <p:cNvPr id="4" name="Slide Number Placeholder 3"/>
          <p:cNvSpPr>
            <a:spLocks noGrp="1"/>
          </p:cNvSpPr>
          <p:nvPr>
            <p:ph type="sldNum" sz="quarter" idx="5"/>
          </p:nvPr>
        </p:nvSpPr>
        <p:spPr/>
        <p:txBody>
          <a:bodyPr/>
          <a:lstStyle/>
          <a:p>
            <a:fld id="{E285D5D6-4E3F-411C-8722-AE80321700F2}" type="slidenum">
              <a:rPr lang="zh-CN" altLang="en-US" smtClean="0"/>
              <a:t>16</a:t>
            </a:fld>
            <a:endParaRPr lang="zh-CN" altLang="en-US"/>
          </a:p>
        </p:txBody>
      </p:sp>
    </p:spTree>
    <p:extLst>
      <p:ext uri="{BB962C8B-B14F-4D97-AF65-F5344CB8AC3E}">
        <p14:creationId xmlns:p14="http://schemas.microsoft.com/office/powerpoint/2010/main" val="1583461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17</a:t>
            </a:fld>
            <a:endParaRPr lang="zh-CN" altLang="en-US"/>
          </a:p>
        </p:txBody>
      </p:sp>
    </p:spTree>
    <p:extLst>
      <p:ext uri="{BB962C8B-B14F-4D97-AF65-F5344CB8AC3E}">
        <p14:creationId xmlns:p14="http://schemas.microsoft.com/office/powerpoint/2010/main" val="986996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上面也提到了，如果样本是独立同分布的，那么误差会得到显著的降低，所以我们希望得到的基分类器的数据越独立越好。在给定训练集的条件下，一种可能的实现是采样得到若干相互没有重合的样本子集，每个子集个字训练基分类器。然而，由于训练数据是有限的，这样得到的子集数量较少（也就是上式中的</a:t>
            </a:r>
            <a:r>
              <a:rPr lang="en-US"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较小），是的分类似数量较少，集成分类的性能受限。</a:t>
            </a:r>
            <a:endParaRPr lang="en-CN" sz="1200" kern="1200" dirty="0">
              <a:solidFill>
                <a:schemeClr val="tx1"/>
              </a:solidFill>
              <a:effectLst/>
              <a:latin typeface="+mn-lt"/>
              <a:ea typeface="+mn-ea"/>
              <a:cs typeface="+mn-cs"/>
            </a:endParaRPr>
          </a:p>
          <a:p>
            <a:endParaRPr lang="en-US" altLang="zh-CN" dirty="0"/>
          </a:p>
          <a:p>
            <a:r>
              <a:rPr lang="en-US" sz="1200" kern="1200" dirty="0">
                <a:solidFill>
                  <a:schemeClr val="tx1"/>
                </a:solidFill>
                <a:effectLst/>
                <a:latin typeface="+mn-lt"/>
                <a:ea typeface="+mn-ea"/>
                <a:cs typeface="+mn-cs"/>
              </a:rPr>
              <a:t>Bootstrap</a:t>
            </a:r>
            <a:r>
              <a:rPr lang="zh-CN" altLang="en-US" sz="1200" kern="1200" dirty="0">
                <a:solidFill>
                  <a:schemeClr val="tx1"/>
                </a:solidFill>
                <a:effectLst/>
                <a:latin typeface="+mn-lt"/>
                <a:ea typeface="+mn-ea"/>
                <a:cs typeface="+mn-cs"/>
              </a:rPr>
              <a:t>是一个统计学中非常有名的采样方法，具体可如下图所示：给定一个训练样本数为</a:t>
            </a:r>
            <a:r>
              <a:rPr lang="en-US"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的训练集合，它通过有放回的采样得到</a:t>
            </a:r>
            <a:r>
              <a:rPr lang="en-US"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个训练样本的采样集合。原始样本有的被多次选中，有的未被选中。重复过程</a:t>
            </a:r>
            <a:r>
              <a:rPr lang="en-US"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次，得到</a:t>
            </a:r>
            <a:r>
              <a:rPr lang="en-US"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个样本数目为</a:t>
            </a:r>
            <a:r>
              <a:rPr lang="en-US"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的样本集。对每个采用出来的样本集进行训练，是的基学习算法可以得到一个基分类器。</a:t>
            </a:r>
            <a:r>
              <a:rPr lang="en-CN" dirty="0">
                <a:effectLst/>
              </a:rPr>
              <a:t>  </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18</a:t>
            </a:fld>
            <a:endParaRPr lang="zh-CN" altLang="en-US"/>
          </a:p>
        </p:txBody>
      </p:sp>
    </p:spTree>
    <p:extLst>
      <p:ext uri="{BB962C8B-B14F-4D97-AF65-F5344CB8AC3E}">
        <p14:creationId xmlns:p14="http://schemas.microsoft.com/office/powerpoint/2010/main" val="575307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此时，基分类器的性能可以通过包外样本（</a:t>
            </a:r>
            <a:r>
              <a:rPr lang="en-US" sz="1200" kern="1200" dirty="0">
                <a:solidFill>
                  <a:schemeClr val="tx1"/>
                </a:solidFill>
                <a:effectLst/>
                <a:latin typeface="+mn-lt"/>
                <a:ea typeface="+mn-ea"/>
                <a:cs typeface="+mn-cs"/>
              </a:rPr>
              <a:t>out-of-bag sample</a:t>
            </a:r>
            <a:r>
              <a:rPr lang="zh-CN" altLang="en-US" sz="1200" kern="1200" dirty="0">
                <a:solidFill>
                  <a:schemeClr val="tx1"/>
                </a:solidFill>
                <a:effectLst/>
                <a:latin typeface="+mn-lt"/>
                <a:ea typeface="+mn-ea"/>
                <a:cs typeface="+mn-cs"/>
              </a:rPr>
              <a:t>）来验证，这个想法类似于</a:t>
            </a:r>
            <a:r>
              <a:rPr lang="en-US" sz="1200" kern="1200" dirty="0">
                <a:solidFill>
                  <a:schemeClr val="tx1"/>
                </a:solidFill>
                <a:effectLst/>
                <a:latin typeface="+mn-lt"/>
                <a:ea typeface="+mn-ea"/>
                <a:cs typeface="+mn-cs"/>
              </a:rPr>
              <a:t>cross-validation</a:t>
            </a:r>
            <a:r>
              <a:rPr lang="zh-CN" altLang="en-US" sz="1200" kern="1200" dirty="0">
                <a:solidFill>
                  <a:schemeClr val="tx1"/>
                </a:solidFill>
                <a:effectLst/>
                <a:latin typeface="+mn-lt"/>
                <a:ea typeface="+mn-ea"/>
                <a:cs typeface="+mn-cs"/>
              </a:rPr>
              <a:t>，但是它确实由算法本身自己生成和决定的。</a:t>
            </a:r>
            <a:r>
              <a:rPr lang="en-CN" dirty="0">
                <a:effectLst/>
              </a:rPr>
              <a:t> </a:t>
            </a:r>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19</a:t>
            </a:fld>
            <a:endParaRPr lang="zh-CN" altLang="en-US"/>
          </a:p>
        </p:txBody>
      </p:sp>
    </p:spTree>
    <p:extLst>
      <p:ext uri="{BB962C8B-B14F-4D97-AF65-F5344CB8AC3E}">
        <p14:creationId xmlns:p14="http://schemas.microsoft.com/office/powerpoint/2010/main" val="1888212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sz="1200" kern="1200" dirty="0">
                <a:solidFill>
                  <a:schemeClr val="tx1"/>
                </a:solidFill>
                <a:effectLst/>
                <a:latin typeface="+mn-lt"/>
                <a:ea typeface="+mn-ea"/>
                <a:cs typeface="+mn-cs"/>
              </a:rPr>
              <a:t>Bootstrap</a:t>
            </a:r>
            <a:r>
              <a:rPr lang="zh-CN" altLang="en-US" sz="1200" kern="1200" dirty="0">
                <a:solidFill>
                  <a:schemeClr val="tx1"/>
                </a:solidFill>
                <a:effectLst/>
                <a:latin typeface="+mn-lt"/>
                <a:ea typeface="+mn-ea"/>
                <a:cs typeface="+mn-cs"/>
              </a:rPr>
              <a:t>是一个统计学中非常有名的采样方法，具体可如下图所示：给定一个训练样本数为</a:t>
            </a:r>
            <a:r>
              <a:rPr lang="en-US"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的训练集合，它通过有放回的采样得到</a:t>
            </a:r>
            <a:r>
              <a:rPr lang="en-US"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个训练样本的采样集合。原始样本有的被多次选中，有的未被选中。重复过程</a:t>
            </a:r>
            <a:r>
              <a:rPr lang="en-US"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次，得到</a:t>
            </a:r>
            <a:r>
              <a:rPr lang="en-US" sz="1200" kern="1200" dirty="0">
                <a:solidFill>
                  <a:schemeClr val="tx1"/>
                </a:solidFill>
                <a:effectLst/>
                <a:latin typeface="+mn-lt"/>
                <a:ea typeface="+mn-ea"/>
                <a:cs typeface="+mn-cs"/>
              </a:rPr>
              <a:t>T</a:t>
            </a:r>
            <a:r>
              <a:rPr lang="zh-CN" altLang="en-US" sz="1200" kern="1200" dirty="0">
                <a:solidFill>
                  <a:schemeClr val="tx1"/>
                </a:solidFill>
                <a:effectLst/>
                <a:latin typeface="+mn-lt"/>
                <a:ea typeface="+mn-ea"/>
                <a:cs typeface="+mn-cs"/>
              </a:rPr>
              <a:t>个样本数目为</a:t>
            </a:r>
            <a:r>
              <a:rPr lang="en-US" sz="1200" kern="1200" dirty="0">
                <a:solidFill>
                  <a:schemeClr val="tx1"/>
                </a:solidFill>
                <a:effectLst/>
                <a:latin typeface="+mn-lt"/>
                <a:ea typeface="+mn-ea"/>
                <a:cs typeface="+mn-cs"/>
              </a:rPr>
              <a:t>M</a:t>
            </a:r>
            <a:r>
              <a:rPr lang="zh-CN" altLang="en-US" sz="1200" kern="1200" dirty="0">
                <a:solidFill>
                  <a:schemeClr val="tx1"/>
                </a:solidFill>
                <a:effectLst/>
                <a:latin typeface="+mn-lt"/>
                <a:ea typeface="+mn-ea"/>
                <a:cs typeface="+mn-cs"/>
              </a:rPr>
              <a:t>的样本集。对每个采用出来的样本集进行训练，是的基学习算法可以得到一个基分类器。</a:t>
            </a:r>
            <a:r>
              <a:rPr lang="en-CN" dirty="0">
                <a:effectLst/>
              </a:rPr>
              <a:t>  </a:t>
            </a:r>
          </a:p>
          <a:p>
            <a:endParaRPr lang="en-CN" altLang="zh-CN"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采用最常用的方法来最最终的决策，即分类任务上投票，在回归任务上平均。以分类任务为例，预测一个样本时，</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将样本传给所有基分类器，并对意见进行回收，然后对标记进行投票，数目多的作为最终的预测结果，所以</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也可以解决对分类问题。</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20</a:t>
            </a:fld>
            <a:endParaRPr lang="zh-CN" altLang="en-US"/>
          </a:p>
        </p:txBody>
      </p:sp>
    </p:spTree>
    <p:extLst>
      <p:ext uri="{BB962C8B-B14F-4D97-AF65-F5344CB8AC3E}">
        <p14:creationId xmlns:p14="http://schemas.microsoft.com/office/powerpoint/2010/main" val="17754946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Bagging </a:t>
            </a:r>
            <a:r>
              <a:rPr lang="zh-CN" altLang="en-US" dirty="0"/>
              <a:t>只能降低方差，不能降低相关性。</a:t>
            </a:r>
            <a:br>
              <a:rPr lang="zh-CN" altLang="en-US" dirty="0"/>
            </a:br>
            <a:r>
              <a:rPr lang="zh-CN" altLang="en-US" b="1" dirty="0"/>
              <a:t>但决策树之间高度相关 → 效果上不去。</a:t>
            </a:r>
            <a:endParaRPr lang="zh-CN" altLang="en-US" dirty="0"/>
          </a:p>
          <a:p>
            <a:r>
              <a:rPr lang="zh-CN" altLang="en-US" dirty="0"/>
              <a:t>随机森林通过：</a:t>
            </a:r>
          </a:p>
          <a:p>
            <a:pPr>
              <a:buFont typeface="Arial" panose="020B0604020202020204" pitchFamily="34" charset="0"/>
              <a:buChar char="•"/>
            </a:pPr>
            <a:r>
              <a:rPr lang="zh-CN" altLang="en-US" b="1" dirty="0"/>
              <a:t>随机选择特征</a:t>
            </a:r>
            <a:r>
              <a:rPr lang="zh-CN" altLang="en-US" dirty="0"/>
              <a:t>（</a:t>
            </a:r>
            <a:r>
              <a:rPr lang="en" altLang="zh-CN" dirty="0"/>
              <a:t>decorrelation</a:t>
            </a:r>
            <a:r>
              <a:rPr lang="zh-CN" altLang="en" dirty="0"/>
              <a:t>）</a:t>
            </a:r>
          </a:p>
          <a:p>
            <a:pPr>
              <a:buFont typeface="Arial" panose="020B0604020202020204" pitchFamily="34" charset="0"/>
              <a:buChar char="•"/>
            </a:pPr>
            <a:r>
              <a:rPr lang="zh-CN" altLang="en-US" b="1" dirty="0"/>
              <a:t>减少树之间的相似性</a:t>
            </a:r>
            <a:endParaRPr lang="zh-CN" altLang="en-US" dirty="0"/>
          </a:p>
          <a:p>
            <a:r>
              <a:rPr lang="zh-CN" altLang="en-US" dirty="0"/>
              <a:t>使得：</a:t>
            </a:r>
          </a:p>
          <a:p>
            <a:r>
              <a:rPr lang="zh-CN" altLang="en-US" b="1" dirty="0"/>
              <a:t>树与树之间的错误更不一致 → 投票更有效 → 泛化更强</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21</a:t>
            </a:fld>
            <a:endParaRPr lang="zh-CN" altLang="en-US"/>
          </a:p>
        </p:txBody>
      </p:sp>
    </p:spTree>
    <p:extLst>
      <p:ext uri="{BB962C8B-B14F-4D97-AF65-F5344CB8AC3E}">
        <p14:creationId xmlns:p14="http://schemas.microsoft.com/office/powerpoint/2010/main" val="2678699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具体来说，传统决策树在选择划分属性时是在当前结点的属性集合</a:t>
            </a:r>
            <a:r>
              <a:rPr lang="en-US"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假定有</a:t>
            </a:r>
            <a:r>
              <a:rPr lang="en-US" sz="1200" kern="1200" dirty="0">
                <a:solidFill>
                  <a:schemeClr val="tx1"/>
                </a:solidFill>
                <a:effectLst/>
                <a:latin typeface="+mn-lt"/>
                <a:ea typeface="+mn-ea"/>
                <a:cs typeface="+mn-cs"/>
              </a:rPr>
              <a:t>d</a:t>
            </a:r>
            <a:r>
              <a:rPr lang="zh-CN" altLang="en-US" sz="1200" kern="1200" dirty="0">
                <a:solidFill>
                  <a:schemeClr val="tx1"/>
                </a:solidFill>
                <a:effectLst/>
                <a:latin typeface="+mn-lt"/>
                <a:ea typeface="+mn-ea"/>
                <a:cs typeface="+mn-cs"/>
              </a:rPr>
              <a:t>个属性</a:t>
            </a:r>
            <a:r>
              <a:rPr lang="en-US"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中选择一个最优属性；而在</a:t>
            </a:r>
            <a:r>
              <a:rPr lang="en-US" sz="1200" kern="1200" dirty="0">
                <a:solidFill>
                  <a:schemeClr val="tx1"/>
                </a:solidFill>
                <a:effectLst/>
                <a:latin typeface="+mn-lt"/>
                <a:ea typeface="+mn-ea"/>
                <a:cs typeface="+mn-cs"/>
              </a:rPr>
              <a:t>RF </a:t>
            </a:r>
            <a:r>
              <a:rPr lang="zh-CN" altLang="en-US" sz="1200" kern="1200" dirty="0">
                <a:solidFill>
                  <a:schemeClr val="tx1"/>
                </a:solidFill>
                <a:effectLst/>
                <a:latin typeface="+mn-lt"/>
                <a:ea typeface="+mn-ea"/>
                <a:cs typeface="+mn-cs"/>
              </a:rPr>
              <a:t>中，对基决策树的每个结点，先从该结点的属性集合中随机选择一个包含</a:t>
            </a:r>
            <a:r>
              <a:rPr lang="en-US" sz="1200" kern="1200" dirty="0">
                <a:solidFill>
                  <a:schemeClr val="tx1"/>
                </a:solidFill>
                <a:effectLst/>
                <a:latin typeface="+mn-lt"/>
                <a:ea typeface="+mn-ea"/>
                <a:cs typeface="+mn-cs"/>
              </a:rPr>
              <a:t>K </a:t>
            </a:r>
            <a:r>
              <a:rPr lang="zh-CN" altLang="en-US" sz="1200" kern="1200" dirty="0">
                <a:solidFill>
                  <a:schemeClr val="tx1"/>
                </a:solidFill>
                <a:effectLst/>
                <a:latin typeface="+mn-lt"/>
                <a:ea typeface="+mn-ea"/>
                <a:cs typeface="+mn-cs"/>
              </a:rPr>
              <a:t>个属性的子集，然后再从这个子集中选择一个最优属性用于划分。（值得一提的是，</a:t>
            </a:r>
            <a:r>
              <a:rPr lang="zh-CN" altLang="en-US" sz="1200" b="1" kern="1200" dirty="0">
                <a:solidFill>
                  <a:schemeClr val="tx1"/>
                </a:solidFill>
                <a:effectLst/>
                <a:latin typeface="+mn-lt"/>
                <a:ea typeface="+mn-ea"/>
                <a:cs typeface="+mn-cs"/>
              </a:rPr>
              <a:t>随机树只在特征选的时引入随机性，在选择分割点时不会引入</a:t>
            </a:r>
            <a:r>
              <a:rPr lang="zh-CN" altLang="en-US" sz="1200" kern="1200" dirty="0">
                <a:solidFill>
                  <a:schemeClr val="tx1"/>
                </a:solidFill>
                <a:effectLst/>
                <a:latin typeface="+mn-lt"/>
                <a:ea typeface="+mn-ea"/>
                <a:cs typeface="+mn-cs"/>
              </a:rPr>
              <a:t>）。</a:t>
            </a:r>
            <a:endParaRPr lang="en-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22</a:t>
            </a:fld>
            <a:endParaRPr lang="zh-CN" altLang="en-US"/>
          </a:p>
        </p:txBody>
      </p:sp>
    </p:spTree>
    <p:extLst>
      <p:ext uri="{BB962C8B-B14F-4D97-AF65-F5344CB8AC3E}">
        <p14:creationId xmlns:p14="http://schemas.microsoft.com/office/powerpoint/2010/main" val="900871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随机森林代表集成学习技术水平的方法</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在训练阶段比</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更快，因为在构建基学习器阶段，</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使用所有的特征进行节点分割，进而生成决策树，而随机森林仅需要使用随机</a:t>
            </a:r>
            <a:r>
              <a:rPr lang="en-US"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个特征来生成。</a:t>
            </a:r>
            <a:r>
              <a:rPr lang="en-US" sz="1200" kern="1200" dirty="0">
                <a:solidFill>
                  <a:schemeClr val="tx1"/>
                </a:solidFill>
                <a:effectLst/>
                <a:latin typeface="+mn-lt"/>
                <a:ea typeface="+mn-ea"/>
                <a:cs typeface="+mn-cs"/>
              </a:rPr>
              <a:t>(A comparison of Random Forest and Bagging for different numbers of trees) </a:t>
            </a:r>
            <a:r>
              <a:rPr lang="zh-CN" altLang="en-US" sz="1200" kern="1200" dirty="0">
                <a:solidFill>
                  <a:schemeClr val="tx1"/>
                </a:solidFill>
                <a:effectLst/>
                <a:latin typeface="+mn-lt"/>
                <a:ea typeface="+mn-ea"/>
                <a:cs typeface="+mn-cs"/>
              </a:rPr>
              <a:t>本文比较了在不同数据及上</a:t>
            </a:r>
            <a:r>
              <a:rPr lang="en-US" sz="1200" kern="1200" dirty="0">
                <a:solidFill>
                  <a:schemeClr val="tx1"/>
                </a:solidFill>
                <a:effectLst/>
                <a:latin typeface="+mn-lt"/>
                <a:ea typeface="+mn-ea"/>
                <a:cs typeface="+mn-cs"/>
              </a:rPr>
              <a:t>Random forest </a:t>
            </a:r>
            <a:r>
              <a:rPr lang="zh-CN" altLang="en-US" sz="1200" kern="1200" dirty="0">
                <a:solidFill>
                  <a:schemeClr val="tx1"/>
                </a:solidFill>
                <a:effectLst/>
                <a:latin typeface="+mn-lt"/>
                <a:ea typeface="+mn-ea"/>
                <a:cs typeface="+mn-cs"/>
              </a:rPr>
              <a:t>和</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的区别，可以看到在准确率上区别不是很大，但是</a:t>
            </a:r>
            <a:r>
              <a:rPr lang="en-US" sz="1200" kern="1200" dirty="0">
                <a:solidFill>
                  <a:schemeClr val="tx1"/>
                </a:solidFill>
                <a:effectLst/>
                <a:latin typeface="+mn-lt"/>
                <a:ea typeface="+mn-ea"/>
                <a:cs typeface="+mn-cs"/>
              </a:rPr>
              <a:t>Random forest</a:t>
            </a:r>
            <a:r>
              <a:rPr lang="zh-CN" altLang="en-US" sz="1200" kern="1200" dirty="0">
                <a:solidFill>
                  <a:schemeClr val="tx1"/>
                </a:solidFill>
                <a:effectLst/>
                <a:latin typeface="+mn-lt"/>
                <a:ea typeface="+mn-ea"/>
                <a:cs typeface="+mn-cs"/>
              </a:rPr>
              <a:t>在计算速度上有优势。</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sz="1200" kern="1200" dirty="0">
                <a:solidFill>
                  <a:schemeClr val="tx1"/>
                </a:solidFill>
                <a:effectLst/>
                <a:latin typeface="+mn-lt"/>
                <a:ea typeface="+mn-ea"/>
                <a:cs typeface="+mn-cs"/>
              </a:rPr>
              <a:t>Haberman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dataset,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survival</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after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breast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cancer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surgery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err="1"/>
              <a:t>visualizing_environmental</a:t>
            </a:r>
            <a:r>
              <a:rPr lang="zh-CN" altLang="en-US" dirty="0"/>
              <a:t> </a:t>
            </a:r>
            <a:r>
              <a:rPr lang="en-GB" dirty="0"/>
              <a:t>dataset</a:t>
            </a:r>
            <a:r>
              <a:rPr lang="zh-CN" altLang="en-US" dirty="0"/>
              <a:t> </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dirty="0"/>
              <a:t>Fri</a:t>
            </a:r>
            <a:r>
              <a:rPr lang="zh-CN" altLang="en-US" dirty="0"/>
              <a:t> 预测数据耦合度，五分类</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预测收入水平，根据教育程度，年龄这些</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预测献血</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是否有糖尿病（根据</a:t>
            </a:r>
            <a:r>
              <a:rPr lang="en-US" altLang="zh-CN" dirty="0"/>
              <a:t>WHO</a:t>
            </a:r>
            <a:r>
              <a:rPr lang="zh-CN" altLang="en-US" dirty="0"/>
              <a:t>数据）</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使用免疫疗法的</a:t>
            </a:r>
            <a:r>
              <a:rPr lang="en-US" altLang="zh-CN" dirty="0"/>
              <a:t>90</a:t>
            </a:r>
            <a:r>
              <a:rPr lang="zh-CN" altLang="en-US" dirty="0"/>
              <a:t>名患者的疣体治疗结果</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这个数据集包含了</a:t>
            </a:r>
            <a:r>
              <a:rPr lang="en-US" altLang="zh-CN" dirty="0"/>
              <a:t>90</a:t>
            </a:r>
            <a:r>
              <a:rPr lang="zh-CN" altLang="en-US" dirty="0"/>
              <a:t>名使用冷冻疗法的患者的疣体治疗结果信息</a:t>
            </a:r>
            <a:endParaRPr lang="en-US" altLang="zh-CN"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23</a:t>
            </a:fld>
            <a:endParaRPr lang="zh-CN" altLang="en-US"/>
          </a:p>
        </p:txBody>
      </p:sp>
    </p:spTree>
    <p:extLst>
      <p:ext uri="{BB962C8B-B14F-4D97-AF65-F5344CB8AC3E}">
        <p14:creationId xmlns:p14="http://schemas.microsoft.com/office/powerpoint/2010/main" val="3416454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随机森林在训练阶段比</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更快，因为在构建基学习器阶段，</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使用所有的特征进行节点分割，进而生成决策树，而随机森林仅需要使用随机</a:t>
            </a:r>
            <a:r>
              <a:rPr lang="en-US" sz="1200" kern="1200" dirty="0">
                <a:solidFill>
                  <a:schemeClr val="tx1"/>
                </a:solidFill>
                <a:effectLst/>
                <a:latin typeface="+mn-lt"/>
                <a:ea typeface="+mn-ea"/>
                <a:cs typeface="+mn-cs"/>
              </a:rPr>
              <a:t>K</a:t>
            </a:r>
            <a:r>
              <a:rPr lang="zh-CN" altLang="en-US" sz="1200" kern="1200" dirty="0">
                <a:solidFill>
                  <a:schemeClr val="tx1"/>
                </a:solidFill>
                <a:effectLst/>
                <a:latin typeface="+mn-lt"/>
                <a:ea typeface="+mn-ea"/>
                <a:cs typeface="+mn-cs"/>
              </a:rPr>
              <a:t>个特征来生成。</a:t>
            </a:r>
            <a:r>
              <a:rPr lang="en-US" sz="1200" kern="1200" dirty="0">
                <a:solidFill>
                  <a:schemeClr val="tx1"/>
                </a:solidFill>
                <a:effectLst/>
                <a:latin typeface="+mn-lt"/>
                <a:ea typeface="+mn-ea"/>
                <a:cs typeface="+mn-cs"/>
              </a:rPr>
              <a:t>(A comparison of Random Forest and Bagging for different numbers of trees) </a:t>
            </a:r>
            <a:r>
              <a:rPr lang="zh-CN" altLang="en-US" sz="1200" kern="1200" dirty="0">
                <a:solidFill>
                  <a:schemeClr val="tx1"/>
                </a:solidFill>
                <a:effectLst/>
                <a:latin typeface="+mn-lt"/>
                <a:ea typeface="+mn-ea"/>
                <a:cs typeface="+mn-cs"/>
              </a:rPr>
              <a:t>本文比较了在不同数据及上</a:t>
            </a:r>
            <a:r>
              <a:rPr lang="en-US" sz="1200" kern="1200" dirty="0">
                <a:solidFill>
                  <a:schemeClr val="tx1"/>
                </a:solidFill>
                <a:effectLst/>
                <a:latin typeface="+mn-lt"/>
                <a:ea typeface="+mn-ea"/>
                <a:cs typeface="+mn-cs"/>
              </a:rPr>
              <a:t>Random forest </a:t>
            </a:r>
            <a:r>
              <a:rPr lang="zh-CN" altLang="en-US" sz="1200" kern="1200" dirty="0">
                <a:solidFill>
                  <a:schemeClr val="tx1"/>
                </a:solidFill>
                <a:effectLst/>
                <a:latin typeface="+mn-lt"/>
                <a:ea typeface="+mn-ea"/>
                <a:cs typeface="+mn-cs"/>
              </a:rPr>
              <a:t>和</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的区别，可以看到在准确率上区别不是很大，但是</a:t>
            </a:r>
            <a:r>
              <a:rPr lang="en-US" sz="1200" kern="1200" dirty="0">
                <a:solidFill>
                  <a:schemeClr val="tx1"/>
                </a:solidFill>
                <a:effectLst/>
                <a:latin typeface="+mn-lt"/>
                <a:ea typeface="+mn-ea"/>
                <a:cs typeface="+mn-cs"/>
              </a:rPr>
              <a:t>Random forest</a:t>
            </a:r>
            <a:r>
              <a:rPr lang="zh-CN" altLang="en-US" sz="1200" kern="1200" dirty="0">
                <a:solidFill>
                  <a:schemeClr val="tx1"/>
                </a:solidFill>
                <a:effectLst/>
                <a:latin typeface="+mn-lt"/>
                <a:ea typeface="+mn-ea"/>
                <a:cs typeface="+mn-cs"/>
              </a:rPr>
              <a:t>在计算速度上有优势。</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sz="1200" kern="1200" dirty="0">
                <a:solidFill>
                  <a:schemeClr val="tx1"/>
                </a:solidFill>
                <a:effectLst/>
                <a:latin typeface="+mn-lt"/>
                <a:ea typeface="+mn-ea"/>
                <a:cs typeface="+mn-cs"/>
              </a:rPr>
              <a:t>Haberman</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dataset,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survival</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after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breast</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cancer</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surgery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err="1"/>
              <a:t>visualizing_environmental</a:t>
            </a:r>
            <a:r>
              <a:rPr lang="zh-CN" altLang="en-US" dirty="0"/>
              <a:t> </a:t>
            </a:r>
            <a:r>
              <a:rPr lang="en-GB" dirty="0"/>
              <a:t>dataset</a:t>
            </a:r>
            <a:r>
              <a:rPr lang="zh-CN" altLang="en-US" dirty="0"/>
              <a:t> </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CN" dirty="0"/>
              <a:t>Fri</a:t>
            </a:r>
            <a:r>
              <a:rPr lang="zh-CN" altLang="en-US" dirty="0"/>
              <a:t> 预测数据耦合度，五分类</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预测收入水平，根据教育程度，年龄这些</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预测献血</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是否有糖尿病（根据</a:t>
            </a:r>
            <a:r>
              <a:rPr lang="en-US" altLang="zh-CN" dirty="0"/>
              <a:t>WHO</a:t>
            </a:r>
            <a:r>
              <a:rPr lang="zh-CN" altLang="en-US" dirty="0"/>
              <a:t>数据）</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使用免疫疗法的</a:t>
            </a:r>
            <a:r>
              <a:rPr lang="en-US" altLang="zh-CN" dirty="0"/>
              <a:t>90</a:t>
            </a:r>
            <a:r>
              <a:rPr lang="zh-CN" altLang="en-US" dirty="0"/>
              <a:t>名患者的疣体治疗结果</a:t>
            </a:r>
            <a:endParaRPr lang="en-US" altLang="zh-CN"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dirty="0"/>
              <a:t>这个数据集包含了</a:t>
            </a:r>
            <a:r>
              <a:rPr lang="en-US" altLang="zh-CN" dirty="0"/>
              <a:t>90</a:t>
            </a:r>
            <a:r>
              <a:rPr lang="zh-CN" altLang="en-US" dirty="0"/>
              <a:t>名使用冷冻疗法的患者的疣体治疗结果信息</a:t>
            </a:r>
            <a:endParaRPr lang="en-US" altLang="zh-CN"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24</a:t>
            </a:fld>
            <a:endParaRPr lang="zh-CN" altLang="en-US"/>
          </a:p>
        </p:txBody>
      </p:sp>
    </p:spTree>
    <p:extLst>
      <p:ext uri="{BB962C8B-B14F-4D97-AF65-F5344CB8AC3E}">
        <p14:creationId xmlns:p14="http://schemas.microsoft.com/office/powerpoint/2010/main" val="2104678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选</a:t>
            </a:r>
            <a:r>
              <a:rPr lang="en-US" altLang="zh-CN" dirty="0"/>
              <a:t>C</a:t>
            </a:r>
            <a:r>
              <a:rPr lang="zh-CN" altLang="en-US" dirty="0"/>
              <a:t>，随机森林是并行集成方法，不是串行集成方法。下面我们来看串行集成方法。</a:t>
            </a:r>
            <a:endParaRPr lang="en-US" altLang="zh-CN"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25</a:t>
            </a:fld>
            <a:endParaRPr lang="zh-CN" altLang="en-US"/>
          </a:p>
        </p:txBody>
      </p:sp>
    </p:spTree>
    <p:extLst>
      <p:ext uri="{BB962C8B-B14F-4D97-AF65-F5344CB8AC3E}">
        <p14:creationId xmlns:p14="http://schemas.microsoft.com/office/powerpoint/2010/main" val="27194743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在</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的章节中，我们讲到了根据基分类器的生成方式，一种是并行集成的方法，也就是</a:t>
            </a:r>
            <a:r>
              <a:rPr lang="en-US" sz="1200" kern="1200" dirty="0">
                <a:solidFill>
                  <a:schemeClr val="tx1"/>
                </a:solidFill>
                <a:effectLst/>
                <a:latin typeface="+mn-lt"/>
                <a:ea typeface="+mn-ea"/>
                <a:cs typeface="+mn-cs"/>
              </a:rPr>
              <a:t>Bagging, </a:t>
            </a:r>
            <a:r>
              <a:rPr lang="zh-CN" altLang="en-US" sz="1200" kern="1200" dirty="0">
                <a:solidFill>
                  <a:schemeClr val="tx1"/>
                </a:solidFill>
                <a:effectLst/>
                <a:latin typeface="+mn-lt"/>
                <a:ea typeface="+mn-ea"/>
                <a:cs typeface="+mn-cs"/>
              </a:rPr>
              <a:t>而另一种便是现在要讨论的 “串行生成基分类器”的串行集成方法。串行集成算法以</a:t>
            </a:r>
            <a:r>
              <a:rPr lang="en-US" sz="1200" kern="1200" dirty="0" err="1">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XGBoost</a:t>
            </a:r>
            <a:r>
              <a:rPr lang="zh-CN" altLang="en-US" sz="1200" kern="1200" dirty="0">
                <a:solidFill>
                  <a:schemeClr val="tx1"/>
                </a:solidFill>
                <a:effectLst/>
                <a:latin typeface="+mn-lt"/>
                <a:ea typeface="+mn-ea"/>
                <a:cs typeface="+mn-cs"/>
              </a:rPr>
              <a:t>等算法为代表</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我们一步一步来讨论这些算法。</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26</a:t>
            </a:fld>
            <a:endParaRPr lang="zh-CN" altLang="en-US"/>
          </a:p>
        </p:txBody>
      </p:sp>
    </p:spTree>
    <p:extLst>
      <p:ext uri="{BB962C8B-B14F-4D97-AF65-F5344CB8AC3E}">
        <p14:creationId xmlns:p14="http://schemas.microsoft.com/office/powerpoint/2010/main" val="6429325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285D5D6-4E3F-411C-8722-AE80321700F2}" type="slidenum">
              <a:rPr lang="zh-CN" altLang="en-US" smtClean="0"/>
              <a:t>27</a:t>
            </a:fld>
            <a:endParaRPr lang="zh-CN" altLang="en-US"/>
          </a:p>
        </p:txBody>
      </p:sp>
    </p:spTree>
    <p:extLst>
      <p:ext uri="{BB962C8B-B14F-4D97-AF65-F5344CB8AC3E}">
        <p14:creationId xmlns:p14="http://schemas.microsoft.com/office/powerpoint/2010/main" val="1642871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28</a:t>
            </a:fld>
            <a:endParaRPr lang="zh-CN" altLang="en-US"/>
          </a:p>
        </p:txBody>
      </p:sp>
    </p:spTree>
    <p:extLst>
      <p:ext uri="{BB962C8B-B14F-4D97-AF65-F5344CB8AC3E}">
        <p14:creationId xmlns:p14="http://schemas.microsoft.com/office/powerpoint/2010/main" val="1656964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29</a:t>
            </a:fld>
            <a:endParaRPr lang="zh-CN" altLang="en-US"/>
          </a:p>
        </p:txBody>
      </p:sp>
    </p:spTree>
    <p:extLst>
      <p:ext uri="{BB962C8B-B14F-4D97-AF65-F5344CB8AC3E}">
        <p14:creationId xmlns:p14="http://schemas.microsoft.com/office/powerpoint/2010/main" val="22464906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85D5D6-4E3F-411C-8722-AE80321700F2}" type="slidenum">
              <a:rPr lang="zh-CN" altLang="en-US" smtClean="0"/>
              <a:t>35</a:t>
            </a:fld>
            <a:endParaRPr lang="zh-CN" altLang="en-US"/>
          </a:p>
        </p:txBody>
      </p:sp>
    </p:spTree>
    <p:extLst>
      <p:ext uri="{BB962C8B-B14F-4D97-AF65-F5344CB8AC3E}">
        <p14:creationId xmlns:p14="http://schemas.microsoft.com/office/powerpoint/2010/main" val="25690093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E285D5D6-4E3F-411C-8722-AE80321700F2}" type="slidenum">
              <a:rPr lang="zh-CN" altLang="en-US" smtClean="0"/>
              <a:t>40</a:t>
            </a:fld>
            <a:endParaRPr lang="zh-CN" altLang="en-US"/>
          </a:p>
        </p:txBody>
      </p:sp>
    </p:spTree>
    <p:extLst>
      <p:ext uri="{BB962C8B-B14F-4D97-AF65-F5344CB8AC3E}">
        <p14:creationId xmlns:p14="http://schemas.microsoft.com/office/powerpoint/2010/main" val="28265494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45</a:t>
            </a:fld>
            <a:endParaRPr lang="zh-CN" altLang="en-US"/>
          </a:p>
        </p:txBody>
      </p:sp>
    </p:spTree>
    <p:extLst>
      <p:ext uri="{BB962C8B-B14F-4D97-AF65-F5344CB8AC3E}">
        <p14:creationId xmlns:p14="http://schemas.microsoft.com/office/powerpoint/2010/main" val="14996248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46</a:t>
            </a:fld>
            <a:endParaRPr lang="zh-CN" altLang="en-US"/>
          </a:p>
        </p:txBody>
      </p:sp>
    </p:spTree>
    <p:extLst>
      <p:ext uri="{BB962C8B-B14F-4D97-AF65-F5344CB8AC3E}">
        <p14:creationId xmlns:p14="http://schemas.microsoft.com/office/powerpoint/2010/main" val="4157253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47</a:t>
            </a:fld>
            <a:endParaRPr lang="zh-CN" altLang="en-US"/>
          </a:p>
        </p:txBody>
      </p:sp>
    </p:spTree>
    <p:extLst>
      <p:ext uri="{BB962C8B-B14F-4D97-AF65-F5344CB8AC3E}">
        <p14:creationId xmlns:p14="http://schemas.microsoft.com/office/powerpoint/2010/main" val="1217801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285D5D6-4E3F-411C-8722-AE80321700F2}" type="slidenum">
              <a:rPr lang="zh-CN" altLang="en-US" smtClean="0"/>
              <a:t>49</a:t>
            </a:fld>
            <a:endParaRPr lang="zh-CN" altLang="en-US"/>
          </a:p>
        </p:txBody>
      </p:sp>
    </p:spTree>
    <p:extLst>
      <p:ext uri="{BB962C8B-B14F-4D97-AF65-F5344CB8AC3E}">
        <p14:creationId xmlns:p14="http://schemas.microsoft.com/office/powerpoint/2010/main" val="29589472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sz="1200" kern="1200" dirty="0">
                <a:solidFill>
                  <a:schemeClr val="tx1"/>
                </a:solidFill>
                <a:effectLst/>
                <a:latin typeface="+mn-lt"/>
                <a:ea typeface="+mn-ea"/>
                <a:cs typeface="+mn-cs"/>
              </a:rPr>
              <a:t>下面我们来讲</a:t>
            </a:r>
            <a:r>
              <a:rPr lang="en-US" altLang="zh-CN"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算法，首先总结一下</a:t>
            </a:r>
            <a:r>
              <a:rPr lang="en-US" altLang="zh-CN" sz="1200" kern="1200" dirty="0" err="1">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的区别，然后我们来一步步看一下这些区别或者说是特点在</a:t>
            </a:r>
            <a:r>
              <a:rPr lang="en-US" altLang="zh-CN"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中的作用。</a:t>
            </a:r>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50</a:t>
            </a:fld>
            <a:endParaRPr lang="zh-CN" altLang="en-US"/>
          </a:p>
        </p:txBody>
      </p:sp>
    </p:spTree>
    <p:extLst>
      <p:ext uri="{BB962C8B-B14F-4D97-AF65-F5344CB8AC3E}">
        <p14:creationId xmlns:p14="http://schemas.microsoft.com/office/powerpoint/2010/main" val="21305222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sz="1200" dirty="0">
                <a:solidFill>
                  <a:srgbClr val="C00000"/>
                </a:solidFill>
              </a:rPr>
              <a:t>Gradient Boosting</a:t>
            </a:r>
            <a:r>
              <a:rPr lang="zh-CN" altLang="en-US" sz="1200" dirty="0">
                <a:solidFill>
                  <a:srgbClr val="4D4D4D"/>
                </a:solidFill>
                <a:latin typeface="-apple-system"/>
              </a:rPr>
              <a:t> </a:t>
            </a:r>
            <a:r>
              <a:rPr lang="zh-CN" altLang="en-US" sz="1200" dirty="0">
                <a:latin typeface="-apple-system"/>
              </a:rPr>
              <a:t>是提升树（</a:t>
            </a:r>
            <a:r>
              <a:rPr lang="en-GB" sz="1200" dirty="0">
                <a:latin typeface="-apple-system"/>
              </a:rPr>
              <a:t>Boosting Tree）</a:t>
            </a:r>
            <a:r>
              <a:rPr lang="zh-CN" altLang="en-US" sz="1200" dirty="0">
                <a:latin typeface="-apple-system"/>
              </a:rPr>
              <a:t>的一种改进算法，因此我们要先了解提升数算法。可以看到，</a:t>
            </a:r>
            <a:r>
              <a:rPr lang="zh-CN" altLang="en-US" sz="1200" b="0" i="0" kern="1200" dirty="0">
                <a:solidFill>
                  <a:schemeClr val="tx1"/>
                </a:solidFill>
                <a:effectLst/>
                <a:latin typeface="+mn-lt"/>
                <a:ea typeface="+mn-ea"/>
                <a:cs typeface="+mn-cs"/>
              </a:rPr>
              <a:t>提升树只需要简单地拟合当前模型的残差便可以形成强学习器。</a:t>
            </a:r>
            <a:endParaRPr lang="en-CN" sz="1200" dirty="0">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51</a:t>
            </a:fld>
            <a:endParaRPr lang="zh-CN" altLang="en-US"/>
          </a:p>
        </p:txBody>
      </p:sp>
    </p:spTree>
    <p:extLst>
      <p:ext uri="{BB962C8B-B14F-4D97-AF65-F5344CB8AC3E}">
        <p14:creationId xmlns:p14="http://schemas.microsoft.com/office/powerpoint/2010/main" val="900369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想要理解</a:t>
            </a:r>
            <a:r>
              <a:rPr lang="en-GB" sz="1200" b="0" i="0" kern="1200" dirty="0">
                <a:solidFill>
                  <a:schemeClr val="tx1"/>
                </a:solidFill>
                <a:effectLst/>
                <a:latin typeface="+mn-lt"/>
                <a:ea typeface="+mn-ea"/>
                <a:cs typeface="+mn-cs"/>
              </a:rPr>
              <a:t>GBDT</a:t>
            </a:r>
            <a:r>
              <a:rPr lang="zh-CN" altLang="en-US" sz="1200" b="0" i="0" kern="1200" dirty="0">
                <a:solidFill>
                  <a:schemeClr val="tx1"/>
                </a:solidFill>
                <a:effectLst/>
                <a:latin typeface="+mn-lt"/>
                <a:ea typeface="+mn-ea"/>
                <a:cs typeface="+mn-cs"/>
              </a:rPr>
              <a:t>的真正意义，那就必须理解</a:t>
            </a:r>
            <a:r>
              <a:rPr lang="en-GB" sz="1200" b="0" i="0" kern="1200" dirty="0">
                <a:solidFill>
                  <a:schemeClr val="tx1"/>
                </a:solidFill>
                <a:effectLst/>
                <a:latin typeface="+mn-lt"/>
                <a:ea typeface="+mn-ea"/>
                <a:cs typeface="+mn-cs"/>
              </a:rPr>
              <a:t>GBDT</a:t>
            </a:r>
            <a:r>
              <a:rPr lang="zh-CN" altLang="en-US" sz="1200" b="0" i="0" kern="1200" dirty="0">
                <a:solidFill>
                  <a:schemeClr val="tx1"/>
                </a:solidFill>
                <a:effectLst/>
                <a:latin typeface="+mn-lt"/>
                <a:ea typeface="+mn-ea"/>
                <a:cs typeface="+mn-cs"/>
              </a:rPr>
              <a:t>中的</a:t>
            </a:r>
            <a:r>
              <a:rPr lang="en-GB" sz="1200" b="0" i="0" kern="1200" dirty="0">
                <a:solidFill>
                  <a:schemeClr val="tx1"/>
                </a:solidFill>
                <a:effectLst/>
                <a:latin typeface="+mn-lt"/>
                <a:ea typeface="+mn-ea"/>
                <a:cs typeface="+mn-cs"/>
              </a:rPr>
              <a:t>Gradient Boosting </a:t>
            </a:r>
            <a:r>
              <a:rPr lang="zh-CN" altLang="en-US" sz="1200" b="0" i="0" kern="1200" dirty="0">
                <a:solidFill>
                  <a:schemeClr val="tx1"/>
                </a:solidFill>
                <a:effectLst/>
                <a:latin typeface="+mn-lt"/>
                <a:ea typeface="+mn-ea"/>
                <a:cs typeface="+mn-cs"/>
              </a:rPr>
              <a:t>和</a:t>
            </a:r>
            <a:r>
              <a:rPr lang="en-GB" sz="1200" b="0" i="0" kern="1200" dirty="0">
                <a:solidFill>
                  <a:schemeClr val="tx1"/>
                </a:solidFill>
                <a:effectLst/>
                <a:latin typeface="+mn-lt"/>
                <a:ea typeface="+mn-ea"/>
                <a:cs typeface="+mn-cs"/>
              </a:rPr>
              <a:t>Decision Tree</a:t>
            </a:r>
            <a:r>
              <a:rPr lang="zh-CN" altLang="en-US" sz="1200" b="0" i="0" kern="1200" dirty="0">
                <a:solidFill>
                  <a:schemeClr val="tx1"/>
                </a:solidFill>
                <a:effectLst/>
                <a:latin typeface="+mn-lt"/>
                <a:ea typeface="+mn-ea"/>
                <a:cs typeface="+mn-cs"/>
              </a:rPr>
              <a:t>分别是什么。首先我们这里考虑决策树是一颗回归树。使用分类树的情况其实是</a:t>
            </a:r>
            <a:r>
              <a:rPr lang="en-US" altLang="zh-CN" sz="1200" b="0" i="0" kern="1200" dirty="0" err="1">
                <a:solidFill>
                  <a:schemeClr val="tx1"/>
                </a:solidFill>
                <a:effectLst/>
                <a:latin typeface="+mn-lt"/>
                <a:ea typeface="+mn-ea"/>
                <a:cs typeface="+mn-cs"/>
              </a:rPr>
              <a:t>Adaboost</a:t>
            </a:r>
            <a:r>
              <a:rPr lang="zh-CN" altLang="en-US" sz="1200" b="0" i="0" kern="1200" dirty="0">
                <a:solidFill>
                  <a:schemeClr val="tx1"/>
                </a:solidFill>
                <a:effectLst/>
                <a:latin typeface="+mn-lt"/>
                <a:ea typeface="+mn-ea"/>
                <a:cs typeface="+mn-cs"/>
              </a:rPr>
              <a:t>的一种特殊情况（</a:t>
            </a:r>
            <a:r>
              <a:rPr lang="en-US" altLang="zh-CN" sz="1200" b="0" i="0" kern="1200" dirty="0">
                <a:solidFill>
                  <a:schemeClr val="tx1"/>
                </a:solidFill>
                <a:effectLst/>
                <a:latin typeface="+mn-lt"/>
                <a:ea typeface="+mn-ea"/>
                <a:cs typeface="+mn-cs"/>
              </a:rPr>
              <a:t>ALPHA=1</a:t>
            </a:r>
            <a:r>
              <a:rPr lang="zh-CN" altLang="en-US" sz="1200" b="0" i="0" kern="1200" dirty="0">
                <a:solidFill>
                  <a:schemeClr val="tx1"/>
                </a:solidFill>
                <a:effectLst/>
                <a:latin typeface="+mn-lt"/>
                <a:ea typeface="+mn-ea"/>
                <a:cs typeface="+mn-cs"/>
              </a:rPr>
              <a:t>，且为</a:t>
            </a:r>
            <a:r>
              <a:rPr lang="en-US" altLang="zh-CN" sz="1200" b="0" i="0" kern="1200" dirty="0">
                <a:solidFill>
                  <a:schemeClr val="tx1"/>
                </a:solidFill>
                <a:effectLst/>
                <a:latin typeface="+mn-lt"/>
                <a:ea typeface="+mn-ea"/>
                <a:cs typeface="+mn-cs"/>
              </a:rPr>
              <a:t>depth=1</a:t>
            </a:r>
            <a:r>
              <a:rPr lang="zh-CN" altLang="en-US" sz="1200" b="0" i="0" kern="1200" dirty="0">
                <a:solidFill>
                  <a:schemeClr val="tx1"/>
                </a:solidFill>
                <a:effectLst/>
                <a:latin typeface="+mn-lt"/>
                <a:ea typeface="+mn-ea"/>
                <a:cs typeface="+mn-cs"/>
              </a:rPr>
              <a:t>的二叉树），这里不做介绍。首先我们回顾上节课讲的</a:t>
            </a:r>
            <a:r>
              <a:rPr lang="en-US" altLang="zh-CN" sz="1200" b="0" i="0" kern="1200" dirty="0">
                <a:solidFill>
                  <a:schemeClr val="tx1"/>
                </a:solidFill>
                <a:effectLst/>
                <a:latin typeface="+mn-lt"/>
                <a:ea typeface="+mn-ea"/>
                <a:cs typeface="+mn-cs"/>
              </a:rPr>
              <a:t>Decision</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tree</a:t>
            </a:r>
            <a:r>
              <a:rPr lang="zh-CN" altLang="en-US" sz="1200" b="0" i="0" kern="1200" dirty="0">
                <a:solidFill>
                  <a:schemeClr val="tx1"/>
                </a:solidFill>
                <a:effectLst/>
                <a:latin typeface="+mn-lt"/>
                <a:ea typeface="+mn-ea"/>
                <a:cs typeface="+mn-cs"/>
              </a:rPr>
              <a:t>。</a:t>
            </a:r>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52</a:t>
            </a:fld>
            <a:endParaRPr lang="zh-CN" altLang="en-US"/>
          </a:p>
        </p:txBody>
      </p:sp>
    </p:spTree>
    <p:extLst>
      <p:ext uri="{BB962C8B-B14F-4D97-AF65-F5344CB8AC3E}">
        <p14:creationId xmlns:p14="http://schemas.microsoft.com/office/powerpoint/2010/main" val="23190524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sz="1200" kern="1200" dirty="0">
                <a:solidFill>
                  <a:schemeClr val="tx1"/>
                </a:solidFill>
                <a:effectLst/>
                <a:latin typeface="+mn-lt"/>
                <a:ea typeface="+mn-ea"/>
                <a:cs typeface="+mn-cs"/>
              </a:rPr>
              <a:t>回归树的算法归纳</a:t>
            </a:r>
            <a:r>
              <a:rPr lang="zh-CN" altLang="en-US" sz="1200" kern="1200" dirty="0">
                <a:solidFill>
                  <a:schemeClr val="tx1"/>
                </a:solidFill>
                <a:effectLst/>
                <a:latin typeface="+mn-lt"/>
                <a:ea typeface="+mn-ea"/>
                <a:cs typeface="+mn-cs"/>
              </a:rPr>
              <a:t>，对于刚才的例子，假设我们的树只有一个树桩，我们可以计算得到一颗回归树。</a:t>
            </a:r>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53</a:t>
            </a:fld>
            <a:endParaRPr lang="zh-CN" altLang="en-US"/>
          </a:p>
        </p:txBody>
      </p:sp>
    </p:spTree>
    <p:extLst>
      <p:ext uri="{BB962C8B-B14F-4D97-AF65-F5344CB8AC3E}">
        <p14:creationId xmlns:p14="http://schemas.microsoft.com/office/powerpoint/2010/main" val="10565195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sz="1200" dirty="0">
                <a:solidFill>
                  <a:srgbClr val="C00000"/>
                </a:solidFill>
              </a:rPr>
              <a:t>举例</a:t>
            </a:r>
            <a:endParaRPr lang="en-CN" sz="1200" dirty="0">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54</a:t>
            </a:fld>
            <a:endParaRPr lang="zh-CN" altLang="en-US"/>
          </a:p>
        </p:txBody>
      </p:sp>
    </p:spTree>
    <p:extLst>
      <p:ext uri="{BB962C8B-B14F-4D97-AF65-F5344CB8AC3E}">
        <p14:creationId xmlns:p14="http://schemas.microsoft.com/office/powerpoint/2010/main" val="31298114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sz="1200" dirty="0">
                <a:solidFill>
                  <a:srgbClr val="C00000"/>
                </a:solidFill>
              </a:rPr>
              <a:t>举例</a:t>
            </a:r>
            <a:endParaRPr lang="en-CN" sz="1200" dirty="0">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55</a:t>
            </a:fld>
            <a:endParaRPr lang="zh-CN" altLang="en-US"/>
          </a:p>
        </p:txBody>
      </p:sp>
    </p:spTree>
    <p:extLst>
      <p:ext uri="{BB962C8B-B14F-4D97-AF65-F5344CB8AC3E}">
        <p14:creationId xmlns:p14="http://schemas.microsoft.com/office/powerpoint/2010/main" val="11736552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sz="1200" dirty="0">
                <a:solidFill>
                  <a:srgbClr val="C00000"/>
                </a:solidFill>
              </a:rPr>
              <a:t>举例</a:t>
            </a:r>
            <a:endParaRPr lang="en-CN" sz="1200" dirty="0">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56</a:t>
            </a:fld>
            <a:endParaRPr lang="zh-CN" altLang="en-US"/>
          </a:p>
        </p:txBody>
      </p:sp>
    </p:spTree>
    <p:extLst>
      <p:ext uri="{BB962C8B-B14F-4D97-AF65-F5344CB8AC3E}">
        <p14:creationId xmlns:p14="http://schemas.microsoft.com/office/powerpoint/2010/main" val="42460492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apple-system"/>
              </a:rPr>
              <a:t>通过上面的例子，我们再看一下提升树算法，可以看到，这段伪代码中有一个残差，我们新的树就是去拟合这一个残差，这是因为平方损失函数的负梯度恰好为残差。</a:t>
            </a:r>
            <a:endParaRPr lang="en-CN" sz="1200" dirty="0">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57</a:t>
            </a:fld>
            <a:endParaRPr lang="zh-CN" altLang="en-US"/>
          </a:p>
        </p:txBody>
      </p:sp>
    </p:spTree>
    <p:extLst>
      <p:ext uri="{BB962C8B-B14F-4D97-AF65-F5344CB8AC3E}">
        <p14:creationId xmlns:p14="http://schemas.microsoft.com/office/powerpoint/2010/main" val="12603794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CN" sz="1200" dirty="0">
              <a:latin typeface="+mn-ea"/>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58</a:t>
            </a:fld>
            <a:endParaRPr lang="zh-CN" altLang="en-US"/>
          </a:p>
        </p:txBody>
      </p:sp>
    </p:spTree>
    <p:extLst>
      <p:ext uri="{BB962C8B-B14F-4D97-AF65-F5344CB8AC3E}">
        <p14:creationId xmlns:p14="http://schemas.microsoft.com/office/powerpoint/2010/main" val="1322793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首先总结一下</a:t>
            </a:r>
            <a:r>
              <a:rPr lang="en-US" altLang="zh-CN" sz="1200" kern="1200" dirty="0" err="1">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的区别，然后我们来一步步看一下这些区别或者说是特点在</a:t>
            </a:r>
            <a:r>
              <a:rPr lang="en-US" altLang="zh-CN"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中的作用。</a:t>
            </a:r>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59</a:t>
            </a:fld>
            <a:endParaRPr lang="zh-CN" altLang="en-US"/>
          </a:p>
        </p:txBody>
      </p:sp>
    </p:spTree>
    <p:extLst>
      <p:ext uri="{BB962C8B-B14F-4D97-AF65-F5344CB8AC3E}">
        <p14:creationId xmlns:p14="http://schemas.microsoft.com/office/powerpoint/2010/main" val="32983789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CN" sz="1200" kern="1200" dirty="0">
                <a:solidFill>
                  <a:schemeClr val="tx1"/>
                </a:solidFill>
                <a:effectLst/>
                <a:latin typeface="+mn-lt"/>
                <a:ea typeface="+mn-ea"/>
                <a:cs typeface="+mn-cs"/>
              </a:rPr>
              <a:t>选</a:t>
            </a:r>
            <a:r>
              <a:rPr lang="en-US" altLang="zh-CN" sz="1200" kern="1200" dirty="0">
                <a:solidFill>
                  <a:schemeClr val="tx1"/>
                </a:solidFill>
                <a:effectLst/>
                <a:latin typeface="+mn-lt"/>
                <a:ea typeface="+mn-ea"/>
                <a:cs typeface="+mn-cs"/>
              </a:rPr>
              <a:t>B</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en-US" sz="1200" kern="1200" dirty="0">
                <a:solidFill>
                  <a:schemeClr val="tx1"/>
                </a:solidFill>
                <a:effectLst/>
                <a:latin typeface="+mn-lt"/>
                <a:ea typeface="+mn-ea"/>
                <a:cs typeface="+mn-cs"/>
              </a:rPr>
              <a:t>是</a:t>
            </a:r>
            <a:r>
              <a:rPr lang="en-US" altLang="zh-CN" sz="1200" kern="1200" dirty="0" err="1">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的特点</a:t>
            </a:r>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60</a:t>
            </a:fld>
            <a:endParaRPr lang="zh-CN" altLang="en-US"/>
          </a:p>
        </p:txBody>
      </p:sp>
    </p:spTree>
    <p:extLst>
      <p:ext uri="{BB962C8B-B14F-4D97-AF65-F5344CB8AC3E}">
        <p14:creationId xmlns:p14="http://schemas.microsoft.com/office/powerpoint/2010/main" val="8429701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在</a:t>
            </a:r>
            <a:r>
              <a:rPr lang="en-US" sz="1200" kern="1200" dirty="0">
                <a:solidFill>
                  <a:schemeClr val="tx1"/>
                </a:solidFill>
                <a:effectLst/>
                <a:latin typeface="+mn-lt"/>
                <a:ea typeface="+mn-ea"/>
                <a:cs typeface="+mn-cs"/>
              </a:rPr>
              <a:t>Bagging</a:t>
            </a:r>
            <a:r>
              <a:rPr lang="zh-CN" altLang="en-US" sz="1200" kern="1200" dirty="0">
                <a:solidFill>
                  <a:schemeClr val="tx1"/>
                </a:solidFill>
                <a:effectLst/>
                <a:latin typeface="+mn-lt"/>
                <a:ea typeface="+mn-ea"/>
                <a:cs typeface="+mn-cs"/>
              </a:rPr>
              <a:t>的章节中，我们讲到了根据基分类器的生成方式，一种是并行集成的方法，也就是</a:t>
            </a:r>
            <a:r>
              <a:rPr lang="en-US" sz="1200" kern="1200" dirty="0">
                <a:solidFill>
                  <a:schemeClr val="tx1"/>
                </a:solidFill>
                <a:effectLst/>
                <a:latin typeface="+mn-lt"/>
                <a:ea typeface="+mn-ea"/>
                <a:cs typeface="+mn-cs"/>
              </a:rPr>
              <a:t>Bagging, </a:t>
            </a:r>
            <a:r>
              <a:rPr lang="zh-CN" altLang="en-US" sz="1200" kern="1200" dirty="0">
                <a:solidFill>
                  <a:schemeClr val="tx1"/>
                </a:solidFill>
                <a:effectLst/>
                <a:latin typeface="+mn-lt"/>
                <a:ea typeface="+mn-ea"/>
                <a:cs typeface="+mn-cs"/>
              </a:rPr>
              <a:t>而另一种便是现在要讨论的 “串行生成基分类器”的串行集成方法。串行集成算法以</a:t>
            </a:r>
            <a:r>
              <a:rPr lang="en-US" sz="1200" kern="1200" dirty="0" err="1">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XGBoost</a:t>
            </a:r>
            <a:r>
              <a:rPr lang="zh-CN" altLang="en-US" sz="1200" kern="1200" dirty="0">
                <a:solidFill>
                  <a:schemeClr val="tx1"/>
                </a:solidFill>
                <a:effectLst/>
                <a:latin typeface="+mn-lt"/>
                <a:ea typeface="+mn-ea"/>
                <a:cs typeface="+mn-cs"/>
              </a:rPr>
              <a:t>等算法为代表</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我们一步一步来讨论这些算法。</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61</a:t>
            </a:fld>
            <a:endParaRPr lang="zh-CN" altLang="en-US"/>
          </a:p>
        </p:txBody>
      </p:sp>
    </p:spTree>
    <p:extLst>
      <p:ext uri="{BB962C8B-B14F-4D97-AF65-F5344CB8AC3E}">
        <p14:creationId xmlns:p14="http://schemas.microsoft.com/office/powerpoint/2010/main" val="40849715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CN" sz="1200" kern="1200" dirty="0">
                <a:solidFill>
                  <a:schemeClr val="tx1"/>
                </a:solidFill>
                <a:effectLst/>
                <a:latin typeface="+mn-lt"/>
                <a:ea typeface="+mn-ea"/>
                <a:cs typeface="+mn-cs"/>
              </a:rPr>
              <a:t>之后的</a:t>
            </a:r>
            <a:r>
              <a:rPr lang="en-US" altLang="zh-CN" sz="1200" kern="1200" dirty="0">
                <a:solidFill>
                  <a:schemeClr val="tx1"/>
                </a:solidFill>
                <a:effectLst/>
                <a:latin typeface="+mn-lt"/>
                <a:ea typeface="+mn-ea"/>
                <a:cs typeface="+mn-cs"/>
              </a:rPr>
              <a:t>boosting</a:t>
            </a:r>
            <a:r>
              <a:rPr lang="zh-CN" altLang="en-US" sz="1200" kern="1200" dirty="0">
                <a:solidFill>
                  <a:schemeClr val="tx1"/>
                </a:solidFill>
                <a:effectLst/>
                <a:latin typeface="+mn-lt"/>
                <a:ea typeface="+mn-ea"/>
                <a:cs typeface="+mn-cs"/>
              </a:rPr>
              <a:t>算法都是基于</a:t>
            </a:r>
            <a:r>
              <a:rPr lang="en-US" altLang="zh-CN" sz="1200" kern="1200" dirty="0" err="1">
                <a:solidFill>
                  <a:schemeClr val="tx1"/>
                </a:solidFill>
                <a:effectLst/>
                <a:latin typeface="+mn-lt"/>
                <a:ea typeface="+mn-ea"/>
                <a:cs typeface="+mn-cs"/>
              </a:rPr>
              <a:t>Adaboost</a:t>
            </a:r>
            <a:r>
              <a:rPr lang="zh-CN" altLang="en-US" sz="1200" kern="1200" dirty="0">
                <a:solidFill>
                  <a:schemeClr val="tx1"/>
                </a:solidFill>
                <a:effectLst/>
                <a:latin typeface="+mn-lt"/>
                <a:ea typeface="+mn-ea"/>
                <a:cs typeface="+mn-cs"/>
              </a:rPr>
              <a:t>的改进，在学习</a:t>
            </a:r>
            <a:r>
              <a:rPr lang="en-US" altLang="zh-CN" sz="1200" kern="1200" dirty="0">
                <a:solidFill>
                  <a:schemeClr val="tx1"/>
                </a:solidFill>
                <a:effectLst/>
                <a:latin typeface="+mn-lt"/>
                <a:ea typeface="+mn-ea"/>
                <a:cs typeface="+mn-cs"/>
              </a:rPr>
              <a:t>GBDT</a:t>
            </a:r>
            <a:r>
              <a:rPr lang="zh-CN" altLang="en-US" sz="1200" kern="1200" dirty="0">
                <a:solidFill>
                  <a:schemeClr val="tx1"/>
                </a:solidFill>
                <a:effectLst/>
                <a:latin typeface="+mn-lt"/>
                <a:ea typeface="+mn-ea"/>
                <a:cs typeface="+mn-cs"/>
              </a:rPr>
              <a:t>和</a:t>
            </a:r>
            <a:r>
              <a:rPr lang="en-US" altLang="zh-CN" sz="1200" kern="1200" dirty="0" err="1">
                <a:solidFill>
                  <a:schemeClr val="tx1"/>
                </a:solidFill>
                <a:effectLst/>
                <a:latin typeface="+mn-lt"/>
                <a:ea typeface="+mn-ea"/>
                <a:cs typeface="+mn-cs"/>
              </a:rPr>
              <a:t>XGBoost</a:t>
            </a:r>
            <a:r>
              <a:rPr lang="zh-CN" altLang="en-US" sz="1200" kern="1200" dirty="0">
                <a:solidFill>
                  <a:schemeClr val="tx1"/>
                </a:solidFill>
                <a:effectLst/>
                <a:latin typeface="+mn-lt"/>
                <a:ea typeface="+mn-ea"/>
                <a:cs typeface="+mn-cs"/>
              </a:rPr>
              <a:t>之前，我们根据刚才学的串行和并行集成方法，总结一下他们的区别和共同点。</a:t>
            </a:r>
            <a:endParaRPr lang="en-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E285D5D6-4E3F-411C-8722-AE80321700F2}" type="slidenum">
              <a:rPr lang="zh-CN" altLang="en-US" smtClean="0"/>
              <a:t>62</a:t>
            </a:fld>
            <a:endParaRPr lang="zh-CN" altLang="en-US"/>
          </a:p>
        </p:txBody>
      </p:sp>
    </p:spTree>
    <p:extLst>
      <p:ext uri="{BB962C8B-B14F-4D97-AF65-F5344CB8AC3E}">
        <p14:creationId xmlns:p14="http://schemas.microsoft.com/office/powerpoint/2010/main" val="4982991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285D5D6-4E3F-411C-8722-AE80321700F2}" type="slidenum">
              <a:rPr lang="zh-CN" altLang="en-US" smtClean="0"/>
              <a:t>63</a:t>
            </a:fld>
            <a:endParaRPr lang="zh-CN" altLang="en-US"/>
          </a:p>
        </p:txBody>
      </p:sp>
    </p:spTree>
    <p:extLst>
      <p:ext uri="{BB962C8B-B14F-4D97-AF65-F5344CB8AC3E}">
        <p14:creationId xmlns:p14="http://schemas.microsoft.com/office/powerpoint/2010/main" val="351437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1" name="图片占位符 10">
            <a:extLst>
              <a:ext uri="{FF2B5EF4-FFF2-40B4-BE49-F238E27FC236}">
                <a16:creationId xmlns:a16="http://schemas.microsoft.com/office/drawing/2014/main" id="{73DD5BA4-EB39-4204-B78A-8A1CBA10FBE2}"/>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a:ln w="31750">
            <a:noFill/>
          </a:ln>
        </p:spPr>
        <p:txBody>
          <a:bodyPr wrap="square">
            <a:noAutofit/>
          </a:bodyPr>
          <a:lstStyle/>
          <a:p>
            <a:endParaRPr lang="zh-CN" altLang="en-US"/>
          </a:p>
        </p:txBody>
      </p:sp>
      <p:grpSp>
        <p:nvGrpSpPr>
          <p:cNvPr id="2" name="组合 1">
            <a:extLst>
              <a:ext uri="{FF2B5EF4-FFF2-40B4-BE49-F238E27FC236}">
                <a16:creationId xmlns:a16="http://schemas.microsoft.com/office/drawing/2014/main" id="{9F84E10C-5835-44E0-9170-E090AE115F22}"/>
              </a:ext>
            </a:extLst>
          </p:cNvPr>
          <p:cNvGrpSpPr/>
          <p:nvPr userDrawn="1"/>
        </p:nvGrpSpPr>
        <p:grpSpPr>
          <a:xfrm>
            <a:off x="660400" y="478901"/>
            <a:ext cx="2073175" cy="454750"/>
            <a:chOff x="660400" y="478901"/>
            <a:chExt cx="2073175" cy="454750"/>
          </a:xfrm>
        </p:grpSpPr>
        <p:grpSp>
          <p:nvGrpSpPr>
            <p:cNvPr id="18" name="组合 17">
              <a:extLst>
                <a:ext uri="{FF2B5EF4-FFF2-40B4-BE49-F238E27FC236}">
                  <a16:creationId xmlns:a16="http://schemas.microsoft.com/office/drawing/2014/main" id="{011451AC-ED32-4E1D-B9AE-65AEE348573C}"/>
                </a:ext>
              </a:extLst>
            </p:cNvPr>
            <p:cNvGrpSpPr/>
            <p:nvPr/>
          </p:nvGrpSpPr>
          <p:grpSpPr>
            <a:xfrm>
              <a:off x="1398488" y="519026"/>
              <a:ext cx="1335087" cy="374499"/>
              <a:chOff x="10078451" y="394099"/>
              <a:chExt cx="1440449" cy="387474"/>
            </a:xfrm>
            <a:solidFill>
              <a:srgbClr val="E60012"/>
            </a:solidFill>
          </p:grpSpPr>
          <p:sp>
            <p:nvSpPr>
              <p:cNvPr id="83" name="ïṡľïďè">
                <a:extLst>
                  <a:ext uri="{FF2B5EF4-FFF2-40B4-BE49-F238E27FC236}">
                    <a16:creationId xmlns:a16="http://schemas.microsoft.com/office/drawing/2014/main" id="{C2A2D891-D994-4B2A-ADC5-752BB1D940BC}"/>
                  </a:ext>
                </a:extLst>
              </p:cNvPr>
              <p:cNvSpPr/>
              <p:nvPr/>
            </p:nvSpPr>
            <p:spPr bwMode="auto">
              <a:xfrm>
                <a:off x="10078451" y="394099"/>
                <a:ext cx="1433740" cy="292284"/>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grpFill/>
              <a:ln>
                <a:noFill/>
              </a:ln>
            </p:spPr>
            <p:txBody>
              <a:bodyPr anchor="ctr"/>
              <a:lstStyle/>
              <a:p>
                <a:pPr algn="ctr"/>
                <a:endParaRPr/>
              </a:p>
            </p:txBody>
          </p:sp>
          <p:sp>
            <p:nvSpPr>
              <p:cNvPr id="84" name="iṩḻîḑè">
                <a:extLst>
                  <a:ext uri="{FF2B5EF4-FFF2-40B4-BE49-F238E27FC236}">
                    <a16:creationId xmlns:a16="http://schemas.microsoft.com/office/drawing/2014/main" id="{5988883C-2BE9-405D-A778-D104319E18C8}"/>
                  </a:ext>
                </a:extLst>
              </p:cNvPr>
              <p:cNvSpPr/>
              <p:nvPr/>
            </p:nvSpPr>
            <p:spPr bwMode="auto">
              <a:xfrm>
                <a:off x="10109901" y="721607"/>
                <a:ext cx="36902" cy="46547"/>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grpFill/>
              <a:ln>
                <a:noFill/>
              </a:ln>
            </p:spPr>
            <p:txBody>
              <a:bodyPr anchor="ctr"/>
              <a:lstStyle/>
              <a:p>
                <a:pPr algn="ctr"/>
                <a:endParaRPr/>
              </a:p>
            </p:txBody>
          </p:sp>
          <p:sp>
            <p:nvSpPr>
              <p:cNvPr id="85" name="íṥḻïďê">
                <a:extLst>
                  <a:ext uri="{FF2B5EF4-FFF2-40B4-BE49-F238E27FC236}">
                    <a16:creationId xmlns:a16="http://schemas.microsoft.com/office/drawing/2014/main" id="{CCCA5068-A45B-4545-9C5A-451B5A64F3AA}"/>
                  </a:ext>
                </a:extLst>
              </p:cNvPr>
              <p:cNvSpPr/>
              <p:nvPr/>
            </p:nvSpPr>
            <p:spPr bwMode="auto">
              <a:xfrm>
                <a:off x="10156029" y="734187"/>
                <a:ext cx="27258" cy="34386"/>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grpFill/>
              <a:ln>
                <a:noFill/>
              </a:ln>
            </p:spPr>
            <p:txBody>
              <a:bodyPr anchor="ctr"/>
              <a:lstStyle/>
              <a:p>
                <a:pPr algn="ctr"/>
                <a:endParaRPr/>
              </a:p>
            </p:txBody>
          </p:sp>
          <p:sp>
            <p:nvSpPr>
              <p:cNvPr id="86" name="íşlíḋè">
                <a:extLst>
                  <a:ext uri="{FF2B5EF4-FFF2-40B4-BE49-F238E27FC236}">
                    <a16:creationId xmlns:a16="http://schemas.microsoft.com/office/drawing/2014/main" id="{27146E29-9384-4A9C-8FA0-60343EEF3D8A}"/>
                  </a:ext>
                </a:extLst>
              </p:cNvPr>
              <p:cNvSpPr/>
              <p:nvPr/>
            </p:nvSpPr>
            <p:spPr bwMode="auto">
              <a:xfrm>
                <a:off x="10189996"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87" name="ïṣlíďe">
                <a:extLst>
                  <a:ext uri="{FF2B5EF4-FFF2-40B4-BE49-F238E27FC236}">
                    <a16:creationId xmlns:a16="http://schemas.microsoft.com/office/drawing/2014/main" id="{19A4C7AB-7584-4E06-9096-ECD2D5C0FDF7}"/>
                  </a:ext>
                </a:extLst>
              </p:cNvPr>
              <p:cNvSpPr/>
              <p:nvPr/>
            </p:nvSpPr>
            <p:spPr bwMode="auto">
              <a:xfrm>
                <a:off x="10225640" y="734187"/>
                <a:ext cx="28515" cy="33967"/>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grpFill/>
              <a:ln>
                <a:noFill/>
              </a:ln>
            </p:spPr>
            <p:txBody>
              <a:bodyPr anchor="ctr"/>
              <a:lstStyle/>
              <a:p>
                <a:pPr algn="ctr"/>
                <a:endParaRPr/>
              </a:p>
            </p:txBody>
          </p:sp>
          <p:sp>
            <p:nvSpPr>
              <p:cNvPr id="88" name="íṧľîḑe">
                <a:extLst>
                  <a:ext uri="{FF2B5EF4-FFF2-40B4-BE49-F238E27FC236}">
                    <a16:creationId xmlns:a16="http://schemas.microsoft.com/office/drawing/2014/main" id="{357292CA-AAF9-4946-87AE-8A5E709BFC47}"/>
                  </a:ext>
                </a:extLst>
              </p:cNvPr>
              <p:cNvSpPr/>
              <p:nvPr/>
            </p:nvSpPr>
            <p:spPr bwMode="auto">
              <a:xfrm>
                <a:off x="10260446" y="721607"/>
                <a:ext cx="27677"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grpFill/>
              <a:ln>
                <a:noFill/>
              </a:ln>
            </p:spPr>
            <p:txBody>
              <a:bodyPr anchor="ctr"/>
              <a:lstStyle/>
              <a:p>
                <a:pPr algn="ctr"/>
                <a:endParaRPr/>
              </a:p>
            </p:txBody>
          </p:sp>
          <p:sp>
            <p:nvSpPr>
              <p:cNvPr id="89" name="išliḍé">
                <a:extLst>
                  <a:ext uri="{FF2B5EF4-FFF2-40B4-BE49-F238E27FC236}">
                    <a16:creationId xmlns:a16="http://schemas.microsoft.com/office/drawing/2014/main" id="{0DF1B33A-A4CE-403C-9FF7-EDA0F9FE0FE3}"/>
                  </a:ext>
                </a:extLst>
              </p:cNvPr>
              <p:cNvSpPr/>
              <p:nvPr/>
            </p:nvSpPr>
            <p:spPr bwMode="auto">
              <a:xfrm>
                <a:off x="10294413"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grpFill/>
              <a:ln>
                <a:noFill/>
              </a:ln>
            </p:spPr>
            <p:txBody>
              <a:bodyPr anchor="ctr"/>
              <a:lstStyle/>
              <a:p>
                <a:pPr algn="ctr"/>
                <a:endParaRPr/>
              </a:p>
            </p:txBody>
          </p:sp>
          <p:sp>
            <p:nvSpPr>
              <p:cNvPr id="90" name="iŝliďé">
                <a:extLst>
                  <a:ext uri="{FF2B5EF4-FFF2-40B4-BE49-F238E27FC236}">
                    <a16:creationId xmlns:a16="http://schemas.microsoft.com/office/drawing/2014/main" id="{29FD4168-098F-4776-8BB3-C157AA140D70}"/>
                  </a:ext>
                </a:extLst>
              </p:cNvPr>
              <p:cNvSpPr/>
              <p:nvPr/>
            </p:nvSpPr>
            <p:spPr bwMode="auto">
              <a:xfrm>
                <a:off x="10332573"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grpFill/>
              <a:ln>
                <a:noFill/>
              </a:ln>
            </p:spPr>
            <p:txBody>
              <a:bodyPr anchor="ctr"/>
              <a:lstStyle/>
              <a:p>
                <a:pPr algn="ctr"/>
                <a:endParaRPr/>
              </a:p>
            </p:txBody>
          </p:sp>
          <p:sp>
            <p:nvSpPr>
              <p:cNvPr id="91" name="íṥľïdê">
                <a:extLst>
                  <a:ext uri="{FF2B5EF4-FFF2-40B4-BE49-F238E27FC236}">
                    <a16:creationId xmlns:a16="http://schemas.microsoft.com/office/drawing/2014/main" id="{317EE5BD-E397-49E8-A67D-1000D9D842AC}"/>
                  </a:ext>
                </a:extLst>
              </p:cNvPr>
              <p:cNvSpPr/>
              <p:nvPr/>
            </p:nvSpPr>
            <p:spPr bwMode="auto">
              <a:xfrm>
                <a:off x="10366960" y="732929"/>
                <a:ext cx="29774"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92" name="ïṡ1iďe">
                <a:extLst>
                  <a:ext uri="{FF2B5EF4-FFF2-40B4-BE49-F238E27FC236}">
                    <a16:creationId xmlns:a16="http://schemas.microsoft.com/office/drawing/2014/main" id="{262D40FB-16BB-4284-AFC9-C81F18C5BD60}"/>
                  </a:ext>
                </a:extLst>
              </p:cNvPr>
              <p:cNvSpPr/>
              <p:nvPr/>
            </p:nvSpPr>
            <p:spPr bwMode="auto">
              <a:xfrm>
                <a:off x="10423571" y="721607"/>
                <a:ext cx="36483" cy="47386"/>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grpFill/>
              <a:ln>
                <a:noFill/>
              </a:ln>
            </p:spPr>
            <p:txBody>
              <a:bodyPr anchor="ctr"/>
              <a:lstStyle/>
              <a:p>
                <a:pPr algn="ctr"/>
                <a:endParaRPr/>
              </a:p>
            </p:txBody>
          </p:sp>
          <p:sp>
            <p:nvSpPr>
              <p:cNvPr id="93" name="ïṧľïḋé">
                <a:extLst>
                  <a:ext uri="{FF2B5EF4-FFF2-40B4-BE49-F238E27FC236}">
                    <a16:creationId xmlns:a16="http://schemas.microsoft.com/office/drawing/2014/main" id="{4E712710-AF9C-4582-8970-E1AF9A2332C5}"/>
                  </a:ext>
                </a:extLst>
              </p:cNvPr>
              <p:cNvSpPr/>
              <p:nvPr/>
            </p:nvSpPr>
            <p:spPr bwMode="auto">
              <a:xfrm>
                <a:off x="10469280"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grpFill/>
              <a:ln>
                <a:noFill/>
              </a:ln>
            </p:spPr>
            <p:txBody>
              <a:bodyPr anchor="ctr"/>
              <a:lstStyle/>
              <a:p>
                <a:pPr algn="ctr"/>
                <a:endParaRPr/>
              </a:p>
            </p:txBody>
          </p:sp>
          <p:sp>
            <p:nvSpPr>
              <p:cNvPr id="94" name="ïṧ1ïḓe">
                <a:extLst>
                  <a:ext uri="{FF2B5EF4-FFF2-40B4-BE49-F238E27FC236}">
                    <a16:creationId xmlns:a16="http://schemas.microsoft.com/office/drawing/2014/main" id="{63EE038E-A4BA-4F61-9361-FEA530A9F452}"/>
                  </a:ext>
                </a:extLst>
              </p:cNvPr>
              <p:cNvSpPr/>
              <p:nvPr/>
            </p:nvSpPr>
            <p:spPr bwMode="auto">
              <a:xfrm>
                <a:off x="10505763" y="721607"/>
                <a:ext cx="5452" cy="46547"/>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grpFill/>
              <a:ln>
                <a:noFill/>
              </a:ln>
            </p:spPr>
            <p:txBody>
              <a:bodyPr anchor="ctr"/>
              <a:lstStyle/>
              <a:p>
                <a:pPr algn="ctr"/>
                <a:endParaRPr/>
              </a:p>
            </p:txBody>
          </p:sp>
          <p:sp>
            <p:nvSpPr>
              <p:cNvPr id="95" name="îśľîḋé">
                <a:extLst>
                  <a:ext uri="{FF2B5EF4-FFF2-40B4-BE49-F238E27FC236}">
                    <a16:creationId xmlns:a16="http://schemas.microsoft.com/office/drawing/2014/main" id="{AF8D45F1-676B-4A01-99BD-8D51D2BAF3D6}"/>
                  </a:ext>
                </a:extLst>
              </p:cNvPr>
              <p:cNvSpPr/>
              <p:nvPr/>
            </p:nvSpPr>
            <p:spPr bwMode="auto">
              <a:xfrm>
                <a:off x="10515827" y="734187"/>
                <a:ext cx="31451" cy="33967"/>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grpFill/>
              <a:ln>
                <a:noFill/>
              </a:ln>
            </p:spPr>
            <p:txBody>
              <a:bodyPr anchor="ctr"/>
              <a:lstStyle/>
              <a:p>
                <a:pPr algn="ctr"/>
                <a:endParaRPr/>
              </a:p>
            </p:txBody>
          </p:sp>
          <p:sp>
            <p:nvSpPr>
              <p:cNvPr id="96" name="iṧḷïdè">
                <a:extLst>
                  <a:ext uri="{FF2B5EF4-FFF2-40B4-BE49-F238E27FC236}">
                    <a16:creationId xmlns:a16="http://schemas.microsoft.com/office/drawing/2014/main" id="{E1C4D69B-FBB4-47D2-BD03-AC7C1444A26A}"/>
                  </a:ext>
                </a:extLst>
              </p:cNvPr>
              <p:cNvSpPr/>
              <p:nvPr/>
            </p:nvSpPr>
            <p:spPr bwMode="auto">
              <a:xfrm>
                <a:off x="10550213" y="732929"/>
                <a:ext cx="31032" cy="35644"/>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grpFill/>
              <a:ln>
                <a:noFill/>
              </a:ln>
            </p:spPr>
            <p:txBody>
              <a:bodyPr anchor="ctr"/>
              <a:lstStyle/>
              <a:p>
                <a:pPr algn="ctr"/>
                <a:endParaRPr/>
              </a:p>
            </p:txBody>
          </p:sp>
          <p:sp>
            <p:nvSpPr>
              <p:cNvPr id="97" name="îṩḷîḓe">
                <a:extLst>
                  <a:ext uri="{FF2B5EF4-FFF2-40B4-BE49-F238E27FC236}">
                    <a16:creationId xmlns:a16="http://schemas.microsoft.com/office/drawing/2014/main" id="{78E96D5D-3221-43D0-A0D6-3607C2926725}"/>
                  </a:ext>
                </a:extLst>
              </p:cNvPr>
              <p:cNvSpPr/>
              <p:nvPr/>
            </p:nvSpPr>
            <p:spPr bwMode="auto">
              <a:xfrm>
                <a:off x="10588793" y="732929"/>
                <a:ext cx="16774" cy="35225"/>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grpFill/>
              <a:ln>
                <a:noFill/>
              </a:ln>
            </p:spPr>
            <p:txBody>
              <a:bodyPr anchor="ctr"/>
              <a:lstStyle/>
              <a:p>
                <a:pPr algn="ctr"/>
                <a:endParaRPr/>
              </a:p>
            </p:txBody>
          </p:sp>
          <p:sp>
            <p:nvSpPr>
              <p:cNvPr id="98" name="is1idé">
                <a:extLst>
                  <a:ext uri="{FF2B5EF4-FFF2-40B4-BE49-F238E27FC236}">
                    <a16:creationId xmlns:a16="http://schemas.microsoft.com/office/drawing/2014/main" id="{0ED3107C-ACE6-4D50-ADC3-999027E96110}"/>
                  </a:ext>
                </a:extLst>
              </p:cNvPr>
              <p:cNvSpPr/>
              <p:nvPr/>
            </p:nvSpPr>
            <p:spPr bwMode="auto">
              <a:xfrm>
                <a:off x="10607244" y="732929"/>
                <a:ext cx="28096" cy="35644"/>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grpFill/>
              <a:ln>
                <a:noFill/>
              </a:ln>
            </p:spPr>
            <p:txBody>
              <a:bodyPr anchor="ctr"/>
              <a:lstStyle/>
              <a:p>
                <a:pPr algn="ctr"/>
                <a:endParaRPr/>
              </a:p>
            </p:txBody>
          </p:sp>
          <p:sp>
            <p:nvSpPr>
              <p:cNvPr id="99" name="iśľîḋe">
                <a:extLst>
                  <a:ext uri="{FF2B5EF4-FFF2-40B4-BE49-F238E27FC236}">
                    <a16:creationId xmlns:a16="http://schemas.microsoft.com/office/drawing/2014/main" id="{D435AD35-6A0D-4345-9415-FF0776BFD61A}"/>
                  </a:ext>
                </a:extLst>
              </p:cNvPr>
              <p:cNvSpPr/>
              <p:nvPr/>
            </p:nvSpPr>
            <p:spPr bwMode="auto">
              <a:xfrm>
                <a:off x="1064205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0" name="îṩḻíḍé">
                <a:extLst>
                  <a:ext uri="{FF2B5EF4-FFF2-40B4-BE49-F238E27FC236}">
                    <a16:creationId xmlns:a16="http://schemas.microsoft.com/office/drawing/2014/main" id="{0625285B-8E29-429A-A983-E9F5167DDF09}"/>
                  </a:ext>
                </a:extLst>
              </p:cNvPr>
              <p:cNvSpPr/>
              <p:nvPr/>
            </p:nvSpPr>
            <p:spPr bwMode="auto">
              <a:xfrm>
                <a:off x="10652953" y="724542"/>
                <a:ext cx="15935" cy="43612"/>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grpFill/>
              <a:ln>
                <a:noFill/>
              </a:ln>
            </p:spPr>
            <p:txBody>
              <a:bodyPr anchor="ctr"/>
              <a:lstStyle/>
              <a:p>
                <a:pPr algn="ctr"/>
                <a:endParaRPr/>
              </a:p>
            </p:txBody>
          </p:sp>
          <p:sp>
            <p:nvSpPr>
              <p:cNvPr id="101" name="íS1íde">
                <a:extLst>
                  <a:ext uri="{FF2B5EF4-FFF2-40B4-BE49-F238E27FC236}">
                    <a16:creationId xmlns:a16="http://schemas.microsoft.com/office/drawing/2014/main" id="{0F0F95BD-1608-46EB-86C8-D8A8DF4945DD}"/>
                  </a:ext>
                </a:extLst>
              </p:cNvPr>
              <p:cNvSpPr/>
              <p:nvPr/>
            </p:nvSpPr>
            <p:spPr bwMode="auto">
              <a:xfrm>
                <a:off x="10670565" y="734187"/>
                <a:ext cx="31032" cy="47386"/>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grpFill/>
              <a:ln>
                <a:noFill/>
              </a:ln>
            </p:spPr>
            <p:txBody>
              <a:bodyPr anchor="ctr"/>
              <a:lstStyle/>
              <a:p>
                <a:pPr algn="ctr"/>
                <a:endParaRPr/>
              </a:p>
            </p:txBody>
          </p:sp>
          <p:sp>
            <p:nvSpPr>
              <p:cNvPr id="102" name="îsḷiḋê">
                <a:extLst>
                  <a:ext uri="{FF2B5EF4-FFF2-40B4-BE49-F238E27FC236}">
                    <a16:creationId xmlns:a16="http://schemas.microsoft.com/office/drawing/2014/main" id="{BB4BC201-820D-44EF-B3D4-D5B6E0085B09}"/>
                  </a:ext>
                </a:extLst>
              </p:cNvPr>
              <p:cNvSpPr/>
              <p:nvPr/>
            </p:nvSpPr>
            <p:spPr bwMode="auto">
              <a:xfrm>
                <a:off x="10722564" y="732929"/>
                <a:ext cx="31870"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grpFill/>
              <a:ln>
                <a:noFill/>
              </a:ln>
            </p:spPr>
            <p:txBody>
              <a:bodyPr anchor="ctr"/>
              <a:lstStyle/>
              <a:p>
                <a:pPr algn="ctr"/>
                <a:endParaRPr/>
              </a:p>
            </p:txBody>
          </p:sp>
          <p:sp>
            <p:nvSpPr>
              <p:cNvPr id="103" name="ïś1ïḓé">
                <a:extLst>
                  <a:ext uri="{FF2B5EF4-FFF2-40B4-BE49-F238E27FC236}">
                    <a16:creationId xmlns:a16="http://schemas.microsoft.com/office/drawing/2014/main" id="{5FDC32AB-4AB7-42B7-B11F-102DFF6B29C0}"/>
                  </a:ext>
                </a:extLst>
              </p:cNvPr>
              <p:cNvSpPr/>
              <p:nvPr/>
            </p:nvSpPr>
            <p:spPr bwMode="auto">
              <a:xfrm>
                <a:off x="10757370" y="720768"/>
                <a:ext cx="15935" cy="47386"/>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grpFill/>
              <a:ln>
                <a:noFill/>
              </a:ln>
            </p:spPr>
            <p:txBody>
              <a:bodyPr anchor="ctr"/>
              <a:lstStyle/>
              <a:p>
                <a:pPr algn="ctr"/>
                <a:endParaRPr/>
              </a:p>
            </p:txBody>
          </p:sp>
          <p:sp>
            <p:nvSpPr>
              <p:cNvPr id="104" name="iṥlïḑê">
                <a:extLst>
                  <a:ext uri="{FF2B5EF4-FFF2-40B4-BE49-F238E27FC236}">
                    <a16:creationId xmlns:a16="http://schemas.microsoft.com/office/drawing/2014/main" id="{C6600A15-9F1F-40DE-9F04-F0F31A9C57F7}"/>
                  </a:ext>
                </a:extLst>
              </p:cNvPr>
              <p:cNvSpPr/>
              <p:nvPr/>
            </p:nvSpPr>
            <p:spPr bwMode="auto">
              <a:xfrm>
                <a:off x="10795530" y="720349"/>
                <a:ext cx="36902" cy="48644"/>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grpFill/>
              <a:ln>
                <a:noFill/>
              </a:ln>
            </p:spPr>
            <p:txBody>
              <a:bodyPr anchor="ctr"/>
              <a:lstStyle/>
              <a:p>
                <a:pPr algn="ctr"/>
                <a:endParaRPr/>
              </a:p>
            </p:txBody>
          </p:sp>
          <p:sp>
            <p:nvSpPr>
              <p:cNvPr id="105" name="iṩļîḋé">
                <a:extLst>
                  <a:ext uri="{FF2B5EF4-FFF2-40B4-BE49-F238E27FC236}">
                    <a16:creationId xmlns:a16="http://schemas.microsoft.com/office/drawing/2014/main" id="{974F8C08-F987-4D49-8EB1-A06FE29DB83D}"/>
                  </a:ext>
                </a:extLst>
              </p:cNvPr>
              <p:cNvSpPr/>
              <p:nvPr/>
            </p:nvSpPr>
            <p:spPr bwMode="auto">
              <a:xfrm>
                <a:off x="10837884" y="732929"/>
                <a:ext cx="28515" cy="35644"/>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grpFill/>
              <a:ln>
                <a:noFill/>
              </a:ln>
            </p:spPr>
            <p:txBody>
              <a:bodyPr anchor="ctr"/>
              <a:lstStyle/>
              <a:p>
                <a:pPr algn="ctr"/>
                <a:endParaRPr/>
              </a:p>
            </p:txBody>
          </p:sp>
          <p:sp>
            <p:nvSpPr>
              <p:cNvPr id="106" name="îs1iḋé">
                <a:extLst>
                  <a:ext uri="{FF2B5EF4-FFF2-40B4-BE49-F238E27FC236}">
                    <a16:creationId xmlns:a16="http://schemas.microsoft.com/office/drawing/2014/main" id="{0AC6DBD6-6442-4661-B146-8196CD63975C}"/>
                  </a:ext>
                </a:extLst>
              </p:cNvPr>
              <p:cNvSpPr/>
              <p:nvPr/>
            </p:nvSpPr>
            <p:spPr bwMode="auto">
              <a:xfrm>
                <a:off x="1087227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7" name="iṣ1ïḑê">
                <a:extLst>
                  <a:ext uri="{FF2B5EF4-FFF2-40B4-BE49-F238E27FC236}">
                    <a16:creationId xmlns:a16="http://schemas.microsoft.com/office/drawing/2014/main" id="{73A6C8BA-8AD9-4540-AA9F-231B74DC0777}"/>
                  </a:ext>
                </a:extLst>
              </p:cNvPr>
              <p:cNvSpPr/>
              <p:nvPr/>
            </p:nvSpPr>
            <p:spPr bwMode="auto">
              <a:xfrm>
                <a:off x="10884851"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08" name="ïS1îḑê">
                <a:extLst>
                  <a:ext uri="{FF2B5EF4-FFF2-40B4-BE49-F238E27FC236}">
                    <a16:creationId xmlns:a16="http://schemas.microsoft.com/office/drawing/2014/main" id="{7C382480-41EF-4EF7-AB6E-4AED395C3EA3}"/>
                  </a:ext>
                </a:extLst>
              </p:cNvPr>
              <p:cNvSpPr/>
              <p:nvPr/>
            </p:nvSpPr>
            <p:spPr bwMode="auto">
              <a:xfrm>
                <a:off x="10922172" y="732929"/>
                <a:ext cx="28096"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09" name="iŝḷíḍê">
                <a:extLst>
                  <a:ext uri="{FF2B5EF4-FFF2-40B4-BE49-F238E27FC236}">
                    <a16:creationId xmlns:a16="http://schemas.microsoft.com/office/drawing/2014/main" id="{7D332882-3E1E-4A5B-A428-00AFBD6D7343}"/>
                  </a:ext>
                </a:extLst>
              </p:cNvPr>
              <p:cNvSpPr/>
              <p:nvPr/>
            </p:nvSpPr>
            <p:spPr bwMode="auto">
              <a:xfrm>
                <a:off x="10956139" y="732929"/>
                <a:ext cx="29354"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0" name="îṥľíḍé">
                <a:extLst>
                  <a:ext uri="{FF2B5EF4-FFF2-40B4-BE49-F238E27FC236}">
                    <a16:creationId xmlns:a16="http://schemas.microsoft.com/office/drawing/2014/main" id="{4EC31911-A59A-4F4A-9D34-553079CB472B}"/>
                  </a:ext>
                </a:extLst>
              </p:cNvPr>
              <p:cNvSpPr/>
              <p:nvPr/>
            </p:nvSpPr>
            <p:spPr bwMode="auto">
              <a:xfrm>
                <a:off x="10989268"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grpFill/>
              <a:ln>
                <a:noFill/>
              </a:ln>
            </p:spPr>
            <p:txBody>
              <a:bodyPr anchor="ctr"/>
              <a:lstStyle/>
              <a:p>
                <a:pPr algn="ctr"/>
                <a:endParaRPr/>
              </a:p>
            </p:txBody>
          </p:sp>
          <p:sp>
            <p:nvSpPr>
              <p:cNvPr id="111" name="îşḻiḍe">
                <a:extLst>
                  <a:ext uri="{FF2B5EF4-FFF2-40B4-BE49-F238E27FC236}">
                    <a16:creationId xmlns:a16="http://schemas.microsoft.com/office/drawing/2014/main" id="{64E649FB-4ED5-45FD-A0C6-485B8BE24C83}"/>
                  </a:ext>
                </a:extLst>
              </p:cNvPr>
              <p:cNvSpPr/>
              <p:nvPr/>
            </p:nvSpPr>
            <p:spPr bwMode="auto">
              <a:xfrm>
                <a:off x="11060975"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112" name="ïşḻíḓe">
                <a:extLst>
                  <a:ext uri="{FF2B5EF4-FFF2-40B4-BE49-F238E27FC236}">
                    <a16:creationId xmlns:a16="http://schemas.microsoft.com/office/drawing/2014/main" id="{19BDEC23-212D-4322-A5C3-0CC27626CF3E}"/>
                  </a:ext>
                </a:extLst>
              </p:cNvPr>
              <p:cNvSpPr/>
              <p:nvPr/>
            </p:nvSpPr>
            <p:spPr bwMode="auto">
              <a:xfrm>
                <a:off x="11099136"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13" name="îS1iḓé">
                <a:extLst>
                  <a:ext uri="{FF2B5EF4-FFF2-40B4-BE49-F238E27FC236}">
                    <a16:creationId xmlns:a16="http://schemas.microsoft.com/office/drawing/2014/main" id="{7AB18821-9DE9-4079-A63D-AD64BC5C23E7}"/>
                  </a:ext>
                </a:extLst>
              </p:cNvPr>
              <p:cNvSpPr/>
              <p:nvPr/>
            </p:nvSpPr>
            <p:spPr bwMode="auto">
              <a:xfrm>
                <a:off x="11133103" y="721607"/>
                <a:ext cx="30193" cy="46967"/>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grpFill/>
              <a:ln>
                <a:noFill/>
              </a:ln>
            </p:spPr>
            <p:txBody>
              <a:bodyPr anchor="ctr"/>
              <a:lstStyle/>
              <a:p>
                <a:pPr algn="ctr"/>
                <a:endParaRPr/>
              </a:p>
            </p:txBody>
          </p:sp>
          <p:sp>
            <p:nvSpPr>
              <p:cNvPr id="114" name="ïṥḻîḍé">
                <a:extLst>
                  <a:ext uri="{FF2B5EF4-FFF2-40B4-BE49-F238E27FC236}">
                    <a16:creationId xmlns:a16="http://schemas.microsoft.com/office/drawing/2014/main" id="{67884FF0-BE6B-4D18-8871-C6C9E95C295F}"/>
                  </a:ext>
                </a:extLst>
              </p:cNvPr>
              <p:cNvSpPr/>
              <p:nvPr/>
            </p:nvSpPr>
            <p:spPr bwMode="auto">
              <a:xfrm>
                <a:off x="11185940" y="721607"/>
                <a:ext cx="37741" cy="46547"/>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grpFill/>
              <a:ln>
                <a:noFill/>
              </a:ln>
            </p:spPr>
            <p:txBody>
              <a:bodyPr anchor="ctr"/>
              <a:lstStyle/>
              <a:p>
                <a:pPr algn="ctr"/>
                <a:endParaRPr/>
              </a:p>
            </p:txBody>
          </p:sp>
          <p:sp>
            <p:nvSpPr>
              <p:cNvPr id="115" name="ïṡḷíḍé">
                <a:extLst>
                  <a:ext uri="{FF2B5EF4-FFF2-40B4-BE49-F238E27FC236}">
                    <a16:creationId xmlns:a16="http://schemas.microsoft.com/office/drawing/2014/main" id="{3C9EAF9D-8B16-4C7A-BBBB-769C55755290}"/>
                  </a:ext>
                </a:extLst>
              </p:cNvPr>
              <p:cNvSpPr/>
              <p:nvPr/>
            </p:nvSpPr>
            <p:spPr bwMode="auto">
              <a:xfrm>
                <a:off x="11227036" y="732929"/>
                <a:ext cx="3061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16" name="íṧlíḍé">
                <a:extLst>
                  <a:ext uri="{FF2B5EF4-FFF2-40B4-BE49-F238E27FC236}">
                    <a16:creationId xmlns:a16="http://schemas.microsoft.com/office/drawing/2014/main" id="{F4AB2DE8-20EC-4594-92D3-CA5695A10390}"/>
                  </a:ext>
                </a:extLst>
              </p:cNvPr>
              <p:cNvSpPr/>
              <p:nvPr/>
            </p:nvSpPr>
            <p:spPr bwMode="auto">
              <a:xfrm>
                <a:off x="11262261" y="732929"/>
                <a:ext cx="28935"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7" name="išļïḓé">
                <a:extLst>
                  <a:ext uri="{FF2B5EF4-FFF2-40B4-BE49-F238E27FC236}">
                    <a16:creationId xmlns:a16="http://schemas.microsoft.com/office/drawing/2014/main" id="{5AB17666-C8B9-4C3A-8E9B-73D45D40BDE2}"/>
                  </a:ext>
                </a:extLst>
              </p:cNvPr>
              <p:cNvSpPr/>
              <p:nvPr/>
            </p:nvSpPr>
            <p:spPr bwMode="auto">
              <a:xfrm>
                <a:off x="11297067" y="721607"/>
                <a:ext cx="27258"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grpFill/>
              <a:ln>
                <a:noFill/>
              </a:ln>
            </p:spPr>
            <p:txBody>
              <a:bodyPr anchor="ctr"/>
              <a:lstStyle/>
              <a:p>
                <a:pPr algn="ctr"/>
                <a:endParaRPr/>
              </a:p>
            </p:txBody>
          </p:sp>
          <p:sp>
            <p:nvSpPr>
              <p:cNvPr id="118" name="ïšḻîḓè">
                <a:extLst>
                  <a:ext uri="{FF2B5EF4-FFF2-40B4-BE49-F238E27FC236}">
                    <a16:creationId xmlns:a16="http://schemas.microsoft.com/office/drawing/2014/main" id="{1E069E19-6306-49BF-970E-C2464CF51714}"/>
                  </a:ext>
                </a:extLst>
              </p:cNvPr>
              <p:cNvSpPr/>
              <p:nvPr/>
            </p:nvSpPr>
            <p:spPr bwMode="auto">
              <a:xfrm>
                <a:off x="11333130"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grpFill/>
              <a:ln>
                <a:noFill/>
              </a:ln>
            </p:spPr>
            <p:txBody>
              <a:bodyPr anchor="ctr"/>
              <a:lstStyle/>
              <a:p>
                <a:pPr algn="ctr"/>
                <a:endParaRPr/>
              </a:p>
            </p:txBody>
          </p:sp>
          <p:sp>
            <p:nvSpPr>
              <p:cNvPr id="119" name="ïṡḷïḍê">
                <a:extLst>
                  <a:ext uri="{FF2B5EF4-FFF2-40B4-BE49-F238E27FC236}">
                    <a16:creationId xmlns:a16="http://schemas.microsoft.com/office/drawing/2014/main" id="{10D11FAC-1070-41FE-8B29-44FE1818EFD2}"/>
                  </a:ext>
                </a:extLst>
              </p:cNvPr>
              <p:cNvSpPr/>
              <p:nvPr/>
            </p:nvSpPr>
            <p:spPr bwMode="auto">
              <a:xfrm>
                <a:off x="11367097"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grpFill/>
              <a:ln>
                <a:noFill/>
              </a:ln>
            </p:spPr>
            <p:txBody>
              <a:bodyPr anchor="ctr"/>
              <a:lstStyle/>
              <a:p>
                <a:pPr algn="ctr"/>
                <a:endParaRPr/>
              </a:p>
            </p:txBody>
          </p:sp>
          <p:sp>
            <p:nvSpPr>
              <p:cNvPr id="120" name="îşļíḋe">
                <a:extLst>
                  <a:ext uri="{FF2B5EF4-FFF2-40B4-BE49-F238E27FC236}">
                    <a16:creationId xmlns:a16="http://schemas.microsoft.com/office/drawing/2014/main" id="{D7D59A13-5F6C-4A29-BA42-46AA267D2631}"/>
                  </a:ext>
                </a:extLst>
              </p:cNvPr>
              <p:cNvSpPr/>
              <p:nvPr/>
            </p:nvSpPr>
            <p:spPr bwMode="auto">
              <a:xfrm>
                <a:off x="11405258" y="721607"/>
                <a:ext cx="5871" cy="46547"/>
              </a:xfrm>
              <a:prstGeom prst="rect">
                <a:avLst/>
              </a:prstGeom>
              <a:grpFill/>
              <a:ln>
                <a:noFill/>
              </a:ln>
            </p:spPr>
            <p:txBody>
              <a:bodyPr anchor="ctr"/>
              <a:lstStyle/>
              <a:p>
                <a:pPr algn="ctr"/>
                <a:endParaRPr/>
              </a:p>
            </p:txBody>
          </p:sp>
          <p:sp>
            <p:nvSpPr>
              <p:cNvPr id="121" name="íṩľide">
                <a:extLst>
                  <a:ext uri="{FF2B5EF4-FFF2-40B4-BE49-F238E27FC236}">
                    <a16:creationId xmlns:a16="http://schemas.microsoft.com/office/drawing/2014/main" id="{8D3DB728-D3FD-4DA3-888E-D17BD5198EF8}"/>
                  </a:ext>
                </a:extLst>
              </p:cNvPr>
              <p:cNvSpPr/>
              <p:nvPr/>
            </p:nvSpPr>
            <p:spPr bwMode="auto">
              <a:xfrm>
                <a:off x="11417419"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grpFill/>
              <a:ln>
                <a:noFill/>
              </a:ln>
            </p:spPr>
            <p:txBody>
              <a:bodyPr anchor="ctr"/>
              <a:lstStyle/>
              <a:p>
                <a:pPr algn="ctr"/>
                <a:endParaRPr/>
              </a:p>
            </p:txBody>
          </p:sp>
          <p:sp>
            <p:nvSpPr>
              <p:cNvPr id="122" name="ïSļídê">
                <a:extLst>
                  <a:ext uri="{FF2B5EF4-FFF2-40B4-BE49-F238E27FC236}">
                    <a16:creationId xmlns:a16="http://schemas.microsoft.com/office/drawing/2014/main" id="{B27E9A8F-A436-4C7E-9A8C-2365D0EB0C85}"/>
                  </a:ext>
                </a:extLst>
              </p:cNvPr>
              <p:cNvSpPr/>
              <p:nvPr/>
            </p:nvSpPr>
            <p:spPr bwMode="auto">
              <a:xfrm>
                <a:off x="11453482" y="732929"/>
                <a:ext cx="30193"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123" name="işḷíḑè">
                <a:extLst>
                  <a:ext uri="{FF2B5EF4-FFF2-40B4-BE49-F238E27FC236}">
                    <a16:creationId xmlns:a16="http://schemas.microsoft.com/office/drawing/2014/main" id="{CDB414FC-16C0-44D5-8D49-A206F5467CBA}"/>
                  </a:ext>
                </a:extLst>
              </p:cNvPr>
              <p:cNvSpPr/>
              <p:nvPr/>
            </p:nvSpPr>
            <p:spPr bwMode="auto">
              <a:xfrm>
                <a:off x="11487868" y="734187"/>
                <a:ext cx="31032" cy="47386"/>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grpFill/>
              <a:ln>
                <a:noFill/>
              </a:ln>
            </p:spPr>
            <p:txBody>
              <a:bodyPr anchor="ctr"/>
              <a:lstStyle/>
              <a:p>
                <a:pPr algn="ctr"/>
                <a:endParaRPr/>
              </a:p>
            </p:txBody>
          </p:sp>
        </p:grpSp>
        <p:grpSp>
          <p:nvGrpSpPr>
            <p:cNvPr id="19" name="组合 18">
              <a:extLst>
                <a:ext uri="{FF2B5EF4-FFF2-40B4-BE49-F238E27FC236}">
                  <a16:creationId xmlns:a16="http://schemas.microsoft.com/office/drawing/2014/main" id="{048F3111-B36F-4FC0-8EDC-B92F7C0238CC}"/>
                </a:ext>
              </a:extLst>
            </p:cNvPr>
            <p:cNvGrpSpPr/>
            <p:nvPr/>
          </p:nvGrpSpPr>
          <p:grpSpPr>
            <a:xfrm>
              <a:off x="660400" y="478901"/>
              <a:ext cx="601275" cy="454750"/>
              <a:chOff x="2201863" y="2538413"/>
              <a:chExt cx="1776413" cy="1781175"/>
            </a:xfrm>
            <a:solidFill>
              <a:schemeClr val="accent1"/>
            </a:solidFill>
          </p:grpSpPr>
          <p:sp>
            <p:nvSpPr>
              <p:cNvPr id="20" name="íṣḷîďé">
                <a:extLst>
                  <a:ext uri="{FF2B5EF4-FFF2-40B4-BE49-F238E27FC236}">
                    <a16:creationId xmlns:a16="http://schemas.microsoft.com/office/drawing/2014/main" id="{B7E81E25-B7AE-4531-A87E-AED8DDFC55C9}"/>
                  </a:ext>
                </a:extLst>
              </p:cNvPr>
              <p:cNvSpPr/>
              <p:nvPr/>
            </p:nvSpPr>
            <p:spPr bwMode="auto">
              <a:xfrm>
                <a:off x="2201863" y="2538413"/>
                <a:ext cx="1776413" cy="1781175"/>
              </a:xfrm>
              <a:prstGeom prst="ellipse">
                <a:avLst/>
              </a:prstGeom>
              <a:noFill/>
              <a:ln w="19050" cap="flat">
                <a:solidFill>
                  <a:schemeClr val="accent1"/>
                </a:solidFill>
                <a:prstDash val="solid"/>
                <a:round/>
                <a:headEnd/>
                <a:tailEnd/>
              </a:ln>
            </p:spPr>
            <p:txBody>
              <a:bodyPr anchor="ctr"/>
              <a:lstStyle/>
              <a:p>
                <a:pPr algn="ctr"/>
                <a:endParaRPr/>
              </a:p>
            </p:txBody>
          </p:sp>
          <p:sp>
            <p:nvSpPr>
              <p:cNvPr id="21" name="îSlïdê">
                <a:extLst>
                  <a:ext uri="{FF2B5EF4-FFF2-40B4-BE49-F238E27FC236}">
                    <a16:creationId xmlns:a16="http://schemas.microsoft.com/office/drawing/2014/main" id="{8E726C61-BFA6-4DEB-A025-16A34B908257}"/>
                  </a:ext>
                </a:extLst>
              </p:cNvPr>
              <p:cNvSpPr/>
              <p:nvPr/>
            </p:nvSpPr>
            <p:spPr bwMode="auto">
              <a:xfrm>
                <a:off x="2349501" y="2976563"/>
                <a:ext cx="158750" cy="184150"/>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p:spPr>
            <p:txBody>
              <a:bodyPr anchor="ctr"/>
              <a:lstStyle/>
              <a:p>
                <a:pPr algn="ctr"/>
                <a:endParaRPr/>
              </a:p>
            </p:txBody>
          </p:sp>
          <p:sp>
            <p:nvSpPr>
              <p:cNvPr id="22" name="îSļíḍê">
                <a:extLst>
                  <a:ext uri="{FF2B5EF4-FFF2-40B4-BE49-F238E27FC236}">
                    <a16:creationId xmlns:a16="http://schemas.microsoft.com/office/drawing/2014/main" id="{619807DB-9C77-4D0D-9D07-2E2C88151A4C}"/>
                  </a:ext>
                </a:extLst>
              </p:cNvPr>
              <p:cNvSpPr/>
              <p:nvPr/>
            </p:nvSpPr>
            <p:spPr bwMode="auto">
              <a:xfrm>
                <a:off x="2319338" y="3086101"/>
                <a:ext cx="144463" cy="157163"/>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p:spPr>
            <p:txBody>
              <a:bodyPr anchor="ctr"/>
              <a:lstStyle/>
              <a:p>
                <a:pPr algn="ctr"/>
                <a:endParaRPr/>
              </a:p>
            </p:txBody>
          </p:sp>
          <p:sp>
            <p:nvSpPr>
              <p:cNvPr id="23" name="ïşḻiḑe">
                <a:extLst>
                  <a:ext uri="{FF2B5EF4-FFF2-40B4-BE49-F238E27FC236}">
                    <a16:creationId xmlns:a16="http://schemas.microsoft.com/office/drawing/2014/main" id="{99E2FD61-D936-4E67-9A7E-C0ECB844442C}"/>
                  </a:ext>
                </a:extLst>
              </p:cNvPr>
              <p:cNvSpPr/>
              <p:nvPr/>
            </p:nvSpPr>
            <p:spPr bwMode="auto">
              <a:xfrm>
                <a:off x="2279651" y="3140076"/>
                <a:ext cx="147638" cy="127000"/>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p:spPr>
            <p:txBody>
              <a:bodyPr anchor="ctr"/>
              <a:lstStyle/>
              <a:p>
                <a:pPr algn="ctr"/>
                <a:endParaRPr/>
              </a:p>
            </p:txBody>
          </p:sp>
          <p:sp>
            <p:nvSpPr>
              <p:cNvPr id="24" name="ïṡļiḑê">
                <a:extLst>
                  <a:ext uri="{FF2B5EF4-FFF2-40B4-BE49-F238E27FC236}">
                    <a16:creationId xmlns:a16="http://schemas.microsoft.com/office/drawing/2014/main" id="{8200E2FF-079A-4623-8CDF-6AE7948A610D}"/>
                  </a:ext>
                </a:extLst>
              </p:cNvPr>
              <p:cNvSpPr/>
              <p:nvPr/>
            </p:nvSpPr>
            <p:spPr bwMode="auto">
              <a:xfrm>
                <a:off x="2266951" y="3238501"/>
                <a:ext cx="152400" cy="103188"/>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p:spPr>
            <p:txBody>
              <a:bodyPr anchor="ctr"/>
              <a:lstStyle/>
              <a:p>
                <a:pPr algn="ctr"/>
                <a:endParaRPr/>
              </a:p>
            </p:txBody>
          </p:sp>
          <p:sp>
            <p:nvSpPr>
              <p:cNvPr id="25" name="ï$ḷiḋe">
                <a:extLst>
                  <a:ext uri="{FF2B5EF4-FFF2-40B4-BE49-F238E27FC236}">
                    <a16:creationId xmlns:a16="http://schemas.microsoft.com/office/drawing/2014/main" id="{BEDDD1D7-96BD-4C1A-9A5D-B868B945FCB2}"/>
                  </a:ext>
                </a:extLst>
              </p:cNvPr>
              <p:cNvSpPr/>
              <p:nvPr/>
            </p:nvSpPr>
            <p:spPr bwMode="auto">
              <a:xfrm>
                <a:off x="2251076" y="3325813"/>
                <a:ext cx="152400" cy="112713"/>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p:spPr>
            <p:txBody>
              <a:bodyPr anchor="ctr"/>
              <a:lstStyle/>
              <a:p>
                <a:pPr algn="ctr"/>
                <a:endParaRPr/>
              </a:p>
            </p:txBody>
          </p:sp>
          <p:sp>
            <p:nvSpPr>
              <p:cNvPr id="26" name="iś1íḋè">
                <a:extLst>
                  <a:ext uri="{FF2B5EF4-FFF2-40B4-BE49-F238E27FC236}">
                    <a16:creationId xmlns:a16="http://schemas.microsoft.com/office/drawing/2014/main" id="{D08B75AE-3E05-4530-952E-4EA5C02491EF}"/>
                  </a:ext>
                </a:extLst>
              </p:cNvPr>
              <p:cNvSpPr/>
              <p:nvPr/>
            </p:nvSpPr>
            <p:spPr bwMode="auto">
              <a:xfrm>
                <a:off x="2252663" y="3433763"/>
                <a:ext cx="150813" cy="87313"/>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p:spPr>
            <p:txBody>
              <a:bodyPr anchor="ctr"/>
              <a:lstStyle/>
              <a:p>
                <a:pPr algn="ctr"/>
                <a:endParaRPr/>
              </a:p>
            </p:txBody>
          </p:sp>
          <p:sp>
            <p:nvSpPr>
              <p:cNvPr id="27" name="ïšlíďe">
                <a:extLst>
                  <a:ext uri="{FF2B5EF4-FFF2-40B4-BE49-F238E27FC236}">
                    <a16:creationId xmlns:a16="http://schemas.microsoft.com/office/drawing/2014/main" id="{98EBE66C-0602-4EDC-A017-5823F88DCAE7}"/>
                  </a:ext>
                </a:extLst>
              </p:cNvPr>
              <p:cNvSpPr/>
              <p:nvPr/>
            </p:nvSpPr>
            <p:spPr bwMode="auto">
              <a:xfrm>
                <a:off x="2262188" y="3495676"/>
                <a:ext cx="158750" cy="122238"/>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p:spPr>
            <p:txBody>
              <a:bodyPr anchor="ctr"/>
              <a:lstStyle/>
              <a:p>
                <a:pPr algn="ctr"/>
                <a:endParaRPr/>
              </a:p>
            </p:txBody>
          </p:sp>
          <p:sp>
            <p:nvSpPr>
              <p:cNvPr id="28" name="ï$ļîďe">
                <a:extLst>
                  <a:ext uri="{FF2B5EF4-FFF2-40B4-BE49-F238E27FC236}">
                    <a16:creationId xmlns:a16="http://schemas.microsoft.com/office/drawing/2014/main" id="{9B1B8DAD-7BAD-4F5F-9499-3D68232950A9}"/>
                  </a:ext>
                </a:extLst>
              </p:cNvPr>
              <p:cNvSpPr/>
              <p:nvPr/>
            </p:nvSpPr>
            <p:spPr bwMode="auto">
              <a:xfrm>
                <a:off x="2287588" y="3595688"/>
                <a:ext cx="146050" cy="122238"/>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p:spPr>
            <p:txBody>
              <a:bodyPr anchor="ctr"/>
              <a:lstStyle/>
              <a:p>
                <a:pPr algn="ctr"/>
                <a:endParaRPr/>
              </a:p>
            </p:txBody>
          </p:sp>
          <p:sp>
            <p:nvSpPr>
              <p:cNvPr id="29" name="ïs1îḓè">
                <a:extLst>
                  <a:ext uri="{FF2B5EF4-FFF2-40B4-BE49-F238E27FC236}">
                    <a16:creationId xmlns:a16="http://schemas.microsoft.com/office/drawing/2014/main" id="{6C2E4D85-5503-459F-A3F7-36F51372560F}"/>
                  </a:ext>
                </a:extLst>
              </p:cNvPr>
              <p:cNvSpPr/>
              <p:nvPr/>
            </p:nvSpPr>
            <p:spPr bwMode="auto">
              <a:xfrm>
                <a:off x="2362201" y="3686176"/>
                <a:ext cx="141288" cy="166688"/>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p:spPr>
            <p:txBody>
              <a:bodyPr anchor="ctr"/>
              <a:lstStyle/>
              <a:p>
                <a:pPr algn="ctr"/>
                <a:endParaRPr/>
              </a:p>
            </p:txBody>
          </p:sp>
          <p:sp>
            <p:nvSpPr>
              <p:cNvPr id="30" name="iṣľíďê">
                <a:extLst>
                  <a:ext uri="{FF2B5EF4-FFF2-40B4-BE49-F238E27FC236}">
                    <a16:creationId xmlns:a16="http://schemas.microsoft.com/office/drawing/2014/main" id="{7EAE270D-A360-4880-8DA7-51FA00E946FC}"/>
                  </a:ext>
                </a:extLst>
              </p:cNvPr>
              <p:cNvSpPr/>
              <p:nvPr/>
            </p:nvSpPr>
            <p:spPr bwMode="auto">
              <a:xfrm>
                <a:off x="2403476" y="3760788"/>
                <a:ext cx="155575" cy="190500"/>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p:spPr>
            <p:txBody>
              <a:bodyPr anchor="ctr"/>
              <a:lstStyle/>
              <a:p>
                <a:pPr algn="ctr"/>
                <a:endParaRPr/>
              </a:p>
            </p:txBody>
          </p:sp>
          <p:sp>
            <p:nvSpPr>
              <p:cNvPr id="31" name="iŝḷíde">
                <a:extLst>
                  <a:ext uri="{FF2B5EF4-FFF2-40B4-BE49-F238E27FC236}">
                    <a16:creationId xmlns:a16="http://schemas.microsoft.com/office/drawing/2014/main" id="{50BBD9A2-B48D-4F57-B4F4-D9D53B3409CA}"/>
                  </a:ext>
                </a:extLst>
              </p:cNvPr>
              <p:cNvSpPr/>
              <p:nvPr/>
            </p:nvSpPr>
            <p:spPr bwMode="auto">
              <a:xfrm>
                <a:off x="2476501" y="3825876"/>
                <a:ext cx="107950" cy="179388"/>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p:spPr>
            <p:txBody>
              <a:bodyPr anchor="ctr"/>
              <a:lstStyle/>
              <a:p>
                <a:pPr algn="ctr"/>
                <a:endParaRPr/>
              </a:p>
            </p:txBody>
          </p:sp>
          <p:sp>
            <p:nvSpPr>
              <p:cNvPr id="32" name="îṡḷíḍé">
                <a:extLst>
                  <a:ext uri="{FF2B5EF4-FFF2-40B4-BE49-F238E27FC236}">
                    <a16:creationId xmlns:a16="http://schemas.microsoft.com/office/drawing/2014/main" id="{6B361C17-627E-4B4C-856F-612054E5418A}"/>
                  </a:ext>
                </a:extLst>
              </p:cNvPr>
              <p:cNvSpPr/>
              <p:nvPr/>
            </p:nvSpPr>
            <p:spPr bwMode="auto">
              <a:xfrm>
                <a:off x="2533651" y="3856038"/>
                <a:ext cx="112713" cy="187325"/>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p:spPr>
            <p:txBody>
              <a:bodyPr anchor="ctr"/>
              <a:lstStyle/>
              <a:p>
                <a:pPr algn="ctr"/>
                <a:endParaRPr/>
              </a:p>
            </p:txBody>
          </p:sp>
          <p:sp>
            <p:nvSpPr>
              <p:cNvPr id="33" name="ïṡľîdè">
                <a:extLst>
                  <a:ext uri="{FF2B5EF4-FFF2-40B4-BE49-F238E27FC236}">
                    <a16:creationId xmlns:a16="http://schemas.microsoft.com/office/drawing/2014/main" id="{D2E5A10B-4586-4A46-8809-0B418136C2CC}"/>
                  </a:ext>
                </a:extLst>
              </p:cNvPr>
              <p:cNvSpPr/>
              <p:nvPr/>
            </p:nvSpPr>
            <p:spPr bwMode="auto">
              <a:xfrm>
                <a:off x="2578101" y="3905251"/>
                <a:ext cx="119063" cy="201613"/>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p:spPr>
            <p:txBody>
              <a:bodyPr anchor="ctr"/>
              <a:lstStyle/>
              <a:p>
                <a:pPr algn="ctr"/>
                <a:endParaRPr/>
              </a:p>
            </p:txBody>
          </p:sp>
          <p:sp>
            <p:nvSpPr>
              <p:cNvPr id="34" name="íślîde">
                <a:extLst>
                  <a:ext uri="{FF2B5EF4-FFF2-40B4-BE49-F238E27FC236}">
                    <a16:creationId xmlns:a16="http://schemas.microsoft.com/office/drawing/2014/main" id="{DE1032F7-7B78-4010-A4A8-3C5689C3FD41}"/>
                  </a:ext>
                </a:extLst>
              </p:cNvPr>
              <p:cNvSpPr/>
              <p:nvPr/>
            </p:nvSpPr>
            <p:spPr bwMode="auto">
              <a:xfrm>
                <a:off x="2633663" y="3940176"/>
                <a:ext cx="107950" cy="209550"/>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p:spPr>
            <p:txBody>
              <a:bodyPr anchor="ctr"/>
              <a:lstStyle/>
              <a:p>
                <a:pPr algn="ctr"/>
                <a:endParaRPr/>
              </a:p>
            </p:txBody>
          </p:sp>
          <p:sp>
            <p:nvSpPr>
              <p:cNvPr id="35" name="iŝļîḍé">
                <a:extLst>
                  <a:ext uri="{FF2B5EF4-FFF2-40B4-BE49-F238E27FC236}">
                    <a16:creationId xmlns:a16="http://schemas.microsoft.com/office/drawing/2014/main" id="{B262864B-F9CA-46EC-81E9-EA65034A9909}"/>
                  </a:ext>
                </a:extLst>
              </p:cNvPr>
              <p:cNvSpPr/>
              <p:nvPr/>
            </p:nvSpPr>
            <p:spPr bwMode="auto">
              <a:xfrm>
                <a:off x="2703513" y="3976688"/>
                <a:ext cx="84138" cy="193675"/>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p:spPr>
            <p:txBody>
              <a:bodyPr anchor="ctr"/>
              <a:lstStyle/>
              <a:p>
                <a:pPr algn="ctr"/>
                <a:endParaRPr/>
              </a:p>
            </p:txBody>
          </p:sp>
          <p:sp>
            <p:nvSpPr>
              <p:cNvPr id="36" name="iṩḻíḋè">
                <a:extLst>
                  <a:ext uri="{FF2B5EF4-FFF2-40B4-BE49-F238E27FC236}">
                    <a16:creationId xmlns:a16="http://schemas.microsoft.com/office/drawing/2014/main" id="{5AD10E81-21DD-4478-BBF9-7DCE078E878E}"/>
                  </a:ext>
                </a:extLst>
              </p:cNvPr>
              <p:cNvSpPr/>
              <p:nvPr/>
            </p:nvSpPr>
            <p:spPr bwMode="auto">
              <a:xfrm>
                <a:off x="2749551" y="3994151"/>
                <a:ext cx="73025" cy="193675"/>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p:spPr>
            <p:txBody>
              <a:bodyPr anchor="ctr"/>
              <a:lstStyle/>
              <a:p>
                <a:pPr algn="ctr"/>
                <a:endParaRPr/>
              </a:p>
            </p:txBody>
          </p:sp>
          <p:sp>
            <p:nvSpPr>
              <p:cNvPr id="37" name="iṥ1íďé">
                <a:extLst>
                  <a:ext uri="{FF2B5EF4-FFF2-40B4-BE49-F238E27FC236}">
                    <a16:creationId xmlns:a16="http://schemas.microsoft.com/office/drawing/2014/main" id="{582367DA-68AA-4E20-A82E-3D2FC50AC717}"/>
                  </a:ext>
                </a:extLst>
              </p:cNvPr>
              <p:cNvSpPr/>
              <p:nvPr/>
            </p:nvSpPr>
            <p:spPr bwMode="auto">
              <a:xfrm>
                <a:off x="2803526" y="4005263"/>
                <a:ext cx="80963" cy="200025"/>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p:spPr>
            <p:txBody>
              <a:bodyPr anchor="ctr"/>
              <a:lstStyle/>
              <a:p>
                <a:pPr algn="ctr"/>
                <a:endParaRPr/>
              </a:p>
            </p:txBody>
          </p:sp>
          <p:sp>
            <p:nvSpPr>
              <p:cNvPr id="38" name="íṥḷíḑè">
                <a:extLst>
                  <a:ext uri="{FF2B5EF4-FFF2-40B4-BE49-F238E27FC236}">
                    <a16:creationId xmlns:a16="http://schemas.microsoft.com/office/drawing/2014/main" id="{909C4D1D-BA30-4524-9BFE-59176207CB81}"/>
                  </a:ext>
                </a:extLst>
              </p:cNvPr>
              <p:cNvSpPr/>
              <p:nvPr/>
            </p:nvSpPr>
            <p:spPr bwMode="auto">
              <a:xfrm>
                <a:off x="2876551" y="4029076"/>
                <a:ext cx="74613" cy="200025"/>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p:spPr>
            <p:txBody>
              <a:bodyPr anchor="ctr"/>
              <a:lstStyle/>
              <a:p>
                <a:pPr algn="ctr"/>
                <a:endParaRPr/>
              </a:p>
            </p:txBody>
          </p:sp>
          <p:sp>
            <p:nvSpPr>
              <p:cNvPr id="39" name="iṡļiďé">
                <a:extLst>
                  <a:ext uri="{FF2B5EF4-FFF2-40B4-BE49-F238E27FC236}">
                    <a16:creationId xmlns:a16="http://schemas.microsoft.com/office/drawing/2014/main" id="{5AA3E82B-08F7-427F-B7E2-BE5071D1BDF9}"/>
                  </a:ext>
                </a:extLst>
              </p:cNvPr>
              <p:cNvSpPr/>
              <p:nvPr/>
            </p:nvSpPr>
            <p:spPr bwMode="auto">
              <a:xfrm>
                <a:off x="2973388" y="4051301"/>
                <a:ext cx="65088" cy="200025"/>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p:spPr>
            <p:txBody>
              <a:bodyPr anchor="ctr"/>
              <a:lstStyle/>
              <a:p>
                <a:pPr algn="ctr"/>
                <a:endParaRPr/>
              </a:p>
            </p:txBody>
          </p:sp>
          <p:sp>
            <p:nvSpPr>
              <p:cNvPr id="40" name="îṥļîḍè">
                <a:extLst>
                  <a:ext uri="{FF2B5EF4-FFF2-40B4-BE49-F238E27FC236}">
                    <a16:creationId xmlns:a16="http://schemas.microsoft.com/office/drawing/2014/main" id="{3A66E6C0-3FEA-45A0-84DA-A3CE05F2C618}"/>
                  </a:ext>
                </a:extLst>
              </p:cNvPr>
              <p:cNvSpPr/>
              <p:nvPr/>
            </p:nvSpPr>
            <p:spPr bwMode="auto">
              <a:xfrm>
                <a:off x="3033713" y="4057651"/>
                <a:ext cx="52388" cy="190500"/>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p:spPr>
            <p:txBody>
              <a:bodyPr anchor="ctr"/>
              <a:lstStyle/>
              <a:p>
                <a:pPr algn="ctr"/>
                <a:endParaRPr/>
              </a:p>
            </p:txBody>
          </p:sp>
          <p:sp>
            <p:nvSpPr>
              <p:cNvPr id="41" name="îsḻiḍê">
                <a:extLst>
                  <a:ext uri="{FF2B5EF4-FFF2-40B4-BE49-F238E27FC236}">
                    <a16:creationId xmlns:a16="http://schemas.microsoft.com/office/drawing/2014/main" id="{A5117214-71ED-498D-AFF8-ABDA81A3AC72}"/>
                  </a:ext>
                </a:extLst>
              </p:cNvPr>
              <p:cNvSpPr/>
              <p:nvPr/>
            </p:nvSpPr>
            <p:spPr bwMode="auto">
              <a:xfrm>
                <a:off x="3124201" y="4059238"/>
                <a:ext cx="53975" cy="198438"/>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p:spPr>
            <p:txBody>
              <a:bodyPr anchor="ctr"/>
              <a:lstStyle/>
              <a:p>
                <a:pPr algn="ctr"/>
                <a:endParaRPr/>
              </a:p>
            </p:txBody>
          </p:sp>
          <p:sp>
            <p:nvSpPr>
              <p:cNvPr id="42" name="îṣ1iḍé">
                <a:extLst>
                  <a:ext uri="{FF2B5EF4-FFF2-40B4-BE49-F238E27FC236}">
                    <a16:creationId xmlns:a16="http://schemas.microsoft.com/office/drawing/2014/main" id="{C9D65439-B53E-4BFF-B268-C9C03F972BE8}"/>
                  </a:ext>
                </a:extLst>
              </p:cNvPr>
              <p:cNvSpPr/>
              <p:nvPr/>
            </p:nvSpPr>
            <p:spPr bwMode="auto">
              <a:xfrm>
                <a:off x="3171826" y="4054476"/>
                <a:ext cx="65088" cy="198438"/>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p:spPr>
            <p:txBody>
              <a:bodyPr anchor="ctr"/>
              <a:lstStyle/>
              <a:p>
                <a:pPr algn="ctr"/>
                <a:endParaRPr/>
              </a:p>
            </p:txBody>
          </p:sp>
          <p:sp>
            <p:nvSpPr>
              <p:cNvPr id="43" name="íşľîḋé">
                <a:extLst>
                  <a:ext uri="{FF2B5EF4-FFF2-40B4-BE49-F238E27FC236}">
                    <a16:creationId xmlns:a16="http://schemas.microsoft.com/office/drawing/2014/main" id="{AFC2ED14-F5AA-40F8-A040-6661C6CD5411}"/>
                  </a:ext>
                </a:extLst>
              </p:cNvPr>
              <p:cNvSpPr/>
              <p:nvPr/>
            </p:nvSpPr>
            <p:spPr bwMode="auto">
              <a:xfrm>
                <a:off x="3222626" y="4043363"/>
                <a:ext cx="57150" cy="195263"/>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p:spPr>
            <p:txBody>
              <a:bodyPr anchor="ctr"/>
              <a:lstStyle/>
              <a:p>
                <a:pPr algn="ctr"/>
                <a:endParaRPr/>
              </a:p>
            </p:txBody>
          </p:sp>
          <p:sp>
            <p:nvSpPr>
              <p:cNvPr id="44" name="íṣ1iḍe">
                <a:extLst>
                  <a:ext uri="{FF2B5EF4-FFF2-40B4-BE49-F238E27FC236}">
                    <a16:creationId xmlns:a16="http://schemas.microsoft.com/office/drawing/2014/main" id="{6ED4BBC0-E44B-46AE-9421-A43CFC6E7501}"/>
                  </a:ext>
                </a:extLst>
              </p:cNvPr>
              <p:cNvSpPr/>
              <p:nvPr/>
            </p:nvSpPr>
            <p:spPr bwMode="auto">
              <a:xfrm>
                <a:off x="3257551" y="4022726"/>
                <a:ext cx="88900" cy="201613"/>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p:spPr>
            <p:txBody>
              <a:bodyPr anchor="ctr"/>
              <a:lstStyle/>
              <a:p>
                <a:pPr algn="ctr"/>
                <a:endParaRPr/>
              </a:p>
            </p:txBody>
          </p:sp>
          <p:sp>
            <p:nvSpPr>
              <p:cNvPr id="45" name="işľíḑê">
                <a:extLst>
                  <a:ext uri="{FF2B5EF4-FFF2-40B4-BE49-F238E27FC236}">
                    <a16:creationId xmlns:a16="http://schemas.microsoft.com/office/drawing/2014/main" id="{05CBB044-FA1C-48BD-AB18-2CB503606613}"/>
                  </a:ext>
                </a:extLst>
              </p:cNvPr>
              <p:cNvSpPr/>
              <p:nvPr/>
            </p:nvSpPr>
            <p:spPr bwMode="auto">
              <a:xfrm>
                <a:off x="3314701" y="4000501"/>
                <a:ext cx="95250" cy="207963"/>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p:spPr>
            <p:txBody>
              <a:bodyPr anchor="ctr"/>
              <a:lstStyle/>
              <a:p>
                <a:pPr algn="ctr"/>
                <a:endParaRPr/>
              </a:p>
            </p:txBody>
          </p:sp>
          <p:sp>
            <p:nvSpPr>
              <p:cNvPr id="46" name="îṥ1îďê">
                <a:extLst>
                  <a:ext uri="{FF2B5EF4-FFF2-40B4-BE49-F238E27FC236}">
                    <a16:creationId xmlns:a16="http://schemas.microsoft.com/office/drawing/2014/main" id="{A4D73FB8-896D-46D2-A0F0-A24C0946AAE9}"/>
                  </a:ext>
                </a:extLst>
              </p:cNvPr>
              <p:cNvSpPr/>
              <p:nvPr/>
            </p:nvSpPr>
            <p:spPr bwMode="auto">
              <a:xfrm>
                <a:off x="3392488" y="3979863"/>
                <a:ext cx="76200" cy="198438"/>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p:spPr>
            <p:txBody>
              <a:bodyPr anchor="ctr"/>
              <a:lstStyle/>
              <a:p>
                <a:pPr algn="ctr"/>
                <a:endParaRPr/>
              </a:p>
            </p:txBody>
          </p:sp>
          <p:sp>
            <p:nvSpPr>
              <p:cNvPr id="47" name="îś1îḓe">
                <a:extLst>
                  <a:ext uri="{FF2B5EF4-FFF2-40B4-BE49-F238E27FC236}">
                    <a16:creationId xmlns:a16="http://schemas.microsoft.com/office/drawing/2014/main" id="{39C87C6E-ED98-4ABF-A75D-6726EDEDC1CE}"/>
                  </a:ext>
                </a:extLst>
              </p:cNvPr>
              <p:cNvSpPr/>
              <p:nvPr/>
            </p:nvSpPr>
            <p:spPr bwMode="auto">
              <a:xfrm>
                <a:off x="3438526" y="3952876"/>
                <a:ext cx="103188" cy="203200"/>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p:spPr>
            <p:txBody>
              <a:bodyPr anchor="ctr"/>
              <a:lstStyle/>
              <a:p>
                <a:pPr algn="ctr"/>
                <a:endParaRPr/>
              </a:p>
            </p:txBody>
          </p:sp>
          <p:sp>
            <p:nvSpPr>
              <p:cNvPr id="48" name="íşḻiḓe">
                <a:extLst>
                  <a:ext uri="{FF2B5EF4-FFF2-40B4-BE49-F238E27FC236}">
                    <a16:creationId xmlns:a16="http://schemas.microsoft.com/office/drawing/2014/main" id="{7C123004-D749-4A75-9EDC-CA25DA79C4FD}"/>
                  </a:ext>
                </a:extLst>
              </p:cNvPr>
              <p:cNvSpPr/>
              <p:nvPr/>
            </p:nvSpPr>
            <p:spPr bwMode="auto">
              <a:xfrm>
                <a:off x="3540126" y="3905251"/>
                <a:ext cx="101600" cy="193675"/>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p:spPr>
            <p:txBody>
              <a:bodyPr anchor="ctr"/>
              <a:lstStyle/>
              <a:p>
                <a:pPr algn="ctr"/>
                <a:endParaRPr/>
              </a:p>
            </p:txBody>
          </p:sp>
          <p:sp>
            <p:nvSpPr>
              <p:cNvPr id="49" name="iSliḋê">
                <a:extLst>
                  <a:ext uri="{FF2B5EF4-FFF2-40B4-BE49-F238E27FC236}">
                    <a16:creationId xmlns:a16="http://schemas.microsoft.com/office/drawing/2014/main" id="{C1E848E0-FC21-4A0A-89F4-DF486F6E5034}"/>
                  </a:ext>
                </a:extLst>
              </p:cNvPr>
              <p:cNvSpPr/>
              <p:nvPr/>
            </p:nvSpPr>
            <p:spPr bwMode="auto">
              <a:xfrm>
                <a:off x="3557588" y="3838576"/>
                <a:ext cx="133350" cy="211138"/>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p:spPr>
            <p:txBody>
              <a:bodyPr anchor="ctr"/>
              <a:lstStyle/>
              <a:p>
                <a:pPr algn="ctr"/>
                <a:endParaRPr/>
              </a:p>
            </p:txBody>
          </p:sp>
          <p:sp>
            <p:nvSpPr>
              <p:cNvPr id="50" name="íṡļïďè">
                <a:extLst>
                  <a:ext uri="{FF2B5EF4-FFF2-40B4-BE49-F238E27FC236}">
                    <a16:creationId xmlns:a16="http://schemas.microsoft.com/office/drawing/2014/main" id="{1927F256-C6E0-4DC5-B8BC-7D4EA5ED56BA}"/>
                  </a:ext>
                </a:extLst>
              </p:cNvPr>
              <p:cNvSpPr/>
              <p:nvPr/>
            </p:nvSpPr>
            <p:spPr bwMode="auto">
              <a:xfrm>
                <a:off x="3624263" y="3802063"/>
                <a:ext cx="112713" cy="185738"/>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p:spPr>
            <p:txBody>
              <a:bodyPr anchor="ctr"/>
              <a:lstStyle/>
              <a:p>
                <a:pPr algn="ctr"/>
                <a:endParaRPr/>
              </a:p>
            </p:txBody>
          </p:sp>
          <p:sp>
            <p:nvSpPr>
              <p:cNvPr id="51" name="íṡ1íḍê">
                <a:extLst>
                  <a:ext uri="{FF2B5EF4-FFF2-40B4-BE49-F238E27FC236}">
                    <a16:creationId xmlns:a16="http://schemas.microsoft.com/office/drawing/2014/main" id="{7392700E-72FA-43E5-B856-DD07F26BF1EC}"/>
                  </a:ext>
                </a:extLst>
              </p:cNvPr>
              <p:cNvSpPr/>
              <p:nvPr/>
            </p:nvSpPr>
            <p:spPr bwMode="auto">
              <a:xfrm>
                <a:off x="3683001" y="3697288"/>
                <a:ext cx="142875" cy="160338"/>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p:spPr>
            <p:txBody>
              <a:bodyPr anchor="ctr"/>
              <a:lstStyle/>
              <a:p>
                <a:pPr algn="ctr"/>
                <a:endParaRPr/>
              </a:p>
            </p:txBody>
          </p:sp>
          <p:sp>
            <p:nvSpPr>
              <p:cNvPr id="52" name="íṥ1îdê">
                <a:extLst>
                  <a:ext uri="{FF2B5EF4-FFF2-40B4-BE49-F238E27FC236}">
                    <a16:creationId xmlns:a16="http://schemas.microsoft.com/office/drawing/2014/main" id="{B31FF8D8-53DA-4F89-BF23-6D381C80027E}"/>
                  </a:ext>
                </a:extLst>
              </p:cNvPr>
              <p:cNvSpPr/>
              <p:nvPr/>
            </p:nvSpPr>
            <p:spPr bwMode="auto">
              <a:xfrm>
                <a:off x="3717926" y="3638551"/>
                <a:ext cx="152400" cy="160338"/>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p:spPr>
            <p:txBody>
              <a:bodyPr anchor="ctr"/>
              <a:lstStyle/>
              <a:p>
                <a:pPr algn="ctr"/>
                <a:endParaRPr/>
              </a:p>
            </p:txBody>
          </p:sp>
          <p:sp>
            <p:nvSpPr>
              <p:cNvPr id="53" name="íṧḻïďé">
                <a:extLst>
                  <a:ext uri="{FF2B5EF4-FFF2-40B4-BE49-F238E27FC236}">
                    <a16:creationId xmlns:a16="http://schemas.microsoft.com/office/drawing/2014/main" id="{B09F8A3C-88B5-4819-8A2F-6D9786527AB7}"/>
                  </a:ext>
                </a:extLst>
              </p:cNvPr>
              <p:cNvSpPr/>
              <p:nvPr/>
            </p:nvSpPr>
            <p:spPr bwMode="auto">
              <a:xfrm>
                <a:off x="3756026" y="3581401"/>
                <a:ext cx="144463" cy="115888"/>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p:spPr>
            <p:txBody>
              <a:bodyPr anchor="ctr"/>
              <a:lstStyle/>
              <a:p>
                <a:pPr algn="ctr"/>
                <a:endParaRPr/>
              </a:p>
            </p:txBody>
          </p:sp>
          <p:sp>
            <p:nvSpPr>
              <p:cNvPr id="54" name="iSlídè">
                <a:extLst>
                  <a:ext uri="{FF2B5EF4-FFF2-40B4-BE49-F238E27FC236}">
                    <a16:creationId xmlns:a16="http://schemas.microsoft.com/office/drawing/2014/main" id="{9B63C3C8-4AE0-4405-ACE9-01CA4A11816E}"/>
                  </a:ext>
                </a:extLst>
              </p:cNvPr>
              <p:cNvSpPr/>
              <p:nvPr/>
            </p:nvSpPr>
            <p:spPr bwMode="auto">
              <a:xfrm>
                <a:off x="3767138" y="3487738"/>
                <a:ext cx="155575" cy="131763"/>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p:spPr>
            <p:txBody>
              <a:bodyPr anchor="ctr"/>
              <a:lstStyle/>
              <a:p>
                <a:pPr algn="ctr"/>
                <a:endParaRPr/>
              </a:p>
            </p:txBody>
          </p:sp>
          <p:sp>
            <p:nvSpPr>
              <p:cNvPr id="55" name="îṣľíḋé">
                <a:extLst>
                  <a:ext uri="{FF2B5EF4-FFF2-40B4-BE49-F238E27FC236}">
                    <a16:creationId xmlns:a16="http://schemas.microsoft.com/office/drawing/2014/main" id="{472C7F56-01D6-42A9-8C6D-DE1F9A7FBB66}"/>
                  </a:ext>
                </a:extLst>
              </p:cNvPr>
              <p:cNvSpPr/>
              <p:nvPr/>
            </p:nvSpPr>
            <p:spPr bwMode="auto">
              <a:xfrm>
                <a:off x="3783013" y="3394076"/>
                <a:ext cx="147638" cy="96838"/>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p:spPr>
            <p:txBody>
              <a:bodyPr anchor="ctr"/>
              <a:lstStyle/>
              <a:p>
                <a:pPr algn="ctr"/>
                <a:endParaRPr/>
              </a:p>
            </p:txBody>
          </p:sp>
          <p:sp>
            <p:nvSpPr>
              <p:cNvPr id="56" name="iṧľîḋè">
                <a:extLst>
                  <a:ext uri="{FF2B5EF4-FFF2-40B4-BE49-F238E27FC236}">
                    <a16:creationId xmlns:a16="http://schemas.microsoft.com/office/drawing/2014/main" id="{76AC9B29-1DFB-4408-930C-050128F5D4FD}"/>
                  </a:ext>
                </a:extLst>
              </p:cNvPr>
              <p:cNvSpPr/>
              <p:nvPr/>
            </p:nvSpPr>
            <p:spPr bwMode="auto">
              <a:xfrm>
                <a:off x="3779838" y="3303588"/>
                <a:ext cx="152400" cy="88900"/>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p:spPr>
            <p:txBody>
              <a:bodyPr anchor="ctr"/>
              <a:lstStyle/>
              <a:p>
                <a:pPr algn="ctr"/>
                <a:endParaRPr/>
              </a:p>
            </p:txBody>
          </p:sp>
          <p:sp>
            <p:nvSpPr>
              <p:cNvPr id="57" name="ïSļiḓe">
                <a:extLst>
                  <a:ext uri="{FF2B5EF4-FFF2-40B4-BE49-F238E27FC236}">
                    <a16:creationId xmlns:a16="http://schemas.microsoft.com/office/drawing/2014/main" id="{950B0B74-6989-4CD4-97C3-D8CB942C72C4}"/>
                  </a:ext>
                </a:extLst>
              </p:cNvPr>
              <p:cNvSpPr/>
              <p:nvPr/>
            </p:nvSpPr>
            <p:spPr bwMode="auto">
              <a:xfrm>
                <a:off x="3770313" y="3214688"/>
                <a:ext cx="147638" cy="112713"/>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p:spPr>
            <p:txBody>
              <a:bodyPr anchor="ctr"/>
              <a:lstStyle/>
              <a:p>
                <a:pPr algn="ctr"/>
                <a:endParaRPr/>
              </a:p>
            </p:txBody>
          </p:sp>
          <p:sp>
            <p:nvSpPr>
              <p:cNvPr id="58" name="ïṥḻíḑè">
                <a:extLst>
                  <a:ext uri="{FF2B5EF4-FFF2-40B4-BE49-F238E27FC236}">
                    <a16:creationId xmlns:a16="http://schemas.microsoft.com/office/drawing/2014/main" id="{F99C67CB-1EE8-4624-B844-EB2DDF0799E6}"/>
                  </a:ext>
                </a:extLst>
              </p:cNvPr>
              <p:cNvSpPr/>
              <p:nvPr/>
            </p:nvSpPr>
            <p:spPr bwMode="auto">
              <a:xfrm>
                <a:off x="3744913" y="3141663"/>
                <a:ext cx="144463" cy="112713"/>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p:spPr>
            <p:txBody>
              <a:bodyPr anchor="ctr"/>
              <a:lstStyle/>
              <a:p>
                <a:pPr algn="ctr"/>
                <a:endParaRPr/>
              </a:p>
            </p:txBody>
          </p:sp>
          <p:sp>
            <p:nvSpPr>
              <p:cNvPr id="59" name="ïṩľiḓê">
                <a:extLst>
                  <a:ext uri="{FF2B5EF4-FFF2-40B4-BE49-F238E27FC236}">
                    <a16:creationId xmlns:a16="http://schemas.microsoft.com/office/drawing/2014/main" id="{8A38E0D2-C9D5-4DE1-AE73-7E51FCBF13F6}"/>
                  </a:ext>
                </a:extLst>
              </p:cNvPr>
              <p:cNvSpPr/>
              <p:nvPr/>
            </p:nvSpPr>
            <p:spPr bwMode="auto">
              <a:xfrm>
                <a:off x="3713163" y="3041651"/>
                <a:ext cx="139700" cy="138113"/>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p:spPr>
            <p:txBody>
              <a:bodyPr anchor="ctr"/>
              <a:lstStyle/>
              <a:p>
                <a:pPr algn="ctr"/>
                <a:endParaRPr/>
              </a:p>
            </p:txBody>
          </p:sp>
          <p:sp>
            <p:nvSpPr>
              <p:cNvPr id="60" name="íşlîḓê">
                <a:extLst>
                  <a:ext uri="{FF2B5EF4-FFF2-40B4-BE49-F238E27FC236}">
                    <a16:creationId xmlns:a16="http://schemas.microsoft.com/office/drawing/2014/main" id="{190AE5E5-83B1-4888-B025-F475A7F9EAA9}"/>
                  </a:ext>
                </a:extLst>
              </p:cNvPr>
              <p:cNvSpPr/>
              <p:nvPr/>
            </p:nvSpPr>
            <p:spPr bwMode="auto">
              <a:xfrm>
                <a:off x="3665538" y="2970213"/>
                <a:ext cx="142875" cy="166688"/>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p:spPr>
            <p:txBody>
              <a:bodyPr anchor="ctr"/>
              <a:lstStyle/>
              <a:p>
                <a:pPr algn="ctr"/>
                <a:endParaRPr/>
              </a:p>
            </p:txBody>
          </p:sp>
          <p:sp>
            <p:nvSpPr>
              <p:cNvPr id="61" name="íşlîḍè">
                <a:extLst>
                  <a:ext uri="{FF2B5EF4-FFF2-40B4-BE49-F238E27FC236}">
                    <a16:creationId xmlns:a16="http://schemas.microsoft.com/office/drawing/2014/main" id="{1D314AFA-24F0-4418-B57F-7984EE2C1E5D}"/>
                  </a:ext>
                </a:extLst>
              </p:cNvPr>
              <p:cNvSpPr/>
              <p:nvPr/>
            </p:nvSpPr>
            <p:spPr bwMode="auto">
              <a:xfrm>
                <a:off x="2770188" y="3314701"/>
                <a:ext cx="93663" cy="185738"/>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2" name="îšļîďê">
                <a:extLst>
                  <a:ext uri="{FF2B5EF4-FFF2-40B4-BE49-F238E27FC236}">
                    <a16:creationId xmlns:a16="http://schemas.microsoft.com/office/drawing/2014/main" id="{95964BC1-EDD8-4C6B-A8A4-BCD51549F4AD}"/>
                  </a:ext>
                </a:extLst>
              </p:cNvPr>
              <p:cNvSpPr/>
              <p:nvPr/>
            </p:nvSpPr>
            <p:spPr bwMode="auto">
              <a:xfrm>
                <a:off x="2841626" y="3314701"/>
                <a:ext cx="100013" cy="185738"/>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3" name="ïSľïḑé">
                <a:extLst>
                  <a:ext uri="{FF2B5EF4-FFF2-40B4-BE49-F238E27FC236}">
                    <a16:creationId xmlns:a16="http://schemas.microsoft.com/office/drawing/2014/main" id="{D7F49286-CBF8-41C3-B569-45BE31D90595}"/>
                  </a:ext>
                </a:extLst>
              </p:cNvPr>
              <p:cNvSpPr/>
              <p:nvPr/>
            </p:nvSpPr>
            <p:spPr bwMode="auto">
              <a:xfrm>
                <a:off x="2825751" y="3427413"/>
                <a:ext cx="39688" cy="23813"/>
              </a:xfrm>
              <a:prstGeom prst="rect">
                <a:avLst/>
              </a:prstGeom>
              <a:grpFill/>
              <a:ln>
                <a:noFill/>
              </a:ln>
            </p:spPr>
            <p:txBody>
              <a:bodyPr anchor="ctr"/>
              <a:lstStyle/>
              <a:p>
                <a:pPr algn="ctr"/>
                <a:endParaRPr/>
              </a:p>
            </p:txBody>
          </p:sp>
          <p:sp>
            <p:nvSpPr>
              <p:cNvPr id="64" name="í$ḻïḍê">
                <a:extLst>
                  <a:ext uri="{FF2B5EF4-FFF2-40B4-BE49-F238E27FC236}">
                    <a16:creationId xmlns:a16="http://schemas.microsoft.com/office/drawing/2014/main" id="{D74B1558-E4C2-4A51-961C-B0B2050D01E1}"/>
                  </a:ext>
                </a:extLst>
              </p:cNvPr>
              <p:cNvSpPr/>
              <p:nvPr/>
            </p:nvSpPr>
            <p:spPr bwMode="auto">
              <a:xfrm>
                <a:off x="2916238" y="3314701"/>
                <a:ext cx="95250" cy="185738"/>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65" name="is1íḋe">
                <a:extLst>
                  <a:ext uri="{FF2B5EF4-FFF2-40B4-BE49-F238E27FC236}">
                    <a16:creationId xmlns:a16="http://schemas.microsoft.com/office/drawing/2014/main" id="{F531C9B4-9F6F-4D2F-A2BB-37B78A40E143}"/>
                  </a:ext>
                </a:extLst>
              </p:cNvPr>
              <p:cNvSpPr/>
              <p:nvPr/>
            </p:nvSpPr>
            <p:spPr bwMode="auto">
              <a:xfrm>
                <a:off x="2987676" y="3314701"/>
                <a:ext cx="93663" cy="185738"/>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66" name="iṩlîḓé">
                <a:extLst>
                  <a:ext uri="{FF2B5EF4-FFF2-40B4-BE49-F238E27FC236}">
                    <a16:creationId xmlns:a16="http://schemas.microsoft.com/office/drawing/2014/main" id="{16B03EE1-7118-4778-B690-5809D06C083F}"/>
                  </a:ext>
                </a:extLst>
              </p:cNvPr>
              <p:cNvSpPr/>
              <p:nvPr/>
            </p:nvSpPr>
            <p:spPr bwMode="auto">
              <a:xfrm>
                <a:off x="2965451" y="3475038"/>
                <a:ext cx="39688" cy="25400"/>
              </a:xfrm>
              <a:prstGeom prst="rect">
                <a:avLst/>
              </a:prstGeom>
              <a:grpFill/>
              <a:ln>
                <a:noFill/>
              </a:ln>
            </p:spPr>
            <p:txBody>
              <a:bodyPr anchor="ctr"/>
              <a:lstStyle/>
              <a:p>
                <a:pPr algn="ctr"/>
                <a:endParaRPr/>
              </a:p>
            </p:txBody>
          </p:sp>
          <p:sp>
            <p:nvSpPr>
              <p:cNvPr id="67" name="ïṩ1îḑê">
                <a:extLst>
                  <a:ext uri="{FF2B5EF4-FFF2-40B4-BE49-F238E27FC236}">
                    <a16:creationId xmlns:a16="http://schemas.microsoft.com/office/drawing/2014/main" id="{8002943E-DC56-40A4-99FC-AA3A901F76B1}"/>
                  </a:ext>
                </a:extLst>
              </p:cNvPr>
              <p:cNvSpPr/>
              <p:nvPr/>
            </p:nvSpPr>
            <p:spPr bwMode="auto">
              <a:xfrm>
                <a:off x="2700338" y="3032126"/>
                <a:ext cx="776288" cy="519113"/>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68" name="ïṡľîdé">
                <a:extLst>
                  <a:ext uri="{FF2B5EF4-FFF2-40B4-BE49-F238E27FC236}">
                    <a16:creationId xmlns:a16="http://schemas.microsoft.com/office/drawing/2014/main" id="{BA82DD9C-7DFD-48DC-9A24-BA46B82FD344}"/>
                  </a:ext>
                </a:extLst>
              </p:cNvPr>
              <p:cNvSpPr/>
              <p:nvPr/>
            </p:nvSpPr>
            <p:spPr bwMode="auto">
              <a:xfrm>
                <a:off x="3200401" y="3295651"/>
                <a:ext cx="111125" cy="250825"/>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sp>
            <p:nvSpPr>
              <p:cNvPr id="69" name="îśľîdé">
                <a:extLst>
                  <a:ext uri="{FF2B5EF4-FFF2-40B4-BE49-F238E27FC236}">
                    <a16:creationId xmlns:a16="http://schemas.microsoft.com/office/drawing/2014/main" id="{68A04A8A-2388-4CCF-B455-617ABCDF986E}"/>
                  </a:ext>
                </a:extLst>
              </p:cNvPr>
              <p:cNvSpPr/>
              <p:nvPr/>
            </p:nvSpPr>
            <p:spPr bwMode="auto">
              <a:xfrm>
                <a:off x="3097213" y="2620963"/>
                <a:ext cx="166688" cy="196850"/>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E60012"/>
              </a:solidFill>
              <a:ln>
                <a:noFill/>
              </a:ln>
            </p:spPr>
            <p:txBody>
              <a:bodyPr anchor="ctr"/>
              <a:lstStyle/>
              <a:p>
                <a:pPr algn="ctr"/>
                <a:endParaRPr/>
              </a:p>
            </p:txBody>
          </p:sp>
          <p:sp>
            <p:nvSpPr>
              <p:cNvPr id="70" name="ïṩļíḑè">
                <a:extLst>
                  <a:ext uri="{FF2B5EF4-FFF2-40B4-BE49-F238E27FC236}">
                    <a16:creationId xmlns:a16="http://schemas.microsoft.com/office/drawing/2014/main" id="{49924D84-489C-4463-9732-8D29E6D53278}"/>
                  </a:ext>
                </a:extLst>
              </p:cNvPr>
              <p:cNvSpPr/>
              <p:nvPr/>
            </p:nvSpPr>
            <p:spPr bwMode="auto">
              <a:xfrm>
                <a:off x="3298826" y="2668588"/>
                <a:ext cx="149225" cy="203200"/>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E60012"/>
              </a:solidFill>
              <a:ln>
                <a:noFill/>
              </a:ln>
            </p:spPr>
            <p:txBody>
              <a:bodyPr anchor="ctr"/>
              <a:lstStyle/>
              <a:p>
                <a:pPr algn="ctr"/>
                <a:endParaRPr/>
              </a:p>
            </p:txBody>
          </p:sp>
          <p:sp>
            <p:nvSpPr>
              <p:cNvPr id="71" name="i$ļíḍé">
                <a:extLst>
                  <a:ext uri="{FF2B5EF4-FFF2-40B4-BE49-F238E27FC236}">
                    <a16:creationId xmlns:a16="http://schemas.microsoft.com/office/drawing/2014/main" id="{A59A6242-8228-4E8C-9B15-66218668DAED}"/>
                  </a:ext>
                </a:extLst>
              </p:cNvPr>
              <p:cNvSpPr/>
              <p:nvPr/>
            </p:nvSpPr>
            <p:spPr bwMode="auto">
              <a:xfrm>
                <a:off x="2711451" y="2667001"/>
                <a:ext cx="95250" cy="222250"/>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E60012"/>
              </a:solidFill>
              <a:ln>
                <a:noFill/>
              </a:ln>
            </p:spPr>
            <p:txBody>
              <a:bodyPr anchor="ctr"/>
              <a:lstStyle/>
              <a:p>
                <a:pPr algn="ctr"/>
                <a:endParaRPr/>
              </a:p>
            </p:txBody>
          </p:sp>
          <p:sp>
            <p:nvSpPr>
              <p:cNvPr id="72" name="î$lîde">
                <a:extLst>
                  <a:ext uri="{FF2B5EF4-FFF2-40B4-BE49-F238E27FC236}">
                    <a16:creationId xmlns:a16="http://schemas.microsoft.com/office/drawing/2014/main" id="{6849EFBD-777C-4105-B662-848D6BF47BEC}"/>
                  </a:ext>
                </a:extLst>
              </p:cNvPr>
              <p:cNvSpPr/>
              <p:nvPr/>
            </p:nvSpPr>
            <p:spPr bwMode="auto">
              <a:xfrm>
                <a:off x="3482976" y="2732088"/>
                <a:ext cx="207963" cy="249238"/>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E60012"/>
              </a:solidFill>
              <a:ln>
                <a:noFill/>
              </a:ln>
            </p:spPr>
            <p:txBody>
              <a:bodyPr anchor="ctr"/>
              <a:lstStyle/>
              <a:p>
                <a:pPr algn="ctr"/>
                <a:endParaRPr/>
              </a:p>
            </p:txBody>
          </p:sp>
          <p:sp>
            <p:nvSpPr>
              <p:cNvPr id="73" name="íṧļide">
                <a:extLst>
                  <a:ext uri="{FF2B5EF4-FFF2-40B4-BE49-F238E27FC236}">
                    <a16:creationId xmlns:a16="http://schemas.microsoft.com/office/drawing/2014/main" id="{AE656C30-9641-4271-B496-C46C6F95199B}"/>
                  </a:ext>
                </a:extLst>
              </p:cNvPr>
              <p:cNvSpPr/>
              <p:nvPr/>
            </p:nvSpPr>
            <p:spPr bwMode="auto">
              <a:xfrm>
                <a:off x="2887663" y="2605088"/>
                <a:ext cx="152400" cy="23336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E60012"/>
              </a:solidFill>
              <a:ln>
                <a:noFill/>
              </a:ln>
            </p:spPr>
            <p:txBody>
              <a:bodyPr anchor="ctr"/>
              <a:lstStyle/>
              <a:p>
                <a:pPr algn="ctr"/>
                <a:endParaRPr/>
              </a:p>
            </p:txBody>
          </p:sp>
          <p:sp>
            <p:nvSpPr>
              <p:cNvPr id="74" name="íṩḻíḓe">
                <a:extLst>
                  <a:ext uri="{FF2B5EF4-FFF2-40B4-BE49-F238E27FC236}">
                    <a16:creationId xmlns:a16="http://schemas.microsoft.com/office/drawing/2014/main" id="{8BAED339-58FD-40F4-95A0-128CA78CF52C}"/>
                  </a:ext>
                </a:extLst>
              </p:cNvPr>
              <p:cNvSpPr/>
              <p:nvPr/>
            </p:nvSpPr>
            <p:spPr bwMode="auto">
              <a:xfrm>
                <a:off x="2519363" y="2747963"/>
                <a:ext cx="141288" cy="239713"/>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E60012"/>
              </a:solidFill>
              <a:ln>
                <a:noFill/>
              </a:ln>
            </p:spPr>
            <p:txBody>
              <a:bodyPr anchor="ctr"/>
              <a:lstStyle/>
              <a:p>
                <a:pPr algn="ctr"/>
                <a:endParaRPr/>
              </a:p>
            </p:txBody>
          </p:sp>
          <p:sp>
            <p:nvSpPr>
              <p:cNvPr id="75" name="îsļíḑe">
                <a:extLst>
                  <a:ext uri="{FF2B5EF4-FFF2-40B4-BE49-F238E27FC236}">
                    <a16:creationId xmlns:a16="http://schemas.microsoft.com/office/drawing/2014/main" id="{29C15443-070D-43F7-8B1D-9E490C078990}"/>
                  </a:ext>
                </a:extLst>
              </p:cNvPr>
              <p:cNvSpPr/>
              <p:nvPr/>
            </p:nvSpPr>
            <p:spPr bwMode="auto">
              <a:xfrm>
                <a:off x="2944813" y="3798888"/>
                <a:ext cx="292100" cy="53975"/>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grpFill/>
              <a:ln>
                <a:noFill/>
              </a:ln>
            </p:spPr>
            <p:txBody>
              <a:bodyPr anchor="ctr"/>
              <a:lstStyle/>
              <a:p>
                <a:pPr algn="ctr"/>
                <a:endParaRPr/>
              </a:p>
            </p:txBody>
          </p:sp>
          <p:sp>
            <p:nvSpPr>
              <p:cNvPr id="76" name="ïṩľíḓè">
                <a:extLst>
                  <a:ext uri="{FF2B5EF4-FFF2-40B4-BE49-F238E27FC236}">
                    <a16:creationId xmlns:a16="http://schemas.microsoft.com/office/drawing/2014/main" id="{B4045274-10DA-4F21-9700-3973B15A3855}"/>
                  </a:ext>
                </a:extLst>
              </p:cNvPr>
              <p:cNvSpPr/>
              <p:nvPr/>
            </p:nvSpPr>
            <p:spPr bwMode="auto">
              <a:xfrm>
                <a:off x="2601913" y="3629026"/>
                <a:ext cx="976313" cy="134938"/>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noFill/>
              <a:ln>
                <a:solidFill>
                  <a:schemeClr val="accent1"/>
                </a:solidFill>
              </a:ln>
            </p:spPr>
            <p:txBody>
              <a:bodyPr anchor="ctr"/>
              <a:lstStyle/>
              <a:p>
                <a:pPr algn="ctr"/>
                <a:endParaRPr/>
              </a:p>
            </p:txBody>
          </p:sp>
          <p:sp>
            <p:nvSpPr>
              <p:cNvPr id="77" name="ïŝļíḑè">
                <a:extLst>
                  <a:ext uri="{FF2B5EF4-FFF2-40B4-BE49-F238E27FC236}">
                    <a16:creationId xmlns:a16="http://schemas.microsoft.com/office/drawing/2014/main" id="{BB9F8E61-8B1B-4294-8BB3-D4EA1CC0E990}"/>
                  </a:ext>
                </a:extLst>
              </p:cNvPr>
              <p:cNvSpPr/>
              <p:nvPr/>
            </p:nvSpPr>
            <p:spPr bwMode="auto">
              <a:xfrm>
                <a:off x="2709863" y="3643313"/>
                <a:ext cx="493713" cy="95250"/>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grpFill/>
              <a:ln>
                <a:noFill/>
              </a:ln>
            </p:spPr>
            <p:txBody>
              <a:bodyPr anchor="ctr"/>
              <a:lstStyle/>
              <a:p>
                <a:pPr algn="ctr"/>
                <a:endParaRPr/>
              </a:p>
            </p:txBody>
          </p:sp>
          <p:sp>
            <p:nvSpPr>
              <p:cNvPr id="78" name="iŝḷïďé">
                <a:extLst>
                  <a:ext uri="{FF2B5EF4-FFF2-40B4-BE49-F238E27FC236}">
                    <a16:creationId xmlns:a16="http://schemas.microsoft.com/office/drawing/2014/main" id="{A5BAE57E-0482-4E8A-809C-C0A0A1192F28}"/>
                  </a:ext>
                </a:extLst>
              </p:cNvPr>
              <p:cNvSpPr/>
              <p:nvPr/>
            </p:nvSpPr>
            <p:spPr bwMode="auto">
              <a:xfrm>
                <a:off x="3214688" y="3644901"/>
                <a:ext cx="268288" cy="95250"/>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grpFill/>
              <a:ln>
                <a:noFill/>
              </a:ln>
            </p:spPr>
            <p:txBody>
              <a:bodyPr anchor="ctr"/>
              <a:lstStyle/>
              <a:p>
                <a:pPr algn="ctr"/>
                <a:endParaRPr/>
              </a:p>
            </p:txBody>
          </p:sp>
          <p:sp>
            <p:nvSpPr>
              <p:cNvPr id="79" name="îślïḓè">
                <a:extLst>
                  <a:ext uri="{FF2B5EF4-FFF2-40B4-BE49-F238E27FC236}">
                    <a16:creationId xmlns:a16="http://schemas.microsoft.com/office/drawing/2014/main" id="{2A42BFF3-0453-4964-B5C1-4481A38B5BB7}"/>
                  </a:ext>
                </a:extLst>
              </p:cNvPr>
              <p:cNvSpPr/>
              <p:nvPr/>
            </p:nvSpPr>
            <p:spPr bwMode="auto">
              <a:xfrm>
                <a:off x="2565401" y="2881313"/>
                <a:ext cx="1050925" cy="1093788"/>
              </a:xfrm>
              <a:prstGeom prst="ellipse">
                <a:avLst/>
              </a:prstGeom>
              <a:noFill/>
              <a:ln w="14288" cap="flat">
                <a:solidFill>
                  <a:schemeClr val="accent1"/>
                </a:solidFill>
                <a:prstDash val="solid"/>
                <a:round/>
                <a:headEnd/>
                <a:tailEnd/>
              </a:ln>
            </p:spPr>
            <p:txBody>
              <a:bodyPr anchor="ctr"/>
              <a:lstStyle/>
              <a:p>
                <a:pPr algn="ctr"/>
                <a:endParaRPr/>
              </a:p>
            </p:txBody>
          </p:sp>
          <p:sp>
            <p:nvSpPr>
              <p:cNvPr id="80" name="ïṡliḓe">
                <a:extLst>
                  <a:ext uri="{FF2B5EF4-FFF2-40B4-BE49-F238E27FC236}">
                    <a16:creationId xmlns:a16="http://schemas.microsoft.com/office/drawing/2014/main" id="{4B0BBBCA-A168-408F-AA00-B9B65EC4ACB8}"/>
                  </a:ext>
                </a:extLst>
              </p:cNvPr>
              <p:cNvSpPr/>
              <p:nvPr/>
            </p:nvSpPr>
            <p:spPr bwMode="auto">
              <a:xfrm>
                <a:off x="2451101" y="2881313"/>
                <a:ext cx="1277938" cy="1093788"/>
              </a:xfrm>
              <a:prstGeom prst="ellipse">
                <a:avLst/>
              </a:prstGeom>
              <a:noFill/>
              <a:ln w="15875" cap="flat">
                <a:solidFill>
                  <a:schemeClr val="accent1"/>
                </a:solidFill>
                <a:prstDash val="solid"/>
                <a:round/>
                <a:headEnd/>
                <a:tailEnd/>
              </a:ln>
            </p:spPr>
            <p:txBody>
              <a:bodyPr anchor="ctr"/>
              <a:lstStyle/>
              <a:p>
                <a:pPr algn="ctr"/>
                <a:endParaRPr/>
              </a:p>
            </p:txBody>
          </p:sp>
          <p:sp>
            <p:nvSpPr>
              <p:cNvPr id="81" name="íšḻíḋé">
                <a:extLst>
                  <a:ext uri="{FF2B5EF4-FFF2-40B4-BE49-F238E27FC236}">
                    <a16:creationId xmlns:a16="http://schemas.microsoft.com/office/drawing/2014/main" id="{07586F0A-C75A-48E8-ACA0-7F5C382C1CAE}"/>
                  </a:ext>
                </a:extLst>
              </p:cNvPr>
              <p:cNvSpPr/>
              <p:nvPr/>
            </p:nvSpPr>
            <p:spPr bwMode="auto">
              <a:xfrm>
                <a:off x="2727326" y="2957513"/>
                <a:ext cx="727075" cy="20638"/>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grpFill/>
              <a:ln>
                <a:noFill/>
              </a:ln>
            </p:spPr>
            <p:txBody>
              <a:bodyPr anchor="ctr"/>
              <a:lstStyle/>
              <a:p>
                <a:pPr algn="ctr"/>
                <a:endParaRPr/>
              </a:p>
            </p:txBody>
          </p:sp>
          <p:sp>
            <p:nvSpPr>
              <p:cNvPr id="82" name="îṡliḑè">
                <a:extLst>
                  <a:ext uri="{FF2B5EF4-FFF2-40B4-BE49-F238E27FC236}">
                    <a16:creationId xmlns:a16="http://schemas.microsoft.com/office/drawing/2014/main" id="{166CB932-E7F6-4D04-AEFB-382215D88EE0}"/>
                  </a:ext>
                </a:extLst>
              </p:cNvPr>
              <p:cNvSpPr/>
              <p:nvPr/>
            </p:nvSpPr>
            <p:spPr bwMode="auto">
              <a:xfrm>
                <a:off x="2735263" y="3881438"/>
                <a:ext cx="711200" cy="22225"/>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grpFill/>
              <a:ln>
                <a:noFill/>
              </a:ln>
            </p:spPr>
            <p:txBody>
              <a:bodyPr anchor="ctr"/>
              <a:lstStyle/>
              <a:p>
                <a:pPr algn="ctr"/>
                <a:endParaRPr/>
              </a:p>
            </p:txBody>
          </p:sp>
        </p:grpSp>
      </p:grpSp>
      <p:sp>
        <p:nvSpPr>
          <p:cNvPr id="124" name="文本框 123">
            <a:extLst>
              <a:ext uri="{FF2B5EF4-FFF2-40B4-BE49-F238E27FC236}">
                <a16:creationId xmlns:a16="http://schemas.microsoft.com/office/drawing/2014/main" id="{ED08AA28-1402-4DA2-9841-4DC85762DFFB}"/>
              </a:ext>
            </a:extLst>
          </p:cNvPr>
          <p:cNvSpPr txBox="1"/>
          <p:nvPr userDrawn="1"/>
        </p:nvSpPr>
        <p:spPr>
          <a:xfrm>
            <a:off x="566643" y="6187578"/>
            <a:ext cx="4219670" cy="307777"/>
          </a:xfrm>
          <a:prstGeom prst="rect">
            <a:avLst/>
          </a:prstGeom>
          <a:noFill/>
        </p:spPr>
        <p:txBody>
          <a:bodyPr wrap="square" rtlCol="0">
            <a:spAutoFit/>
          </a:bodyPr>
          <a:lstStyle/>
          <a:p>
            <a:r>
              <a:rPr lang="zh-CN" altLang="en-US" sz="1400" dirty="0">
                <a:solidFill>
                  <a:schemeClr val="tx1">
                    <a:lumMod val="65000"/>
                    <a:lumOff val="35000"/>
                  </a:schemeClr>
                </a:solidFill>
              </a:rPr>
              <a:t>明德 厚学 求是 创新      </a:t>
            </a:r>
            <a:r>
              <a:rPr lang="en-US" altLang="zh-CN" sz="1400" dirty="0">
                <a:solidFill>
                  <a:schemeClr val="tx1">
                    <a:lumMod val="65000"/>
                    <a:lumOff val="35000"/>
                  </a:schemeClr>
                </a:solidFill>
              </a:rPr>
              <a:t>http://www.hust.edu.cn/</a:t>
            </a:r>
            <a:endParaRPr lang="zh-CN" altLang="en-US" sz="1400" dirty="0">
              <a:solidFill>
                <a:schemeClr val="tx1">
                  <a:lumMod val="65000"/>
                  <a:lumOff val="35000"/>
                </a:schemeClr>
              </a:solidFill>
            </a:endParaRPr>
          </a:p>
        </p:txBody>
      </p:sp>
      <p:sp>
        <p:nvSpPr>
          <p:cNvPr id="132" name="文本占位符 131">
            <a:extLst>
              <a:ext uri="{FF2B5EF4-FFF2-40B4-BE49-F238E27FC236}">
                <a16:creationId xmlns:a16="http://schemas.microsoft.com/office/drawing/2014/main" id="{D3DC99E1-D660-44F2-86A5-47694E2F1E88}"/>
              </a:ext>
            </a:extLst>
          </p:cNvPr>
          <p:cNvSpPr>
            <a:spLocks noGrp="1"/>
          </p:cNvSpPr>
          <p:nvPr userDrawn="1">
            <p:ph type="body" sz="quarter" idx="11" hasCustomPrompt="1"/>
          </p:nvPr>
        </p:nvSpPr>
        <p:spPr>
          <a:xfrm>
            <a:off x="566643" y="2042329"/>
            <a:ext cx="5951538" cy="1605568"/>
          </a:xfrm>
          <a:prstGeom prst="rect">
            <a:avLst/>
          </a:prstGeom>
          <a:noFill/>
        </p:spPr>
        <p:txBody>
          <a:bodyPr wrap="square" rtlCol="0">
            <a:spAutoFit/>
          </a:bodyPr>
          <a:lstStyle>
            <a:lvl1pPr marL="0" indent="0">
              <a:buNone/>
              <a:defRPr lang="zh-CN" altLang="en-US" sz="5000" b="1" spc="300" dirty="0" smtClean="0">
                <a:solidFill>
                  <a:schemeClr val="tx1">
                    <a:lumMod val="85000"/>
                    <a:lumOff val="15000"/>
                  </a:schemeClr>
                </a:solidFill>
                <a:latin typeface="+mj-ea"/>
                <a:ea typeface="+mj-ea"/>
              </a:defRPr>
            </a:lvl1pPr>
          </a:lstStyle>
          <a:p>
            <a:pPr marL="0" lvl="0"/>
            <a:r>
              <a:rPr lang="zh-CN" altLang="en-US" dirty="0"/>
              <a:t>请输入你的主题</a:t>
            </a:r>
          </a:p>
          <a:p>
            <a:pPr marL="0" lvl="0"/>
            <a:r>
              <a:rPr lang="zh-CN" altLang="en-US" dirty="0"/>
              <a:t>如果太长可以换行</a:t>
            </a:r>
          </a:p>
        </p:txBody>
      </p:sp>
      <p:sp>
        <p:nvSpPr>
          <p:cNvPr id="134" name="文本占位符 133">
            <a:extLst>
              <a:ext uri="{FF2B5EF4-FFF2-40B4-BE49-F238E27FC236}">
                <a16:creationId xmlns:a16="http://schemas.microsoft.com/office/drawing/2014/main" id="{3AD2F258-EF56-42CF-8756-0ECD6E98DD61}"/>
              </a:ext>
            </a:extLst>
          </p:cNvPr>
          <p:cNvSpPr>
            <a:spLocks noGrp="1"/>
          </p:cNvSpPr>
          <p:nvPr userDrawn="1">
            <p:ph type="body" sz="quarter" idx="12" hasCustomPrompt="1"/>
          </p:nvPr>
        </p:nvSpPr>
        <p:spPr>
          <a:xfrm>
            <a:off x="549709" y="3798299"/>
            <a:ext cx="6223041" cy="307777"/>
          </a:xfrm>
          <a:prstGeom prst="rect">
            <a:avLst/>
          </a:prstGeom>
        </p:spPr>
        <p:txBody>
          <a:bodyPr>
            <a:noAutofit/>
          </a:bodyPr>
          <a:lstStyle>
            <a:lvl1pPr>
              <a:defRPr lang="en-US" altLang="zh-CN" sz="2000" dirty="0">
                <a:solidFill>
                  <a:schemeClr val="tx1">
                    <a:lumMod val="85000"/>
                    <a:lumOff val="15000"/>
                  </a:schemeClr>
                </a:solidFill>
                <a:latin typeface="+mn-lt"/>
              </a:defRPr>
            </a:lvl1pPr>
          </a:lstStyle>
          <a:p>
            <a:pPr marL="0" lvl="0" indent="0">
              <a:buNone/>
            </a:pPr>
            <a:r>
              <a:rPr lang="en-US" altLang="zh-CN" dirty="0"/>
              <a:t>Please enter your English theme here</a:t>
            </a:r>
          </a:p>
        </p:txBody>
      </p:sp>
      <p:sp>
        <p:nvSpPr>
          <p:cNvPr id="125" name="矩形: 圆角 124">
            <a:extLst>
              <a:ext uri="{FF2B5EF4-FFF2-40B4-BE49-F238E27FC236}">
                <a16:creationId xmlns:a16="http://schemas.microsoft.com/office/drawing/2014/main" id="{B8CC02C8-2A90-414B-85F4-D0E6D75BF360}"/>
              </a:ext>
            </a:extLst>
          </p:cNvPr>
          <p:cNvSpPr/>
          <p:nvPr userDrawn="1"/>
        </p:nvSpPr>
        <p:spPr>
          <a:xfrm>
            <a:off x="660399" y="4424679"/>
            <a:ext cx="1222829"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答辩人</a:t>
            </a:r>
          </a:p>
        </p:txBody>
      </p:sp>
      <p:sp>
        <p:nvSpPr>
          <p:cNvPr id="7" name="文本占位符 6">
            <a:extLst>
              <a:ext uri="{FF2B5EF4-FFF2-40B4-BE49-F238E27FC236}">
                <a16:creationId xmlns:a16="http://schemas.microsoft.com/office/drawing/2014/main" id="{AE6B6082-688A-4E7F-BE27-44C9A5A08F2B}"/>
              </a:ext>
            </a:extLst>
          </p:cNvPr>
          <p:cNvSpPr>
            <a:spLocks noGrp="1"/>
          </p:cNvSpPr>
          <p:nvPr>
            <p:ph type="body" sz="quarter" idx="13" hasCustomPrompt="1"/>
          </p:nvPr>
        </p:nvSpPr>
        <p:spPr>
          <a:xfrm>
            <a:off x="1976054" y="4474808"/>
            <a:ext cx="1132906" cy="307777"/>
          </a:xfrm>
          <a:prstGeom prst="rect">
            <a:avLst/>
          </a:prstGeom>
        </p:spPr>
        <p:txBody>
          <a:bodyPr/>
          <a:lstStyle>
            <a:lvl1pPr marL="0" indent="0">
              <a:buNone/>
              <a:defRPr sz="1800"/>
            </a:lvl1pPr>
          </a:lstStyle>
          <a:p>
            <a:pPr lvl="0"/>
            <a:r>
              <a:rPr lang="zh-CN" altLang="en-US" dirty="0"/>
              <a:t>月明</a:t>
            </a:r>
          </a:p>
        </p:txBody>
      </p:sp>
      <p:sp>
        <p:nvSpPr>
          <p:cNvPr id="126" name="矩形: 圆角 125">
            <a:extLst>
              <a:ext uri="{FF2B5EF4-FFF2-40B4-BE49-F238E27FC236}">
                <a16:creationId xmlns:a16="http://schemas.microsoft.com/office/drawing/2014/main" id="{81AD0219-BA19-4060-A25F-BE6623E4D313}"/>
              </a:ext>
            </a:extLst>
          </p:cNvPr>
          <p:cNvSpPr/>
          <p:nvPr userDrawn="1"/>
        </p:nvSpPr>
        <p:spPr>
          <a:xfrm>
            <a:off x="3480389" y="4424679"/>
            <a:ext cx="1418870"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指导老师</a:t>
            </a:r>
          </a:p>
        </p:txBody>
      </p:sp>
      <p:sp>
        <p:nvSpPr>
          <p:cNvPr id="127" name="文本占位符 6">
            <a:extLst>
              <a:ext uri="{FF2B5EF4-FFF2-40B4-BE49-F238E27FC236}">
                <a16:creationId xmlns:a16="http://schemas.microsoft.com/office/drawing/2014/main" id="{81E9912E-8F2F-4790-8F48-A3669983B6AC}"/>
              </a:ext>
            </a:extLst>
          </p:cNvPr>
          <p:cNvSpPr>
            <a:spLocks noGrp="1"/>
          </p:cNvSpPr>
          <p:nvPr>
            <p:ph type="body" sz="quarter" idx="14" hasCustomPrompt="1"/>
          </p:nvPr>
        </p:nvSpPr>
        <p:spPr>
          <a:xfrm>
            <a:off x="4982451" y="4474808"/>
            <a:ext cx="1132906" cy="307777"/>
          </a:xfrm>
          <a:prstGeom prst="rect">
            <a:avLst/>
          </a:prstGeom>
        </p:spPr>
        <p:txBody>
          <a:bodyPr/>
          <a:lstStyle>
            <a:lvl1pPr marL="0" indent="0">
              <a:buNone/>
              <a:defRPr sz="1800"/>
            </a:lvl1pPr>
          </a:lstStyle>
          <a:p>
            <a:pPr lvl="0"/>
            <a:r>
              <a:rPr lang="zh-CN" altLang="en-US" dirty="0"/>
              <a:t>某某某</a:t>
            </a:r>
          </a:p>
        </p:txBody>
      </p:sp>
    </p:spTree>
    <p:extLst>
      <p:ext uri="{BB962C8B-B14F-4D97-AF65-F5344CB8AC3E}">
        <p14:creationId xmlns:p14="http://schemas.microsoft.com/office/powerpoint/2010/main" val="3533335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82897DB5-C83D-4444-940E-D43091A551BC}"/>
              </a:ext>
            </a:extLst>
          </p:cNvPr>
          <p:cNvSpPr>
            <a:spLocks noGrp="1"/>
          </p:cNvSpPr>
          <p:nvPr>
            <p:ph type="pic" sz="quarter" idx="10"/>
          </p:nvPr>
        </p:nvSpPr>
        <p:spPr>
          <a:xfrm>
            <a:off x="0" y="0"/>
            <a:ext cx="5419250" cy="6858000"/>
          </a:xfrm>
          <a:custGeom>
            <a:avLst/>
            <a:gdLst>
              <a:gd name="connsiteX0" fmla="*/ 0 w 5419250"/>
              <a:gd name="connsiteY0" fmla="*/ 0 h 6858000"/>
              <a:gd name="connsiteX1" fmla="*/ 1990250 w 5419250"/>
              <a:gd name="connsiteY1" fmla="*/ 0 h 6858000"/>
              <a:gd name="connsiteX2" fmla="*/ 5419250 w 5419250"/>
              <a:gd name="connsiteY2" fmla="*/ 3429000 h 6858000"/>
              <a:gd name="connsiteX3" fmla="*/ 1990250 w 5419250"/>
              <a:gd name="connsiteY3" fmla="*/ 6858000 h 6858000"/>
              <a:gd name="connsiteX4" fmla="*/ 0 w 54192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250" h="6858000">
                <a:moveTo>
                  <a:pt x="0" y="0"/>
                </a:moveTo>
                <a:lnTo>
                  <a:pt x="1990250" y="0"/>
                </a:lnTo>
                <a:cubicBezTo>
                  <a:pt x="3884034" y="0"/>
                  <a:pt x="5419250" y="1535216"/>
                  <a:pt x="5419250" y="3429000"/>
                </a:cubicBezTo>
                <a:cubicBezTo>
                  <a:pt x="5419250" y="5322784"/>
                  <a:pt x="3884034" y="6858000"/>
                  <a:pt x="1990250" y="6858000"/>
                </a:cubicBezTo>
                <a:lnTo>
                  <a:pt x="0" y="6858000"/>
                </a:lnTo>
                <a:close/>
              </a:path>
            </a:pathLst>
          </a:custGeom>
        </p:spPr>
        <p:txBody>
          <a:bodyPr wrap="square">
            <a:noAutofit/>
          </a:bodyPr>
          <a:lstStyle/>
          <a:p>
            <a:endParaRPr lang="zh-CN" altLang="en-US"/>
          </a:p>
        </p:txBody>
      </p:sp>
      <p:sp>
        <p:nvSpPr>
          <p:cNvPr id="11" name="任意多边形: 形状 10">
            <a:extLst>
              <a:ext uri="{FF2B5EF4-FFF2-40B4-BE49-F238E27FC236}">
                <a16:creationId xmlns:a16="http://schemas.microsoft.com/office/drawing/2014/main" id="{9416F631-392C-4C92-A81F-6B4F3CDCF6DE}"/>
              </a:ext>
            </a:extLst>
          </p:cNvPr>
          <p:cNvSpPr/>
          <p:nvPr userDrawn="1"/>
        </p:nvSpPr>
        <p:spPr>
          <a:xfrm flipH="1">
            <a:off x="4266481" y="260350"/>
            <a:ext cx="1828807" cy="6337300"/>
          </a:xfrm>
          <a:custGeom>
            <a:avLst/>
            <a:gdLst>
              <a:gd name="connsiteX0" fmla="*/ 1816103 w 1828803"/>
              <a:gd name="connsiteY0" fmla="*/ 0 h 6337300"/>
              <a:gd name="connsiteX1" fmla="*/ 3 w 1828803"/>
              <a:gd name="connsiteY1" fmla="*/ 3162300 h 6337300"/>
              <a:gd name="connsiteX2" fmla="*/ 1828803 w 1828803"/>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Lst>
            <a:ahLst/>
            <a:cxnLst>
              <a:cxn ang="0">
                <a:pos x="connsiteX0" y="connsiteY0"/>
              </a:cxn>
              <a:cxn ang="0">
                <a:pos x="connsiteX1" y="connsiteY1"/>
              </a:cxn>
              <a:cxn ang="0">
                <a:pos x="connsiteX2" y="connsiteY2"/>
              </a:cxn>
            </a:cxnLst>
            <a:rect l="l" t="t" r="r" b="b"/>
            <a:pathLst>
              <a:path w="1828807" h="6337300">
                <a:moveTo>
                  <a:pt x="1816107" y="0"/>
                </a:moveTo>
                <a:cubicBezTo>
                  <a:pt x="472597" y="832856"/>
                  <a:pt x="-2110" y="2106083"/>
                  <a:pt x="7" y="3162300"/>
                </a:cubicBezTo>
                <a:cubicBezTo>
                  <a:pt x="2124" y="4218517"/>
                  <a:pt x="571647" y="5766476"/>
                  <a:pt x="1828807" y="6337300"/>
                </a:cubicBezTo>
              </a:path>
            </a:pathLst>
          </a:custGeom>
          <a:noFill/>
          <a:ln w="38100" cap="rnd">
            <a:solidFill>
              <a:schemeClr val="accent1">
                <a:lumMod val="20000"/>
                <a:lumOff val="80000"/>
                <a:alpha val="7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DA0E8D43-F599-4C3B-BE36-7D1FD54A752E}"/>
              </a:ext>
            </a:extLst>
          </p:cNvPr>
          <p:cNvSpPr/>
          <p:nvPr userDrawn="1"/>
        </p:nvSpPr>
        <p:spPr>
          <a:xfrm>
            <a:off x="5174534" y="997015"/>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3C66369-0AE4-4F8E-A582-F5986555F1A8}"/>
              </a:ext>
            </a:extLst>
          </p:cNvPr>
          <p:cNvSpPr/>
          <p:nvPr userDrawn="1"/>
        </p:nvSpPr>
        <p:spPr>
          <a:xfrm>
            <a:off x="5939738" y="2566660"/>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5" name="椭圆 14">
            <a:extLst>
              <a:ext uri="{FF2B5EF4-FFF2-40B4-BE49-F238E27FC236}">
                <a16:creationId xmlns:a16="http://schemas.microsoft.com/office/drawing/2014/main" id="{5607023D-480A-4C8A-916D-FB9976EA5B38}"/>
              </a:ext>
            </a:extLst>
          </p:cNvPr>
          <p:cNvSpPr/>
          <p:nvPr userDrawn="1"/>
        </p:nvSpPr>
        <p:spPr>
          <a:xfrm>
            <a:off x="5939738" y="415724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椭圆 15">
            <a:extLst>
              <a:ext uri="{FF2B5EF4-FFF2-40B4-BE49-F238E27FC236}">
                <a16:creationId xmlns:a16="http://schemas.microsoft.com/office/drawing/2014/main" id="{BD1A1F42-A240-457E-BD2A-25B0AF003625}"/>
              </a:ext>
            </a:extLst>
          </p:cNvPr>
          <p:cNvSpPr/>
          <p:nvPr userDrawn="1"/>
        </p:nvSpPr>
        <p:spPr>
          <a:xfrm>
            <a:off x="5174534" y="573505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8" name="文本框 17">
            <a:extLst>
              <a:ext uri="{FF2B5EF4-FFF2-40B4-BE49-F238E27FC236}">
                <a16:creationId xmlns:a16="http://schemas.microsoft.com/office/drawing/2014/main" id="{99F2F201-D094-4AD7-B469-E9FF90D22317}"/>
              </a:ext>
            </a:extLst>
          </p:cNvPr>
          <p:cNvSpPr txBox="1"/>
          <p:nvPr userDrawn="1"/>
        </p:nvSpPr>
        <p:spPr>
          <a:xfrm rot="16200000">
            <a:off x="5782116" y="673165"/>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sp>
        <p:nvSpPr>
          <p:cNvPr id="24" name="文本框 23">
            <a:extLst>
              <a:ext uri="{FF2B5EF4-FFF2-40B4-BE49-F238E27FC236}">
                <a16:creationId xmlns:a16="http://schemas.microsoft.com/office/drawing/2014/main" id="{B08D6585-B629-4D79-9077-B939D2E2C05B}"/>
              </a:ext>
            </a:extLst>
          </p:cNvPr>
          <p:cNvSpPr txBox="1"/>
          <p:nvPr userDrawn="1"/>
        </p:nvSpPr>
        <p:spPr>
          <a:xfrm rot="16200000">
            <a:off x="6532796" y="2242811"/>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sp>
        <p:nvSpPr>
          <p:cNvPr id="34" name="文本框 33">
            <a:extLst>
              <a:ext uri="{FF2B5EF4-FFF2-40B4-BE49-F238E27FC236}">
                <a16:creationId xmlns:a16="http://schemas.microsoft.com/office/drawing/2014/main" id="{6E9FF2D6-1167-4ADA-AB9A-9FBA535CCEE9}"/>
              </a:ext>
            </a:extLst>
          </p:cNvPr>
          <p:cNvSpPr txBox="1"/>
          <p:nvPr userDrawn="1"/>
        </p:nvSpPr>
        <p:spPr>
          <a:xfrm rot="16200000">
            <a:off x="5782116" y="5411205"/>
            <a:ext cx="861774" cy="787400"/>
          </a:xfrm>
          <a:prstGeom prst="rect">
            <a:avLst/>
          </a:prstGeom>
          <a:noFill/>
        </p:spPr>
        <p:txBody>
          <a:bodyPr vert="eaVert" wrap="square" rtlCol="0">
            <a:spAutoFit/>
          </a:bodyPr>
          <a:lstStyle/>
          <a:p>
            <a:r>
              <a:rPr lang="en-US" altLang="zh-CN" sz="4400" dirty="0">
                <a:solidFill>
                  <a:schemeClr val="accent1"/>
                </a:solidFill>
              </a:rPr>
              <a:t>04.</a:t>
            </a:r>
            <a:endParaRPr lang="zh-CN" altLang="en-US" sz="4400" dirty="0">
              <a:solidFill>
                <a:schemeClr val="accent1"/>
              </a:solidFill>
            </a:endParaRPr>
          </a:p>
        </p:txBody>
      </p:sp>
      <p:sp>
        <p:nvSpPr>
          <p:cNvPr id="36" name="文本框 35">
            <a:extLst>
              <a:ext uri="{FF2B5EF4-FFF2-40B4-BE49-F238E27FC236}">
                <a16:creationId xmlns:a16="http://schemas.microsoft.com/office/drawing/2014/main" id="{19730CCE-7F07-4B41-86E1-ED04F5F4E496}"/>
              </a:ext>
            </a:extLst>
          </p:cNvPr>
          <p:cNvSpPr txBox="1"/>
          <p:nvPr userDrawn="1"/>
        </p:nvSpPr>
        <p:spPr>
          <a:xfrm rot="16200000">
            <a:off x="6532796" y="383339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sp>
        <p:nvSpPr>
          <p:cNvPr id="3" name="文本占位符 2">
            <a:extLst>
              <a:ext uri="{FF2B5EF4-FFF2-40B4-BE49-F238E27FC236}">
                <a16:creationId xmlns:a16="http://schemas.microsoft.com/office/drawing/2014/main" id="{F14E857B-DEB2-468F-8937-3DC3910A1378}"/>
              </a:ext>
            </a:extLst>
          </p:cNvPr>
          <p:cNvSpPr>
            <a:spLocks noGrp="1"/>
          </p:cNvSpPr>
          <p:nvPr>
            <p:ph type="body" sz="quarter" idx="16" hasCustomPrompt="1"/>
          </p:nvPr>
        </p:nvSpPr>
        <p:spPr>
          <a:xfrm>
            <a:off x="6772400" y="847339"/>
            <a:ext cx="2248833" cy="473075"/>
          </a:xfrm>
          <a:prstGeom prst="rect">
            <a:avLst/>
          </a:prstGeom>
        </p:spPr>
        <p:txBody>
          <a:bodyPr/>
          <a:lstStyle>
            <a:lvl1pPr marL="0" indent="0">
              <a:buNone/>
              <a:defRPr>
                <a:latin typeface="+mn-ea"/>
                <a:ea typeface="+mn-ea"/>
              </a:defRPr>
            </a:lvl1pPr>
          </a:lstStyle>
          <a:p>
            <a:pPr lvl="0"/>
            <a:r>
              <a:rPr lang="zh-CN" altLang="en-US" dirty="0"/>
              <a:t>论文背景</a:t>
            </a:r>
          </a:p>
        </p:txBody>
      </p:sp>
      <p:sp>
        <p:nvSpPr>
          <p:cNvPr id="5" name="文本占位符 4">
            <a:extLst>
              <a:ext uri="{FF2B5EF4-FFF2-40B4-BE49-F238E27FC236}">
                <a16:creationId xmlns:a16="http://schemas.microsoft.com/office/drawing/2014/main" id="{A34FEE0B-A57F-4B41-98A0-91FFA5827F89}"/>
              </a:ext>
            </a:extLst>
          </p:cNvPr>
          <p:cNvSpPr>
            <a:spLocks noGrp="1"/>
          </p:cNvSpPr>
          <p:nvPr>
            <p:ph type="body" sz="quarter" idx="17" hasCustomPrompt="1"/>
          </p:nvPr>
        </p:nvSpPr>
        <p:spPr>
          <a:xfrm>
            <a:off x="7523080" y="2411380"/>
            <a:ext cx="2403240" cy="439052"/>
          </a:xfrm>
          <a:prstGeom prst="rect">
            <a:avLst/>
          </a:prstGeom>
        </p:spPr>
        <p:txBody>
          <a:bodyPr/>
          <a:lstStyle>
            <a:lvl1pPr marL="0" indent="0">
              <a:buNone/>
              <a:defRPr>
                <a:latin typeface="+mn-ea"/>
                <a:ea typeface="+mn-ea"/>
              </a:defRPr>
            </a:lvl1pPr>
          </a:lstStyle>
          <a:p>
            <a:pPr lvl="0"/>
            <a:r>
              <a:rPr lang="zh-CN" altLang="en-US" dirty="0"/>
              <a:t>研究进展</a:t>
            </a:r>
          </a:p>
        </p:txBody>
      </p:sp>
      <p:sp>
        <p:nvSpPr>
          <p:cNvPr id="7" name="文本占位符 6">
            <a:extLst>
              <a:ext uri="{FF2B5EF4-FFF2-40B4-BE49-F238E27FC236}">
                <a16:creationId xmlns:a16="http://schemas.microsoft.com/office/drawing/2014/main" id="{7AB81AB7-D1E1-421C-85F1-F679DC8652ED}"/>
              </a:ext>
            </a:extLst>
          </p:cNvPr>
          <p:cNvSpPr>
            <a:spLocks noGrp="1"/>
          </p:cNvSpPr>
          <p:nvPr>
            <p:ph type="body" sz="quarter" idx="18" hasCustomPrompt="1"/>
          </p:nvPr>
        </p:nvSpPr>
        <p:spPr>
          <a:xfrm>
            <a:off x="7523080" y="4014134"/>
            <a:ext cx="2328753" cy="439738"/>
          </a:xfrm>
          <a:prstGeom prst="rect">
            <a:avLst/>
          </a:prstGeom>
        </p:spPr>
        <p:txBody>
          <a:bodyPr/>
          <a:lstStyle>
            <a:lvl1pPr marL="0" indent="0">
              <a:buNone/>
              <a:defRPr>
                <a:latin typeface="+mn-ea"/>
                <a:ea typeface="+mn-ea"/>
              </a:defRPr>
            </a:lvl1pPr>
          </a:lstStyle>
          <a:p>
            <a:pPr lvl="0"/>
            <a:r>
              <a:rPr lang="zh-CN" altLang="en-US" dirty="0"/>
              <a:t>研究过程</a:t>
            </a:r>
          </a:p>
        </p:txBody>
      </p:sp>
      <p:sp>
        <p:nvSpPr>
          <p:cNvPr id="9" name="文本占位符 8">
            <a:extLst>
              <a:ext uri="{FF2B5EF4-FFF2-40B4-BE49-F238E27FC236}">
                <a16:creationId xmlns:a16="http://schemas.microsoft.com/office/drawing/2014/main" id="{9212CD02-B9D5-4D86-ACF5-9F70E44DCE98}"/>
              </a:ext>
            </a:extLst>
          </p:cNvPr>
          <p:cNvSpPr>
            <a:spLocks noGrp="1"/>
          </p:cNvSpPr>
          <p:nvPr>
            <p:ph type="body" sz="quarter" idx="19" hasCustomPrompt="1"/>
          </p:nvPr>
        </p:nvSpPr>
        <p:spPr>
          <a:xfrm>
            <a:off x="6764993" y="5585378"/>
            <a:ext cx="2328753" cy="439052"/>
          </a:xfrm>
          <a:prstGeom prst="rect">
            <a:avLst/>
          </a:prstGeom>
        </p:spPr>
        <p:txBody>
          <a:bodyPr/>
          <a:lstStyle>
            <a:lvl1pPr marL="0" indent="0">
              <a:buNone/>
              <a:defRPr>
                <a:latin typeface="+mn-ea"/>
                <a:ea typeface="+mn-ea"/>
              </a:defRPr>
            </a:lvl1pPr>
          </a:lstStyle>
          <a:p>
            <a:pPr lvl="0"/>
            <a:r>
              <a:rPr lang="zh-CN" altLang="en-US" dirty="0"/>
              <a:t>论文结论</a:t>
            </a:r>
          </a:p>
        </p:txBody>
      </p:sp>
      <p:sp>
        <p:nvSpPr>
          <p:cNvPr id="2" name="页脚占位符 1"/>
          <p:cNvSpPr>
            <a:spLocks noGrp="1"/>
          </p:cNvSpPr>
          <p:nvPr>
            <p:ph type="ftr" sz="quarter" idx="20"/>
          </p:nvPr>
        </p:nvSpPr>
        <p:spPr/>
        <p:txBody>
          <a:bodyPr/>
          <a:lstStyle/>
          <a:p>
            <a:endParaRPr lang="zh-CN" altLang="en-US"/>
          </a:p>
        </p:txBody>
      </p:sp>
      <p:sp>
        <p:nvSpPr>
          <p:cNvPr id="4" name="灯片编号占位符 3"/>
          <p:cNvSpPr>
            <a:spLocks noGrp="1"/>
          </p:cNvSpPr>
          <p:nvPr>
            <p:ph type="sldNum" sz="quarter" idx="2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8527145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7" name="图片占位符 36">
            <a:extLst>
              <a:ext uri="{FF2B5EF4-FFF2-40B4-BE49-F238E27FC236}">
                <a16:creationId xmlns:a16="http://schemas.microsoft.com/office/drawing/2014/main" id="{740F6025-3196-4FA0-83DC-EE1179AC9D6C}"/>
              </a:ext>
            </a:extLst>
          </p:cNvPr>
          <p:cNvSpPr>
            <a:spLocks noGrp="1"/>
          </p:cNvSpPr>
          <p:nvPr>
            <p:ph type="pic" sz="quarter" idx="15"/>
          </p:nvPr>
        </p:nvSpPr>
        <p:spPr>
          <a:xfrm>
            <a:off x="-142829" y="0"/>
            <a:ext cx="12477663" cy="1972932"/>
          </a:xfrm>
          <a:custGeom>
            <a:avLst/>
            <a:gdLst>
              <a:gd name="connsiteX0" fmla="*/ 0 w 12477663"/>
              <a:gd name="connsiteY0" fmla="*/ 0 h 1972932"/>
              <a:gd name="connsiteX1" fmla="*/ 12477663 w 12477663"/>
              <a:gd name="connsiteY1" fmla="*/ 0 h 1972932"/>
              <a:gd name="connsiteX2" fmla="*/ 12458763 w 12477663"/>
              <a:gd name="connsiteY2" fmla="*/ 47047 h 1972932"/>
              <a:gd name="connsiteX3" fmla="*/ 6238831 w 12477663"/>
              <a:gd name="connsiteY3" fmla="*/ 1972932 h 1972932"/>
              <a:gd name="connsiteX4" fmla="*/ 18900 w 12477663"/>
              <a:gd name="connsiteY4" fmla="*/ 47047 h 1972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663" h="1972932">
                <a:moveTo>
                  <a:pt x="0" y="0"/>
                </a:moveTo>
                <a:lnTo>
                  <a:pt x="12477663" y="0"/>
                </a:lnTo>
                <a:lnTo>
                  <a:pt x="12458763" y="47047"/>
                </a:lnTo>
                <a:cubicBezTo>
                  <a:pt x="11866750" y="1146147"/>
                  <a:pt x="9306941" y="1972932"/>
                  <a:pt x="6238831" y="1972932"/>
                </a:cubicBezTo>
                <a:cubicBezTo>
                  <a:pt x="3170721" y="1972932"/>
                  <a:pt x="610913" y="1146147"/>
                  <a:pt x="18900" y="47047"/>
                </a:cubicBezTo>
                <a:close/>
              </a:path>
            </a:pathLst>
          </a:custGeom>
        </p:spPr>
        <p:txBody>
          <a:bodyPr wrap="square">
            <a:noAutofit/>
          </a:bodyPr>
          <a:lstStyle/>
          <a:p>
            <a:endParaRPr lang="zh-CN" altLang="en-US"/>
          </a:p>
        </p:txBody>
      </p:sp>
      <p:sp>
        <p:nvSpPr>
          <p:cNvPr id="23" name="文本框 22">
            <a:extLst>
              <a:ext uri="{FF2B5EF4-FFF2-40B4-BE49-F238E27FC236}">
                <a16:creationId xmlns:a16="http://schemas.microsoft.com/office/drawing/2014/main" id="{D8B5D204-87E5-427E-BB02-DA7D22EC0A2F}"/>
              </a:ext>
            </a:extLst>
          </p:cNvPr>
          <p:cNvSpPr txBox="1"/>
          <p:nvPr/>
        </p:nvSpPr>
        <p:spPr>
          <a:xfrm rot="16200000">
            <a:off x="562328" y="2233386"/>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cxnSp>
        <p:nvCxnSpPr>
          <p:cNvPr id="24" name="直接连接符 23">
            <a:extLst>
              <a:ext uri="{FF2B5EF4-FFF2-40B4-BE49-F238E27FC236}">
                <a16:creationId xmlns:a16="http://schemas.microsoft.com/office/drawing/2014/main" id="{2F371450-7476-4869-ABD4-D78E4EFF9B2C}"/>
              </a:ext>
            </a:extLst>
          </p:cNvPr>
          <p:cNvCxnSpPr>
            <a:cxnSpLocks/>
          </p:cNvCxnSpPr>
          <p:nvPr/>
        </p:nvCxnSpPr>
        <p:spPr>
          <a:xfrm>
            <a:off x="660400"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A0BFB36-33E5-4B00-AFFA-3D114104E615}"/>
              </a:ext>
            </a:extLst>
          </p:cNvPr>
          <p:cNvSpPr txBox="1"/>
          <p:nvPr/>
        </p:nvSpPr>
        <p:spPr>
          <a:xfrm rot="16200000">
            <a:off x="4609919" y="2233386"/>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cxnSp>
        <p:nvCxnSpPr>
          <p:cNvPr id="29" name="直接连接符 28">
            <a:extLst>
              <a:ext uri="{FF2B5EF4-FFF2-40B4-BE49-F238E27FC236}">
                <a16:creationId xmlns:a16="http://schemas.microsoft.com/office/drawing/2014/main" id="{5885CF53-AFA6-4BCD-ACD7-C936DAB2DCCB}"/>
              </a:ext>
            </a:extLst>
          </p:cNvPr>
          <p:cNvCxnSpPr>
            <a:cxnSpLocks/>
          </p:cNvCxnSpPr>
          <p:nvPr/>
        </p:nvCxnSpPr>
        <p:spPr>
          <a:xfrm>
            <a:off x="4707991"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B1AFA5B-9366-4E92-A1A8-650789D6FE27}"/>
              </a:ext>
            </a:extLst>
          </p:cNvPr>
          <p:cNvSpPr txBox="1"/>
          <p:nvPr/>
        </p:nvSpPr>
        <p:spPr>
          <a:xfrm rot="16200000">
            <a:off x="9043411" y="223338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cxnSp>
        <p:nvCxnSpPr>
          <p:cNvPr id="34" name="直接连接符 33">
            <a:extLst>
              <a:ext uri="{FF2B5EF4-FFF2-40B4-BE49-F238E27FC236}">
                <a16:creationId xmlns:a16="http://schemas.microsoft.com/office/drawing/2014/main" id="{C5A026E9-295E-4DD0-A1A7-24F2752DF1F0}"/>
              </a:ext>
            </a:extLst>
          </p:cNvPr>
          <p:cNvCxnSpPr>
            <a:cxnSpLocks/>
          </p:cNvCxnSpPr>
          <p:nvPr/>
        </p:nvCxnSpPr>
        <p:spPr>
          <a:xfrm>
            <a:off x="9141483"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49EE7BA2-3D72-40FD-9831-242C8E3234EE}"/>
              </a:ext>
            </a:extLst>
          </p:cNvPr>
          <p:cNvSpPr txBox="1"/>
          <p:nvPr/>
        </p:nvSpPr>
        <p:spPr>
          <a:xfrm rot="16200000">
            <a:off x="2977842" y="4559831"/>
            <a:ext cx="861774" cy="787400"/>
          </a:xfrm>
          <a:prstGeom prst="rect">
            <a:avLst/>
          </a:prstGeom>
          <a:noFill/>
        </p:spPr>
        <p:txBody>
          <a:bodyPr vert="eaVert" wrap="square" rtlCol="0">
            <a:spAutoFit/>
          </a:bodyPr>
          <a:lstStyle/>
          <a:p>
            <a:r>
              <a:rPr lang="en-US" altLang="zh-CN" sz="4400">
                <a:solidFill>
                  <a:schemeClr val="accent1"/>
                </a:solidFill>
              </a:rPr>
              <a:t>04.</a:t>
            </a:r>
            <a:endParaRPr lang="zh-CN" altLang="en-US" sz="4400" dirty="0">
              <a:solidFill>
                <a:schemeClr val="accent1"/>
              </a:solidFill>
            </a:endParaRPr>
          </a:p>
        </p:txBody>
      </p:sp>
      <p:cxnSp>
        <p:nvCxnSpPr>
          <p:cNvPr id="45" name="直接连接符 44">
            <a:extLst>
              <a:ext uri="{FF2B5EF4-FFF2-40B4-BE49-F238E27FC236}">
                <a16:creationId xmlns:a16="http://schemas.microsoft.com/office/drawing/2014/main" id="{B14D238C-5295-460B-9F73-0A6C665AADEE}"/>
              </a:ext>
            </a:extLst>
          </p:cNvPr>
          <p:cNvCxnSpPr>
            <a:cxnSpLocks/>
          </p:cNvCxnSpPr>
          <p:nvPr/>
        </p:nvCxnSpPr>
        <p:spPr>
          <a:xfrm>
            <a:off x="3075914"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570F8935-A799-464B-A969-50F10DC9224E}"/>
              </a:ext>
            </a:extLst>
          </p:cNvPr>
          <p:cNvSpPr txBox="1"/>
          <p:nvPr/>
        </p:nvSpPr>
        <p:spPr>
          <a:xfrm rot="16200000">
            <a:off x="7025433" y="4559831"/>
            <a:ext cx="861774" cy="787400"/>
          </a:xfrm>
          <a:prstGeom prst="rect">
            <a:avLst/>
          </a:prstGeom>
          <a:noFill/>
        </p:spPr>
        <p:txBody>
          <a:bodyPr vert="eaVert" wrap="square" rtlCol="0">
            <a:spAutoFit/>
          </a:bodyPr>
          <a:lstStyle/>
          <a:p>
            <a:r>
              <a:rPr lang="en-US" altLang="zh-CN" sz="4400" dirty="0">
                <a:solidFill>
                  <a:schemeClr val="accent1"/>
                </a:solidFill>
              </a:rPr>
              <a:t>05.</a:t>
            </a:r>
            <a:endParaRPr lang="zh-CN" altLang="en-US" sz="4400" dirty="0">
              <a:solidFill>
                <a:schemeClr val="accent1"/>
              </a:solidFill>
            </a:endParaRPr>
          </a:p>
        </p:txBody>
      </p:sp>
      <p:cxnSp>
        <p:nvCxnSpPr>
          <p:cNvPr id="41" name="直接连接符 40">
            <a:extLst>
              <a:ext uri="{FF2B5EF4-FFF2-40B4-BE49-F238E27FC236}">
                <a16:creationId xmlns:a16="http://schemas.microsoft.com/office/drawing/2014/main" id="{3B7022D4-18C5-4008-AC4D-9CB858B782B3}"/>
              </a:ext>
            </a:extLst>
          </p:cNvPr>
          <p:cNvCxnSpPr>
            <a:cxnSpLocks/>
          </p:cNvCxnSpPr>
          <p:nvPr/>
        </p:nvCxnSpPr>
        <p:spPr>
          <a:xfrm>
            <a:off x="7123505"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9" name="文本占位符 48">
            <a:extLst>
              <a:ext uri="{FF2B5EF4-FFF2-40B4-BE49-F238E27FC236}">
                <a16:creationId xmlns:a16="http://schemas.microsoft.com/office/drawing/2014/main" id="{8AAFBE5E-9951-468D-842C-C373B57E162C}"/>
              </a:ext>
            </a:extLst>
          </p:cNvPr>
          <p:cNvSpPr>
            <a:spLocks noGrp="1"/>
          </p:cNvSpPr>
          <p:nvPr>
            <p:ph type="body" sz="quarter" idx="10" hasCustomPrompt="1"/>
          </p:nvPr>
        </p:nvSpPr>
        <p:spPr>
          <a:xfrm>
            <a:off x="747157" y="2989948"/>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56" name="文本占位符 48">
            <a:extLst>
              <a:ext uri="{FF2B5EF4-FFF2-40B4-BE49-F238E27FC236}">
                <a16:creationId xmlns:a16="http://schemas.microsoft.com/office/drawing/2014/main" id="{22B6D61A-4B56-40D1-9606-DE6C1B116D46}"/>
              </a:ext>
            </a:extLst>
          </p:cNvPr>
          <p:cNvSpPr>
            <a:spLocks noGrp="1"/>
          </p:cNvSpPr>
          <p:nvPr>
            <p:ph type="body" sz="quarter" idx="11" hasCustomPrompt="1"/>
          </p:nvPr>
        </p:nvSpPr>
        <p:spPr>
          <a:xfrm>
            <a:off x="478930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1" name="文本占位符 48">
            <a:extLst>
              <a:ext uri="{FF2B5EF4-FFF2-40B4-BE49-F238E27FC236}">
                <a16:creationId xmlns:a16="http://schemas.microsoft.com/office/drawing/2014/main" id="{BB7DBF4A-F336-4D0E-AEAA-442EF57D61E6}"/>
              </a:ext>
            </a:extLst>
          </p:cNvPr>
          <p:cNvSpPr>
            <a:spLocks noGrp="1"/>
          </p:cNvSpPr>
          <p:nvPr>
            <p:ph type="body" sz="quarter" idx="12" hasCustomPrompt="1"/>
          </p:nvPr>
        </p:nvSpPr>
        <p:spPr>
          <a:xfrm>
            <a:off x="922394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3" name="文本占位符 48">
            <a:extLst>
              <a:ext uri="{FF2B5EF4-FFF2-40B4-BE49-F238E27FC236}">
                <a16:creationId xmlns:a16="http://schemas.microsoft.com/office/drawing/2014/main" id="{ABAC8E71-7622-44BD-B9EF-FB2DDE2DEC12}"/>
              </a:ext>
            </a:extLst>
          </p:cNvPr>
          <p:cNvSpPr>
            <a:spLocks noGrp="1"/>
          </p:cNvSpPr>
          <p:nvPr>
            <p:ph type="body" sz="quarter" idx="13" hasCustomPrompt="1"/>
          </p:nvPr>
        </p:nvSpPr>
        <p:spPr>
          <a:xfrm>
            <a:off x="3158375"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5" name="文本占位符 48">
            <a:extLst>
              <a:ext uri="{FF2B5EF4-FFF2-40B4-BE49-F238E27FC236}">
                <a16:creationId xmlns:a16="http://schemas.microsoft.com/office/drawing/2014/main" id="{BF93E37B-BAE5-44B2-9D04-125CCAB615B8}"/>
              </a:ext>
            </a:extLst>
          </p:cNvPr>
          <p:cNvSpPr>
            <a:spLocks noGrp="1"/>
          </p:cNvSpPr>
          <p:nvPr>
            <p:ph type="body" sz="quarter" idx="14" hasCustomPrompt="1"/>
          </p:nvPr>
        </p:nvSpPr>
        <p:spPr>
          <a:xfrm>
            <a:off x="7205966"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grpSp>
        <p:nvGrpSpPr>
          <p:cNvPr id="39" name="组合 38">
            <a:extLst>
              <a:ext uri="{FF2B5EF4-FFF2-40B4-BE49-F238E27FC236}">
                <a16:creationId xmlns:a16="http://schemas.microsoft.com/office/drawing/2014/main" id="{4689036F-78DA-4278-A853-444342F03DB3}"/>
              </a:ext>
            </a:extLst>
          </p:cNvPr>
          <p:cNvGrpSpPr/>
          <p:nvPr userDrawn="1"/>
        </p:nvGrpSpPr>
        <p:grpSpPr>
          <a:xfrm>
            <a:off x="2539883" y="2413261"/>
            <a:ext cx="7112234" cy="3564639"/>
            <a:chOff x="1585727" y="453077"/>
            <a:chExt cx="374706" cy="187802"/>
          </a:xfrm>
          <a:solidFill>
            <a:schemeClr val="bg1">
              <a:lumMod val="65000"/>
              <a:alpha val="5000"/>
            </a:schemeClr>
          </a:solidFill>
        </p:grpSpPr>
        <p:sp>
          <p:nvSpPr>
            <p:cNvPr id="42" name="îśliďe">
              <a:extLst>
                <a:ext uri="{FF2B5EF4-FFF2-40B4-BE49-F238E27FC236}">
                  <a16:creationId xmlns:a16="http://schemas.microsoft.com/office/drawing/2014/main" id="{14FFDB68-D4A2-4EF1-B52B-39615FA1529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43" name="íšḻíḍé">
              <a:extLst>
                <a:ext uri="{FF2B5EF4-FFF2-40B4-BE49-F238E27FC236}">
                  <a16:creationId xmlns:a16="http://schemas.microsoft.com/office/drawing/2014/main" id="{0AB45B29-6AB1-4C60-9DD1-33AF43FFA1E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46" name="ïṥḻïḓé">
              <a:extLst>
                <a:ext uri="{FF2B5EF4-FFF2-40B4-BE49-F238E27FC236}">
                  <a16:creationId xmlns:a16="http://schemas.microsoft.com/office/drawing/2014/main" id="{CD99A818-0C1D-482E-A96C-917036EBFF9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47" name="î$ḷíḋè">
              <a:extLst>
                <a:ext uri="{FF2B5EF4-FFF2-40B4-BE49-F238E27FC236}">
                  <a16:creationId xmlns:a16="http://schemas.microsoft.com/office/drawing/2014/main" id="{220B3C49-5424-4D5C-B740-92DDFE0807A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48" name="i$ḷiḍe">
              <a:extLst>
                <a:ext uri="{FF2B5EF4-FFF2-40B4-BE49-F238E27FC236}">
                  <a16:creationId xmlns:a16="http://schemas.microsoft.com/office/drawing/2014/main" id="{29EBB59F-1A1E-4BEC-B5EF-DE011D905D0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50" name="ïṡļïdè">
              <a:extLst>
                <a:ext uri="{FF2B5EF4-FFF2-40B4-BE49-F238E27FC236}">
                  <a16:creationId xmlns:a16="http://schemas.microsoft.com/office/drawing/2014/main" id="{62EA3F3B-BAF9-4E7B-B86E-52EAD2AA10B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51" name="íŝḻíḓê">
              <a:extLst>
                <a:ext uri="{FF2B5EF4-FFF2-40B4-BE49-F238E27FC236}">
                  <a16:creationId xmlns:a16="http://schemas.microsoft.com/office/drawing/2014/main" id="{FB650BD5-0822-472D-B58F-AE9450B041D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52" name="isľîḑê">
              <a:extLst>
                <a:ext uri="{FF2B5EF4-FFF2-40B4-BE49-F238E27FC236}">
                  <a16:creationId xmlns:a16="http://schemas.microsoft.com/office/drawing/2014/main" id="{09B8C62F-2EFC-4D33-851E-989224FE0B5C}"/>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518949665"/>
      </p:ext>
    </p:extLst>
  </p:cSld>
  <p:clrMapOvr>
    <a:masterClrMapping/>
  </p:clrMapOvr>
  <p:extLst>
    <p:ext uri="{DCECCB84-F9BA-43D5-87BE-67443E8EF086}">
      <p15:sldGuideLst xmlns:p15="http://schemas.microsoft.com/office/powerpoint/2012/main">
        <p15:guide id="1" pos="20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22" name="图片占位符 21">
            <a:extLst>
              <a:ext uri="{FF2B5EF4-FFF2-40B4-BE49-F238E27FC236}">
                <a16:creationId xmlns:a16="http://schemas.microsoft.com/office/drawing/2014/main" id="{7AE66B26-FD1C-4615-AFBA-EC01DC5A60D8}"/>
              </a:ext>
            </a:extLst>
          </p:cNvPr>
          <p:cNvSpPr>
            <a:spLocks noGrp="1"/>
          </p:cNvSpPr>
          <p:nvPr>
            <p:ph type="pic" sz="quarter" idx="14"/>
          </p:nvPr>
        </p:nvSpPr>
        <p:spPr>
          <a:xfrm>
            <a:off x="5656409" y="322405"/>
            <a:ext cx="6540686" cy="6540688"/>
          </a:xfrm>
          <a:custGeom>
            <a:avLst/>
            <a:gdLst>
              <a:gd name="connsiteX0" fmla="*/ 6530501 w 6530501"/>
              <a:gd name="connsiteY0" fmla="*/ 0 h 6530502"/>
              <a:gd name="connsiteX1" fmla="*/ 6530501 w 6530501"/>
              <a:gd name="connsiteY1" fmla="*/ 6530502 h 6530502"/>
              <a:gd name="connsiteX2" fmla="*/ 0 w 6530501"/>
              <a:gd name="connsiteY2" fmla="*/ 6530502 h 6530502"/>
              <a:gd name="connsiteX3" fmla="*/ 6530501 w 6530501"/>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1" h="6530502">
                <a:moveTo>
                  <a:pt x="6530501" y="0"/>
                </a:moveTo>
                <a:lnTo>
                  <a:pt x="6530501" y="6530502"/>
                </a:lnTo>
                <a:lnTo>
                  <a:pt x="0" y="6530502"/>
                </a:lnTo>
                <a:cubicBezTo>
                  <a:pt x="0" y="2923805"/>
                  <a:pt x="2923804" y="0"/>
                  <a:pt x="6530501"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78356"/>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12453"/>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11324" y="3436355"/>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p>
            <a:r>
              <a:rPr lang="zh-CN" altLang="en-US" sz="1400" dirty="0">
                <a:solidFill>
                  <a:schemeClr val="bg1">
                    <a:lumMod val="65000"/>
                  </a:schemeClr>
                </a:solidFill>
              </a:rPr>
              <a:t>明德 厚学 求是 创新      </a:t>
            </a:r>
            <a:r>
              <a:rPr lang="en-US" altLang="zh-CN" sz="1400" dirty="0">
                <a:solidFill>
                  <a:schemeClr val="bg1">
                    <a:lumMod val="65000"/>
                  </a:schemeClr>
                </a:solidFill>
              </a:rPr>
              <a:t>http://www.hust.edu.cn/</a:t>
            </a:r>
            <a:endParaRPr lang="zh-CN" altLang="en-US" sz="1400" dirty="0">
              <a:solidFill>
                <a:schemeClr val="bg1">
                  <a:lumMod val="65000"/>
                </a:schemeClr>
              </a:solidFill>
            </a:endParaRPr>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29668405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过渡页">
    <p:spTree>
      <p:nvGrpSpPr>
        <p:cNvPr id="1" name=""/>
        <p:cNvGrpSpPr/>
        <p:nvPr/>
      </p:nvGrpSpPr>
      <p:grpSpPr>
        <a:xfrm>
          <a:off x="0" y="0"/>
          <a:ext cx="0" cy="0"/>
          <a:chOff x="0" y="0"/>
          <a:chExt cx="0" cy="0"/>
        </a:xfrm>
      </p:grpSpPr>
      <p:sp>
        <p:nvSpPr>
          <p:cNvPr id="25" name="图片占位符 24">
            <a:extLst>
              <a:ext uri="{FF2B5EF4-FFF2-40B4-BE49-F238E27FC236}">
                <a16:creationId xmlns:a16="http://schemas.microsoft.com/office/drawing/2014/main" id="{C9513911-6F82-465B-AA1D-A50590958317}"/>
              </a:ext>
            </a:extLst>
          </p:cNvPr>
          <p:cNvSpPr>
            <a:spLocks noGrp="1"/>
          </p:cNvSpPr>
          <p:nvPr>
            <p:ph type="pic" sz="quarter" idx="14"/>
          </p:nvPr>
        </p:nvSpPr>
        <p:spPr>
          <a:xfrm>
            <a:off x="0" y="327498"/>
            <a:ext cx="6530502" cy="6530502"/>
          </a:xfrm>
          <a:custGeom>
            <a:avLst/>
            <a:gdLst>
              <a:gd name="connsiteX0" fmla="*/ 0 w 6530502"/>
              <a:gd name="connsiteY0" fmla="*/ 0 h 6530502"/>
              <a:gd name="connsiteX1" fmla="*/ 6530502 w 6530502"/>
              <a:gd name="connsiteY1" fmla="*/ 6530502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cubicBezTo>
                  <a:pt x="3606697" y="0"/>
                  <a:pt x="6530502" y="2923805"/>
                  <a:pt x="6530502" y="6530502"/>
                </a:cubicBezTo>
                <a:lnTo>
                  <a:pt x="0" y="6530502"/>
                </a:ln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395"/>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36629"/>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358438523"/>
      </p:ext>
    </p:extLst>
  </p:cSld>
  <p:clrMapOvr>
    <a:masterClrMapping/>
  </p:clrMapOvr>
  <p:extLst>
    <p:ext uri="{DCECCB84-F9BA-43D5-87BE-67443E8EF086}">
      <p15:sldGuideLst xmlns:p15="http://schemas.microsoft.com/office/powerpoint/2012/main">
        <p15:guide id="3" pos="2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过渡页">
    <p:spTree>
      <p:nvGrpSpPr>
        <p:cNvPr id="1" name=""/>
        <p:cNvGrpSpPr/>
        <p:nvPr/>
      </p:nvGrpSpPr>
      <p:grpSpPr>
        <a:xfrm>
          <a:off x="0" y="0"/>
          <a:ext cx="0" cy="0"/>
          <a:chOff x="0" y="0"/>
          <a:chExt cx="0" cy="0"/>
        </a:xfrm>
      </p:grpSpPr>
      <p:sp>
        <p:nvSpPr>
          <p:cNvPr id="38" name="图片占位符 37">
            <a:extLst>
              <a:ext uri="{FF2B5EF4-FFF2-40B4-BE49-F238E27FC236}">
                <a16:creationId xmlns:a16="http://schemas.microsoft.com/office/drawing/2014/main" id="{15DC2A65-FE98-4711-9BCC-2CEE396972E9}"/>
              </a:ext>
            </a:extLst>
          </p:cNvPr>
          <p:cNvSpPr>
            <a:spLocks noGrp="1"/>
          </p:cNvSpPr>
          <p:nvPr>
            <p:ph type="pic" sz="quarter" idx="14"/>
          </p:nvPr>
        </p:nvSpPr>
        <p:spPr>
          <a:xfrm>
            <a:off x="5661498" y="0"/>
            <a:ext cx="6530502" cy="6530502"/>
          </a:xfrm>
          <a:custGeom>
            <a:avLst/>
            <a:gdLst>
              <a:gd name="connsiteX0" fmla="*/ 0 w 6530502"/>
              <a:gd name="connsiteY0" fmla="*/ 0 h 6530502"/>
              <a:gd name="connsiteX1" fmla="*/ 6530502 w 6530502"/>
              <a:gd name="connsiteY1" fmla="*/ 0 h 6530502"/>
              <a:gd name="connsiteX2" fmla="*/ 6530502 w 6530502"/>
              <a:gd name="connsiteY2" fmla="*/ 6530502 h 6530502"/>
              <a:gd name="connsiteX3" fmla="*/ 0 w 6530502"/>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2" h="6530502">
                <a:moveTo>
                  <a:pt x="0" y="0"/>
                </a:moveTo>
                <a:lnTo>
                  <a:pt x="6530502" y="0"/>
                </a:lnTo>
                <a:lnTo>
                  <a:pt x="6530502" y="6530502"/>
                </a:lnTo>
                <a:cubicBezTo>
                  <a:pt x="2923805" y="6530502"/>
                  <a:pt x="0" y="3606697"/>
                  <a:pt x="0"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1130300"/>
            <a:ext cx="4155152" cy="2854487"/>
          </a:xfrm>
          <a:prstGeom prst="rect">
            <a:avLst/>
          </a:prstGeom>
          <a:noFill/>
        </p:spPr>
        <p:txBody>
          <a:bodyPr wrap="none" lIns="0" rIns="0" rtlCol="0">
            <a:noAutofit/>
          </a:bodyPr>
          <a:lstStyle>
            <a:lvl1pPr marL="0" indent="0">
              <a:buNone/>
              <a:defRPr lang="zh-CN" altLang="en-US" sz="23900" b="1" smtClean="0">
                <a:solidFill>
                  <a:schemeClr val="bg1">
                    <a:alpha val="60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09946"/>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36724"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2394310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过渡页">
    <p:spTree>
      <p:nvGrpSpPr>
        <p:cNvPr id="1" name=""/>
        <p:cNvGrpSpPr/>
        <p:nvPr/>
      </p:nvGrpSpPr>
      <p:grpSpPr>
        <a:xfrm>
          <a:off x="0" y="0"/>
          <a:ext cx="0" cy="0"/>
          <a:chOff x="0" y="0"/>
          <a:chExt cx="0" cy="0"/>
        </a:xfrm>
      </p:grpSpPr>
      <p:sp>
        <p:nvSpPr>
          <p:cNvPr id="21" name="图片占位符 20">
            <a:extLst>
              <a:ext uri="{FF2B5EF4-FFF2-40B4-BE49-F238E27FC236}">
                <a16:creationId xmlns:a16="http://schemas.microsoft.com/office/drawing/2014/main" id="{FC237A11-D652-4937-8A62-5371D6867CA4}"/>
              </a:ext>
            </a:extLst>
          </p:cNvPr>
          <p:cNvSpPr>
            <a:spLocks noGrp="1"/>
          </p:cNvSpPr>
          <p:nvPr>
            <p:ph type="pic" sz="quarter" idx="14"/>
          </p:nvPr>
        </p:nvSpPr>
        <p:spPr>
          <a:xfrm>
            <a:off x="0" y="0"/>
            <a:ext cx="6530502" cy="6530502"/>
          </a:xfrm>
          <a:custGeom>
            <a:avLst/>
            <a:gdLst>
              <a:gd name="connsiteX0" fmla="*/ 0 w 6530502"/>
              <a:gd name="connsiteY0" fmla="*/ 0 h 6530502"/>
              <a:gd name="connsiteX1" fmla="*/ 6530502 w 6530502"/>
              <a:gd name="connsiteY1" fmla="*/ 0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lnTo>
                  <a:pt x="6530502" y="0"/>
                </a:lnTo>
                <a:cubicBezTo>
                  <a:pt x="6530502" y="3606697"/>
                  <a:pt x="3606697" y="6530502"/>
                  <a:pt x="0" y="6530502"/>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1207371"/>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707"/>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231510787"/>
      </p:ext>
    </p:extLst>
  </p:cSld>
  <p:clrMapOvr>
    <a:masterClrMapping/>
  </p:clrMapOvr>
  <p:extLst>
    <p:ext uri="{DCECCB84-F9BA-43D5-87BE-67443E8EF086}">
      <p15:sldGuideLst xmlns:p15="http://schemas.microsoft.com/office/powerpoint/2012/main">
        <p15:guide id="1" orient="horz" pos="2160">
          <p15:clr>
            <a:srgbClr val="FBAE40"/>
          </p15:clr>
        </p15:guide>
        <p15:guide id="3" pos="234">
          <p15:clr>
            <a:srgbClr val="FBAE40"/>
          </p15:clr>
        </p15:guide>
        <p15:guide id="4" orient="horz" pos="1933">
          <p15:clr>
            <a:srgbClr val="FBAE40"/>
          </p15:clr>
        </p15:guide>
        <p15:guide id="5" orient="horz" pos="23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7" name="图片占位符 10">
            <a:extLst>
              <a:ext uri="{FF2B5EF4-FFF2-40B4-BE49-F238E27FC236}">
                <a16:creationId xmlns:a16="http://schemas.microsoft.com/office/drawing/2014/main" id="{35313B20-8690-4136-A1F3-47CF2D2E1067}"/>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p:spPr>
        <p:txBody>
          <a:bodyPr wrap="square">
            <a:noAutofit/>
          </a:bodyPr>
          <a:lstStyle/>
          <a:p>
            <a:endParaRPr lang="zh-CN" altLang="en-US"/>
          </a:p>
        </p:txBody>
      </p:sp>
      <p:cxnSp>
        <p:nvCxnSpPr>
          <p:cNvPr id="8" name="直接连接符 7">
            <a:extLst>
              <a:ext uri="{FF2B5EF4-FFF2-40B4-BE49-F238E27FC236}">
                <a16:creationId xmlns:a16="http://schemas.microsoft.com/office/drawing/2014/main" id="{49E68DCC-3FD5-47C1-AFCE-A8CBA6C16AB7}"/>
              </a:ext>
            </a:extLst>
          </p:cNvPr>
          <p:cNvCxnSpPr>
            <a:cxnSpLocks/>
          </p:cNvCxnSpPr>
          <p:nvPr userDrawn="1"/>
        </p:nvCxnSpPr>
        <p:spPr>
          <a:xfrm>
            <a:off x="1626978" y="5301345"/>
            <a:ext cx="312463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13">
            <a:extLst>
              <a:ext uri="{FF2B5EF4-FFF2-40B4-BE49-F238E27FC236}">
                <a16:creationId xmlns:a16="http://schemas.microsoft.com/office/drawing/2014/main" id="{9C424561-9732-440B-AB95-190BCC88D5CE}"/>
              </a:ext>
            </a:extLst>
          </p:cNvPr>
          <p:cNvSpPr>
            <a:spLocks noGrp="1"/>
          </p:cNvSpPr>
          <p:nvPr>
            <p:ph type="body" sz="quarter" idx="11" hasCustomPrompt="1"/>
          </p:nvPr>
        </p:nvSpPr>
        <p:spPr>
          <a:xfrm>
            <a:off x="1550777" y="1819627"/>
            <a:ext cx="2732752" cy="2003625"/>
          </a:xfrm>
          <a:prstGeom prst="rect">
            <a:avLst/>
          </a:prstGeom>
          <a:noFill/>
        </p:spPr>
        <p:txBody>
          <a:bodyPr wrap="none" lIns="0" rIns="0" rtlCol="0">
            <a:noAutofit/>
          </a:bodyPr>
          <a:lstStyle>
            <a:lvl1pPr marL="0" indent="0">
              <a:buNone/>
              <a:defRPr lang="zh-CN" altLang="en-US" sz="13800" b="1" smtClean="0">
                <a:gradFill>
                  <a:gsLst>
                    <a:gs pos="9000">
                      <a:schemeClr val="accent1">
                        <a:lumMod val="5000"/>
                        <a:lumOff val="95000"/>
                        <a:alpha val="0"/>
                      </a:schemeClr>
                    </a:gs>
                    <a:gs pos="35255">
                      <a:schemeClr val="accent1">
                        <a:lumMod val="40000"/>
                        <a:lumOff val="60000"/>
                      </a:schemeClr>
                    </a:gs>
                    <a:gs pos="61000">
                      <a:schemeClr val="accent1">
                        <a:lumMod val="60000"/>
                        <a:lumOff val="40000"/>
                      </a:schemeClr>
                    </a:gs>
                    <a:gs pos="100000">
                      <a:schemeClr val="accent1"/>
                    </a:gs>
                  </a:gsLst>
                  <a:lin ang="16200000" scaled="0"/>
                </a:gradFill>
                <a:latin typeface="+mn-ea"/>
                <a:ea typeface="+mn-ea"/>
              </a:defRPr>
            </a:lvl1pPr>
          </a:lstStyle>
          <a:p>
            <a:pPr marL="0" lvl="0"/>
            <a:r>
              <a:rPr lang="en-US" altLang="zh-CN" dirty="0"/>
              <a:t>0X</a:t>
            </a:r>
            <a:endParaRPr lang="zh-CN" altLang="en-US" dirty="0"/>
          </a:p>
        </p:txBody>
      </p:sp>
      <p:sp>
        <p:nvSpPr>
          <p:cNvPr id="10" name="文本占位符 13">
            <a:extLst>
              <a:ext uri="{FF2B5EF4-FFF2-40B4-BE49-F238E27FC236}">
                <a16:creationId xmlns:a16="http://schemas.microsoft.com/office/drawing/2014/main" id="{6A8E70DD-B9AA-401F-9F1E-D97B8C26A1C9}"/>
              </a:ext>
            </a:extLst>
          </p:cNvPr>
          <p:cNvSpPr>
            <a:spLocks noGrp="1"/>
          </p:cNvSpPr>
          <p:nvPr>
            <p:ph type="body" sz="quarter" idx="12" hasCustomPrompt="1"/>
          </p:nvPr>
        </p:nvSpPr>
        <p:spPr>
          <a:xfrm>
            <a:off x="1626978" y="3706948"/>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1" name="文本占位符 13">
            <a:extLst>
              <a:ext uri="{FF2B5EF4-FFF2-40B4-BE49-F238E27FC236}">
                <a16:creationId xmlns:a16="http://schemas.microsoft.com/office/drawing/2014/main" id="{B3F042AC-770A-4123-8A4B-A2ADC3C86B4C}"/>
              </a:ext>
            </a:extLst>
          </p:cNvPr>
          <p:cNvSpPr>
            <a:spLocks noGrp="1"/>
          </p:cNvSpPr>
          <p:nvPr>
            <p:ph type="body" sz="quarter" idx="13" hasCustomPrompt="1"/>
          </p:nvPr>
        </p:nvSpPr>
        <p:spPr>
          <a:xfrm>
            <a:off x="1626978" y="4646022"/>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sp>
        <p:nvSpPr>
          <p:cNvPr id="118" name="文本框 117">
            <a:extLst>
              <a:ext uri="{FF2B5EF4-FFF2-40B4-BE49-F238E27FC236}">
                <a16:creationId xmlns:a16="http://schemas.microsoft.com/office/drawing/2014/main" id="{1B56CCC1-ACA5-4C89-AF09-34F0893C245F}"/>
              </a:ext>
            </a:extLst>
          </p:cNvPr>
          <p:cNvSpPr txBox="1"/>
          <p:nvPr userDrawn="1"/>
        </p:nvSpPr>
        <p:spPr>
          <a:xfrm>
            <a:off x="566643" y="6187578"/>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grpSp>
        <p:nvGrpSpPr>
          <p:cNvPr id="119" name="组合 118">
            <a:extLst>
              <a:ext uri="{FF2B5EF4-FFF2-40B4-BE49-F238E27FC236}">
                <a16:creationId xmlns:a16="http://schemas.microsoft.com/office/drawing/2014/main" id="{8A6FC628-761A-4B9D-B9A9-FBF5C3E43D27}"/>
              </a:ext>
            </a:extLst>
          </p:cNvPr>
          <p:cNvGrpSpPr/>
          <p:nvPr userDrawn="1"/>
        </p:nvGrpSpPr>
        <p:grpSpPr>
          <a:xfrm>
            <a:off x="660401" y="439644"/>
            <a:ext cx="966578" cy="484447"/>
            <a:chOff x="1585727" y="453077"/>
            <a:chExt cx="374706" cy="187802"/>
          </a:xfrm>
          <a:solidFill>
            <a:schemeClr val="accent1"/>
          </a:solidFill>
        </p:grpSpPr>
        <p:sp>
          <p:nvSpPr>
            <p:cNvPr id="120" name="îśliďe">
              <a:extLst>
                <a:ext uri="{FF2B5EF4-FFF2-40B4-BE49-F238E27FC236}">
                  <a16:creationId xmlns:a16="http://schemas.microsoft.com/office/drawing/2014/main" id="{4964739B-F193-4C9B-9600-A6BB3270366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05F18555-B9F4-4238-B849-F4ACE5A3C87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AA558284-346E-499C-B4D2-013EA57A53D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A9668D34-6F9C-40AF-BD4E-0B221468C6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E56324-F00A-470C-BC5C-8EED2254734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F6414755-474B-4557-BEBE-B01CBF06F838}"/>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2CFE885F-1278-4915-B764-4876D079105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7" name="isľîḑê">
              <a:extLst>
                <a:ext uri="{FF2B5EF4-FFF2-40B4-BE49-F238E27FC236}">
                  <a16:creationId xmlns:a16="http://schemas.microsoft.com/office/drawing/2014/main" id="{DFC7FD85-FA4D-4D1C-8647-E1BA23B9F02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70593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119" name="文本框 118">
            <a:extLst>
              <a:ext uri="{FF2B5EF4-FFF2-40B4-BE49-F238E27FC236}">
                <a16:creationId xmlns:a16="http://schemas.microsoft.com/office/drawing/2014/main" id="{B3C25A68-AD4D-4079-835C-08450F3BB764}"/>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287" name="椭圆 286">
            <a:extLst>
              <a:ext uri="{FF2B5EF4-FFF2-40B4-BE49-F238E27FC236}">
                <a16:creationId xmlns:a16="http://schemas.microsoft.com/office/drawing/2014/main" id="{C99B26D8-2643-44DC-B5E7-FAFF3847668B}"/>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占位符 163">
            <a:extLst>
              <a:ext uri="{FF2B5EF4-FFF2-40B4-BE49-F238E27FC236}">
                <a16:creationId xmlns:a16="http://schemas.microsoft.com/office/drawing/2014/main" id="{FB1CF7D9-3AF3-4B69-93BC-184D5C1A583E}"/>
              </a:ext>
            </a:extLst>
          </p:cNvPr>
          <p:cNvSpPr>
            <a:spLocks noGrp="1"/>
          </p:cNvSpPr>
          <p:nvPr userDrawn="1">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123" name="直接连接符 122">
            <a:extLst>
              <a:ext uri="{FF2B5EF4-FFF2-40B4-BE49-F238E27FC236}">
                <a16:creationId xmlns:a16="http://schemas.microsoft.com/office/drawing/2014/main" id="{DF36D376-C633-4FC3-A794-52336E7CD06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275" name="组合 274">
            <a:extLst>
              <a:ext uri="{FF2B5EF4-FFF2-40B4-BE49-F238E27FC236}">
                <a16:creationId xmlns:a16="http://schemas.microsoft.com/office/drawing/2014/main" id="{8C880A74-95D2-486E-88F0-7B63631B9516}"/>
              </a:ext>
            </a:extLst>
          </p:cNvPr>
          <p:cNvGrpSpPr/>
          <p:nvPr userDrawn="1"/>
        </p:nvGrpSpPr>
        <p:grpSpPr>
          <a:xfrm>
            <a:off x="10672870" y="250062"/>
            <a:ext cx="913766" cy="457978"/>
            <a:chOff x="1585727" y="453077"/>
            <a:chExt cx="374706" cy="187802"/>
          </a:xfrm>
          <a:solidFill>
            <a:schemeClr val="accent1"/>
          </a:solidFill>
        </p:grpSpPr>
        <p:sp>
          <p:nvSpPr>
            <p:cNvPr id="276" name="îśliďe">
              <a:extLst>
                <a:ext uri="{FF2B5EF4-FFF2-40B4-BE49-F238E27FC236}">
                  <a16:creationId xmlns:a16="http://schemas.microsoft.com/office/drawing/2014/main" id="{ED2BDFF9-0084-4885-A9E5-43AF06C0D73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77" name="íšḻíḍé">
              <a:extLst>
                <a:ext uri="{FF2B5EF4-FFF2-40B4-BE49-F238E27FC236}">
                  <a16:creationId xmlns:a16="http://schemas.microsoft.com/office/drawing/2014/main" id="{C0A46737-19ED-48C8-829E-E3901C0E3D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78" name="ïṥḻïḓé">
              <a:extLst>
                <a:ext uri="{FF2B5EF4-FFF2-40B4-BE49-F238E27FC236}">
                  <a16:creationId xmlns:a16="http://schemas.microsoft.com/office/drawing/2014/main" id="{1E4D9741-32E1-4390-BDFD-369B5E5B8EF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79" name="î$ḷíḋè">
              <a:extLst>
                <a:ext uri="{FF2B5EF4-FFF2-40B4-BE49-F238E27FC236}">
                  <a16:creationId xmlns:a16="http://schemas.microsoft.com/office/drawing/2014/main" id="{1A3E3C42-5720-4C54-BE49-54161595681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80" name="i$ḷiḍe">
              <a:extLst>
                <a:ext uri="{FF2B5EF4-FFF2-40B4-BE49-F238E27FC236}">
                  <a16:creationId xmlns:a16="http://schemas.microsoft.com/office/drawing/2014/main" id="{C73BBF15-75A1-48DB-B8E8-928413E7220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81" name="ïṡļïdè">
              <a:extLst>
                <a:ext uri="{FF2B5EF4-FFF2-40B4-BE49-F238E27FC236}">
                  <a16:creationId xmlns:a16="http://schemas.microsoft.com/office/drawing/2014/main" id="{FC002ACE-A1AF-43FA-BE5A-52DB0A175F9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82" name="íŝḻíḓê">
              <a:extLst>
                <a:ext uri="{FF2B5EF4-FFF2-40B4-BE49-F238E27FC236}">
                  <a16:creationId xmlns:a16="http://schemas.microsoft.com/office/drawing/2014/main" id="{7E83EF4E-8255-4A54-919D-96F33CDE0EE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83" name="isľîḑê">
              <a:extLst>
                <a:ext uri="{FF2B5EF4-FFF2-40B4-BE49-F238E27FC236}">
                  <a16:creationId xmlns:a16="http://schemas.microsoft.com/office/drawing/2014/main" id="{FBCD47E7-AD51-4747-B593-899B4A61EF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 name="页脚占位符 2"/>
          <p:cNvSpPr>
            <a:spLocks noGrp="1"/>
          </p:cNvSpPr>
          <p:nvPr>
            <p:ph type="ftr" sz="quarter" idx="13"/>
          </p:nvPr>
        </p:nvSpPr>
        <p:spPr/>
        <p:txBody>
          <a:bodyPr/>
          <a:lstStyle/>
          <a:p>
            <a:endParaRPr lang="zh-CN" altLang="en-US"/>
          </a:p>
        </p:txBody>
      </p:sp>
      <p:sp>
        <p:nvSpPr>
          <p:cNvPr id="4" name="灯片编号占位符 3"/>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15230152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1">
    <p:bg>
      <p:bgPr>
        <a:solidFill>
          <a:schemeClr val="bg1">
            <a:lumMod val="95000"/>
          </a:schemeClr>
        </a:solidFill>
        <a:effectLst/>
      </p:bgPr>
    </p:bg>
    <p:spTree>
      <p:nvGrpSpPr>
        <p:cNvPr id="1" name=""/>
        <p:cNvGrpSpPr/>
        <p:nvPr/>
      </p:nvGrpSpPr>
      <p:grpSpPr>
        <a:xfrm>
          <a:off x="0" y="0"/>
          <a:ext cx="0" cy="0"/>
          <a:chOff x="0" y="0"/>
          <a:chExt cx="0" cy="0"/>
        </a:xfrm>
      </p:grpSpPr>
      <p:grpSp>
        <p:nvGrpSpPr>
          <p:cNvPr id="118" name="组合 117">
            <a:extLst>
              <a:ext uri="{FF2B5EF4-FFF2-40B4-BE49-F238E27FC236}">
                <a16:creationId xmlns:a16="http://schemas.microsoft.com/office/drawing/2014/main" id="{1E2418E3-90AE-43BF-A10B-BC189BDF46B0}"/>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9" name="îśliďe">
              <a:extLst>
                <a:ext uri="{FF2B5EF4-FFF2-40B4-BE49-F238E27FC236}">
                  <a16:creationId xmlns:a16="http://schemas.microsoft.com/office/drawing/2014/main" id="{2B892EE9-FFDB-4643-8C0F-5D2686CABC2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0" name="íšḻíḍé">
              <a:extLst>
                <a:ext uri="{FF2B5EF4-FFF2-40B4-BE49-F238E27FC236}">
                  <a16:creationId xmlns:a16="http://schemas.microsoft.com/office/drawing/2014/main" id="{ED1526E3-7677-47B3-AFE6-0B33E4FA531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3" name="ïṥḻïḓé">
              <a:extLst>
                <a:ext uri="{FF2B5EF4-FFF2-40B4-BE49-F238E27FC236}">
                  <a16:creationId xmlns:a16="http://schemas.microsoft.com/office/drawing/2014/main" id="{0153E713-418B-4DD8-AE62-D7AE022CE8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288F63C9-7866-4AD6-9D20-761FB6A3BA4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CBDD266E-B9E3-4518-BC06-663B8A4B14C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62FDF345-2740-4D18-B201-90270DDE14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723C742F-60A0-419C-B5CD-C8AE454EAB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E7B53164-D3F8-4014-8C1D-7732CF1FB06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1" name="图片占位符 120">
            <a:extLst>
              <a:ext uri="{FF2B5EF4-FFF2-40B4-BE49-F238E27FC236}">
                <a16:creationId xmlns:a16="http://schemas.microsoft.com/office/drawing/2014/main" id="{323C6BF8-77A1-41DC-9ACD-C1502733FEE3}"/>
              </a:ext>
            </a:extLst>
          </p:cNvPr>
          <p:cNvSpPr>
            <a:spLocks noGrp="1"/>
          </p:cNvSpPr>
          <p:nvPr>
            <p:ph type="pic" sz="quarter" idx="11"/>
          </p:nvPr>
        </p:nvSpPr>
        <p:spPr>
          <a:xfrm>
            <a:off x="5070600" y="1278508"/>
            <a:ext cx="2050802" cy="2050802"/>
          </a:xfrm>
          <a:custGeom>
            <a:avLst/>
            <a:gdLst>
              <a:gd name="connsiteX0" fmla="*/ 1240971 w 2481942"/>
              <a:gd name="connsiteY0" fmla="*/ 0 h 2481942"/>
              <a:gd name="connsiteX1" fmla="*/ 2481942 w 2481942"/>
              <a:gd name="connsiteY1" fmla="*/ 1240971 h 2481942"/>
              <a:gd name="connsiteX2" fmla="*/ 1240971 w 2481942"/>
              <a:gd name="connsiteY2" fmla="*/ 2481942 h 2481942"/>
              <a:gd name="connsiteX3" fmla="*/ 0 w 2481942"/>
              <a:gd name="connsiteY3" fmla="*/ 1240971 h 2481942"/>
              <a:gd name="connsiteX4" fmla="*/ 1240971 w 2481942"/>
              <a:gd name="connsiteY4" fmla="*/ 0 h 248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1942" h="2481942">
                <a:moveTo>
                  <a:pt x="1240971" y="0"/>
                </a:moveTo>
                <a:cubicBezTo>
                  <a:pt x="1926340" y="0"/>
                  <a:pt x="2481942" y="555602"/>
                  <a:pt x="2481942" y="1240971"/>
                </a:cubicBezTo>
                <a:cubicBezTo>
                  <a:pt x="2481942" y="1926340"/>
                  <a:pt x="1926340" y="2481942"/>
                  <a:pt x="1240971" y="2481942"/>
                </a:cubicBezTo>
                <a:cubicBezTo>
                  <a:pt x="555602" y="2481942"/>
                  <a:pt x="0" y="1926340"/>
                  <a:pt x="0" y="1240971"/>
                </a:cubicBezTo>
                <a:cubicBezTo>
                  <a:pt x="0" y="555602"/>
                  <a:pt x="555602" y="0"/>
                  <a:pt x="1240971" y="0"/>
                </a:cubicBezTo>
                <a:close/>
              </a:path>
            </a:pathLst>
          </a:custGeom>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7" name="文本框 346">
            <a:extLst>
              <a:ext uri="{FF2B5EF4-FFF2-40B4-BE49-F238E27FC236}">
                <a16:creationId xmlns:a16="http://schemas.microsoft.com/office/drawing/2014/main" id="{A2ECFAA8-206F-4AA0-8305-C520C5D1DE5A}"/>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51" name="直接连接符 350">
            <a:extLst>
              <a:ext uri="{FF2B5EF4-FFF2-40B4-BE49-F238E27FC236}">
                <a16:creationId xmlns:a16="http://schemas.microsoft.com/office/drawing/2014/main" id="{02D58E79-F76E-45E1-B421-D8CC974C829B}"/>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2" name="组合 351">
            <a:extLst>
              <a:ext uri="{FF2B5EF4-FFF2-40B4-BE49-F238E27FC236}">
                <a16:creationId xmlns:a16="http://schemas.microsoft.com/office/drawing/2014/main" id="{E19E2B6D-A785-47BD-B862-B06670927FD3}"/>
              </a:ext>
            </a:extLst>
          </p:cNvPr>
          <p:cNvGrpSpPr/>
          <p:nvPr userDrawn="1"/>
        </p:nvGrpSpPr>
        <p:grpSpPr>
          <a:xfrm>
            <a:off x="10672870" y="250062"/>
            <a:ext cx="913766" cy="457978"/>
            <a:chOff x="1585727" y="453077"/>
            <a:chExt cx="374706" cy="187802"/>
          </a:xfrm>
          <a:solidFill>
            <a:schemeClr val="accent1"/>
          </a:solidFill>
        </p:grpSpPr>
        <p:sp>
          <p:nvSpPr>
            <p:cNvPr id="353" name="îśliďe">
              <a:extLst>
                <a:ext uri="{FF2B5EF4-FFF2-40B4-BE49-F238E27FC236}">
                  <a16:creationId xmlns:a16="http://schemas.microsoft.com/office/drawing/2014/main" id="{CEF25128-4655-449E-B316-1856E167699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4" name="íšḻíḍé">
              <a:extLst>
                <a:ext uri="{FF2B5EF4-FFF2-40B4-BE49-F238E27FC236}">
                  <a16:creationId xmlns:a16="http://schemas.microsoft.com/office/drawing/2014/main" id="{00B9D041-DE30-4BD5-A2AA-909BD82110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5" name="ïṥḻïḓé">
              <a:extLst>
                <a:ext uri="{FF2B5EF4-FFF2-40B4-BE49-F238E27FC236}">
                  <a16:creationId xmlns:a16="http://schemas.microsoft.com/office/drawing/2014/main" id="{4BE6B472-4374-4E6A-BBC0-4C63900A668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6" name="î$ḷíḋè">
              <a:extLst>
                <a:ext uri="{FF2B5EF4-FFF2-40B4-BE49-F238E27FC236}">
                  <a16:creationId xmlns:a16="http://schemas.microsoft.com/office/drawing/2014/main" id="{43559C2C-DC59-40F2-805D-5292ADB6B75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7" name="i$ḷiḍe">
              <a:extLst>
                <a:ext uri="{FF2B5EF4-FFF2-40B4-BE49-F238E27FC236}">
                  <a16:creationId xmlns:a16="http://schemas.microsoft.com/office/drawing/2014/main" id="{F9F4FA1C-6CAA-4B98-8608-D2F9F924C671}"/>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8" name="ïṡļïdè">
              <a:extLst>
                <a:ext uri="{FF2B5EF4-FFF2-40B4-BE49-F238E27FC236}">
                  <a16:creationId xmlns:a16="http://schemas.microsoft.com/office/drawing/2014/main" id="{A08104C8-DA98-4A93-B610-97649A3C6EB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9" name="íŝḻíḓê">
              <a:extLst>
                <a:ext uri="{FF2B5EF4-FFF2-40B4-BE49-F238E27FC236}">
                  <a16:creationId xmlns:a16="http://schemas.microsoft.com/office/drawing/2014/main" id="{01220153-D429-47C5-9403-E793067CEE6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0" name="isľîḑê">
              <a:extLst>
                <a:ext uri="{FF2B5EF4-FFF2-40B4-BE49-F238E27FC236}">
                  <a16:creationId xmlns:a16="http://schemas.microsoft.com/office/drawing/2014/main" id="{D3B54AD9-D8BE-4C26-A0B9-909F8FD29A6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1" name="椭圆 360">
            <a:extLst>
              <a:ext uri="{FF2B5EF4-FFF2-40B4-BE49-F238E27FC236}">
                <a16:creationId xmlns:a16="http://schemas.microsoft.com/office/drawing/2014/main" id="{84C3B27C-731D-42A4-9ACD-CF5037CBAF87}"/>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文本占位符 163">
            <a:extLst>
              <a:ext uri="{FF2B5EF4-FFF2-40B4-BE49-F238E27FC236}">
                <a16:creationId xmlns:a16="http://schemas.microsoft.com/office/drawing/2014/main" id="{8BD139AB-6E69-4566-87E7-FB93889149AE}"/>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3"/>
          </p:nvPr>
        </p:nvSpPr>
        <p:spPr/>
        <p:txBody>
          <a:bodyPr/>
          <a:lstStyle/>
          <a:p>
            <a:endParaRPr lang="zh-CN" altLang="en-US" dirty="0"/>
          </a:p>
        </p:txBody>
      </p:sp>
      <p:sp>
        <p:nvSpPr>
          <p:cNvPr id="3" name="灯片编号占位符 2"/>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78532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2">
    <p:bg>
      <p:bgPr>
        <a:solidFill>
          <a:schemeClr val="bg1">
            <a:lumMod val="95000"/>
          </a:schemeClr>
        </a:solidFill>
        <a:effectLst/>
      </p:bgPr>
    </p:bg>
    <p:spTree>
      <p:nvGrpSpPr>
        <p:cNvPr id="1" name=""/>
        <p:cNvGrpSpPr/>
        <p:nvPr/>
      </p:nvGrpSpPr>
      <p:grpSpPr>
        <a:xfrm>
          <a:off x="0" y="0"/>
          <a:ext cx="0" cy="0"/>
          <a:chOff x="0" y="0"/>
          <a:chExt cx="0" cy="0"/>
        </a:xfrm>
      </p:grpSpPr>
      <p:grpSp>
        <p:nvGrpSpPr>
          <p:cNvPr id="137" name="组合 136">
            <a:extLst>
              <a:ext uri="{FF2B5EF4-FFF2-40B4-BE49-F238E27FC236}">
                <a16:creationId xmlns:a16="http://schemas.microsoft.com/office/drawing/2014/main" id="{E991BD3E-67BB-4829-85E7-D6E9E18878D3}"/>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38" name="îśliďe">
              <a:extLst>
                <a:ext uri="{FF2B5EF4-FFF2-40B4-BE49-F238E27FC236}">
                  <a16:creationId xmlns:a16="http://schemas.microsoft.com/office/drawing/2014/main" id="{737BB387-BCB1-49C0-97EF-03674D646E4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9" name="íšḻíḍé">
              <a:extLst>
                <a:ext uri="{FF2B5EF4-FFF2-40B4-BE49-F238E27FC236}">
                  <a16:creationId xmlns:a16="http://schemas.microsoft.com/office/drawing/2014/main" id="{BFAB35F3-DFAD-485F-BCEB-B28F03C0B2E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0" name="ïṥḻïḓé">
              <a:extLst>
                <a:ext uri="{FF2B5EF4-FFF2-40B4-BE49-F238E27FC236}">
                  <a16:creationId xmlns:a16="http://schemas.microsoft.com/office/drawing/2014/main" id="{C2F31780-1775-4B04-B1F4-F7DB6DF2D1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41" name="î$ḷíḋè">
              <a:extLst>
                <a:ext uri="{FF2B5EF4-FFF2-40B4-BE49-F238E27FC236}">
                  <a16:creationId xmlns:a16="http://schemas.microsoft.com/office/drawing/2014/main" id="{71040F92-8B4A-4B45-91C5-B94081BBE57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2" name="i$ḷiḍe">
              <a:extLst>
                <a:ext uri="{FF2B5EF4-FFF2-40B4-BE49-F238E27FC236}">
                  <a16:creationId xmlns:a16="http://schemas.microsoft.com/office/drawing/2014/main" id="{A005456B-4FDB-400A-BA47-463A5D2AFB8B}"/>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43" name="ïṡļïdè">
              <a:extLst>
                <a:ext uri="{FF2B5EF4-FFF2-40B4-BE49-F238E27FC236}">
                  <a16:creationId xmlns:a16="http://schemas.microsoft.com/office/drawing/2014/main" id="{7D10F0F7-9170-41F7-8F68-A9CC630A3A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4" name="íŝḻíḓê">
              <a:extLst>
                <a:ext uri="{FF2B5EF4-FFF2-40B4-BE49-F238E27FC236}">
                  <a16:creationId xmlns:a16="http://schemas.microsoft.com/office/drawing/2014/main" id="{3B105AC1-55B9-493F-B03A-BA92FFC4040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5" name="isľîḑê">
              <a:extLst>
                <a:ext uri="{FF2B5EF4-FFF2-40B4-BE49-F238E27FC236}">
                  <a16:creationId xmlns:a16="http://schemas.microsoft.com/office/drawing/2014/main" id="{D7D61FD1-E278-4E21-A675-134CADBBA8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7" name="图片占位符 126">
            <a:extLst>
              <a:ext uri="{FF2B5EF4-FFF2-40B4-BE49-F238E27FC236}">
                <a16:creationId xmlns:a16="http://schemas.microsoft.com/office/drawing/2014/main" id="{45FCB2FD-380A-4453-A606-806502470DD0}"/>
              </a:ext>
            </a:extLst>
          </p:cNvPr>
          <p:cNvSpPr>
            <a:spLocks noGrp="1"/>
          </p:cNvSpPr>
          <p:nvPr>
            <p:ph type="pic" sz="quarter" idx="11"/>
          </p:nvPr>
        </p:nvSpPr>
        <p:spPr>
          <a:xfrm>
            <a:off x="131373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29" name="图片占位符 128">
            <a:extLst>
              <a:ext uri="{FF2B5EF4-FFF2-40B4-BE49-F238E27FC236}">
                <a16:creationId xmlns:a16="http://schemas.microsoft.com/office/drawing/2014/main" id="{56ED064B-0301-455B-A676-B845AA0A773F}"/>
              </a:ext>
            </a:extLst>
          </p:cNvPr>
          <p:cNvSpPr>
            <a:spLocks noGrp="1"/>
          </p:cNvSpPr>
          <p:nvPr>
            <p:ph type="pic" sz="quarter" idx="12"/>
          </p:nvPr>
        </p:nvSpPr>
        <p:spPr>
          <a:xfrm>
            <a:off x="408398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1" name="图片占位符 130">
            <a:extLst>
              <a:ext uri="{FF2B5EF4-FFF2-40B4-BE49-F238E27FC236}">
                <a16:creationId xmlns:a16="http://schemas.microsoft.com/office/drawing/2014/main" id="{0F2B9BCD-C13B-453B-BE58-277931F29C9F}"/>
              </a:ext>
            </a:extLst>
          </p:cNvPr>
          <p:cNvSpPr>
            <a:spLocks noGrp="1"/>
          </p:cNvSpPr>
          <p:nvPr>
            <p:ph type="pic" sz="quarter" idx="13"/>
          </p:nvPr>
        </p:nvSpPr>
        <p:spPr>
          <a:xfrm>
            <a:off x="6858564"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3" name="图片占位符 132">
            <a:extLst>
              <a:ext uri="{FF2B5EF4-FFF2-40B4-BE49-F238E27FC236}">
                <a16:creationId xmlns:a16="http://schemas.microsoft.com/office/drawing/2014/main" id="{6B2C8993-ACCE-4097-97E0-B6CE061E1459}"/>
              </a:ext>
            </a:extLst>
          </p:cNvPr>
          <p:cNvSpPr>
            <a:spLocks noGrp="1"/>
          </p:cNvSpPr>
          <p:nvPr>
            <p:ph type="pic" sz="quarter" idx="14"/>
          </p:nvPr>
        </p:nvSpPr>
        <p:spPr>
          <a:xfrm>
            <a:off x="9628315"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079ED008-DC4F-4C7D-9796-09E7AFCA0780}"/>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2" name="直接连接符 361">
            <a:extLst>
              <a:ext uri="{FF2B5EF4-FFF2-40B4-BE49-F238E27FC236}">
                <a16:creationId xmlns:a16="http://schemas.microsoft.com/office/drawing/2014/main" id="{6344B003-5E03-4834-8E61-65F88EBC5A3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AE612BE4-594F-4645-AB1C-1128F5BA5E69}"/>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BAFAC900-28FD-49D5-91B4-EA2D4B74851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6FEC6858-D1AA-427F-99AC-20F2A1F861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B11DEFCA-A765-4E3F-8AC6-B95A43D952F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77812D85-3783-4980-AA02-560C67B8C9A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40259058-070C-4556-A23E-9089D814C52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FA6C4463-F474-490F-8F47-D496A78224BD}"/>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36EF2C54-31E1-4E62-A4F3-45369601934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9085F1FB-EB5A-4465-941C-DF795C2CE4D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4E58E19E-CAFB-4CB1-8EC8-D3C20D51C869}"/>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157A7B50-0552-4F91-943F-E1E8ADC2BBD9}"/>
              </a:ext>
            </a:extLst>
          </p:cNvPr>
          <p:cNvSpPr>
            <a:spLocks noGrp="1"/>
          </p:cNvSpPr>
          <p:nvPr>
            <p:ph type="body" sz="quarter" idx="15"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049669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3">
    <p:bg>
      <p:bgPr>
        <a:solidFill>
          <a:schemeClr val="bg1">
            <a:lumMod val="95000"/>
          </a:schemeClr>
        </a:solidFill>
        <a:effectLst/>
      </p:bgPr>
    </p:bg>
    <p:spTree>
      <p:nvGrpSpPr>
        <p:cNvPr id="1" name=""/>
        <p:cNvGrpSpPr/>
        <p:nvPr/>
      </p:nvGrpSpPr>
      <p:grpSpPr>
        <a:xfrm>
          <a:off x="0" y="0"/>
          <a:ext cx="0" cy="0"/>
          <a:chOff x="0" y="0"/>
          <a:chExt cx="0" cy="0"/>
        </a:xfrm>
      </p:grpSpPr>
      <p:grpSp>
        <p:nvGrpSpPr>
          <p:cNvPr id="120" name="组合 119">
            <a:extLst>
              <a:ext uri="{FF2B5EF4-FFF2-40B4-BE49-F238E27FC236}">
                <a16:creationId xmlns:a16="http://schemas.microsoft.com/office/drawing/2014/main" id="{82238C21-E96A-4553-ABA3-2482620CAEE7}"/>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4" name="îśliďe">
              <a:extLst>
                <a:ext uri="{FF2B5EF4-FFF2-40B4-BE49-F238E27FC236}">
                  <a16:creationId xmlns:a16="http://schemas.microsoft.com/office/drawing/2014/main" id="{A19E78AA-9F2F-4B79-BE29-A38A8512C30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5" name="íšḻíḍé">
              <a:extLst>
                <a:ext uri="{FF2B5EF4-FFF2-40B4-BE49-F238E27FC236}">
                  <a16:creationId xmlns:a16="http://schemas.microsoft.com/office/drawing/2014/main" id="{84ECC6F3-7F0D-4B36-BDC1-BAE24FE3D09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6" name="ïṥḻïḓé">
              <a:extLst>
                <a:ext uri="{FF2B5EF4-FFF2-40B4-BE49-F238E27FC236}">
                  <a16:creationId xmlns:a16="http://schemas.microsoft.com/office/drawing/2014/main" id="{45BD53DA-0DB2-427C-862C-E110B667273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3446CA9F-999C-4B0C-B7C0-3C828B29476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0C49A28C-B443-4282-9A8A-35338DA2960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1115D4C6-8759-4198-855C-487F5335A9A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6AD242C0-0E82-4B15-85F3-8E306279F58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33952AB9-16E1-4C6C-933C-1E88DA2EE9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48" name="图片占位符 247">
            <a:extLst>
              <a:ext uri="{FF2B5EF4-FFF2-40B4-BE49-F238E27FC236}">
                <a16:creationId xmlns:a16="http://schemas.microsoft.com/office/drawing/2014/main" id="{1B1C9393-CEC8-4FF7-AE63-5E307C9A0937}"/>
              </a:ext>
            </a:extLst>
          </p:cNvPr>
          <p:cNvSpPr>
            <a:spLocks noGrp="1"/>
          </p:cNvSpPr>
          <p:nvPr>
            <p:ph type="pic" sz="quarter" idx="17"/>
          </p:nvPr>
        </p:nvSpPr>
        <p:spPr>
          <a:xfrm>
            <a:off x="3708401" y="1386114"/>
            <a:ext cx="1364797" cy="4085772"/>
          </a:xfrm>
          <a:custGeom>
            <a:avLst/>
            <a:gdLst>
              <a:gd name="connsiteX0" fmla="*/ 0 w 1364797"/>
              <a:gd name="connsiteY0" fmla="*/ 0 h 4085772"/>
              <a:gd name="connsiteX1" fmla="*/ 1364797 w 1364797"/>
              <a:gd name="connsiteY1" fmla="*/ 0 h 4085772"/>
              <a:gd name="connsiteX2" fmla="*/ 1364797 w 1364797"/>
              <a:gd name="connsiteY2" fmla="*/ 4085772 h 4085772"/>
              <a:gd name="connsiteX3" fmla="*/ 0 w 1364797"/>
              <a:gd name="connsiteY3" fmla="*/ 4085772 h 4085772"/>
            </a:gdLst>
            <a:ahLst/>
            <a:cxnLst>
              <a:cxn ang="0">
                <a:pos x="connsiteX0" y="connsiteY0"/>
              </a:cxn>
              <a:cxn ang="0">
                <a:pos x="connsiteX1" y="connsiteY1"/>
              </a:cxn>
              <a:cxn ang="0">
                <a:pos x="connsiteX2" y="connsiteY2"/>
              </a:cxn>
              <a:cxn ang="0">
                <a:pos x="connsiteX3" y="connsiteY3"/>
              </a:cxn>
            </a:cxnLst>
            <a:rect l="l" t="t" r="r" b="b"/>
            <a:pathLst>
              <a:path w="1364797" h="4085772">
                <a:moveTo>
                  <a:pt x="0" y="0"/>
                </a:moveTo>
                <a:lnTo>
                  <a:pt x="1364797" y="0"/>
                </a:lnTo>
                <a:lnTo>
                  <a:pt x="1364797" y="4085772"/>
                </a:lnTo>
                <a:lnTo>
                  <a:pt x="0" y="4085772"/>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7" name="图片占位符 246">
            <a:extLst>
              <a:ext uri="{FF2B5EF4-FFF2-40B4-BE49-F238E27FC236}">
                <a16:creationId xmlns:a16="http://schemas.microsoft.com/office/drawing/2014/main" id="{13CE1306-F34A-405C-B0A7-FE7BDC80FD03}"/>
              </a:ext>
            </a:extLst>
          </p:cNvPr>
          <p:cNvSpPr>
            <a:spLocks noGrp="1"/>
          </p:cNvSpPr>
          <p:nvPr>
            <p:ph type="pic" sz="quarter" idx="16"/>
          </p:nvPr>
        </p:nvSpPr>
        <p:spPr>
          <a:xfrm>
            <a:off x="660400" y="3465700"/>
            <a:ext cx="3048001" cy="2008861"/>
          </a:xfrm>
          <a:custGeom>
            <a:avLst/>
            <a:gdLst>
              <a:gd name="connsiteX0" fmla="*/ 0 w 3048001"/>
              <a:gd name="connsiteY0" fmla="*/ 0 h 2008861"/>
              <a:gd name="connsiteX1" fmla="*/ 3048001 w 3048001"/>
              <a:gd name="connsiteY1" fmla="*/ 0 h 2008861"/>
              <a:gd name="connsiteX2" fmla="*/ 3048001 w 3048001"/>
              <a:gd name="connsiteY2" fmla="*/ 2008861 h 2008861"/>
              <a:gd name="connsiteX3" fmla="*/ 0 w 3048001"/>
              <a:gd name="connsiteY3" fmla="*/ 2008861 h 2008861"/>
            </a:gdLst>
            <a:ahLst/>
            <a:cxnLst>
              <a:cxn ang="0">
                <a:pos x="connsiteX0" y="connsiteY0"/>
              </a:cxn>
              <a:cxn ang="0">
                <a:pos x="connsiteX1" y="connsiteY1"/>
              </a:cxn>
              <a:cxn ang="0">
                <a:pos x="connsiteX2" y="connsiteY2"/>
              </a:cxn>
              <a:cxn ang="0">
                <a:pos x="connsiteX3" y="connsiteY3"/>
              </a:cxn>
            </a:cxnLst>
            <a:rect l="l" t="t" r="r" b="b"/>
            <a:pathLst>
              <a:path w="3048001" h="2008861">
                <a:moveTo>
                  <a:pt x="0" y="0"/>
                </a:moveTo>
                <a:lnTo>
                  <a:pt x="3048001" y="0"/>
                </a:lnTo>
                <a:lnTo>
                  <a:pt x="3048001" y="2008861"/>
                </a:lnTo>
                <a:lnTo>
                  <a:pt x="0" y="200886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6" name="图片占位符 245">
            <a:extLst>
              <a:ext uri="{FF2B5EF4-FFF2-40B4-BE49-F238E27FC236}">
                <a16:creationId xmlns:a16="http://schemas.microsoft.com/office/drawing/2014/main" id="{19AE75E7-1880-42F1-A265-D167DF145A03}"/>
              </a:ext>
            </a:extLst>
          </p:cNvPr>
          <p:cNvSpPr>
            <a:spLocks noGrp="1"/>
          </p:cNvSpPr>
          <p:nvPr>
            <p:ph type="pic" sz="quarter" idx="15"/>
          </p:nvPr>
        </p:nvSpPr>
        <p:spPr>
          <a:xfrm>
            <a:off x="2405742" y="1377645"/>
            <a:ext cx="1302658" cy="2076910"/>
          </a:xfrm>
          <a:custGeom>
            <a:avLst/>
            <a:gdLst>
              <a:gd name="connsiteX0" fmla="*/ 0 w 1302658"/>
              <a:gd name="connsiteY0" fmla="*/ 0 h 2076910"/>
              <a:gd name="connsiteX1" fmla="*/ 1302658 w 1302658"/>
              <a:gd name="connsiteY1" fmla="*/ 0 h 2076910"/>
              <a:gd name="connsiteX2" fmla="*/ 1302658 w 1302658"/>
              <a:gd name="connsiteY2" fmla="*/ 2076910 h 2076910"/>
              <a:gd name="connsiteX3" fmla="*/ 0 w 1302658"/>
              <a:gd name="connsiteY3" fmla="*/ 2076910 h 2076910"/>
            </a:gdLst>
            <a:ahLst/>
            <a:cxnLst>
              <a:cxn ang="0">
                <a:pos x="connsiteX0" y="connsiteY0"/>
              </a:cxn>
              <a:cxn ang="0">
                <a:pos x="connsiteX1" y="connsiteY1"/>
              </a:cxn>
              <a:cxn ang="0">
                <a:pos x="connsiteX2" y="connsiteY2"/>
              </a:cxn>
              <a:cxn ang="0">
                <a:pos x="connsiteX3" y="connsiteY3"/>
              </a:cxn>
            </a:cxnLst>
            <a:rect l="l" t="t" r="r" b="b"/>
            <a:pathLst>
              <a:path w="1302658" h="2076910">
                <a:moveTo>
                  <a:pt x="0" y="0"/>
                </a:moveTo>
                <a:lnTo>
                  <a:pt x="1302658" y="0"/>
                </a:lnTo>
                <a:lnTo>
                  <a:pt x="1302658" y="2076910"/>
                </a:lnTo>
                <a:lnTo>
                  <a:pt x="0" y="2076910"/>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5" name="图片占位符 244">
            <a:extLst>
              <a:ext uri="{FF2B5EF4-FFF2-40B4-BE49-F238E27FC236}">
                <a16:creationId xmlns:a16="http://schemas.microsoft.com/office/drawing/2014/main" id="{4437A713-926F-42B3-9D4B-126403084B15}"/>
              </a:ext>
            </a:extLst>
          </p:cNvPr>
          <p:cNvSpPr>
            <a:spLocks noGrp="1"/>
          </p:cNvSpPr>
          <p:nvPr>
            <p:ph type="pic" sz="quarter" idx="14"/>
          </p:nvPr>
        </p:nvSpPr>
        <p:spPr>
          <a:xfrm>
            <a:off x="660400" y="2540776"/>
            <a:ext cx="1745343" cy="913779"/>
          </a:xfrm>
          <a:custGeom>
            <a:avLst/>
            <a:gdLst>
              <a:gd name="connsiteX0" fmla="*/ 0 w 1745343"/>
              <a:gd name="connsiteY0" fmla="*/ 0 h 913779"/>
              <a:gd name="connsiteX1" fmla="*/ 1745343 w 1745343"/>
              <a:gd name="connsiteY1" fmla="*/ 0 h 913779"/>
              <a:gd name="connsiteX2" fmla="*/ 1745343 w 1745343"/>
              <a:gd name="connsiteY2" fmla="*/ 913779 h 913779"/>
              <a:gd name="connsiteX3" fmla="*/ 0 w 1745343"/>
              <a:gd name="connsiteY3" fmla="*/ 913779 h 913779"/>
            </a:gdLst>
            <a:ahLst/>
            <a:cxnLst>
              <a:cxn ang="0">
                <a:pos x="connsiteX0" y="connsiteY0"/>
              </a:cxn>
              <a:cxn ang="0">
                <a:pos x="connsiteX1" y="connsiteY1"/>
              </a:cxn>
              <a:cxn ang="0">
                <a:pos x="connsiteX2" y="connsiteY2"/>
              </a:cxn>
              <a:cxn ang="0">
                <a:pos x="connsiteX3" y="connsiteY3"/>
              </a:cxn>
            </a:cxnLst>
            <a:rect l="l" t="t" r="r" b="b"/>
            <a:pathLst>
              <a:path w="1745343" h="913779">
                <a:moveTo>
                  <a:pt x="0" y="0"/>
                </a:moveTo>
                <a:lnTo>
                  <a:pt x="1745343" y="0"/>
                </a:lnTo>
                <a:lnTo>
                  <a:pt x="1745343" y="913779"/>
                </a:lnTo>
                <a:lnTo>
                  <a:pt x="0" y="913779"/>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4" name="图片占位符 243">
            <a:extLst>
              <a:ext uri="{FF2B5EF4-FFF2-40B4-BE49-F238E27FC236}">
                <a16:creationId xmlns:a16="http://schemas.microsoft.com/office/drawing/2014/main" id="{F45FE95D-129A-4D34-A448-EACE36F27DA8}"/>
              </a:ext>
            </a:extLst>
          </p:cNvPr>
          <p:cNvSpPr>
            <a:spLocks noGrp="1"/>
          </p:cNvSpPr>
          <p:nvPr>
            <p:ph type="pic" sz="quarter" idx="13"/>
          </p:nvPr>
        </p:nvSpPr>
        <p:spPr>
          <a:xfrm>
            <a:off x="660400" y="1377645"/>
            <a:ext cx="1745343" cy="1163131"/>
          </a:xfrm>
          <a:custGeom>
            <a:avLst/>
            <a:gdLst>
              <a:gd name="connsiteX0" fmla="*/ 0 w 1745343"/>
              <a:gd name="connsiteY0" fmla="*/ 0 h 1163131"/>
              <a:gd name="connsiteX1" fmla="*/ 1745343 w 1745343"/>
              <a:gd name="connsiteY1" fmla="*/ 0 h 1163131"/>
              <a:gd name="connsiteX2" fmla="*/ 1745343 w 1745343"/>
              <a:gd name="connsiteY2" fmla="*/ 1163131 h 1163131"/>
              <a:gd name="connsiteX3" fmla="*/ 0 w 1745343"/>
              <a:gd name="connsiteY3" fmla="*/ 1163131 h 1163131"/>
            </a:gdLst>
            <a:ahLst/>
            <a:cxnLst>
              <a:cxn ang="0">
                <a:pos x="connsiteX0" y="connsiteY0"/>
              </a:cxn>
              <a:cxn ang="0">
                <a:pos x="connsiteX1" y="connsiteY1"/>
              </a:cxn>
              <a:cxn ang="0">
                <a:pos x="connsiteX2" y="connsiteY2"/>
              </a:cxn>
              <a:cxn ang="0">
                <a:pos x="connsiteX3" y="connsiteY3"/>
              </a:cxn>
            </a:cxnLst>
            <a:rect l="l" t="t" r="r" b="b"/>
            <a:pathLst>
              <a:path w="1745343" h="1163131">
                <a:moveTo>
                  <a:pt x="0" y="0"/>
                </a:moveTo>
                <a:lnTo>
                  <a:pt x="1745343" y="0"/>
                </a:lnTo>
                <a:lnTo>
                  <a:pt x="1745343" y="1163131"/>
                </a:lnTo>
                <a:lnTo>
                  <a:pt x="0" y="116313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7" name="文本框 366">
            <a:extLst>
              <a:ext uri="{FF2B5EF4-FFF2-40B4-BE49-F238E27FC236}">
                <a16:creationId xmlns:a16="http://schemas.microsoft.com/office/drawing/2014/main" id="{8CA95CB5-3F06-4748-8A63-EC62D7D931B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1" name="直接连接符 370">
            <a:extLst>
              <a:ext uri="{FF2B5EF4-FFF2-40B4-BE49-F238E27FC236}">
                <a16:creationId xmlns:a16="http://schemas.microsoft.com/office/drawing/2014/main" id="{1DFFE3DD-99D5-4C6E-9C08-7A7BFAC7747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2" name="组合 371">
            <a:extLst>
              <a:ext uri="{FF2B5EF4-FFF2-40B4-BE49-F238E27FC236}">
                <a16:creationId xmlns:a16="http://schemas.microsoft.com/office/drawing/2014/main" id="{36CCFD2F-082B-4161-A062-FF3AD1C46378}"/>
              </a:ext>
            </a:extLst>
          </p:cNvPr>
          <p:cNvGrpSpPr/>
          <p:nvPr userDrawn="1"/>
        </p:nvGrpSpPr>
        <p:grpSpPr>
          <a:xfrm>
            <a:off x="10672870" y="250062"/>
            <a:ext cx="913766" cy="457978"/>
            <a:chOff x="1585727" y="453077"/>
            <a:chExt cx="374706" cy="187802"/>
          </a:xfrm>
          <a:solidFill>
            <a:schemeClr val="accent1"/>
          </a:solidFill>
        </p:grpSpPr>
        <p:sp>
          <p:nvSpPr>
            <p:cNvPr id="373" name="îśliďe">
              <a:extLst>
                <a:ext uri="{FF2B5EF4-FFF2-40B4-BE49-F238E27FC236}">
                  <a16:creationId xmlns:a16="http://schemas.microsoft.com/office/drawing/2014/main" id="{47FBE879-41E0-4091-8DB1-81F2B6BD351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4" name="íšḻíḍé">
              <a:extLst>
                <a:ext uri="{FF2B5EF4-FFF2-40B4-BE49-F238E27FC236}">
                  <a16:creationId xmlns:a16="http://schemas.microsoft.com/office/drawing/2014/main" id="{DEF67F45-BA51-4403-B605-4F5384AE9F5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5" name="ïṥḻïḓé">
              <a:extLst>
                <a:ext uri="{FF2B5EF4-FFF2-40B4-BE49-F238E27FC236}">
                  <a16:creationId xmlns:a16="http://schemas.microsoft.com/office/drawing/2014/main" id="{E191F7A8-4F73-473E-9BBE-3731FD69C7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6" name="î$ḷíḋè">
              <a:extLst>
                <a:ext uri="{FF2B5EF4-FFF2-40B4-BE49-F238E27FC236}">
                  <a16:creationId xmlns:a16="http://schemas.microsoft.com/office/drawing/2014/main" id="{C8E2B8AD-3C1F-4DAD-B631-CA00B13F675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7" name="i$ḷiḍe">
              <a:extLst>
                <a:ext uri="{FF2B5EF4-FFF2-40B4-BE49-F238E27FC236}">
                  <a16:creationId xmlns:a16="http://schemas.microsoft.com/office/drawing/2014/main" id="{B3A3BDA3-3EEF-4BDE-84CC-616E9CA7EB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8" name="ïṡļïdè">
              <a:extLst>
                <a:ext uri="{FF2B5EF4-FFF2-40B4-BE49-F238E27FC236}">
                  <a16:creationId xmlns:a16="http://schemas.microsoft.com/office/drawing/2014/main" id="{15798186-86D4-4105-BBC5-BD8D3580DD5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9" name="íŝḻíḓê">
              <a:extLst>
                <a:ext uri="{FF2B5EF4-FFF2-40B4-BE49-F238E27FC236}">
                  <a16:creationId xmlns:a16="http://schemas.microsoft.com/office/drawing/2014/main" id="{F995A327-6B68-48B0-9C43-65191DC5B83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0" name="isľîḑê">
              <a:extLst>
                <a:ext uri="{FF2B5EF4-FFF2-40B4-BE49-F238E27FC236}">
                  <a16:creationId xmlns:a16="http://schemas.microsoft.com/office/drawing/2014/main" id="{7FDE15C2-083C-4FE6-AB27-3EFDD6B09B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1" name="椭圆 380">
            <a:extLst>
              <a:ext uri="{FF2B5EF4-FFF2-40B4-BE49-F238E27FC236}">
                <a16:creationId xmlns:a16="http://schemas.microsoft.com/office/drawing/2014/main" id="{144D9A7F-D63A-4E17-8666-772A265E3D3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文本占位符 163">
            <a:extLst>
              <a:ext uri="{FF2B5EF4-FFF2-40B4-BE49-F238E27FC236}">
                <a16:creationId xmlns:a16="http://schemas.microsoft.com/office/drawing/2014/main" id="{9199D496-78C7-4E11-BF44-861A6AC3A655}"/>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8"/>
          </p:nvPr>
        </p:nvSpPr>
        <p:spPr/>
        <p:txBody>
          <a:bodyPr/>
          <a:lstStyle/>
          <a:p>
            <a:endParaRPr lang="zh-CN" altLang="en-US"/>
          </a:p>
        </p:txBody>
      </p:sp>
      <p:sp>
        <p:nvSpPr>
          <p:cNvPr id="3" name="灯片编号占位符 2"/>
          <p:cNvSpPr>
            <a:spLocks noGrp="1"/>
          </p:cNvSpPr>
          <p:nvPr>
            <p:ph type="sldNum" sz="quarter" idx="19"/>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49350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863600" y="1173727"/>
            <a:ext cx="5435600" cy="4510547"/>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13991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1174811" y="1174568"/>
            <a:ext cx="9842379" cy="2138192"/>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279868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5">
    <p:bg>
      <p:bgPr>
        <a:solidFill>
          <a:schemeClr val="bg1">
            <a:lumMod val="95000"/>
          </a:schemeClr>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192C144-F896-408F-9E4C-6207005F0AF5}"/>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 name="图片占位符 124">
            <a:extLst>
              <a:ext uri="{FF2B5EF4-FFF2-40B4-BE49-F238E27FC236}">
                <a16:creationId xmlns:a16="http://schemas.microsoft.com/office/drawing/2014/main" id="{4EC0E6CB-8106-4501-8D58-470EE14DA598}"/>
              </a:ext>
            </a:extLst>
          </p:cNvPr>
          <p:cNvSpPr>
            <a:spLocks noGrp="1"/>
          </p:cNvSpPr>
          <p:nvPr>
            <p:ph type="pic" sz="quarter" idx="14"/>
          </p:nvPr>
        </p:nvSpPr>
        <p:spPr>
          <a:xfrm>
            <a:off x="8098900" y="3541175"/>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grpSp>
        <p:nvGrpSpPr>
          <p:cNvPr id="119" name="组合 118">
            <a:extLst>
              <a:ext uri="{FF2B5EF4-FFF2-40B4-BE49-F238E27FC236}">
                <a16:creationId xmlns:a16="http://schemas.microsoft.com/office/drawing/2014/main" id="{7283B7C2-46A6-4BEB-B5AC-A5E1385D9C2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878760DE-D1D8-41C6-8A23-DC68EAFFC56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F569D03C-5821-4B94-8431-401DA595DF7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4FF4B1F1-92F5-41F8-841F-58DC3DD48FD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4BD1A81A-0D75-477D-8A4A-B652054AEB0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E79DB84B-BBF4-4833-AC09-6CADC8E6CAD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6" name="ïṡļïdè">
              <a:extLst>
                <a:ext uri="{FF2B5EF4-FFF2-40B4-BE49-F238E27FC236}">
                  <a16:creationId xmlns:a16="http://schemas.microsoft.com/office/drawing/2014/main" id="{B8A271C9-7459-4BAD-AADA-C2522628FFF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7" name="íŝḻíḓê">
              <a:extLst>
                <a:ext uri="{FF2B5EF4-FFF2-40B4-BE49-F238E27FC236}">
                  <a16:creationId xmlns:a16="http://schemas.microsoft.com/office/drawing/2014/main" id="{55C8CB2E-955E-4AF2-A3FD-EBF163F8241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8" name="isľîḑê">
              <a:extLst>
                <a:ext uri="{FF2B5EF4-FFF2-40B4-BE49-F238E27FC236}">
                  <a16:creationId xmlns:a16="http://schemas.microsoft.com/office/drawing/2014/main" id="{097F367B-1F70-420C-805C-7AD610AE534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5" name="图片占位符 124">
            <a:extLst>
              <a:ext uri="{FF2B5EF4-FFF2-40B4-BE49-F238E27FC236}">
                <a16:creationId xmlns:a16="http://schemas.microsoft.com/office/drawing/2014/main" id="{80BFEFC6-E2C1-4DD6-BE09-62D389B614BB}"/>
              </a:ext>
            </a:extLst>
          </p:cNvPr>
          <p:cNvSpPr>
            <a:spLocks noGrp="1"/>
          </p:cNvSpPr>
          <p:nvPr>
            <p:ph type="pic" sz="quarter" idx="13"/>
          </p:nvPr>
        </p:nvSpPr>
        <p:spPr>
          <a:xfrm>
            <a:off x="671114" y="1018790"/>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A0A53755-55A2-4E1D-B804-B0D30B97BA7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2" name="直接连接符 361">
            <a:extLst>
              <a:ext uri="{FF2B5EF4-FFF2-40B4-BE49-F238E27FC236}">
                <a16:creationId xmlns:a16="http://schemas.microsoft.com/office/drawing/2014/main" id="{81F38FCA-1C0E-459B-8357-F54419C17E79}"/>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8FA3433B-F3E6-4385-B18F-C9D5DA639826}"/>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A5417669-9AFE-48F0-A0BD-E8518BBB6FB6}"/>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B7330DAC-0EF1-43E8-B1E1-D9C610E3F8C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C3EBF344-A51F-4914-9329-9920AB799E0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8A6E2F59-125A-4898-98C4-8685FA47063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F9D97F71-D35D-4E7F-977D-4A1A52DF6D3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7A86ABD0-C930-44F9-B30F-8BA21EBB9CF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5277F4CE-21DE-4944-B0EC-A4FD9622F7B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44118A47-9949-4AC7-85C2-70458D9605B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A284A802-4B01-4ECA-9B1C-BFB63EDA191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60C89BBD-9E10-4FB1-A5E4-429E78EB246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113822759"/>
      </p:ext>
    </p:extLst>
  </p:cSld>
  <p:clrMapOvr>
    <a:masterClrMapping/>
  </p:clrMapOvr>
  <p:extLst>
    <p:ext uri="{DCECCB84-F9BA-43D5-87BE-67443E8EF086}">
      <p15:sldGuideLst xmlns:p15="http://schemas.microsoft.com/office/powerpoint/2012/main">
        <p15:guide id="1" orient="horz" pos="3612" userDrawn="1">
          <p15:clr>
            <a:srgbClr val="FBAE40"/>
          </p15:clr>
        </p15:guide>
        <p15:guide id="2" orient="horz" pos="1003" userDrawn="1">
          <p15:clr>
            <a:srgbClr val="FBAE40"/>
          </p15:clr>
        </p15:guide>
        <p15:guide id="3" pos="6856" userDrawn="1">
          <p15:clr>
            <a:srgbClr val="FBAE40"/>
          </p15:clr>
        </p15:guide>
        <p15:guide id="4" pos="82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6">
    <p:bg>
      <p:bgPr>
        <a:solidFill>
          <a:schemeClr val="bg1">
            <a:lumMod val="95000"/>
          </a:schemeClr>
        </a:solidFill>
        <a:effectLst/>
      </p:bgPr>
    </p:bg>
    <p:spTree>
      <p:nvGrpSpPr>
        <p:cNvPr id="1" name=""/>
        <p:cNvGrpSpPr/>
        <p:nvPr/>
      </p:nvGrpSpPr>
      <p:grpSpPr>
        <a:xfrm>
          <a:off x="0" y="0"/>
          <a:ext cx="0" cy="0"/>
          <a:chOff x="0" y="0"/>
          <a:chExt cx="0" cy="0"/>
        </a:xfrm>
      </p:grpSpPr>
      <p:grpSp>
        <p:nvGrpSpPr>
          <p:cNvPr id="119" name="组合 118">
            <a:extLst>
              <a:ext uri="{FF2B5EF4-FFF2-40B4-BE49-F238E27FC236}">
                <a16:creationId xmlns:a16="http://schemas.microsoft.com/office/drawing/2014/main" id="{BD5C76CF-4CDC-4FD8-A406-830D350F437E}"/>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E3882706-BB29-4E07-A145-5DFCBFFC456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AD9AEBDF-50AA-4D63-A14E-DCA4735C40E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EC204F16-5232-4172-974D-62E6186D2E6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4" name="î$ḷíḋè">
              <a:extLst>
                <a:ext uri="{FF2B5EF4-FFF2-40B4-BE49-F238E27FC236}">
                  <a16:creationId xmlns:a16="http://schemas.microsoft.com/office/drawing/2014/main" id="{AC4E9B26-CB96-4BB8-A683-B753C07C119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4" name="i$ḷiḍe">
              <a:extLst>
                <a:ext uri="{FF2B5EF4-FFF2-40B4-BE49-F238E27FC236}">
                  <a16:creationId xmlns:a16="http://schemas.microsoft.com/office/drawing/2014/main" id="{62854164-A400-44D7-B761-D29DB4C51B46}"/>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5" name="ïṡļïdè">
              <a:extLst>
                <a:ext uri="{FF2B5EF4-FFF2-40B4-BE49-F238E27FC236}">
                  <a16:creationId xmlns:a16="http://schemas.microsoft.com/office/drawing/2014/main" id="{D71DCA37-E7DF-4535-990A-6F6DFE5BA396}"/>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36" name="íŝḻíḓê">
              <a:extLst>
                <a:ext uri="{FF2B5EF4-FFF2-40B4-BE49-F238E27FC236}">
                  <a16:creationId xmlns:a16="http://schemas.microsoft.com/office/drawing/2014/main" id="{5724839E-6F5D-48A1-8DF6-326528C7BBC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7" name="isľîḑê">
              <a:extLst>
                <a:ext uri="{FF2B5EF4-FFF2-40B4-BE49-F238E27FC236}">
                  <a16:creationId xmlns:a16="http://schemas.microsoft.com/office/drawing/2014/main" id="{B378591A-9AE4-4B26-BE7E-585CD910AB15}"/>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0" name="图片 9">
            <a:extLst>
              <a:ext uri="{FF2B5EF4-FFF2-40B4-BE49-F238E27FC236}">
                <a16:creationId xmlns:a16="http://schemas.microsoft.com/office/drawing/2014/main" id="{3AA34879-E01F-41E6-8063-BF8956F595A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3" name="图片占位符 122">
            <a:extLst>
              <a:ext uri="{FF2B5EF4-FFF2-40B4-BE49-F238E27FC236}">
                <a16:creationId xmlns:a16="http://schemas.microsoft.com/office/drawing/2014/main" id="{3260EEBE-2FE7-4DB6-A8B8-D2754C332572}"/>
              </a:ext>
            </a:extLst>
          </p:cNvPr>
          <p:cNvSpPr>
            <a:spLocks noGrp="1"/>
          </p:cNvSpPr>
          <p:nvPr>
            <p:ph type="pic" sz="quarter" idx="13"/>
          </p:nvPr>
        </p:nvSpPr>
        <p:spPr>
          <a:xfrm>
            <a:off x="4270744" y="1603744"/>
            <a:ext cx="3650512" cy="3650512"/>
          </a:xfrm>
          <a:custGeom>
            <a:avLst/>
            <a:gdLst>
              <a:gd name="connsiteX0" fmla="*/ 1825256 w 3650512"/>
              <a:gd name="connsiteY0" fmla="*/ 967751 h 3650512"/>
              <a:gd name="connsiteX1" fmla="*/ 967751 w 3650512"/>
              <a:gd name="connsiteY1" fmla="*/ 1825256 h 3650512"/>
              <a:gd name="connsiteX2" fmla="*/ 1825256 w 3650512"/>
              <a:gd name="connsiteY2" fmla="*/ 2682761 h 3650512"/>
              <a:gd name="connsiteX3" fmla="*/ 2682761 w 3650512"/>
              <a:gd name="connsiteY3" fmla="*/ 1825256 h 3650512"/>
              <a:gd name="connsiteX4" fmla="*/ 1825256 w 3650512"/>
              <a:gd name="connsiteY4" fmla="*/ 967751 h 3650512"/>
              <a:gd name="connsiteX5" fmla="*/ 1825256 w 3650512"/>
              <a:gd name="connsiteY5" fmla="*/ 0 h 3650512"/>
              <a:gd name="connsiteX6" fmla="*/ 3650512 w 3650512"/>
              <a:gd name="connsiteY6" fmla="*/ 1825256 h 3650512"/>
              <a:gd name="connsiteX7" fmla="*/ 1825256 w 3650512"/>
              <a:gd name="connsiteY7" fmla="*/ 3650512 h 3650512"/>
              <a:gd name="connsiteX8" fmla="*/ 0 w 3650512"/>
              <a:gd name="connsiteY8" fmla="*/ 1825256 h 3650512"/>
              <a:gd name="connsiteX9" fmla="*/ 1825256 w 3650512"/>
              <a:gd name="connsiteY9" fmla="*/ 0 h 365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0512" h="3650512">
                <a:moveTo>
                  <a:pt x="1825256" y="967751"/>
                </a:moveTo>
                <a:cubicBezTo>
                  <a:pt x="1351669" y="967751"/>
                  <a:pt x="967751" y="1351669"/>
                  <a:pt x="967751" y="1825256"/>
                </a:cubicBezTo>
                <a:cubicBezTo>
                  <a:pt x="967751" y="2298843"/>
                  <a:pt x="1351669" y="2682761"/>
                  <a:pt x="1825256" y="2682761"/>
                </a:cubicBezTo>
                <a:cubicBezTo>
                  <a:pt x="2298843" y="2682761"/>
                  <a:pt x="2682761" y="2298843"/>
                  <a:pt x="2682761" y="1825256"/>
                </a:cubicBezTo>
                <a:cubicBezTo>
                  <a:pt x="2682761" y="1351669"/>
                  <a:pt x="2298843" y="967751"/>
                  <a:pt x="1825256" y="967751"/>
                </a:cubicBezTo>
                <a:close/>
                <a:moveTo>
                  <a:pt x="1825256" y="0"/>
                </a:moveTo>
                <a:cubicBezTo>
                  <a:pt x="2833317" y="0"/>
                  <a:pt x="3650512" y="817195"/>
                  <a:pt x="3650512" y="1825256"/>
                </a:cubicBezTo>
                <a:cubicBezTo>
                  <a:pt x="3650512" y="2833317"/>
                  <a:pt x="2833317" y="3650512"/>
                  <a:pt x="1825256" y="3650512"/>
                </a:cubicBezTo>
                <a:cubicBezTo>
                  <a:pt x="817195" y="3650512"/>
                  <a:pt x="0" y="2833317"/>
                  <a:pt x="0" y="1825256"/>
                </a:cubicBezTo>
                <a:cubicBezTo>
                  <a:pt x="0" y="817195"/>
                  <a:pt x="817195" y="0"/>
                  <a:pt x="1825256" y="0"/>
                </a:cubicBezTo>
                <a:close/>
              </a:path>
            </a:pathLst>
          </a:custGeom>
        </p:spPr>
        <p:txBody>
          <a:bodyPr wrap="square">
            <a:noAutofit/>
          </a:bodyPr>
          <a:lstStyle/>
          <a:p>
            <a:endParaRPr lang="zh-CN" altLang="en-US"/>
          </a:p>
        </p:txBody>
      </p:sp>
      <p:sp>
        <p:nvSpPr>
          <p:cNvPr id="345" name="文本框 344">
            <a:extLst>
              <a:ext uri="{FF2B5EF4-FFF2-40B4-BE49-F238E27FC236}">
                <a16:creationId xmlns:a16="http://schemas.microsoft.com/office/drawing/2014/main" id="{1FFB2C88-BB5C-4847-85CC-F02F1B8BE46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9" name="直接连接符 348">
            <a:extLst>
              <a:ext uri="{FF2B5EF4-FFF2-40B4-BE49-F238E27FC236}">
                <a16:creationId xmlns:a16="http://schemas.microsoft.com/office/drawing/2014/main" id="{F8273BDA-C3B7-4CD5-B30F-84054671F1E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0" name="组合 349">
            <a:extLst>
              <a:ext uri="{FF2B5EF4-FFF2-40B4-BE49-F238E27FC236}">
                <a16:creationId xmlns:a16="http://schemas.microsoft.com/office/drawing/2014/main" id="{62DA841C-B0FC-441D-B6FA-3A76735A2352}"/>
              </a:ext>
            </a:extLst>
          </p:cNvPr>
          <p:cNvGrpSpPr/>
          <p:nvPr userDrawn="1"/>
        </p:nvGrpSpPr>
        <p:grpSpPr>
          <a:xfrm>
            <a:off x="10672870" y="250062"/>
            <a:ext cx="913766" cy="457978"/>
            <a:chOff x="1585727" y="453077"/>
            <a:chExt cx="374706" cy="187802"/>
          </a:xfrm>
          <a:solidFill>
            <a:schemeClr val="accent1"/>
          </a:solidFill>
        </p:grpSpPr>
        <p:sp>
          <p:nvSpPr>
            <p:cNvPr id="351" name="îśliďe">
              <a:extLst>
                <a:ext uri="{FF2B5EF4-FFF2-40B4-BE49-F238E27FC236}">
                  <a16:creationId xmlns:a16="http://schemas.microsoft.com/office/drawing/2014/main" id="{58321EF8-4CCC-4EE9-8F7E-019429227CA3}"/>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2" name="íšḻíḍé">
              <a:extLst>
                <a:ext uri="{FF2B5EF4-FFF2-40B4-BE49-F238E27FC236}">
                  <a16:creationId xmlns:a16="http://schemas.microsoft.com/office/drawing/2014/main" id="{36263F3B-D078-4D23-B157-E102609A9DD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3" name="ïṥḻïḓé">
              <a:extLst>
                <a:ext uri="{FF2B5EF4-FFF2-40B4-BE49-F238E27FC236}">
                  <a16:creationId xmlns:a16="http://schemas.microsoft.com/office/drawing/2014/main" id="{69F05112-281F-497F-AE2F-C0E02BC0D4D1}"/>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4" name="î$ḷíḋè">
              <a:extLst>
                <a:ext uri="{FF2B5EF4-FFF2-40B4-BE49-F238E27FC236}">
                  <a16:creationId xmlns:a16="http://schemas.microsoft.com/office/drawing/2014/main" id="{04E03DD5-9A0D-4AA0-A2F1-11042A9081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5" name="i$ḷiḍe">
              <a:extLst>
                <a:ext uri="{FF2B5EF4-FFF2-40B4-BE49-F238E27FC236}">
                  <a16:creationId xmlns:a16="http://schemas.microsoft.com/office/drawing/2014/main" id="{4B77F4C5-E3AE-4169-B878-DB12C4676DA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6" name="ïṡļïdè">
              <a:extLst>
                <a:ext uri="{FF2B5EF4-FFF2-40B4-BE49-F238E27FC236}">
                  <a16:creationId xmlns:a16="http://schemas.microsoft.com/office/drawing/2014/main" id="{D45A3C55-694A-4013-8AC2-95CC4607B7B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7" name="íŝḻíḓê">
              <a:extLst>
                <a:ext uri="{FF2B5EF4-FFF2-40B4-BE49-F238E27FC236}">
                  <a16:creationId xmlns:a16="http://schemas.microsoft.com/office/drawing/2014/main" id="{76DDA1F3-1FE3-4894-B220-B479D05C30B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8" name="isľîḑê">
              <a:extLst>
                <a:ext uri="{FF2B5EF4-FFF2-40B4-BE49-F238E27FC236}">
                  <a16:creationId xmlns:a16="http://schemas.microsoft.com/office/drawing/2014/main" id="{D6D22BCB-DDCB-4BB2-A677-40B58CFB03E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9" name="椭圆 358">
            <a:extLst>
              <a:ext uri="{FF2B5EF4-FFF2-40B4-BE49-F238E27FC236}">
                <a16:creationId xmlns:a16="http://schemas.microsoft.com/office/drawing/2014/main" id="{0DED06CF-8729-484D-A57D-ABDB2CE2B471}"/>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文本占位符 163">
            <a:extLst>
              <a:ext uri="{FF2B5EF4-FFF2-40B4-BE49-F238E27FC236}">
                <a16:creationId xmlns:a16="http://schemas.microsoft.com/office/drawing/2014/main" id="{1018FF4D-35C8-42BF-BBB9-05C28B08477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47186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页7">
    <p:bg>
      <p:bgPr>
        <a:solidFill>
          <a:schemeClr val="bg1">
            <a:lumMod val="95000"/>
          </a:schemeClr>
        </a:solidFill>
        <a:effectLst/>
      </p:bgPr>
    </p:bg>
    <p:spTree>
      <p:nvGrpSpPr>
        <p:cNvPr id="1" name=""/>
        <p:cNvGrpSpPr/>
        <p:nvPr/>
      </p:nvGrpSpPr>
      <p:grpSpPr>
        <a:xfrm>
          <a:off x="0" y="0"/>
          <a:ext cx="0" cy="0"/>
          <a:chOff x="0" y="0"/>
          <a:chExt cx="0" cy="0"/>
        </a:xfrm>
      </p:grpSpPr>
      <p:grpSp>
        <p:nvGrpSpPr>
          <p:cNvPr id="122" name="组合 121">
            <a:extLst>
              <a:ext uri="{FF2B5EF4-FFF2-40B4-BE49-F238E27FC236}">
                <a16:creationId xmlns:a16="http://schemas.microsoft.com/office/drawing/2014/main" id="{74D0CD4D-7CB3-4422-A61F-989D7C40ED76}"/>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3" name="îśliďe">
              <a:extLst>
                <a:ext uri="{FF2B5EF4-FFF2-40B4-BE49-F238E27FC236}">
                  <a16:creationId xmlns:a16="http://schemas.microsoft.com/office/drawing/2014/main" id="{B16A8DA4-F0AB-4CE1-B842-2A845ACE558F}"/>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4" name="íšḻíḍé">
              <a:extLst>
                <a:ext uri="{FF2B5EF4-FFF2-40B4-BE49-F238E27FC236}">
                  <a16:creationId xmlns:a16="http://schemas.microsoft.com/office/drawing/2014/main" id="{47557DD7-75AC-4164-AA80-13DD4BC67C3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5" name="ïṥḻïḓé">
              <a:extLst>
                <a:ext uri="{FF2B5EF4-FFF2-40B4-BE49-F238E27FC236}">
                  <a16:creationId xmlns:a16="http://schemas.microsoft.com/office/drawing/2014/main" id="{B92DE3AC-FC3B-4466-AE74-CE413292AD0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6" name="î$ḷíḋè">
              <a:extLst>
                <a:ext uri="{FF2B5EF4-FFF2-40B4-BE49-F238E27FC236}">
                  <a16:creationId xmlns:a16="http://schemas.microsoft.com/office/drawing/2014/main" id="{3CB510D1-98F3-45C4-B84A-6EE3B7E0363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7" name="i$ḷiḍe">
              <a:extLst>
                <a:ext uri="{FF2B5EF4-FFF2-40B4-BE49-F238E27FC236}">
                  <a16:creationId xmlns:a16="http://schemas.microsoft.com/office/drawing/2014/main" id="{5B994F86-3CBE-47A4-A838-7F739CB8258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8" name="ïṡļïdè">
              <a:extLst>
                <a:ext uri="{FF2B5EF4-FFF2-40B4-BE49-F238E27FC236}">
                  <a16:creationId xmlns:a16="http://schemas.microsoft.com/office/drawing/2014/main" id="{B754AC3A-C994-4AE4-BD3B-1EA10B8023A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00DF682D-4207-4BB5-99C5-00F91E3C37F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63856FA2-6AA1-4491-AA4B-C527877B325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7FE8FDFB-689F-45C3-AB73-230F8D7BB489}"/>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2" name="文本框 361">
            <a:extLst>
              <a:ext uri="{FF2B5EF4-FFF2-40B4-BE49-F238E27FC236}">
                <a16:creationId xmlns:a16="http://schemas.microsoft.com/office/drawing/2014/main" id="{94D3B23F-5A5E-4553-88B8-1DA9EE1E956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6" name="直接连接符 365">
            <a:extLst>
              <a:ext uri="{FF2B5EF4-FFF2-40B4-BE49-F238E27FC236}">
                <a16:creationId xmlns:a16="http://schemas.microsoft.com/office/drawing/2014/main" id="{9C6C8BDF-2D7C-473D-B458-53FCC2B52C1C}"/>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7" name="组合 366">
            <a:extLst>
              <a:ext uri="{FF2B5EF4-FFF2-40B4-BE49-F238E27FC236}">
                <a16:creationId xmlns:a16="http://schemas.microsoft.com/office/drawing/2014/main" id="{D5A00397-205D-4024-B3B1-D6D628207BA2}"/>
              </a:ext>
            </a:extLst>
          </p:cNvPr>
          <p:cNvGrpSpPr/>
          <p:nvPr userDrawn="1"/>
        </p:nvGrpSpPr>
        <p:grpSpPr>
          <a:xfrm>
            <a:off x="10672870" y="250062"/>
            <a:ext cx="913766" cy="457978"/>
            <a:chOff x="1585727" y="453077"/>
            <a:chExt cx="374706" cy="187802"/>
          </a:xfrm>
          <a:solidFill>
            <a:schemeClr val="accent1"/>
          </a:solidFill>
        </p:grpSpPr>
        <p:sp>
          <p:nvSpPr>
            <p:cNvPr id="368" name="îśliďe">
              <a:extLst>
                <a:ext uri="{FF2B5EF4-FFF2-40B4-BE49-F238E27FC236}">
                  <a16:creationId xmlns:a16="http://schemas.microsoft.com/office/drawing/2014/main" id="{C2AC93F6-7EF1-4C7C-90AF-A2B433CD135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9" name="íšḻíḍé">
              <a:extLst>
                <a:ext uri="{FF2B5EF4-FFF2-40B4-BE49-F238E27FC236}">
                  <a16:creationId xmlns:a16="http://schemas.microsoft.com/office/drawing/2014/main" id="{2FAD104F-A021-4581-B7EE-1376C48161F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0" name="ïṥḻïḓé">
              <a:extLst>
                <a:ext uri="{FF2B5EF4-FFF2-40B4-BE49-F238E27FC236}">
                  <a16:creationId xmlns:a16="http://schemas.microsoft.com/office/drawing/2014/main" id="{8EA3C0BA-83C9-406A-85C7-DF222813583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1" name="î$ḷíḋè">
              <a:extLst>
                <a:ext uri="{FF2B5EF4-FFF2-40B4-BE49-F238E27FC236}">
                  <a16:creationId xmlns:a16="http://schemas.microsoft.com/office/drawing/2014/main" id="{D6521A6E-C7B6-4BA5-B4FD-80E746A18AB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2" name="i$ḷiḍe">
              <a:extLst>
                <a:ext uri="{FF2B5EF4-FFF2-40B4-BE49-F238E27FC236}">
                  <a16:creationId xmlns:a16="http://schemas.microsoft.com/office/drawing/2014/main" id="{58D9E513-694A-47F8-B40E-C7926701D4E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3" name="ïṡļïdè">
              <a:extLst>
                <a:ext uri="{FF2B5EF4-FFF2-40B4-BE49-F238E27FC236}">
                  <a16:creationId xmlns:a16="http://schemas.microsoft.com/office/drawing/2014/main" id="{EBB8A3BD-80BF-46C5-B37E-DC2E53C6EFB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4" name="íŝḻíḓê">
              <a:extLst>
                <a:ext uri="{FF2B5EF4-FFF2-40B4-BE49-F238E27FC236}">
                  <a16:creationId xmlns:a16="http://schemas.microsoft.com/office/drawing/2014/main" id="{868C3F70-2BBF-4FF7-9671-551B3758BF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5" name="isľîḑê">
              <a:extLst>
                <a:ext uri="{FF2B5EF4-FFF2-40B4-BE49-F238E27FC236}">
                  <a16:creationId xmlns:a16="http://schemas.microsoft.com/office/drawing/2014/main" id="{0B754972-5CC0-4E71-87F6-0C1E0C7AB2F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6" name="椭圆 375">
            <a:extLst>
              <a:ext uri="{FF2B5EF4-FFF2-40B4-BE49-F238E27FC236}">
                <a16:creationId xmlns:a16="http://schemas.microsoft.com/office/drawing/2014/main" id="{2E18A2F9-FCAD-45DC-873C-B0712829CEED}"/>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文本占位符 163">
            <a:extLst>
              <a:ext uri="{FF2B5EF4-FFF2-40B4-BE49-F238E27FC236}">
                <a16:creationId xmlns:a16="http://schemas.microsoft.com/office/drawing/2014/main" id="{99939446-2CEA-4BC2-8FE1-8AAC53CF5818}"/>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9" name="图片占位符 124">
            <a:extLst>
              <a:ext uri="{FF2B5EF4-FFF2-40B4-BE49-F238E27FC236}">
                <a16:creationId xmlns:a16="http://schemas.microsoft.com/office/drawing/2014/main" id="{98574245-9811-426C-A0BB-6D92400A08CF}"/>
              </a:ext>
            </a:extLst>
          </p:cNvPr>
          <p:cNvSpPr>
            <a:spLocks noGrp="1"/>
          </p:cNvSpPr>
          <p:nvPr>
            <p:ph type="pic" sz="quarter" idx="13"/>
          </p:nvPr>
        </p:nvSpPr>
        <p:spPr>
          <a:xfrm>
            <a:off x="7111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2" name="图片占位符 124">
            <a:extLst>
              <a:ext uri="{FF2B5EF4-FFF2-40B4-BE49-F238E27FC236}">
                <a16:creationId xmlns:a16="http://schemas.microsoft.com/office/drawing/2014/main" id="{9FE45EFE-7522-4737-A791-DFFCFF7A0D03}"/>
              </a:ext>
            </a:extLst>
          </p:cNvPr>
          <p:cNvSpPr>
            <a:spLocks noGrp="1"/>
          </p:cNvSpPr>
          <p:nvPr>
            <p:ph type="pic" sz="quarter" idx="14"/>
          </p:nvPr>
        </p:nvSpPr>
        <p:spPr>
          <a:xfrm>
            <a:off x="4413249" y="9525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3" name="图片占位符 124">
            <a:extLst>
              <a:ext uri="{FF2B5EF4-FFF2-40B4-BE49-F238E27FC236}">
                <a16:creationId xmlns:a16="http://schemas.microsoft.com/office/drawing/2014/main" id="{88E73764-5B69-4384-9522-9E44A915050C}"/>
              </a:ext>
            </a:extLst>
          </p:cNvPr>
          <p:cNvSpPr>
            <a:spLocks noGrp="1"/>
          </p:cNvSpPr>
          <p:nvPr>
            <p:ph type="pic" sz="quarter" idx="15"/>
          </p:nvPr>
        </p:nvSpPr>
        <p:spPr>
          <a:xfrm>
            <a:off x="81152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0" name="文本框 29"/>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203478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8">
    <p:bg>
      <p:bgPr>
        <a:solidFill>
          <a:schemeClr val="bg1">
            <a:lumMod val="95000"/>
          </a:schemeClr>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040DF1C-DF51-4150-84E0-55C05E581F53}"/>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8" name="文本框 347">
            <a:extLst>
              <a:ext uri="{FF2B5EF4-FFF2-40B4-BE49-F238E27FC236}">
                <a16:creationId xmlns:a16="http://schemas.microsoft.com/office/drawing/2014/main" id="{DAD3451D-ECED-46FE-A1C6-35B04A31476C}"/>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52" name="直接连接符 351">
            <a:extLst>
              <a:ext uri="{FF2B5EF4-FFF2-40B4-BE49-F238E27FC236}">
                <a16:creationId xmlns:a16="http://schemas.microsoft.com/office/drawing/2014/main" id="{8F84D5F3-B086-4437-81F9-90622CE95DA5}"/>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3" name="组合 352">
            <a:extLst>
              <a:ext uri="{FF2B5EF4-FFF2-40B4-BE49-F238E27FC236}">
                <a16:creationId xmlns:a16="http://schemas.microsoft.com/office/drawing/2014/main" id="{4521C380-E6ED-4446-84F6-129782DD186B}"/>
              </a:ext>
            </a:extLst>
          </p:cNvPr>
          <p:cNvGrpSpPr/>
          <p:nvPr userDrawn="1"/>
        </p:nvGrpSpPr>
        <p:grpSpPr>
          <a:xfrm>
            <a:off x="10672870" y="250062"/>
            <a:ext cx="913766" cy="457978"/>
            <a:chOff x="1585727" y="453077"/>
            <a:chExt cx="374706" cy="187802"/>
          </a:xfrm>
          <a:solidFill>
            <a:schemeClr val="accent1"/>
          </a:solidFill>
        </p:grpSpPr>
        <p:sp>
          <p:nvSpPr>
            <p:cNvPr id="354" name="îśliďe">
              <a:extLst>
                <a:ext uri="{FF2B5EF4-FFF2-40B4-BE49-F238E27FC236}">
                  <a16:creationId xmlns:a16="http://schemas.microsoft.com/office/drawing/2014/main" id="{D45A5843-2D74-4E88-9FEB-0517F2C9033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5" name="íšḻíḍé">
              <a:extLst>
                <a:ext uri="{FF2B5EF4-FFF2-40B4-BE49-F238E27FC236}">
                  <a16:creationId xmlns:a16="http://schemas.microsoft.com/office/drawing/2014/main" id="{6EF99092-5361-471B-BAF9-4A6A55E3EC8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6" name="ïṥḻïḓé">
              <a:extLst>
                <a:ext uri="{FF2B5EF4-FFF2-40B4-BE49-F238E27FC236}">
                  <a16:creationId xmlns:a16="http://schemas.microsoft.com/office/drawing/2014/main" id="{D6585258-1246-4CB5-951B-258D663DB71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7" name="î$ḷíḋè">
              <a:extLst>
                <a:ext uri="{FF2B5EF4-FFF2-40B4-BE49-F238E27FC236}">
                  <a16:creationId xmlns:a16="http://schemas.microsoft.com/office/drawing/2014/main" id="{72B3D43F-AC29-449F-B262-39D44FDFE44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8" name="i$ḷiḍe">
              <a:extLst>
                <a:ext uri="{FF2B5EF4-FFF2-40B4-BE49-F238E27FC236}">
                  <a16:creationId xmlns:a16="http://schemas.microsoft.com/office/drawing/2014/main" id="{5E265AE9-D369-403E-BDDA-1CE4382ACE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9" name="ïṡļïdè">
              <a:extLst>
                <a:ext uri="{FF2B5EF4-FFF2-40B4-BE49-F238E27FC236}">
                  <a16:creationId xmlns:a16="http://schemas.microsoft.com/office/drawing/2014/main" id="{C596E6BD-7183-4BD0-9B22-07CF422B1D9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60" name="íŝḻíḓê">
              <a:extLst>
                <a:ext uri="{FF2B5EF4-FFF2-40B4-BE49-F238E27FC236}">
                  <a16:creationId xmlns:a16="http://schemas.microsoft.com/office/drawing/2014/main" id="{DF682DA0-E333-4797-8930-E5DA6B9E388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1" name="isľîḑê">
              <a:extLst>
                <a:ext uri="{FF2B5EF4-FFF2-40B4-BE49-F238E27FC236}">
                  <a16:creationId xmlns:a16="http://schemas.microsoft.com/office/drawing/2014/main" id="{08AE166C-BDFC-42E2-8A96-0E1876079721}"/>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2" name="椭圆 361">
            <a:extLst>
              <a:ext uri="{FF2B5EF4-FFF2-40B4-BE49-F238E27FC236}">
                <a16:creationId xmlns:a16="http://schemas.microsoft.com/office/drawing/2014/main" id="{A5984959-EE82-4C96-B37D-D0FA2BFBA7EA}"/>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文本占位符 163">
            <a:extLst>
              <a:ext uri="{FF2B5EF4-FFF2-40B4-BE49-F238E27FC236}">
                <a16:creationId xmlns:a16="http://schemas.microsoft.com/office/drawing/2014/main" id="{C9929440-E775-4F96-B674-E574CA43CCB6}"/>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1" name="图片占位符 10">
            <a:extLst>
              <a:ext uri="{FF2B5EF4-FFF2-40B4-BE49-F238E27FC236}">
                <a16:creationId xmlns:a16="http://schemas.microsoft.com/office/drawing/2014/main" id="{1291BC66-BF0B-4511-AA5A-69AD0B0D0EB0}"/>
              </a:ext>
            </a:extLst>
          </p:cNvPr>
          <p:cNvSpPr>
            <a:spLocks noGrp="1"/>
          </p:cNvSpPr>
          <p:nvPr>
            <p:ph type="pic" sz="quarter" idx="17"/>
          </p:nvPr>
        </p:nvSpPr>
        <p:spPr>
          <a:xfrm>
            <a:off x="666677" y="1174731"/>
            <a:ext cx="2713111" cy="2244968"/>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2" name="图片占位符 14">
            <a:extLst>
              <a:ext uri="{FF2B5EF4-FFF2-40B4-BE49-F238E27FC236}">
                <a16:creationId xmlns:a16="http://schemas.microsoft.com/office/drawing/2014/main" id="{2BDF8F97-240C-478A-A6F3-C3D6278C0B62}"/>
              </a:ext>
            </a:extLst>
          </p:cNvPr>
          <p:cNvSpPr>
            <a:spLocks noGrp="1"/>
          </p:cNvSpPr>
          <p:nvPr>
            <p:ph type="pic" sz="quarter" idx="18"/>
          </p:nvPr>
        </p:nvSpPr>
        <p:spPr>
          <a:xfrm>
            <a:off x="6095999" y="1181081"/>
            <a:ext cx="2713111" cy="223861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3" name="图片占位符 12">
            <a:extLst>
              <a:ext uri="{FF2B5EF4-FFF2-40B4-BE49-F238E27FC236}">
                <a16:creationId xmlns:a16="http://schemas.microsoft.com/office/drawing/2014/main" id="{E047C537-F709-4925-9822-92EA283D8576}"/>
              </a:ext>
            </a:extLst>
          </p:cNvPr>
          <p:cNvSpPr>
            <a:spLocks noGrp="1"/>
          </p:cNvSpPr>
          <p:nvPr>
            <p:ph type="pic" sz="quarter" idx="19"/>
          </p:nvPr>
        </p:nvSpPr>
        <p:spPr>
          <a:xfrm>
            <a:off x="3379788" y="3431951"/>
            <a:ext cx="2716212" cy="224496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4" name="图片占位符 8">
            <a:extLst>
              <a:ext uri="{FF2B5EF4-FFF2-40B4-BE49-F238E27FC236}">
                <a16:creationId xmlns:a16="http://schemas.microsoft.com/office/drawing/2014/main" id="{4993AA73-D4AE-499B-BDAF-4616729ECEA6}"/>
              </a:ext>
            </a:extLst>
          </p:cNvPr>
          <p:cNvSpPr>
            <a:spLocks noGrp="1"/>
          </p:cNvSpPr>
          <p:nvPr>
            <p:ph type="pic" sz="quarter" idx="16"/>
          </p:nvPr>
        </p:nvSpPr>
        <p:spPr>
          <a:xfrm>
            <a:off x="8810624" y="3426048"/>
            <a:ext cx="2708276" cy="2250869"/>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5" name="文本框 24"/>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20"/>
          </p:nvPr>
        </p:nvSpPr>
        <p:spPr/>
        <p:txBody>
          <a:bodyPr/>
          <a:lstStyle/>
          <a:p>
            <a:endParaRPr lang="zh-CN" altLang="en-US"/>
          </a:p>
        </p:txBody>
      </p:sp>
      <p:sp>
        <p:nvSpPr>
          <p:cNvPr id="3" name="灯片编号占位符 2"/>
          <p:cNvSpPr>
            <a:spLocks noGrp="1"/>
          </p:cNvSpPr>
          <p:nvPr>
            <p:ph type="sldNum" sz="quarter" idx="2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7323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9">
    <p:bg>
      <p:bgPr>
        <a:solidFill>
          <a:schemeClr val="bg1">
            <a:lumMod val="95000"/>
          </a:schemeClr>
        </a:solidFill>
        <a:effectLst/>
      </p:bgPr>
    </p:bg>
    <p:spTree>
      <p:nvGrpSpPr>
        <p:cNvPr id="1" name=""/>
        <p:cNvGrpSpPr/>
        <p:nvPr/>
      </p:nvGrpSpPr>
      <p:grpSpPr>
        <a:xfrm>
          <a:off x="0" y="0"/>
          <a:ext cx="0" cy="0"/>
          <a:chOff x="0" y="0"/>
          <a:chExt cx="0" cy="0"/>
        </a:xfrm>
      </p:grpSpPr>
      <p:grpSp>
        <p:nvGrpSpPr>
          <p:cNvPr id="146" name="组合 145">
            <a:extLst>
              <a:ext uri="{FF2B5EF4-FFF2-40B4-BE49-F238E27FC236}">
                <a16:creationId xmlns:a16="http://schemas.microsoft.com/office/drawing/2014/main" id="{397BC86B-A684-4F9A-B2F5-A3FF539B58D0}"/>
              </a:ext>
            </a:extLst>
          </p:cNvPr>
          <p:cNvGrpSpPr/>
          <p:nvPr userDrawn="1"/>
        </p:nvGrpSpPr>
        <p:grpSpPr>
          <a:xfrm>
            <a:off x="2539883" y="1618683"/>
            <a:ext cx="7112234" cy="3564639"/>
            <a:chOff x="1585727" y="453077"/>
            <a:chExt cx="374706" cy="187802"/>
          </a:xfrm>
          <a:solidFill>
            <a:schemeClr val="bg1">
              <a:lumMod val="65000"/>
              <a:alpha val="4000"/>
            </a:schemeClr>
          </a:solidFill>
        </p:grpSpPr>
        <p:sp>
          <p:nvSpPr>
            <p:cNvPr id="147" name="îśliďe">
              <a:extLst>
                <a:ext uri="{FF2B5EF4-FFF2-40B4-BE49-F238E27FC236}">
                  <a16:creationId xmlns:a16="http://schemas.microsoft.com/office/drawing/2014/main" id="{A8DC4B7E-B4D2-41E9-B335-2338FD12684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48" name="íšḻíḍé">
              <a:extLst>
                <a:ext uri="{FF2B5EF4-FFF2-40B4-BE49-F238E27FC236}">
                  <a16:creationId xmlns:a16="http://schemas.microsoft.com/office/drawing/2014/main" id="{57123E31-A5F6-47F0-95DC-FBA6DBE8189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9" name="ïṥḻïḓé">
              <a:extLst>
                <a:ext uri="{FF2B5EF4-FFF2-40B4-BE49-F238E27FC236}">
                  <a16:creationId xmlns:a16="http://schemas.microsoft.com/office/drawing/2014/main" id="{508E5430-7DAF-4834-9286-F717641FEEE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50" name="î$ḷíḋè">
              <a:extLst>
                <a:ext uri="{FF2B5EF4-FFF2-40B4-BE49-F238E27FC236}">
                  <a16:creationId xmlns:a16="http://schemas.microsoft.com/office/drawing/2014/main" id="{FCADF8A6-F4EF-449C-BA9E-5CDC2D1196F9}"/>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51" name="i$ḷiḍe">
              <a:extLst>
                <a:ext uri="{FF2B5EF4-FFF2-40B4-BE49-F238E27FC236}">
                  <a16:creationId xmlns:a16="http://schemas.microsoft.com/office/drawing/2014/main" id="{1EDDEB15-BE80-481C-96D1-C468C976F79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2" name="ïṡļïdè">
              <a:extLst>
                <a:ext uri="{FF2B5EF4-FFF2-40B4-BE49-F238E27FC236}">
                  <a16:creationId xmlns:a16="http://schemas.microsoft.com/office/drawing/2014/main" id="{AC92A967-4AB4-4909-9050-9CD7B011D40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53" name="íŝḻíḓê">
              <a:extLst>
                <a:ext uri="{FF2B5EF4-FFF2-40B4-BE49-F238E27FC236}">
                  <a16:creationId xmlns:a16="http://schemas.microsoft.com/office/drawing/2014/main" id="{96448CF7-B9B3-4B6F-9873-86B2DD2B2F0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54" name="isľîḑê">
              <a:extLst>
                <a:ext uri="{FF2B5EF4-FFF2-40B4-BE49-F238E27FC236}">
                  <a16:creationId xmlns:a16="http://schemas.microsoft.com/office/drawing/2014/main" id="{665C7F83-6F0E-42AA-A987-BED067545D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1" name="图片占位符 30">
            <a:extLst>
              <a:ext uri="{FF2B5EF4-FFF2-40B4-BE49-F238E27FC236}">
                <a16:creationId xmlns:a16="http://schemas.microsoft.com/office/drawing/2014/main" id="{B34F16DE-DCD9-4DF3-B8C7-49E64C517673}"/>
              </a:ext>
            </a:extLst>
          </p:cNvPr>
          <p:cNvSpPr>
            <a:spLocks noGrp="1"/>
          </p:cNvSpPr>
          <p:nvPr>
            <p:ph type="pic" sz="quarter" idx="15"/>
          </p:nvPr>
        </p:nvSpPr>
        <p:spPr>
          <a:xfrm>
            <a:off x="6167438" y="3644900"/>
            <a:ext cx="2628900" cy="1930722"/>
          </a:xfrm>
          <a:custGeom>
            <a:avLst/>
            <a:gdLst>
              <a:gd name="connsiteX0" fmla="*/ 0 w 2582898"/>
              <a:gd name="connsiteY0" fmla="*/ 0 h 1974986"/>
              <a:gd name="connsiteX1" fmla="*/ 2582898 w 2582898"/>
              <a:gd name="connsiteY1" fmla="*/ 0 h 1974986"/>
              <a:gd name="connsiteX2" fmla="*/ 2582898 w 2582898"/>
              <a:gd name="connsiteY2" fmla="*/ 1974986 h 1974986"/>
              <a:gd name="connsiteX3" fmla="*/ 0 w 2582898"/>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2582898" h="1974986">
                <a:moveTo>
                  <a:pt x="0" y="0"/>
                </a:moveTo>
                <a:lnTo>
                  <a:pt x="2582898" y="0"/>
                </a:lnTo>
                <a:lnTo>
                  <a:pt x="2582898" y="1974986"/>
                </a:lnTo>
                <a:lnTo>
                  <a:pt x="0" y="1974986"/>
                </a:lnTo>
                <a:close/>
              </a:path>
            </a:pathLst>
          </a:custGeom>
        </p:spPr>
        <p:txBody>
          <a:bodyPr wrap="square">
            <a:noAutofit/>
          </a:bodyPr>
          <a:lstStyle/>
          <a:p>
            <a:endParaRPr lang="zh-CN" altLang="en-US"/>
          </a:p>
        </p:txBody>
      </p:sp>
      <p:sp>
        <p:nvSpPr>
          <p:cNvPr id="28" name="图片占位符 27">
            <a:extLst>
              <a:ext uri="{FF2B5EF4-FFF2-40B4-BE49-F238E27FC236}">
                <a16:creationId xmlns:a16="http://schemas.microsoft.com/office/drawing/2014/main" id="{6219BBB5-45FC-4F13-A3C8-06948ADAE3E3}"/>
              </a:ext>
            </a:extLst>
          </p:cNvPr>
          <p:cNvSpPr>
            <a:spLocks noGrp="1"/>
          </p:cNvSpPr>
          <p:nvPr>
            <p:ph type="pic" sz="quarter" idx="14"/>
          </p:nvPr>
        </p:nvSpPr>
        <p:spPr>
          <a:xfrm>
            <a:off x="660400" y="3644900"/>
            <a:ext cx="5364163" cy="1930721"/>
          </a:xfrm>
          <a:custGeom>
            <a:avLst/>
            <a:gdLst>
              <a:gd name="connsiteX0" fmla="*/ 0 w 5341432"/>
              <a:gd name="connsiteY0" fmla="*/ 0 h 1974986"/>
              <a:gd name="connsiteX1" fmla="*/ 5341432 w 5341432"/>
              <a:gd name="connsiteY1" fmla="*/ 0 h 1974986"/>
              <a:gd name="connsiteX2" fmla="*/ 5341432 w 5341432"/>
              <a:gd name="connsiteY2" fmla="*/ 1974986 h 1974986"/>
              <a:gd name="connsiteX3" fmla="*/ 0 w 5341432"/>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5341432" h="1974986">
                <a:moveTo>
                  <a:pt x="0" y="0"/>
                </a:moveTo>
                <a:lnTo>
                  <a:pt x="5341432" y="0"/>
                </a:lnTo>
                <a:lnTo>
                  <a:pt x="5341432" y="1974986"/>
                </a:lnTo>
                <a:lnTo>
                  <a:pt x="0" y="1974986"/>
                </a:lnTo>
                <a:close/>
              </a:path>
            </a:pathLst>
          </a:custGeom>
        </p:spPr>
        <p:txBody>
          <a:bodyPr wrap="square">
            <a:noAutofit/>
          </a:bodyPr>
          <a:lstStyle/>
          <a:p>
            <a:endParaRPr lang="zh-CN" altLang="en-US"/>
          </a:p>
        </p:txBody>
      </p:sp>
      <p:sp>
        <p:nvSpPr>
          <p:cNvPr id="25" name="图片占位符 24">
            <a:extLst>
              <a:ext uri="{FF2B5EF4-FFF2-40B4-BE49-F238E27FC236}">
                <a16:creationId xmlns:a16="http://schemas.microsoft.com/office/drawing/2014/main" id="{A949EAA1-0264-4CFF-AAC6-D013F17BAA30}"/>
              </a:ext>
            </a:extLst>
          </p:cNvPr>
          <p:cNvSpPr>
            <a:spLocks noGrp="1"/>
          </p:cNvSpPr>
          <p:nvPr>
            <p:ph type="pic" sz="quarter" idx="13"/>
          </p:nvPr>
        </p:nvSpPr>
        <p:spPr>
          <a:xfrm>
            <a:off x="8954694" y="1282379"/>
            <a:ext cx="2564206" cy="4293242"/>
          </a:xfrm>
          <a:custGeom>
            <a:avLst/>
            <a:gdLst>
              <a:gd name="connsiteX0" fmla="*/ 0 w 2582898"/>
              <a:gd name="connsiteY0" fmla="*/ 0 h 4293242"/>
              <a:gd name="connsiteX1" fmla="*/ 2582898 w 2582898"/>
              <a:gd name="connsiteY1" fmla="*/ 0 h 4293242"/>
              <a:gd name="connsiteX2" fmla="*/ 2582898 w 2582898"/>
              <a:gd name="connsiteY2" fmla="*/ 4293242 h 4293242"/>
              <a:gd name="connsiteX3" fmla="*/ 0 w 2582898"/>
              <a:gd name="connsiteY3" fmla="*/ 4293242 h 4293242"/>
            </a:gdLst>
            <a:ahLst/>
            <a:cxnLst>
              <a:cxn ang="0">
                <a:pos x="connsiteX0" y="connsiteY0"/>
              </a:cxn>
              <a:cxn ang="0">
                <a:pos x="connsiteX1" y="connsiteY1"/>
              </a:cxn>
              <a:cxn ang="0">
                <a:pos x="connsiteX2" y="connsiteY2"/>
              </a:cxn>
              <a:cxn ang="0">
                <a:pos x="connsiteX3" y="connsiteY3"/>
              </a:cxn>
            </a:cxnLst>
            <a:rect l="l" t="t" r="r" b="b"/>
            <a:pathLst>
              <a:path w="2582898" h="4293242">
                <a:moveTo>
                  <a:pt x="0" y="0"/>
                </a:moveTo>
                <a:lnTo>
                  <a:pt x="2582898" y="0"/>
                </a:lnTo>
                <a:lnTo>
                  <a:pt x="2582898" y="4293242"/>
                </a:lnTo>
                <a:lnTo>
                  <a:pt x="0" y="4293242"/>
                </a:lnTo>
                <a:close/>
              </a:path>
            </a:pathLst>
          </a:custGeom>
        </p:spPr>
        <p:txBody>
          <a:bodyPr wrap="square">
            <a:noAutofit/>
          </a:bodyPr>
          <a:lstStyle/>
          <a:p>
            <a:endParaRPr lang="zh-CN" altLang="en-US"/>
          </a:p>
        </p:txBody>
      </p:sp>
      <p:sp>
        <p:nvSpPr>
          <p:cNvPr id="22" name="图片占位符 21">
            <a:extLst>
              <a:ext uri="{FF2B5EF4-FFF2-40B4-BE49-F238E27FC236}">
                <a16:creationId xmlns:a16="http://schemas.microsoft.com/office/drawing/2014/main" id="{33A8847C-E96C-44F3-82CA-94FACBE5BBA3}"/>
              </a:ext>
            </a:extLst>
          </p:cNvPr>
          <p:cNvSpPr>
            <a:spLocks noGrp="1"/>
          </p:cNvSpPr>
          <p:nvPr>
            <p:ph type="pic" sz="quarter" idx="12"/>
          </p:nvPr>
        </p:nvSpPr>
        <p:spPr>
          <a:xfrm>
            <a:off x="6167438" y="1282380"/>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9" name="图片占位符 18">
            <a:extLst>
              <a:ext uri="{FF2B5EF4-FFF2-40B4-BE49-F238E27FC236}">
                <a16:creationId xmlns:a16="http://schemas.microsoft.com/office/drawing/2014/main" id="{636888ED-2BCA-43B2-9E2F-8D2C475D7D13}"/>
              </a:ext>
            </a:extLst>
          </p:cNvPr>
          <p:cNvSpPr>
            <a:spLocks noGrp="1"/>
          </p:cNvSpPr>
          <p:nvPr>
            <p:ph type="pic" sz="quarter" idx="11"/>
          </p:nvPr>
        </p:nvSpPr>
        <p:spPr>
          <a:xfrm>
            <a:off x="3395663" y="1282379"/>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6" name="图片占位符 15">
            <a:extLst>
              <a:ext uri="{FF2B5EF4-FFF2-40B4-BE49-F238E27FC236}">
                <a16:creationId xmlns:a16="http://schemas.microsoft.com/office/drawing/2014/main" id="{A3FA48BC-C53E-4FBD-AD47-B0A1EFC7ABC2}"/>
              </a:ext>
            </a:extLst>
          </p:cNvPr>
          <p:cNvSpPr>
            <a:spLocks noGrp="1"/>
          </p:cNvSpPr>
          <p:nvPr>
            <p:ph type="pic" sz="quarter" idx="10"/>
          </p:nvPr>
        </p:nvSpPr>
        <p:spPr>
          <a:xfrm>
            <a:off x="660400" y="1282380"/>
            <a:ext cx="2582898"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pic>
        <p:nvPicPr>
          <p:cNvPr id="32" name="图片 31">
            <a:extLst>
              <a:ext uri="{FF2B5EF4-FFF2-40B4-BE49-F238E27FC236}">
                <a16:creationId xmlns:a16="http://schemas.microsoft.com/office/drawing/2014/main" id="{ABC1F8DD-05F5-42C2-9A80-9C8DC0307B9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1" name="文本框 370">
            <a:extLst>
              <a:ext uri="{FF2B5EF4-FFF2-40B4-BE49-F238E27FC236}">
                <a16:creationId xmlns:a16="http://schemas.microsoft.com/office/drawing/2014/main" id="{1143EF50-B6CF-415B-A429-40881D8C6430}"/>
              </a:ext>
            </a:extLst>
          </p:cNvPr>
          <p:cNvSpPr txBox="1"/>
          <p:nvPr userDrawn="1"/>
        </p:nvSpPr>
        <p:spPr>
          <a:xfrm>
            <a:off x="573312" y="6385246"/>
            <a:ext cx="2372716"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5" name="直接连接符 374">
            <a:extLst>
              <a:ext uri="{FF2B5EF4-FFF2-40B4-BE49-F238E27FC236}">
                <a16:creationId xmlns:a16="http://schemas.microsoft.com/office/drawing/2014/main" id="{98963CB2-3E14-4776-9A4A-24EDC0A298ED}"/>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6" name="组合 375">
            <a:extLst>
              <a:ext uri="{FF2B5EF4-FFF2-40B4-BE49-F238E27FC236}">
                <a16:creationId xmlns:a16="http://schemas.microsoft.com/office/drawing/2014/main" id="{BBE63463-A150-4A68-AD35-BE411C24B6D0}"/>
              </a:ext>
            </a:extLst>
          </p:cNvPr>
          <p:cNvGrpSpPr/>
          <p:nvPr userDrawn="1"/>
        </p:nvGrpSpPr>
        <p:grpSpPr>
          <a:xfrm>
            <a:off x="10672870" y="250062"/>
            <a:ext cx="913766" cy="457978"/>
            <a:chOff x="1585727" y="453077"/>
            <a:chExt cx="374706" cy="187802"/>
          </a:xfrm>
          <a:solidFill>
            <a:schemeClr val="accent1"/>
          </a:solidFill>
        </p:grpSpPr>
        <p:sp>
          <p:nvSpPr>
            <p:cNvPr id="377" name="îśliďe">
              <a:extLst>
                <a:ext uri="{FF2B5EF4-FFF2-40B4-BE49-F238E27FC236}">
                  <a16:creationId xmlns:a16="http://schemas.microsoft.com/office/drawing/2014/main" id="{46EB27E0-C414-4759-8DFC-9EF4C90CCF8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8" name="íšḻíḍé">
              <a:extLst>
                <a:ext uri="{FF2B5EF4-FFF2-40B4-BE49-F238E27FC236}">
                  <a16:creationId xmlns:a16="http://schemas.microsoft.com/office/drawing/2014/main" id="{3DAB8143-6E1A-4E7C-A844-A52E494F08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9" name="ïṥḻïḓé">
              <a:extLst>
                <a:ext uri="{FF2B5EF4-FFF2-40B4-BE49-F238E27FC236}">
                  <a16:creationId xmlns:a16="http://schemas.microsoft.com/office/drawing/2014/main" id="{9F696DBA-B219-4438-AA53-C7962153DE2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80" name="î$ḷíḋè">
              <a:extLst>
                <a:ext uri="{FF2B5EF4-FFF2-40B4-BE49-F238E27FC236}">
                  <a16:creationId xmlns:a16="http://schemas.microsoft.com/office/drawing/2014/main" id="{E1DD7FDB-A2C0-4919-96B4-B09405AD75C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81" name="i$ḷiḍe">
              <a:extLst>
                <a:ext uri="{FF2B5EF4-FFF2-40B4-BE49-F238E27FC236}">
                  <a16:creationId xmlns:a16="http://schemas.microsoft.com/office/drawing/2014/main" id="{75DBB4D1-7080-4665-B642-F09D199A5D2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82" name="ïṡļïdè">
              <a:extLst>
                <a:ext uri="{FF2B5EF4-FFF2-40B4-BE49-F238E27FC236}">
                  <a16:creationId xmlns:a16="http://schemas.microsoft.com/office/drawing/2014/main" id="{9988A9C2-7E16-48CC-9FA4-2C3E077566B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3" name="íŝḻíḓê">
              <a:extLst>
                <a:ext uri="{FF2B5EF4-FFF2-40B4-BE49-F238E27FC236}">
                  <a16:creationId xmlns:a16="http://schemas.microsoft.com/office/drawing/2014/main" id="{175CDE8C-447E-4E2F-9EF3-626230245B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4" name="isľîḑê">
              <a:extLst>
                <a:ext uri="{FF2B5EF4-FFF2-40B4-BE49-F238E27FC236}">
                  <a16:creationId xmlns:a16="http://schemas.microsoft.com/office/drawing/2014/main" id="{EEEF3937-9CE3-4F98-8A3D-5BAE2BA22674}"/>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5" name="椭圆 384">
            <a:extLst>
              <a:ext uri="{FF2B5EF4-FFF2-40B4-BE49-F238E27FC236}">
                <a16:creationId xmlns:a16="http://schemas.microsoft.com/office/drawing/2014/main" id="{C5D7DB56-D2EB-45A3-9D0E-70EFD4C3D820}"/>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文本占位符 163">
            <a:extLst>
              <a:ext uri="{FF2B5EF4-FFF2-40B4-BE49-F238E27FC236}">
                <a16:creationId xmlns:a16="http://schemas.microsoft.com/office/drawing/2014/main" id="{9B581E40-FEB3-4230-A9DA-56265E8F3583}"/>
              </a:ext>
            </a:extLst>
          </p:cNvPr>
          <p:cNvSpPr>
            <a:spLocks noGrp="1"/>
          </p:cNvSpPr>
          <p:nvPr>
            <p:ph type="body" sz="quarter" idx="16"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33" name="文本框 32"/>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17"/>
          </p:nvPr>
        </p:nvSpPr>
        <p:spPr/>
        <p:txBody>
          <a:bodyPr/>
          <a:lstStyle/>
          <a:p>
            <a:endParaRPr lang="zh-CN" altLang="en-US"/>
          </a:p>
        </p:txBody>
      </p:sp>
      <p:sp>
        <p:nvSpPr>
          <p:cNvPr id="3" name="灯片编号占位符 2"/>
          <p:cNvSpPr>
            <a:spLocks noGrp="1"/>
          </p:cNvSpPr>
          <p:nvPr>
            <p:ph type="sldNum" sz="quarter" idx="18"/>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98931496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10">
    <p:bg>
      <p:bgPr>
        <a:solidFill>
          <a:schemeClr val="bg1">
            <a:lumMod val="95000"/>
          </a:schemeClr>
        </a:solidFill>
        <a:effectLst/>
      </p:bgPr>
    </p:bg>
    <p:spTree>
      <p:nvGrpSpPr>
        <p:cNvPr id="1" name=""/>
        <p:cNvGrpSpPr/>
        <p:nvPr/>
      </p:nvGrpSpPr>
      <p:grpSpPr>
        <a:xfrm>
          <a:off x="0" y="0"/>
          <a:ext cx="0" cy="0"/>
          <a:chOff x="0" y="0"/>
          <a:chExt cx="0" cy="0"/>
        </a:xfrm>
      </p:grpSpPr>
      <p:grpSp>
        <p:nvGrpSpPr>
          <p:cNvPr id="233" name="组合 232">
            <a:extLst>
              <a:ext uri="{FF2B5EF4-FFF2-40B4-BE49-F238E27FC236}">
                <a16:creationId xmlns:a16="http://schemas.microsoft.com/office/drawing/2014/main" id="{BDA579A8-F4BC-4F12-9B10-E03102B2F10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34" name="îśliďe">
              <a:extLst>
                <a:ext uri="{FF2B5EF4-FFF2-40B4-BE49-F238E27FC236}">
                  <a16:creationId xmlns:a16="http://schemas.microsoft.com/office/drawing/2014/main" id="{DDBF7E08-6C56-4DE6-9961-D2D9B242522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35" name="íšḻíḍé">
              <a:extLst>
                <a:ext uri="{FF2B5EF4-FFF2-40B4-BE49-F238E27FC236}">
                  <a16:creationId xmlns:a16="http://schemas.microsoft.com/office/drawing/2014/main" id="{EFF6BF7E-7B3B-44CE-84BF-1D8D3D4EB04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36" name="ïṥḻïḓé">
              <a:extLst>
                <a:ext uri="{FF2B5EF4-FFF2-40B4-BE49-F238E27FC236}">
                  <a16:creationId xmlns:a16="http://schemas.microsoft.com/office/drawing/2014/main" id="{38BDDA66-1D59-47E5-92FD-BDED457F03D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37" name="î$ḷíḋè">
              <a:extLst>
                <a:ext uri="{FF2B5EF4-FFF2-40B4-BE49-F238E27FC236}">
                  <a16:creationId xmlns:a16="http://schemas.microsoft.com/office/drawing/2014/main" id="{D2D719C5-E409-4CA4-90A6-D66E2F6D3E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8" name="i$ḷiḍe">
              <a:extLst>
                <a:ext uri="{FF2B5EF4-FFF2-40B4-BE49-F238E27FC236}">
                  <a16:creationId xmlns:a16="http://schemas.microsoft.com/office/drawing/2014/main" id="{3E2FF3B1-C707-409B-B6CE-CE026904AE4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9" name="ïṡļïdè">
              <a:extLst>
                <a:ext uri="{FF2B5EF4-FFF2-40B4-BE49-F238E27FC236}">
                  <a16:creationId xmlns:a16="http://schemas.microsoft.com/office/drawing/2014/main" id="{B22B22B4-D76A-47E8-98CA-1D9964A480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0" name="íŝḻíḓê">
              <a:extLst>
                <a:ext uri="{FF2B5EF4-FFF2-40B4-BE49-F238E27FC236}">
                  <a16:creationId xmlns:a16="http://schemas.microsoft.com/office/drawing/2014/main" id="{52B78DFC-771B-4ED6-9152-C6CAB50A7C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41" name="isľîḑê">
              <a:extLst>
                <a:ext uri="{FF2B5EF4-FFF2-40B4-BE49-F238E27FC236}">
                  <a16:creationId xmlns:a16="http://schemas.microsoft.com/office/drawing/2014/main" id="{D54BC1A3-4E6B-4478-81D4-9CABE0DEEF1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8" name="文本框 367">
            <a:extLst>
              <a:ext uri="{FF2B5EF4-FFF2-40B4-BE49-F238E27FC236}">
                <a16:creationId xmlns:a16="http://schemas.microsoft.com/office/drawing/2014/main" id="{11A97CD2-57C4-49CF-9958-FEE095E54FBD}"/>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2" name="直接连接符 371">
            <a:extLst>
              <a:ext uri="{FF2B5EF4-FFF2-40B4-BE49-F238E27FC236}">
                <a16:creationId xmlns:a16="http://schemas.microsoft.com/office/drawing/2014/main" id="{63BBD37C-4AA8-454C-B7C8-74B2314BE05A}"/>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3" name="组合 372">
            <a:extLst>
              <a:ext uri="{FF2B5EF4-FFF2-40B4-BE49-F238E27FC236}">
                <a16:creationId xmlns:a16="http://schemas.microsoft.com/office/drawing/2014/main" id="{A42789C4-D058-494B-B300-7BCD4AA463B1}"/>
              </a:ext>
            </a:extLst>
          </p:cNvPr>
          <p:cNvGrpSpPr/>
          <p:nvPr userDrawn="1"/>
        </p:nvGrpSpPr>
        <p:grpSpPr>
          <a:xfrm>
            <a:off x="10672870" y="250062"/>
            <a:ext cx="913766" cy="457978"/>
            <a:chOff x="1585727" y="453077"/>
            <a:chExt cx="374706" cy="187802"/>
          </a:xfrm>
          <a:solidFill>
            <a:schemeClr val="accent1"/>
          </a:solidFill>
        </p:grpSpPr>
        <p:sp>
          <p:nvSpPr>
            <p:cNvPr id="374" name="îśliďe">
              <a:extLst>
                <a:ext uri="{FF2B5EF4-FFF2-40B4-BE49-F238E27FC236}">
                  <a16:creationId xmlns:a16="http://schemas.microsoft.com/office/drawing/2014/main" id="{07A26128-4B19-4B21-A497-420CC59146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5" name="íšḻíḍé">
              <a:extLst>
                <a:ext uri="{FF2B5EF4-FFF2-40B4-BE49-F238E27FC236}">
                  <a16:creationId xmlns:a16="http://schemas.microsoft.com/office/drawing/2014/main" id="{C3A1523B-E3DF-4BEC-8839-F0A5B32B4AC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6" name="ïṥḻïḓé">
              <a:extLst>
                <a:ext uri="{FF2B5EF4-FFF2-40B4-BE49-F238E27FC236}">
                  <a16:creationId xmlns:a16="http://schemas.microsoft.com/office/drawing/2014/main" id="{6C610D28-C372-4B13-B085-B9CCD828EC1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7" name="î$ḷíḋè">
              <a:extLst>
                <a:ext uri="{FF2B5EF4-FFF2-40B4-BE49-F238E27FC236}">
                  <a16:creationId xmlns:a16="http://schemas.microsoft.com/office/drawing/2014/main" id="{3133118A-17E5-48F6-8E7A-E3D5CF33EF1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8" name="i$ḷiḍe">
              <a:extLst>
                <a:ext uri="{FF2B5EF4-FFF2-40B4-BE49-F238E27FC236}">
                  <a16:creationId xmlns:a16="http://schemas.microsoft.com/office/drawing/2014/main" id="{1954A234-3823-4D0D-9778-C072AF85372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9" name="ïṡļïdè">
              <a:extLst>
                <a:ext uri="{FF2B5EF4-FFF2-40B4-BE49-F238E27FC236}">
                  <a16:creationId xmlns:a16="http://schemas.microsoft.com/office/drawing/2014/main" id="{8C6E5137-0E88-47B0-841C-73887C17562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0" name="íŝḻíḓê">
              <a:extLst>
                <a:ext uri="{FF2B5EF4-FFF2-40B4-BE49-F238E27FC236}">
                  <a16:creationId xmlns:a16="http://schemas.microsoft.com/office/drawing/2014/main" id="{2ED8CBF2-F7DF-4559-A540-44F34F9B29E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1" name="isľîḑê">
              <a:extLst>
                <a:ext uri="{FF2B5EF4-FFF2-40B4-BE49-F238E27FC236}">
                  <a16:creationId xmlns:a16="http://schemas.microsoft.com/office/drawing/2014/main" id="{4B790121-4234-4479-93EC-78E475483B4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2" name="椭圆 381">
            <a:extLst>
              <a:ext uri="{FF2B5EF4-FFF2-40B4-BE49-F238E27FC236}">
                <a16:creationId xmlns:a16="http://schemas.microsoft.com/office/drawing/2014/main" id="{BC288F44-E38B-4BB8-A576-D7843BDA18D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文本占位符 163">
            <a:extLst>
              <a:ext uri="{FF2B5EF4-FFF2-40B4-BE49-F238E27FC236}">
                <a16:creationId xmlns:a16="http://schemas.microsoft.com/office/drawing/2014/main" id="{B057B461-BFDC-419B-B641-03C9934A12CF}"/>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3"/>
          </p:nvPr>
        </p:nvSpPr>
        <p:spPr/>
        <p:txBody>
          <a:bodyPr/>
          <a:lstStyle/>
          <a:p>
            <a:endParaRPr lang="zh-CN" altLang="en-US"/>
          </a:p>
        </p:txBody>
      </p:sp>
      <p:sp>
        <p:nvSpPr>
          <p:cNvPr id="3" name="灯片编号占位符 2"/>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0320143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11">
    <p:bg>
      <p:bgPr>
        <a:solidFill>
          <a:schemeClr val="bg1">
            <a:lumMod val="95000"/>
          </a:schemeClr>
        </a:solidFill>
        <a:effectLst/>
      </p:bgPr>
    </p:bg>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ED482DE6-3489-4907-9FDA-770B51D694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9452" y="368954"/>
            <a:ext cx="5848836" cy="7311044"/>
          </a:xfrm>
          <a:prstGeom prst="rect">
            <a:avLst/>
          </a:prstGeom>
        </p:spPr>
      </p:pic>
      <p:pic>
        <p:nvPicPr>
          <p:cNvPr id="125" name="图片 124">
            <a:extLst>
              <a:ext uri="{FF2B5EF4-FFF2-40B4-BE49-F238E27FC236}">
                <a16:creationId xmlns:a16="http://schemas.microsoft.com/office/drawing/2014/main" id="{19EEC020-8902-408A-A974-A35D306AA57B}"/>
              </a:ext>
            </a:extLst>
          </p:cNvPr>
          <p:cNvPicPr>
            <a:picLocks noChangeAspect="1"/>
          </p:cNvPicPr>
          <p:nvPr userDrawn="1"/>
        </p:nvPicPr>
        <p:blipFill rotWithShape="1">
          <a:blip r:embed="rId3">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grpSp>
        <p:nvGrpSpPr>
          <p:cNvPr id="4" name="组合 3">
            <a:extLst>
              <a:ext uri="{FF2B5EF4-FFF2-40B4-BE49-F238E27FC236}">
                <a16:creationId xmlns:a16="http://schemas.microsoft.com/office/drawing/2014/main" id="{8AEA1E82-24B7-4916-8548-7E40650C9D1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5503367D-0C52-4619-9964-D48985C24EE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FF6EFBF8-D00C-4E1B-B468-08CBEE9A875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BF40132F-18C6-4C6A-AA46-B227CBC92AC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DF4C7040-D33F-4165-8F79-589A92422D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4424AB16-D945-4826-B97D-3D42C549FEB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E61CA400-355A-4317-B08E-1CB85707280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8EDFD128-63DF-4288-9683-84A925DC4E0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AB0477E9-BD9E-4246-A132-D5F20630939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7" name="图片占位符 126">
            <a:extLst>
              <a:ext uri="{FF2B5EF4-FFF2-40B4-BE49-F238E27FC236}">
                <a16:creationId xmlns:a16="http://schemas.microsoft.com/office/drawing/2014/main" id="{D1CFD2F0-0693-4B13-98F7-081A185F996C}"/>
              </a:ext>
            </a:extLst>
          </p:cNvPr>
          <p:cNvSpPr>
            <a:spLocks noGrp="1"/>
          </p:cNvSpPr>
          <p:nvPr>
            <p:ph type="pic" sz="quarter" idx="13"/>
          </p:nvPr>
        </p:nvSpPr>
        <p:spPr>
          <a:xfrm>
            <a:off x="1308171" y="2057399"/>
            <a:ext cx="4146479" cy="2584451"/>
          </a:xfrm>
          <a:prstGeom prst="rect">
            <a:avLst/>
          </a:prstGeom>
        </p:spPr>
        <p:txBody>
          <a:bodyPr/>
          <a:lstStyle/>
          <a:p>
            <a:endParaRPr lang="zh-CN" altLang="en-US" dirty="0"/>
          </a:p>
        </p:txBody>
      </p:sp>
      <p:sp>
        <p:nvSpPr>
          <p:cNvPr id="341" name="文本框 340">
            <a:extLst>
              <a:ext uri="{FF2B5EF4-FFF2-40B4-BE49-F238E27FC236}">
                <a16:creationId xmlns:a16="http://schemas.microsoft.com/office/drawing/2014/main" id="{DEB77718-AD3A-406D-8C3B-D540E7062A2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2" name="文本框 341">
            <a:extLst>
              <a:ext uri="{FF2B5EF4-FFF2-40B4-BE49-F238E27FC236}">
                <a16:creationId xmlns:a16="http://schemas.microsoft.com/office/drawing/2014/main" id="{510158A2-3A34-4A1D-90A2-E5A46CBB02BD}"/>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5" name="直接连接符 344">
            <a:extLst>
              <a:ext uri="{FF2B5EF4-FFF2-40B4-BE49-F238E27FC236}">
                <a16:creationId xmlns:a16="http://schemas.microsoft.com/office/drawing/2014/main" id="{690D2E7C-1FCF-4D6E-9437-A6F3A3AE6358}"/>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33818FBF-1765-4D66-A5E9-236866CC1271}"/>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177D50D2-8940-4EE1-AC67-E08E990A9AEE}"/>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E3A645A-25F0-4F8C-AB45-3B0DBA8E44D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27D80C56-CBDC-4797-8BD8-A1AA992B97C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405223AB-E4EF-483E-808D-4C16662F59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5B412A83-390F-4349-B16C-897209ABF61D}"/>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F710789F-6A9E-4C9B-80B8-C6B70CB66EC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254BEA57-590C-4A8F-823F-BD2366783D1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441438F4-2FE7-426C-8D53-8178A3FD50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5A7D7659-6808-49DE-9601-FB95575A5EE5}"/>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0BBF300-7D51-459A-BA7E-E779BAB958F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168785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12">
    <p:bg>
      <p:bgPr>
        <a:solidFill>
          <a:schemeClr val="bg1">
            <a:lumMod val="95000"/>
          </a:schemeClr>
        </a:solidFill>
        <a:effectLst/>
      </p:bgPr>
    </p:bg>
    <p:spTree>
      <p:nvGrpSpPr>
        <p:cNvPr id="1" name=""/>
        <p:cNvGrpSpPr/>
        <p:nvPr/>
      </p:nvGrpSpPr>
      <p:grpSpPr>
        <a:xfrm>
          <a:off x="0" y="0"/>
          <a:ext cx="0" cy="0"/>
          <a:chOff x="0" y="0"/>
          <a:chExt cx="0" cy="0"/>
        </a:xfrm>
      </p:grpSpPr>
      <p:sp>
        <p:nvSpPr>
          <p:cNvPr id="128" name="图片占位符 127">
            <a:extLst>
              <a:ext uri="{FF2B5EF4-FFF2-40B4-BE49-F238E27FC236}">
                <a16:creationId xmlns:a16="http://schemas.microsoft.com/office/drawing/2014/main" id="{F540BDE6-E5D0-4250-83C1-4140808E22D1}"/>
              </a:ext>
            </a:extLst>
          </p:cNvPr>
          <p:cNvSpPr>
            <a:spLocks noGrp="1"/>
          </p:cNvSpPr>
          <p:nvPr>
            <p:ph type="pic" sz="quarter" idx="13"/>
          </p:nvPr>
        </p:nvSpPr>
        <p:spPr>
          <a:xfrm>
            <a:off x="5070476" y="2352675"/>
            <a:ext cx="1928043" cy="1928043"/>
          </a:xfrm>
          <a:custGeom>
            <a:avLst/>
            <a:gdLst>
              <a:gd name="connsiteX0" fmla="*/ 964022 w 1928043"/>
              <a:gd name="connsiteY0" fmla="*/ 0 h 1928043"/>
              <a:gd name="connsiteX1" fmla="*/ 1928043 w 1928043"/>
              <a:gd name="connsiteY1" fmla="*/ 964022 h 1928043"/>
              <a:gd name="connsiteX2" fmla="*/ 964022 w 1928043"/>
              <a:gd name="connsiteY2" fmla="*/ 1928043 h 1928043"/>
              <a:gd name="connsiteX3" fmla="*/ 0 w 1928043"/>
              <a:gd name="connsiteY3" fmla="*/ 964022 h 1928043"/>
              <a:gd name="connsiteX4" fmla="*/ 964022 w 1928043"/>
              <a:gd name="connsiteY4" fmla="*/ 0 h 1928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043" h="1928043">
                <a:moveTo>
                  <a:pt x="964022" y="0"/>
                </a:moveTo>
                <a:cubicBezTo>
                  <a:pt x="1496436" y="0"/>
                  <a:pt x="1928043" y="431608"/>
                  <a:pt x="1928043" y="964022"/>
                </a:cubicBezTo>
                <a:cubicBezTo>
                  <a:pt x="1928043" y="1496436"/>
                  <a:pt x="1496436" y="1928043"/>
                  <a:pt x="964022" y="1928043"/>
                </a:cubicBezTo>
                <a:cubicBezTo>
                  <a:pt x="431608" y="1928043"/>
                  <a:pt x="0" y="1496436"/>
                  <a:pt x="0" y="964022"/>
                </a:cubicBezTo>
                <a:cubicBezTo>
                  <a:pt x="0" y="431608"/>
                  <a:pt x="431608" y="0"/>
                  <a:pt x="964022" y="0"/>
                </a:cubicBezTo>
                <a:close/>
              </a:path>
            </a:pathLst>
          </a:custGeom>
        </p:spPr>
        <p:txBody>
          <a:bodyPr wrap="square">
            <a:noAutofit/>
          </a:bodyPr>
          <a:lstStyle/>
          <a:p>
            <a:endParaRPr lang="zh-CN" altLang="en-US"/>
          </a:p>
        </p:txBody>
      </p:sp>
      <p:grpSp>
        <p:nvGrpSpPr>
          <p:cNvPr id="4" name="组合 3">
            <a:extLst>
              <a:ext uri="{FF2B5EF4-FFF2-40B4-BE49-F238E27FC236}">
                <a16:creationId xmlns:a16="http://schemas.microsoft.com/office/drawing/2014/main" id="{9DDA9FEB-E3F4-46A3-9929-6B2BA9D7EC04}"/>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1195D9FD-891B-44F1-B20E-67ECB2BC4A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425BBE86-BB0C-42B5-A522-8C3AF34CCF4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C47C1DE8-FADA-49AD-815D-FF026D28EFF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71C8337C-D53C-4627-8A03-10D937D64F2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BBD11B76-CC46-455E-AEA5-6CD3272DDF2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C01B95BB-B68D-4F16-BB5C-7A03B6CE20F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279B8CD3-B1A6-49F2-BD1A-4E8EAA03E0F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943E8A3F-8C45-487B-BF65-BD343376856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5" name="图片 124">
            <a:extLst>
              <a:ext uri="{FF2B5EF4-FFF2-40B4-BE49-F238E27FC236}">
                <a16:creationId xmlns:a16="http://schemas.microsoft.com/office/drawing/2014/main" id="{51735B88-50CB-47CD-A49E-4D89D986D8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1" name="文本框 340">
            <a:extLst>
              <a:ext uri="{FF2B5EF4-FFF2-40B4-BE49-F238E27FC236}">
                <a16:creationId xmlns:a16="http://schemas.microsoft.com/office/drawing/2014/main" id="{5F1639E9-7C97-4EE6-A573-200FBA5B520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5" name="直接连接符 344">
            <a:extLst>
              <a:ext uri="{FF2B5EF4-FFF2-40B4-BE49-F238E27FC236}">
                <a16:creationId xmlns:a16="http://schemas.microsoft.com/office/drawing/2014/main" id="{872F3912-ABA9-48FB-8699-28B0E67EA9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868A7A73-5ABC-4313-8567-38752A2E4A24}"/>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6301E0BA-FC37-4122-8ED5-B7BF8F4FC18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23F99EF-5799-4AAC-AC50-4FC7575DFCE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CF0F63AB-9F2D-44C5-AE59-F189C105D2B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714C91D0-66BA-4042-B134-D4ED725881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4D3C7803-433B-488D-B30D-26009671D2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6048D35D-8237-4961-8668-704B168E15A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ED6DF677-33B1-4EFC-8240-71BB71B67D0E}"/>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73425A2F-6A40-4B5F-B5E9-388538FB7F2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C37B34DD-12DB-445F-8E1A-DCF3499ECC5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6CB49CE-AB35-44EC-A55F-EB60B4BFEC62}"/>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6935646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页1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7EDB1B9-A854-4203-B77F-B61D463DBB1B}"/>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35DD738A-7624-4463-B38A-258A2719E2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BF44F3D1-94C5-40DA-A758-3F5925E6383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6F584386-AD1B-4957-9276-0969EC306FA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651348A-9E4F-40B6-89B9-5BCD7A447BE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90414720-4042-48E8-9DD7-46B2C791471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7916F5F1-E3AE-42D4-A813-3742FC77CACB}"/>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6012D1CC-FD09-488B-B770-858C319C289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7BEBA14A-4678-4359-8335-E2EE1BEA54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4" name="图片 123">
            <a:extLst>
              <a:ext uri="{FF2B5EF4-FFF2-40B4-BE49-F238E27FC236}">
                <a16:creationId xmlns:a16="http://schemas.microsoft.com/office/drawing/2014/main" id="{BA370D12-EC88-4CFC-9102-DB908E82454B}"/>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6" name="图片占位符 125">
            <a:extLst>
              <a:ext uri="{FF2B5EF4-FFF2-40B4-BE49-F238E27FC236}">
                <a16:creationId xmlns:a16="http://schemas.microsoft.com/office/drawing/2014/main" id="{42DB3125-7314-4156-9D74-A41A6FD8506D}"/>
              </a:ext>
            </a:extLst>
          </p:cNvPr>
          <p:cNvSpPr>
            <a:spLocks noGrp="1"/>
          </p:cNvSpPr>
          <p:nvPr>
            <p:ph type="pic" sz="quarter" idx="13"/>
          </p:nvPr>
        </p:nvSpPr>
        <p:spPr>
          <a:xfrm>
            <a:off x="1155701" y="1123952"/>
            <a:ext cx="3944241" cy="4610097"/>
          </a:xfrm>
          <a:prstGeom prst="rect">
            <a:avLst/>
          </a:prstGeom>
        </p:spPr>
        <p:txBody>
          <a:bodyPr/>
          <a:lstStyle/>
          <a:p>
            <a:endParaRPr lang="zh-CN" altLang="en-US"/>
          </a:p>
        </p:txBody>
      </p:sp>
      <p:sp>
        <p:nvSpPr>
          <p:cNvPr id="340" name="文本框 339">
            <a:extLst>
              <a:ext uri="{FF2B5EF4-FFF2-40B4-BE49-F238E27FC236}">
                <a16:creationId xmlns:a16="http://schemas.microsoft.com/office/drawing/2014/main" id="{F035BB5F-8020-463D-AFA2-44CE626330C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4" name="直接连接符 343">
            <a:extLst>
              <a:ext uri="{FF2B5EF4-FFF2-40B4-BE49-F238E27FC236}">
                <a16:creationId xmlns:a16="http://schemas.microsoft.com/office/drawing/2014/main" id="{1C5BA3E7-496D-4EFC-852D-B973DAEFDB6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5" name="组合 344">
            <a:extLst>
              <a:ext uri="{FF2B5EF4-FFF2-40B4-BE49-F238E27FC236}">
                <a16:creationId xmlns:a16="http://schemas.microsoft.com/office/drawing/2014/main" id="{D614F05B-B81D-4E5F-BAFA-BF4E3B668399}"/>
              </a:ext>
            </a:extLst>
          </p:cNvPr>
          <p:cNvGrpSpPr/>
          <p:nvPr userDrawn="1"/>
        </p:nvGrpSpPr>
        <p:grpSpPr>
          <a:xfrm>
            <a:off x="10672870" y="250062"/>
            <a:ext cx="913766" cy="457978"/>
            <a:chOff x="1585727" y="453077"/>
            <a:chExt cx="374706" cy="187802"/>
          </a:xfrm>
          <a:solidFill>
            <a:schemeClr val="accent1"/>
          </a:solidFill>
        </p:grpSpPr>
        <p:sp>
          <p:nvSpPr>
            <p:cNvPr id="346" name="îśliďe">
              <a:extLst>
                <a:ext uri="{FF2B5EF4-FFF2-40B4-BE49-F238E27FC236}">
                  <a16:creationId xmlns:a16="http://schemas.microsoft.com/office/drawing/2014/main" id="{1DC1DADC-46E0-41DD-A66E-EE95836D25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7" name="íšḻíḍé">
              <a:extLst>
                <a:ext uri="{FF2B5EF4-FFF2-40B4-BE49-F238E27FC236}">
                  <a16:creationId xmlns:a16="http://schemas.microsoft.com/office/drawing/2014/main" id="{B388DAA0-B70F-4C44-A053-9005D516763A}"/>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8" name="ïṥḻïḓé">
              <a:extLst>
                <a:ext uri="{FF2B5EF4-FFF2-40B4-BE49-F238E27FC236}">
                  <a16:creationId xmlns:a16="http://schemas.microsoft.com/office/drawing/2014/main" id="{3DB94F85-37E8-4506-AFE0-EC5B80B5D4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49" name="î$ḷíḋè">
              <a:extLst>
                <a:ext uri="{FF2B5EF4-FFF2-40B4-BE49-F238E27FC236}">
                  <a16:creationId xmlns:a16="http://schemas.microsoft.com/office/drawing/2014/main" id="{FC8B828A-3469-42D8-952A-66FC5CCC34E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0" name="i$ḷiḍe">
              <a:extLst>
                <a:ext uri="{FF2B5EF4-FFF2-40B4-BE49-F238E27FC236}">
                  <a16:creationId xmlns:a16="http://schemas.microsoft.com/office/drawing/2014/main" id="{CD01555A-E3E2-480E-AB04-402932DB9F7E}"/>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1" name="ïṡļïdè">
              <a:extLst>
                <a:ext uri="{FF2B5EF4-FFF2-40B4-BE49-F238E27FC236}">
                  <a16:creationId xmlns:a16="http://schemas.microsoft.com/office/drawing/2014/main" id="{D555D095-146B-4A3C-BDBE-DCB084F3855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2" name="íŝḻíḓê">
              <a:extLst>
                <a:ext uri="{FF2B5EF4-FFF2-40B4-BE49-F238E27FC236}">
                  <a16:creationId xmlns:a16="http://schemas.microsoft.com/office/drawing/2014/main" id="{9013C83C-43D9-4C7B-87D9-27E60034399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3" name="isľîḑê">
              <a:extLst>
                <a:ext uri="{FF2B5EF4-FFF2-40B4-BE49-F238E27FC236}">
                  <a16:creationId xmlns:a16="http://schemas.microsoft.com/office/drawing/2014/main" id="{6E5E5F79-2674-44C6-837E-9903BB542F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4" name="椭圆 353">
            <a:extLst>
              <a:ext uri="{FF2B5EF4-FFF2-40B4-BE49-F238E27FC236}">
                <a16:creationId xmlns:a16="http://schemas.microsoft.com/office/drawing/2014/main" id="{6FD8E487-B46D-44FA-B429-69A86521509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文本占位符 163">
            <a:extLst>
              <a:ext uri="{FF2B5EF4-FFF2-40B4-BE49-F238E27FC236}">
                <a16:creationId xmlns:a16="http://schemas.microsoft.com/office/drawing/2014/main" id="{B7BC2190-A745-4431-92FD-ECBCE4BC68F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12" name="灯片编号占位符 11"/>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6789746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页14">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A9CAC4A-865E-49E3-8731-FCABCC67D6B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6D0E3A22-DF41-49B9-BDC7-6AEAE277729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D2502648-AA34-4D64-9E31-2927043C574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F5C42EC3-F124-46E3-802C-283810436846}"/>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127877A-C948-4605-AC7A-6394FDC2874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D9BDE8C1-4B90-4166-81BB-04EBE9EF4D98}"/>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CA8027DB-98A9-4909-8032-7BCDF8D904A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F6839995-F008-484C-8BC3-91C01EFF9F5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B00D56CC-10C2-40DF-8498-36360BA8729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 name="图片 11">
            <a:extLst>
              <a:ext uri="{FF2B5EF4-FFF2-40B4-BE49-F238E27FC236}">
                <a16:creationId xmlns:a16="http://schemas.microsoft.com/office/drawing/2014/main" id="{124D1203-8E71-42D8-ADE3-A64DC13C115E}"/>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4" name="文本框 13">
            <a:extLst>
              <a:ext uri="{FF2B5EF4-FFF2-40B4-BE49-F238E27FC236}">
                <a16:creationId xmlns:a16="http://schemas.microsoft.com/office/drawing/2014/main" id="{F1EB2C21-849F-4F0B-803B-7AC4ABD5DBD1}"/>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6" name="直接连接符 15">
            <a:extLst>
              <a:ext uri="{FF2B5EF4-FFF2-40B4-BE49-F238E27FC236}">
                <a16:creationId xmlns:a16="http://schemas.microsoft.com/office/drawing/2014/main" id="{2540EFFF-5E1E-49DF-B137-28242E9D16B1}"/>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C442CE9E-876D-4052-97ED-AB8CC183D2D4}"/>
              </a:ext>
            </a:extLst>
          </p:cNvPr>
          <p:cNvGrpSpPr/>
          <p:nvPr userDrawn="1"/>
        </p:nvGrpSpPr>
        <p:grpSpPr>
          <a:xfrm>
            <a:off x="10672870" y="250062"/>
            <a:ext cx="913766" cy="457978"/>
            <a:chOff x="1585727" y="453077"/>
            <a:chExt cx="374706" cy="187802"/>
          </a:xfrm>
          <a:solidFill>
            <a:schemeClr val="accent1"/>
          </a:solidFill>
        </p:grpSpPr>
        <p:sp>
          <p:nvSpPr>
            <p:cNvPr id="18" name="îśliďe">
              <a:extLst>
                <a:ext uri="{FF2B5EF4-FFF2-40B4-BE49-F238E27FC236}">
                  <a16:creationId xmlns:a16="http://schemas.microsoft.com/office/drawing/2014/main" id="{228D3189-D8DA-4DC5-8731-93349BE92B5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9" name="íšḻíḍé">
              <a:extLst>
                <a:ext uri="{FF2B5EF4-FFF2-40B4-BE49-F238E27FC236}">
                  <a16:creationId xmlns:a16="http://schemas.microsoft.com/office/drawing/2014/main" id="{3725DDB3-E5B7-4A23-A1D5-30D8D6ADB40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0" name="ïṥḻïḓé">
              <a:extLst>
                <a:ext uri="{FF2B5EF4-FFF2-40B4-BE49-F238E27FC236}">
                  <a16:creationId xmlns:a16="http://schemas.microsoft.com/office/drawing/2014/main" id="{33785B02-E6CA-41E7-8B7F-EA502F9E91C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1" name="î$ḷíḋè">
              <a:extLst>
                <a:ext uri="{FF2B5EF4-FFF2-40B4-BE49-F238E27FC236}">
                  <a16:creationId xmlns:a16="http://schemas.microsoft.com/office/drawing/2014/main" id="{57EBE7AC-411D-402D-9A9A-55B2BFC58C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2" name="i$ḷiḍe">
              <a:extLst>
                <a:ext uri="{FF2B5EF4-FFF2-40B4-BE49-F238E27FC236}">
                  <a16:creationId xmlns:a16="http://schemas.microsoft.com/office/drawing/2014/main" id="{AF26F0D0-0E60-41C6-8192-45CE0DE76B1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 name="ïṡļïdè">
              <a:extLst>
                <a:ext uri="{FF2B5EF4-FFF2-40B4-BE49-F238E27FC236}">
                  <a16:creationId xmlns:a16="http://schemas.microsoft.com/office/drawing/2014/main" id="{ED54000E-F8F8-4E48-88FE-D68E9701DFB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 name="íŝḻíḓê">
              <a:extLst>
                <a:ext uri="{FF2B5EF4-FFF2-40B4-BE49-F238E27FC236}">
                  <a16:creationId xmlns:a16="http://schemas.microsoft.com/office/drawing/2014/main" id="{3519DFED-4A2B-42AD-AB2C-01E9C8A44A9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5" name="isľîḑê">
              <a:extLst>
                <a:ext uri="{FF2B5EF4-FFF2-40B4-BE49-F238E27FC236}">
                  <a16:creationId xmlns:a16="http://schemas.microsoft.com/office/drawing/2014/main" id="{E527C414-F980-4E3F-AC95-B9D4B48DFAC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6" name="椭圆 25">
            <a:extLst>
              <a:ext uri="{FF2B5EF4-FFF2-40B4-BE49-F238E27FC236}">
                <a16:creationId xmlns:a16="http://schemas.microsoft.com/office/drawing/2014/main" id="{C54E03BE-357F-42C6-9923-09956954CF8B}"/>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163">
            <a:extLst>
              <a:ext uri="{FF2B5EF4-FFF2-40B4-BE49-F238E27FC236}">
                <a16:creationId xmlns:a16="http://schemas.microsoft.com/office/drawing/2014/main" id="{E09EA8D3-74EF-4CFC-9A60-38BF481F74E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grpSp>
        <p:nvGrpSpPr>
          <p:cNvPr id="28" name="组合 27">
            <a:extLst>
              <a:ext uri="{FF2B5EF4-FFF2-40B4-BE49-F238E27FC236}">
                <a16:creationId xmlns:a16="http://schemas.microsoft.com/office/drawing/2014/main" id="{1CFA14D2-01F1-4DF0-B2A6-BFF2575C48A2}"/>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9" name="îśliďe">
              <a:extLst>
                <a:ext uri="{FF2B5EF4-FFF2-40B4-BE49-F238E27FC236}">
                  <a16:creationId xmlns:a16="http://schemas.microsoft.com/office/drawing/2014/main" id="{614E7815-EC78-4907-8A87-DCDE0DC90BF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BD0E37F9-4D3D-4967-9E1C-C1D0C121C38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9CAD6A8C-6119-4636-AB27-F8E58BA2C5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5507A9F1-086B-4E13-9F9B-F56CB078D80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D4AB0866-5F48-44D5-A280-22C21F085AA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D9733264-9E45-4165-9896-BFB177D56F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C7EC23A6-AB6C-43F9-B691-7291471B871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F0B1D1A0-9307-4007-BBE3-B7E771116B0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grpSp>
        <p:nvGrpSpPr>
          <p:cNvPr id="2" name="组合 1">
            <a:extLst>
              <a:ext uri="{FF2B5EF4-FFF2-40B4-BE49-F238E27FC236}">
                <a16:creationId xmlns:a16="http://schemas.microsoft.com/office/drawing/2014/main" id="{A9F06922-CB66-4BB7-896A-8D2C2B2251EF}"/>
              </a:ext>
            </a:extLst>
          </p:cNvPr>
          <p:cNvGrpSpPr/>
          <p:nvPr userDrawn="1"/>
        </p:nvGrpSpPr>
        <p:grpSpPr>
          <a:xfrm>
            <a:off x="1176251" y="1675235"/>
            <a:ext cx="2665723" cy="3507530"/>
            <a:chOff x="1176251" y="1675235"/>
            <a:chExt cx="2665723" cy="3507530"/>
          </a:xfrm>
        </p:grpSpPr>
        <p:sp>
          <p:nvSpPr>
            <p:cNvPr id="37" name="矩形 36">
              <a:extLst>
                <a:ext uri="{FF2B5EF4-FFF2-40B4-BE49-F238E27FC236}">
                  <a16:creationId xmlns:a16="http://schemas.microsoft.com/office/drawing/2014/main" id="{A2B92018-95E0-4552-93E5-22F167C0235D}"/>
                </a:ext>
              </a:extLst>
            </p:cNvPr>
            <p:cNvSpPr/>
            <p:nvPr userDrawn="1"/>
          </p:nvSpPr>
          <p:spPr>
            <a:xfrm>
              <a:off x="1176251"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5ED6ACA3-8385-4BF7-AA4C-AC7A70901023}"/>
                </a:ext>
              </a:extLst>
            </p:cNvPr>
            <p:cNvSpPr/>
            <p:nvPr userDrawn="1"/>
          </p:nvSpPr>
          <p:spPr>
            <a:xfrm>
              <a:off x="1176251" y="4741333"/>
              <a:ext cx="2665723" cy="441432"/>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B16850AA-92AC-40DA-996D-814B38D999DD}"/>
                </a:ext>
              </a:extLst>
            </p:cNvPr>
            <p:cNvSpPr/>
            <p:nvPr userDrawn="1"/>
          </p:nvSpPr>
          <p:spPr>
            <a:xfrm>
              <a:off x="1176251"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E41531BF-7A9A-4F92-8DE9-424EC0ED5611}"/>
              </a:ext>
            </a:extLst>
          </p:cNvPr>
          <p:cNvGrpSpPr/>
          <p:nvPr userDrawn="1"/>
        </p:nvGrpSpPr>
        <p:grpSpPr>
          <a:xfrm>
            <a:off x="4763139" y="1675235"/>
            <a:ext cx="2665723" cy="3507530"/>
            <a:chOff x="4763139" y="1675235"/>
            <a:chExt cx="2665723" cy="3507530"/>
          </a:xfrm>
        </p:grpSpPr>
        <p:sp>
          <p:nvSpPr>
            <p:cNvPr id="40" name="矩形 39">
              <a:extLst>
                <a:ext uri="{FF2B5EF4-FFF2-40B4-BE49-F238E27FC236}">
                  <a16:creationId xmlns:a16="http://schemas.microsoft.com/office/drawing/2014/main" id="{89244897-C360-48EC-8F3C-A23B73990BBC}"/>
                </a:ext>
              </a:extLst>
            </p:cNvPr>
            <p:cNvSpPr/>
            <p:nvPr userDrawn="1"/>
          </p:nvSpPr>
          <p:spPr>
            <a:xfrm>
              <a:off x="4763139"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463C52B-A9FA-46B0-9BFA-5AB9EA5C6801}"/>
                </a:ext>
              </a:extLst>
            </p:cNvPr>
            <p:cNvSpPr/>
            <p:nvPr userDrawn="1"/>
          </p:nvSpPr>
          <p:spPr>
            <a:xfrm>
              <a:off x="4763139" y="4741333"/>
              <a:ext cx="2665723" cy="441432"/>
            </a:xfrm>
            <a:prstGeom prst="rect">
              <a:avLst/>
            </a:prstGeom>
            <a:blipFill dpi="0" rotWithShape="1">
              <a:blip r:embed="rId4"/>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53585078-156E-43B4-9EC2-438E9F02073F}"/>
                </a:ext>
              </a:extLst>
            </p:cNvPr>
            <p:cNvSpPr/>
            <p:nvPr userDrawn="1"/>
          </p:nvSpPr>
          <p:spPr>
            <a:xfrm>
              <a:off x="4763139"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8" name="组合 47">
            <a:extLst>
              <a:ext uri="{FF2B5EF4-FFF2-40B4-BE49-F238E27FC236}">
                <a16:creationId xmlns:a16="http://schemas.microsoft.com/office/drawing/2014/main" id="{4876FA53-4A7A-4FC7-8EEB-60DA5B97336F}"/>
              </a:ext>
            </a:extLst>
          </p:cNvPr>
          <p:cNvGrpSpPr/>
          <p:nvPr userDrawn="1"/>
        </p:nvGrpSpPr>
        <p:grpSpPr>
          <a:xfrm>
            <a:off x="8350027" y="1607089"/>
            <a:ext cx="2665723" cy="3575676"/>
            <a:chOff x="8350027" y="1607089"/>
            <a:chExt cx="2665723" cy="3575676"/>
          </a:xfrm>
        </p:grpSpPr>
        <p:sp>
          <p:nvSpPr>
            <p:cNvPr id="43" name="矩形 42">
              <a:extLst>
                <a:ext uri="{FF2B5EF4-FFF2-40B4-BE49-F238E27FC236}">
                  <a16:creationId xmlns:a16="http://schemas.microsoft.com/office/drawing/2014/main" id="{9C406E35-A419-4856-9DCB-5D3A126944FC}"/>
                </a:ext>
              </a:extLst>
            </p:cNvPr>
            <p:cNvSpPr/>
            <p:nvPr userDrawn="1"/>
          </p:nvSpPr>
          <p:spPr>
            <a:xfrm>
              <a:off x="8350027" y="1607089"/>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01DD0141-A5C0-4BC5-A759-896F71BEF2F0}"/>
                </a:ext>
              </a:extLst>
            </p:cNvPr>
            <p:cNvSpPr/>
            <p:nvPr userDrawn="1"/>
          </p:nvSpPr>
          <p:spPr>
            <a:xfrm>
              <a:off x="8350027" y="4741333"/>
              <a:ext cx="2665723" cy="441432"/>
            </a:xfrm>
            <a:prstGeom prst="rect">
              <a:avLst/>
            </a:prstGeom>
            <a:blipFill dpi="0" rotWithShape="1">
              <a:blip r:embed="rId5"/>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073B1A69-4248-4082-B253-01A9E418F787}"/>
                </a:ext>
              </a:extLst>
            </p:cNvPr>
            <p:cNvSpPr/>
            <p:nvPr userDrawn="1"/>
          </p:nvSpPr>
          <p:spPr>
            <a:xfrm>
              <a:off x="8350027"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6" name="页脚占位符 45"/>
          <p:cNvSpPr>
            <a:spLocks noGrp="1"/>
          </p:cNvSpPr>
          <p:nvPr>
            <p:ph type="ftr" sz="quarter" idx="13"/>
          </p:nvPr>
        </p:nvSpPr>
        <p:spPr/>
        <p:txBody>
          <a:bodyPr/>
          <a:lstStyle/>
          <a:p>
            <a:endParaRPr lang="zh-CN" altLang="en-US"/>
          </a:p>
        </p:txBody>
      </p:sp>
      <p:sp>
        <p:nvSpPr>
          <p:cNvPr id="47" name="灯片编号占位符 46"/>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718833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页15">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609E687-6FF3-497E-8D2B-0726366B5A6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a:solidFill>
            <a:schemeClr val="bg1">
              <a:lumMod val="95000"/>
            </a:schemeClr>
          </a:solidFill>
        </p:spPr>
      </p:pic>
      <p:sp>
        <p:nvSpPr>
          <p:cNvPr id="4" name="文本框 3">
            <a:extLst>
              <a:ext uri="{FF2B5EF4-FFF2-40B4-BE49-F238E27FC236}">
                <a16:creationId xmlns:a16="http://schemas.microsoft.com/office/drawing/2014/main" id="{AAB9FB1F-A3CF-4CA9-A9EF-0C48F4A86958}"/>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6" name="椭圆 5">
            <a:extLst>
              <a:ext uri="{FF2B5EF4-FFF2-40B4-BE49-F238E27FC236}">
                <a16:creationId xmlns:a16="http://schemas.microsoft.com/office/drawing/2014/main" id="{FAEE827E-265E-4523-9A1B-2462FC7787A9}"/>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163">
            <a:extLst>
              <a:ext uri="{FF2B5EF4-FFF2-40B4-BE49-F238E27FC236}">
                <a16:creationId xmlns:a16="http://schemas.microsoft.com/office/drawing/2014/main" id="{84E4C8C5-8729-407F-88E4-E64D9E5A8F4C}"/>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8" name="直接连接符 7">
            <a:extLst>
              <a:ext uri="{FF2B5EF4-FFF2-40B4-BE49-F238E27FC236}">
                <a16:creationId xmlns:a16="http://schemas.microsoft.com/office/drawing/2014/main" id="{FA719032-0D1F-4457-A6F4-CD326AC586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E5E857CB-1D67-40E0-9A56-A3291BF50DAB}"/>
              </a:ext>
            </a:extLst>
          </p:cNvPr>
          <p:cNvGrpSpPr/>
          <p:nvPr userDrawn="1"/>
        </p:nvGrpSpPr>
        <p:grpSpPr>
          <a:xfrm>
            <a:off x="10672870" y="250062"/>
            <a:ext cx="913766" cy="457978"/>
            <a:chOff x="1585727" y="453077"/>
            <a:chExt cx="374706" cy="187802"/>
          </a:xfrm>
          <a:solidFill>
            <a:schemeClr val="accent1"/>
          </a:solidFill>
        </p:grpSpPr>
        <p:sp>
          <p:nvSpPr>
            <p:cNvPr id="10" name="îśliďe">
              <a:extLst>
                <a:ext uri="{FF2B5EF4-FFF2-40B4-BE49-F238E27FC236}">
                  <a16:creationId xmlns:a16="http://schemas.microsoft.com/office/drawing/2014/main" id="{EDD6936A-E126-457C-9B28-47B3FED2654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 name="íšḻíḍé">
              <a:extLst>
                <a:ext uri="{FF2B5EF4-FFF2-40B4-BE49-F238E27FC236}">
                  <a16:creationId xmlns:a16="http://schemas.microsoft.com/office/drawing/2014/main" id="{70E56523-74B0-4F94-AA1C-DE8A7B3B6EF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 name="ïṥḻïḓé">
              <a:extLst>
                <a:ext uri="{FF2B5EF4-FFF2-40B4-BE49-F238E27FC236}">
                  <a16:creationId xmlns:a16="http://schemas.microsoft.com/office/drawing/2014/main" id="{21321976-BA9B-4E34-8E85-5D3CDB97A0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 name="î$ḷíḋè">
              <a:extLst>
                <a:ext uri="{FF2B5EF4-FFF2-40B4-BE49-F238E27FC236}">
                  <a16:creationId xmlns:a16="http://schemas.microsoft.com/office/drawing/2014/main" id="{2943ADE6-39AA-4335-9F6A-54AE5B453C5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 name="i$ḷiḍe">
              <a:extLst>
                <a:ext uri="{FF2B5EF4-FFF2-40B4-BE49-F238E27FC236}">
                  <a16:creationId xmlns:a16="http://schemas.microsoft.com/office/drawing/2014/main" id="{31F0CBAE-4361-4C06-ABD8-552E55255E4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 name="ïṡļïdè">
              <a:extLst>
                <a:ext uri="{FF2B5EF4-FFF2-40B4-BE49-F238E27FC236}">
                  <a16:creationId xmlns:a16="http://schemas.microsoft.com/office/drawing/2014/main" id="{BC199AEB-7B5B-4708-97DC-0B9BEDB04A2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6" name="íŝḻíḓê">
              <a:extLst>
                <a:ext uri="{FF2B5EF4-FFF2-40B4-BE49-F238E27FC236}">
                  <a16:creationId xmlns:a16="http://schemas.microsoft.com/office/drawing/2014/main" id="{1B8A1C35-C9EF-4011-ABEA-244F3FC19D2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7" name="isľîḑê">
              <a:extLst>
                <a:ext uri="{FF2B5EF4-FFF2-40B4-BE49-F238E27FC236}">
                  <a16:creationId xmlns:a16="http://schemas.microsoft.com/office/drawing/2014/main" id="{50EAE709-8FFA-4B75-9F56-9CF7FFD0E70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8" name="矩形 17">
            <a:extLst>
              <a:ext uri="{FF2B5EF4-FFF2-40B4-BE49-F238E27FC236}">
                <a16:creationId xmlns:a16="http://schemas.microsoft.com/office/drawing/2014/main" id="{215F96B7-1B6D-45C7-89C4-1B1CB521F90F}"/>
              </a:ext>
            </a:extLst>
          </p:cNvPr>
          <p:cNvSpPr/>
          <p:nvPr userDrawn="1"/>
        </p:nvSpPr>
        <p:spPr>
          <a:xfrm>
            <a:off x="-6350" y="1498600"/>
            <a:ext cx="12192000" cy="2197569"/>
          </a:xfrm>
          <a:prstGeom prst="rect">
            <a:avLst/>
          </a:prstGeom>
          <a:solidFill>
            <a:schemeClr val="bg1">
              <a:alpha val="80000"/>
            </a:schemeClr>
          </a:solidFill>
          <a:ln w="9525">
            <a:noFill/>
          </a:ln>
          <a:effectLst>
            <a:outerShdw blurRad="127000" dist="127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a:p>
        </p:txBody>
      </p:sp>
      <p:pic>
        <p:nvPicPr>
          <p:cNvPr id="19" name="图片 18">
            <a:extLst>
              <a:ext uri="{FF2B5EF4-FFF2-40B4-BE49-F238E27FC236}">
                <a16:creationId xmlns:a16="http://schemas.microsoft.com/office/drawing/2014/main" id="{435FE387-D85A-4629-A68D-0B405174EF74}"/>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l="46260"/>
          <a:stretch/>
        </p:blipFill>
        <p:spPr>
          <a:xfrm>
            <a:off x="1138462" y="958941"/>
            <a:ext cx="3019881" cy="5158438"/>
          </a:xfrm>
          <a:prstGeom prst="rect">
            <a:avLst/>
          </a:prstGeom>
        </p:spPr>
      </p:pic>
      <p:sp>
        <p:nvSpPr>
          <p:cNvPr id="20" name="图片占位符 2">
            <a:extLst>
              <a:ext uri="{FF2B5EF4-FFF2-40B4-BE49-F238E27FC236}">
                <a16:creationId xmlns:a16="http://schemas.microsoft.com/office/drawing/2014/main" id="{4E141A2D-B968-450E-8E30-996219BECC5D}"/>
              </a:ext>
            </a:extLst>
          </p:cNvPr>
          <p:cNvSpPr>
            <a:spLocks noGrp="1"/>
          </p:cNvSpPr>
          <p:nvPr>
            <p:ph type="pic" sz="quarter" idx="13"/>
          </p:nvPr>
        </p:nvSpPr>
        <p:spPr>
          <a:xfrm>
            <a:off x="1574799" y="1498600"/>
            <a:ext cx="2098041" cy="3728720"/>
          </a:xfrm>
          <a:prstGeom prst="rect">
            <a:avLst/>
          </a:prstGeom>
        </p:spPr>
        <p:txBody>
          <a:bodyPr/>
          <a:lstStyle/>
          <a:p>
            <a:endParaRPr lang="zh-CN" altLang="en-US"/>
          </a:p>
        </p:txBody>
      </p:sp>
      <p:sp>
        <p:nvSpPr>
          <p:cNvPr id="2" name="页脚占位符 1"/>
          <p:cNvSpPr>
            <a:spLocks noGrp="1"/>
          </p:cNvSpPr>
          <p:nvPr>
            <p:ph type="ftr" sz="quarter" idx="14"/>
          </p:nvPr>
        </p:nvSpPr>
        <p:spPr/>
        <p:txBody>
          <a:bodyPr/>
          <a:lstStyle/>
          <a:p>
            <a:endParaRPr lang="zh-CN" altLang="en-US"/>
          </a:p>
        </p:txBody>
      </p:sp>
      <p:sp>
        <p:nvSpPr>
          <p:cNvPr id="21" name="灯片编号占位符 20"/>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486202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空白">
    <p:bg>
      <p:bgPr>
        <a:solidFill>
          <a:srgbClr val="F1F1F1"/>
        </a:solidFill>
        <a:effectLst/>
      </p:bgPr>
    </p:bg>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a:p>
        </p:txBody>
      </p:sp>
      <p:sp>
        <p:nvSpPr>
          <p:cNvPr id="4" name="灯片编号占位符 3"/>
          <p:cNvSpPr>
            <a:spLocks noGrp="1"/>
          </p:cNvSpPr>
          <p:nvPr>
            <p:ph type="sldNum" sz="quarter" idx="1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50021055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bg>
      <p:bgPr>
        <a:solidFill>
          <a:srgbClr val="F1F1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881423"/>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23435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309848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9888C-E133-43D9-A638-B5C95925B91C}" type="slidenum">
              <a:rPr lang="zh-CN" altLang="en-US" smtClean="0"/>
              <a:t>‹#›</a:t>
            </a:fld>
            <a:endParaRPr lang="zh-CN" altLang="en-US" dirty="0"/>
          </a:p>
        </p:txBody>
      </p:sp>
      <p:sp>
        <p:nvSpPr>
          <p:cNvPr id="3"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extLst>
      <p:ext uri="{BB962C8B-B14F-4D97-AF65-F5344CB8AC3E}">
        <p14:creationId xmlns:p14="http://schemas.microsoft.com/office/powerpoint/2010/main" val="341864056"/>
      </p:ext>
    </p:extLst>
  </p:cSld>
  <p:clrMap bg1="lt1" tx1="dk1" bg2="lt2" tx2="dk2" accent1="accent1" accent2="accent2" accent3="accent3" accent4="accent4" accent5="accent5" accent6="accent6" hlink="hlink" folHlink="folHlink"/>
  <p:sldLayoutIdLst>
    <p:sldLayoutId id="2147483655" r:id="rId1"/>
    <p:sldLayoutId id="2147483663" r:id="rId2"/>
    <p:sldLayoutId id="2147483650" r:id="rId3"/>
    <p:sldLayoutId id="2147483668" r:id="rId4"/>
    <p:sldLayoutId id="2147483669" r:id="rId5"/>
    <p:sldLayoutId id="2147483670" r:id="rId6"/>
    <p:sldLayoutId id="2147483671" r:id="rId7"/>
    <p:sldLayoutId id="2147483664" r:id="rId8"/>
    <p:sldLayoutId id="2147483649" r:id="rId9"/>
    <p:sldLayoutId id="2147483660" r:id="rId10"/>
    <p:sldLayoutId id="2147483661" r:id="rId11"/>
    <p:sldLayoutId id="2147483662" r:id="rId12"/>
    <p:sldLayoutId id="2147483652" r:id="rId13"/>
    <p:sldLayoutId id="2147483672" r:id="rId14"/>
    <p:sldLayoutId id="2147483654" r:id="rId15"/>
    <p:sldLayoutId id="2147483653" r:id="rId16"/>
    <p:sldLayoutId id="2147483656" r:id="rId17"/>
    <p:sldLayoutId id="2147483657" r:id="rId18"/>
    <p:sldLayoutId id="2147483658" r:id="rId19"/>
    <p:sldLayoutId id="2147483659" r:id="rId20"/>
    <p:sldLayoutId id="2147483665" r:id="rId21"/>
    <p:sldLayoutId id="2147483666" r:id="rId22"/>
    <p:sldLayoutId id="2147483667" r:id="rId23"/>
    <p:sldLayoutId id="2147483673" r:id="rId24"/>
    <p:sldLayoutId id="2147483674" r:id="rId25"/>
    <p:sldLayoutId id="2147483680" r:id="rId26"/>
    <p:sldLayoutId id="2147483681" r:id="rId2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页脚占位符 1"/>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3" name="灯片编号占位符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96A5B-A282-4D67-819F-AA1E3D7F06DB}" type="slidenum">
              <a:rPr lang="zh-CN" altLang="en-US" smtClean="0"/>
              <a:t>‹#›</a:t>
            </a:fld>
            <a:endParaRPr lang="zh-CN" altLang="en-US"/>
          </a:p>
        </p:txBody>
      </p:sp>
    </p:spTree>
    <p:extLst>
      <p:ext uri="{BB962C8B-B14F-4D97-AF65-F5344CB8AC3E}">
        <p14:creationId xmlns:p14="http://schemas.microsoft.com/office/powerpoint/2010/main" val="3224061831"/>
      </p:ext>
    </p:extLst>
  </p:cSld>
  <p:clrMap bg1="lt1" tx1="dk1" bg2="lt2" tx2="dk2" accent1="accent1" accent2="accent2" accent3="accent3" accent4="accent4" accent5="accent5" accent6="accent6" hlink="hlink" folHlink="folHlink"/>
  <p:sldLayoutIdLst>
    <p:sldLayoutId id="2147483677" r:id="rId1"/>
    <p:sldLayoutId id="214748367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gif"/><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150.png"/><Relationship Id="rId4" Type="http://schemas.openxmlformats.org/officeDocument/2006/relationships/image" Target="../media/image140.png"/></Relationships>
</file>

<file path=ppt/slides/_rels/slide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180.png"/><Relationship Id="rId4" Type="http://schemas.openxmlformats.org/officeDocument/2006/relationships/image" Target="../media/image170.png"/></Relationships>
</file>

<file path=ppt/slides/_rels/slide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80.png"/><Relationship Id="rId4" Type="http://schemas.openxmlformats.org/officeDocument/2006/relationships/image" Target="../media/image170.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251.png"/><Relationship Id="rId5" Type="http://schemas.openxmlformats.org/officeDocument/2006/relationships/image" Target="../media/image241.png"/><Relationship Id="rId4" Type="http://schemas.openxmlformats.org/officeDocument/2006/relationships/image" Target="../media/image231.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3" Type="http://schemas.openxmlformats.org/officeDocument/2006/relationships/image" Target="../media/image250.png"/><Relationship Id="rId18" Type="http://schemas.openxmlformats.org/officeDocument/2006/relationships/image" Target="../media/image300.png"/><Relationship Id="rId26" Type="http://schemas.openxmlformats.org/officeDocument/2006/relationships/image" Target="../media/image38.png"/><Relationship Id="rId39" Type="http://schemas.openxmlformats.org/officeDocument/2006/relationships/image" Target="../media/image50.png"/><Relationship Id="rId21" Type="http://schemas.openxmlformats.org/officeDocument/2006/relationships/image" Target="../media/image330.png"/><Relationship Id="rId34" Type="http://schemas.openxmlformats.org/officeDocument/2006/relationships/image" Target="../media/image45.png"/><Relationship Id="rId42" Type="http://schemas.openxmlformats.org/officeDocument/2006/relationships/image" Target="../media/image53.png"/><Relationship Id="rId7" Type="http://schemas.openxmlformats.org/officeDocument/2006/relationships/image" Target="../media/image32.png"/><Relationship Id="rId2" Type="http://schemas.openxmlformats.org/officeDocument/2006/relationships/notesSlide" Target="../notesSlides/notesSlide20.xml"/><Relationship Id="rId16" Type="http://schemas.openxmlformats.org/officeDocument/2006/relationships/image" Target="../media/image28.png"/><Relationship Id="rId29" Type="http://schemas.openxmlformats.org/officeDocument/2006/relationships/image" Target="../media/image40.png"/><Relationship Id="rId1" Type="http://schemas.openxmlformats.org/officeDocument/2006/relationships/slideLayout" Target="../slideLayouts/slideLayout9.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360.png"/><Relationship Id="rId32" Type="http://schemas.openxmlformats.org/officeDocument/2006/relationships/image" Target="../media/image43.png"/><Relationship Id="rId37" Type="http://schemas.openxmlformats.org/officeDocument/2006/relationships/image" Target="../media/image48.png"/><Relationship Id="rId40" Type="http://schemas.openxmlformats.org/officeDocument/2006/relationships/image" Target="../media/image51.png"/><Relationship Id="rId45" Type="http://schemas.openxmlformats.org/officeDocument/2006/relationships/image" Target="../media/image56.png"/><Relationship Id="rId5" Type="http://schemas.openxmlformats.org/officeDocument/2006/relationships/image" Target="../media/image30.png"/><Relationship Id="rId15" Type="http://schemas.openxmlformats.org/officeDocument/2006/relationships/image" Target="../media/image270.png"/><Relationship Id="rId23" Type="http://schemas.openxmlformats.org/officeDocument/2006/relationships/image" Target="../media/image350.png"/><Relationship Id="rId28" Type="http://schemas.openxmlformats.org/officeDocument/2006/relationships/image" Target="../media/image230.png"/><Relationship Id="rId36" Type="http://schemas.openxmlformats.org/officeDocument/2006/relationships/image" Target="../media/image47.png"/><Relationship Id="rId10" Type="http://schemas.openxmlformats.org/officeDocument/2006/relationships/image" Target="../media/image35.png"/><Relationship Id="rId19" Type="http://schemas.openxmlformats.org/officeDocument/2006/relationships/image" Target="../media/image310.png"/><Relationship Id="rId31" Type="http://schemas.openxmlformats.org/officeDocument/2006/relationships/image" Target="../media/image42.png"/><Relationship Id="rId44" Type="http://schemas.openxmlformats.org/officeDocument/2006/relationships/image" Target="../media/image5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260.png"/><Relationship Id="rId22" Type="http://schemas.openxmlformats.org/officeDocument/2006/relationships/image" Target="../media/image340.png"/><Relationship Id="rId27" Type="http://schemas.openxmlformats.org/officeDocument/2006/relationships/image" Target="../media/image39.png"/><Relationship Id="rId30" Type="http://schemas.openxmlformats.org/officeDocument/2006/relationships/image" Target="../media/image41.png"/><Relationship Id="rId35" Type="http://schemas.openxmlformats.org/officeDocument/2006/relationships/image" Target="../media/image46.png"/><Relationship Id="rId43" Type="http://schemas.openxmlformats.org/officeDocument/2006/relationships/image" Target="../media/image54.png"/><Relationship Id="rId8" Type="http://schemas.openxmlformats.org/officeDocument/2006/relationships/image" Target="../media/image33.png"/><Relationship Id="rId3" Type="http://schemas.openxmlformats.org/officeDocument/2006/relationships/image" Target="../media/image23.jpg"/><Relationship Id="rId12" Type="http://schemas.openxmlformats.org/officeDocument/2006/relationships/image" Target="../media/image240.png"/><Relationship Id="rId17" Type="http://schemas.openxmlformats.org/officeDocument/2006/relationships/image" Target="../media/image290.png"/><Relationship Id="rId25" Type="http://schemas.openxmlformats.org/officeDocument/2006/relationships/image" Target="../media/image37.png"/><Relationship Id="rId33" Type="http://schemas.openxmlformats.org/officeDocument/2006/relationships/image" Target="../media/image44.png"/><Relationship Id="rId38" Type="http://schemas.openxmlformats.org/officeDocument/2006/relationships/image" Target="../media/image49.png"/><Relationship Id="rId20" Type="http://schemas.openxmlformats.org/officeDocument/2006/relationships/image" Target="../media/image320.png"/><Relationship Id="rId41" Type="http://schemas.openxmlformats.org/officeDocument/2006/relationships/image" Target="../media/image5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8.xml"/><Relationship Id="rId1" Type="http://schemas.openxmlformats.org/officeDocument/2006/relationships/slideLayout" Target="../slideLayouts/slideLayout9.xml"/><Relationship Id="rId5" Type="http://schemas.openxmlformats.org/officeDocument/2006/relationships/image" Target="../media/image60.tmp"/><Relationship Id="rId4" Type="http://schemas.openxmlformats.org/officeDocument/2006/relationships/image" Target="../media/image321.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9.xml"/><Relationship Id="rId6" Type="http://schemas.openxmlformats.org/officeDocument/2006/relationships/image" Target="../media/image69.png"/><Relationship Id="rId11" Type="http://schemas.openxmlformats.org/officeDocument/2006/relationships/image" Target="NULL"/><Relationship Id="rId5" Type="http://schemas.openxmlformats.org/officeDocument/2006/relationships/image" Target="../media/image68.png"/><Relationship Id="rId10" Type="http://schemas.openxmlformats.org/officeDocument/2006/relationships/image" Target="../media/image71.png"/><Relationship Id="rId4" Type="http://schemas.openxmlformats.org/officeDocument/2006/relationships/image" Target="../media/image67.png"/><Relationship Id="rId9" Type="http://schemas.openxmlformats.org/officeDocument/2006/relationships/image" Target="NULL"/></Relationships>
</file>

<file path=ppt/slides/_rels/slide31.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80.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3000.png"/><Relationship Id="rId7" Type="http://schemas.openxmlformats.org/officeDocument/2006/relationships/image" Target="../media/image3400.png"/><Relationship Id="rId2" Type="http://schemas.openxmlformats.org/officeDocument/2006/relationships/image" Target="../media/image2900.png"/><Relationship Id="rId1" Type="http://schemas.openxmlformats.org/officeDocument/2006/relationships/slideLayout" Target="../slideLayouts/slideLayout9.xml"/><Relationship Id="rId6" Type="http://schemas.openxmlformats.org/officeDocument/2006/relationships/image" Target="../media/image460.png"/><Relationship Id="rId5" Type="http://schemas.openxmlformats.org/officeDocument/2006/relationships/image" Target="../media/image450.png"/><Relationship Id="rId4" Type="http://schemas.openxmlformats.org/officeDocument/2006/relationships/image" Target="../media/image441.png"/></Relationships>
</file>

<file path=ppt/slides/_rels/slide33.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581.png"/><Relationship Id="rId3" Type="http://schemas.openxmlformats.org/officeDocument/2006/relationships/image" Target="../media/image490.png"/><Relationship Id="rId7" Type="http://schemas.openxmlformats.org/officeDocument/2006/relationships/image" Target="../media/image521.png"/><Relationship Id="rId12" Type="http://schemas.openxmlformats.org/officeDocument/2006/relationships/image" Target="../media/image570.png"/><Relationship Id="rId2" Type="http://schemas.openxmlformats.org/officeDocument/2006/relationships/image" Target="../media/image480.png"/><Relationship Id="rId1" Type="http://schemas.openxmlformats.org/officeDocument/2006/relationships/slideLayout" Target="../slideLayouts/slideLayout9.xml"/><Relationship Id="rId6" Type="http://schemas.openxmlformats.org/officeDocument/2006/relationships/image" Target="../media/image510.png"/><Relationship Id="rId11" Type="http://schemas.openxmlformats.org/officeDocument/2006/relationships/image" Target="../media/image561.png"/><Relationship Id="rId5" Type="http://schemas.openxmlformats.org/officeDocument/2006/relationships/image" Target="../media/image460.png"/><Relationship Id="rId10" Type="http://schemas.openxmlformats.org/officeDocument/2006/relationships/image" Target="../media/image551.png"/><Relationship Id="rId4" Type="http://schemas.openxmlformats.org/officeDocument/2006/relationships/image" Target="../media/image501.png"/><Relationship Id="rId9" Type="http://schemas.openxmlformats.org/officeDocument/2006/relationships/image" Target="../media/image540.png"/><Relationship Id="rId14" Type="http://schemas.openxmlformats.org/officeDocument/2006/relationships/image" Target="../media/image590.png"/></Relationships>
</file>

<file path=ppt/slides/_rels/slide3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0.png"/><Relationship Id="rId1" Type="http://schemas.openxmlformats.org/officeDocument/2006/relationships/slideLayout" Target="../slideLayouts/slideLayout9.xml"/><Relationship Id="rId6" Type="http://schemas.openxmlformats.org/officeDocument/2006/relationships/image" Target="../media/image640.png"/><Relationship Id="rId5" Type="http://schemas.openxmlformats.org/officeDocument/2006/relationships/image" Target="../media/image72.png"/><Relationship Id="rId4" Type="http://schemas.openxmlformats.org/officeDocument/2006/relationships/image" Target="../media/image620.png"/></Relationships>
</file>

<file path=ppt/slides/_rels/slide35.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651.png"/><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74.tmp"/><Relationship Id="rId11" Type="http://schemas.openxmlformats.org/officeDocument/2006/relationships/image" Target="../media/image79.png"/><Relationship Id="rId5" Type="http://schemas.openxmlformats.org/officeDocument/2006/relationships/image" Target="../media/image73.tmp"/><Relationship Id="rId10" Type="http://schemas.openxmlformats.org/officeDocument/2006/relationships/image" Target="../media/image78.png"/><Relationship Id="rId4" Type="http://schemas.openxmlformats.org/officeDocument/2006/relationships/image" Target="../media/image661.png"/><Relationship Id="rId9"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image" Target="../media/image3600.png"/><Relationship Id="rId2" Type="http://schemas.openxmlformats.org/officeDocument/2006/relationships/image" Target="../media/image3500.png"/><Relationship Id="rId1" Type="http://schemas.openxmlformats.org/officeDocument/2006/relationships/slideLayout" Target="../slideLayouts/slideLayout9.xml"/><Relationship Id="rId5" Type="http://schemas.openxmlformats.org/officeDocument/2006/relationships/image" Target="../media/image380.png"/><Relationship Id="rId4" Type="http://schemas.openxmlformats.org/officeDocument/2006/relationships/image" Target="../media/image370.png"/></Relationships>
</file>

<file path=ppt/slides/_rels/slide37.xml.rels><?xml version="1.0" encoding="UTF-8" standalone="yes"?>
<Relationships xmlns="http://schemas.openxmlformats.org/package/2006/relationships"><Relationship Id="rId8" Type="http://schemas.openxmlformats.org/officeDocument/2006/relationships/image" Target="../media/image790.png"/><Relationship Id="rId3" Type="http://schemas.openxmlformats.org/officeDocument/2006/relationships/image" Target="../media/image760.png"/><Relationship Id="rId7" Type="http://schemas.openxmlformats.org/officeDocument/2006/relationships/image" Target="../media/image440.png"/><Relationship Id="rId2" Type="http://schemas.openxmlformats.org/officeDocument/2006/relationships/image" Target="../media/image750.png"/><Relationship Id="rId1" Type="http://schemas.openxmlformats.org/officeDocument/2006/relationships/slideLayout" Target="../slideLayouts/slideLayout9.xml"/><Relationship Id="rId5" Type="http://schemas.openxmlformats.org/officeDocument/2006/relationships/image" Target="../media/image780.png"/><Relationship Id="rId4" Type="http://schemas.openxmlformats.org/officeDocument/2006/relationships/image" Target="../media/image770.png"/><Relationship Id="rId9" Type="http://schemas.openxmlformats.org/officeDocument/2006/relationships/image" Target="../media/image81.png"/></Relationships>
</file>

<file path=ppt/slides/_rels/slide38.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600.png"/><Relationship Id="rId3" Type="http://schemas.openxmlformats.org/officeDocument/2006/relationships/image" Target="../media/image500.png"/><Relationship Id="rId7" Type="http://schemas.openxmlformats.org/officeDocument/2006/relationships/image" Target="../media/image82.png"/><Relationship Id="rId12" Type="http://schemas.openxmlformats.org/officeDocument/2006/relationships/image" Target="../media/image84.png"/><Relationship Id="rId1" Type="http://schemas.openxmlformats.org/officeDocument/2006/relationships/slideLayout" Target="../slideLayouts/slideLayout9.xml"/><Relationship Id="rId6" Type="http://schemas.openxmlformats.org/officeDocument/2006/relationships/image" Target="../media/image520.png"/><Relationship Id="rId11" Type="http://schemas.openxmlformats.org/officeDocument/2006/relationships/image" Target="../media/image580.png"/><Relationship Id="rId15" Type="http://schemas.openxmlformats.org/officeDocument/2006/relationships/image" Target="../media/image86.png"/><Relationship Id="rId10" Type="http://schemas.openxmlformats.org/officeDocument/2006/relationships/image" Target="../media/image560.png"/><Relationship Id="rId4" Type="http://schemas.openxmlformats.org/officeDocument/2006/relationships/image" Target="../media/image810.png"/><Relationship Id="rId9" Type="http://schemas.openxmlformats.org/officeDocument/2006/relationships/image" Target="../media/image550.png"/><Relationship Id="rId14" Type="http://schemas.openxmlformats.org/officeDocument/2006/relationships/image" Target="../media/image85.png"/></Relationships>
</file>

<file path=ppt/slides/_rels/slide39.xml.rels><?xml version="1.0" encoding="UTF-8" standalone="yes"?>
<Relationships xmlns="http://schemas.openxmlformats.org/package/2006/relationships"><Relationship Id="rId8" Type="http://schemas.openxmlformats.org/officeDocument/2006/relationships/image" Target="../media/image690.png"/><Relationship Id="rId3" Type="http://schemas.openxmlformats.org/officeDocument/2006/relationships/image" Target="../media/image650.png"/><Relationship Id="rId7" Type="http://schemas.openxmlformats.org/officeDocument/2006/relationships/image" Target="../media/image680.png"/><Relationship Id="rId2" Type="http://schemas.openxmlformats.org/officeDocument/2006/relationships/image" Target="../media/image87.png"/><Relationship Id="rId1" Type="http://schemas.openxmlformats.org/officeDocument/2006/relationships/slideLayout" Target="../slideLayouts/slideLayout9.xml"/><Relationship Id="rId6" Type="http://schemas.openxmlformats.org/officeDocument/2006/relationships/image" Target="../media/image670.png"/><Relationship Id="rId5" Type="http://schemas.openxmlformats.org/officeDocument/2006/relationships/image" Target="../media/image660.png"/><Relationship Id="rId10" Type="http://schemas.openxmlformats.org/officeDocument/2006/relationships/image" Target="../media/image86.png"/><Relationship Id="rId4" Type="http://schemas.openxmlformats.org/officeDocument/2006/relationships/image" Target="../media/image81.png"/><Relationship Id="rId9" Type="http://schemas.openxmlformats.org/officeDocument/2006/relationships/image" Target="../media/image83.png"/></Relationships>
</file>

<file path=ppt/slides/_rels/slide40.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90.pn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png"/></Relationships>
</file>

<file path=ppt/slides/_rels/slide41.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101.png"/><Relationship Id="rId2" Type="http://schemas.openxmlformats.org/officeDocument/2006/relationships/image" Target="../media/image910.png"/><Relationship Id="rId1" Type="http://schemas.openxmlformats.org/officeDocument/2006/relationships/slideLayout" Target="../slideLayouts/slideLayout9.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7.png"/><Relationship Id="rId9" Type="http://schemas.openxmlformats.org/officeDocument/2006/relationships/image" Target="../media/image103.png"/></Relationships>
</file>

<file path=ppt/slides/_rels/slide42.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0.png"/><Relationship Id="rId1" Type="http://schemas.openxmlformats.org/officeDocument/2006/relationships/slideLayout" Target="../slideLayouts/slideLayout9.xml"/><Relationship Id="rId6" Type="http://schemas.openxmlformats.org/officeDocument/2006/relationships/image" Target="../media/image97.png"/><Relationship Id="rId5" Type="http://schemas.openxmlformats.org/officeDocument/2006/relationships/image" Target="../media/image98.png"/><Relationship Id="rId4" Type="http://schemas.openxmlformats.org/officeDocument/2006/relationships/image" Target="../media/image109.png"/></Relationships>
</file>

<file path=ppt/slides/_rels/slide4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47.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17.png"/><Relationship Id="rId7" Type="http://schemas.openxmlformats.org/officeDocument/2006/relationships/image" Target="../media/image1190.png"/><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 Id="rId9" Type="http://schemas.openxmlformats.org/officeDocument/2006/relationships/image" Target="../media/image122.png"/></Relationships>
</file>

<file path=ppt/slides/_rels/slide4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9.xml"/><Relationship Id="rId5" Type="http://schemas.openxmlformats.org/officeDocument/2006/relationships/image" Target="../media/image126.png"/><Relationship Id="rId4" Type="http://schemas.openxmlformats.org/officeDocument/2006/relationships/image" Target="../media/image125.png"/></Relationships>
</file>

<file path=ppt/slides/_rels/slide49.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12" Type="http://schemas.openxmlformats.org/officeDocument/2006/relationships/image" Target="../media/image136.png"/><Relationship Id="rId2" Type="http://schemas.openxmlformats.org/officeDocument/2006/relationships/notesSlide" Target="../notesSlides/notesSlide35.xml"/><Relationship Id="rId1" Type="http://schemas.openxmlformats.org/officeDocument/2006/relationships/slideLayout" Target="../slideLayouts/slideLayout9.xml"/><Relationship Id="rId6" Type="http://schemas.openxmlformats.org/officeDocument/2006/relationships/image" Target="../media/image130.png"/><Relationship Id="rId11" Type="http://schemas.openxmlformats.org/officeDocument/2006/relationships/image" Target="../media/image135.png"/><Relationship Id="rId5" Type="http://schemas.openxmlformats.org/officeDocument/2006/relationships/image" Target="../media/image129.png"/><Relationship Id="rId10" Type="http://schemas.openxmlformats.org/officeDocument/2006/relationships/image" Target="../media/image134.png"/><Relationship Id="rId4" Type="http://schemas.openxmlformats.org/officeDocument/2006/relationships/image" Target="../media/image128.png"/><Relationship Id="rId9" Type="http://schemas.openxmlformats.org/officeDocument/2006/relationships/image" Target="../media/image13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911.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7.png"/><Relationship Id="rId7" Type="http://schemas.openxmlformats.org/officeDocument/2006/relationships/image" Target="../media/image142.png"/><Relationship Id="rId2" Type="http://schemas.openxmlformats.org/officeDocument/2006/relationships/notesSlide" Target="../notesSlides/notesSlide39.xml"/><Relationship Id="rId1" Type="http://schemas.openxmlformats.org/officeDocument/2006/relationships/slideLayout" Target="../slideLayouts/slideLayout9.xml"/><Relationship Id="rId6" Type="http://schemas.openxmlformats.org/officeDocument/2006/relationships/image" Target="../media/image141.png"/><Relationship Id="rId5" Type="http://schemas.openxmlformats.org/officeDocument/2006/relationships/image" Target="../media/image139.png"/><Relationship Id="rId4" Type="http://schemas.openxmlformats.org/officeDocument/2006/relationships/image" Target="../media/image138.png"/></Relationships>
</file>

<file path=ppt/slides/_rels/slide54.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980.png"/><Relationship Id="rId7" Type="http://schemas.openxmlformats.org/officeDocument/2006/relationships/image" Target="../media/image1020.png"/><Relationship Id="rId2" Type="http://schemas.openxmlformats.org/officeDocument/2006/relationships/notesSlide" Target="../notesSlides/notesSlide40.xml"/><Relationship Id="rId1" Type="http://schemas.openxmlformats.org/officeDocument/2006/relationships/slideLayout" Target="../slideLayouts/slideLayout9.xml"/><Relationship Id="rId6" Type="http://schemas.openxmlformats.org/officeDocument/2006/relationships/image" Target="../media/image1010.png"/><Relationship Id="rId5" Type="http://schemas.openxmlformats.org/officeDocument/2006/relationships/image" Target="../media/image1001.png"/><Relationship Id="rId4" Type="http://schemas.openxmlformats.org/officeDocument/2006/relationships/image" Target="../media/image990.png"/></Relationships>
</file>

<file path=ppt/slides/_rels/slide55.xml.rels><?xml version="1.0" encoding="UTF-8" standalone="yes"?>
<Relationships xmlns="http://schemas.openxmlformats.org/package/2006/relationships"><Relationship Id="rId8" Type="http://schemas.openxmlformats.org/officeDocument/2006/relationships/image" Target="../media/image1080.png"/><Relationship Id="rId3" Type="http://schemas.openxmlformats.org/officeDocument/2006/relationships/image" Target="../media/image1030.png"/><Relationship Id="rId7" Type="http://schemas.openxmlformats.org/officeDocument/2006/relationships/image" Target="../media/image1071.png"/><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image" Target="../media/image1060.png"/><Relationship Id="rId11" Type="http://schemas.openxmlformats.org/officeDocument/2006/relationships/image" Target="../media/image145.png"/><Relationship Id="rId5" Type="http://schemas.openxmlformats.org/officeDocument/2006/relationships/image" Target="../media/image1051.png"/><Relationship Id="rId10" Type="http://schemas.openxmlformats.org/officeDocument/2006/relationships/image" Target="../media/image1100.png"/><Relationship Id="rId4" Type="http://schemas.openxmlformats.org/officeDocument/2006/relationships/image" Target="../media/image1040.png"/><Relationship Id="rId9" Type="http://schemas.openxmlformats.org/officeDocument/2006/relationships/image" Target="../media/image1090.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151.png"/><Relationship Id="rId2" Type="http://schemas.openxmlformats.org/officeDocument/2006/relationships/notesSlide" Target="../notesSlides/notesSlide42.xml"/><Relationship Id="rId1" Type="http://schemas.openxmlformats.org/officeDocument/2006/relationships/slideLayout" Target="../slideLayouts/slideLayout9.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notesSlide" Target="../notesSlides/notesSlide43.xml"/><Relationship Id="rId1" Type="http://schemas.openxmlformats.org/officeDocument/2006/relationships/slideLayout" Target="../slideLayouts/slideLayout9.xml"/><Relationship Id="rId4" Type="http://schemas.openxmlformats.org/officeDocument/2006/relationships/image" Target="../media/image1160.png"/></Relationships>
</file>

<file path=ppt/slides/_rels/slide5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7.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42"/>
          <p:cNvSpPr txBox="1"/>
          <p:nvPr/>
        </p:nvSpPr>
        <p:spPr>
          <a:xfrm>
            <a:off x="1776520" y="2840735"/>
            <a:ext cx="8741616" cy="1354218"/>
          </a:xfrm>
          <a:prstGeom prst="rect">
            <a:avLst/>
          </a:prstGeom>
          <a:noFill/>
        </p:spPr>
        <p:txBody>
          <a:bodyPr wrap="square" lIns="121889" tIns="60944" rIns="121889" bIns="60944" rtlCol="0">
            <a:spAutoFit/>
          </a:bodyPr>
          <a:lstStyle/>
          <a:p>
            <a:pPr algn="ctr"/>
            <a:r>
              <a:rPr lang="zh-CN" altLang="en-US" sz="7998" b="1" dirty="0">
                <a:solidFill>
                  <a:srgbClr val="44546A"/>
                </a:solidFill>
                <a:latin typeface="微软雅黑" panose="020B0503020204020204" pitchFamily="34" charset="-122"/>
                <a:ea typeface="微软雅黑" panose="020B0503020204020204" pitchFamily="34" charset="-122"/>
              </a:rPr>
              <a:t>机器学习</a:t>
            </a:r>
            <a:endParaRPr lang="zh-CN" altLang="zh-CN" sz="7998" b="1" dirty="0">
              <a:solidFill>
                <a:srgbClr val="44546A"/>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2425647" y="4372218"/>
            <a:ext cx="7340708" cy="400012"/>
          </a:xfrm>
          <a:prstGeom prst="rect">
            <a:avLst/>
          </a:prstGeom>
          <a:solidFill>
            <a:srgbClr val="0072C7"/>
          </a:solidFill>
        </p:spPr>
        <p:txBody>
          <a:bodyPr wrap="square" lIns="121889" tIns="60944" rIns="121889" bIns="60944" rtlCol="0">
            <a:spAutoFit/>
          </a:bodyPr>
          <a:lstStyle/>
          <a:p>
            <a:pPr algn="ctr"/>
            <a:r>
              <a:rPr lang="en-US" altLang="zh-CN" b="1" dirty="0">
                <a:solidFill>
                  <a:prstClr val="white"/>
                </a:solidFill>
                <a:latin typeface="微软雅黑" panose="020B0503020204020204" pitchFamily="34" charset="-122"/>
                <a:ea typeface="微软雅黑" panose="020B0503020204020204" pitchFamily="34" charset="-122"/>
              </a:rPr>
              <a:t>Machine Learning</a:t>
            </a:r>
            <a:endParaRPr lang="zh-CN" altLang="zh-CN" dirty="0">
              <a:solidFill>
                <a:prstClr val="white"/>
              </a:solidFill>
              <a:latin typeface="微软雅黑" panose="020B0503020204020204" pitchFamily="34" charset="-122"/>
              <a:ea typeface="微软雅黑" panose="020B0503020204020204" pitchFamily="34" charset="-122"/>
            </a:endParaRPr>
          </a:p>
        </p:txBody>
      </p:sp>
      <p:cxnSp>
        <p:nvCxnSpPr>
          <p:cNvPr id="20" name="直接连接符 19"/>
          <p:cNvCxnSpPr/>
          <p:nvPr/>
        </p:nvCxnSpPr>
        <p:spPr>
          <a:xfrm>
            <a:off x="2331828" y="4194952"/>
            <a:ext cx="7528346" cy="0"/>
          </a:xfrm>
          <a:prstGeom prst="line">
            <a:avLst/>
          </a:prstGeom>
          <a:noFill/>
          <a:ln w="9525" cap="flat" cmpd="sng" algn="ctr">
            <a:solidFill>
              <a:srgbClr val="F8F8F8">
                <a:lumMod val="75000"/>
              </a:srgbClr>
            </a:solidFill>
            <a:prstDash val="lgDash"/>
          </a:ln>
          <a:effectLst/>
        </p:spPr>
      </p:cxnSp>
      <p:cxnSp>
        <p:nvCxnSpPr>
          <p:cNvPr id="21" name="直接连接符 20"/>
          <p:cNvCxnSpPr/>
          <p:nvPr/>
        </p:nvCxnSpPr>
        <p:spPr>
          <a:xfrm>
            <a:off x="2331828" y="2683134"/>
            <a:ext cx="7528346" cy="0"/>
          </a:xfrm>
          <a:prstGeom prst="line">
            <a:avLst/>
          </a:prstGeom>
          <a:noFill/>
          <a:ln w="9525" cap="flat" cmpd="sng" algn="ctr">
            <a:solidFill>
              <a:srgbClr val="F8F8F8">
                <a:lumMod val="75000"/>
              </a:srgbClr>
            </a:solidFill>
            <a:prstDash val="lgDash"/>
          </a:ln>
          <a:effectLst/>
        </p:spPr>
      </p:cxnSp>
      <p:pic>
        <p:nvPicPr>
          <p:cNvPr id="6" name="久石让 - Summer.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56163" y="-1659566"/>
            <a:ext cx="812506" cy="812800"/>
          </a:xfrm>
          <a:prstGeom prst="rect">
            <a:avLst/>
          </a:prstGeom>
        </p:spPr>
      </p:pic>
      <p:pic>
        <p:nvPicPr>
          <p:cNvPr id="2" name="图片 1"/>
          <p:cNvPicPr>
            <a:picLocks noChangeAspect="1"/>
          </p:cNvPicPr>
          <p:nvPr/>
        </p:nvPicPr>
        <p:blipFill>
          <a:blip r:embed="rId6"/>
          <a:stretch>
            <a:fillRect/>
          </a:stretch>
        </p:blipFill>
        <p:spPr>
          <a:xfrm flipV="1">
            <a:off x="4332049" y="413598"/>
            <a:ext cx="3527904" cy="2179224"/>
          </a:xfrm>
          <a:prstGeom prst="rect">
            <a:avLst/>
          </a:prstGeom>
        </p:spPr>
      </p:pic>
      <p:sp>
        <p:nvSpPr>
          <p:cNvPr id="5" name="灯片编号占位符 4"/>
          <p:cNvSpPr>
            <a:spLocks noGrp="1"/>
          </p:cNvSpPr>
          <p:nvPr>
            <p:ph type="sldNum" sz="quarter" idx="11"/>
          </p:nvPr>
        </p:nvSpPr>
        <p:spPr/>
        <p:txBody>
          <a:bodyPr/>
          <a:lstStyle/>
          <a:p>
            <a:fld id="{AF69888C-E133-43D9-A638-B5C95925B91C}" type="slidenum">
              <a:rPr lang="zh-CN" altLang="en-US" smtClean="0"/>
              <a:t>1</a:t>
            </a:fld>
            <a:endParaRPr lang="zh-CN" altLang="en-US" dirty="0"/>
          </a:p>
        </p:txBody>
      </p:sp>
      <p:sp>
        <p:nvSpPr>
          <p:cNvPr id="3" name="TextBox 18">
            <a:extLst>
              <a:ext uri="{FF2B5EF4-FFF2-40B4-BE49-F238E27FC236}">
                <a16:creationId xmlns:a16="http://schemas.microsoft.com/office/drawing/2014/main" id="{692AD209-2F0D-DE2E-9CA0-11C6A2A1B707}"/>
              </a:ext>
            </a:extLst>
          </p:cNvPr>
          <p:cNvSpPr txBox="1"/>
          <p:nvPr/>
        </p:nvSpPr>
        <p:spPr>
          <a:xfrm>
            <a:off x="4204378" y="5048411"/>
            <a:ext cx="5945338" cy="1600406"/>
          </a:xfrm>
          <a:prstGeom prst="rect">
            <a:avLst/>
          </a:prstGeom>
          <a:noFill/>
        </p:spPr>
        <p:txBody>
          <a:bodyPr wrap="square" lIns="121889" tIns="60944" rIns="121889" bIns="60944" rtlCol="0">
            <a:spAutoFit/>
          </a:bodyPr>
          <a:lstStyle/>
          <a:p>
            <a:r>
              <a:rPr lang="zh-CN" altLang="en-US" sz="2400" b="1" dirty="0">
                <a:latin typeface="Microsoft YaHei" panose="020B0503020204020204" pitchFamily="34" charset="-122"/>
                <a:ea typeface="Microsoft YaHei" panose="020B0503020204020204" pitchFamily="34" charset="-122"/>
              </a:rPr>
              <a:t>授课老师：刘雪明</a:t>
            </a:r>
            <a:endParaRPr lang="en-US" altLang="zh-CN" sz="2400" b="1" dirty="0">
              <a:latin typeface="Microsoft YaHei" panose="020B0503020204020204" pitchFamily="34" charset="-122"/>
              <a:ea typeface="Microsoft YaHei" panose="020B0503020204020204" pitchFamily="34" charset="-122"/>
            </a:endParaRPr>
          </a:p>
          <a:p>
            <a:r>
              <a:rPr lang="zh-CN" altLang="en-US" sz="2400" b="1" dirty="0">
                <a:latin typeface="Microsoft YaHei" panose="020B0503020204020204" pitchFamily="34" charset="-122"/>
                <a:ea typeface="Microsoft YaHei" panose="020B0503020204020204" pitchFamily="34" charset="-122"/>
              </a:rPr>
              <a:t>电       话：</a:t>
            </a:r>
            <a:r>
              <a:rPr lang="en-US" altLang="zh-CN" sz="2400" b="1" dirty="0">
                <a:latin typeface="Microsoft YaHei" panose="020B0503020204020204" pitchFamily="34" charset="-122"/>
                <a:ea typeface="Microsoft YaHei" panose="020B0503020204020204" pitchFamily="34" charset="-122"/>
              </a:rPr>
              <a:t>18040598577</a:t>
            </a:r>
          </a:p>
          <a:p>
            <a:r>
              <a:rPr lang="zh-CN" altLang="en-US" sz="2400" b="1" dirty="0">
                <a:latin typeface="Microsoft YaHei" panose="020B0503020204020204" pitchFamily="34" charset="-122"/>
                <a:ea typeface="Microsoft YaHei" panose="020B0503020204020204" pitchFamily="34" charset="-122"/>
              </a:rPr>
              <a:t>办  公  室：</a:t>
            </a:r>
            <a:r>
              <a:rPr lang="zh-CN" altLang="en-CN" sz="2400" b="1" dirty="0">
                <a:latin typeface="Microsoft YaHei" panose="020B0503020204020204" pitchFamily="34" charset="-122"/>
                <a:ea typeface="Microsoft YaHei" panose="020B0503020204020204" pitchFamily="34" charset="-122"/>
              </a:rPr>
              <a:t>南一楼</a:t>
            </a:r>
            <a:r>
              <a:rPr lang="zh-CN" altLang="en-US" sz="2400" b="1" dirty="0">
                <a:latin typeface="Microsoft YaHei" panose="020B0503020204020204" pitchFamily="34" charset="-122"/>
                <a:ea typeface="Microsoft YaHei" panose="020B0503020204020204" pitchFamily="34" charset="-122"/>
              </a:rPr>
              <a:t>西</a:t>
            </a:r>
            <a:r>
              <a:rPr lang="en-US" altLang="zh-CN" sz="2400" b="1" dirty="0">
                <a:latin typeface="Microsoft YaHei" panose="020B0503020204020204" pitchFamily="34" charset="-122"/>
                <a:ea typeface="Microsoft YaHei" panose="020B0503020204020204" pitchFamily="34" charset="-122"/>
              </a:rPr>
              <a:t>303</a:t>
            </a:r>
            <a:r>
              <a:rPr lang="zh-CN" altLang="en-US" sz="2400" b="1" dirty="0">
                <a:latin typeface="Microsoft YaHei" panose="020B0503020204020204" pitchFamily="34" charset="-122"/>
                <a:ea typeface="Microsoft YaHei" panose="020B0503020204020204" pitchFamily="34" charset="-122"/>
              </a:rPr>
              <a:t>室</a:t>
            </a:r>
            <a:endParaRPr lang="en-US" altLang="zh-CN" sz="2400" b="1" dirty="0">
              <a:latin typeface="Microsoft YaHei" panose="020B0503020204020204" pitchFamily="34" charset="-122"/>
              <a:ea typeface="Microsoft YaHei" panose="020B0503020204020204" pitchFamily="34" charset="-122"/>
            </a:endParaRPr>
          </a:p>
          <a:p>
            <a:r>
              <a:rPr lang="zh-CN" altLang="en-US" sz="2400" b="1" dirty="0">
                <a:latin typeface="Microsoft YaHei" panose="020B0503020204020204" pitchFamily="34" charset="-122"/>
                <a:ea typeface="Microsoft YaHei" panose="020B0503020204020204" pitchFamily="34" charset="-122"/>
              </a:rPr>
              <a:t>邮       箱：</a:t>
            </a:r>
            <a:r>
              <a:rPr lang="en-US" altLang="zh-CN" sz="2400" b="1" i="1" dirty="0" err="1">
                <a:solidFill>
                  <a:srgbClr val="0000FF"/>
                </a:solidFill>
                <a:latin typeface="Microsoft YaHei" panose="020B0503020204020204" pitchFamily="34" charset="-122"/>
                <a:ea typeface="Microsoft YaHei" panose="020B0503020204020204" pitchFamily="34" charset="-122"/>
              </a:rPr>
              <a:t>xm_liu@hust.edu.cn</a:t>
            </a:r>
            <a:endParaRPr lang="en-US" sz="2400" b="1" i="1" dirty="0">
              <a:solidFill>
                <a:srgbClr val="0000FF"/>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2641561"/>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xmlns:p15="http://schemas.microsoft.com/office/powerpoint/2012/main">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mediacall" presetSubtype="0" fill="hold" nodeType="withEffect">
                                  <p:childTnLst>
                                    <p:cmd type="call" cmd="playFrom(0.0)">
                                      <p:cBhvr>
                                        <p:cTn id="6" dur="1" fill="hold"/>
                                        <p:tgtEl>
                                          <p:spTgt spid="6"/>
                                        </p:tgtEl>
                                      </p:cBhvr>
                                    </p:cmd>
                                  </p:childTnLst>
                                </p:cTn>
                              </p:par>
                            </p:childTnLst>
                          </p:cTn>
                        </p:par>
                        <p:par>
                          <p:cTn id="7" fill="hold" nodeType="withGroup">
                            <p:stCondLst>
                              <p:cond delay="1"/>
                            </p:stCondLst>
                            <p:childTnLst>
                              <p:par>
                                <p:cTn id="8" presetID="41" presetClass="entr" presetSubtype="0" fill="hold" grpId="0" nodeType="afterEffect">
                                  <p:iterate type="lt">
                                    <p:tmPct val="10000"/>
                                  </p:iterate>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16"/>
                                        </p:tgtEl>
                                        <p:attrNameLst>
                                          <p:attrName>ppt_y</p:attrName>
                                        </p:attrNameLst>
                                      </p:cBhvr>
                                      <p:tavLst>
                                        <p:tav tm="0">
                                          <p:val>
                                            <p:strVal val="#ppt_y"/>
                                          </p:val>
                                        </p:tav>
                                        <p:tav tm="100000">
                                          <p:val>
                                            <p:strVal val="#ppt_y"/>
                                          </p:val>
                                        </p:tav>
                                      </p:tavLst>
                                    </p:anim>
                                    <p:anim calcmode="lin" valueType="num">
                                      <p:cBhvr>
                                        <p:cTn id="12"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16"/>
                                        </p:tgtEl>
                                      </p:cBhvr>
                                    </p:animEffect>
                                  </p:childTnLst>
                                </p:cTn>
                              </p:par>
                            </p:childTnLst>
                          </p:cTn>
                        </p:par>
                        <p:par>
                          <p:cTn id="15" fill="hold" nodeType="withGroup">
                            <p:stCondLst>
                              <p:cond delay="651"/>
                            </p:stCondLst>
                            <p:childTnLst>
                              <p:par>
                                <p:cTn id="16" presetID="42" presetClass="entr" presetSubtype="0" fill="hold" grpId="0" nodeType="afterEffec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par>
                          <p:cTn id="21" fill="hold" nodeType="withGroup">
                            <p:stCondLst>
                              <p:cond delay="1151"/>
                            </p:stCondLst>
                            <p:childTnLst>
                              <p:par>
                                <p:cTn id="22" presetID="22" presetClass="entr" presetSubtype="8" fill="hold" nodeType="afterEffec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par>
                                <p:cTn id="25" presetID="22" presetClass="entr" presetSubtype="2" fill="hold" nodeType="withEffec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par>
                          <p:cTn id="28" fill="hold">
                            <p:stCondLst>
                              <p:cond delay="1651"/>
                            </p:stCondLst>
                            <p:childTnLst>
                              <p:par>
                                <p:cTn id="29" presetID="56" presetClass="entr" presetSubtype="0" fill="hold" grpId="0" nodeType="afterEffect">
                                  <p:iterate type="lt">
                                    <p:tmPct val="10000"/>
                                  </p:iterate>
                                  <p:childTnLst>
                                    <p:set>
                                      <p:cBhvr>
                                        <p:cTn id="30" dur="1" fill="hold">
                                          <p:stCondLst>
                                            <p:cond delay="0"/>
                                          </p:stCondLst>
                                        </p:cTn>
                                        <p:tgtEl>
                                          <p:spTgt spid="3"/>
                                        </p:tgtEl>
                                        <p:attrNameLst>
                                          <p:attrName>style.visibility</p:attrName>
                                        </p:attrNameLst>
                                      </p:cBhvr>
                                      <p:to>
                                        <p:strVal val="visible"/>
                                      </p:to>
                                    </p:set>
                                    <p:anim by="(-#ppt_w*2)" calcmode="lin" valueType="num">
                                      <p:cBhvr rctx="PPT">
                                        <p:cTn id="31" dur="250" autoRev="1" fill="hold">
                                          <p:stCondLst>
                                            <p:cond delay="0"/>
                                          </p:stCondLst>
                                        </p:cTn>
                                        <p:tgtEl>
                                          <p:spTgt spid="3"/>
                                        </p:tgtEl>
                                        <p:attrNameLst>
                                          <p:attrName>ppt_w</p:attrName>
                                        </p:attrNameLst>
                                      </p:cBhvr>
                                    </p:anim>
                                    <p:anim by="(#ppt_w*0.50)" calcmode="lin" valueType="num">
                                      <p:cBhvr>
                                        <p:cTn id="32" dur="250" decel="50000" autoRev="1" fill="hold">
                                          <p:stCondLst>
                                            <p:cond delay="0"/>
                                          </p:stCondLst>
                                        </p:cTn>
                                        <p:tgtEl>
                                          <p:spTgt spid="3"/>
                                        </p:tgtEl>
                                        <p:attrNameLst>
                                          <p:attrName>ppt_x</p:attrName>
                                        </p:attrNameLst>
                                      </p:cBhvr>
                                    </p:anim>
                                    <p:anim from="(-#ppt_h/2)" to="(#ppt_y)" calcmode="lin" valueType="num">
                                      <p:cBhvr>
                                        <p:cTn id="33" dur="500" fill="hold">
                                          <p:stCondLst>
                                            <p:cond delay="0"/>
                                          </p:stCondLst>
                                        </p:cTn>
                                        <p:tgtEl>
                                          <p:spTgt spid="3"/>
                                        </p:tgtEl>
                                        <p:attrNameLst>
                                          <p:attrName>ppt_y</p:attrName>
                                        </p:attrNameLst>
                                      </p:cBhvr>
                                    </p:anim>
                                    <p:animRot by="21600000">
                                      <p:cBhvr>
                                        <p:cTn id="34" dur="500" fill="hold">
                                          <p:stCondLst>
                                            <p:cond delay="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5" repeatCount="indefinite"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16" grpId="0"/>
      <p:bldP spid="18" grpId="0" animBg="1"/>
      <p:bldP spid="3" grpId="0"/>
    </p:bldLst>
  </p:timing>
  <p:extLst>
    <p:ext uri="{E180D4A7-C9FB-4DFB-919C-405C955672EB}">
      <p14:showEvtLst xmlns:p14="http://schemas.microsoft.com/office/powerpoint/2010/main">
        <p14:playEvt time="0" objId="6"/>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4" y="0"/>
            <a:ext cx="12192001" cy="6858000"/>
          </a:xfrm>
          <a:prstGeom prst="rect">
            <a:avLst/>
          </a:prstGeom>
        </p:spPr>
      </p:pic>
      <p:sp>
        <p:nvSpPr>
          <p:cNvPr id="4" name="矩形 28"/>
          <p:cNvSpPr/>
          <p:nvPr/>
        </p:nvSpPr>
        <p:spPr bwMode="auto">
          <a:xfrm>
            <a:off x="2203" y="2611341"/>
            <a:ext cx="4836318" cy="1711958"/>
          </a:xfrm>
          <a:custGeom>
            <a:avLst/>
            <a:gdLst/>
            <a:ahLst/>
            <a:cxnLst/>
            <a:rect l="l" t="t" r="r" b="b"/>
            <a:pathLst>
              <a:path w="4310745" h="1283968">
                <a:moveTo>
                  <a:pt x="1089668" y="0"/>
                </a:moveTo>
                <a:lnTo>
                  <a:pt x="3526973" y="0"/>
                </a:lnTo>
                <a:lnTo>
                  <a:pt x="4310745" y="1269454"/>
                </a:lnTo>
                <a:lnTo>
                  <a:pt x="1089668" y="1283968"/>
                </a:lnTo>
                <a:close/>
                <a:moveTo>
                  <a:pt x="0" y="0"/>
                </a:moveTo>
                <a:lnTo>
                  <a:pt x="1089667" y="0"/>
                </a:lnTo>
                <a:lnTo>
                  <a:pt x="1089667" y="1283968"/>
                </a:lnTo>
                <a:lnTo>
                  <a:pt x="0" y="1283968"/>
                </a:lnTo>
                <a:close/>
              </a:path>
            </a:pathLst>
          </a:custGeom>
          <a:solidFill>
            <a:schemeClr val="accent1"/>
          </a:solidFill>
          <a:ln w="9525" cap="flat" cmpd="sng" algn="ctr">
            <a:noFill/>
            <a:prstDash val="solid"/>
            <a:round/>
            <a:headEnd type="none" w="med" len="med"/>
            <a:tailEnd type="none" w="med" len="med"/>
          </a:ln>
          <a:effectLst/>
        </p:spPr>
        <p:txBody>
          <a:bodyPr vert="horz" wrap="square" lIns="121889" tIns="60944" rIns="121889" bIns="60944" numCol="1" rtlCol="0" anchor="t" anchorCtr="0" compatLnSpc="1">
            <a:prstTxWarp prst="textNoShape">
              <a:avLst/>
            </a:prstTxWarp>
          </a:bodyPr>
          <a:lstStyle/>
          <a:p>
            <a:pPr fontAlgn="base">
              <a:spcBef>
                <a:spcPct val="0"/>
              </a:spcBef>
              <a:spcAft>
                <a:spcPct val="0"/>
              </a:spcAft>
            </a:pPr>
            <a:endParaRPr lang="zh-CN" altLang="en-US">
              <a:latin typeface="Arial" panose="020B0604020202020204" pitchFamily="34" charset="0"/>
              <a:ea typeface="宋体" pitchFamily="2" charset="-122"/>
            </a:endParaRPr>
          </a:p>
        </p:txBody>
      </p:sp>
      <p:sp>
        <p:nvSpPr>
          <p:cNvPr id="5" name="TextBox 4"/>
          <p:cNvSpPr txBox="1"/>
          <p:nvPr/>
        </p:nvSpPr>
        <p:spPr bwMode="auto">
          <a:xfrm>
            <a:off x="1531702" y="2801518"/>
            <a:ext cx="1562256" cy="943849"/>
          </a:xfrm>
          <a:prstGeom prst="rect">
            <a:avLst/>
          </a:prstGeom>
          <a:noFill/>
        </p:spPr>
        <p:txBody>
          <a:bodyPr wrap="none" lIns="121889" tIns="60944" rIns="121889" bIns="60944">
            <a:spAutoFit/>
          </a:bodyPr>
          <a:lstStyle/>
          <a:p>
            <a:pPr>
              <a:defRPr/>
            </a:pPr>
            <a:r>
              <a:rPr lang="zh-CN" altLang="en-US" sz="5299" kern="0" spc="-200">
                <a:ln w="1905">
                  <a:noFill/>
                </a:ln>
                <a:solidFill>
                  <a:schemeClr val="bg1"/>
                </a:solidFill>
                <a:latin typeface="方正大黑简体" pitchFamily="65" charset="-122"/>
                <a:ea typeface="方正大黑简体" pitchFamily="65" charset="-122"/>
              </a:rPr>
              <a:t>目录</a:t>
            </a:r>
          </a:p>
        </p:txBody>
      </p:sp>
      <p:sp>
        <p:nvSpPr>
          <p:cNvPr id="6" name="TextBox 5"/>
          <p:cNvSpPr txBox="1"/>
          <p:nvPr/>
        </p:nvSpPr>
        <p:spPr bwMode="auto">
          <a:xfrm>
            <a:off x="1282941" y="3567616"/>
            <a:ext cx="2183997" cy="538480"/>
          </a:xfrm>
          <a:prstGeom prst="rect">
            <a:avLst/>
          </a:prstGeom>
          <a:noFill/>
        </p:spPr>
        <p:txBody>
          <a:bodyPr wrap="none" lIns="121889" tIns="60944" rIns="121889" bIns="60944">
            <a:spAutoFit/>
          </a:bodyPr>
          <a:lstStyle/>
          <a:p>
            <a:pPr algn="ctr"/>
            <a:r>
              <a:rPr lang="en-US" altLang="zh-CN" sz="2699" b="1">
                <a:solidFill>
                  <a:schemeClr val="bg1"/>
                </a:solidFill>
                <a:latin typeface="微软雅黑" panose="020B0503020204020204" pitchFamily="34" charset="-122"/>
                <a:ea typeface="微软雅黑" panose="020B0503020204020204" pitchFamily="34" charset="-122"/>
              </a:rPr>
              <a:t>CONTENTS</a:t>
            </a:r>
            <a:endParaRPr lang="zh-CN" altLang="en-US" sz="2699" b="1">
              <a:solidFill>
                <a:schemeClr val="bg1"/>
              </a:solidFill>
              <a:latin typeface="微软雅黑" panose="020B0503020204020204" pitchFamily="34" charset="-122"/>
              <a:ea typeface="微软雅黑" panose="020B0503020204020204" pitchFamily="34" charset="-122"/>
            </a:endParaRPr>
          </a:p>
        </p:txBody>
      </p:sp>
      <p:sp>
        <p:nvSpPr>
          <p:cNvPr id="8" name="TextBox 7"/>
          <p:cNvSpPr txBox="1"/>
          <p:nvPr/>
        </p:nvSpPr>
        <p:spPr bwMode="auto">
          <a:xfrm>
            <a:off x="4555834" y="1412676"/>
            <a:ext cx="2669899" cy="538448"/>
          </a:xfrm>
          <a:prstGeom prst="rect">
            <a:avLst/>
          </a:prstGeom>
          <a:noFill/>
        </p:spPr>
        <p:txBody>
          <a:bodyPr wrap="none" lIns="121889" tIns="60944" rIns="121889" bIns="60944">
            <a:spAutoFit/>
          </a:bodyPr>
          <a:lstStyle/>
          <a:p>
            <a:pPr>
              <a:defRPr/>
            </a:pP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集成学习是什么</a:t>
            </a:r>
          </a:p>
        </p:txBody>
      </p:sp>
      <p:sp>
        <p:nvSpPr>
          <p:cNvPr id="10" name="TextBox 9"/>
          <p:cNvSpPr txBox="1"/>
          <p:nvPr/>
        </p:nvSpPr>
        <p:spPr bwMode="auto">
          <a:xfrm>
            <a:off x="5936688" y="3717443"/>
            <a:ext cx="6058647" cy="538448"/>
          </a:xfrm>
          <a:prstGeom prst="rect">
            <a:avLst/>
          </a:prstGeom>
          <a:noFill/>
        </p:spPr>
        <p:txBody>
          <a:bodyPr wrap="none" lIns="121889" tIns="60944" rIns="121889" bIns="60944">
            <a:spAutoFit/>
          </a:bodyPr>
          <a:lstStyle/>
          <a:p>
            <a:pPr lvl="0">
              <a:defRPr/>
            </a:pPr>
            <a:r>
              <a:rPr lang="en-US" altLang="zh-CN" sz="2699" b="1" kern="0" dirty="0">
                <a:solidFill>
                  <a:schemeClr val="tx1">
                    <a:lumMod val="75000"/>
                    <a:lumOff val="25000"/>
                  </a:schemeClr>
                </a:solidFill>
                <a:latin typeface="微软雅黑" panose="020B0503020204020204" pitchFamily="34" charset="-122"/>
                <a:ea typeface="微软雅黑" panose="020B0503020204020204" pitchFamily="34" charset="-122"/>
              </a:rPr>
              <a:t>Bagging</a:t>
            </a: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2699" b="1" kern="0" dirty="0">
                <a:solidFill>
                  <a:schemeClr val="tx1">
                    <a:lumMod val="75000"/>
                    <a:lumOff val="25000"/>
                  </a:schemeClr>
                </a:solidFill>
                <a:latin typeface="微软雅黑" panose="020B0503020204020204" pitchFamily="34" charset="-122"/>
                <a:ea typeface="微软雅黑" panose="020B0503020204020204" pitchFamily="34" charset="-122"/>
              </a:rPr>
              <a:t>(Bootstrap</a:t>
            </a: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2699" b="1" kern="0" dirty="0">
                <a:solidFill>
                  <a:schemeClr val="tx1">
                    <a:lumMod val="75000"/>
                    <a:lumOff val="25000"/>
                  </a:schemeClr>
                </a:solidFill>
                <a:latin typeface="微软雅黑" panose="020B0503020204020204" pitchFamily="34" charset="-122"/>
                <a:ea typeface="微软雅黑" panose="020B0503020204020204" pitchFamily="34" charset="-122"/>
              </a:rPr>
              <a:t>aggregating)</a:t>
            </a:r>
            <a:endPar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TextBox 11"/>
          <p:cNvSpPr txBox="1"/>
          <p:nvPr/>
        </p:nvSpPr>
        <p:spPr bwMode="auto">
          <a:xfrm>
            <a:off x="5374006" y="2694404"/>
            <a:ext cx="3016148" cy="538448"/>
          </a:xfrm>
          <a:prstGeom prst="rect">
            <a:avLst/>
          </a:prstGeom>
          <a:noFill/>
        </p:spPr>
        <p:txBody>
          <a:bodyPr wrap="none" lIns="121889" tIns="60944" rIns="121889" bIns="60944">
            <a:spAutoFit/>
          </a:bodyPr>
          <a:lstStyle/>
          <a:p>
            <a:pPr lvl="0">
              <a:defRPr/>
            </a:pP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集成学习的发展史</a:t>
            </a:r>
          </a:p>
        </p:txBody>
      </p:sp>
      <p:sp>
        <p:nvSpPr>
          <p:cNvPr id="14" name="TextBox 13"/>
          <p:cNvSpPr txBox="1"/>
          <p:nvPr/>
        </p:nvSpPr>
        <p:spPr bwMode="auto">
          <a:xfrm>
            <a:off x="6636867" y="5018497"/>
            <a:ext cx="1911679" cy="538448"/>
          </a:xfrm>
          <a:prstGeom prst="rect">
            <a:avLst/>
          </a:prstGeom>
          <a:noFill/>
        </p:spPr>
        <p:txBody>
          <a:bodyPr wrap="none" lIns="121889" tIns="60944" rIns="121889" bIns="60944">
            <a:spAutoFit/>
          </a:bodyPr>
          <a:lstStyle/>
          <a:p>
            <a:pPr lvl="0">
              <a:defRPr/>
            </a:pPr>
            <a:r>
              <a:rPr lang="en-US" altLang="zh-CN" sz="2699" b="1" kern="0" dirty="0">
                <a:solidFill>
                  <a:schemeClr val="tx1">
                    <a:lumMod val="75000"/>
                    <a:lumOff val="25000"/>
                  </a:schemeClr>
                </a:solidFill>
                <a:latin typeface="微软雅黑" panose="020B0503020204020204" pitchFamily="34" charset="-122"/>
                <a:ea typeface="微软雅黑" panose="020B0503020204020204" pitchFamily="34" charset="-122"/>
              </a:rPr>
              <a:t>Boosting</a:t>
            </a:r>
            <a:r>
              <a:rPr lang="zh-CN" altLang="en-US" sz="2699" b="1" kern="0" dirty="0">
                <a:solidFill>
                  <a:schemeClr val="tx1">
                    <a:lumMod val="75000"/>
                    <a:lumOff val="25000"/>
                  </a:schemeClr>
                </a:solidFill>
                <a:latin typeface="微软雅黑" panose="020B0503020204020204" pitchFamily="34" charset="-122"/>
                <a:ea typeface="微软雅黑" panose="020B0503020204020204" pitchFamily="34" charset="-122"/>
              </a:rPr>
              <a:t> </a:t>
            </a:r>
          </a:p>
        </p:txBody>
      </p:sp>
      <p:sp>
        <p:nvSpPr>
          <p:cNvPr id="16" name="TextBox 15"/>
          <p:cNvSpPr txBox="1"/>
          <p:nvPr/>
        </p:nvSpPr>
        <p:spPr>
          <a:xfrm>
            <a:off x="3725156" y="1220754"/>
            <a:ext cx="874283"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01</a:t>
            </a:r>
            <a:endParaRPr lang="zh-CN" altLang="en-US" sz="5299">
              <a:solidFill>
                <a:schemeClr val="accent1"/>
              </a:solidFill>
              <a:latin typeface="Impact" pitchFamily="34" charset="0"/>
            </a:endParaRPr>
          </a:p>
        </p:txBody>
      </p:sp>
      <p:sp>
        <p:nvSpPr>
          <p:cNvPr id="17" name="TextBox 16"/>
          <p:cNvSpPr txBox="1"/>
          <p:nvPr/>
        </p:nvSpPr>
        <p:spPr>
          <a:xfrm>
            <a:off x="4416398" y="2473265"/>
            <a:ext cx="957608"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02</a:t>
            </a:r>
            <a:endParaRPr lang="zh-CN" altLang="en-US" sz="5299">
              <a:solidFill>
                <a:schemeClr val="accent1"/>
              </a:solidFill>
              <a:latin typeface="Impact" pitchFamily="34" charset="0"/>
            </a:endParaRPr>
          </a:p>
        </p:txBody>
      </p:sp>
      <p:sp>
        <p:nvSpPr>
          <p:cNvPr id="18" name="TextBox 17"/>
          <p:cNvSpPr txBox="1"/>
          <p:nvPr/>
        </p:nvSpPr>
        <p:spPr>
          <a:xfrm>
            <a:off x="5129806" y="3621022"/>
            <a:ext cx="976837"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03</a:t>
            </a:r>
            <a:endParaRPr lang="zh-CN" altLang="en-US" sz="5299">
              <a:solidFill>
                <a:schemeClr val="accent1"/>
              </a:solidFill>
              <a:latin typeface="Impact" pitchFamily="34" charset="0"/>
            </a:endParaRPr>
          </a:p>
        </p:txBody>
      </p:sp>
      <p:sp>
        <p:nvSpPr>
          <p:cNvPr id="19" name="TextBox 18"/>
          <p:cNvSpPr txBox="1"/>
          <p:nvPr/>
        </p:nvSpPr>
        <p:spPr>
          <a:xfrm>
            <a:off x="5681395" y="4802763"/>
            <a:ext cx="955472"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04</a:t>
            </a:r>
            <a:endParaRPr lang="zh-CN" altLang="en-US" sz="5299">
              <a:solidFill>
                <a:schemeClr val="accent1"/>
              </a:solidFill>
              <a:latin typeface="Impact" pitchFamily="34" charset="0"/>
            </a:endParaRPr>
          </a:p>
        </p:txBody>
      </p:sp>
      <p:sp>
        <p:nvSpPr>
          <p:cNvPr id="15" name="TextBox 14">
            <a:extLst>
              <a:ext uri="{FF2B5EF4-FFF2-40B4-BE49-F238E27FC236}">
                <a16:creationId xmlns:a16="http://schemas.microsoft.com/office/drawing/2014/main" id="{D7590333-A1F7-8A41-BF6E-09D453789AF1}"/>
              </a:ext>
            </a:extLst>
          </p:cNvPr>
          <p:cNvSpPr txBox="1"/>
          <p:nvPr/>
        </p:nvSpPr>
        <p:spPr bwMode="auto">
          <a:xfrm>
            <a:off x="501919" y="373301"/>
            <a:ext cx="6401690" cy="738631"/>
          </a:xfrm>
          <a:prstGeom prst="rect">
            <a:avLst/>
          </a:prstGeom>
          <a:noFill/>
        </p:spPr>
        <p:txBody>
          <a:bodyPr wrap="none" lIns="121889" tIns="60944" rIns="121889" bIns="60944">
            <a:spAutoFit/>
          </a:bodyPr>
          <a:lstStyle/>
          <a:p>
            <a:pPr>
              <a:defRPr/>
            </a:pPr>
            <a:r>
              <a:rPr lang="zh-CN" altLang="en-US" sz="4000" b="1" kern="0">
                <a:solidFill>
                  <a:schemeClr val="tx1">
                    <a:lumMod val="75000"/>
                    <a:lumOff val="25000"/>
                  </a:schemeClr>
                </a:solidFill>
                <a:latin typeface="微软雅黑" panose="020B0503020204020204" pitchFamily="34" charset="-122"/>
                <a:ea typeface="微软雅黑" panose="020B0503020204020204" pitchFamily="34" charset="-122"/>
              </a:rPr>
              <a:t>第四章</a:t>
            </a:r>
            <a:r>
              <a:rPr lang="zh-CN" altLang="en-US" sz="4000" b="1" kern="0" dirty="0">
                <a:solidFill>
                  <a:schemeClr val="tx1">
                    <a:lumMod val="75000"/>
                    <a:lumOff val="25000"/>
                  </a:schemeClr>
                </a:solidFill>
                <a:latin typeface="微软雅黑" panose="020B0503020204020204" pitchFamily="34" charset="-122"/>
                <a:ea typeface="微软雅黑" panose="020B0503020204020204" pitchFamily="34" charset="-122"/>
              </a:rPr>
              <a:t>：决策树与</a:t>
            </a:r>
            <a:r>
              <a:rPr lang="zh-CN" altLang="en-US" sz="4000" b="1" kern="0" dirty="0">
                <a:solidFill>
                  <a:srgbClr val="FF0000"/>
                </a:solidFill>
                <a:latin typeface="微软雅黑" panose="020B0503020204020204" pitchFamily="34" charset="-122"/>
                <a:ea typeface="微软雅黑" panose="020B0503020204020204" pitchFamily="34" charset="-122"/>
              </a:rPr>
              <a:t>集成学习</a:t>
            </a:r>
          </a:p>
        </p:txBody>
      </p:sp>
    </p:spTree>
    <p:extLst>
      <p:ext uri="{BB962C8B-B14F-4D97-AF65-F5344CB8AC3E}">
        <p14:creationId xmlns:p14="http://schemas.microsoft.com/office/powerpoint/2010/main" val="15867437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withEffec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withGroup">
                            <p:stCondLst>
                              <p:cond delay="500"/>
                            </p:stCondLst>
                            <p:childTnLst>
                              <p:par>
                                <p:cTn id="9" presetID="42" presetClass="entr" presetSubtype="0" fill="hold" grpId="0" nodeType="afterEffec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par>
                          <p:cTn id="19" fill="hold" nodeType="withGroup">
                            <p:stCondLst>
                              <p:cond delay="1000"/>
                            </p:stCondLst>
                            <p:childTnLst>
                              <p:par>
                                <p:cTn id="20" presetID="49" presetClass="entr" presetSubtype="0" decel="100000" fill="hold" grpId="0" nodeType="afterEffect">
                                  <p:childTnLst>
                                    <p:set>
                                      <p:cBhvr>
                                        <p:cTn id="21" dur="1" fill="hold">
                                          <p:stCondLst>
                                            <p:cond delay="0"/>
                                          </p:stCondLst>
                                        </p:cTn>
                                        <p:tgtEl>
                                          <p:spTgt spid="16"/>
                                        </p:tgtEl>
                                        <p:attrNameLst>
                                          <p:attrName>style.visibility</p:attrName>
                                        </p:attrNameLst>
                                      </p:cBhvr>
                                      <p:to>
                                        <p:strVal val="visible"/>
                                      </p:to>
                                    </p:set>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fltVal val="0"/>
                                          </p:val>
                                        </p:tav>
                                        <p:tav tm="100000">
                                          <p:val>
                                            <p:strVal val="#ppt_h"/>
                                          </p:val>
                                        </p:tav>
                                      </p:tavLst>
                                    </p:anim>
                                    <p:anim calcmode="lin" valueType="num">
                                      <p:cBhvr>
                                        <p:cTn id="24" dur="500" fill="hold"/>
                                        <p:tgtEl>
                                          <p:spTgt spid="16"/>
                                        </p:tgtEl>
                                        <p:attrNameLst>
                                          <p:attrName>style.rotation</p:attrName>
                                        </p:attrNameLst>
                                      </p:cBhvr>
                                      <p:tavLst>
                                        <p:tav tm="0">
                                          <p:val>
                                            <p:fltVal val="360"/>
                                          </p:val>
                                        </p:tav>
                                        <p:tav tm="100000">
                                          <p:val>
                                            <p:fltVal val="0"/>
                                          </p:val>
                                        </p:tav>
                                      </p:tavLst>
                                    </p:anim>
                                    <p:animEffect transition="in" filter="fade">
                                      <p:cBhvr>
                                        <p:cTn id="25" dur="500"/>
                                        <p:tgtEl>
                                          <p:spTgt spid="16"/>
                                        </p:tgtEl>
                                      </p:cBhvr>
                                    </p:animEffect>
                                  </p:childTnLst>
                                </p:cTn>
                              </p:par>
                            </p:childTnLst>
                          </p:cTn>
                        </p:par>
                        <p:par>
                          <p:cTn id="26" fill="hold" nodeType="withGroup">
                            <p:stCondLst>
                              <p:cond delay="1500"/>
                            </p:stCondLst>
                            <p:childTnLst>
                              <p:par>
                                <p:cTn id="27" presetID="42" presetClass="entr" presetSubtype="0" fill="hold" grpId="0" nodeType="afterEffec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anim calcmode="lin" valueType="num">
                                      <p:cBhvr>
                                        <p:cTn id="30" dur="500" fill="hold"/>
                                        <p:tgtEl>
                                          <p:spTgt spid="8"/>
                                        </p:tgtEl>
                                        <p:attrNameLst>
                                          <p:attrName>ppt_x</p:attrName>
                                        </p:attrNameLst>
                                      </p:cBhvr>
                                      <p:tavLst>
                                        <p:tav tm="0">
                                          <p:val>
                                            <p:strVal val="#ppt_x"/>
                                          </p:val>
                                        </p:tav>
                                        <p:tav tm="100000">
                                          <p:val>
                                            <p:strVal val="#ppt_x"/>
                                          </p:val>
                                        </p:tav>
                                      </p:tavLst>
                                    </p:anim>
                                    <p:anim calcmode="lin" valueType="num">
                                      <p:cBhvr>
                                        <p:cTn id="31" dur="500" fill="hold"/>
                                        <p:tgtEl>
                                          <p:spTgt spid="8"/>
                                        </p:tgtEl>
                                        <p:attrNameLst>
                                          <p:attrName>ppt_y</p:attrName>
                                        </p:attrNameLst>
                                      </p:cBhvr>
                                      <p:tavLst>
                                        <p:tav tm="0">
                                          <p:val>
                                            <p:strVal val="#ppt_y+.1"/>
                                          </p:val>
                                        </p:tav>
                                        <p:tav tm="100000">
                                          <p:val>
                                            <p:strVal val="#ppt_y"/>
                                          </p:val>
                                        </p:tav>
                                      </p:tavLst>
                                    </p:anim>
                                  </p:childTnLst>
                                </p:cTn>
                              </p:par>
                            </p:childTnLst>
                          </p:cTn>
                        </p:par>
                        <p:par>
                          <p:cTn id="32" fill="hold" nodeType="withGroup">
                            <p:stCondLst>
                              <p:cond delay="2000"/>
                            </p:stCondLst>
                            <p:childTnLst>
                              <p:par>
                                <p:cTn id="33" presetID="49" presetClass="entr" presetSubtype="0" decel="100000" fill="hold" grpId="0" nodeType="afterEffec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 calcmode="lin" valueType="num">
                                      <p:cBhvr>
                                        <p:cTn id="37" dur="500" fill="hold"/>
                                        <p:tgtEl>
                                          <p:spTgt spid="17"/>
                                        </p:tgtEl>
                                        <p:attrNameLst>
                                          <p:attrName>style.rotation</p:attrName>
                                        </p:attrNameLst>
                                      </p:cBhvr>
                                      <p:tavLst>
                                        <p:tav tm="0">
                                          <p:val>
                                            <p:fltVal val="360"/>
                                          </p:val>
                                        </p:tav>
                                        <p:tav tm="100000">
                                          <p:val>
                                            <p:fltVal val="0"/>
                                          </p:val>
                                        </p:tav>
                                      </p:tavLst>
                                    </p:anim>
                                    <p:animEffect transition="in" filter="fade">
                                      <p:cBhvr>
                                        <p:cTn id="38" dur="500"/>
                                        <p:tgtEl>
                                          <p:spTgt spid="17"/>
                                        </p:tgtEl>
                                      </p:cBhvr>
                                    </p:animEffect>
                                  </p:childTnLst>
                                </p:cTn>
                              </p:par>
                              <p:par>
                                <p:cTn id="39" presetID="42" presetClass="entr" presetSubtype="0" fill="hold" grpId="0" nodeType="withEffec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anim calcmode="lin" valueType="num">
                                      <p:cBhvr>
                                        <p:cTn id="42" dur="500" fill="hold"/>
                                        <p:tgtEl>
                                          <p:spTgt spid="12"/>
                                        </p:tgtEl>
                                        <p:attrNameLst>
                                          <p:attrName>ppt_x</p:attrName>
                                        </p:attrNameLst>
                                      </p:cBhvr>
                                      <p:tavLst>
                                        <p:tav tm="0">
                                          <p:val>
                                            <p:strVal val="#ppt_x"/>
                                          </p:val>
                                        </p:tav>
                                        <p:tav tm="100000">
                                          <p:val>
                                            <p:strVal val="#ppt_x"/>
                                          </p:val>
                                        </p:tav>
                                      </p:tavLst>
                                    </p:anim>
                                    <p:anim calcmode="lin" valueType="num">
                                      <p:cBhvr>
                                        <p:cTn id="43" dur="500" fill="hold"/>
                                        <p:tgtEl>
                                          <p:spTgt spid="12"/>
                                        </p:tgtEl>
                                        <p:attrNameLst>
                                          <p:attrName>ppt_y</p:attrName>
                                        </p:attrNameLst>
                                      </p:cBhvr>
                                      <p:tavLst>
                                        <p:tav tm="0">
                                          <p:val>
                                            <p:strVal val="#ppt_y+.1"/>
                                          </p:val>
                                        </p:tav>
                                        <p:tav tm="100000">
                                          <p:val>
                                            <p:strVal val="#ppt_y"/>
                                          </p:val>
                                        </p:tav>
                                      </p:tavLst>
                                    </p:anim>
                                  </p:childTnLst>
                                </p:cTn>
                              </p:par>
                            </p:childTnLst>
                          </p:cTn>
                        </p:par>
                        <p:par>
                          <p:cTn id="44" fill="hold" nodeType="withGroup">
                            <p:stCondLst>
                              <p:cond delay="2500"/>
                            </p:stCondLst>
                            <p:childTnLst>
                              <p:par>
                                <p:cTn id="45" presetID="49" presetClass="entr" presetSubtype="0" decel="100000" fill="hold" grpId="0" nodeType="afterEffect">
                                  <p:childTnLst>
                                    <p:set>
                                      <p:cBhvr>
                                        <p:cTn id="46" dur="1" fill="hold">
                                          <p:stCondLst>
                                            <p:cond delay="0"/>
                                          </p:stCondLst>
                                        </p:cTn>
                                        <p:tgtEl>
                                          <p:spTgt spid="18"/>
                                        </p:tgtEl>
                                        <p:attrNameLst>
                                          <p:attrName>style.visibility</p:attrName>
                                        </p:attrNameLst>
                                      </p:cBhvr>
                                      <p:to>
                                        <p:strVal val="visible"/>
                                      </p:to>
                                    </p:set>
                                    <p:anim calcmode="lin" valueType="num">
                                      <p:cBhvr>
                                        <p:cTn id="47" dur="500" fill="hold"/>
                                        <p:tgtEl>
                                          <p:spTgt spid="18"/>
                                        </p:tgtEl>
                                        <p:attrNameLst>
                                          <p:attrName>ppt_w</p:attrName>
                                        </p:attrNameLst>
                                      </p:cBhvr>
                                      <p:tavLst>
                                        <p:tav tm="0">
                                          <p:val>
                                            <p:fltVal val="0"/>
                                          </p:val>
                                        </p:tav>
                                        <p:tav tm="100000">
                                          <p:val>
                                            <p:strVal val="#ppt_w"/>
                                          </p:val>
                                        </p:tav>
                                      </p:tavLst>
                                    </p:anim>
                                    <p:anim calcmode="lin" valueType="num">
                                      <p:cBhvr>
                                        <p:cTn id="48" dur="500" fill="hold"/>
                                        <p:tgtEl>
                                          <p:spTgt spid="18"/>
                                        </p:tgtEl>
                                        <p:attrNameLst>
                                          <p:attrName>ppt_h</p:attrName>
                                        </p:attrNameLst>
                                      </p:cBhvr>
                                      <p:tavLst>
                                        <p:tav tm="0">
                                          <p:val>
                                            <p:fltVal val="0"/>
                                          </p:val>
                                        </p:tav>
                                        <p:tav tm="100000">
                                          <p:val>
                                            <p:strVal val="#ppt_h"/>
                                          </p:val>
                                        </p:tav>
                                      </p:tavLst>
                                    </p:anim>
                                    <p:anim calcmode="lin" valueType="num">
                                      <p:cBhvr>
                                        <p:cTn id="49" dur="500" fill="hold"/>
                                        <p:tgtEl>
                                          <p:spTgt spid="18"/>
                                        </p:tgtEl>
                                        <p:attrNameLst>
                                          <p:attrName>style.rotation</p:attrName>
                                        </p:attrNameLst>
                                      </p:cBhvr>
                                      <p:tavLst>
                                        <p:tav tm="0">
                                          <p:val>
                                            <p:fltVal val="360"/>
                                          </p:val>
                                        </p:tav>
                                        <p:tav tm="100000">
                                          <p:val>
                                            <p:fltVal val="0"/>
                                          </p:val>
                                        </p:tav>
                                      </p:tavLst>
                                    </p:anim>
                                    <p:animEffect transition="in" filter="fade">
                                      <p:cBhvr>
                                        <p:cTn id="50" dur="500"/>
                                        <p:tgtEl>
                                          <p:spTgt spid="18"/>
                                        </p:tgtEl>
                                      </p:cBhvr>
                                    </p:animEffect>
                                  </p:childTnLst>
                                </p:cTn>
                              </p:par>
                              <p:par>
                                <p:cTn id="51" presetID="42" presetClass="entr" presetSubtype="0" fill="hold" grpId="0" nodeType="withEffec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anim calcmode="lin" valueType="num">
                                      <p:cBhvr>
                                        <p:cTn id="54" dur="500" fill="hold"/>
                                        <p:tgtEl>
                                          <p:spTgt spid="10"/>
                                        </p:tgtEl>
                                        <p:attrNameLst>
                                          <p:attrName>ppt_x</p:attrName>
                                        </p:attrNameLst>
                                      </p:cBhvr>
                                      <p:tavLst>
                                        <p:tav tm="0">
                                          <p:val>
                                            <p:strVal val="#ppt_x"/>
                                          </p:val>
                                        </p:tav>
                                        <p:tav tm="100000">
                                          <p:val>
                                            <p:strVal val="#ppt_x"/>
                                          </p:val>
                                        </p:tav>
                                      </p:tavLst>
                                    </p:anim>
                                    <p:anim calcmode="lin" valueType="num">
                                      <p:cBhvr>
                                        <p:cTn id="55" dur="500" fill="hold"/>
                                        <p:tgtEl>
                                          <p:spTgt spid="10"/>
                                        </p:tgtEl>
                                        <p:attrNameLst>
                                          <p:attrName>ppt_y</p:attrName>
                                        </p:attrNameLst>
                                      </p:cBhvr>
                                      <p:tavLst>
                                        <p:tav tm="0">
                                          <p:val>
                                            <p:strVal val="#ppt_y+.1"/>
                                          </p:val>
                                        </p:tav>
                                        <p:tav tm="100000">
                                          <p:val>
                                            <p:strVal val="#ppt_y"/>
                                          </p:val>
                                        </p:tav>
                                      </p:tavLst>
                                    </p:anim>
                                  </p:childTnLst>
                                </p:cTn>
                              </p:par>
                            </p:childTnLst>
                          </p:cTn>
                        </p:par>
                        <p:par>
                          <p:cTn id="56" fill="hold" nodeType="withGroup">
                            <p:stCondLst>
                              <p:cond delay="3000"/>
                            </p:stCondLst>
                            <p:childTnLst>
                              <p:par>
                                <p:cTn id="57" presetID="49" presetClass="entr" presetSubtype="0" decel="100000" fill="hold" grpId="0" nodeType="afterEffect">
                                  <p:childTnLst>
                                    <p:set>
                                      <p:cBhvr>
                                        <p:cTn id="58" dur="1" fill="hold">
                                          <p:stCondLst>
                                            <p:cond delay="0"/>
                                          </p:stCondLst>
                                        </p:cTn>
                                        <p:tgtEl>
                                          <p:spTgt spid="19"/>
                                        </p:tgtEl>
                                        <p:attrNameLst>
                                          <p:attrName>style.visibility</p:attrName>
                                        </p:attrNameLst>
                                      </p:cBhvr>
                                      <p:to>
                                        <p:strVal val="visible"/>
                                      </p:to>
                                    </p:set>
                                    <p:anim calcmode="lin" valueType="num">
                                      <p:cBhvr>
                                        <p:cTn id="59" dur="500" fill="hold"/>
                                        <p:tgtEl>
                                          <p:spTgt spid="19"/>
                                        </p:tgtEl>
                                        <p:attrNameLst>
                                          <p:attrName>ppt_w</p:attrName>
                                        </p:attrNameLst>
                                      </p:cBhvr>
                                      <p:tavLst>
                                        <p:tav tm="0">
                                          <p:val>
                                            <p:fltVal val="0"/>
                                          </p:val>
                                        </p:tav>
                                        <p:tav tm="100000">
                                          <p:val>
                                            <p:strVal val="#ppt_w"/>
                                          </p:val>
                                        </p:tav>
                                      </p:tavLst>
                                    </p:anim>
                                    <p:anim calcmode="lin" valueType="num">
                                      <p:cBhvr>
                                        <p:cTn id="60" dur="500" fill="hold"/>
                                        <p:tgtEl>
                                          <p:spTgt spid="19"/>
                                        </p:tgtEl>
                                        <p:attrNameLst>
                                          <p:attrName>ppt_h</p:attrName>
                                        </p:attrNameLst>
                                      </p:cBhvr>
                                      <p:tavLst>
                                        <p:tav tm="0">
                                          <p:val>
                                            <p:fltVal val="0"/>
                                          </p:val>
                                        </p:tav>
                                        <p:tav tm="100000">
                                          <p:val>
                                            <p:strVal val="#ppt_h"/>
                                          </p:val>
                                        </p:tav>
                                      </p:tavLst>
                                    </p:anim>
                                    <p:anim calcmode="lin" valueType="num">
                                      <p:cBhvr>
                                        <p:cTn id="61" dur="500" fill="hold"/>
                                        <p:tgtEl>
                                          <p:spTgt spid="19"/>
                                        </p:tgtEl>
                                        <p:attrNameLst>
                                          <p:attrName>style.rotation</p:attrName>
                                        </p:attrNameLst>
                                      </p:cBhvr>
                                      <p:tavLst>
                                        <p:tav tm="0">
                                          <p:val>
                                            <p:fltVal val="360"/>
                                          </p:val>
                                        </p:tav>
                                        <p:tav tm="100000">
                                          <p:val>
                                            <p:fltVal val="0"/>
                                          </p:val>
                                        </p:tav>
                                      </p:tavLst>
                                    </p:anim>
                                    <p:animEffect transition="in" filter="fade">
                                      <p:cBhvr>
                                        <p:cTn id="62" dur="500"/>
                                        <p:tgtEl>
                                          <p:spTgt spid="19"/>
                                        </p:tgtEl>
                                      </p:cBhvr>
                                    </p:animEffect>
                                  </p:childTnLst>
                                </p:cTn>
                              </p:par>
                              <p:par>
                                <p:cTn id="63" presetID="42" presetClass="entr" presetSubtype="0" fill="hold" grpId="0" nodeType="withEffec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anim calcmode="lin" valueType="num">
                                      <p:cBhvr>
                                        <p:cTn id="66" dur="500" fill="hold"/>
                                        <p:tgtEl>
                                          <p:spTgt spid="14"/>
                                        </p:tgtEl>
                                        <p:attrNameLst>
                                          <p:attrName>ppt_x</p:attrName>
                                        </p:attrNameLst>
                                      </p:cBhvr>
                                      <p:tavLst>
                                        <p:tav tm="0">
                                          <p:val>
                                            <p:strVal val="#ppt_x"/>
                                          </p:val>
                                        </p:tav>
                                        <p:tav tm="100000">
                                          <p:val>
                                            <p:strVal val="#ppt_x"/>
                                          </p:val>
                                        </p:tav>
                                      </p:tavLst>
                                    </p:anim>
                                    <p:anim calcmode="lin" valueType="num">
                                      <p:cBhvr>
                                        <p:cTn id="67" dur="500" fill="hold"/>
                                        <p:tgtEl>
                                          <p:spTgt spid="14"/>
                                        </p:tgtEl>
                                        <p:attrNameLst>
                                          <p:attrName>ppt_y</p:attrName>
                                        </p:attrNameLst>
                                      </p:cBhvr>
                                      <p:tavLst>
                                        <p:tav tm="0">
                                          <p:val>
                                            <p:strVal val="#ppt_y+.1"/>
                                          </p:val>
                                        </p:tav>
                                        <p:tav tm="100000">
                                          <p:val>
                                            <p:strVal val="#ppt_y"/>
                                          </p:val>
                                        </p:tav>
                                      </p:tavLst>
                                    </p:anim>
                                  </p:childTnLst>
                                </p:cTn>
                              </p:par>
                            </p:childTnLst>
                          </p:cTn>
                        </p:par>
                        <p:par>
                          <p:cTn id="68" fill="hold">
                            <p:stCondLst>
                              <p:cond delay="3500"/>
                            </p:stCondLst>
                            <p:childTnLst>
                              <p:par>
                                <p:cTn id="69" presetID="42" presetClass="entr" presetSubtype="0" fill="hold" grpId="0" nodeType="after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fill="hold"/>
                                        <p:tgtEl>
                                          <p:spTgt spid="15"/>
                                        </p:tgtEl>
                                        <p:attrNameLst>
                                          <p:attrName>ppt_x</p:attrName>
                                        </p:attrNameLst>
                                      </p:cBhvr>
                                      <p:tavLst>
                                        <p:tav tm="0">
                                          <p:val>
                                            <p:strVal val="#ppt_x"/>
                                          </p:val>
                                        </p:tav>
                                        <p:tav tm="100000">
                                          <p:val>
                                            <p:strVal val="#ppt_x"/>
                                          </p:val>
                                        </p:tav>
                                      </p:tavLst>
                                    </p:anim>
                                    <p:anim calcmode="lin" valueType="num">
                                      <p:cBhvr>
                                        <p:cTn id="73"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p:bldP spid="10" grpId="0"/>
      <p:bldP spid="12" grpId="0"/>
      <p:bldP spid="14" grpId="0"/>
      <p:bldP spid="16" grpId="0"/>
      <p:bldP spid="17" grpId="0"/>
      <p:bldP spid="18" grpId="0"/>
      <p:bldP spid="19"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CN" dirty="0"/>
              <a:t>生活中</a:t>
            </a:r>
            <a:r>
              <a:rPr lang="zh-CN" altLang="en-US" dirty="0"/>
              <a:t>的集成学习</a:t>
            </a:r>
          </a:p>
        </p:txBody>
      </p:sp>
      <p:pic>
        <p:nvPicPr>
          <p:cNvPr id="7" name="Picture 6">
            <a:extLst>
              <a:ext uri="{FF2B5EF4-FFF2-40B4-BE49-F238E27FC236}">
                <a16:creationId xmlns:a16="http://schemas.microsoft.com/office/drawing/2014/main" id="{CCF85ABA-D848-7449-ADEB-373FF219D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091" y="1311730"/>
            <a:ext cx="2704864" cy="1820581"/>
          </a:xfrm>
          <a:prstGeom prst="rect">
            <a:avLst/>
          </a:prstGeom>
        </p:spPr>
      </p:pic>
      <p:pic>
        <p:nvPicPr>
          <p:cNvPr id="9" name="Picture 8">
            <a:extLst>
              <a:ext uri="{FF2B5EF4-FFF2-40B4-BE49-F238E27FC236}">
                <a16:creationId xmlns:a16="http://schemas.microsoft.com/office/drawing/2014/main" id="{0FB2B67C-11EB-9D41-A9D1-AA32F7355FE2}"/>
              </a:ext>
            </a:extLst>
          </p:cNvPr>
          <p:cNvPicPr>
            <a:picLocks noChangeAspect="1"/>
          </p:cNvPicPr>
          <p:nvPr/>
        </p:nvPicPr>
        <p:blipFill>
          <a:blip r:embed="rId4"/>
          <a:stretch>
            <a:fillRect/>
          </a:stretch>
        </p:blipFill>
        <p:spPr>
          <a:xfrm>
            <a:off x="823978" y="4856853"/>
            <a:ext cx="3084934" cy="1709435"/>
          </a:xfrm>
          <a:prstGeom prst="rect">
            <a:avLst/>
          </a:prstGeom>
        </p:spPr>
      </p:pic>
      <p:pic>
        <p:nvPicPr>
          <p:cNvPr id="10" name="Picture 9">
            <a:extLst>
              <a:ext uri="{FF2B5EF4-FFF2-40B4-BE49-F238E27FC236}">
                <a16:creationId xmlns:a16="http://schemas.microsoft.com/office/drawing/2014/main" id="{654DEA59-BD64-4248-8BD0-1B08CC713B24}"/>
              </a:ext>
            </a:extLst>
          </p:cNvPr>
          <p:cNvPicPr>
            <a:picLocks noChangeAspect="1"/>
          </p:cNvPicPr>
          <p:nvPr/>
        </p:nvPicPr>
        <p:blipFill>
          <a:blip r:embed="rId5"/>
          <a:stretch>
            <a:fillRect/>
          </a:stretch>
        </p:blipFill>
        <p:spPr>
          <a:xfrm>
            <a:off x="795373" y="3157990"/>
            <a:ext cx="3142145" cy="1698863"/>
          </a:xfrm>
          <a:prstGeom prst="rect">
            <a:avLst/>
          </a:prstGeom>
        </p:spPr>
      </p:pic>
      <p:pic>
        <p:nvPicPr>
          <p:cNvPr id="12" name="Picture 11">
            <a:extLst>
              <a:ext uri="{FF2B5EF4-FFF2-40B4-BE49-F238E27FC236}">
                <a16:creationId xmlns:a16="http://schemas.microsoft.com/office/drawing/2014/main" id="{06757CDF-1B83-FC42-9B46-4FE0E6918B6A}"/>
              </a:ext>
            </a:extLst>
          </p:cNvPr>
          <p:cNvPicPr>
            <a:picLocks noChangeAspect="1"/>
          </p:cNvPicPr>
          <p:nvPr/>
        </p:nvPicPr>
        <p:blipFill>
          <a:blip r:embed="rId6"/>
          <a:stretch>
            <a:fillRect/>
          </a:stretch>
        </p:blipFill>
        <p:spPr>
          <a:xfrm>
            <a:off x="4615573" y="1311730"/>
            <a:ext cx="3637615" cy="2136729"/>
          </a:xfrm>
          <a:prstGeom prst="rect">
            <a:avLst/>
          </a:prstGeom>
        </p:spPr>
      </p:pic>
      <p:pic>
        <p:nvPicPr>
          <p:cNvPr id="13" name="Picture 12">
            <a:extLst>
              <a:ext uri="{FF2B5EF4-FFF2-40B4-BE49-F238E27FC236}">
                <a16:creationId xmlns:a16="http://schemas.microsoft.com/office/drawing/2014/main" id="{3E14A749-150F-E64E-9863-A285DEC6C2D1}"/>
              </a:ext>
            </a:extLst>
          </p:cNvPr>
          <p:cNvPicPr>
            <a:picLocks noChangeAspect="1"/>
          </p:cNvPicPr>
          <p:nvPr/>
        </p:nvPicPr>
        <p:blipFill>
          <a:blip r:embed="rId7"/>
          <a:stretch>
            <a:fillRect/>
          </a:stretch>
        </p:blipFill>
        <p:spPr>
          <a:xfrm>
            <a:off x="4615573" y="3255526"/>
            <a:ext cx="3640206" cy="1956186"/>
          </a:xfrm>
          <a:prstGeom prst="rect">
            <a:avLst/>
          </a:prstGeom>
        </p:spPr>
      </p:pic>
      <p:pic>
        <p:nvPicPr>
          <p:cNvPr id="16" name="Picture 15">
            <a:extLst>
              <a:ext uri="{FF2B5EF4-FFF2-40B4-BE49-F238E27FC236}">
                <a16:creationId xmlns:a16="http://schemas.microsoft.com/office/drawing/2014/main" id="{5DB05DBC-D2E8-784B-BB96-188D98F1B6C1}"/>
              </a:ext>
            </a:extLst>
          </p:cNvPr>
          <p:cNvPicPr>
            <a:picLocks noChangeAspect="1"/>
          </p:cNvPicPr>
          <p:nvPr/>
        </p:nvPicPr>
        <p:blipFill>
          <a:blip r:embed="rId8"/>
          <a:stretch>
            <a:fillRect/>
          </a:stretch>
        </p:blipFill>
        <p:spPr>
          <a:xfrm>
            <a:off x="8800274" y="1829396"/>
            <a:ext cx="3098201" cy="3382316"/>
          </a:xfrm>
          <a:prstGeom prst="rect">
            <a:avLst/>
          </a:prstGeom>
        </p:spPr>
      </p:pic>
      <p:sp>
        <p:nvSpPr>
          <p:cNvPr id="2" name="灯片编号占位符 1">
            <a:extLst>
              <a:ext uri="{FF2B5EF4-FFF2-40B4-BE49-F238E27FC236}">
                <a16:creationId xmlns:a16="http://schemas.microsoft.com/office/drawing/2014/main" id="{DDC8D2AA-F259-4C63-9718-69972DD8690E}"/>
              </a:ext>
            </a:extLst>
          </p:cNvPr>
          <p:cNvSpPr>
            <a:spLocks noGrp="1"/>
          </p:cNvSpPr>
          <p:nvPr>
            <p:ph type="sldNum" sz="quarter" idx="14"/>
          </p:nvPr>
        </p:nvSpPr>
        <p:spPr/>
        <p:txBody>
          <a:bodyPr/>
          <a:lstStyle/>
          <a:p>
            <a:fld id="{AF69888C-E133-43D9-A638-B5C95925B91C}" type="slidenum">
              <a:rPr lang="zh-CN" altLang="en-US" smtClean="0"/>
              <a:t>3</a:t>
            </a:fld>
            <a:endParaRPr lang="zh-CN" altLang="en-US" dirty="0"/>
          </a:p>
        </p:txBody>
      </p:sp>
    </p:spTree>
    <p:extLst>
      <p:ext uri="{BB962C8B-B14F-4D97-AF65-F5344CB8AC3E}">
        <p14:creationId xmlns:p14="http://schemas.microsoft.com/office/powerpoint/2010/main" val="52144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par>
                                <p:cTn id="19" presetID="3" presetClass="entr" presetSubtype="1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1</a:t>
            </a:r>
            <a:r>
              <a:rPr lang="zh-CN" altLang="en-US" dirty="0"/>
              <a:t>、集成学习是什么 </a:t>
            </a:r>
          </a:p>
        </p:txBody>
      </p:sp>
      <p:grpSp>
        <p:nvGrpSpPr>
          <p:cNvPr id="50" name="Group 49">
            <a:extLst>
              <a:ext uri="{FF2B5EF4-FFF2-40B4-BE49-F238E27FC236}">
                <a16:creationId xmlns:a16="http://schemas.microsoft.com/office/drawing/2014/main" id="{A082577F-D1D2-3245-BA98-18432A9735B0}"/>
              </a:ext>
            </a:extLst>
          </p:cNvPr>
          <p:cNvGrpSpPr/>
          <p:nvPr/>
        </p:nvGrpSpPr>
        <p:grpSpPr>
          <a:xfrm>
            <a:off x="2081051" y="3116464"/>
            <a:ext cx="8689360" cy="2764014"/>
            <a:chOff x="1633182" y="2756079"/>
            <a:chExt cx="8689360" cy="2764014"/>
          </a:xfrm>
        </p:grpSpPr>
        <p:sp>
          <p:nvSpPr>
            <p:cNvPr id="3" name="Rounded Rectangle 2">
              <a:extLst>
                <a:ext uri="{FF2B5EF4-FFF2-40B4-BE49-F238E27FC236}">
                  <a16:creationId xmlns:a16="http://schemas.microsoft.com/office/drawing/2014/main" id="{62E7B368-3B5D-1A41-9AD5-DFC2AA18E62C}"/>
                </a:ext>
              </a:extLst>
            </p:cNvPr>
            <p:cNvSpPr/>
            <p:nvPr/>
          </p:nvSpPr>
          <p:spPr>
            <a:xfrm>
              <a:off x="3545982" y="2756079"/>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1</a:t>
              </a:r>
              <a:endParaRPr lang="en-CN" b="1" dirty="0">
                <a:solidFill>
                  <a:schemeClr val="tx1"/>
                </a:solidFill>
              </a:endParaRPr>
            </a:p>
          </p:txBody>
        </p:sp>
        <p:sp>
          <p:nvSpPr>
            <p:cNvPr id="22" name="Rounded Rectangle 21">
              <a:extLst>
                <a:ext uri="{FF2B5EF4-FFF2-40B4-BE49-F238E27FC236}">
                  <a16:creationId xmlns:a16="http://schemas.microsoft.com/office/drawing/2014/main" id="{C59E479D-DFF7-EB4C-9A92-66FEEFE4932F}"/>
                </a:ext>
              </a:extLst>
            </p:cNvPr>
            <p:cNvSpPr/>
            <p:nvPr/>
          </p:nvSpPr>
          <p:spPr>
            <a:xfrm>
              <a:off x="3545980" y="3385648"/>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2</a:t>
              </a:r>
              <a:endParaRPr lang="en-CN" b="1" dirty="0">
                <a:solidFill>
                  <a:schemeClr val="tx1"/>
                </a:solidFill>
              </a:endParaRPr>
            </a:p>
          </p:txBody>
        </p:sp>
        <p:sp>
          <p:nvSpPr>
            <p:cNvPr id="24" name="Rounded Rectangle 23">
              <a:extLst>
                <a:ext uri="{FF2B5EF4-FFF2-40B4-BE49-F238E27FC236}">
                  <a16:creationId xmlns:a16="http://schemas.microsoft.com/office/drawing/2014/main" id="{21E426FD-C58B-7341-8006-13B5B3059108}"/>
                </a:ext>
              </a:extLst>
            </p:cNvPr>
            <p:cNvSpPr/>
            <p:nvPr/>
          </p:nvSpPr>
          <p:spPr>
            <a:xfrm>
              <a:off x="3545980" y="4070017"/>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3</a:t>
              </a:r>
              <a:endParaRPr lang="en-CN" b="1" dirty="0">
                <a:solidFill>
                  <a:schemeClr val="tx1"/>
                </a:solidFill>
              </a:endParaRPr>
            </a:p>
          </p:txBody>
        </p:sp>
        <p:sp>
          <p:nvSpPr>
            <p:cNvPr id="25" name="Rounded Rectangle 24">
              <a:extLst>
                <a:ext uri="{FF2B5EF4-FFF2-40B4-BE49-F238E27FC236}">
                  <a16:creationId xmlns:a16="http://schemas.microsoft.com/office/drawing/2014/main" id="{3F6005B7-2D37-1942-98F8-FAC7556E841F}"/>
                </a:ext>
              </a:extLst>
            </p:cNvPr>
            <p:cNvSpPr/>
            <p:nvPr/>
          </p:nvSpPr>
          <p:spPr>
            <a:xfrm>
              <a:off x="3545980" y="5093596"/>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N</a:t>
              </a:r>
              <a:endParaRPr lang="en-CN" b="1" dirty="0">
                <a:solidFill>
                  <a:schemeClr val="tx1"/>
                </a:solidFill>
              </a:endParaRPr>
            </a:p>
          </p:txBody>
        </p:sp>
        <p:cxnSp>
          <p:nvCxnSpPr>
            <p:cNvPr id="6" name="Straight Arrow Connector 5">
              <a:extLst>
                <a:ext uri="{FF2B5EF4-FFF2-40B4-BE49-F238E27FC236}">
                  <a16:creationId xmlns:a16="http://schemas.microsoft.com/office/drawing/2014/main" id="{4BE7F4A9-9526-F440-B0CB-3A4B33262554}"/>
                </a:ext>
              </a:extLst>
            </p:cNvPr>
            <p:cNvCxnSpPr>
              <a:cxnSpLocks/>
              <a:stCxn id="3" idx="3"/>
            </p:cNvCxnSpPr>
            <p:nvPr/>
          </p:nvCxnSpPr>
          <p:spPr>
            <a:xfrm>
              <a:off x="6096000" y="2969328"/>
              <a:ext cx="1489656" cy="110068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DB0055C-7357-E746-AE8C-92DD6F981CEE}"/>
                </a:ext>
              </a:extLst>
            </p:cNvPr>
            <p:cNvCxnSpPr>
              <a:cxnSpLocks/>
            </p:cNvCxnSpPr>
            <p:nvPr/>
          </p:nvCxnSpPr>
          <p:spPr>
            <a:xfrm>
              <a:off x="6096000" y="3640529"/>
              <a:ext cx="1489656" cy="42948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B5FA121-2CF6-1A4F-A5D1-292D3E525B73}"/>
                </a:ext>
              </a:extLst>
            </p:cNvPr>
            <p:cNvCxnSpPr>
              <a:cxnSpLocks/>
              <a:stCxn id="24" idx="3"/>
            </p:cNvCxnSpPr>
            <p:nvPr/>
          </p:nvCxnSpPr>
          <p:spPr>
            <a:xfrm flipV="1">
              <a:off x="6095998" y="4067026"/>
              <a:ext cx="1489658" cy="21624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B75647F-9CA7-CC44-A725-B728317E9BA2}"/>
                </a:ext>
              </a:extLst>
            </p:cNvPr>
            <p:cNvCxnSpPr>
              <a:cxnSpLocks/>
              <a:stCxn id="25" idx="3"/>
            </p:cNvCxnSpPr>
            <p:nvPr/>
          </p:nvCxnSpPr>
          <p:spPr>
            <a:xfrm flipV="1">
              <a:off x="6095998" y="4067026"/>
              <a:ext cx="1489658" cy="123981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2205D09-436B-2540-A78C-26ADB916EED6}"/>
                </a:ext>
              </a:extLst>
            </p:cNvPr>
            <p:cNvSpPr/>
            <p:nvPr/>
          </p:nvSpPr>
          <p:spPr>
            <a:xfrm>
              <a:off x="7585656" y="3829057"/>
              <a:ext cx="1854558" cy="42649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Combiner</a:t>
              </a:r>
              <a:endParaRPr lang="en-CN" b="1"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D5E5042-D9D4-5145-9D4B-8F140A6E3786}"/>
                    </a:ext>
                  </a:extLst>
                </p:cNvPr>
                <p:cNvSpPr txBox="1"/>
                <p:nvPr/>
              </p:nvSpPr>
              <p:spPr>
                <a:xfrm>
                  <a:off x="4769959" y="4656555"/>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33" name="TextBox 32">
                  <a:extLst>
                    <a:ext uri="{FF2B5EF4-FFF2-40B4-BE49-F238E27FC236}">
                      <a16:creationId xmlns:a16="http://schemas.microsoft.com/office/drawing/2014/main" id="{4D5E5042-D9D4-5145-9D4B-8F140A6E3786}"/>
                    </a:ext>
                  </a:extLst>
                </p:cNvPr>
                <p:cNvSpPr txBox="1">
                  <a:spLocks noRot="1" noChangeAspect="1" noMove="1" noResize="1" noEditPoints="1" noAdjustHandles="1" noChangeArrowheads="1" noChangeShapeType="1" noTextEdit="1"/>
                </p:cNvSpPr>
                <p:nvPr/>
              </p:nvSpPr>
              <p:spPr>
                <a:xfrm>
                  <a:off x="4769959" y="4656555"/>
                  <a:ext cx="141064" cy="276999"/>
                </a:xfrm>
                <a:prstGeom prst="rect">
                  <a:avLst/>
                </a:prstGeom>
                <a:blipFill>
                  <a:blip r:embed="rId3"/>
                  <a:stretch>
                    <a:fillRect l="-25000" r="-25000" b="-4348"/>
                  </a:stretch>
                </a:blipFill>
              </p:spPr>
              <p:txBody>
                <a:bodyPr/>
                <a:lstStyle/>
                <a:p>
                  <a:r>
                    <a:rPr lang="en-CN">
                      <a:noFill/>
                    </a:rPr>
                    <a:t> </a:t>
                  </a:r>
                </a:p>
              </p:txBody>
            </p:sp>
          </mc:Fallback>
        </mc:AlternateContent>
        <p:cxnSp>
          <p:nvCxnSpPr>
            <p:cNvPr id="34" name="Straight Arrow Connector 33">
              <a:extLst>
                <a:ext uri="{FF2B5EF4-FFF2-40B4-BE49-F238E27FC236}">
                  <a16:creationId xmlns:a16="http://schemas.microsoft.com/office/drawing/2014/main" id="{522659EE-D646-C741-8EE5-90EC6C5FD5A2}"/>
                </a:ext>
              </a:extLst>
            </p:cNvPr>
            <p:cNvCxnSpPr>
              <a:cxnSpLocks/>
              <a:endCxn id="3" idx="1"/>
            </p:cNvCxnSpPr>
            <p:nvPr/>
          </p:nvCxnSpPr>
          <p:spPr>
            <a:xfrm flipV="1">
              <a:off x="1944547" y="2969328"/>
              <a:ext cx="1601435" cy="94064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E2CA60-BEA4-6C4F-AACE-7708FA3E64CD}"/>
                </a:ext>
              </a:extLst>
            </p:cNvPr>
            <p:cNvCxnSpPr>
              <a:cxnSpLocks/>
              <a:endCxn id="22" idx="1"/>
            </p:cNvCxnSpPr>
            <p:nvPr/>
          </p:nvCxnSpPr>
          <p:spPr>
            <a:xfrm flipV="1">
              <a:off x="1944547" y="3598897"/>
              <a:ext cx="1601433" cy="31107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71844E5-878F-E647-91FF-096D902219DE}"/>
                </a:ext>
              </a:extLst>
            </p:cNvPr>
            <p:cNvCxnSpPr>
              <a:cxnSpLocks/>
              <a:endCxn id="24" idx="1"/>
            </p:cNvCxnSpPr>
            <p:nvPr/>
          </p:nvCxnSpPr>
          <p:spPr>
            <a:xfrm>
              <a:off x="1944547" y="3909976"/>
              <a:ext cx="1601433" cy="37329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1D8C536-2C41-F545-929B-D408BEC40DE4}"/>
                </a:ext>
              </a:extLst>
            </p:cNvPr>
            <p:cNvCxnSpPr>
              <a:cxnSpLocks/>
              <a:endCxn id="25" idx="1"/>
            </p:cNvCxnSpPr>
            <p:nvPr/>
          </p:nvCxnSpPr>
          <p:spPr>
            <a:xfrm>
              <a:off x="1944545" y="3924041"/>
              <a:ext cx="1601435" cy="138280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2C66DE6-CB69-034E-B1F6-D31E2AE7E7ED}"/>
                    </a:ext>
                  </a:extLst>
                </p:cNvPr>
                <p:cNvSpPr txBox="1"/>
                <p:nvPr/>
              </p:nvSpPr>
              <p:spPr>
                <a:xfrm>
                  <a:off x="1633182" y="3701933"/>
                  <a:ext cx="26930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𝒙</m:t>
                        </m:r>
                      </m:oMath>
                    </m:oMathPara>
                  </a14:m>
                  <a:endParaRPr lang="en-CN" sz="2400" b="1" dirty="0">
                    <a:latin typeface="+mn-ea"/>
                  </a:endParaRPr>
                </a:p>
              </p:txBody>
            </p:sp>
          </mc:Choice>
          <mc:Fallback xmlns="">
            <p:sp>
              <p:nvSpPr>
                <p:cNvPr id="46" name="TextBox 45">
                  <a:extLst>
                    <a:ext uri="{FF2B5EF4-FFF2-40B4-BE49-F238E27FC236}">
                      <a16:creationId xmlns:a16="http://schemas.microsoft.com/office/drawing/2014/main" id="{42C66DE6-CB69-034E-B1F6-D31E2AE7E7ED}"/>
                    </a:ext>
                  </a:extLst>
                </p:cNvPr>
                <p:cNvSpPr txBox="1">
                  <a:spLocks noRot="1" noChangeAspect="1" noMove="1" noResize="1" noEditPoints="1" noAdjustHandles="1" noChangeArrowheads="1" noChangeShapeType="1" noTextEdit="1"/>
                </p:cNvSpPr>
                <p:nvPr/>
              </p:nvSpPr>
              <p:spPr>
                <a:xfrm>
                  <a:off x="1633182" y="3701933"/>
                  <a:ext cx="269304" cy="369332"/>
                </a:xfrm>
                <a:prstGeom prst="rect">
                  <a:avLst/>
                </a:prstGeom>
                <a:blipFill>
                  <a:blip r:embed="rId4"/>
                  <a:stretch>
                    <a:fillRect l="-13636" r="-1363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A2F6808-AA04-3540-B914-664D6FC5E44C}"/>
                    </a:ext>
                  </a:extLst>
                </p:cNvPr>
                <p:cNvSpPr txBox="1"/>
                <p:nvPr/>
              </p:nvSpPr>
              <p:spPr>
                <a:xfrm>
                  <a:off x="10046825" y="3818292"/>
                  <a:ext cx="275717"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𝒚</m:t>
                        </m:r>
                      </m:oMath>
                    </m:oMathPara>
                  </a14:m>
                  <a:endParaRPr lang="en-CN" sz="2400" b="1" dirty="0">
                    <a:latin typeface="+mn-ea"/>
                  </a:endParaRPr>
                </a:p>
              </p:txBody>
            </p:sp>
          </mc:Choice>
          <mc:Fallback xmlns="">
            <p:sp>
              <p:nvSpPr>
                <p:cNvPr id="47" name="TextBox 46">
                  <a:extLst>
                    <a:ext uri="{FF2B5EF4-FFF2-40B4-BE49-F238E27FC236}">
                      <a16:creationId xmlns:a16="http://schemas.microsoft.com/office/drawing/2014/main" id="{BA2F6808-AA04-3540-B914-664D6FC5E44C}"/>
                    </a:ext>
                  </a:extLst>
                </p:cNvPr>
                <p:cNvSpPr txBox="1">
                  <a:spLocks noRot="1" noChangeAspect="1" noMove="1" noResize="1" noEditPoints="1" noAdjustHandles="1" noChangeArrowheads="1" noChangeShapeType="1" noTextEdit="1"/>
                </p:cNvSpPr>
                <p:nvPr/>
              </p:nvSpPr>
              <p:spPr>
                <a:xfrm>
                  <a:off x="10046825" y="3818292"/>
                  <a:ext cx="275717" cy="369332"/>
                </a:xfrm>
                <a:prstGeom prst="rect">
                  <a:avLst/>
                </a:prstGeom>
                <a:blipFill>
                  <a:blip r:embed="rId5"/>
                  <a:stretch>
                    <a:fillRect l="-27273" r="-22727" b="-26667"/>
                  </a:stretch>
                </a:blipFill>
              </p:spPr>
              <p:txBody>
                <a:bodyPr/>
                <a:lstStyle/>
                <a:p>
                  <a:r>
                    <a:rPr lang="en-CN">
                      <a:noFill/>
                    </a:rPr>
                    <a:t> </a:t>
                  </a:r>
                </a:p>
              </p:txBody>
            </p:sp>
          </mc:Fallback>
        </mc:AlternateContent>
        <p:cxnSp>
          <p:nvCxnSpPr>
            <p:cNvPr id="48" name="Straight Arrow Connector 47">
              <a:extLst>
                <a:ext uri="{FF2B5EF4-FFF2-40B4-BE49-F238E27FC236}">
                  <a16:creationId xmlns:a16="http://schemas.microsoft.com/office/drawing/2014/main" id="{E745684A-056B-6741-88B7-C5B474C9B772}"/>
                </a:ext>
              </a:extLst>
            </p:cNvPr>
            <p:cNvCxnSpPr>
              <a:cxnSpLocks/>
            </p:cNvCxnSpPr>
            <p:nvPr/>
          </p:nvCxnSpPr>
          <p:spPr>
            <a:xfrm flipV="1">
              <a:off x="9427825" y="4042138"/>
              <a:ext cx="619000" cy="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A688CB4E-ED8A-0D4F-B591-1F76F5A96B49}"/>
              </a:ext>
            </a:extLst>
          </p:cNvPr>
          <p:cNvSpPr txBox="1"/>
          <p:nvPr/>
        </p:nvSpPr>
        <p:spPr>
          <a:xfrm>
            <a:off x="677332" y="1192250"/>
            <a:ext cx="10956846" cy="1569660"/>
          </a:xfrm>
          <a:prstGeom prst="rect">
            <a:avLst/>
          </a:prstGeom>
          <a:noFill/>
        </p:spPr>
        <p:txBody>
          <a:bodyPr wrap="none" rtlCol="0">
            <a:spAutoFit/>
          </a:bodyPr>
          <a:lstStyle/>
          <a:p>
            <a:r>
              <a:rPr lang="zh-CN" altLang="en-US" sz="2400" dirty="0"/>
              <a:t>集成学习的方法是通过训练多个学习器，并通过学习器的合并来解决一个问题。</a:t>
            </a:r>
            <a:endParaRPr lang="en-US" altLang="zh-CN" sz="2400" dirty="0"/>
          </a:p>
          <a:p>
            <a:endParaRPr lang="en-US" altLang="zh-CN" sz="2400" dirty="0"/>
          </a:p>
          <a:p>
            <a:r>
              <a:rPr lang="zh-CN" altLang="en-US" sz="2400" dirty="0"/>
              <a:t>集成学习也被成为基于委员会的学习</a:t>
            </a:r>
            <a:r>
              <a:rPr lang="en-US" altLang="zh-CN" sz="2400" dirty="0"/>
              <a:t>(</a:t>
            </a:r>
            <a:r>
              <a:rPr lang="en-GB" sz="2400" dirty="0"/>
              <a:t>committee-based learning)</a:t>
            </a:r>
            <a:r>
              <a:rPr lang="zh-CN" altLang="en-US" sz="2400" dirty="0"/>
              <a:t>或多分类器系</a:t>
            </a:r>
            <a:endParaRPr lang="en-US" altLang="zh-CN" sz="2400" dirty="0"/>
          </a:p>
          <a:p>
            <a:r>
              <a:rPr lang="zh-CN" altLang="en-US" sz="2400" dirty="0"/>
              <a:t>统（</a:t>
            </a:r>
            <a:r>
              <a:rPr lang="en-GB" sz="2400" dirty="0"/>
              <a:t>multiple classifier system）。 </a:t>
            </a:r>
            <a:r>
              <a:rPr lang="en-CN" sz="2400" dirty="0"/>
              <a:t> </a:t>
            </a:r>
            <a:endParaRPr lang="en-CN" sz="2400" dirty="0">
              <a:latin typeface="+mn-ea"/>
            </a:endParaRPr>
          </a:p>
        </p:txBody>
      </p:sp>
      <p:sp>
        <p:nvSpPr>
          <p:cNvPr id="5" name="灯片编号占位符 4">
            <a:extLst>
              <a:ext uri="{FF2B5EF4-FFF2-40B4-BE49-F238E27FC236}">
                <a16:creationId xmlns:a16="http://schemas.microsoft.com/office/drawing/2014/main" id="{21B3C752-55DA-404B-BE1F-7BB5160B4F73}"/>
              </a:ext>
            </a:extLst>
          </p:cNvPr>
          <p:cNvSpPr>
            <a:spLocks noGrp="1"/>
          </p:cNvSpPr>
          <p:nvPr>
            <p:ph type="sldNum" sz="quarter" idx="14"/>
          </p:nvPr>
        </p:nvSpPr>
        <p:spPr/>
        <p:txBody>
          <a:bodyPr/>
          <a:lstStyle/>
          <a:p>
            <a:fld id="{AF69888C-E133-43D9-A638-B5C95925B91C}" type="slidenum">
              <a:rPr lang="zh-CN" altLang="en-US" smtClean="0"/>
              <a:t>4</a:t>
            </a:fld>
            <a:endParaRPr lang="zh-CN" altLang="en-US" dirty="0"/>
          </a:p>
        </p:txBody>
      </p:sp>
    </p:spTree>
    <p:extLst>
      <p:ext uri="{BB962C8B-B14F-4D97-AF65-F5344CB8AC3E}">
        <p14:creationId xmlns:p14="http://schemas.microsoft.com/office/powerpoint/2010/main" val="4246465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CN" dirty="0"/>
              <a:t>集成</a:t>
            </a:r>
            <a:r>
              <a:rPr lang="zh-CN" altLang="en-US" dirty="0"/>
              <a:t>学习的组成</a:t>
            </a:r>
          </a:p>
        </p:txBody>
      </p:sp>
      <p:grpSp>
        <p:nvGrpSpPr>
          <p:cNvPr id="50" name="Group 49">
            <a:extLst>
              <a:ext uri="{FF2B5EF4-FFF2-40B4-BE49-F238E27FC236}">
                <a16:creationId xmlns:a16="http://schemas.microsoft.com/office/drawing/2014/main" id="{A082577F-D1D2-3245-BA98-18432A9735B0}"/>
              </a:ext>
            </a:extLst>
          </p:cNvPr>
          <p:cNvGrpSpPr/>
          <p:nvPr/>
        </p:nvGrpSpPr>
        <p:grpSpPr>
          <a:xfrm>
            <a:off x="2350875" y="2670987"/>
            <a:ext cx="8469525" cy="2551012"/>
            <a:chOff x="1633182" y="2756079"/>
            <a:chExt cx="8689360" cy="2764014"/>
          </a:xfrm>
        </p:grpSpPr>
        <p:sp>
          <p:nvSpPr>
            <p:cNvPr id="3" name="Rounded Rectangle 2">
              <a:extLst>
                <a:ext uri="{FF2B5EF4-FFF2-40B4-BE49-F238E27FC236}">
                  <a16:creationId xmlns:a16="http://schemas.microsoft.com/office/drawing/2014/main" id="{62E7B368-3B5D-1A41-9AD5-DFC2AA18E62C}"/>
                </a:ext>
              </a:extLst>
            </p:cNvPr>
            <p:cNvSpPr/>
            <p:nvPr/>
          </p:nvSpPr>
          <p:spPr>
            <a:xfrm>
              <a:off x="3545982" y="2756079"/>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1</a:t>
              </a:r>
              <a:endParaRPr lang="en-CN" b="1" dirty="0">
                <a:solidFill>
                  <a:schemeClr val="tx1"/>
                </a:solidFill>
              </a:endParaRPr>
            </a:p>
          </p:txBody>
        </p:sp>
        <p:sp>
          <p:nvSpPr>
            <p:cNvPr id="22" name="Rounded Rectangle 21">
              <a:extLst>
                <a:ext uri="{FF2B5EF4-FFF2-40B4-BE49-F238E27FC236}">
                  <a16:creationId xmlns:a16="http://schemas.microsoft.com/office/drawing/2014/main" id="{C59E479D-DFF7-EB4C-9A92-66FEEFE4932F}"/>
                </a:ext>
              </a:extLst>
            </p:cNvPr>
            <p:cNvSpPr/>
            <p:nvPr/>
          </p:nvSpPr>
          <p:spPr>
            <a:xfrm>
              <a:off x="3545980" y="3385648"/>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2</a:t>
              </a:r>
              <a:endParaRPr lang="en-CN" b="1" dirty="0">
                <a:solidFill>
                  <a:schemeClr val="tx1"/>
                </a:solidFill>
              </a:endParaRPr>
            </a:p>
          </p:txBody>
        </p:sp>
        <p:sp>
          <p:nvSpPr>
            <p:cNvPr id="24" name="Rounded Rectangle 23">
              <a:extLst>
                <a:ext uri="{FF2B5EF4-FFF2-40B4-BE49-F238E27FC236}">
                  <a16:creationId xmlns:a16="http://schemas.microsoft.com/office/drawing/2014/main" id="{21E426FD-C58B-7341-8006-13B5B3059108}"/>
                </a:ext>
              </a:extLst>
            </p:cNvPr>
            <p:cNvSpPr/>
            <p:nvPr/>
          </p:nvSpPr>
          <p:spPr>
            <a:xfrm>
              <a:off x="3545980" y="4070017"/>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3</a:t>
              </a:r>
              <a:endParaRPr lang="en-CN" b="1" dirty="0">
                <a:solidFill>
                  <a:schemeClr val="tx1"/>
                </a:solidFill>
              </a:endParaRPr>
            </a:p>
          </p:txBody>
        </p:sp>
        <p:sp>
          <p:nvSpPr>
            <p:cNvPr id="25" name="Rounded Rectangle 24">
              <a:extLst>
                <a:ext uri="{FF2B5EF4-FFF2-40B4-BE49-F238E27FC236}">
                  <a16:creationId xmlns:a16="http://schemas.microsoft.com/office/drawing/2014/main" id="{3F6005B7-2D37-1942-98F8-FAC7556E841F}"/>
                </a:ext>
              </a:extLst>
            </p:cNvPr>
            <p:cNvSpPr/>
            <p:nvPr/>
          </p:nvSpPr>
          <p:spPr>
            <a:xfrm>
              <a:off x="3545980" y="5093596"/>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N</a:t>
              </a:r>
              <a:endParaRPr lang="en-CN" b="1" dirty="0">
                <a:solidFill>
                  <a:schemeClr val="tx1"/>
                </a:solidFill>
              </a:endParaRPr>
            </a:p>
          </p:txBody>
        </p:sp>
        <p:cxnSp>
          <p:nvCxnSpPr>
            <p:cNvPr id="6" name="Straight Arrow Connector 5">
              <a:extLst>
                <a:ext uri="{FF2B5EF4-FFF2-40B4-BE49-F238E27FC236}">
                  <a16:creationId xmlns:a16="http://schemas.microsoft.com/office/drawing/2014/main" id="{4BE7F4A9-9526-F440-B0CB-3A4B33262554}"/>
                </a:ext>
              </a:extLst>
            </p:cNvPr>
            <p:cNvCxnSpPr>
              <a:cxnSpLocks/>
              <a:stCxn id="3" idx="3"/>
            </p:cNvCxnSpPr>
            <p:nvPr/>
          </p:nvCxnSpPr>
          <p:spPr>
            <a:xfrm>
              <a:off x="6096000" y="2969328"/>
              <a:ext cx="1489656" cy="110068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DB0055C-7357-E746-AE8C-92DD6F981CEE}"/>
                </a:ext>
              </a:extLst>
            </p:cNvPr>
            <p:cNvCxnSpPr>
              <a:cxnSpLocks/>
            </p:cNvCxnSpPr>
            <p:nvPr/>
          </p:nvCxnSpPr>
          <p:spPr>
            <a:xfrm>
              <a:off x="6096000" y="3640529"/>
              <a:ext cx="1489656" cy="42948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B5FA121-2CF6-1A4F-A5D1-292D3E525B73}"/>
                </a:ext>
              </a:extLst>
            </p:cNvPr>
            <p:cNvCxnSpPr>
              <a:cxnSpLocks/>
              <a:stCxn id="24" idx="3"/>
            </p:cNvCxnSpPr>
            <p:nvPr/>
          </p:nvCxnSpPr>
          <p:spPr>
            <a:xfrm flipV="1">
              <a:off x="6095998" y="4067026"/>
              <a:ext cx="1489658" cy="21624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B75647F-9CA7-CC44-A725-B728317E9BA2}"/>
                </a:ext>
              </a:extLst>
            </p:cNvPr>
            <p:cNvCxnSpPr>
              <a:cxnSpLocks/>
              <a:stCxn id="25" idx="3"/>
            </p:cNvCxnSpPr>
            <p:nvPr/>
          </p:nvCxnSpPr>
          <p:spPr>
            <a:xfrm flipV="1">
              <a:off x="6095998" y="4067026"/>
              <a:ext cx="1489658" cy="123981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2205D09-436B-2540-A78C-26ADB916EED6}"/>
                </a:ext>
              </a:extLst>
            </p:cNvPr>
            <p:cNvSpPr/>
            <p:nvPr/>
          </p:nvSpPr>
          <p:spPr>
            <a:xfrm>
              <a:off x="7585656" y="3829057"/>
              <a:ext cx="1854558" cy="42649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Combiner</a:t>
              </a:r>
              <a:endParaRPr lang="en-CN" b="1"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D5E5042-D9D4-5145-9D4B-8F140A6E3786}"/>
                    </a:ext>
                  </a:extLst>
                </p:cNvPr>
                <p:cNvSpPr txBox="1"/>
                <p:nvPr/>
              </p:nvSpPr>
              <p:spPr>
                <a:xfrm>
                  <a:off x="4769959" y="4656555"/>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33" name="TextBox 32">
                  <a:extLst>
                    <a:ext uri="{FF2B5EF4-FFF2-40B4-BE49-F238E27FC236}">
                      <a16:creationId xmlns:a16="http://schemas.microsoft.com/office/drawing/2014/main" id="{4D5E5042-D9D4-5145-9D4B-8F140A6E3786}"/>
                    </a:ext>
                  </a:extLst>
                </p:cNvPr>
                <p:cNvSpPr txBox="1">
                  <a:spLocks noRot="1" noChangeAspect="1" noMove="1" noResize="1" noEditPoints="1" noAdjustHandles="1" noChangeArrowheads="1" noChangeShapeType="1" noTextEdit="1"/>
                </p:cNvSpPr>
                <p:nvPr/>
              </p:nvSpPr>
              <p:spPr>
                <a:xfrm>
                  <a:off x="4769959" y="4656555"/>
                  <a:ext cx="141064" cy="276999"/>
                </a:xfrm>
                <a:prstGeom prst="rect">
                  <a:avLst/>
                </a:prstGeom>
                <a:blipFill>
                  <a:blip r:embed="rId3"/>
                  <a:stretch>
                    <a:fillRect l="-25000" r="-25000" b="-14286"/>
                  </a:stretch>
                </a:blipFill>
              </p:spPr>
              <p:txBody>
                <a:bodyPr/>
                <a:lstStyle/>
                <a:p>
                  <a:r>
                    <a:rPr lang="en-CN">
                      <a:noFill/>
                    </a:rPr>
                    <a:t> </a:t>
                  </a:r>
                </a:p>
              </p:txBody>
            </p:sp>
          </mc:Fallback>
        </mc:AlternateContent>
        <p:cxnSp>
          <p:nvCxnSpPr>
            <p:cNvPr id="34" name="Straight Arrow Connector 33">
              <a:extLst>
                <a:ext uri="{FF2B5EF4-FFF2-40B4-BE49-F238E27FC236}">
                  <a16:creationId xmlns:a16="http://schemas.microsoft.com/office/drawing/2014/main" id="{522659EE-D646-C741-8EE5-90EC6C5FD5A2}"/>
                </a:ext>
              </a:extLst>
            </p:cNvPr>
            <p:cNvCxnSpPr>
              <a:cxnSpLocks/>
              <a:endCxn id="3" idx="1"/>
            </p:cNvCxnSpPr>
            <p:nvPr/>
          </p:nvCxnSpPr>
          <p:spPr>
            <a:xfrm flipV="1">
              <a:off x="1944547" y="2969328"/>
              <a:ext cx="1601435" cy="94064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E2CA60-BEA4-6C4F-AACE-7708FA3E64CD}"/>
                </a:ext>
              </a:extLst>
            </p:cNvPr>
            <p:cNvCxnSpPr>
              <a:cxnSpLocks/>
              <a:endCxn id="22" idx="1"/>
            </p:cNvCxnSpPr>
            <p:nvPr/>
          </p:nvCxnSpPr>
          <p:spPr>
            <a:xfrm flipV="1">
              <a:off x="1944547" y="3598897"/>
              <a:ext cx="1601433" cy="31107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71844E5-878F-E647-91FF-096D902219DE}"/>
                </a:ext>
              </a:extLst>
            </p:cNvPr>
            <p:cNvCxnSpPr>
              <a:cxnSpLocks/>
              <a:endCxn id="24" idx="1"/>
            </p:cNvCxnSpPr>
            <p:nvPr/>
          </p:nvCxnSpPr>
          <p:spPr>
            <a:xfrm>
              <a:off x="1944547" y="3909976"/>
              <a:ext cx="1601433" cy="37329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1D8C536-2C41-F545-929B-D408BEC40DE4}"/>
                </a:ext>
              </a:extLst>
            </p:cNvPr>
            <p:cNvCxnSpPr>
              <a:cxnSpLocks/>
              <a:endCxn id="25" idx="1"/>
            </p:cNvCxnSpPr>
            <p:nvPr/>
          </p:nvCxnSpPr>
          <p:spPr>
            <a:xfrm>
              <a:off x="1944545" y="3924041"/>
              <a:ext cx="1601435" cy="138280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2C66DE6-CB69-034E-B1F6-D31E2AE7E7ED}"/>
                    </a:ext>
                  </a:extLst>
                </p:cNvPr>
                <p:cNvSpPr txBox="1"/>
                <p:nvPr/>
              </p:nvSpPr>
              <p:spPr>
                <a:xfrm>
                  <a:off x="1633182" y="3701933"/>
                  <a:ext cx="26930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𝒙</m:t>
                        </m:r>
                      </m:oMath>
                    </m:oMathPara>
                  </a14:m>
                  <a:endParaRPr lang="en-CN" sz="2400" b="1" dirty="0">
                    <a:latin typeface="+mn-ea"/>
                  </a:endParaRPr>
                </a:p>
              </p:txBody>
            </p:sp>
          </mc:Choice>
          <mc:Fallback xmlns="">
            <p:sp>
              <p:nvSpPr>
                <p:cNvPr id="46" name="TextBox 45">
                  <a:extLst>
                    <a:ext uri="{FF2B5EF4-FFF2-40B4-BE49-F238E27FC236}">
                      <a16:creationId xmlns:a16="http://schemas.microsoft.com/office/drawing/2014/main" id="{42C66DE6-CB69-034E-B1F6-D31E2AE7E7ED}"/>
                    </a:ext>
                  </a:extLst>
                </p:cNvPr>
                <p:cNvSpPr txBox="1">
                  <a:spLocks noRot="1" noChangeAspect="1" noMove="1" noResize="1" noEditPoints="1" noAdjustHandles="1" noChangeArrowheads="1" noChangeShapeType="1" noTextEdit="1"/>
                </p:cNvSpPr>
                <p:nvPr/>
              </p:nvSpPr>
              <p:spPr>
                <a:xfrm>
                  <a:off x="1633182" y="3701933"/>
                  <a:ext cx="269304" cy="369332"/>
                </a:xfrm>
                <a:prstGeom prst="rect">
                  <a:avLst/>
                </a:prstGeom>
                <a:blipFill>
                  <a:blip r:embed="rId4"/>
                  <a:stretch>
                    <a:fillRect l="-14286" r="-14286" b="-1071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A2F6808-AA04-3540-B914-664D6FC5E44C}"/>
                    </a:ext>
                  </a:extLst>
                </p:cNvPr>
                <p:cNvSpPr txBox="1"/>
                <p:nvPr/>
              </p:nvSpPr>
              <p:spPr>
                <a:xfrm>
                  <a:off x="10046825" y="3818292"/>
                  <a:ext cx="275717"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𝒚</m:t>
                        </m:r>
                      </m:oMath>
                    </m:oMathPara>
                  </a14:m>
                  <a:endParaRPr lang="en-CN" sz="2400" b="1" dirty="0">
                    <a:latin typeface="+mn-ea"/>
                  </a:endParaRPr>
                </a:p>
              </p:txBody>
            </p:sp>
          </mc:Choice>
          <mc:Fallback xmlns="">
            <p:sp>
              <p:nvSpPr>
                <p:cNvPr id="47" name="TextBox 46">
                  <a:extLst>
                    <a:ext uri="{FF2B5EF4-FFF2-40B4-BE49-F238E27FC236}">
                      <a16:creationId xmlns:a16="http://schemas.microsoft.com/office/drawing/2014/main" id="{BA2F6808-AA04-3540-B914-664D6FC5E44C}"/>
                    </a:ext>
                  </a:extLst>
                </p:cNvPr>
                <p:cNvSpPr txBox="1">
                  <a:spLocks noRot="1" noChangeAspect="1" noMove="1" noResize="1" noEditPoints="1" noAdjustHandles="1" noChangeArrowheads="1" noChangeShapeType="1" noTextEdit="1"/>
                </p:cNvSpPr>
                <p:nvPr/>
              </p:nvSpPr>
              <p:spPr>
                <a:xfrm>
                  <a:off x="10046825" y="3818292"/>
                  <a:ext cx="275717" cy="369332"/>
                </a:xfrm>
                <a:prstGeom prst="rect">
                  <a:avLst/>
                </a:prstGeom>
                <a:blipFill>
                  <a:blip r:embed="rId5"/>
                  <a:stretch>
                    <a:fillRect l="-21739" r="-21739" b="-35714"/>
                  </a:stretch>
                </a:blipFill>
              </p:spPr>
              <p:txBody>
                <a:bodyPr/>
                <a:lstStyle/>
                <a:p>
                  <a:r>
                    <a:rPr lang="en-CN">
                      <a:noFill/>
                    </a:rPr>
                    <a:t> </a:t>
                  </a:r>
                </a:p>
              </p:txBody>
            </p:sp>
          </mc:Fallback>
        </mc:AlternateContent>
        <p:cxnSp>
          <p:nvCxnSpPr>
            <p:cNvPr id="48" name="Straight Arrow Connector 47">
              <a:extLst>
                <a:ext uri="{FF2B5EF4-FFF2-40B4-BE49-F238E27FC236}">
                  <a16:creationId xmlns:a16="http://schemas.microsoft.com/office/drawing/2014/main" id="{E745684A-056B-6741-88B7-C5B474C9B772}"/>
                </a:ext>
              </a:extLst>
            </p:cNvPr>
            <p:cNvCxnSpPr>
              <a:cxnSpLocks/>
            </p:cNvCxnSpPr>
            <p:nvPr/>
          </p:nvCxnSpPr>
          <p:spPr>
            <a:xfrm flipV="1">
              <a:off x="9427825" y="4042138"/>
              <a:ext cx="619000" cy="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A688CB4E-ED8A-0D4F-B591-1F76F5A96B49}"/>
              </a:ext>
            </a:extLst>
          </p:cNvPr>
          <p:cNvSpPr txBox="1"/>
          <p:nvPr/>
        </p:nvSpPr>
        <p:spPr>
          <a:xfrm>
            <a:off x="566962" y="966415"/>
            <a:ext cx="11485130" cy="1569660"/>
          </a:xfrm>
          <a:prstGeom prst="rect">
            <a:avLst/>
          </a:prstGeom>
          <a:noFill/>
        </p:spPr>
        <p:txBody>
          <a:bodyPr wrap="square" rtlCol="0">
            <a:spAutoFit/>
          </a:bodyPr>
          <a:lstStyle/>
          <a:p>
            <a:pPr latinLnBrk="1"/>
            <a:r>
              <a:rPr lang="zh-CN" altLang="en-US" sz="2400" b="1" dirty="0"/>
              <a:t>集成学习</a:t>
            </a:r>
            <a:r>
              <a:rPr lang="zh-CN" altLang="en-US" sz="2400" dirty="0"/>
              <a:t>框架</a:t>
            </a:r>
            <a:r>
              <a:rPr lang="en-US" altLang="zh-CN" sz="2400" dirty="0"/>
              <a:t>:</a:t>
            </a:r>
          </a:p>
          <a:p>
            <a:pPr marL="342900" indent="-342900" latinLnBrk="1">
              <a:buFont typeface="Wingdings" pitchFamily="2" charset="2"/>
              <a:buChar char="Ø"/>
            </a:pPr>
            <a:r>
              <a:rPr lang="zh-CN" altLang="en-US" sz="2400" dirty="0"/>
              <a:t>由多个基学习器</a:t>
            </a:r>
            <a:r>
              <a:rPr lang="en-US" sz="2400" dirty="0"/>
              <a:t>(base learner</a:t>
            </a:r>
            <a:r>
              <a:rPr lang="en-US" altLang="zh-CN" sz="2400" dirty="0"/>
              <a:t>/classifier</a:t>
            </a:r>
            <a:r>
              <a:rPr lang="en-US" sz="2400" dirty="0"/>
              <a:t>)</a:t>
            </a:r>
            <a:r>
              <a:rPr lang="zh-CN" altLang="en-US" sz="2400" dirty="0"/>
              <a:t>构成，而基学习器由基学习算法（</a:t>
            </a:r>
            <a:r>
              <a:rPr lang="en-US" sz="2400" dirty="0"/>
              <a:t>base learning algorithm</a:t>
            </a:r>
            <a:r>
              <a:rPr lang="zh-CN" altLang="en-US" sz="2400" dirty="0"/>
              <a:t>）在训练数据上训练获得，可以是前面我们学到的决策树、简单的分类算法如</a:t>
            </a:r>
            <a:r>
              <a:rPr lang="en-US" sz="2400" dirty="0"/>
              <a:t>SVM</a:t>
            </a:r>
            <a:r>
              <a:rPr lang="zh-CN" altLang="en-US" sz="2400" dirty="0"/>
              <a:t>、或者是复杂的神经网络等各种学习方法。</a:t>
            </a:r>
            <a:endParaRPr lang="en-CN" sz="2400" dirty="0"/>
          </a:p>
        </p:txBody>
      </p:sp>
      <p:sp>
        <p:nvSpPr>
          <p:cNvPr id="5" name="Rounded Rectangle 4">
            <a:extLst>
              <a:ext uri="{FF2B5EF4-FFF2-40B4-BE49-F238E27FC236}">
                <a16:creationId xmlns:a16="http://schemas.microsoft.com/office/drawing/2014/main" id="{D3DF4ECD-C7FD-644E-A829-0A60D2A1EA84}"/>
              </a:ext>
            </a:extLst>
          </p:cNvPr>
          <p:cNvSpPr/>
          <p:nvPr/>
        </p:nvSpPr>
        <p:spPr>
          <a:xfrm>
            <a:off x="3987384" y="2536075"/>
            <a:ext cx="2938349" cy="2831792"/>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C1EE2D5C-6B91-6B48-A9FB-E922016770D6}"/>
              </a:ext>
            </a:extLst>
          </p:cNvPr>
          <p:cNvSpPr txBox="1"/>
          <p:nvPr/>
        </p:nvSpPr>
        <p:spPr>
          <a:xfrm>
            <a:off x="566962" y="5440229"/>
            <a:ext cx="11036996" cy="369332"/>
          </a:xfrm>
          <a:prstGeom prst="rect">
            <a:avLst/>
          </a:prstGeom>
          <a:noFill/>
        </p:spPr>
        <p:txBody>
          <a:bodyPr wrap="none" rtlCol="0">
            <a:spAutoFit/>
          </a:bodyPr>
          <a:lstStyle/>
          <a:p>
            <a:r>
              <a:rPr lang="en-US" b="1" dirty="0" err="1">
                <a:latin typeface="+mn-ea"/>
              </a:rPr>
              <a:t>同质集成</a:t>
            </a:r>
            <a:r>
              <a:rPr lang="zh-CN" altLang="en-US" b="1" dirty="0"/>
              <a:t> （</a:t>
            </a:r>
            <a:r>
              <a:rPr lang="en-US" b="1" dirty="0"/>
              <a:t>homogeneous ensemble</a:t>
            </a:r>
            <a:r>
              <a:rPr lang="zh-CN" altLang="en-US" b="1" dirty="0"/>
              <a:t>）</a:t>
            </a:r>
            <a:r>
              <a:rPr lang="en-US" altLang="zh-CN" b="1" dirty="0"/>
              <a:t>:</a:t>
            </a:r>
            <a:r>
              <a:rPr lang="zh-CN" altLang="en-US" dirty="0"/>
              <a:t>使用一种基学习算法产生同质的基学习器，即相同种类的学习器。</a:t>
            </a:r>
            <a:endParaRPr lang="en-CN" dirty="0">
              <a:latin typeface="+mn-ea"/>
            </a:endParaRPr>
          </a:p>
        </p:txBody>
      </p:sp>
      <p:sp>
        <p:nvSpPr>
          <p:cNvPr id="28" name="TextBox 27">
            <a:extLst>
              <a:ext uri="{FF2B5EF4-FFF2-40B4-BE49-F238E27FC236}">
                <a16:creationId xmlns:a16="http://schemas.microsoft.com/office/drawing/2014/main" id="{5F506784-40DD-C34D-927E-A6C9E7D12D5C}"/>
              </a:ext>
            </a:extLst>
          </p:cNvPr>
          <p:cNvSpPr txBox="1"/>
          <p:nvPr/>
        </p:nvSpPr>
        <p:spPr>
          <a:xfrm>
            <a:off x="566962" y="5864909"/>
            <a:ext cx="8490851" cy="369332"/>
          </a:xfrm>
          <a:prstGeom prst="rect">
            <a:avLst/>
          </a:prstGeom>
          <a:noFill/>
        </p:spPr>
        <p:txBody>
          <a:bodyPr wrap="none" rtlCol="0">
            <a:spAutoFit/>
          </a:bodyPr>
          <a:lstStyle/>
          <a:p>
            <a:r>
              <a:rPr lang="zh-CN" altLang="en-US" b="1" dirty="0">
                <a:latin typeface="+mn-ea"/>
              </a:rPr>
              <a:t>异质集成（</a:t>
            </a:r>
            <a:r>
              <a:rPr lang="en-US" b="1" dirty="0">
                <a:latin typeface="+mn-ea"/>
              </a:rPr>
              <a:t>heterogeneous ensemble）</a:t>
            </a:r>
            <a:r>
              <a:rPr lang="en-US" altLang="zh-CN" b="1" dirty="0"/>
              <a:t>:</a:t>
            </a:r>
            <a:r>
              <a:rPr lang="zh-CN" altLang="en-US" dirty="0"/>
              <a:t>多种学习算法训练不同种类的学习器。</a:t>
            </a:r>
            <a:endParaRPr lang="en-CN" dirty="0">
              <a:latin typeface="+mn-ea"/>
            </a:endParaRPr>
          </a:p>
        </p:txBody>
      </p:sp>
      <p:sp>
        <p:nvSpPr>
          <p:cNvPr id="8" name="灯片编号占位符 7">
            <a:extLst>
              <a:ext uri="{FF2B5EF4-FFF2-40B4-BE49-F238E27FC236}">
                <a16:creationId xmlns:a16="http://schemas.microsoft.com/office/drawing/2014/main" id="{BCFE7A16-8FFB-419F-8FB2-AB0899C5943A}"/>
              </a:ext>
            </a:extLst>
          </p:cNvPr>
          <p:cNvSpPr>
            <a:spLocks noGrp="1"/>
          </p:cNvSpPr>
          <p:nvPr>
            <p:ph type="sldNum" sz="quarter" idx="14"/>
          </p:nvPr>
        </p:nvSpPr>
        <p:spPr/>
        <p:txBody>
          <a:bodyPr/>
          <a:lstStyle/>
          <a:p>
            <a:fld id="{AF69888C-E133-43D9-A638-B5C95925B91C}" type="slidenum">
              <a:rPr lang="zh-CN" altLang="en-US" smtClean="0"/>
              <a:t>5</a:t>
            </a:fld>
            <a:endParaRPr lang="zh-CN" altLang="en-US" dirty="0"/>
          </a:p>
        </p:txBody>
      </p:sp>
    </p:spTree>
    <p:extLst>
      <p:ext uri="{BB962C8B-B14F-4D97-AF65-F5344CB8AC3E}">
        <p14:creationId xmlns:p14="http://schemas.microsoft.com/office/powerpoint/2010/main" val="104322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CN" dirty="0"/>
              <a:t>集成</a:t>
            </a:r>
            <a:r>
              <a:rPr lang="zh-CN" altLang="en-US" dirty="0"/>
              <a:t>学习的组成</a:t>
            </a:r>
          </a:p>
        </p:txBody>
      </p:sp>
      <p:grpSp>
        <p:nvGrpSpPr>
          <p:cNvPr id="50" name="Group 49">
            <a:extLst>
              <a:ext uri="{FF2B5EF4-FFF2-40B4-BE49-F238E27FC236}">
                <a16:creationId xmlns:a16="http://schemas.microsoft.com/office/drawing/2014/main" id="{A082577F-D1D2-3245-BA98-18432A9735B0}"/>
              </a:ext>
            </a:extLst>
          </p:cNvPr>
          <p:cNvGrpSpPr/>
          <p:nvPr/>
        </p:nvGrpSpPr>
        <p:grpSpPr>
          <a:xfrm>
            <a:off x="2350875" y="2670987"/>
            <a:ext cx="8469525" cy="2551012"/>
            <a:chOff x="1633182" y="2756079"/>
            <a:chExt cx="8689360" cy="2764014"/>
          </a:xfrm>
        </p:grpSpPr>
        <p:sp>
          <p:nvSpPr>
            <p:cNvPr id="3" name="Rounded Rectangle 2">
              <a:extLst>
                <a:ext uri="{FF2B5EF4-FFF2-40B4-BE49-F238E27FC236}">
                  <a16:creationId xmlns:a16="http://schemas.microsoft.com/office/drawing/2014/main" id="{62E7B368-3B5D-1A41-9AD5-DFC2AA18E62C}"/>
                </a:ext>
              </a:extLst>
            </p:cNvPr>
            <p:cNvSpPr/>
            <p:nvPr/>
          </p:nvSpPr>
          <p:spPr>
            <a:xfrm>
              <a:off x="3545982" y="2756079"/>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1</a:t>
              </a:r>
              <a:endParaRPr lang="en-CN" b="1" dirty="0">
                <a:solidFill>
                  <a:schemeClr val="tx1"/>
                </a:solidFill>
              </a:endParaRPr>
            </a:p>
          </p:txBody>
        </p:sp>
        <p:sp>
          <p:nvSpPr>
            <p:cNvPr id="22" name="Rounded Rectangle 21">
              <a:extLst>
                <a:ext uri="{FF2B5EF4-FFF2-40B4-BE49-F238E27FC236}">
                  <a16:creationId xmlns:a16="http://schemas.microsoft.com/office/drawing/2014/main" id="{C59E479D-DFF7-EB4C-9A92-66FEEFE4932F}"/>
                </a:ext>
              </a:extLst>
            </p:cNvPr>
            <p:cNvSpPr/>
            <p:nvPr/>
          </p:nvSpPr>
          <p:spPr>
            <a:xfrm>
              <a:off x="3545980" y="3385648"/>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2</a:t>
              </a:r>
              <a:endParaRPr lang="en-CN" b="1" dirty="0">
                <a:solidFill>
                  <a:schemeClr val="tx1"/>
                </a:solidFill>
              </a:endParaRPr>
            </a:p>
          </p:txBody>
        </p:sp>
        <p:sp>
          <p:nvSpPr>
            <p:cNvPr id="24" name="Rounded Rectangle 23">
              <a:extLst>
                <a:ext uri="{FF2B5EF4-FFF2-40B4-BE49-F238E27FC236}">
                  <a16:creationId xmlns:a16="http://schemas.microsoft.com/office/drawing/2014/main" id="{21E426FD-C58B-7341-8006-13B5B3059108}"/>
                </a:ext>
              </a:extLst>
            </p:cNvPr>
            <p:cNvSpPr/>
            <p:nvPr/>
          </p:nvSpPr>
          <p:spPr>
            <a:xfrm>
              <a:off x="3545980" y="4070017"/>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3</a:t>
              </a:r>
              <a:endParaRPr lang="en-CN" b="1" dirty="0">
                <a:solidFill>
                  <a:schemeClr val="tx1"/>
                </a:solidFill>
              </a:endParaRPr>
            </a:p>
          </p:txBody>
        </p:sp>
        <p:sp>
          <p:nvSpPr>
            <p:cNvPr id="25" name="Rounded Rectangle 24">
              <a:extLst>
                <a:ext uri="{FF2B5EF4-FFF2-40B4-BE49-F238E27FC236}">
                  <a16:creationId xmlns:a16="http://schemas.microsoft.com/office/drawing/2014/main" id="{3F6005B7-2D37-1942-98F8-FAC7556E841F}"/>
                </a:ext>
              </a:extLst>
            </p:cNvPr>
            <p:cNvSpPr/>
            <p:nvPr/>
          </p:nvSpPr>
          <p:spPr>
            <a:xfrm>
              <a:off x="3545980" y="5093596"/>
              <a:ext cx="2550018"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Classifier</a:t>
              </a:r>
              <a:r>
                <a:rPr lang="zh-CN" altLang="en-US" b="1" dirty="0">
                  <a:solidFill>
                    <a:schemeClr val="tx1"/>
                  </a:solidFill>
                </a:rPr>
                <a:t> </a:t>
              </a:r>
              <a:r>
                <a:rPr lang="en-US" altLang="zh-CN" b="1" dirty="0">
                  <a:solidFill>
                    <a:schemeClr val="tx1"/>
                  </a:solidFill>
                </a:rPr>
                <a:t>N</a:t>
              </a:r>
              <a:endParaRPr lang="en-CN" b="1" dirty="0">
                <a:solidFill>
                  <a:schemeClr val="tx1"/>
                </a:solidFill>
              </a:endParaRPr>
            </a:p>
          </p:txBody>
        </p:sp>
        <p:cxnSp>
          <p:nvCxnSpPr>
            <p:cNvPr id="6" name="Straight Arrow Connector 5">
              <a:extLst>
                <a:ext uri="{FF2B5EF4-FFF2-40B4-BE49-F238E27FC236}">
                  <a16:creationId xmlns:a16="http://schemas.microsoft.com/office/drawing/2014/main" id="{4BE7F4A9-9526-F440-B0CB-3A4B33262554}"/>
                </a:ext>
              </a:extLst>
            </p:cNvPr>
            <p:cNvCxnSpPr>
              <a:cxnSpLocks/>
              <a:stCxn id="3" idx="3"/>
            </p:cNvCxnSpPr>
            <p:nvPr/>
          </p:nvCxnSpPr>
          <p:spPr>
            <a:xfrm>
              <a:off x="6096000" y="2969328"/>
              <a:ext cx="1489656" cy="110068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DB0055C-7357-E746-AE8C-92DD6F981CEE}"/>
                </a:ext>
              </a:extLst>
            </p:cNvPr>
            <p:cNvCxnSpPr>
              <a:cxnSpLocks/>
            </p:cNvCxnSpPr>
            <p:nvPr/>
          </p:nvCxnSpPr>
          <p:spPr>
            <a:xfrm>
              <a:off x="6096000" y="3640529"/>
              <a:ext cx="1489656" cy="42948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B5FA121-2CF6-1A4F-A5D1-292D3E525B73}"/>
                </a:ext>
              </a:extLst>
            </p:cNvPr>
            <p:cNvCxnSpPr>
              <a:cxnSpLocks/>
              <a:stCxn id="24" idx="3"/>
            </p:cNvCxnSpPr>
            <p:nvPr/>
          </p:nvCxnSpPr>
          <p:spPr>
            <a:xfrm flipV="1">
              <a:off x="6095998" y="4067026"/>
              <a:ext cx="1489658" cy="21624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B75647F-9CA7-CC44-A725-B728317E9BA2}"/>
                </a:ext>
              </a:extLst>
            </p:cNvPr>
            <p:cNvCxnSpPr>
              <a:cxnSpLocks/>
              <a:stCxn id="25" idx="3"/>
            </p:cNvCxnSpPr>
            <p:nvPr/>
          </p:nvCxnSpPr>
          <p:spPr>
            <a:xfrm flipV="1">
              <a:off x="6095998" y="4067026"/>
              <a:ext cx="1489658" cy="123981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42205D09-436B-2540-A78C-26ADB916EED6}"/>
                </a:ext>
              </a:extLst>
            </p:cNvPr>
            <p:cNvSpPr/>
            <p:nvPr/>
          </p:nvSpPr>
          <p:spPr>
            <a:xfrm>
              <a:off x="7585656" y="3829057"/>
              <a:ext cx="1854558" cy="42649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Combiner</a:t>
              </a:r>
              <a:endParaRPr lang="en-CN" b="1" dirty="0">
                <a:solidFill>
                  <a:schemeClr val="tx1"/>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D5E5042-D9D4-5145-9D4B-8F140A6E3786}"/>
                    </a:ext>
                  </a:extLst>
                </p:cNvPr>
                <p:cNvSpPr txBox="1"/>
                <p:nvPr/>
              </p:nvSpPr>
              <p:spPr>
                <a:xfrm>
                  <a:off x="4769959" y="4656555"/>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33" name="TextBox 32">
                  <a:extLst>
                    <a:ext uri="{FF2B5EF4-FFF2-40B4-BE49-F238E27FC236}">
                      <a16:creationId xmlns:a16="http://schemas.microsoft.com/office/drawing/2014/main" id="{4D5E5042-D9D4-5145-9D4B-8F140A6E3786}"/>
                    </a:ext>
                  </a:extLst>
                </p:cNvPr>
                <p:cNvSpPr txBox="1">
                  <a:spLocks noRot="1" noChangeAspect="1" noMove="1" noResize="1" noEditPoints="1" noAdjustHandles="1" noChangeArrowheads="1" noChangeShapeType="1" noTextEdit="1"/>
                </p:cNvSpPr>
                <p:nvPr/>
              </p:nvSpPr>
              <p:spPr>
                <a:xfrm>
                  <a:off x="4769959" y="4656555"/>
                  <a:ext cx="141064" cy="276999"/>
                </a:xfrm>
                <a:prstGeom prst="rect">
                  <a:avLst/>
                </a:prstGeom>
                <a:blipFill>
                  <a:blip r:embed="rId3"/>
                  <a:stretch>
                    <a:fillRect l="-25000" r="-25000" b="-14286"/>
                  </a:stretch>
                </a:blipFill>
              </p:spPr>
              <p:txBody>
                <a:bodyPr/>
                <a:lstStyle/>
                <a:p>
                  <a:r>
                    <a:rPr lang="en-CN">
                      <a:noFill/>
                    </a:rPr>
                    <a:t> </a:t>
                  </a:r>
                </a:p>
              </p:txBody>
            </p:sp>
          </mc:Fallback>
        </mc:AlternateContent>
        <p:cxnSp>
          <p:nvCxnSpPr>
            <p:cNvPr id="34" name="Straight Arrow Connector 33">
              <a:extLst>
                <a:ext uri="{FF2B5EF4-FFF2-40B4-BE49-F238E27FC236}">
                  <a16:creationId xmlns:a16="http://schemas.microsoft.com/office/drawing/2014/main" id="{522659EE-D646-C741-8EE5-90EC6C5FD5A2}"/>
                </a:ext>
              </a:extLst>
            </p:cNvPr>
            <p:cNvCxnSpPr>
              <a:cxnSpLocks/>
              <a:endCxn id="3" idx="1"/>
            </p:cNvCxnSpPr>
            <p:nvPr/>
          </p:nvCxnSpPr>
          <p:spPr>
            <a:xfrm flipV="1">
              <a:off x="1944547" y="2969328"/>
              <a:ext cx="1601435" cy="94064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E2CA60-BEA4-6C4F-AACE-7708FA3E64CD}"/>
                </a:ext>
              </a:extLst>
            </p:cNvPr>
            <p:cNvCxnSpPr>
              <a:cxnSpLocks/>
              <a:endCxn id="22" idx="1"/>
            </p:cNvCxnSpPr>
            <p:nvPr/>
          </p:nvCxnSpPr>
          <p:spPr>
            <a:xfrm flipV="1">
              <a:off x="1944547" y="3598897"/>
              <a:ext cx="1601433" cy="311079"/>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71844E5-878F-E647-91FF-096D902219DE}"/>
                </a:ext>
              </a:extLst>
            </p:cNvPr>
            <p:cNvCxnSpPr>
              <a:cxnSpLocks/>
              <a:endCxn id="24" idx="1"/>
            </p:cNvCxnSpPr>
            <p:nvPr/>
          </p:nvCxnSpPr>
          <p:spPr>
            <a:xfrm>
              <a:off x="1944547" y="3909976"/>
              <a:ext cx="1601433" cy="37329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1D8C536-2C41-F545-929B-D408BEC40DE4}"/>
                </a:ext>
              </a:extLst>
            </p:cNvPr>
            <p:cNvCxnSpPr>
              <a:cxnSpLocks/>
              <a:endCxn id="25" idx="1"/>
            </p:cNvCxnSpPr>
            <p:nvPr/>
          </p:nvCxnSpPr>
          <p:spPr>
            <a:xfrm>
              <a:off x="1944545" y="3924041"/>
              <a:ext cx="1601435" cy="138280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2C66DE6-CB69-034E-B1F6-D31E2AE7E7ED}"/>
                    </a:ext>
                  </a:extLst>
                </p:cNvPr>
                <p:cNvSpPr txBox="1"/>
                <p:nvPr/>
              </p:nvSpPr>
              <p:spPr>
                <a:xfrm>
                  <a:off x="1633182" y="3701933"/>
                  <a:ext cx="26930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𝒙</m:t>
                        </m:r>
                      </m:oMath>
                    </m:oMathPara>
                  </a14:m>
                  <a:endParaRPr lang="en-CN" sz="2400" b="1" dirty="0">
                    <a:latin typeface="+mn-ea"/>
                  </a:endParaRPr>
                </a:p>
              </p:txBody>
            </p:sp>
          </mc:Choice>
          <mc:Fallback xmlns="">
            <p:sp>
              <p:nvSpPr>
                <p:cNvPr id="46" name="TextBox 45">
                  <a:extLst>
                    <a:ext uri="{FF2B5EF4-FFF2-40B4-BE49-F238E27FC236}">
                      <a16:creationId xmlns:a16="http://schemas.microsoft.com/office/drawing/2014/main" id="{42C66DE6-CB69-034E-B1F6-D31E2AE7E7ED}"/>
                    </a:ext>
                  </a:extLst>
                </p:cNvPr>
                <p:cNvSpPr txBox="1">
                  <a:spLocks noRot="1" noChangeAspect="1" noMove="1" noResize="1" noEditPoints="1" noAdjustHandles="1" noChangeArrowheads="1" noChangeShapeType="1" noTextEdit="1"/>
                </p:cNvSpPr>
                <p:nvPr/>
              </p:nvSpPr>
              <p:spPr>
                <a:xfrm>
                  <a:off x="1633182" y="3701933"/>
                  <a:ext cx="269304" cy="369332"/>
                </a:xfrm>
                <a:prstGeom prst="rect">
                  <a:avLst/>
                </a:prstGeom>
                <a:blipFill>
                  <a:blip r:embed="rId4"/>
                  <a:stretch>
                    <a:fillRect l="-14286" r="-14286" b="-1071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A2F6808-AA04-3540-B914-664D6FC5E44C}"/>
                    </a:ext>
                  </a:extLst>
                </p:cNvPr>
                <p:cNvSpPr txBox="1"/>
                <p:nvPr/>
              </p:nvSpPr>
              <p:spPr>
                <a:xfrm>
                  <a:off x="10046825" y="3818292"/>
                  <a:ext cx="275717"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𝒚</m:t>
                        </m:r>
                      </m:oMath>
                    </m:oMathPara>
                  </a14:m>
                  <a:endParaRPr lang="en-CN" sz="2400" b="1" dirty="0">
                    <a:latin typeface="+mn-ea"/>
                  </a:endParaRPr>
                </a:p>
              </p:txBody>
            </p:sp>
          </mc:Choice>
          <mc:Fallback xmlns="">
            <p:sp>
              <p:nvSpPr>
                <p:cNvPr id="47" name="TextBox 46">
                  <a:extLst>
                    <a:ext uri="{FF2B5EF4-FFF2-40B4-BE49-F238E27FC236}">
                      <a16:creationId xmlns:a16="http://schemas.microsoft.com/office/drawing/2014/main" id="{BA2F6808-AA04-3540-B914-664D6FC5E44C}"/>
                    </a:ext>
                  </a:extLst>
                </p:cNvPr>
                <p:cNvSpPr txBox="1">
                  <a:spLocks noRot="1" noChangeAspect="1" noMove="1" noResize="1" noEditPoints="1" noAdjustHandles="1" noChangeArrowheads="1" noChangeShapeType="1" noTextEdit="1"/>
                </p:cNvSpPr>
                <p:nvPr/>
              </p:nvSpPr>
              <p:spPr>
                <a:xfrm>
                  <a:off x="10046825" y="3818292"/>
                  <a:ext cx="275717" cy="369332"/>
                </a:xfrm>
                <a:prstGeom prst="rect">
                  <a:avLst/>
                </a:prstGeom>
                <a:blipFill>
                  <a:blip r:embed="rId5"/>
                  <a:stretch>
                    <a:fillRect l="-21739" r="-21739" b="-35714"/>
                  </a:stretch>
                </a:blipFill>
              </p:spPr>
              <p:txBody>
                <a:bodyPr/>
                <a:lstStyle/>
                <a:p>
                  <a:r>
                    <a:rPr lang="en-CN">
                      <a:noFill/>
                    </a:rPr>
                    <a:t> </a:t>
                  </a:r>
                </a:p>
              </p:txBody>
            </p:sp>
          </mc:Fallback>
        </mc:AlternateContent>
        <p:cxnSp>
          <p:nvCxnSpPr>
            <p:cNvPr id="48" name="Straight Arrow Connector 47">
              <a:extLst>
                <a:ext uri="{FF2B5EF4-FFF2-40B4-BE49-F238E27FC236}">
                  <a16:creationId xmlns:a16="http://schemas.microsoft.com/office/drawing/2014/main" id="{E745684A-056B-6741-88B7-C5B474C9B772}"/>
                </a:ext>
              </a:extLst>
            </p:cNvPr>
            <p:cNvCxnSpPr>
              <a:cxnSpLocks/>
            </p:cNvCxnSpPr>
            <p:nvPr/>
          </p:nvCxnSpPr>
          <p:spPr>
            <a:xfrm flipV="1">
              <a:off x="9427825" y="4042138"/>
              <a:ext cx="619000" cy="1"/>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A688CB4E-ED8A-0D4F-B591-1F76F5A96B49}"/>
              </a:ext>
            </a:extLst>
          </p:cNvPr>
          <p:cNvSpPr txBox="1"/>
          <p:nvPr/>
        </p:nvSpPr>
        <p:spPr>
          <a:xfrm>
            <a:off x="566962" y="966415"/>
            <a:ext cx="11485130" cy="1200329"/>
          </a:xfrm>
          <a:prstGeom prst="rect">
            <a:avLst/>
          </a:prstGeom>
          <a:noFill/>
        </p:spPr>
        <p:txBody>
          <a:bodyPr wrap="square" rtlCol="0">
            <a:spAutoFit/>
          </a:bodyPr>
          <a:lstStyle/>
          <a:p>
            <a:pPr latinLnBrk="1"/>
            <a:r>
              <a:rPr lang="zh-CN" altLang="en-US" sz="2400" b="1" dirty="0"/>
              <a:t>集成学习</a:t>
            </a:r>
            <a:r>
              <a:rPr lang="zh-CN" altLang="en-US" sz="2400" dirty="0"/>
              <a:t>框架</a:t>
            </a:r>
            <a:r>
              <a:rPr lang="en-US" altLang="zh-CN" sz="2400" dirty="0"/>
              <a:t>:</a:t>
            </a:r>
          </a:p>
          <a:p>
            <a:pPr marL="342900" indent="-342900" latinLnBrk="1">
              <a:buFont typeface="Wingdings" pitchFamily="2" charset="2"/>
              <a:buChar char="Ø"/>
            </a:pPr>
            <a:r>
              <a:rPr lang="zh-CN" altLang="en-CN" sz="2400" dirty="0"/>
              <a:t>集成学习</a:t>
            </a:r>
            <a:r>
              <a:rPr lang="zh-CN" altLang="en-US" sz="2400" dirty="0"/>
              <a:t>的决策由最终的集成器（</a:t>
            </a:r>
            <a:r>
              <a:rPr lang="en-US" altLang="zh-CN" sz="2400" dirty="0"/>
              <a:t>Combiner</a:t>
            </a:r>
            <a:r>
              <a:rPr lang="zh-CN" altLang="en-US" sz="2400" dirty="0"/>
              <a:t>）采用一定的集成策略生成，它使得</a:t>
            </a:r>
            <a:endParaRPr lang="en-US" altLang="zh-CN" sz="2400" dirty="0"/>
          </a:p>
          <a:p>
            <a:pPr latinLnBrk="1"/>
            <a:r>
              <a:rPr lang="zh-CN" altLang="en-US" sz="2400" dirty="0"/>
              <a:t>整个集成算法具有更强的泛化能力</a:t>
            </a:r>
            <a:endParaRPr lang="en-CN" sz="2400" dirty="0"/>
          </a:p>
        </p:txBody>
      </p:sp>
      <p:sp>
        <p:nvSpPr>
          <p:cNvPr id="5" name="Rounded Rectangle 4">
            <a:extLst>
              <a:ext uri="{FF2B5EF4-FFF2-40B4-BE49-F238E27FC236}">
                <a16:creationId xmlns:a16="http://schemas.microsoft.com/office/drawing/2014/main" id="{D3DF4ECD-C7FD-644E-A829-0A60D2A1EA84}"/>
              </a:ext>
            </a:extLst>
          </p:cNvPr>
          <p:cNvSpPr/>
          <p:nvPr/>
        </p:nvSpPr>
        <p:spPr>
          <a:xfrm>
            <a:off x="7581363" y="3309726"/>
            <a:ext cx="2938349" cy="1209244"/>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8" name="TextBox 7">
            <a:extLst>
              <a:ext uri="{FF2B5EF4-FFF2-40B4-BE49-F238E27FC236}">
                <a16:creationId xmlns:a16="http://schemas.microsoft.com/office/drawing/2014/main" id="{D1607828-8807-0B43-BB98-B8958FDB2557}"/>
              </a:ext>
            </a:extLst>
          </p:cNvPr>
          <p:cNvSpPr txBox="1"/>
          <p:nvPr/>
        </p:nvSpPr>
        <p:spPr>
          <a:xfrm>
            <a:off x="566962" y="5465868"/>
            <a:ext cx="11066238" cy="1015663"/>
          </a:xfrm>
          <a:prstGeom prst="rect">
            <a:avLst/>
          </a:prstGeom>
          <a:noFill/>
        </p:spPr>
        <p:txBody>
          <a:bodyPr wrap="square" rtlCol="0">
            <a:spAutoFit/>
          </a:bodyPr>
          <a:lstStyle/>
          <a:p>
            <a:r>
              <a:rPr lang="en-CN" sz="2000" b="1" dirty="0">
                <a:solidFill>
                  <a:schemeClr val="accent1">
                    <a:lumMod val="50000"/>
                  </a:schemeClr>
                </a:solidFill>
                <a:latin typeface="+mn-ea"/>
              </a:rPr>
              <a:t>集成学习受欢迎的原因</a:t>
            </a:r>
            <a:r>
              <a:rPr lang="zh-CN" altLang="en-US" sz="2000" b="1" dirty="0">
                <a:solidFill>
                  <a:schemeClr val="accent1">
                    <a:lumMod val="50000"/>
                  </a:schemeClr>
                </a:solidFill>
                <a:latin typeface="+mn-ea"/>
              </a:rPr>
              <a:t>：</a:t>
            </a:r>
            <a:r>
              <a:rPr lang="zh-CN" altLang="en-US" sz="2000" dirty="0">
                <a:solidFill>
                  <a:schemeClr val="accent1">
                    <a:lumMod val="50000"/>
                  </a:schemeClr>
                </a:solidFill>
              </a:rPr>
              <a:t>把比随机猜测稍好的</a:t>
            </a:r>
            <a:r>
              <a:rPr lang="zh-CN" altLang="en-US" sz="2000" dirty="0">
                <a:solidFill>
                  <a:srgbClr val="FF0000"/>
                </a:solidFill>
              </a:rPr>
              <a:t>弱学习器</a:t>
            </a:r>
            <a:r>
              <a:rPr lang="zh-CN" altLang="en-US" sz="2000" dirty="0">
                <a:solidFill>
                  <a:schemeClr val="accent1">
                    <a:lumMod val="50000"/>
                  </a:schemeClr>
                </a:solidFill>
              </a:rPr>
              <a:t>（</a:t>
            </a:r>
            <a:r>
              <a:rPr lang="en-US" sz="2000" dirty="0">
                <a:solidFill>
                  <a:schemeClr val="accent1">
                    <a:lumMod val="50000"/>
                  </a:schemeClr>
                </a:solidFill>
              </a:rPr>
              <a:t>weak learner</a:t>
            </a:r>
            <a:r>
              <a:rPr lang="zh-CN" altLang="en-US" sz="2000" dirty="0">
                <a:solidFill>
                  <a:schemeClr val="accent1">
                    <a:lumMod val="50000"/>
                  </a:schemeClr>
                </a:solidFill>
              </a:rPr>
              <a:t>）变成可以精确预测的</a:t>
            </a:r>
            <a:r>
              <a:rPr lang="zh-CN" altLang="en-US" sz="2000" dirty="0">
                <a:solidFill>
                  <a:srgbClr val="FF0000"/>
                </a:solidFill>
              </a:rPr>
              <a:t>强学习器</a:t>
            </a:r>
            <a:r>
              <a:rPr lang="zh-CN" altLang="en-US" sz="2000" dirty="0">
                <a:solidFill>
                  <a:schemeClr val="accent1">
                    <a:lumMod val="50000"/>
                  </a:schemeClr>
                </a:solidFill>
              </a:rPr>
              <a:t>（</a:t>
            </a:r>
            <a:r>
              <a:rPr lang="en-US" sz="2000" dirty="0">
                <a:solidFill>
                  <a:schemeClr val="accent1">
                    <a:lumMod val="50000"/>
                  </a:schemeClr>
                </a:solidFill>
              </a:rPr>
              <a:t>strong learner</a:t>
            </a:r>
            <a:r>
              <a:rPr lang="zh-CN" altLang="en-US" sz="2000" dirty="0">
                <a:solidFill>
                  <a:schemeClr val="accent1">
                    <a:lumMod val="50000"/>
                  </a:schemeClr>
                </a:solidFill>
              </a:rPr>
              <a:t>）。</a:t>
            </a:r>
            <a:endParaRPr lang="en-CN" sz="2000" dirty="0">
              <a:solidFill>
                <a:schemeClr val="accent1">
                  <a:lumMod val="50000"/>
                </a:schemeClr>
              </a:solidFill>
            </a:endParaRPr>
          </a:p>
          <a:p>
            <a:pPr algn="l"/>
            <a:endParaRPr lang="en-CN" sz="2000" b="1" dirty="0">
              <a:latin typeface="+mn-ea"/>
            </a:endParaRPr>
          </a:p>
        </p:txBody>
      </p:sp>
      <p:sp>
        <p:nvSpPr>
          <p:cNvPr id="7" name="灯片编号占位符 6">
            <a:extLst>
              <a:ext uri="{FF2B5EF4-FFF2-40B4-BE49-F238E27FC236}">
                <a16:creationId xmlns:a16="http://schemas.microsoft.com/office/drawing/2014/main" id="{23C6B14D-E728-4C67-9468-2C59EA77DCF8}"/>
              </a:ext>
            </a:extLst>
          </p:cNvPr>
          <p:cNvSpPr>
            <a:spLocks noGrp="1"/>
          </p:cNvSpPr>
          <p:nvPr>
            <p:ph type="sldNum" sz="quarter" idx="14"/>
          </p:nvPr>
        </p:nvSpPr>
        <p:spPr/>
        <p:txBody>
          <a:bodyPr/>
          <a:lstStyle/>
          <a:p>
            <a:fld id="{AF69888C-E133-43D9-A638-B5C95925B91C}" type="slidenum">
              <a:rPr lang="zh-CN" altLang="en-US" smtClean="0"/>
              <a:t>6</a:t>
            </a:fld>
            <a:endParaRPr lang="zh-CN" altLang="en-US" dirty="0"/>
          </a:p>
        </p:txBody>
      </p:sp>
    </p:spTree>
    <p:extLst>
      <p:ext uri="{BB962C8B-B14F-4D97-AF65-F5344CB8AC3E}">
        <p14:creationId xmlns:p14="http://schemas.microsoft.com/office/powerpoint/2010/main" val="272686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基学习器的训练需要注意的问题</a:t>
            </a:r>
          </a:p>
        </p:txBody>
      </p:sp>
      <p:sp>
        <p:nvSpPr>
          <p:cNvPr id="2" name="TextBox 1">
            <a:extLst>
              <a:ext uri="{FF2B5EF4-FFF2-40B4-BE49-F238E27FC236}">
                <a16:creationId xmlns:a16="http://schemas.microsoft.com/office/drawing/2014/main" id="{7F15A266-D46C-AE4E-8F41-DA153C4830AF}"/>
              </a:ext>
            </a:extLst>
          </p:cNvPr>
          <p:cNvSpPr txBox="1"/>
          <p:nvPr/>
        </p:nvSpPr>
        <p:spPr>
          <a:xfrm>
            <a:off x="2556587" y="1130300"/>
            <a:ext cx="7463903" cy="523220"/>
          </a:xfrm>
          <a:prstGeom prst="rect">
            <a:avLst/>
          </a:prstGeom>
          <a:noFill/>
        </p:spPr>
        <p:txBody>
          <a:bodyPr wrap="none" rtlCol="0">
            <a:spAutoFit/>
          </a:bodyPr>
          <a:lstStyle/>
          <a:p>
            <a:r>
              <a:rPr lang="zh-CN" altLang="en-US" sz="2800" b="1" dirty="0"/>
              <a:t>集成学习需要生成既</a:t>
            </a:r>
            <a:r>
              <a:rPr lang="zh-CN" altLang="en-US" sz="2800" b="1" dirty="0">
                <a:solidFill>
                  <a:srgbClr val="FF0000"/>
                </a:solidFill>
              </a:rPr>
              <a:t>相关又不相同</a:t>
            </a:r>
            <a:r>
              <a:rPr lang="zh-CN" altLang="en-US" sz="2800" b="1" dirty="0"/>
              <a:t>的基学习器</a:t>
            </a:r>
            <a:r>
              <a:rPr lang="en-CN" sz="2800" dirty="0"/>
              <a:t> </a:t>
            </a:r>
            <a:endParaRPr lang="en-CN" sz="2800" dirty="0">
              <a:latin typeface="+mn-ea"/>
            </a:endParaRPr>
          </a:p>
        </p:txBody>
      </p:sp>
      <p:sp>
        <p:nvSpPr>
          <p:cNvPr id="6" name="Rectangle 5">
            <a:extLst>
              <a:ext uri="{FF2B5EF4-FFF2-40B4-BE49-F238E27FC236}">
                <a16:creationId xmlns:a16="http://schemas.microsoft.com/office/drawing/2014/main" id="{ECCC2BB5-B0DB-CE41-A0F0-391D4BCFCF4C}"/>
              </a:ext>
            </a:extLst>
          </p:cNvPr>
          <p:cNvSpPr/>
          <p:nvPr/>
        </p:nvSpPr>
        <p:spPr>
          <a:xfrm>
            <a:off x="660400" y="1774279"/>
            <a:ext cx="2407298" cy="6344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b="1" dirty="0">
                <a:solidFill>
                  <a:schemeClr val="tx1"/>
                </a:solidFill>
                <a:latin typeface="+mj-ea"/>
                <a:ea typeface="+mj-ea"/>
              </a:rPr>
              <a:t>不同的参数</a:t>
            </a:r>
          </a:p>
        </p:txBody>
      </p:sp>
      <p:sp>
        <p:nvSpPr>
          <p:cNvPr id="7" name="Rectangle 6">
            <a:extLst>
              <a:ext uri="{FF2B5EF4-FFF2-40B4-BE49-F238E27FC236}">
                <a16:creationId xmlns:a16="http://schemas.microsoft.com/office/drawing/2014/main" id="{B4662A9B-374E-0548-80AB-C7FAFE105CCC}"/>
              </a:ext>
            </a:extLst>
          </p:cNvPr>
          <p:cNvSpPr/>
          <p:nvPr/>
        </p:nvSpPr>
        <p:spPr>
          <a:xfrm>
            <a:off x="3465474" y="1774277"/>
            <a:ext cx="2407298" cy="6344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b="1" dirty="0">
                <a:solidFill>
                  <a:schemeClr val="tx1"/>
                </a:solidFill>
                <a:latin typeface="+mj-ea"/>
                <a:ea typeface="+mj-ea"/>
              </a:rPr>
              <a:t>不同的训练样本</a:t>
            </a:r>
          </a:p>
        </p:txBody>
      </p:sp>
      <p:sp>
        <p:nvSpPr>
          <p:cNvPr id="8" name="Rectangle 7">
            <a:extLst>
              <a:ext uri="{FF2B5EF4-FFF2-40B4-BE49-F238E27FC236}">
                <a16:creationId xmlns:a16="http://schemas.microsoft.com/office/drawing/2014/main" id="{DF78F7C5-2607-9649-9773-606AF8D7D192}"/>
              </a:ext>
            </a:extLst>
          </p:cNvPr>
          <p:cNvSpPr/>
          <p:nvPr/>
        </p:nvSpPr>
        <p:spPr>
          <a:xfrm>
            <a:off x="6319230" y="1774277"/>
            <a:ext cx="2407298" cy="6344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b="1" dirty="0">
                <a:solidFill>
                  <a:schemeClr val="tx1"/>
                </a:solidFill>
                <a:latin typeface="+mj-ea"/>
                <a:ea typeface="+mj-ea"/>
              </a:rPr>
              <a:t>不同的特征</a:t>
            </a:r>
          </a:p>
        </p:txBody>
      </p:sp>
      <p:sp>
        <p:nvSpPr>
          <p:cNvPr id="9" name="Rectangle 8">
            <a:extLst>
              <a:ext uri="{FF2B5EF4-FFF2-40B4-BE49-F238E27FC236}">
                <a16:creationId xmlns:a16="http://schemas.microsoft.com/office/drawing/2014/main" id="{CD2A21EB-2D7E-9947-ACE9-E03F4DEC5733}"/>
              </a:ext>
            </a:extLst>
          </p:cNvPr>
          <p:cNvSpPr/>
          <p:nvPr/>
        </p:nvSpPr>
        <p:spPr>
          <a:xfrm>
            <a:off x="9111602" y="1774277"/>
            <a:ext cx="2407298" cy="6344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sz="2400" b="1" dirty="0">
                <a:solidFill>
                  <a:schemeClr val="tx1"/>
                </a:solidFill>
                <a:latin typeface="+mj-ea"/>
                <a:ea typeface="+mj-ea"/>
              </a:rPr>
              <a:t>不同的初始值</a:t>
            </a:r>
          </a:p>
        </p:txBody>
      </p:sp>
      <p:pic>
        <p:nvPicPr>
          <p:cNvPr id="10" name="Picture 9">
            <a:extLst>
              <a:ext uri="{FF2B5EF4-FFF2-40B4-BE49-F238E27FC236}">
                <a16:creationId xmlns:a16="http://schemas.microsoft.com/office/drawing/2014/main" id="{EDA5BC40-D683-3F44-BE34-B13F2ED409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65474" y="2529515"/>
            <a:ext cx="5038156" cy="3755916"/>
          </a:xfrm>
          <a:prstGeom prst="rect">
            <a:avLst/>
          </a:prstGeom>
        </p:spPr>
      </p:pic>
      <p:sp>
        <p:nvSpPr>
          <p:cNvPr id="3" name="灯片编号占位符 2">
            <a:extLst>
              <a:ext uri="{FF2B5EF4-FFF2-40B4-BE49-F238E27FC236}">
                <a16:creationId xmlns:a16="http://schemas.microsoft.com/office/drawing/2014/main" id="{73EF6987-DD9C-4F96-A5E0-A4CC4A1FDB9C}"/>
              </a:ext>
            </a:extLst>
          </p:cNvPr>
          <p:cNvSpPr>
            <a:spLocks noGrp="1"/>
          </p:cNvSpPr>
          <p:nvPr>
            <p:ph type="sldNum" sz="quarter" idx="14"/>
          </p:nvPr>
        </p:nvSpPr>
        <p:spPr/>
        <p:txBody>
          <a:bodyPr/>
          <a:lstStyle/>
          <a:p>
            <a:fld id="{AF69888C-E133-43D9-A638-B5C95925B91C}" type="slidenum">
              <a:rPr lang="zh-CN" altLang="en-US" smtClean="0"/>
              <a:t>7</a:t>
            </a:fld>
            <a:endParaRPr lang="zh-CN" altLang="en-US" dirty="0"/>
          </a:p>
        </p:txBody>
      </p:sp>
    </p:spTree>
    <p:extLst>
      <p:ext uri="{BB962C8B-B14F-4D97-AF65-F5344CB8AC3E}">
        <p14:creationId xmlns:p14="http://schemas.microsoft.com/office/powerpoint/2010/main" val="917113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结合策略</a:t>
            </a:r>
          </a:p>
        </p:txBody>
      </p:sp>
      <p:sp>
        <p:nvSpPr>
          <p:cNvPr id="3" name="TextBox 2">
            <a:extLst>
              <a:ext uri="{FF2B5EF4-FFF2-40B4-BE49-F238E27FC236}">
                <a16:creationId xmlns:a16="http://schemas.microsoft.com/office/drawing/2014/main" id="{91735791-8B02-9941-BC98-3228DE74AFCF}"/>
              </a:ext>
            </a:extLst>
          </p:cNvPr>
          <p:cNvSpPr txBox="1"/>
          <p:nvPr/>
        </p:nvSpPr>
        <p:spPr>
          <a:xfrm>
            <a:off x="660400" y="1159179"/>
            <a:ext cx="10858500" cy="4539641"/>
          </a:xfrm>
          <a:prstGeom prst="rect">
            <a:avLst/>
          </a:prstGeom>
          <a:noFill/>
        </p:spPr>
        <p:txBody>
          <a:bodyPr wrap="square" rtlCol="0">
            <a:spAutoFit/>
          </a:bodyPr>
          <a:lstStyle/>
          <a:p>
            <a:pPr>
              <a:lnSpc>
                <a:spcPct val="150000"/>
              </a:lnSpc>
            </a:pPr>
            <a:r>
              <a:rPr lang="zh-CN" altLang="en-US" sz="2800" b="1" dirty="0"/>
              <a:t>对基学习器进行结合时，有很多不同的策略：</a:t>
            </a:r>
            <a:endParaRPr lang="en-CN" sz="2800" dirty="0"/>
          </a:p>
          <a:p>
            <a:pPr marL="457200" lvl="0" indent="-457200">
              <a:lnSpc>
                <a:spcPct val="150000"/>
              </a:lnSpc>
              <a:buFont typeface="Wingdings" pitchFamily="2" charset="2"/>
              <a:buChar char="Ø"/>
            </a:pPr>
            <a:r>
              <a:rPr lang="zh-CN" altLang="en-US" sz="2800" dirty="0"/>
              <a:t>采用</a:t>
            </a:r>
            <a:r>
              <a:rPr lang="zh-CN" altLang="en-US" sz="2800" dirty="0">
                <a:solidFill>
                  <a:srgbClr val="FF0000"/>
                </a:solidFill>
              </a:rPr>
              <a:t>加权平均</a:t>
            </a:r>
            <a:r>
              <a:rPr lang="zh-CN" altLang="en-US" sz="2800" dirty="0"/>
              <a:t>可以得到比简单平均更好的泛化能力。但是，也有一些研究者认为，对权值进行优化将会导致过配</a:t>
            </a:r>
            <a:r>
              <a:rPr lang="en-CN" sz="2800" dirty="0"/>
              <a:t>(overfiting)</a:t>
            </a:r>
            <a:r>
              <a:rPr lang="zh-CN" altLang="en-US" sz="2800" dirty="0"/>
              <a:t>，从而使得集成的泛化能力降低，因此，他们建议使用</a:t>
            </a:r>
            <a:r>
              <a:rPr lang="zh-CN" altLang="en-US" sz="2800" dirty="0">
                <a:solidFill>
                  <a:srgbClr val="FF0000"/>
                </a:solidFill>
              </a:rPr>
              <a:t>简单平均</a:t>
            </a:r>
            <a:r>
              <a:rPr lang="zh-CN" altLang="en-US" sz="2800" dirty="0"/>
              <a:t>。</a:t>
            </a:r>
            <a:endParaRPr lang="en-CN" sz="2800" dirty="0"/>
          </a:p>
          <a:p>
            <a:pPr marL="457200" lvl="0" indent="-457200">
              <a:lnSpc>
                <a:spcPct val="150000"/>
              </a:lnSpc>
              <a:buFont typeface="Wingdings" pitchFamily="2" charset="2"/>
              <a:buChar char="Ø"/>
            </a:pPr>
            <a:r>
              <a:rPr lang="zh-CN" altLang="en-US" sz="2800" dirty="0"/>
              <a:t>在分类问题上，集成的输出往往由个体学习器投票决定，</a:t>
            </a:r>
            <a:r>
              <a:rPr lang="zh-CN" altLang="en-US" sz="2800" dirty="0">
                <a:solidFill>
                  <a:srgbClr val="FF0000"/>
                </a:solidFill>
              </a:rPr>
              <a:t>投票法</a:t>
            </a:r>
            <a:r>
              <a:rPr lang="zh-CN" altLang="en-US" sz="2800" dirty="0"/>
              <a:t>是一种很早开始就获得广泛使用的方法。</a:t>
            </a:r>
            <a:r>
              <a:rPr lang="en-CN" sz="2800" dirty="0"/>
              <a:t>(Random forest, </a:t>
            </a:r>
            <a:r>
              <a:rPr lang="en-US" altLang="zh-CN" sz="2800" dirty="0"/>
              <a:t>A</a:t>
            </a:r>
            <a:r>
              <a:rPr lang="en-CN" sz="2800" dirty="0"/>
              <a:t>daboost)</a:t>
            </a:r>
            <a:endParaRPr lang="en-CN" sz="2800" dirty="0">
              <a:latin typeface="+mn-ea"/>
            </a:endParaRPr>
          </a:p>
        </p:txBody>
      </p:sp>
      <p:sp>
        <p:nvSpPr>
          <p:cNvPr id="2" name="灯片编号占位符 1">
            <a:extLst>
              <a:ext uri="{FF2B5EF4-FFF2-40B4-BE49-F238E27FC236}">
                <a16:creationId xmlns:a16="http://schemas.microsoft.com/office/drawing/2014/main" id="{4F23C35B-B04B-4DD8-B188-8CBCD3523D08}"/>
              </a:ext>
            </a:extLst>
          </p:cNvPr>
          <p:cNvSpPr>
            <a:spLocks noGrp="1"/>
          </p:cNvSpPr>
          <p:nvPr>
            <p:ph type="sldNum" sz="quarter" idx="14"/>
          </p:nvPr>
        </p:nvSpPr>
        <p:spPr/>
        <p:txBody>
          <a:bodyPr/>
          <a:lstStyle/>
          <a:p>
            <a:fld id="{AF69888C-E133-43D9-A638-B5C95925B91C}" type="slidenum">
              <a:rPr lang="zh-CN" altLang="en-US" smtClean="0"/>
              <a:t>8</a:t>
            </a:fld>
            <a:endParaRPr lang="zh-CN" altLang="en-US" dirty="0"/>
          </a:p>
        </p:txBody>
      </p:sp>
    </p:spTree>
    <p:extLst>
      <p:ext uri="{BB962C8B-B14F-4D97-AF65-F5344CB8AC3E}">
        <p14:creationId xmlns:p14="http://schemas.microsoft.com/office/powerpoint/2010/main" val="2664083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2">
            <a:extLst>
              <a:ext uri="{FF2B5EF4-FFF2-40B4-BE49-F238E27FC236}">
                <a16:creationId xmlns:a16="http://schemas.microsoft.com/office/drawing/2014/main" id="{912EDE08-86F0-D94B-BD0F-E4AC79D1BE7C}"/>
              </a:ext>
            </a:extLst>
          </p:cNvPr>
          <p:cNvSpPr/>
          <p:nvPr/>
        </p:nvSpPr>
        <p:spPr>
          <a:xfrm>
            <a:off x="922372" y="989529"/>
            <a:ext cx="10527507" cy="633187"/>
          </a:xfrm>
          <a:prstGeom prst="rect">
            <a:avLst/>
          </a:prstGeom>
        </p:spPr>
        <p:txBody>
          <a:bodyPr wrap="square">
            <a:spAutoFit/>
          </a:bodyPr>
          <a:lstStyle/>
          <a:p>
            <a:pPr marL="342900" indent="-342900">
              <a:lnSpc>
                <a:spcPct val="120000"/>
              </a:lnSpc>
              <a:buFont typeface="Wingdings" pitchFamily="2" charset="2"/>
              <a:buChar char="Ø"/>
            </a:pPr>
            <a:r>
              <a:rPr lang="zh-CN" altLang="en-US" sz="3200" spc="-10" dirty="0">
                <a:solidFill>
                  <a:schemeClr val="accent1">
                    <a:lumMod val="75000"/>
                  </a:schemeClr>
                </a:solidFill>
                <a:latin typeface="+mn-ea"/>
              </a:rPr>
              <a:t>测验：</a:t>
            </a:r>
            <a:endParaRPr lang="en-US" altLang="zh-CN" sz="3200" spc="-10" dirty="0">
              <a:latin typeface="+mn-ea"/>
            </a:endParaRPr>
          </a:p>
        </p:txBody>
      </p:sp>
      <p:sp>
        <p:nvSpPr>
          <p:cNvPr id="37" name="文本框 4">
            <a:extLst>
              <a:ext uri="{FF2B5EF4-FFF2-40B4-BE49-F238E27FC236}">
                <a16:creationId xmlns:a16="http://schemas.microsoft.com/office/drawing/2014/main" id="{D9BF2286-D993-724A-9149-4BDB9BD997FA}"/>
              </a:ext>
            </a:extLst>
          </p:cNvPr>
          <p:cNvSpPr txBox="1"/>
          <p:nvPr/>
        </p:nvSpPr>
        <p:spPr>
          <a:xfrm>
            <a:off x="1055354" y="1622716"/>
            <a:ext cx="10214274" cy="1308820"/>
          </a:xfrm>
          <a:prstGeom prst="rect">
            <a:avLst/>
          </a:prstGeom>
          <a:noFill/>
        </p:spPr>
        <p:txBody>
          <a:bodyPr wrap="square">
            <a:spAutoFit/>
          </a:bodyPr>
          <a:lstStyle/>
          <a:p>
            <a:pPr>
              <a:lnSpc>
                <a:spcPct val="150000"/>
              </a:lnSpc>
            </a:pPr>
            <a:r>
              <a:rPr lang="zh-CN" altLang="en-US" sz="2800" spc="-10" dirty="0">
                <a:latin typeface="+mn-ea"/>
              </a:rPr>
              <a:t>一组基学习器的集成结果</a:t>
            </a:r>
            <a:r>
              <a:rPr lang="en-US" altLang="zh-CN" sz="2800" spc="-10" dirty="0">
                <a:latin typeface="+mn-ea"/>
              </a:rPr>
              <a:t>(Combination)</a:t>
            </a:r>
            <a:r>
              <a:rPr lang="zh-CN" altLang="en-US" sz="2800" spc="-10" dirty="0">
                <a:latin typeface="+mn-ea"/>
              </a:rPr>
              <a:t>与他们中的最优学习器结果</a:t>
            </a:r>
            <a:r>
              <a:rPr lang="en-US" altLang="zh-CN" sz="2800" spc="-10" dirty="0">
                <a:latin typeface="+mn-ea"/>
              </a:rPr>
              <a:t>(Best)</a:t>
            </a:r>
            <a:r>
              <a:rPr lang="zh-CN" altLang="en-US" sz="2800" spc="-10" dirty="0">
                <a:latin typeface="+mn-ea"/>
              </a:rPr>
              <a:t>和平均结果比</a:t>
            </a:r>
            <a:r>
              <a:rPr lang="en-US" altLang="zh-CN" sz="2800" spc="-10" dirty="0">
                <a:latin typeface="+mn-ea"/>
              </a:rPr>
              <a:t>(Average)</a:t>
            </a:r>
            <a:r>
              <a:rPr lang="zh-CN" altLang="en-US" sz="2800" spc="-10" dirty="0">
                <a:latin typeface="+mn-ea"/>
              </a:rPr>
              <a:t>，哪个更好</a:t>
            </a:r>
            <a:r>
              <a:rPr lang="en-US" altLang="zh-CN" sz="2800" spc="-10" dirty="0">
                <a:latin typeface="+mn-ea"/>
              </a:rPr>
              <a:t>(error</a:t>
            </a:r>
            <a:r>
              <a:rPr lang="zh-CN" altLang="en-US" sz="2800" spc="-10" dirty="0">
                <a:latin typeface="+mn-ea"/>
              </a:rPr>
              <a:t>最小</a:t>
            </a:r>
            <a:r>
              <a:rPr lang="en-US" altLang="zh-CN" sz="2800" spc="-10" dirty="0">
                <a:latin typeface="+mn-ea"/>
              </a:rPr>
              <a:t>)</a:t>
            </a:r>
            <a:r>
              <a:rPr lang="zh-CN" altLang="en-US" sz="2800" spc="-10" dirty="0">
                <a:latin typeface="+mn-ea"/>
              </a:rPr>
              <a:t>？</a:t>
            </a:r>
            <a:endParaRPr lang="en-US" altLang="zh-CN" sz="2800" spc="-10" dirty="0">
              <a:latin typeface="+mn-ea"/>
            </a:endParaRPr>
          </a:p>
        </p:txBody>
      </p:sp>
      <p:graphicFrame>
        <p:nvGraphicFramePr>
          <p:cNvPr id="6" name="Chart 5">
            <a:extLst>
              <a:ext uri="{FF2B5EF4-FFF2-40B4-BE49-F238E27FC236}">
                <a16:creationId xmlns:a16="http://schemas.microsoft.com/office/drawing/2014/main" id="{F018F7EF-96AA-B643-BDC9-C318B90A0AF0}"/>
              </a:ext>
            </a:extLst>
          </p:cNvPr>
          <p:cNvGraphicFramePr/>
          <p:nvPr/>
        </p:nvGraphicFramePr>
        <p:xfrm>
          <a:off x="566962" y="2933605"/>
          <a:ext cx="7027333" cy="3073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8E043324-88F5-174F-B8B7-936D8F3A6DB6}"/>
              </a:ext>
            </a:extLst>
          </p:cNvPr>
          <p:cNvSpPr txBox="1"/>
          <p:nvPr/>
        </p:nvSpPr>
        <p:spPr>
          <a:xfrm>
            <a:off x="7594295" y="3169735"/>
            <a:ext cx="1338828" cy="369332"/>
          </a:xfrm>
          <a:prstGeom prst="rect">
            <a:avLst/>
          </a:prstGeom>
          <a:noFill/>
        </p:spPr>
        <p:txBody>
          <a:bodyPr wrap="none" rtlCol="0">
            <a:spAutoFit/>
          </a:bodyPr>
          <a:lstStyle/>
          <a:p>
            <a:pPr algn="l"/>
            <a:r>
              <a:rPr lang="en-CN" b="1" dirty="0">
                <a:latin typeface="+mn-ea"/>
              </a:rPr>
              <a:t>参考文献</a:t>
            </a:r>
            <a:r>
              <a:rPr lang="zh-CN" altLang="en-US" b="1" dirty="0">
                <a:latin typeface="+mn-ea"/>
              </a:rPr>
              <a:t>：</a:t>
            </a:r>
            <a:endParaRPr lang="en-CN" b="1" dirty="0">
              <a:latin typeface="+mn-ea"/>
            </a:endParaRPr>
          </a:p>
        </p:txBody>
      </p:sp>
      <p:sp>
        <p:nvSpPr>
          <p:cNvPr id="8" name="TextBox 7">
            <a:extLst>
              <a:ext uri="{FF2B5EF4-FFF2-40B4-BE49-F238E27FC236}">
                <a16:creationId xmlns:a16="http://schemas.microsoft.com/office/drawing/2014/main" id="{C0561A98-39FD-A64C-86B3-9EE66F146412}"/>
              </a:ext>
            </a:extLst>
          </p:cNvPr>
          <p:cNvSpPr txBox="1"/>
          <p:nvPr/>
        </p:nvSpPr>
        <p:spPr>
          <a:xfrm>
            <a:off x="7594295" y="3643305"/>
            <a:ext cx="1338828" cy="369332"/>
          </a:xfrm>
          <a:prstGeom prst="rect">
            <a:avLst/>
          </a:prstGeom>
          <a:noFill/>
        </p:spPr>
        <p:txBody>
          <a:bodyPr wrap="none" rtlCol="0">
            <a:spAutoFit/>
          </a:bodyPr>
          <a:lstStyle/>
          <a:p>
            <a:pPr algn="l"/>
            <a:r>
              <a:rPr lang="en-CN" dirty="0">
                <a:latin typeface="+mn-ea"/>
              </a:rPr>
              <a:t>实验证明</a:t>
            </a:r>
            <a:r>
              <a:rPr lang="zh-CN" altLang="en-US" dirty="0">
                <a:latin typeface="+mn-ea"/>
              </a:rPr>
              <a:t>：</a:t>
            </a:r>
            <a:endParaRPr lang="en-CN" dirty="0">
              <a:latin typeface="+mn-ea"/>
            </a:endParaRPr>
          </a:p>
        </p:txBody>
      </p:sp>
      <p:sp>
        <p:nvSpPr>
          <p:cNvPr id="9" name="TextBox 8">
            <a:extLst>
              <a:ext uri="{FF2B5EF4-FFF2-40B4-BE49-F238E27FC236}">
                <a16:creationId xmlns:a16="http://schemas.microsoft.com/office/drawing/2014/main" id="{FE18105F-4B3D-6C45-B7F7-68FC1C27B383}"/>
              </a:ext>
            </a:extLst>
          </p:cNvPr>
          <p:cNvSpPr txBox="1"/>
          <p:nvPr/>
        </p:nvSpPr>
        <p:spPr>
          <a:xfrm>
            <a:off x="7594295" y="4100973"/>
            <a:ext cx="4030743" cy="646331"/>
          </a:xfrm>
          <a:prstGeom prst="rect">
            <a:avLst/>
          </a:prstGeom>
          <a:noFill/>
        </p:spPr>
        <p:txBody>
          <a:bodyPr wrap="square" rtlCol="0">
            <a:spAutoFit/>
          </a:bodyPr>
          <a:lstStyle/>
          <a:p>
            <a:r>
              <a:rPr lang="en-CN" i="1" dirty="0"/>
              <a:t>Hansen, L. K., &amp; Salamon, P. (1990). Neural network ensembles.</a:t>
            </a:r>
            <a:endParaRPr lang="en-CN" dirty="0">
              <a:latin typeface="+mn-ea"/>
            </a:endParaRPr>
          </a:p>
        </p:txBody>
      </p:sp>
      <p:sp>
        <p:nvSpPr>
          <p:cNvPr id="38" name="TextBox 37">
            <a:extLst>
              <a:ext uri="{FF2B5EF4-FFF2-40B4-BE49-F238E27FC236}">
                <a16:creationId xmlns:a16="http://schemas.microsoft.com/office/drawing/2014/main" id="{7171FD9E-AB29-334E-83B3-6A81127DD002}"/>
              </a:ext>
            </a:extLst>
          </p:cNvPr>
          <p:cNvSpPr txBox="1"/>
          <p:nvPr/>
        </p:nvSpPr>
        <p:spPr>
          <a:xfrm>
            <a:off x="7601424" y="4811806"/>
            <a:ext cx="1338828" cy="369332"/>
          </a:xfrm>
          <a:prstGeom prst="rect">
            <a:avLst/>
          </a:prstGeom>
          <a:noFill/>
        </p:spPr>
        <p:txBody>
          <a:bodyPr wrap="none" rtlCol="0">
            <a:spAutoFit/>
          </a:bodyPr>
          <a:lstStyle/>
          <a:p>
            <a:pPr algn="l"/>
            <a:r>
              <a:rPr lang="en-CN" dirty="0">
                <a:latin typeface="+mn-ea"/>
              </a:rPr>
              <a:t>理论证明</a:t>
            </a:r>
            <a:r>
              <a:rPr lang="zh-CN" altLang="en-US" dirty="0">
                <a:latin typeface="+mn-ea"/>
              </a:rPr>
              <a:t>：</a:t>
            </a:r>
            <a:endParaRPr lang="en-CN" dirty="0">
              <a:latin typeface="+mn-ea"/>
            </a:endParaRPr>
          </a:p>
        </p:txBody>
      </p:sp>
      <p:sp>
        <p:nvSpPr>
          <p:cNvPr id="10" name="TextBox 9">
            <a:extLst>
              <a:ext uri="{FF2B5EF4-FFF2-40B4-BE49-F238E27FC236}">
                <a16:creationId xmlns:a16="http://schemas.microsoft.com/office/drawing/2014/main" id="{CA2D6011-2CF2-BC42-A14B-0BA0D25C6B17}"/>
              </a:ext>
            </a:extLst>
          </p:cNvPr>
          <p:cNvSpPr txBox="1"/>
          <p:nvPr/>
        </p:nvSpPr>
        <p:spPr>
          <a:xfrm>
            <a:off x="7601424" y="5234413"/>
            <a:ext cx="3848455" cy="646331"/>
          </a:xfrm>
          <a:prstGeom prst="rect">
            <a:avLst/>
          </a:prstGeom>
          <a:noFill/>
        </p:spPr>
        <p:txBody>
          <a:bodyPr wrap="square" rtlCol="0">
            <a:spAutoFit/>
          </a:bodyPr>
          <a:lstStyle/>
          <a:p>
            <a:r>
              <a:rPr lang="en-GB" dirty="0" err="1"/>
              <a:t>Schapire</a:t>
            </a:r>
            <a:r>
              <a:rPr lang="en-GB" dirty="0"/>
              <a:t>, Robert E. "The strength of weak learnability."</a:t>
            </a:r>
            <a:endParaRPr lang="en-CN" dirty="0">
              <a:latin typeface="+mn-ea"/>
            </a:endParaRPr>
          </a:p>
        </p:txBody>
      </p:sp>
      <p:sp>
        <p:nvSpPr>
          <p:cNvPr id="12" name="文本占位符 3">
            <a:extLst>
              <a:ext uri="{FF2B5EF4-FFF2-40B4-BE49-F238E27FC236}">
                <a16:creationId xmlns:a16="http://schemas.microsoft.com/office/drawing/2014/main" id="{9F753E25-C4A4-5BB3-7A03-C0D50802E72C}"/>
              </a:ext>
            </a:extLst>
          </p:cNvPr>
          <p:cNvSpPr>
            <a:spLocks noGrp="1"/>
          </p:cNvSpPr>
          <p:nvPr>
            <p:ph type="body" sz="quarter" idx="12"/>
          </p:nvPr>
        </p:nvSpPr>
        <p:spPr>
          <a:xfrm>
            <a:off x="566962" y="265803"/>
            <a:ext cx="8547058" cy="426497"/>
          </a:xfrm>
        </p:spPr>
        <p:txBody>
          <a:bodyPr/>
          <a:lstStyle/>
          <a:p>
            <a:pPr marL="0" indent="0">
              <a:buNone/>
            </a:pPr>
            <a:r>
              <a:rPr lang="en-US" altLang="zh-CN" dirty="0"/>
              <a:t>1</a:t>
            </a:r>
            <a:r>
              <a:rPr lang="zh-CN" altLang="en-US" dirty="0"/>
              <a:t>、集成学习是什么 </a:t>
            </a:r>
          </a:p>
        </p:txBody>
      </p:sp>
      <p:sp>
        <p:nvSpPr>
          <p:cNvPr id="2" name="灯片编号占位符 1">
            <a:extLst>
              <a:ext uri="{FF2B5EF4-FFF2-40B4-BE49-F238E27FC236}">
                <a16:creationId xmlns:a16="http://schemas.microsoft.com/office/drawing/2014/main" id="{13BF1689-C6D4-47B3-AA1E-3B391698B587}"/>
              </a:ext>
            </a:extLst>
          </p:cNvPr>
          <p:cNvSpPr>
            <a:spLocks noGrp="1"/>
          </p:cNvSpPr>
          <p:nvPr>
            <p:ph type="sldNum" sz="quarter" idx="14"/>
          </p:nvPr>
        </p:nvSpPr>
        <p:spPr/>
        <p:txBody>
          <a:bodyPr/>
          <a:lstStyle/>
          <a:p>
            <a:fld id="{AF69888C-E133-43D9-A638-B5C95925B91C}" type="slidenum">
              <a:rPr lang="zh-CN" altLang="en-US" smtClean="0"/>
              <a:t>9</a:t>
            </a:fld>
            <a:endParaRPr lang="zh-CN" altLang="en-US" dirty="0"/>
          </a:p>
        </p:txBody>
      </p:sp>
    </p:spTree>
    <p:extLst>
      <p:ext uri="{BB962C8B-B14F-4D97-AF65-F5344CB8AC3E}">
        <p14:creationId xmlns:p14="http://schemas.microsoft.com/office/powerpoint/2010/main" val="354594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blinds(horizontal)">
                                      <p:cBhvr>
                                        <p:cTn id="11" dur="500"/>
                                        <p:tgtEl>
                                          <p:spTgt spid="38"/>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p:bldP spid="8" grpId="0"/>
      <p:bldP spid="9" grpId="0"/>
      <p:bldP spid="3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2</a:t>
            </a:r>
            <a:r>
              <a:rPr lang="zh-CN" altLang="en-US" dirty="0"/>
              <a:t>、集成学习的发展史</a:t>
            </a:r>
          </a:p>
        </p:txBody>
      </p:sp>
      <p:sp>
        <p:nvSpPr>
          <p:cNvPr id="11" name="Shape 3791">
            <a:extLst>
              <a:ext uri="{FF2B5EF4-FFF2-40B4-BE49-F238E27FC236}">
                <a16:creationId xmlns:a16="http://schemas.microsoft.com/office/drawing/2014/main" id="{161A3B87-1A88-4F4D-948D-3BBA7AA1EBF7}"/>
              </a:ext>
            </a:extLst>
          </p:cNvPr>
          <p:cNvSpPr/>
          <p:nvPr/>
        </p:nvSpPr>
        <p:spPr>
          <a:xfrm flipH="1">
            <a:off x="617838" y="3004011"/>
            <a:ext cx="10844357" cy="0"/>
          </a:xfrm>
          <a:prstGeom prst="line">
            <a:avLst/>
          </a:prstGeom>
          <a:noFill/>
          <a:ln w="63500" cap="rnd">
            <a:solidFill>
              <a:schemeClr val="bg1">
                <a:lumMod val="50000"/>
                <a:alpha val="50000"/>
              </a:schemeClr>
            </a:solidFill>
            <a:prstDash val="solid"/>
            <a:round/>
            <a:headEnd type="triangle"/>
          </a:ln>
          <a:effectLst/>
        </p:spPr>
        <p:txBody>
          <a:bodyPr wrap="square" lIns="19049" tIns="19049" rIns="19049" bIns="19049" numCol="1" anchor="ctr">
            <a:noAutofit/>
          </a:bodyPr>
          <a:lstStyle/>
          <a:p>
            <a:pPr>
              <a:defRPr sz="800">
                <a:solidFill>
                  <a:srgbClr val="000000"/>
                </a:solidFill>
                <a:latin typeface="Helvetica"/>
                <a:ea typeface="Helvetica"/>
                <a:cs typeface="Helvetica"/>
                <a:sym typeface="Helvetica"/>
              </a:defRPr>
            </a:pPr>
            <a:endParaRPr sz="563"/>
          </a:p>
        </p:txBody>
      </p:sp>
      <p:grpSp>
        <p:nvGrpSpPr>
          <p:cNvPr id="14" name="组合 2">
            <a:extLst>
              <a:ext uri="{FF2B5EF4-FFF2-40B4-BE49-F238E27FC236}">
                <a16:creationId xmlns:a16="http://schemas.microsoft.com/office/drawing/2014/main" id="{5ADB0954-97B2-8B4E-8892-38028DCB70E5}"/>
              </a:ext>
            </a:extLst>
          </p:cNvPr>
          <p:cNvGrpSpPr/>
          <p:nvPr/>
        </p:nvGrpSpPr>
        <p:grpSpPr>
          <a:xfrm>
            <a:off x="931892" y="1102842"/>
            <a:ext cx="2457838" cy="3546878"/>
            <a:chOff x="987876" y="1528988"/>
            <a:chExt cx="2457838" cy="3546878"/>
          </a:xfrm>
        </p:grpSpPr>
        <p:sp>
          <p:nvSpPr>
            <p:cNvPr id="17" name="TextBox 75">
              <a:extLst>
                <a:ext uri="{FF2B5EF4-FFF2-40B4-BE49-F238E27FC236}">
                  <a16:creationId xmlns:a16="http://schemas.microsoft.com/office/drawing/2014/main" id="{6EE6B1DB-EEA3-3E4C-B30B-F262A45A39A3}"/>
                </a:ext>
              </a:extLst>
            </p:cNvPr>
            <p:cNvSpPr txBox="1"/>
            <p:nvPr/>
          </p:nvSpPr>
          <p:spPr>
            <a:xfrm>
              <a:off x="987876" y="3691847"/>
              <a:ext cx="2457838" cy="1384019"/>
            </a:xfrm>
            <a:prstGeom prst="rect">
              <a:avLst/>
            </a:prstGeom>
            <a:noFill/>
          </p:spPr>
          <p:txBody>
            <a:bodyPr wrap="square" lIns="82282" tIns="41141" rIns="82282" bIns="41141" rtlCol="0">
              <a:spAutoFit/>
            </a:bodyPr>
            <a:lstStyle/>
            <a:p>
              <a:pPr defTabSz="685663">
                <a:lnSpc>
                  <a:spcPct val="120000"/>
                </a:lnSpc>
              </a:pPr>
              <a:r>
                <a:rPr lang="en-CN" dirty="0"/>
                <a:t>Hanson</a:t>
              </a:r>
              <a:r>
                <a:rPr lang="zh-CN" altLang="en-US" dirty="0"/>
                <a:t>和</a:t>
              </a:r>
              <a:r>
                <a:rPr lang="en-CN" dirty="0"/>
                <a:t>Salamon</a:t>
              </a:r>
              <a:r>
                <a:rPr lang="zh-CN" altLang="en-US" dirty="0"/>
                <a:t>对神经网络集成进行了研究，第一次提出了神经网络集成的概念。</a:t>
              </a:r>
              <a:r>
                <a:rPr lang="en-CN" dirty="0"/>
                <a:t> </a:t>
              </a:r>
              <a:endParaRPr lang="en-US" altLang="zh-CN" dirty="0">
                <a:solidFill>
                  <a:schemeClr val="tx1">
                    <a:lumMod val="85000"/>
                    <a:lumOff val="15000"/>
                  </a:schemeClr>
                </a:solidFill>
                <a:latin typeface="微软雅黑" panose="020B0503020204020204" pitchFamily="34" charset="-122"/>
                <a:ea typeface="微软雅黑" panose="020B0503020204020204" pitchFamily="34" charset="-122"/>
                <a:cs typeface="Lato Light"/>
              </a:endParaRPr>
            </a:p>
          </p:txBody>
        </p:sp>
        <p:sp>
          <p:nvSpPr>
            <p:cNvPr id="18" name="Shape 3794">
              <a:extLst>
                <a:ext uri="{FF2B5EF4-FFF2-40B4-BE49-F238E27FC236}">
                  <a16:creationId xmlns:a16="http://schemas.microsoft.com/office/drawing/2014/main" id="{A2A5F133-FE23-7842-BF2B-222473CCFE97}"/>
                </a:ext>
              </a:extLst>
            </p:cNvPr>
            <p:cNvSpPr/>
            <p:nvPr/>
          </p:nvSpPr>
          <p:spPr>
            <a:xfrm>
              <a:off x="2101871" y="3317311"/>
              <a:ext cx="223379" cy="223379"/>
            </a:xfrm>
            <a:prstGeom prst="ellipse">
              <a:avLst/>
            </a:prstGeom>
            <a:solidFill>
              <a:schemeClr val="accent1">
                <a:lumMod val="60000"/>
                <a:lumOff val="40000"/>
              </a:schemeClr>
            </a:solidFill>
            <a:ln w="12700" cap="flat">
              <a:noFill/>
              <a:miter lim="400000"/>
            </a:ln>
            <a:effectLst/>
          </p:spPr>
          <p:txBody>
            <a:bodyPr wrap="square" lIns="0" tIns="0" rIns="0" bIns="0" numCol="1" anchor="ctr">
              <a:noAutofit/>
            </a:bodyPr>
            <a:lstStyle/>
            <a:p>
              <a:endParaRPr sz="2400" dirty="0"/>
            </a:p>
          </p:txBody>
        </p:sp>
        <p:sp>
          <p:nvSpPr>
            <p:cNvPr id="19" name="Shape 3797">
              <a:extLst>
                <a:ext uri="{FF2B5EF4-FFF2-40B4-BE49-F238E27FC236}">
                  <a16:creationId xmlns:a16="http://schemas.microsoft.com/office/drawing/2014/main" id="{FE835008-6591-AE4A-A6CC-8F762797AB24}"/>
                </a:ext>
              </a:extLst>
            </p:cNvPr>
            <p:cNvSpPr/>
            <p:nvPr/>
          </p:nvSpPr>
          <p:spPr>
            <a:xfrm>
              <a:off x="1468966" y="1528988"/>
              <a:ext cx="1489189" cy="1489190"/>
            </a:xfrm>
            <a:prstGeom prst="wedgeEllipseCallout">
              <a:avLst>
                <a:gd name="adj1" fmla="val -289"/>
                <a:gd name="adj2" fmla="val 60441"/>
              </a:avLst>
            </a:prstGeom>
            <a:solidFill>
              <a:schemeClr val="accent1">
                <a:lumMod val="60000"/>
                <a:lumOff val="40000"/>
              </a:schemeClr>
            </a:solidFill>
            <a:ln w="12700" cap="flat">
              <a:noFill/>
              <a:miter lim="400000"/>
            </a:ln>
            <a:effectLst/>
            <a:extLst>
              <a:ext uri="{C572A759-6A51-4108-AA02-DFA0A04FC94B}">
                <ma14:wrappingTextBoxFlag xmlns:ma14="http://schemas.microsoft.com/office/mac/drawingml/2011/main" xmlns:p14="http://schemas.microsoft.com/office/powerpoint/2010/main" xmlns:a16="http://schemas.microsoft.com/office/drawing/2014/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endParaRPr lang="zh-CN" altLang="en-US" sz="1600" b="1" dirty="0">
                <a:latin typeface="微软雅黑" panose="020B0503020204020204" pitchFamily="34" charset="-122"/>
                <a:ea typeface="微软雅黑" panose="020B0503020204020204" pitchFamily="34" charset="-122"/>
                <a:cs typeface="+mn-cs"/>
              </a:endParaRPr>
            </a:p>
          </p:txBody>
        </p:sp>
        <p:sp>
          <p:nvSpPr>
            <p:cNvPr id="20" name="文本框 8">
              <a:extLst>
                <a:ext uri="{FF2B5EF4-FFF2-40B4-BE49-F238E27FC236}">
                  <a16:creationId xmlns:a16="http://schemas.microsoft.com/office/drawing/2014/main" id="{947553F4-E1C7-B443-9AE2-DE9833713424}"/>
                </a:ext>
              </a:extLst>
            </p:cNvPr>
            <p:cNvSpPr txBox="1"/>
            <p:nvPr/>
          </p:nvSpPr>
          <p:spPr>
            <a:xfrm>
              <a:off x="1562828" y="2058140"/>
              <a:ext cx="1311625" cy="430887"/>
            </a:xfrm>
            <a:prstGeom prst="rect">
              <a:avLst/>
            </a:prstGeom>
            <a:noFill/>
          </p:spPr>
          <p:txBody>
            <a:bodyPr wrap="square" rtlCol="0">
              <a:spAutoFit/>
            </a:bodyPr>
            <a:lstStyle/>
            <a:p>
              <a:r>
                <a:rPr lang="en-US" altLang="zh-CN" sz="2200" b="1" dirty="0">
                  <a:solidFill>
                    <a:schemeClr val="bg1"/>
                  </a:solidFill>
                  <a:latin typeface="微软雅黑" panose="020B0503020204020204" pitchFamily="34" charset="-122"/>
                  <a:ea typeface="微软雅黑" panose="020B0503020204020204" pitchFamily="34" charset="-122"/>
                </a:rPr>
                <a:t>1990</a:t>
              </a:r>
              <a:r>
                <a:rPr lang="zh-CN" altLang="en-US" sz="2200" b="1" dirty="0">
                  <a:solidFill>
                    <a:schemeClr val="bg1"/>
                  </a:solidFill>
                  <a:latin typeface="微软雅黑" panose="020B0503020204020204" pitchFamily="34" charset="-122"/>
                  <a:ea typeface="微软雅黑" panose="020B0503020204020204" pitchFamily="34" charset="-122"/>
                </a:rPr>
                <a:t>年</a:t>
              </a:r>
            </a:p>
          </p:txBody>
        </p:sp>
      </p:grpSp>
      <p:grpSp>
        <p:nvGrpSpPr>
          <p:cNvPr id="21" name="组合 22">
            <a:extLst>
              <a:ext uri="{FF2B5EF4-FFF2-40B4-BE49-F238E27FC236}">
                <a16:creationId xmlns:a16="http://schemas.microsoft.com/office/drawing/2014/main" id="{C19DD0A0-E47F-3249-A980-8CB19EAE36BD}"/>
              </a:ext>
            </a:extLst>
          </p:cNvPr>
          <p:cNvGrpSpPr/>
          <p:nvPr/>
        </p:nvGrpSpPr>
        <p:grpSpPr>
          <a:xfrm>
            <a:off x="6159112" y="1102842"/>
            <a:ext cx="2457838" cy="3879790"/>
            <a:chOff x="6128722" y="1528988"/>
            <a:chExt cx="2457838" cy="3879790"/>
          </a:xfrm>
        </p:grpSpPr>
        <p:sp>
          <p:nvSpPr>
            <p:cNvPr id="22" name="Shape 3793">
              <a:extLst>
                <a:ext uri="{FF2B5EF4-FFF2-40B4-BE49-F238E27FC236}">
                  <a16:creationId xmlns:a16="http://schemas.microsoft.com/office/drawing/2014/main" id="{040931A0-78AC-A340-ACD7-957866F35C23}"/>
                </a:ext>
              </a:extLst>
            </p:cNvPr>
            <p:cNvSpPr/>
            <p:nvPr/>
          </p:nvSpPr>
          <p:spPr>
            <a:xfrm>
              <a:off x="7246672" y="3317311"/>
              <a:ext cx="223379" cy="223379"/>
            </a:xfrm>
            <a:prstGeom prst="ellipse">
              <a:avLst/>
            </a:prstGeom>
            <a:solidFill>
              <a:schemeClr val="accent1">
                <a:lumMod val="75000"/>
              </a:schemeClr>
            </a:solidFill>
            <a:ln w="12700" cap="flat">
              <a:noFill/>
              <a:miter lim="400000"/>
            </a:ln>
            <a:effectLst/>
          </p:spPr>
          <p:txBody>
            <a:bodyPr wrap="square" lIns="0" tIns="0" rIns="0" bIns="0" numCol="1" anchor="ctr">
              <a:noAutofit/>
            </a:bodyPr>
            <a:lstStyle/>
            <a:p>
              <a:endParaRPr sz="2400"/>
            </a:p>
          </p:txBody>
        </p:sp>
        <p:sp>
          <p:nvSpPr>
            <p:cNvPr id="23" name="Shape 3798">
              <a:extLst>
                <a:ext uri="{FF2B5EF4-FFF2-40B4-BE49-F238E27FC236}">
                  <a16:creationId xmlns:a16="http://schemas.microsoft.com/office/drawing/2014/main" id="{C986FDBE-AF52-BC48-883C-9CCFCA2C5B24}"/>
                </a:ext>
              </a:extLst>
            </p:cNvPr>
            <p:cNvSpPr/>
            <p:nvPr/>
          </p:nvSpPr>
          <p:spPr>
            <a:xfrm>
              <a:off x="6614406" y="1528988"/>
              <a:ext cx="1489190" cy="1489189"/>
            </a:xfrm>
            <a:prstGeom prst="wedgeEllipseCallout">
              <a:avLst>
                <a:gd name="adj1" fmla="val -75"/>
                <a:gd name="adj2" fmla="val 60441"/>
              </a:avLst>
            </a:prstGeom>
            <a:solidFill>
              <a:schemeClr val="accent1">
                <a:lumMod val="75000"/>
              </a:schemeClr>
            </a:solidFill>
            <a:ln w="12700" cap="flat">
              <a:noFill/>
              <a:miter lim="400000"/>
            </a:ln>
            <a:effectLst/>
            <a:extLst>
              <a:ext uri="{C572A759-6A51-4108-AA02-DFA0A04FC94B}">
                <ma14:wrappingTextBoxFlag xmlns:ma14="http://schemas.microsoft.com/office/mac/drawingml/2011/main" xmlns:p14="http://schemas.microsoft.com/office/powerpoint/2010/main" xmlns:a16="http://schemas.microsoft.com/office/drawing/2014/main" xmlns="" val="1"/>
              </a:ext>
            </a:extLst>
          </p:spPr>
          <p:txBody>
            <a:bodyPr wrap="square" lIns="0" tIns="0" rIns="0" bIns="0" numCol="1" anchor="ctr">
              <a:noAutofit/>
            </a:bodyPr>
            <a:lstStyle/>
            <a:p>
              <a:pPr algn="ctr" defTabSz="584200"/>
              <a:endParaRPr lang="zh-CN" altLang="en-US" sz="1600" b="1" cap="all" dirty="0">
                <a:solidFill>
                  <a:srgbClr val="FFFFFF"/>
                </a:solidFill>
                <a:latin typeface="微软雅黑" panose="020B0503020204020204" pitchFamily="34" charset="-122"/>
                <a:ea typeface="微软雅黑" panose="020B0503020204020204" pitchFamily="34" charset="-122"/>
                <a:sym typeface="Helvetica Neue"/>
              </a:endParaRPr>
            </a:p>
          </p:txBody>
        </p:sp>
        <p:sp>
          <p:nvSpPr>
            <p:cNvPr id="24" name="文本框 10">
              <a:extLst>
                <a:ext uri="{FF2B5EF4-FFF2-40B4-BE49-F238E27FC236}">
                  <a16:creationId xmlns:a16="http://schemas.microsoft.com/office/drawing/2014/main" id="{E0A720F3-181C-9144-91D9-71FF7EF6140E}"/>
                </a:ext>
              </a:extLst>
            </p:cNvPr>
            <p:cNvSpPr txBox="1"/>
            <p:nvPr/>
          </p:nvSpPr>
          <p:spPr>
            <a:xfrm>
              <a:off x="6797286" y="2104236"/>
              <a:ext cx="1390012" cy="430887"/>
            </a:xfrm>
            <a:prstGeom prst="rect">
              <a:avLst/>
            </a:prstGeom>
            <a:noFill/>
          </p:spPr>
          <p:txBody>
            <a:bodyPr wrap="square" rtlCol="0">
              <a:spAutoFit/>
            </a:bodyPr>
            <a:lstStyle>
              <a:defPPr>
                <a:defRPr lang="zh-CN"/>
              </a:defPPr>
              <a:lvl1pPr>
                <a:defRPr sz="2200" b="1">
                  <a:solidFill>
                    <a:schemeClr val="bg1"/>
                  </a:solidFill>
                  <a:latin typeface="微软雅黑" panose="020B0503020204020204" pitchFamily="34" charset="-122"/>
                  <a:ea typeface="微软雅黑" panose="020B0503020204020204" pitchFamily="34" charset="-122"/>
                </a:defRPr>
              </a:lvl1pPr>
            </a:lstStyle>
            <a:p>
              <a:r>
                <a:rPr lang="en-US" altLang="zh-CN" dirty="0"/>
                <a:t>1996</a:t>
              </a:r>
              <a:r>
                <a:rPr lang="zh-CN" altLang="en-US" dirty="0"/>
                <a:t>年</a:t>
              </a:r>
            </a:p>
          </p:txBody>
        </p:sp>
        <p:sp>
          <p:nvSpPr>
            <p:cNvPr id="25" name="TextBox 75">
              <a:extLst>
                <a:ext uri="{FF2B5EF4-FFF2-40B4-BE49-F238E27FC236}">
                  <a16:creationId xmlns:a16="http://schemas.microsoft.com/office/drawing/2014/main" id="{B771D951-ED67-864E-BF14-8C01F2DD3CBB}"/>
                </a:ext>
              </a:extLst>
            </p:cNvPr>
            <p:cNvSpPr txBox="1"/>
            <p:nvPr/>
          </p:nvSpPr>
          <p:spPr>
            <a:xfrm>
              <a:off x="6128722" y="3691847"/>
              <a:ext cx="2457838" cy="1716931"/>
            </a:xfrm>
            <a:prstGeom prst="rect">
              <a:avLst/>
            </a:prstGeom>
            <a:noFill/>
          </p:spPr>
          <p:txBody>
            <a:bodyPr wrap="square" lIns="82282" tIns="41141" rIns="82282" bIns="41141" rtlCol="0">
              <a:spAutoFit/>
            </a:bodyPr>
            <a:lstStyle>
              <a:defPPr>
                <a:defRPr lang="zh-CN"/>
              </a:defPPr>
              <a:lvl1pPr defTabSz="685663">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cs typeface="Lato Light"/>
                </a:defRPr>
              </a:lvl1pPr>
            </a:lstStyle>
            <a:p>
              <a:r>
                <a:rPr lang="en-CN" dirty="0"/>
                <a:t>Breiman</a:t>
              </a:r>
              <a:r>
                <a:rPr lang="zh-CN" altLang="en-US" dirty="0"/>
                <a:t>从可重复取样技术</a:t>
              </a:r>
              <a:r>
                <a:rPr lang="en-CN" dirty="0"/>
                <a:t>(Bootstrap Sampling)</a:t>
              </a:r>
              <a:r>
                <a:rPr lang="zh-CN" altLang="en-US" dirty="0"/>
                <a:t>入手，提出了著名的</a:t>
              </a:r>
              <a:r>
                <a:rPr lang="en-CN" b="1" dirty="0">
                  <a:solidFill>
                    <a:srgbClr val="FF0000"/>
                  </a:solidFill>
                </a:rPr>
                <a:t>Bagging</a:t>
              </a:r>
              <a:r>
                <a:rPr lang="zh-CN" altLang="en-US" dirty="0"/>
                <a:t>方法。</a:t>
              </a:r>
              <a:r>
                <a:rPr lang="en-CN" dirty="0"/>
                <a:t> </a:t>
              </a:r>
              <a:endParaRPr lang="en-US" altLang="zh-CN" dirty="0"/>
            </a:p>
          </p:txBody>
        </p:sp>
      </p:grpSp>
      <p:grpSp>
        <p:nvGrpSpPr>
          <p:cNvPr id="26" name="组合 20">
            <a:extLst>
              <a:ext uri="{FF2B5EF4-FFF2-40B4-BE49-F238E27FC236}">
                <a16:creationId xmlns:a16="http://schemas.microsoft.com/office/drawing/2014/main" id="{0F0DD401-11AB-F54C-BC74-1CAC1CB782EE}"/>
              </a:ext>
            </a:extLst>
          </p:cNvPr>
          <p:cNvGrpSpPr/>
          <p:nvPr/>
        </p:nvGrpSpPr>
        <p:grpSpPr>
          <a:xfrm>
            <a:off x="3497376" y="1012371"/>
            <a:ext cx="3063718" cy="3986904"/>
            <a:chOff x="3578849" y="1438517"/>
            <a:chExt cx="3063718" cy="3986904"/>
          </a:xfrm>
        </p:grpSpPr>
        <p:sp>
          <p:nvSpPr>
            <p:cNvPr id="27" name="Shape 3793">
              <a:extLst>
                <a:ext uri="{FF2B5EF4-FFF2-40B4-BE49-F238E27FC236}">
                  <a16:creationId xmlns:a16="http://schemas.microsoft.com/office/drawing/2014/main" id="{2C6917C7-DB82-1A42-8D70-39774226285D}"/>
                </a:ext>
              </a:extLst>
            </p:cNvPr>
            <p:cNvSpPr/>
            <p:nvPr/>
          </p:nvSpPr>
          <p:spPr>
            <a:xfrm>
              <a:off x="4689515" y="3317311"/>
              <a:ext cx="223379" cy="223379"/>
            </a:xfrm>
            <a:prstGeom prst="ellipse">
              <a:avLst/>
            </a:prstGeom>
            <a:solidFill>
              <a:schemeClr val="accent1"/>
            </a:solidFill>
            <a:ln w="12700" cap="flat">
              <a:noFill/>
              <a:miter lim="400000"/>
            </a:ln>
            <a:effectLst/>
          </p:spPr>
          <p:txBody>
            <a:bodyPr wrap="square" lIns="0" tIns="0" rIns="0" bIns="0" numCol="1" anchor="ctr">
              <a:noAutofit/>
            </a:bodyPr>
            <a:lstStyle/>
            <a:p>
              <a:endParaRPr sz="2400"/>
            </a:p>
          </p:txBody>
        </p:sp>
        <p:sp>
          <p:nvSpPr>
            <p:cNvPr id="28" name="Shape 3800">
              <a:extLst>
                <a:ext uri="{FF2B5EF4-FFF2-40B4-BE49-F238E27FC236}">
                  <a16:creationId xmlns:a16="http://schemas.microsoft.com/office/drawing/2014/main" id="{CA71F5BC-2583-7242-96B5-E1279F72D3A8}"/>
                </a:ext>
              </a:extLst>
            </p:cNvPr>
            <p:cNvSpPr/>
            <p:nvPr/>
          </p:nvSpPr>
          <p:spPr>
            <a:xfrm>
              <a:off x="4056607" y="3936231"/>
              <a:ext cx="1489190" cy="1489190"/>
            </a:xfrm>
            <a:prstGeom prst="wedgeEllipseCallout">
              <a:avLst>
                <a:gd name="adj1" fmla="val -125"/>
                <a:gd name="adj2" fmla="val -61328"/>
              </a:avLst>
            </a:prstGeom>
            <a:solidFill>
              <a:schemeClr val="accent1"/>
            </a:solidFill>
            <a:ln w="12700" cap="flat">
              <a:noFill/>
              <a:miter lim="400000"/>
            </a:ln>
            <a:effectLst/>
            <a:extLst>
              <a:ext uri="{C572A759-6A51-4108-AA02-DFA0A04FC94B}">
                <ma14:wrappingTextBoxFlag xmlns:ma14="http://schemas.microsoft.com/office/mac/drawingml/2011/main" xmlns:p14="http://schemas.microsoft.com/office/powerpoint/2010/main" xmlns:a16="http://schemas.microsoft.com/office/drawing/2014/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29" name="文本框 9">
              <a:extLst>
                <a:ext uri="{FF2B5EF4-FFF2-40B4-BE49-F238E27FC236}">
                  <a16:creationId xmlns:a16="http://schemas.microsoft.com/office/drawing/2014/main" id="{895B5227-39F9-C947-B673-E571612FDDE6}"/>
                </a:ext>
              </a:extLst>
            </p:cNvPr>
            <p:cNvSpPr txBox="1"/>
            <p:nvPr/>
          </p:nvSpPr>
          <p:spPr>
            <a:xfrm>
              <a:off x="4257054" y="4481821"/>
              <a:ext cx="1311679" cy="430887"/>
            </a:xfrm>
            <a:prstGeom prst="rect">
              <a:avLst/>
            </a:prstGeom>
            <a:noFill/>
          </p:spPr>
          <p:txBody>
            <a:bodyPr wrap="square" rtlCol="0">
              <a:spAutoFit/>
            </a:bodyPr>
            <a:lstStyle>
              <a:defPPr>
                <a:defRPr lang="zh-CN"/>
              </a:defPPr>
              <a:lvl1pPr>
                <a:defRPr sz="2200" b="1">
                  <a:solidFill>
                    <a:schemeClr val="bg1"/>
                  </a:solidFill>
                  <a:latin typeface="微软雅黑" panose="020B0503020204020204" pitchFamily="34" charset="-122"/>
                  <a:ea typeface="微软雅黑" panose="020B0503020204020204" pitchFamily="34" charset="-122"/>
                </a:defRPr>
              </a:lvl1pPr>
            </a:lstStyle>
            <a:p>
              <a:r>
                <a:rPr lang="en-US" altLang="zh-CN" dirty="0"/>
                <a:t>1996</a:t>
              </a:r>
              <a:r>
                <a:rPr lang="zh-CN" altLang="en-US" dirty="0"/>
                <a:t>年</a:t>
              </a:r>
            </a:p>
          </p:txBody>
        </p:sp>
        <p:sp>
          <p:nvSpPr>
            <p:cNvPr id="30" name="TextBox 75">
              <a:extLst>
                <a:ext uri="{FF2B5EF4-FFF2-40B4-BE49-F238E27FC236}">
                  <a16:creationId xmlns:a16="http://schemas.microsoft.com/office/drawing/2014/main" id="{6B0ED210-568E-D84F-834C-D8A9F8B35DC8}"/>
                </a:ext>
              </a:extLst>
            </p:cNvPr>
            <p:cNvSpPr txBox="1"/>
            <p:nvPr/>
          </p:nvSpPr>
          <p:spPr>
            <a:xfrm>
              <a:off x="3578849" y="1438517"/>
              <a:ext cx="3063718" cy="1412680"/>
            </a:xfrm>
            <a:prstGeom prst="rect">
              <a:avLst/>
            </a:prstGeom>
            <a:noFill/>
          </p:spPr>
          <p:txBody>
            <a:bodyPr wrap="square" lIns="82282" tIns="41141" rIns="82282" bIns="41141" rtlCol="0">
              <a:spAutoFit/>
            </a:bodyPr>
            <a:lstStyle>
              <a:defPPr>
                <a:defRPr lang="zh-CN"/>
              </a:defPPr>
              <a:lvl1pPr defTabSz="685663">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cs typeface="Lato Light"/>
                </a:defRPr>
              </a:lvl1pPr>
            </a:lstStyle>
            <a:p>
              <a:r>
                <a:rPr lang="en-CN" dirty="0"/>
                <a:t>Freund</a:t>
              </a:r>
              <a:r>
                <a:rPr lang="zh-CN" altLang="en-US" dirty="0"/>
                <a:t>和</a:t>
              </a:r>
              <a:r>
                <a:rPr lang="en-CN" dirty="0"/>
                <a:t>Schapire</a:t>
              </a:r>
              <a:r>
                <a:rPr lang="zh-CN" altLang="en-US" dirty="0"/>
                <a:t>提出了著名的</a:t>
              </a:r>
              <a:r>
                <a:rPr lang="en-CN" b="1" dirty="0">
                  <a:solidFill>
                    <a:srgbClr val="FF0000"/>
                  </a:solidFill>
                </a:rPr>
                <a:t>AdaBoost</a:t>
              </a:r>
              <a:r>
                <a:rPr lang="en-CN" dirty="0"/>
                <a:t>(Adaptive Boost)</a:t>
              </a:r>
              <a:r>
                <a:rPr lang="zh-CN" altLang="en-US" dirty="0"/>
                <a:t>算法</a:t>
              </a:r>
              <a:r>
                <a:rPr lang="en-US" altLang="zh-CN" dirty="0"/>
                <a:t>,</a:t>
              </a:r>
              <a:r>
                <a:rPr lang="zh-CN" altLang="en-US" dirty="0"/>
                <a:t>该算法已成为目前最流行的</a:t>
              </a:r>
              <a:r>
                <a:rPr lang="en-CN" dirty="0"/>
                <a:t>Boosting</a:t>
              </a:r>
              <a:r>
                <a:rPr lang="zh-CN" altLang="en-US" dirty="0"/>
                <a:t>算法。</a:t>
              </a:r>
              <a:r>
                <a:rPr lang="en-CN" dirty="0"/>
                <a:t> </a:t>
              </a:r>
              <a:endParaRPr lang="en-US" altLang="zh-CN" dirty="0"/>
            </a:p>
          </p:txBody>
        </p:sp>
      </p:grpSp>
      <p:grpSp>
        <p:nvGrpSpPr>
          <p:cNvPr id="31" name="组合 23">
            <a:extLst>
              <a:ext uri="{FF2B5EF4-FFF2-40B4-BE49-F238E27FC236}">
                <a16:creationId xmlns:a16="http://schemas.microsoft.com/office/drawing/2014/main" id="{5995EF5B-84B7-9C40-8EF1-78F87070B819}"/>
              </a:ext>
            </a:extLst>
          </p:cNvPr>
          <p:cNvGrpSpPr/>
          <p:nvPr/>
        </p:nvGrpSpPr>
        <p:grpSpPr>
          <a:xfrm>
            <a:off x="8964811" y="1723084"/>
            <a:ext cx="2554089" cy="3276191"/>
            <a:chOff x="8963045" y="2149230"/>
            <a:chExt cx="2554089" cy="3276191"/>
          </a:xfrm>
        </p:grpSpPr>
        <p:sp>
          <p:nvSpPr>
            <p:cNvPr id="32" name="Shape 3792">
              <a:extLst>
                <a:ext uri="{FF2B5EF4-FFF2-40B4-BE49-F238E27FC236}">
                  <a16:creationId xmlns:a16="http://schemas.microsoft.com/office/drawing/2014/main" id="{95FF371F-830B-B144-AA29-AD5B02EA43C6}"/>
                </a:ext>
              </a:extLst>
            </p:cNvPr>
            <p:cNvSpPr/>
            <p:nvPr/>
          </p:nvSpPr>
          <p:spPr>
            <a:xfrm>
              <a:off x="9839184" y="3317311"/>
              <a:ext cx="223379" cy="223379"/>
            </a:xfrm>
            <a:prstGeom prst="ellipse">
              <a:avLst/>
            </a:prstGeom>
            <a:solidFill>
              <a:schemeClr val="accent1">
                <a:lumMod val="50000"/>
              </a:schemeClr>
            </a:solidFill>
            <a:ln w="12700" cap="flat">
              <a:noFill/>
              <a:miter lim="400000"/>
            </a:ln>
            <a:effectLst/>
          </p:spPr>
          <p:txBody>
            <a:bodyPr wrap="square" lIns="0" tIns="0" rIns="0" bIns="0" numCol="1" anchor="ctr">
              <a:noAutofit/>
            </a:bodyPr>
            <a:lstStyle/>
            <a:p>
              <a:endParaRPr sz="2400"/>
            </a:p>
          </p:txBody>
        </p:sp>
        <p:sp>
          <p:nvSpPr>
            <p:cNvPr id="33" name="Shape 3801">
              <a:extLst>
                <a:ext uri="{FF2B5EF4-FFF2-40B4-BE49-F238E27FC236}">
                  <a16:creationId xmlns:a16="http://schemas.microsoft.com/office/drawing/2014/main" id="{120846B2-6C53-C040-8F7D-53B4B01E740E}"/>
                </a:ext>
              </a:extLst>
            </p:cNvPr>
            <p:cNvSpPr/>
            <p:nvPr/>
          </p:nvSpPr>
          <p:spPr>
            <a:xfrm>
              <a:off x="9206278" y="3936231"/>
              <a:ext cx="1897499" cy="1489190"/>
            </a:xfrm>
            <a:prstGeom prst="wedgeEllipseCallout">
              <a:avLst>
                <a:gd name="adj1" fmla="val -445"/>
                <a:gd name="adj2" fmla="val -61328"/>
              </a:avLst>
            </a:prstGeom>
            <a:solidFill>
              <a:schemeClr val="accent1">
                <a:lumMod val="50000"/>
              </a:schemeClr>
            </a:solidFill>
            <a:ln w="12700" cap="flat">
              <a:noFill/>
              <a:miter lim="400000"/>
            </a:ln>
            <a:effectLst/>
            <a:extLst>
              <a:ext uri="{C572A759-6A51-4108-AA02-DFA0A04FC94B}">
                <ma14:wrappingTextBoxFlag xmlns:ma14="http://schemas.microsoft.com/office/mac/drawingml/2011/main" xmlns:p14="http://schemas.microsoft.com/office/powerpoint/2010/main" xmlns:a16="http://schemas.microsoft.com/office/drawing/2014/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endParaRPr sz="1600" b="1" dirty="0">
                <a:latin typeface="微软雅黑" panose="020B0503020204020204" pitchFamily="34" charset="-122"/>
                <a:ea typeface="微软雅黑" panose="020B0503020204020204" pitchFamily="34" charset="-122"/>
              </a:endParaRPr>
            </a:p>
          </p:txBody>
        </p:sp>
        <p:sp>
          <p:nvSpPr>
            <p:cNvPr id="34" name="文本框 11">
              <a:extLst>
                <a:ext uri="{FF2B5EF4-FFF2-40B4-BE49-F238E27FC236}">
                  <a16:creationId xmlns:a16="http://schemas.microsoft.com/office/drawing/2014/main" id="{0DB903E4-1D19-FA47-8345-51A86BADD39C}"/>
                </a:ext>
              </a:extLst>
            </p:cNvPr>
            <p:cNvSpPr txBox="1"/>
            <p:nvPr/>
          </p:nvSpPr>
          <p:spPr>
            <a:xfrm>
              <a:off x="9320821" y="4465383"/>
              <a:ext cx="1582510" cy="430887"/>
            </a:xfrm>
            <a:prstGeom prst="rect">
              <a:avLst/>
            </a:prstGeom>
            <a:noFill/>
          </p:spPr>
          <p:txBody>
            <a:bodyPr wrap="square" rtlCol="0">
              <a:spAutoFit/>
            </a:bodyPr>
            <a:lstStyle>
              <a:defPPr>
                <a:defRPr lang="zh-CN"/>
              </a:defPPr>
              <a:lvl1pPr>
                <a:defRPr sz="2200" b="1">
                  <a:solidFill>
                    <a:schemeClr val="bg1"/>
                  </a:solidFill>
                  <a:latin typeface="微软雅黑" panose="020B0503020204020204" pitchFamily="34" charset="-122"/>
                  <a:ea typeface="微软雅黑" panose="020B0503020204020204" pitchFamily="34" charset="-122"/>
                </a:defRPr>
              </a:lvl1pPr>
            </a:lstStyle>
            <a:p>
              <a:r>
                <a:rPr lang="en-US" altLang="zh-CN" dirty="0"/>
                <a:t>1996-</a:t>
              </a:r>
              <a:r>
                <a:rPr lang="zh-CN" altLang="en-US" dirty="0"/>
                <a:t>至今</a:t>
              </a:r>
            </a:p>
          </p:txBody>
        </p:sp>
        <p:sp>
          <p:nvSpPr>
            <p:cNvPr id="35" name="TextBox 75">
              <a:extLst>
                <a:ext uri="{FF2B5EF4-FFF2-40B4-BE49-F238E27FC236}">
                  <a16:creationId xmlns:a16="http://schemas.microsoft.com/office/drawing/2014/main" id="{8CE14BC6-C493-B540-814D-A72AE3CA1919}"/>
                </a:ext>
              </a:extLst>
            </p:cNvPr>
            <p:cNvSpPr txBox="1"/>
            <p:nvPr/>
          </p:nvSpPr>
          <p:spPr>
            <a:xfrm>
              <a:off x="8963045" y="2149230"/>
              <a:ext cx="2554089" cy="719735"/>
            </a:xfrm>
            <a:prstGeom prst="rect">
              <a:avLst/>
            </a:prstGeom>
            <a:noFill/>
          </p:spPr>
          <p:txBody>
            <a:bodyPr wrap="square" lIns="82282" tIns="41141" rIns="82282" bIns="41141" rtlCol="0">
              <a:spAutoFit/>
            </a:bodyPr>
            <a:lstStyle>
              <a:defPPr>
                <a:defRPr lang="zh-CN"/>
              </a:defPPr>
              <a:lvl1pPr defTabSz="685663">
                <a:lnSpc>
                  <a:spcPct val="120000"/>
                </a:lnSpc>
                <a:defRPr>
                  <a:solidFill>
                    <a:schemeClr val="tx1">
                      <a:lumMod val="85000"/>
                      <a:lumOff val="15000"/>
                    </a:schemeClr>
                  </a:solidFill>
                  <a:latin typeface="微软雅黑" panose="020B0503020204020204" pitchFamily="34" charset="-122"/>
                  <a:ea typeface="微软雅黑" panose="020B0503020204020204" pitchFamily="34" charset="-122"/>
                  <a:cs typeface="Lato Light"/>
                </a:defRPr>
              </a:lvl1pPr>
            </a:lstStyle>
            <a:p>
              <a:r>
                <a:rPr lang="en-US" altLang="zh-CN" dirty="0" err="1"/>
                <a:t>XGBoost</a:t>
              </a:r>
              <a:r>
                <a:rPr lang="en-US" altLang="zh-CN" dirty="0"/>
                <a:t>,</a:t>
              </a:r>
              <a:r>
                <a:rPr lang="zh-CN" altLang="en-US" dirty="0"/>
                <a:t> </a:t>
              </a:r>
              <a:r>
                <a:rPr lang="en-US" altLang="zh-CN" dirty="0"/>
                <a:t>GBDT</a:t>
              </a:r>
              <a:r>
                <a:rPr lang="zh-CN" altLang="en-US" dirty="0"/>
                <a:t>等模型的开发和流行</a:t>
              </a:r>
              <a:endParaRPr lang="en-US" altLang="zh-CN" dirty="0"/>
            </a:p>
          </p:txBody>
        </p:sp>
      </p:grpSp>
      <p:sp>
        <p:nvSpPr>
          <p:cNvPr id="2" name="TextBox 1">
            <a:extLst>
              <a:ext uri="{FF2B5EF4-FFF2-40B4-BE49-F238E27FC236}">
                <a16:creationId xmlns:a16="http://schemas.microsoft.com/office/drawing/2014/main" id="{52EA9DD3-6D50-184C-A23C-09FB29CB9154}"/>
              </a:ext>
            </a:extLst>
          </p:cNvPr>
          <p:cNvSpPr txBox="1"/>
          <p:nvPr/>
        </p:nvSpPr>
        <p:spPr>
          <a:xfrm>
            <a:off x="617838" y="4999275"/>
            <a:ext cx="10287259" cy="1354217"/>
          </a:xfrm>
          <a:prstGeom prst="rect">
            <a:avLst/>
          </a:prstGeom>
          <a:noFill/>
        </p:spPr>
        <p:txBody>
          <a:bodyPr wrap="square" rtlCol="0">
            <a:spAutoFit/>
          </a:bodyPr>
          <a:lstStyle/>
          <a:p>
            <a:r>
              <a:rPr lang="en-CN" sz="1600" i="1" dirty="0"/>
              <a:t>Hansen, L. K., &amp; Salamon, P. (1990). Neural network ensembles. IEEE transactions on pattern analysis and machine intelligence, 12(10), 993-1001</a:t>
            </a:r>
          </a:p>
          <a:p>
            <a:r>
              <a:rPr lang="en-CN" sz="1600" i="1" dirty="0"/>
              <a:t>Freund, Y., Schapire, R., &amp; Abe, N. (1999). A short introduction to boosting. Journal-Japanese Society For Artificial Intelligence, 14(771-780), 1612 </a:t>
            </a:r>
          </a:p>
          <a:p>
            <a:r>
              <a:rPr lang="en-CN" sz="1600" i="1" dirty="0"/>
              <a:t>Breiman, L. (1996). Bagging predictors. Machine learning, 24(2), 123-140.</a:t>
            </a:r>
            <a:endParaRPr lang="en-CN" sz="1600" i="1" dirty="0">
              <a:latin typeface="+mn-ea"/>
            </a:endParaRPr>
          </a:p>
        </p:txBody>
      </p:sp>
      <p:sp>
        <p:nvSpPr>
          <p:cNvPr id="3" name="灯片编号占位符 2">
            <a:extLst>
              <a:ext uri="{FF2B5EF4-FFF2-40B4-BE49-F238E27FC236}">
                <a16:creationId xmlns:a16="http://schemas.microsoft.com/office/drawing/2014/main" id="{2E9A3A3F-B1B6-40CC-8988-5C4A7315CEE6}"/>
              </a:ext>
            </a:extLst>
          </p:cNvPr>
          <p:cNvSpPr>
            <a:spLocks noGrp="1"/>
          </p:cNvSpPr>
          <p:nvPr>
            <p:ph type="sldNum" sz="quarter" idx="14"/>
          </p:nvPr>
        </p:nvSpPr>
        <p:spPr/>
        <p:txBody>
          <a:bodyPr/>
          <a:lstStyle/>
          <a:p>
            <a:fld id="{AF69888C-E133-43D9-A638-B5C95925B91C}" type="slidenum">
              <a:rPr lang="zh-CN" altLang="en-US" smtClean="0"/>
              <a:t>10</a:t>
            </a:fld>
            <a:endParaRPr lang="zh-CN" altLang="en-US" dirty="0"/>
          </a:p>
        </p:txBody>
      </p:sp>
    </p:spTree>
    <p:extLst>
      <p:ext uri="{BB962C8B-B14F-4D97-AF65-F5344CB8AC3E}">
        <p14:creationId xmlns:p14="http://schemas.microsoft.com/office/powerpoint/2010/main" val="4082259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集成学习的分类</a:t>
            </a:r>
          </a:p>
        </p:txBody>
      </p:sp>
      <p:sp>
        <p:nvSpPr>
          <p:cNvPr id="3" name="TextBox 2">
            <a:extLst>
              <a:ext uri="{FF2B5EF4-FFF2-40B4-BE49-F238E27FC236}">
                <a16:creationId xmlns:a16="http://schemas.microsoft.com/office/drawing/2014/main" id="{0B61B062-1125-CB44-BBDE-E5B23B85A91F}"/>
              </a:ext>
            </a:extLst>
          </p:cNvPr>
          <p:cNvSpPr txBox="1"/>
          <p:nvPr/>
        </p:nvSpPr>
        <p:spPr>
          <a:xfrm>
            <a:off x="666750" y="1814239"/>
            <a:ext cx="10858500" cy="954107"/>
          </a:xfrm>
          <a:prstGeom prst="rect">
            <a:avLst/>
          </a:prstGeom>
          <a:noFill/>
        </p:spPr>
        <p:txBody>
          <a:bodyPr wrap="square" rtlCol="0">
            <a:spAutoFit/>
          </a:bodyPr>
          <a:lstStyle/>
          <a:p>
            <a:r>
              <a:rPr lang="zh-CN" altLang="en-US" sz="2800" dirty="0"/>
              <a:t>根据基分类器的生成方式，集成学习可以分为两种：串行生成基分类器的“</a:t>
            </a:r>
            <a:r>
              <a:rPr lang="zh-CN" altLang="en-US" sz="2800" b="1" dirty="0">
                <a:solidFill>
                  <a:srgbClr val="FF0000"/>
                </a:solidFill>
              </a:rPr>
              <a:t>串行集成方法</a:t>
            </a:r>
            <a:r>
              <a:rPr lang="zh-CN" altLang="en-US" sz="2800" dirty="0"/>
              <a:t>”，以及并行生成分类器的“</a:t>
            </a:r>
            <a:r>
              <a:rPr lang="zh-CN" altLang="en-US" sz="2800" b="1" dirty="0">
                <a:solidFill>
                  <a:srgbClr val="FF0000"/>
                </a:solidFill>
              </a:rPr>
              <a:t>并行集成方法</a:t>
            </a:r>
            <a:r>
              <a:rPr lang="zh-CN" altLang="en-US" sz="2800" dirty="0"/>
              <a:t>”。</a:t>
            </a:r>
            <a:r>
              <a:rPr lang="en-CN" sz="2800" dirty="0"/>
              <a:t> </a:t>
            </a:r>
            <a:endParaRPr lang="en-CN" sz="2800" dirty="0">
              <a:latin typeface="+mn-ea"/>
            </a:endParaRPr>
          </a:p>
        </p:txBody>
      </p:sp>
      <p:sp>
        <p:nvSpPr>
          <p:cNvPr id="11" name="Rectangle 10">
            <a:extLst>
              <a:ext uri="{FF2B5EF4-FFF2-40B4-BE49-F238E27FC236}">
                <a16:creationId xmlns:a16="http://schemas.microsoft.com/office/drawing/2014/main" id="{46E7314D-A102-BA4B-9992-6C30EE8A86EA}"/>
              </a:ext>
            </a:extLst>
          </p:cNvPr>
          <p:cNvSpPr/>
          <p:nvPr/>
        </p:nvSpPr>
        <p:spPr>
          <a:xfrm>
            <a:off x="2030011" y="3429000"/>
            <a:ext cx="3546329" cy="131207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mj-ea"/>
                <a:ea typeface="+mj-ea"/>
              </a:rPr>
              <a:t>Boosting</a:t>
            </a:r>
          </a:p>
          <a:p>
            <a:pPr algn="ctr"/>
            <a:r>
              <a:rPr lang="en-US" altLang="zh-CN" sz="2400" b="1" dirty="0">
                <a:solidFill>
                  <a:schemeClr val="tx1"/>
                </a:solidFill>
                <a:latin typeface="+mj-ea"/>
                <a:ea typeface="+mj-ea"/>
              </a:rPr>
              <a:t>(</a:t>
            </a:r>
            <a:r>
              <a:rPr lang="en-US" altLang="zh-CN" sz="2400" b="1" dirty="0" err="1">
                <a:solidFill>
                  <a:schemeClr val="tx1"/>
                </a:solidFill>
                <a:latin typeface="+mj-ea"/>
                <a:ea typeface="+mj-ea"/>
              </a:rPr>
              <a:t>Adaboost</a:t>
            </a:r>
            <a:r>
              <a:rPr lang="en-US" altLang="zh-CN" sz="2400" b="1" dirty="0">
                <a:solidFill>
                  <a:schemeClr val="tx1"/>
                </a:solidFill>
                <a:latin typeface="+mj-ea"/>
                <a:ea typeface="+mj-ea"/>
              </a:rPr>
              <a:t>, GBDT, </a:t>
            </a:r>
            <a:r>
              <a:rPr lang="en-US" altLang="zh-CN" sz="2400" b="1" dirty="0" err="1">
                <a:solidFill>
                  <a:schemeClr val="tx1"/>
                </a:solidFill>
                <a:latin typeface="+mj-ea"/>
                <a:ea typeface="+mj-ea"/>
              </a:rPr>
              <a:t>XGBoost</a:t>
            </a:r>
            <a:r>
              <a:rPr lang="en-US" altLang="zh-CN" sz="2400" b="1" dirty="0">
                <a:solidFill>
                  <a:schemeClr val="tx1"/>
                </a:solidFill>
                <a:latin typeface="+mj-ea"/>
                <a:ea typeface="+mj-ea"/>
              </a:rPr>
              <a:t>)</a:t>
            </a:r>
            <a:endParaRPr lang="en-CN" sz="2400" b="1" dirty="0">
              <a:solidFill>
                <a:schemeClr val="tx1"/>
              </a:solidFill>
              <a:latin typeface="+mj-ea"/>
              <a:ea typeface="+mj-ea"/>
            </a:endParaRPr>
          </a:p>
        </p:txBody>
      </p:sp>
      <p:sp>
        <p:nvSpPr>
          <p:cNvPr id="12" name="Rectangle 11">
            <a:extLst>
              <a:ext uri="{FF2B5EF4-FFF2-40B4-BE49-F238E27FC236}">
                <a16:creationId xmlns:a16="http://schemas.microsoft.com/office/drawing/2014/main" id="{9D0424F2-6E84-4A47-AA5C-DCD3EF9D19CF}"/>
              </a:ext>
            </a:extLst>
          </p:cNvPr>
          <p:cNvSpPr/>
          <p:nvPr/>
        </p:nvSpPr>
        <p:spPr>
          <a:xfrm>
            <a:off x="6429829" y="3429000"/>
            <a:ext cx="3067697" cy="131207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mj-ea"/>
                <a:ea typeface="+mj-ea"/>
              </a:rPr>
              <a:t>Bagging</a:t>
            </a:r>
          </a:p>
          <a:p>
            <a:pPr algn="ctr"/>
            <a:r>
              <a:rPr lang="en-US" altLang="zh-CN" sz="2400" b="1" dirty="0">
                <a:solidFill>
                  <a:schemeClr val="tx1"/>
                </a:solidFill>
                <a:latin typeface="+mj-ea"/>
                <a:ea typeface="+mj-ea"/>
              </a:rPr>
              <a:t>(Random</a:t>
            </a:r>
            <a:r>
              <a:rPr lang="zh-CN" altLang="en-US" sz="2400" b="1" dirty="0">
                <a:solidFill>
                  <a:schemeClr val="tx1"/>
                </a:solidFill>
                <a:latin typeface="+mj-ea"/>
                <a:ea typeface="+mj-ea"/>
              </a:rPr>
              <a:t> </a:t>
            </a:r>
            <a:r>
              <a:rPr lang="en-US" altLang="zh-CN" sz="2400" b="1" dirty="0">
                <a:solidFill>
                  <a:schemeClr val="tx1"/>
                </a:solidFill>
                <a:latin typeface="+mj-ea"/>
                <a:ea typeface="+mj-ea"/>
              </a:rPr>
              <a:t>Forest)</a:t>
            </a:r>
            <a:endParaRPr lang="en-CN" sz="2400" b="1" dirty="0">
              <a:solidFill>
                <a:schemeClr val="tx1"/>
              </a:solidFill>
              <a:latin typeface="+mj-ea"/>
              <a:ea typeface="+mj-ea"/>
            </a:endParaRPr>
          </a:p>
        </p:txBody>
      </p:sp>
      <p:sp>
        <p:nvSpPr>
          <p:cNvPr id="2" name="矩形 1"/>
          <p:cNvSpPr/>
          <p:nvPr/>
        </p:nvSpPr>
        <p:spPr>
          <a:xfrm>
            <a:off x="2567969" y="4816949"/>
            <a:ext cx="2646878" cy="584775"/>
          </a:xfrm>
          <a:prstGeom prst="rect">
            <a:avLst/>
          </a:prstGeom>
        </p:spPr>
        <p:txBody>
          <a:bodyPr wrap="none">
            <a:spAutoFit/>
          </a:bodyPr>
          <a:lstStyle/>
          <a:p>
            <a:r>
              <a:rPr lang="zh-CN" altLang="en-US" sz="3200" b="1" dirty="0">
                <a:solidFill>
                  <a:srgbClr val="FF0000"/>
                </a:solidFill>
              </a:rPr>
              <a:t>串行集成方法</a:t>
            </a:r>
            <a:endParaRPr lang="zh-CN" altLang="en-US" sz="3200" dirty="0"/>
          </a:p>
        </p:txBody>
      </p:sp>
      <p:sp>
        <p:nvSpPr>
          <p:cNvPr id="5" name="矩形 4"/>
          <p:cNvSpPr/>
          <p:nvPr/>
        </p:nvSpPr>
        <p:spPr>
          <a:xfrm>
            <a:off x="6755653" y="4816948"/>
            <a:ext cx="2646878" cy="584775"/>
          </a:xfrm>
          <a:prstGeom prst="rect">
            <a:avLst/>
          </a:prstGeom>
        </p:spPr>
        <p:txBody>
          <a:bodyPr wrap="none">
            <a:spAutoFit/>
          </a:bodyPr>
          <a:lstStyle/>
          <a:p>
            <a:r>
              <a:rPr lang="zh-CN" altLang="en-US" sz="3200" b="1" dirty="0">
                <a:solidFill>
                  <a:srgbClr val="FF0000"/>
                </a:solidFill>
              </a:rPr>
              <a:t>并行集成方法</a:t>
            </a:r>
            <a:endParaRPr lang="zh-CN" altLang="en-US" sz="3200" dirty="0"/>
          </a:p>
        </p:txBody>
      </p:sp>
      <p:sp>
        <p:nvSpPr>
          <p:cNvPr id="6" name="灯片编号占位符 5">
            <a:extLst>
              <a:ext uri="{FF2B5EF4-FFF2-40B4-BE49-F238E27FC236}">
                <a16:creationId xmlns:a16="http://schemas.microsoft.com/office/drawing/2014/main" id="{23F5D78A-7FF9-4878-BB66-DC77D3E67932}"/>
              </a:ext>
            </a:extLst>
          </p:cNvPr>
          <p:cNvSpPr>
            <a:spLocks noGrp="1"/>
          </p:cNvSpPr>
          <p:nvPr>
            <p:ph type="sldNum" sz="quarter" idx="14"/>
          </p:nvPr>
        </p:nvSpPr>
        <p:spPr/>
        <p:txBody>
          <a:bodyPr/>
          <a:lstStyle/>
          <a:p>
            <a:fld id="{AF69888C-E133-43D9-A638-B5C95925B91C}" type="slidenum">
              <a:rPr lang="zh-CN" altLang="en-US" smtClean="0"/>
              <a:t>11</a:t>
            </a:fld>
            <a:endParaRPr lang="zh-CN" altLang="en-US" dirty="0"/>
          </a:p>
        </p:txBody>
      </p:sp>
    </p:spTree>
    <p:extLst>
      <p:ext uri="{BB962C8B-B14F-4D97-AF65-F5344CB8AC3E}">
        <p14:creationId xmlns:p14="http://schemas.microsoft.com/office/powerpoint/2010/main" val="2764708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并行集成方法</a:t>
            </a:r>
          </a:p>
        </p:txBody>
      </p:sp>
      <p:graphicFrame>
        <p:nvGraphicFramePr>
          <p:cNvPr id="2" name="Diagram 1">
            <a:extLst>
              <a:ext uri="{FF2B5EF4-FFF2-40B4-BE49-F238E27FC236}">
                <a16:creationId xmlns:a16="http://schemas.microsoft.com/office/drawing/2014/main" id="{76F374E9-5557-804B-9995-92DF6D652D0C}"/>
              </a:ext>
            </a:extLst>
          </p:cNvPr>
          <p:cNvGraphicFramePr/>
          <p:nvPr/>
        </p:nvGraphicFramePr>
        <p:xfrm>
          <a:off x="1456267" y="96836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1A624B8-E6B6-4445-ABBE-2A794ABDA098}"/>
              </a:ext>
            </a:extLst>
          </p:cNvPr>
          <p:cNvSpPr txBox="1"/>
          <p:nvPr/>
        </p:nvSpPr>
        <p:spPr>
          <a:xfrm>
            <a:off x="3611362" y="2609334"/>
            <a:ext cx="2031325" cy="369332"/>
          </a:xfrm>
          <a:prstGeom prst="rect">
            <a:avLst/>
          </a:prstGeom>
          <a:noFill/>
        </p:spPr>
        <p:txBody>
          <a:bodyPr wrap="none" rtlCol="0">
            <a:spAutoFit/>
          </a:bodyPr>
          <a:lstStyle/>
          <a:p>
            <a:pPr algn="l"/>
            <a:r>
              <a:rPr lang="en-CN" b="1" dirty="0">
                <a:latin typeface="+mn-ea"/>
              </a:rPr>
              <a:t>基学习器的独立性</a:t>
            </a:r>
          </a:p>
        </p:txBody>
      </p:sp>
      <p:sp>
        <p:nvSpPr>
          <p:cNvPr id="9" name="TextBox 8">
            <a:extLst>
              <a:ext uri="{FF2B5EF4-FFF2-40B4-BE49-F238E27FC236}">
                <a16:creationId xmlns:a16="http://schemas.microsoft.com/office/drawing/2014/main" id="{A89C4EC0-3234-9941-BC09-B49229B99DB7}"/>
              </a:ext>
            </a:extLst>
          </p:cNvPr>
          <p:cNvSpPr txBox="1"/>
          <p:nvPr/>
        </p:nvSpPr>
        <p:spPr>
          <a:xfrm>
            <a:off x="5642687" y="4405849"/>
            <a:ext cx="2055371" cy="369332"/>
          </a:xfrm>
          <a:prstGeom prst="rect">
            <a:avLst/>
          </a:prstGeom>
          <a:noFill/>
        </p:spPr>
        <p:txBody>
          <a:bodyPr wrap="none" rtlCol="0">
            <a:spAutoFit/>
          </a:bodyPr>
          <a:lstStyle/>
          <a:p>
            <a:pPr algn="l"/>
            <a:r>
              <a:rPr lang="en-CN" b="1" dirty="0">
                <a:latin typeface="+mn-ea"/>
              </a:rPr>
              <a:t>决策树</a:t>
            </a:r>
            <a:r>
              <a:rPr lang="en-US" altLang="zh-CN" b="1" dirty="0">
                <a:latin typeface="+mn-ea"/>
              </a:rPr>
              <a:t>+</a:t>
            </a:r>
            <a:r>
              <a:rPr lang="zh-CN" altLang="en-US" b="1" dirty="0">
                <a:latin typeface="+mn-ea"/>
              </a:rPr>
              <a:t>属性随机</a:t>
            </a:r>
            <a:endParaRPr lang="en-CN" b="1" dirty="0">
              <a:latin typeface="+mn-ea"/>
            </a:endParaRPr>
          </a:p>
        </p:txBody>
      </p:sp>
      <p:sp>
        <p:nvSpPr>
          <p:cNvPr id="3" name="灯片编号占位符 2">
            <a:extLst>
              <a:ext uri="{FF2B5EF4-FFF2-40B4-BE49-F238E27FC236}">
                <a16:creationId xmlns:a16="http://schemas.microsoft.com/office/drawing/2014/main" id="{955D7997-C4D6-416D-8A3D-90080DEBB430}"/>
              </a:ext>
            </a:extLst>
          </p:cNvPr>
          <p:cNvSpPr>
            <a:spLocks noGrp="1"/>
          </p:cNvSpPr>
          <p:nvPr>
            <p:ph type="sldNum" sz="quarter" idx="14"/>
          </p:nvPr>
        </p:nvSpPr>
        <p:spPr/>
        <p:txBody>
          <a:bodyPr/>
          <a:lstStyle/>
          <a:p>
            <a:fld id="{AF69888C-E133-43D9-A638-B5C95925B91C}" type="slidenum">
              <a:rPr lang="zh-CN" altLang="en-US" smtClean="0"/>
              <a:t>12</a:t>
            </a:fld>
            <a:endParaRPr lang="zh-CN" altLang="en-US" dirty="0"/>
          </a:p>
        </p:txBody>
      </p:sp>
    </p:spTree>
    <p:extLst>
      <p:ext uri="{BB962C8B-B14F-4D97-AF65-F5344CB8AC3E}">
        <p14:creationId xmlns:p14="http://schemas.microsoft.com/office/powerpoint/2010/main" val="3976117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并行集成算法</a:t>
            </a:r>
          </a:p>
        </p:txBody>
      </p:sp>
      <p:sp>
        <p:nvSpPr>
          <p:cNvPr id="3" name="TextBox 2">
            <a:extLst>
              <a:ext uri="{FF2B5EF4-FFF2-40B4-BE49-F238E27FC236}">
                <a16:creationId xmlns:a16="http://schemas.microsoft.com/office/drawing/2014/main" id="{0B61B062-1125-CB44-BBDE-E5B23B85A91F}"/>
              </a:ext>
            </a:extLst>
          </p:cNvPr>
          <p:cNvSpPr txBox="1"/>
          <p:nvPr/>
        </p:nvSpPr>
        <p:spPr>
          <a:xfrm>
            <a:off x="666750" y="1130300"/>
            <a:ext cx="10858500" cy="954107"/>
          </a:xfrm>
          <a:prstGeom prst="rect">
            <a:avLst/>
          </a:prstGeom>
          <a:noFill/>
        </p:spPr>
        <p:txBody>
          <a:bodyPr wrap="square" rtlCol="0">
            <a:spAutoFit/>
          </a:bodyPr>
          <a:lstStyle/>
          <a:p>
            <a:r>
              <a:rPr lang="zh-CN" altLang="en-US" sz="2800" b="1" dirty="0"/>
              <a:t>并行集成方法：</a:t>
            </a:r>
            <a:r>
              <a:rPr lang="zh-CN" altLang="en-US" sz="2800" dirty="0"/>
              <a:t>其内在原理是利用基学习器之间的独立性，这是因为结合相互独立的基分类器能够显著</a:t>
            </a:r>
            <a:r>
              <a:rPr lang="zh-CN" altLang="en-US" sz="2800" dirty="0">
                <a:solidFill>
                  <a:srgbClr val="C00000"/>
                </a:solidFill>
              </a:rPr>
              <a:t>减小方差</a:t>
            </a:r>
            <a:r>
              <a:rPr lang="zh-CN" altLang="en-US" sz="2800" dirty="0"/>
              <a:t>（</a:t>
            </a:r>
            <a:r>
              <a:rPr lang="en-GB" altLang="zh-CN" sz="2800" dirty="0"/>
              <a:t>Variance</a:t>
            </a:r>
            <a:r>
              <a:rPr lang="zh-CN" altLang="en-GB" sz="2800" dirty="0"/>
              <a:t>）</a:t>
            </a:r>
            <a:r>
              <a:rPr lang="zh-CN" altLang="en-US" sz="2800" dirty="0"/>
              <a:t>。</a:t>
            </a:r>
            <a:r>
              <a:rPr lang="en-CN" sz="2800" dirty="0"/>
              <a:t> </a:t>
            </a:r>
            <a:endParaRPr lang="en-CN" sz="2800" dirty="0">
              <a:latin typeface="+mn-ea"/>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1B06D7B-0D3D-D143-9FD4-15137BCEA9D1}"/>
                  </a:ext>
                </a:extLst>
              </p:cNvPr>
              <p:cNvSpPr txBox="1"/>
              <p:nvPr/>
            </p:nvSpPr>
            <p:spPr>
              <a:xfrm>
                <a:off x="660400" y="2580432"/>
                <a:ext cx="10864850" cy="834716"/>
              </a:xfrm>
              <a:prstGeom prst="rect">
                <a:avLst/>
              </a:prstGeom>
              <a:noFill/>
            </p:spPr>
            <p:txBody>
              <a:bodyPr wrap="square" rtlCol="0">
                <a:spAutoFit/>
              </a:bodyPr>
              <a:lstStyle/>
              <a:p>
                <a:r>
                  <a:rPr lang="zh-CN" altLang="en-US" sz="2000" dirty="0"/>
                  <a:t>以一个二分类任务为例，输出分别为</a:t>
                </a:r>
                <a:r>
                  <a:rPr lang="en-US" sz="2000" dirty="0"/>
                  <a:t>+1</a:t>
                </a:r>
                <a:r>
                  <a:rPr lang="zh-CN" altLang="en-US" sz="2000" dirty="0"/>
                  <a:t>和</a:t>
                </a:r>
                <a:r>
                  <a:rPr lang="en-US" sz="2000" dirty="0"/>
                  <a:t>-1</a:t>
                </a:r>
                <a:r>
                  <a:rPr lang="zh-CN" altLang="en-US" sz="2000" dirty="0"/>
                  <a:t>，假设真实的函数为</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zh-CN" altLang="en-US" sz="2000" dirty="0"/>
                  <a:t>，训练</a:t>
                </a:r>
                <a:r>
                  <a:rPr lang="en-US" sz="2000" dirty="0"/>
                  <a:t>T</a:t>
                </a:r>
                <a:r>
                  <a:rPr lang="zh-CN" altLang="en-US" sz="2000" dirty="0"/>
                  <a:t>个基分类器</a:t>
                </a:r>
                <a14:m>
                  <m:oMath xmlns:m="http://schemas.openxmlformats.org/officeDocument/2006/math">
                    <m:sSub>
                      <m:sSubPr>
                        <m:ctrlPr>
                          <a:rPr lang="en-CN" sz="2000" i="1">
                            <a:latin typeface="Cambria Math" panose="02040503050406030204" pitchFamily="18" charset="0"/>
                          </a:rPr>
                        </m:ctrlPr>
                      </m:sSubPr>
                      <m:e>
                        <m:r>
                          <a:rPr lang="en-US" sz="2000" i="1">
                            <a:latin typeface="Cambria Math" panose="02040503050406030204" pitchFamily="18" charset="0"/>
                          </a:rPr>
                          <m:t>h</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oMath>
                </a14:m>
                <a:r>
                  <a:rPr lang="zh-CN" altLang="en-US" sz="2000" dirty="0"/>
                  <a:t>，</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𝑇</m:t>
                    </m:r>
                  </m:oMath>
                </a14:m>
                <a:r>
                  <a:rPr lang="zh-CN" altLang="en-US" sz="2000" dirty="0"/>
                  <a:t>。对于每一个基分类器，假设弱分类时的分类错误的概率</a:t>
                </a:r>
                <a14:m>
                  <m:oMath xmlns:m="http://schemas.openxmlformats.org/officeDocument/2006/math">
                    <m:r>
                      <a:rPr lang="en-US" sz="2000" i="1">
                        <a:latin typeface="Cambria Math" panose="02040503050406030204" pitchFamily="18" charset="0"/>
                      </a:rPr>
                      <m:t>𝜖</m:t>
                    </m:r>
                    <m:r>
                      <a:rPr lang="en-US" sz="2000" i="1">
                        <a:latin typeface="Cambria Math" panose="02040503050406030204" pitchFamily="18" charset="0"/>
                      </a:rPr>
                      <m:t>&lt;</m:t>
                    </m:r>
                    <m:f>
                      <m:fPr>
                        <m:ctrlPr>
                          <a:rPr lang="en-CN"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zh-CN" altLang="en-US" sz="2000" dirty="0"/>
                  <a:t>，存在</a:t>
                </a:r>
                <a:r>
                  <a:rPr lang="en-CN" sz="2000" dirty="0">
                    <a:effectLst/>
                  </a:rPr>
                  <a:t> </a:t>
                </a:r>
                <a:r>
                  <a:rPr lang="zh-CN" altLang="en-US" sz="2000" dirty="0">
                    <a:effectLst/>
                  </a:rPr>
                  <a:t>：</a:t>
                </a:r>
                <a:endParaRPr lang="en-CN" sz="2000" dirty="0">
                  <a:latin typeface="+mn-ea"/>
                </a:endParaRPr>
              </a:p>
            </p:txBody>
          </p:sp>
        </mc:Choice>
        <mc:Fallback xmlns="">
          <p:sp>
            <p:nvSpPr>
              <p:cNvPr id="2" name="TextBox 1">
                <a:extLst>
                  <a:ext uri="{FF2B5EF4-FFF2-40B4-BE49-F238E27FC236}">
                    <a16:creationId xmlns:a16="http://schemas.microsoft.com/office/drawing/2014/main" id="{31B06D7B-0D3D-D143-9FD4-15137BCEA9D1}"/>
                  </a:ext>
                </a:extLst>
              </p:cNvPr>
              <p:cNvSpPr txBox="1">
                <a:spLocks noRot="1" noChangeAspect="1" noMove="1" noResize="1" noEditPoints="1" noAdjustHandles="1" noChangeArrowheads="1" noChangeShapeType="1" noTextEdit="1"/>
              </p:cNvSpPr>
              <p:nvPr/>
            </p:nvSpPr>
            <p:spPr>
              <a:xfrm>
                <a:off x="660400" y="2580432"/>
                <a:ext cx="10864850" cy="834716"/>
              </a:xfrm>
              <a:prstGeom prst="rect">
                <a:avLst/>
              </a:prstGeom>
              <a:blipFill>
                <a:blip r:embed="rId3"/>
                <a:stretch>
                  <a:fillRect l="-561" t="-3650" r="-56" b="-43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42582A-21AB-2748-B2CA-37951F27C83D}"/>
                  </a:ext>
                </a:extLst>
              </p:cNvPr>
              <p:cNvSpPr txBox="1"/>
              <p:nvPr/>
            </p:nvSpPr>
            <p:spPr>
              <a:xfrm>
                <a:off x="4049486" y="3629527"/>
                <a:ext cx="2994538" cy="509178"/>
              </a:xfrm>
              <a:prstGeom prst="rect">
                <a:avLst/>
              </a:prstGeom>
              <a:noFill/>
            </p:spPr>
            <p:txBody>
              <a:bodyPr wrap="none" rtlCol="0">
                <a:spAutoFit/>
              </a:bodyPr>
              <a:lstStyle/>
              <a:p>
                <a14:m>
                  <m:oMath xmlns:m="http://schemas.openxmlformats.org/officeDocument/2006/math">
                    <m:r>
                      <a:rPr lang="en-US" sz="2400" i="1">
                        <a:latin typeface="Cambria Math" panose="02040503050406030204" pitchFamily="18" charset="0"/>
                      </a:rPr>
                      <m:t>𝑃</m:t>
                    </m:r>
                    <m:d>
                      <m:dPr>
                        <m:ctrlPr>
                          <a:rPr lang="en-CN" sz="2400" i="1">
                            <a:latin typeface="Cambria Math" panose="02040503050406030204" pitchFamily="18" charset="0"/>
                          </a:rPr>
                        </m:ctrlPr>
                      </m:dPr>
                      <m:e>
                        <m:sSub>
                          <m:sSubPr>
                            <m:ctrlPr>
                              <a:rPr lang="en-CN"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𝑖</m:t>
                            </m:r>
                          </m:sub>
                        </m:sSub>
                        <m:d>
                          <m:dPr>
                            <m:ctrlPr>
                              <a:rPr lang="en-CN"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r>
                          <a:rPr lang="en-US" sz="2400" i="1">
                            <a:latin typeface="Cambria Math" panose="02040503050406030204" pitchFamily="18" charset="0"/>
                          </a:rPr>
                          <m:t>𝑓</m:t>
                        </m:r>
                        <m:d>
                          <m:dPr>
                            <m:ctrlPr>
                              <a:rPr lang="en-CN" sz="2400" i="1">
                                <a:latin typeface="Cambria Math" panose="02040503050406030204" pitchFamily="18" charset="0"/>
                              </a:rPr>
                            </m:ctrlPr>
                          </m:dPr>
                          <m:e>
                            <m:r>
                              <a:rPr lang="en-US" sz="2400" i="1">
                                <a:latin typeface="Cambria Math" panose="02040503050406030204" pitchFamily="18" charset="0"/>
                              </a:rPr>
                              <m:t>𝑥</m:t>
                            </m:r>
                          </m:e>
                        </m:d>
                      </m:e>
                    </m:d>
                    <m:r>
                      <a:rPr lang="en-US" sz="2400" i="1">
                        <a:latin typeface="Cambria Math" panose="02040503050406030204" pitchFamily="18" charset="0"/>
                      </a:rPr>
                      <m:t>=</m:t>
                    </m:r>
                    <m:r>
                      <a:rPr lang="en-US" sz="2400" i="1">
                        <a:latin typeface="Cambria Math" panose="02040503050406030204" pitchFamily="18" charset="0"/>
                      </a:rPr>
                      <m:t>𝜖</m:t>
                    </m:r>
                  </m:oMath>
                </a14:m>
                <a:r>
                  <a:rPr lang="en-CN" sz="2400" dirty="0">
                    <a:effectLst/>
                  </a:rPr>
                  <a:t> </a:t>
                </a:r>
                <a:endParaRPr lang="en-CN" sz="2400" dirty="0">
                  <a:latin typeface="+mn-ea"/>
                </a:endParaRPr>
              </a:p>
            </p:txBody>
          </p:sp>
        </mc:Choice>
        <mc:Fallback xmlns="">
          <p:sp>
            <p:nvSpPr>
              <p:cNvPr id="5" name="TextBox 4">
                <a:extLst>
                  <a:ext uri="{FF2B5EF4-FFF2-40B4-BE49-F238E27FC236}">
                    <a16:creationId xmlns:a16="http://schemas.microsoft.com/office/drawing/2014/main" id="{1442582A-21AB-2748-B2CA-37951F27C83D}"/>
                  </a:ext>
                </a:extLst>
              </p:cNvPr>
              <p:cNvSpPr txBox="1">
                <a:spLocks noRot="1" noChangeAspect="1" noMove="1" noResize="1" noEditPoints="1" noAdjustHandles="1" noChangeArrowheads="1" noChangeShapeType="1" noTextEdit="1"/>
              </p:cNvSpPr>
              <p:nvPr/>
            </p:nvSpPr>
            <p:spPr>
              <a:xfrm>
                <a:off x="4049486" y="3629527"/>
                <a:ext cx="2994538" cy="509178"/>
              </a:xfrm>
              <a:prstGeom prst="rect">
                <a:avLst/>
              </a:prstGeom>
              <a:blipFill>
                <a:blip r:embed="rId4"/>
                <a:stretch>
                  <a:fillRect l="-422" b="-1219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EB611A-E364-F348-BB3C-E29E4BFF4DCD}"/>
                  </a:ext>
                </a:extLst>
              </p:cNvPr>
              <p:cNvSpPr txBox="1"/>
              <p:nvPr/>
            </p:nvSpPr>
            <p:spPr>
              <a:xfrm>
                <a:off x="708444" y="4227478"/>
                <a:ext cx="10858500" cy="707886"/>
              </a:xfrm>
              <a:prstGeom prst="rect">
                <a:avLst/>
              </a:prstGeom>
              <a:noFill/>
            </p:spPr>
            <p:txBody>
              <a:bodyPr wrap="square" rtlCol="0">
                <a:spAutoFit/>
              </a:bodyPr>
              <a:lstStyle/>
              <a:p>
                <a:r>
                  <a:rPr lang="zh-CN" altLang="en-US" sz="2000" dirty="0"/>
                  <a:t>结合</a:t>
                </a:r>
                <a:r>
                  <a:rPr lang="en-US" sz="2000" dirty="0"/>
                  <a:t>T</a:t>
                </a:r>
                <a:r>
                  <a:rPr lang="zh-CN" altLang="en-US" sz="2000" dirty="0"/>
                  <a:t>个分类器，根据</a:t>
                </a:r>
                <a:r>
                  <a:rPr lang="en-US" sz="2000" dirty="0"/>
                  <a:t>Voting</a:t>
                </a:r>
                <a:r>
                  <a:rPr lang="zh-CN" altLang="en-US" sz="2000" dirty="0"/>
                  <a:t>的方法来决定最后的分类结果</a:t>
                </a:r>
                <a14:m>
                  <m:oMath xmlns:m="http://schemas.openxmlformats.org/officeDocument/2006/math">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zh-CN" altLang="en-US" sz="2000" dirty="0"/>
                  <a:t>，用符号函数表示，可得</a:t>
                </a:r>
                <a:endParaRPr lang="en-CN" sz="2000" dirty="0"/>
              </a:p>
              <a:p>
                <a:pPr algn="l"/>
                <a:endParaRPr lang="en-CN" sz="2000" dirty="0">
                  <a:latin typeface="+mn-ea"/>
                </a:endParaRPr>
              </a:p>
            </p:txBody>
          </p:sp>
        </mc:Choice>
        <mc:Fallback xmlns="">
          <p:sp>
            <p:nvSpPr>
              <p:cNvPr id="6" name="TextBox 5">
                <a:extLst>
                  <a:ext uri="{FF2B5EF4-FFF2-40B4-BE49-F238E27FC236}">
                    <a16:creationId xmlns:a16="http://schemas.microsoft.com/office/drawing/2014/main" id="{CFEB611A-E364-F348-BB3C-E29E4BFF4DCD}"/>
                  </a:ext>
                </a:extLst>
              </p:cNvPr>
              <p:cNvSpPr txBox="1">
                <a:spLocks noRot="1" noChangeAspect="1" noMove="1" noResize="1" noEditPoints="1" noAdjustHandles="1" noChangeArrowheads="1" noChangeShapeType="1" noTextEdit="1"/>
              </p:cNvSpPr>
              <p:nvPr/>
            </p:nvSpPr>
            <p:spPr>
              <a:xfrm>
                <a:off x="708444" y="4227478"/>
                <a:ext cx="10858500" cy="707886"/>
              </a:xfrm>
              <a:prstGeom prst="rect">
                <a:avLst/>
              </a:prstGeom>
              <a:blipFill>
                <a:blip r:embed="rId5"/>
                <a:stretch>
                  <a:fillRect l="-584" t="-350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6CEC8BC-5F93-0B42-831C-9E62224CDBF7}"/>
                  </a:ext>
                </a:extLst>
              </p:cNvPr>
              <p:cNvSpPr txBox="1"/>
              <p:nvPr/>
            </p:nvSpPr>
            <p:spPr>
              <a:xfrm>
                <a:off x="3782169" y="4765161"/>
                <a:ext cx="3529171" cy="485518"/>
              </a:xfrm>
              <a:prstGeom prst="rect">
                <a:avLst/>
              </a:prstGeom>
              <a:noFill/>
            </p:spPr>
            <p:txBody>
              <a:bodyPr wrap="none" rtlCol="0">
                <a:spAutoFit/>
              </a:bodyPr>
              <a:lstStyle/>
              <a:p>
                <a14:m>
                  <m:oMath xmlns:m="http://schemas.openxmlformats.org/officeDocument/2006/math">
                    <m:r>
                      <a:rPr lang="en-US" sz="2400" i="1">
                        <a:latin typeface="Cambria Math" panose="02040503050406030204" pitchFamily="18" charset="0"/>
                      </a:rPr>
                      <m:t>𝐻</m:t>
                    </m:r>
                    <m:d>
                      <m:dPr>
                        <m:ctrlPr>
                          <a:rPr lang="en-CN"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r>
                      <a:rPr lang="en-US" sz="2400" i="1">
                        <a:latin typeface="Cambria Math" panose="02040503050406030204" pitchFamily="18" charset="0"/>
                      </a:rPr>
                      <m:t>𝑠𝑖𝑔𝑛</m:t>
                    </m:r>
                    <m:r>
                      <a:rPr lang="en-US" sz="2400" i="1">
                        <a:latin typeface="Cambria Math" panose="02040503050406030204" pitchFamily="18" charset="0"/>
                      </a:rPr>
                      <m:t>(</m:t>
                    </m:r>
                    <m:nary>
                      <m:naryPr>
                        <m:chr m:val="∑"/>
                        <m:limLoc m:val="undOvr"/>
                        <m:ctrlPr>
                          <a:rPr lang="en-CN"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𝑇</m:t>
                        </m:r>
                      </m:sup>
                      <m:e>
                        <m:sSub>
                          <m:sSubPr>
                            <m:ctrlPr>
                              <a:rPr lang="en-CN" sz="2400" i="1">
                                <a:latin typeface="Cambria Math" panose="02040503050406030204" pitchFamily="18" charset="0"/>
                              </a:rPr>
                            </m:ctrlPr>
                          </m:sSubPr>
                          <m:e>
                            <m:r>
                              <a:rPr lang="en-US" sz="2400" i="1">
                                <a:latin typeface="Cambria Math" panose="02040503050406030204" pitchFamily="18" charset="0"/>
                              </a:rPr>
                              <m:t>h</m:t>
                            </m:r>
                          </m:e>
                          <m:sub>
                            <m:r>
                              <a:rPr lang="en-US" sz="2400" i="1">
                                <a:latin typeface="Cambria Math" panose="02040503050406030204" pitchFamily="18" charset="0"/>
                              </a:rPr>
                              <m:t>𝑖</m:t>
                            </m:r>
                          </m:sub>
                        </m:sSub>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e>
                    </m:nary>
                    <m:r>
                      <a:rPr lang="en-US" sz="2400" i="1">
                        <a:latin typeface="Cambria Math" panose="02040503050406030204" pitchFamily="18" charset="0"/>
                      </a:rPr>
                      <m:t>)</m:t>
                    </m:r>
                  </m:oMath>
                </a14:m>
                <a:r>
                  <a:rPr lang="en-CN" sz="2400" dirty="0">
                    <a:effectLst/>
                  </a:rPr>
                  <a:t> </a:t>
                </a:r>
                <a:endParaRPr lang="en-CN" sz="2400" dirty="0">
                  <a:latin typeface="+mn-ea"/>
                </a:endParaRPr>
              </a:p>
            </p:txBody>
          </p:sp>
        </mc:Choice>
        <mc:Fallback xmlns="">
          <p:sp>
            <p:nvSpPr>
              <p:cNvPr id="7" name="TextBox 6">
                <a:extLst>
                  <a:ext uri="{FF2B5EF4-FFF2-40B4-BE49-F238E27FC236}">
                    <a16:creationId xmlns:a16="http://schemas.microsoft.com/office/drawing/2014/main" id="{66CEC8BC-5F93-0B42-831C-9E62224CDBF7}"/>
                  </a:ext>
                </a:extLst>
              </p:cNvPr>
              <p:cNvSpPr txBox="1">
                <a:spLocks noRot="1" noChangeAspect="1" noMove="1" noResize="1" noEditPoints="1" noAdjustHandles="1" noChangeArrowheads="1" noChangeShapeType="1" noTextEdit="1"/>
              </p:cNvSpPr>
              <p:nvPr/>
            </p:nvSpPr>
            <p:spPr>
              <a:xfrm>
                <a:off x="3782169" y="4765161"/>
                <a:ext cx="3529171" cy="485518"/>
              </a:xfrm>
              <a:prstGeom prst="rect">
                <a:avLst/>
              </a:prstGeom>
              <a:blipFill>
                <a:blip r:embed="rId6"/>
                <a:stretch>
                  <a:fillRect l="-358" t="-115385" b="-184615"/>
                </a:stretch>
              </a:blipFill>
            </p:spPr>
            <p:txBody>
              <a:bodyPr/>
              <a:lstStyle/>
              <a:p>
                <a:r>
                  <a:rPr lang="en-CN">
                    <a:noFill/>
                  </a:rPr>
                  <a:t> </a:t>
                </a:r>
              </a:p>
            </p:txBody>
          </p:sp>
        </mc:Fallback>
      </mc:AlternateContent>
      <p:sp>
        <p:nvSpPr>
          <p:cNvPr id="8" name="TextBox 7">
            <a:extLst>
              <a:ext uri="{FF2B5EF4-FFF2-40B4-BE49-F238E27FC236}">
                <a16:creationId xmlns:a16="http://schemas.microsoft.com/office/drawing/2014/main" id="{944CCF29-DD76-7949-95B4-A3A5639A21AE}"/>
              </a:ext>
            </a:extLst>
          </p:cNvPr>
          <p:cNvSpPr txBox="1"/>
          <p:nvPr/>
        </p:nvSpPr>
        <p:spPr>
          <a:xfrm>
            <a:off x="660400" y="5419530"/>
            <a:ext cx="7106433" cy="400110"/>
          </a:xfrm>
          <a:prstGeom prst="rect">
            <a:avLst/>
          </a:prstGeom>
          <a:noFill/>
        </p:spPr>
        <p:txBody>
          <a:bodyPr wrap="none" rtlCol="0">
            <a:spAutoFit/>
          </a:bodyPr>
          <a:lstStyle/>
          <a:p>
            <a:r>
              <a:rPr lang="zh-CN" altLang="en-US" sz="2000" dirty="0"/>
              <a:t>集成后的</a:t>
            </a:r>
            <a:r>
              <a:rPr lang="en-US" sz="2000" dirty="0"/>
              <a:t>H</a:t>
            </a:r>
            <a:r>
              <a:rPr lang="zh-CN" altLang="en-US" sz="2000" dirty="0"/>
              <a:t>之后在至少一半的基分类器预测错误时才会犯错。</a:t>
            </a:r>
            <a:r>
              <a:rPr lang="en-CN" sz="2000" dirty="0"/>
              <a:t> </a:t>
            </a:r>
            <a:endParaRPr lang="en-CN" sz="2000" dirty="0">
              <a:latin typeface="+mn-ea"/>
            </a:endParaRPr>
          </a:p>
        </p:txBody>
      </p:sp>
      <p:sp>
        <p:nvSpPr>
          <p:cNvPr id="9" name="灯片编号占位符 8">
            <a:extLst>
              <a:ext uri="{FF2B5EF4-FFF2-40B4-BE49-F238E27FC236}">
                <a16:creationId xmlns:a16="http://schemas.microsoft.com/office/drawing/2014/main" id="{D43C38A1-BF5A-4C4C-8AF9-4C32AAA4F7FA}"/>
              </a:ext>
            </a:extLst>
          </p:cNvPr>
          <p:cNvSpPr>
            <a:spLocks noGrp="1"/>
          </p:cNvSpPr>
          <p:nvPr>
            <p:ph type="sldNum" sz="quarter" idx="14"/>
          </p:nvPr>
        </p:nvSpPr>
        <p:spPr/>
        <p:txBody>
          <a:bodyPr/>
          <a:lstStyle/>
          <a:p>
            <a:fld id="{AF69888C-E133-43D9-A638-B5C95925B91C}" type="slidenum">
              <a:rPr lang="zh-CN" altLang="en-US" smtClean="0"/>
              <a:t>13</a:t>
            </a:fld>
            <a:endParaRPr lang="zh-CN" altLang="en-US" dirty="0"/>
          </a:p>
        </p:txBody>
      </p:sp>
    </p:spTree>
    <p:extLst>
      <p:ext uri="{BB962C8B-B14F-4D97-AF65-F5344CB8AC3E}">
        <p14:creationId xmlns:p14="http://schemas.microsoft.com/office/powerpoint/2010/main" val="3534660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并行集成算法</a:t>
            </a:r>
          </a:p>
        </p:txBody>
      </p:sp>
      <p:sp>
        <p:nvSpPr>
          <p:cNvPr id="3" name="TextBox 2">
            <a:extLst>
              <a:ext uri="{FF2B5EF4-FFF2-40B4-BE49-F238E27FC236}">
                <a16:creationId xmlns:a16="http://schemas.microsoft.com/office/drawing/2014/main" id="{0B61B062-1125-CB44-BBDE-E5B23B85A91F}"/>
              </a:ext>
            </a:extLst>
          </p:cNvPr>
          <p:cNvSpPr txBox="1"/>
          <p:nvPr/>
        </p:nvSpPr>
        <p:spPr>
          <a:xfrm>
            <a:off x="566961" y="1413136"/>
            <a:ext cx="11077783" cy="400110"/>
          </a:xfrm>
          <a:prstGeom prst="rect">
            <a:avLst/>
          </a:prstGeom>
          <a:noFill/>
        </p:spPr>
        <p:txBody>
          <a:bodyPr wrap="square" rtlCol="0">
            <a:spAutoFit/>
          </a:bodyPr>
          <a:lstStyle/>
          <a:p>
            <a:r>
              <a:rPr lang="zh-CN" altLang="en-US" sz="2000" dirty="0"/>
              <a:t>因此，根据霍夫丁不等式</a:t>
            </a:r>
            <a:r>
              <a:rPr lang="en-US" altLang="zh-CN" sz="2000" dirty="0"/>
              <a:t>(</a:t>
            </a:r>
            <a:r>
              <a:rPr lang="en-GB" altLang="zh-CN" sz="2000" dirty="0" err="1"/>
              <a:t>Hoeffding</a:t>
            </a:r>
            <a:r>
              <a:rPr lang="en-GB" altLang="zh-CN" sz="2000" dirty="0"/>
              <a:t>)</a:t>
            </a:r>
            <a:r>
              <a:rPr lang="zh-CN" altLang="en-GB" sz="2000" dirty="0"/>
              <a:t>，</a:t>
            </a:r>
            <a:r>
              <a:rPr lang="zh-CN" altLang="en-US" sz="2000" dirty="0"/>
              <a:t>集成后模型的泛化误差为（基学习器正确数小于</a:t>
            </a:r>
            <a:r>
              <a:rPr lang="en-US" altLang="zh-CN" sz="2000" dirty="0"/>
              <a:t>T/2</a:t>
            </a:r>
            <a:r>
              <a:rPr lang="zh-CN" altLang="en-US" sz="2000" dirty="0"/>
              <a:t>则出错）</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EE4AC12-9A93-7346-92CA-16C878D65C46}"/>
                  </a:ext>
                </a:extLst>
              </p:cNvPr>
              <p:cNvSpPr txBox="1"/>
              <p:nvPr/>
            </p:nvSpPr>
            <p:spPr>
              <a:xfrm>
                <a:off x="1657958" y="1883004"/>
                <a:ext cx="8876084" cy="705706"/>
              </a:xfrm>
              <a:prstGeom prst="rect">
                <a:avLst/>
              </a:prstGeom>
              <a:noFill/>
            </p:spPr>
            <p:txBody>
              <a:bodyPr wrap="none" rtlCol="0">
                <a:spAutoFit/>
              </a:bodyPr>
              <a:lstStyle/>
              <a:p>
                <a14:m>
                  <m:oMath xmlns:m="http://schemas.openxmlformats.org/officeDocument/2006/math">
                    <m:r>
                      <a:rPr lang="en-US" sz="2400" i="1">
                        <a:latin typeface="Cambria Math" panose="02040503050406030204" pitchFamily="18" charset="0"/>
                      </a:rPr>
                      <m:t>𝑃</m:t>
                    </m:r>
                    <m:d>
                      <m:dPr>
                        <m:ctrlPr>
                          <a:rPr lang="en-CN" sz="2400" i="1">
                            <a:latin typeface="Cambria Math" panose="02040503050406030204" pitchFamily="18" charset="0"/>
                          </a:rPr>
                        </m:ctrlPr>
                      </m:dPr>
                      <m:e>
                        <m:r>
                          <a:rPr lang="en-US" sz="2400" i="1">
                            <a:latin typeface="Cambria Math" panose="02040503050406030204" pitchFamily="18" charset="0"/>
                          </a:rPr>
                          <m:t>𝐻</m:t>
                        </m:r>
                        <m:d>
                          <m:dPr>
                            <m:ctrlPr>
                              <a:rPr lang="en-CN"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r>
                          <a:rPr lang="en-US" sz="2400" i="1">
                            <a:latin typeface="Cambria Math" panose="02040503050406030204" pitchFamily="18" charset="0"/>
                          </a:rPr>
                          <m:t>𝑓</m:t>
                        </m:r>
                        <m:d>
                          <m:dPr>
                            <m:ctrlPr>
                              <a:rPr lang="en-CN" sz="2400" i="1">
                                <a:latin typeface="Cambria Math" panose="02040503050406030204" pitchFamily="18" charset="0"/>
                              </a:rPr>
                            </m:ctrlPr>
                          </m:dPr>
                          <m:e>
                            <m:r>
                              <a:rPr lang="en-US" sz="2400" i="1">
                                <a:latin typeface="Cambria Math" panose="02040503050406030204" pitchFamily="18" charset="0"/>
                              </a:rPr>
                              <m:t>𝑥</m:t>
                            </m:r>
                          </m:e>
                        </m:d>
                      </m:e>
                    </m:d>
                    <m:r>
                      <a:rPr lang="en-US" sz="2400" i="1">
                        <a:latin typeface="Cambria Math" panose="02040503050406030204" pitchFamily="18" charset="0"/>
                      </a:rPr>
                      <m:t>=</m:t>
                    </m:r>
                    <m:nary>
                      <m:naryPr>
                        <m:chr m:val="∑"/>
                        <m:limLoc m:val="undOvr"/>
                        <m:ctrlPr>
                          <a:rPr lang="en-CN" sz="2400" i="1">
                            <a:latin typeface="Cambria Math" panose="02040503050406030204" pitchFamily="18" charset="0"/>
                          </a:rPr>
                        </m:ctrlPr>
                      </m:naryPr>
                      <m:sub>
                        <m:r>
                          <a:rPr lang="en-US" sz="2400" i="1">
                            <a:latin typeface="Cambria Math" panose="02040503050406030204" pitchFamily="18" charset="0"/>
                          </a:rPr>
                          <m:t>𝑘</m:t>
                        </m:r>
                        <m:r>
                          <a:rPr lang="en-US" sz="2400" i="1">
                            <a:latin typeface="Cambria Math" panose="02040503050406030204" pitchFamily="18" charset="0"/>
                          </a:rPr>
                          <m:t>=0</m:t>
                        </m:r>
                      </m:sub>
                      <m:sup>
                        <m:r>
                          <a:rPr lang="en-US" sz="2400" i="1">
                            <a:latin typeface="Cambria Math" panose="02040503050406030204" pitchFamily="18" charset="0"/>
                          </a:rPr>
                          <m:t>[</m:t>
                        </m:r>
                        <m:r>
                          <a:rPr lang="en-US" sz="2400" i="1">
                            <a:latin typeface="Cambria Math" panose="02040503050406030204" pitchFamily="18" charset="0"/>
                          </a:rPr>
                          <m:t>𝑇</m:t>
                        </m:r>
                        <m:r>
                          <a:rPr lang="en-US" sz="2400" i="1">
                            <a:latin typeface="Cambria Math" panose="02040503050406030204" pitchFamily="18" charset="0"/>
                          </a:rPr>
                          <m:t>/2]</m:t>
                        </m:r>
                      </m:sup>
                      <m:e>
                        <m:d>
                          <m:dPr>
                            <m:ctrlPr>
                              <a:rPr lang="en-CN" sz="2400" i="1">
                                <a:latin typeface="Cambria Math" panose="02040503050406030204" pitchFamily="18" charset="0"/>
                              </a:rPr>
                            </m:ctrlPr>
                          </m:dPr>
                          <m:e>
                            <m:m>
                              <m:mPr>
                                <m:mcs>
                                  <m:mc>
                                    <m:mcPr>
                                      <m:count m:val="1"/>
                                      <m:mcJc m:val="center"/>
                                    </m:mcPr>
                                  </m:mc>
                                </m:mcs>
                                <m:ctrlPr>
                                  <a:rPr lang="en-CN" sz="2400" i="1">
                                    <a:latin typeface="Cambria Math" panose="02040503050406030204" pitchFamily="18" charset="0"/>
                                  </a:rPr>
                                </m:ctrlPr>
                              </m:mPr>
                              <m:mr>
                                <m:e>
                                  <m:r>
                                    <a:rPr lang="en-US" sz="2400" i="1">
                                      <a:latin typeface="Cambria Math" panose="02040503050406030204" pitchFamily="18" charset="0"/>
                                    </a:rPr>
                                    <m:t>𝑇</m:t>
                                  </m:r>
                                </m:e>
                              </m:mr>
                              <m:mr>
                                <m:e>
                                  <m:r>
                                    <a:rPr lang="en-US" sz="2400" i="1">
                                      <a:latin typeface="Cambria Math" panose="02040503050406030204" pitchFamily="18" charset="0"/>
                                    </a:rPr>
                                    <m:t>𝑘</m:t>
                                  </m:r>
                                </m:e>
                              </m:mr>
                            </m:m>
                          </m:e>
                        </m:d>
                        <m:sSup>
                          <m:sSupPr>
                            <m:ctrlPr>
                              <a:rPr lang="en-CN" sz="2400" i="1">
                                <a:latin typeface="Cambria Math" panose="02040503050406030204" pitchFamily="18" charset="0"/>
                              </a:rPr>
                            </m:ctrlPr>
                          </m:sSupPr>
                          <m:e>
                            <m:d>
                              <m:dPr>
                                <m:ctrlPr>
                                  <a:rPr lang="en-CN" sz="2400" i="1">
                                    <a:latin typeface="Cambria Math" panose="02040503050406030204" pitchFamily="18" charset="0"/>
                                  </a:rPr>
                                </m:ctrlPr>
                              </m:dPr>
                              <m:e>
                                <m:r>
                                  <a:rPr lang="en-US" sz="2400" i="1">
                                    <a:latin typeface="Cambria Math" panose="02040503050406030204" pitchFamily="18" charset="0"/>
                                  </a:rPr>
                                  <m:t>1−</m:t>
                                </m:r>
                                <m:r>
                                  <a:rPr lang="en-US" sz="2400" i="1">
                                    <a:latin typeface="Cambria Math" panose="02040503050406030204" pitchFamily="18" charset="0"/>
                                  </a:rPr>
                                  <m:t>𝜖</m:t>
                                </m:r>
                              </m:e>
                            </m:d>
                          </m:e>
                          <m:sup>
                            <m:r>
                              <a:rPr lang="en-US" sz="2400" i="1">
                                <a:latin typeface="Cambria Math" panose="02040503050406030204" pitchFamily="18" charset="0"/>
                              </a:rPr>
                              <m:t>𝑘</m:t>
                            </m:r>
                          </m:sup>
                        </m:sSup>
                        <m:sSup>
                          <m:sSupPr>
                            <m:ctrlPr>
                              <a:rPr lang="en-CN" sz="2400" i="1">
                                <a:latin typeface="Cambria Math" panose="02040503050406030204" pitchFamily="18" charset="0"/>
                              </a:rPr>
                            </m:ctrlPr>
                          </m:sSupPr>
                          <m:e>
                            <m:r>
                              <a:rPr lang="en-US" sz="2400" i="1">
                                <a:latin typeface="Cambria Math" panose="02040503050406030204" pitchFamily="18" charset="0"/>
                              </a:rPr>
                              <m:t>𝜖</m:t>
                            </m:r>
                          </m:e>
                          <m:sup>
                            <m:r>
                              <a:rPr lang="en-US" sz="2400" i="1">
                                <a:latin typeface="Cambria Math" panose="02040503050406030204" pitchFamily="18" charset="0"/>
                              </a:rPr>
                              <m:t>𝑇</m:t>
                            </m:r>
                            <m:r>
                              <a:rPr lang="en-US" sz="2400" i="1">
                                <a:latin typeface="Cambria Math" panose="02040503050406030204" pitchFamily="18" charset="0"/>
                              </a:rPr>
                              <m:t>−</m:t>
                            </m:r>
                            <m:r>
                              <a:rPr lang="en-US" sz="2400" i="1">
                                <a:latin typeface="Cambria Math" panose="02040503050406030204" pitchFamily="18" charset="0"/>
                              </a:rPr>
                              <m:t>𝑘</m:t>
                            </m:r>
                          </m:sup>
                        </m:sSup>
                        <m:r>
                          <a:rPr lang="en-US" sz="2400" i="1">
                            <a:latin typeface="Cambria Math" panose="02040503050406030204" pitchFamily="18" charset="0"/>
                          </a:rPr>
                          <m:t>≤</m:t>
                        </m:r>
                        <m:r>
                          <m:rPr>
                            <m:sty m:val="p"/>
                          </m:rPr>
                          <a:rPr lang="en-US" sz="2400" smtClean="0">
                            <a:solidFill>
                              <a:srgbClr val="FF0000"/>
                            </a:solidFill>
                            <a:latin typeface="Cambria Math" panose="02040503050406030204" pitchFamily="18" charset="0"/>
                          </a:rPr>
                          <m:t>exp</m:t>
                        </m:r>
                        <m:r>
                          <a:rPr lang="en-US" sz="2400" i="1">
                            <a:solidFill>
                              <a:srgbClr val="FF0000"/>
                            </a:solidFill>
                            <a:latin typeface="Cambria Math" panose="02040503050406030204" pitchFamily="18" charset="0"/>
                          </a:rPr>
                          <m:t>(−</m:t>
                        </m:r>
                        <m:f>
                          <m:fPr>
                            <m:ctrlPr>
                              <a:rPr lang="en-CN"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1</m:t>
                            </m:r>
                          </m:num>
                          <m:den>
                            <m:r>
                              <a:rPr lang="en-US" sz="2400" i="1">
                                <a:solidFill>
                                  <a:srgbClr val="FF0000"/>
                                </a:solidFill>
                                <a:latin typeface="Cambria Math" panose="02040503050406030204" pitchFamily="18" charset="0"/>
                              </a:rPr>
                              <m:t>2</m:t>
                            </m:r>
                          </m:den>
                        </m:f>
                        <m:r>
                          <a:rPr lang="en-US" sz="2400" i="1">
                            <a:solidFill>
                              <a:srgbClr val="FF0000"/>
                            </a:solidFill>
                            <a:latin typeface="Cambria Math" panose="02040503050406030204" pitchFamily="18" charset="0"/>
                          </a:rPr>
                          <m:t>𝑇</m:t>
                        </m:r>
                        <m:sSup>
                          <m:sSupPr>
                            <m:ctrlPr>
                              <a:rPr lang="en-CN" sz="2400" i="1">
                                <a:solidFill>
                                  <a:srgbClr val="FF0000"/>
                                </a:solidFill>
                                <a:latin typeface="Cambria Math" panose="02040503050406030204" pitchFamily="18" charset="0"/>
                              </a:rPr>
                            </m:ctrlPr>
                          </m:sSupPr>
                          <m:e>
                            <m:d>
                              <m:dPr>
                                <m:ctrlPr>
                                  <a:rPr lang="en-CN"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2</m:t>
                                </m:r>
                                <m:r>
                                  <a:rPr lang="en-US" sz="2400" i="1">
                                    <a:solidFill>
                                      <a:srgbClr val="FF0000"/>
                                    </a:solidFill>
                                    <a:latin typeface="Cambria Math" panose="02040503050406030204" pitchFamily="18" charset="0"/>
                                  </a:rPr>
                                  <m:t>𝜖</m:t>
                                </m:r>
                                <m:r>
                                  <a:rPr lang="en-US" sz="2400" i="1">
                                    <a:solidFill>
                                      <a:srgbClr val="FF0000"/>
                                    </a:solidFill>
                                    <a:latin typeface="Cambria Math" panose="02040503050406030204" pitchFamily="18" charset="0"/>
                                  </a:rPr>
                                  <m:t>−1</m:t>
                                </m:r>
                              </m:e>
                            </m:d>
                          </m:e>
                          <m:sup>
                            <m:r>
                              <a:rPr lang="en-US" sz="2400" i="1">
                                <a:solidFill>
                                  <a:srgbClr val="FF0000"/>
                                </a:solidFill>
                                <a:latin typeface="Cambria Math" panose="02040503050406030204" pitchFamily="18" charset="0"/>
                              </a:rPr>
                              <m:t>2</m:t>
                            </m:r>
                          </m:sup>
                        </m:sSup>
                        <m:r>
                          <a:rPr lang="en-US" sz="2400" i="1">
                            <a:latin typeface="Cambria Math" panose="02040503050406030204" pitchFamily="18" charset="0"/>
                          </a:rPr>
                          <m:t>)</m:t>
                        </m:r>
                      </m:e>
                    </m:nary>
                  </m:oMath>
                </a14:m>
                <a:r>
                  <a:rPr lang="en-CN" sz="2400" dirty="0">
                    <a:effectLst/>
                  </a:rPr>
                  <a:t> </a:t>
                </a:r>
                <a:endParaRPr lang="en-CN" sz="2400" dirty="0">
                  <a:latin typeface="+mn-ea"/>
                </a:endParaRPr>
              </a:p>
            </p:txBody>
          </p:sp>
        </mc:Choice>
        <mc:Fallback xmlns="">
          <p:sp>
            <p:nvSpPr>
              <p:cNvPr id="9" name="TextBox 8">
                <a:extLst>
                  <a:ext uri="{FF2B5EF4-FFF2-40B4-BE49-F238E27FC236}">
                    <a16:creationId xmlns:a16="http://schemas.microsoft.com/office/drawing/2014/main" id="{BEE4AC12-9A93-7346-92CA-16C878D65C46}"/>
                  </a:ext>
                </a:extLst>
              </p:cNvPr>
              <p:cNvSpPr txBox="1">
                <a:spLocks noRot="1" noChangeAspect="1" noMove="1" noResize="1" noEditPoints="1" noAdjustHandles="1" noChangeArrowheads="1" noChangeShapeType="1" noTextEdit="1"/>
              </p:cNvSpPr>
              <p:nvPr/>
            </p:nvSpPr>
            <p:spPr>
              <a:xfrm>
                <a:off x="1657958" y="1883004"/>
                <a:ext cx="8876084" cy="705706"/>
              </a:xfrm>
              <a:prstGeom prst="rect">
                <a:avLst/>
              </a:prstGeom>
              <a:blipFill>
                <a:blip r:embed="rId3"/>
                <a:stretch>
                  <a:fillRect l="-143" t="-64912" b="-107018"/>
                </a:stretch>
              </a:blipFill>
            </p:spPr>
            <p:txBody>
              <a:bodyPr/>
              <a:lstStyle/>
              <a:p>
                <a:r>
                  <a:rPr lang="en-CN">
                    <a:noFill/>
                  </a:rPr>
                  <a:t> </a:t>
                </a:r>
              </a:p>
            </p:txBody>
          </p:sp>
        </mc:Fallback>
      </mc:AlternateContent>
      <p:sp>
        <p:nvSpPr>
          <p:cNvPr id="10" name="TextBox 9">
            <a:extLst>
              <a:ext uri="{FF2B5EF4-FFF2-40B4-BE49-F238E27FC236}">
                <a16:creationId xmlns:a16="http://schemas.microsoft.com/office/drawing/2014/main" id="{EFFC63DA-9CA4-9E4F-8F38-B63FFA46C084}"/>
              </a:ext>
            </a:extLst>
          </p:cNvPr>
          <p:cNvSpPr txBox="1"/>
          <p:nvPr/>
        </p:nvSpPr>
        <p:spPr>
          <a:xfrm>
            <a:off x="666750" y="2721114"/>
            <a:ext cx="10858500" cy="707886"/>
          </a:xfrm>
          <a:prstGeom prst="rect">
            <a:avLst/>
          </a:prstGeom>
          <a:noFill/>
        </p:spPr>
        <p:txBody>
          <a:bodyPr wrap="square" rtlCol="0">
            <a:spAutoFit/>
          </a:bodyPr>
          <a:lstStyle/>
          <a:p>
            <a:r>
              <a:rPr lang="zh-CN" altLang="en-US" sz="2000" dirty="0"/>
              <a:t>集成器的规模越大，也就是</a:t>
            </a:r>
            <a:r>
              <a:rPr lang="en-CN" sz="2000" dirty="0"/>
              <a:t>T</a:t>
            </a:r>
            <a:r>
              <a:rPr lang="zh-CN" altLang="en-US" sz="2000" dirty="0"/>
              <a:t>越大，集成模型的犯错的概率会显著性的呈指数下降，并且随着</a:t>
            </a:r>
            <a:r>
              <a:rPr lang="en-CN" sz="2000" i="1" dirty="0"/>
              <a:t>T</a:t>
            </a:r>
            <a:r>
              <a:rPr lang="zh-CN" altLang="en-US" sz="2000" dirty="0"/>
              <a:t>趋向无穷大而趋于</a:t>
            </a:r>
            <a:r>
              <a:rPr lang="en-CN" sz="2000" dirty="0"/>
              <a:t>0 </a:t>
            </a:r>
            <a:r>
              <a:rPr lang="zh-CN" altLang="en-US" sz="2000" dirty="0"/>
              <a:t>。</a:t>
            </a:r>
            <a:endParaRPr lang="en-CN" sz="2000" dirty="0">
              <a:latin typeface="+mn-ea"/>
            </a:endParaRPr>
          </a:p>
        </p:txBody>
      </p:sp>
      <p:sp>
        <p:nvSpPr>
          <p:cNvPr id="2" name="TextBox 1">
            <a:extLst>
              <a:ext uri="{FF2B5EF4-FFF2-40B4-BE49-F238E27FC236}">
                <a16:creationId xmlns:a16="http://schemas.microsoft.com/office/drawing/2014/main" id="{0C8FD9C6-F13C-FE4C-9CD5-A28F05761A54}"/>
              </a:ext>
            </a:extLst>
          </p:cNvPr>
          <p:cNvSpPr txBox="1"/>
          <p:nvPr/>
        </p:nvSpPr>
        <p:spPr>
          <a:xfrm>
            <a:off x="666750" y="4244535"/>
            <a:ext cx="10858500" cy="1289905"/>
          </a:xfrm>
          <a:prstGeom prst="rect">
            <a:avLst/>
          </a:prstGeom>
          <a:noFill/>
        </p:spPr>
        <p:txBody>
          <a:bodyPr wrap="square" rtlCol="0">
            <a:spAutoFit/>
          </a:bodyPr>
          <a:lstStyle/>
          <a:p>
            <a:pPr>
              <a:lnSpc>
                <a:spcPct val="150000"/>
              </a:lnSpc>
            </a:pPr>
            <a:r>
              <a:rPr lang="en-US" altLang="zh-CN" dirty="0">
                <a:latin typeface="+mn-ea"/>
              </a:rPr>
              <a:t>Note:</a:t>
            </a:r>
            <a:r>
              <a:rPr lang="zh-CN" altLang="en-US" dirty="0">
                <a:latin typeface="+mn-ea"/>
              </a:rPr>
              <a:t> </a:t>
            </a:r>
            <a:r>
              <a:rPr lang="zh-CN" altLang="en-US" dirty="0"/>
              <a:t>由于基分类器由相同的训练数据产生，不是完全独立同分布的，因此很难得到完全独立的基分类器，但可以通过</a:t>
            </a:r>
            <a:r>
              <a:rPr lang="zh-CN" altLang="en-US" b="1" dirty="0">
                <a:solidFill>
                  <a:srgbClr val="FF0000"/>
                </a:solidFill>
              </a:rPr>
              <a:t>随机的方法减少他们之间的相关性，并通过集成实现更好的泛化能力</a:t>
            </a:r>
            <a:r>
              <a:rPr lang="zh-CN" altLang="en-US" dirty="0">
                <a:solidFill>
                  <a:srgbClr val="FF0000"/>
                </a:solidFill>
              </a:rPr>
              <a:t>。</a:t>
            </a:r>
            <a:endParaRPr lang="en-CN" dirty="0">
              <a:solidFill>
                <a:srgbClr val="FF0000"/>
              </a:solidFill>
            </a:endParaRPr>
          </a:p>
          <a:p>
            <a:pPr algn="l">
              <a:lnSpc>
                <a:spcPct val="150000"/>
              </a:lnSpc>
            </a:pPr>
            <a:endParaRPr lang="en-CN" dirty="0">
              <a:solidFill>
                <a:srgbClr val="FF0000"/>
              </a:solidFill>
              <a:latin typeface="+mn-ea"/>
            </a:endParaRPr>
          </a:p>
        </p:txBody>
      </p:sp>
      <p:sp>
        <p:nvSpPr>
          <p:cNvPr id="5" name="Down Arrow 4">
            <a:extLst>
              <a:ext uri="{FF2B5EF4-FFF2-40B4-BE49-F238E27FC236}">
                <a16:creationId xmlns:a16="http://schemas.microsoft.com/office/drawing/2014/main" id="{C0C9A3E0-5B7A-C445-90E2-79EAE0566FF8}"/>
              </a:ext>
            </a:extLst>
          </p:cNvPr>
          <p:cNvSpPr/>
          <p:nvPr/>
        </p:nvSpPr>
        <p:spPr>
          <a:xfrm>
            <a:off x="5012267" y="5096933"/>
            <a:ext cx="643466" cy="43750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Alternative Process 5">
            <a:extLst>
              <a:ext uri="{FF2B5EF4-FFF2-40B4-BE49-F238E27FC236}">
                <a16:creationId xmlns:a16="http://schemas.microsoft.com/office/drawing/2014/main" id="{37149919-A2F3-4642-AF9B-33AEBE080504}"/>
              </a:ext>
            </a:extLst>
          </p:cNvPr>
          <p:cNvSpPr/>
          <p:nvPr/>
        </p:nvSpPr>
        <p:spPr>
          <a:xfrm>
            <a:off x="3754965" y="5534440"/>
            <a:ext cx="3158069" cy="730893"/>
          </a:xfrm>
          <a:prstGeom prst="flowChartAlternateProcess">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2400" b="1" dirty="0"/>
              <a:t>Bagging</a:t>
            </a:r>
            <a:r>
              <a:rPr lang="zh-CN" altLang="en-US" sz="2400" b="1" dirty="0"/>
              <a:t> 方法</a:t>
            </a:r>
            <a:endParaRPr lang="en-CN" sz="2400" b="1" dirty="0"/>
          </a:p>
        </p:txBody>
      </p:sp>
      <p:sp>
        <p:nvSpPr>
          <p:cNvPr id="7" name="灯片编号占位符 6">
            <a:extLst>
              <a:ext uri="{FF2B5EF4-FFF2-40B4-BE49-F238E27FC236}">
                <a16:creationId xmlns:a16="http://schemas.microsoft.com/office/drawing/2014/main" id="{4B831546-D12B-4E04-BBA1-D885A0ACF365}"/>
              </a:ext>
            </a:extLst>
          </p:cNvPr>
          <p:cNvSpPr>
            <a:spLocks noGrp="1"/>
          </p:cNvSpPr>
          <p:nvPr>
            <p:ph type="sldNum" sz="quarter" idx="14"/>
          </p:nvPr>
        </p:nvSpPr>
        <p:spPr/>
        <p:txBody>
          <a:bodyPr/>
          <a:lstStyle/>
          <a:p>
            <a:fld id="{AF69888C-E133-43D9-A638-B5C95925B91C}" type="slidenum">
              <a:rPr lang="zh-CN" altLang="en-US" smtClean="0"/>
              <a:t>14</a:t>
            </a:fld>
            <a:endParaRPr lang="zh-CN" altLang="en-US" dirty="0"/>
          </a:p>
        </p:txBody>
      </p:sp>
    </p:spTree>
    <p:extLst>
      <p:ext uri="{BB962C8B-B14F-4D97-AF65-F5344CB8AC3E}">
        <p14:creationId xmlns:p14="http://schemas.microsoft.com/office/powerpoint/2010/main" val="1081436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7440283" cy="426497"/>
          </a:xfrm>
        </p:spPr>
        <p:txBody>
          <a:bodyPr/>
          <a:lstStyle/>
          <a:p>
            <a:pPr marL="0" indent="0">
              <a:buNone/>
            </a:pPr>
            <a:r>
              <a:rPr lang="zh-CN" altLang="en-US" sz="3200" kern="0" dirty="0">
                <a:latin typeface="微软雅黑" panose="020B0503020204020204" pitchFamily="34" charset="-122"/>
                <a:ea typeface="微软雅黑" panose="020B0503020204020204" pitchFamily="34" charset="-122"/>
              </a:rPr>
              <a:t>复习：偏差</a:t>
            </a:r>
            <a:r>
              <a:rPr lang="en-US" altLang="zh-CN" sz="3200" kern="0" dirty="0">
                <a:latin typeface="微软雅黑" panose="020B0503020204020204" pitchFamily="34" charset="-122"/>
                <a:ea typeface="微软雅黑" panose="020B0503020204020204" pitchFamily="34" charset="-122"/>
              </a:rPr>
              <a:t>-</a:t>
            </a:r>
            <a:r>
              <a:rPr lang="zh-CN" altLang="en-US" sz="3200" kern="0" dirty="0">
                <a:latin typeface="微软雅黑" panose="020B0503020204020204" pitchFamily="34" charset="-122"/>
                <a:ea typeface="微软雅黑" panose="020B0503020204020204" pitchFamily="34" charset="-122"/>
              </a:rPr>
              <a:t>方差平衡 </a:t>
            </a:r>
          </a:p>
        </p:txBody>
      </p:sp>
      <p:sp>
        <p:nvSpPr>
          <p:cNvPr id="12" name="AutoShape 4" descr="[公式]">
            <a:extLst>
              <a:ext uri="{FF2B5EF4-FFF2-40B4-BE49-F238E27FC236}">
                <a16:creationId xmlns:a16="http://schemas.microsoft.com/office/drawing/2014/main" id="{0490F425-1971-9143-BD3F-2229ABF25256}"/>
              </a:ext>
            </a:extLst>
          </p:cNvPr>
          <p:cNvSpPr>
            <a:spLocks noChangeAspect="1" noChangeArrowheads="1"/>
          </p:cNvSpPr>
          <p:nvPr/>
        </p:nvSpPr>
        <p:spPr bwMode="auto">
          <a:xfrm>
            <a:off x="40132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sp>
        <p:nvSpPr>
          <p:cNvPr id="2" name="AutoShape 2" descr="Bias / variance tradeoff math - Cross Validated">
            <a:extLst>
              <a:ext uri="{FF2B5EF4-FFF2-40B4-BE49-F238E27FC236}">
                <a16:creationId xmlns:a16="http://schemas.microsoft.com/office/drawing/2014/main" id="{3EDECED9-B301-EE46-9284-CFA7693AF0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sp>
        <p:nvSpPr>
          <p:cNvPr id="10" name="文本框 119">
            <a:extLst>
              <a:ext uri="{FF2B5EF4-FFF2-40B4-BE49-F238E27FC236}">
                <a16:creationId xmlns:a16="http://schemas.microsoft.com/office/drawing/2014/main" id="{753E2BB6-3C11-2B4A-AA59-F52395025769}"/>
              </a:ext>
            </a:extLst>
          </p:cNvPr>
          <p:cNvSpPr txBox="1"/>
          <p:nvPr/>
        </p:nvSpPr>
        <p:spPr>
          <a:xfrm>
            <a:off x="254053" y="654893"/>
            <a:ext cx="11903564" cy="497252"/>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sz="2400" spc="-10" dirty="0">
                <a:latin typeface="+mn-ea"/>
              </a:rPr>
              <a:t>偏差与方差是有冲突的，称为“偏差</a:t>
            </a:r>
            <a:r>
              <a:rPr lang="en-US" altLang="zh-CN" sz="2400" spc="-10" dirty="0">
                <a:latin typeface="+mn-ea"/>
              </a:rPr>
              <a:t>-</a:t>
            </a:r>
            <a:r>
              <a:rPr lang="zh-CN" altLang="en-US" sz="2400" spc="-10" dirty="0">
                <a:latin typeface="+mn-ea"/>
              </a:rPr>
              <a:t>方差窘境”</a:t>
            </a:r>
            <a:endParaRPr lang="en-CN" sz="2400" dirty="0"/>
          </a:p>
        </p:txBody>
      </p:sp>
      <p:sp>
        <p:nvSpPr>
          <p:cNvPr id="11" name="文本框 119">
            <a:extLst>
              <a:ext uri="{FF2B5EF4-FFF2-40B4-BE49-F238E27FC236}">
                <a16:creationId xmlns:a16="http://schemas.microsoft.com/office/drawing/2014/main" id="{00B62F68-FBC6-D541-8481-AC9439ACF6EB}"/>
              </a:ext>
            </a:extLst>
          </p:cNvPr>
          <p:cNvSpPr txBox="1"/>
          <p:nvPr/>
        </p:nvSpPr>
        <p:spPr>
          <a:xfrm>
            <a:off x="779053" y="4540617"/>
            <a:ext cx="5019966" cy="494366"/>
          </a:xfrm>
          <a:prstGeom prst="rect">
            <a:avLst/>
          </a:prstGeom>
          <a:solidFill>
            <a:schemeClr val="accent5">
              <a:lumMod val="20000"/>
              <a:lumOff val="80000"/>
            </a:schemeClr>
          </a:solidFill>
        </p:spPr>
        <p:txBody>
          <a:bodyPr wrap="square" rtlCol="0">
            <a:spAutoFit/>
          </a:bodyPr>
          <a:lstStyle/>
          <a:p>
            <a:pPr marL="457200" indent="-457200">
              <a:lnSpc>
                <a:spcPct val="120000"/>
              </a:lnSpc>
              <a:buFont typeface="Wingdings" pitchFamily="2" charset="2"/>
              <a:buChar char="v"/>
            </a:pPr>
            <a:r>
              <a:rPr lang="en-CN" sz="2400" dirty="0"/>
              <a:t>欠拟合</a:t>
            </a:r>
            <a:r>
              <a:rPr lang="zh-CN" altLang="en-US" sz="2400" dirty="0"/>
              <a:t>，大偏差，</a:t>
            </a:r>
            <a:r>
              <a:rPr lang="zh-CN" altLang="en-CN" sz="2400" dirty="0"/>
              <a:t>小方差</a:t>
            </a:r>
            <a:endParaRPr lang="en-CN" sz="2400" dirty="0"/>
          </a:p>
        </p:txBody>
      </p:sp>
      <p:pic>
        <p:nvPicPr>
          <p:cNvPr id="6" name="Picture 5">
            <a:extLst>
              <a:ext uri="{FF2B5EF4-FFF2-40B4-BE49-F238E27FC236}">
                <a16:creationId xmlns:a16="http://schemas.microsoft.com/office/drawing/2014/main" id="{B98557B9-EA15-0241-817E-127D70510A83}"/>
              </a:ext>
            </a:extLst>
          </p:cNvPr>
          <p:cNvPicPr>
            <a:picLocks noChangeAspect="1"/>
          </p:cNvPicPr>
          <p:nvPr/>
        </p:nvPicPr>
        <p:blipFill>
          <a:blip r:embed="rId3"/>
          <a:stretch>
            <a:fillRect/>
          </a:stretch>
        </p:blipFill>
        <p:spPr>
          <a:xfrm>
            <a:off x="3880385" y="1113106"/>
            <a:ext cx="4431229" cy="3427511"/>
          </a:xfrm>
          <a:prstGeom prst="rect">
            <a:avLst/>
          </a:prstGeom>
        </p:spPr>
      </p:pic>
      <p:sp>
        <p:nvSpPr>
          <p:cNvPr id="13" name="文本框 119">
            <a:extLst>
              <a:ext uri="{FF2B5EF4-FFF2-40B4-BE49-F238E27FC236}">
                <a16:creationId xmlns:a16="http://schemas.microsoft.com/office/drawing/2014/main" id="{34DCE423-D8D1-4B42-81AD-0CBB55E0F7F4}"/>
              </a:ext>
            </a:extLst>
          </p:cNvPr>
          <p:cNvSpPr txBox="1"/>
          <p:nvPr/>
        </p:nvSpPr>
        <p:spPr>
          <a:xfrm>
            <a:off x="6627640" y="4540617"/>
            <a:ext cx="5597780" cy="494366"/>
          </a:xfrm>
          <a:prstGeom prst="rect">
            <a:avLst/>
          </a:prstGeom>
          <a:solidFill>
            <a:schemeClr val="accent5">
              <a:lumMod val="20000"/>
              <a:lumOff val="80000"/>
            </a:schemeClr>
          </a:solidFill>
        </p:spPr>
        <p:txBody>
          <a:bodyPr wrap="square" rtlCol="0">
            <a:spAutoFit/>
          </a:bodyPr>
          <a:lstStyle/>
          <a:p>
            <a:pPr marL="457200" indent="-457200">
              <a:lnSpc>
                <a:spcPct val="120000"/>
              </a:lnSpc>
              <a:buFont typeface="Wingdings" pitchFamily="2" charset="2"/>
              <a:buChar char="v"/>
            </a:pPr>
            <a:r>
              <a:rPr lang="en-CN" sz="2400" dirty="0"/>
              <a:t>过拟合</a:t>
            </a:r>
            <a:r>
              <a:rPr lang="zh-CN" altLang="en-US" sz="2400" dirty="0"/>
              <a:t>，小偏差，大方差</a:t>
            </a:r>
            <a:endParaRPr lang="en-CN" sz="2400" dirty="0"/>
          </a:p>
        </p:txBody>
      </p:sp>
      <p:sp>
        <p:nvSpPr>
          <p:cNvPr id="3" name="TextBox 2">
            <a:extLst>
              <a:ext uri="{FF2B5EF4-FFF2-40B4-BE49-F238E27FC236}">
                <a16:creationId xmlns:a16="http://schemas.microsoft.com/office/drawing/2014/main" id="{02D4AFA1-D6C7-3D54-177D-3B0FCC86AAE9}"/>
              </a:ext>
            </a:extLst>
          </p:cNvPr>
          <p:cNvSpPr txBox="1"/>
          <p:nvPr/>
        </p:nvSpPr>
        <p:spPr>
          <a:xfrm>
            <a:off x="2839108" y="5811578"/>
            <a:ext cx="8202887" cy="461665"/>
          </a:xfrm>
          <a:prstGeom prst="rect">
            <a:avLst/>
          </a:prstGeom>
          <a:noFill/>
        </p:spPr>
        <p:txBody>
          <a:bodyPr wrap="none" rtlCol="0">
            <a:spAutoFit/>
          </a:bodyPr>
          <a:lstStyle/>
          <a:p>
            <a:pPr marL="342900" indent="-342900">
              <a:buFont typeface="Wingdings" pitchFamily="2" charset="2"/>
              <a:buChar char="Ø"/>
            </a:pPr>
            <a:r>
              <a:rPr lang="en-US" altLang="zh-CN" sz="2400" b="1" dirty="0">
                <a:solidFill>
                  <a:schemeClr val="accent1"/>
                </a:solidFill>
              </a:rPr>
              <a:t>Bagging</a:t>
            </a:r>
            <a:r>
              <a:rPr lang="zh-CN" altLang="en-US" sz="2400" b="1" dirty="0">
                <a:solidFill>
                  <a:schemeClr val="accent1"/>
                </a:solidFill>
              </a:rPr>
              <a:t>可以明显降低方差，在</a:t>
            </a:r>
            <a:r>
              <a:rPr lang="zh-CN" altLang="en-US" sz="2400" b="1" dirty="0">
                <a:solidFill>
                  <a:srgbClr val="FF0000"/>
                </a:solidFill>
              </a:rPr>
              <a:t>不稳定</a:t>
            </a:r>
            <a:r>
              <a:rPr lang="zh-CN" altLang="en-US" sz="2400" b="1" dirty="0">
                <a:solidFill>
                  <a:schemeClr val="accent1"/>
                </a:solidFill>
              </a:rPr>
              <a:t>学习器上格外有效</a:t>
            </a:r>
            <a:endParaRPr lang="en-CN" sz="2400" b="1" dirty="0">
              <a:solidFill>
                <a:schemeClr val="accent1"/>
              </a:solidFill>
              <a:latin typeface="+mn-ea"/>
            </a:endParaRPr>
          </a:p>
        </p:txBody>
      </p:sp>
      <p:sp>
        <p:nvSpPr>
          <p:cNvPr id="5" name="文本框 7">
            <a:extLst>
              <a:ext uri="{FF2B5EF4-FFF2-40B4-BE49-F238E27FC236}">
                <a16:creationId xmlns:a16="http://schemas.microsoft.com/office/drawing/2014/main" id="{DD6D8290-ACD0-3A55-1D84-763CCA616F80}"/>
              </a:ext>
            </a:extLst>
          </p:cNvPr>
          <p:cNvSpPr txBox="1"/>
          <p:nvPr/>
        </p:nvSpPr>
        <p:spPr>
          <a:xfrm>
            <a:off x="779053" y="5244190"/>
            <a:ext cx="9610583" cy="461665"/>
          </a:xfrm>
          <a:prstGeom prst="rect">
            <a:avLst/>
          </a:prstGeom>
          <a:noFill/>
        </p:spPr>
        <p:txBody>
          <a:bodyPr wrap="square" rtlCol="0">
            <a:spAutoFit/>
          </a:bodyPr>
          <a:lstStyle/>
          <a:p>
            <a:pPr marL="342900" indent="-342900" algn="l">
              <a:buFont typeface="Wingdings" pitchFamily="2" charset="2"/>
              <a:buChar char="Ø"/>
            </a:pPr>
            <a:r>
              <a:rPr lang="zh-CN" altLang="en-US" sz="2400" dirty="0">
                <a:latin typeface="+mn-ea"/>
              </a:rPr>
              <a:t>复杂的模型将具有较大的方差，可平均化处理复杂模型以减少</a:t>
            </a:r>
            <a:r>
              <a:rPr lang="zh-CN" altLang="en-US" sz="2400" dirty="0">
                <a:solidFill>
                  <a:srgbClr val="FF0000"/>
                </a:solidFill>
                <a:latin typeface="+mn-ea"/>
              </a:rPr>
              <a:t>方差</a:t>
            </a:r>
            <a:r>
              <a:rPr lang="zh-CN" altLang="en-US" sz="2400" dirty="0">
                <a:latin typeface="+mn-ea"/>
              </a:rPr>
              <a:t>。</a:t>
            </a:r>
          </a:p>
        </p:txBody>
      </p:sp>
      <p:sp>
        <p:nvSpPr>
          <p:cNvPr id="7" name="灯片编号占位符 6">
            <a:extLst>
              <a:ext uri="{FF2B5EF4-FFF2-40B4-BE49-F238E27FC236}">
                <a16:creationId xmlns:a16="http://schemas.microsoft.com/office/drawing/2014/main" id="{9B3415D9-8B1C-4199-B5D7-978DD11C93E7}"/>
              </a:ext>
            </a:extLst>
          </p:cNvPr>
          <p:cNvSpPr>
            <a:spLocks noGrp="1"/>
          </p:cNvSpPr>
          <p:nvPr>
            <p:ph type="sldNum" sz="quarter" idx="14"/>
          </p:nvPr>
        </p:nvSpPr>
        <p:spPr/>
        <p:txBody>
          <a:bodyPr/>
          <a:lstStyle/>
          <a:p>
            <a:fld id="{AF69888C-E133-43D9-A638-B5C95925B91C}" type="slidenum">
              <a:rPr lang="zh-CN" altLang="en-US" smtClean="0"/>
              <a:t>15</a:t>
            </a:fld>
            <a:endParaRPr lang="zh-CN" altLang="en-US" dirty="0"/>
          </a:p>
        </p:txBody>
      </p:sp>
    </p:spTree>
    <p:extLst>
      <p:ext uri="{BB962C8B-B14F-4D97-AF65-F5344CB8AC3E}">
        <p14:creationId xmlns:p14="http://schemas.microsoft.com/office/powerpoint/2010/main" val="374126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3"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54342C1-685C-453F-B7AD-604035BAB0E2}"/>
              </a:ext>
            </a:extLst>
          </p:cNvPr>
          <p:cNvSpPr>
            <a:spLocks noGrp="1"/>
          </p:cNvSpPr>
          <p:nvPr>
            <p:ph type="body" sz="quarter" idx="12"/>
          </p:nvPr>
        </p:nvSpPr>
        <p:spPr/>
        <p:txBody>
          <a:bodyPr/>
          <a:lstStyle/>
          <a:p>
            <a:pPr marL="0" indent="0">
              <a:buNone/>
            </a:pPr>
            <a:r>
              <a:rPr lang="en-US" altLang="zh-CN" sz="3200" dirty="0"/>
              <a:t>Bagging</a:t>
            </a:r>
            <a:endParaRPr lang="zh-CN" altLang="en-US" sz="3200" dirty="0"/>
          </a:p>
        </p:txBody>
      </p:sp>
      <p:sp>
        <p:nvSpPr>
          <p:cNvPr id="4" name="圆柱体 3">
            <a:extLst>
              <a:ext uri="{FF2B5EF4-FFF2-40B4-BE49-F238E27FC236}">
                <a16:creationId xmlns:a16="http://schemas.microsoft.com/office/drawing/2014/main" id="{7880FC27-184E-4C37-99F7-4BC6E734FB13}"/>
              </a:ext>
            </a:extLst>
          </p:cNvPr>
          <p:cNvSpPr/>
          <p:nvPr/>
        </p:nvSpPr>
        <p:spPr>
          <a:xfrm>
            <a:off x="2346376" y="2603026"/>
            <a:ext cx="1375327" cy="1047933"/>
          </a:xfrm>
          <a:prstGeom prst="can">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t>子集</a:t>
            </a:r>
            <a:r>
              <a:rPr lang="en-US" altLang="zh-CN" sz="2000" dirty="0"/>
              <a:t>1</a:t>
            </a:r>
            <a:endParaRPr lang="zh-CN" altLang="en-US" sz="2000" dirty="0"/>
          </a:p>
        </p:txBody>
      </p:sp>
      <p:sp>
        <p:nvSpPr>
          <p:cNvPr id="5" name="圆柱体 4">
            <a:extLst>
              <a:ext uri="{FF2B5EF4-FFF2-40B4-BE49-F238E27FC236}">
                <a16:creationId xmlns:a16="http://schemas.microsoft.com/office/drawing/2014/main" id="{85FBC6C9-DE6B-4CF8-9C19-B93CAFF2C039}"/>
              </a:ext>
            </a:extLst>
          </p:cNvPr>
          <p:cNvSpPr/>
          <p:nvPr/>
        </p:nvSpPr>
        <p:spPr>
          <a:xfrm>
            <a:off x="4249576" y="2603026"/>
            <a:ext cx="1375327" cy="1047933"/>
          </a:xfrm>
          <a:prstGeom prst="can">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dirty="0"/>
              <a:t>子集</a:t>
            </a:r>
            <a:r>
              <a:rPr lang="en-US" altLang="zh-CN" sz="2000" dirty="0"/>
              <a:t>2</a:t>
            </a:r>
            <a:endParaRPr lang="zh-CN" altLang="en-US" sz="2000" dirty="0"/>
          </a:p>
        </p:txBody>
      </p:sp>
      <p:sp>
        <p:nvSpPr>
          <p:cNvPr id="6" name="圆柱体 5">
            <a:extLst>
              <a:ext uri="{FF2B5EF4-FFF2-40B4-BE49-F238E27FC236}">
                <a16:creationId xmlns:a16="http://schemas.microsoft.com/office/drawing/2014/main" id="{32AF2466-645A-4401-992D-168034805407}"/>
              </a:ext>
            </a:extLst>
          </p:cNvPr>
          <p:cNvSpPr/>
          <p:nvPr/>
        </p:nvSpPr>
        <p:spPr>
          <a:xfrm>
            <a:off x="6153503" y="2603026"/>
            <a:ext cx="1375327" cy="1047933"/>
          </a:xfrm>
          <a:prstGeom prst="can">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t>子集</a:t>
            </a:r>
            <a:r>
              <a:rPr lang="en-US" altLang="zh-CN" sz="2000" dirty="0"/>
              <a:t>3</a:t>
            </a:r>
            <a:endParaRPr lang="zh-CN" altLang="en-US" sz="2000" dirty="0"/>
          </a:p>
        </p:txBody>
      </p:sp>
      <p:sp>
        <p:nvSpPr>
          <p:cNvPr id="33" name="椭圆 32">
            <a:extLst>
              <a:ext uri="{FF2B5EF4-FFF2-40B4-BE49-F238E27FC236}">
                <a16:creationId xmlns:a16="http://schemas.microsoft.com/office/drawing/2014/main" id="{51F717C1-06CF-499D-9806-DD864C13CEC5}"/>
              </a:ext>
            </a:extLst>
          </p:cNvPr>
          <p:cNvSpPr/>
          <p:nvPr/>
        </p:nvSpPr>
        <p:spPr>
          <a:xfrm>
            <a:off x="4728676" y="971896"/>
            <a:ext cx="2542293" cy="893295"/>
          </a:xfrm>
          <a:prstGeom prst="ellipse">
            <a:avLst/>
          </a:prstGeom>
          <a:ln>
            <a:noFill/>
          </a:ln>
        </p:spPr>
        <p:style>
          <a:lnRef idx="0">
            <a:scrgbClr r="0" g="0" b="0"/>
          </a:lnRef>
          <a:fillRef idx="1003">
            <a:schemeClr val="dk2"/>
          </a:fillRef>
          <a:effectRef idx="0">
            <a:scrgbClr r="0" g="0" b="0"/>
          </a:effectRef>
          <a:fontRef idx="minor">
            <a:schemeClr val="lt1"/>
          </a:fontRef>
        </p:style>
        <p:txBody>
          <a:bodyPr rtlCol="0" anchor="ctr"/>
          <a:lstStyle/>
          <a:p>
            <a:pPr algn="ctr"/>
            <a:r>
              <a:rPr lang="en-US" altLang="zh-CN" sz="2000" dirty="0">
                <a:latin typeface="+mn-ea"/>
              </a:rPr>
              <a:t>N</a:t>
            </a:r>
            <a:r>
              <a:rPr lang="zh-CN" altLang="en-US" sz="2000" dirty="0">
                <a:latin typeface="+mn-ea"/>
              </a:rPr>
              <a:t>个训练样本</a:t>
            </a:r>
          </a:p>
        </p:txBody>
      </p:sp>
      <p:sp>
        <p:nvSpPr>
          <p:cNvPr id="7" name="圆柱体 6">
            <a:extLst>
              <a:ext uri="{FF2B5EF4-FFF2-40B4-BE49-F238E27FC236}">
                <a16:creationId xmlns:a16="http://schemas.microsoft.com/office/drawing/2014/main" id="{0E5B7655-71CB-4CB5-B9A8-9A6E5AD7A44B}"/>
              </a:ext>
            </a:extLst>
          </p:cNvPr>
          <p:cNvSpPr/>
          <p:nvPr/>
        </p:nvSpPr>
        <p:spPr>
          <a:xfrm>
            <a:off x="8057430" y="2603026"/>
            <a:ext cx="1375327" cy="1047933"/>
          </a:xfrm>
          <a:prstGeom prst="can">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t>子集</a:t>
            </a:r>
            <a:r>
              <a:rPr lang="en-US" altLang="zh-CN" sz="2000" dirty="0"/>
              <a:t>4</a:t>
            </a:r>
            <a:endParaRPr lang="zh-CN" altLang="en-US" sz="2000" dirty="0"/>
          </a:p>
        </p:txBody>
      </p:sp>
      <p:sp>
        <p:nvSpPr>
          <p:cNvPr id="10" name="流程图: 过程 9">
            <a:extLst>
              <a:ext uri="{FF2B5EF4-FFF2-40B4-BE49-F238E27FC236}">
                <a16:creationId xmlns:a16="http://schemas.microsoft.com/office/drawing/2014/main" id="{7FC88C9B-F535-4560-8972-C7D9EB387012}"/>
              </a:ext>
            </a:extLst>
          </p:cNvPr>
          <p:cNvSpPr/>
          <p:nvPr/>
        </p:nvSpPr>
        <p:spPr>
          <a:xfrm>
            <a:off x="2346376" y="4267652"/>
            <a:ext cx="1375327" cy="843566"/>
          </a:xfrm>
          <a:prstGeom prst="flowChartProcess">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t>函数</a:t>
            </a:r>
            <a:r>
              <a:rPr lang="en-US" altLang="zh-CN" sz="2000" dirty="0"/>
              <a:t>a</a:t>
            </a:r>
            <a:endParaRPr lang="zh-CN" altLang="en-US" sz="2000" dirty="0"/>
          </a:p>
        </p:txBody>
      </p:sp>
      <p:sp>
        <p:nvSpPr>
          <p:cNvPr id="11" name="流程图: 过程 10">
            <a:extLst>
              <a:ext uri="{FF2B5EF4-FFF2-40B4-BE49-F238E27FC236}">
                <a16:creationId xmlns:a16="http://schemas.microsoft.com/office/drawing/2014/main" id="{EE7B0851-D928-4373-B872-4D1C214054CF}"/>
              </a:ext>
            </a:extLst>
          </p:cNvPr>
          <p:cNvSpPr/>
          <p:nvPr/>
        </p:nvSpPr>
        <p:spPr>
          <a:xfrm>
            <a:off x="8057430" y="4267652"/>
            <a:ext cx="1375327" cy="843566"/>
          </a:xfrm>
          <a:prstGeom prst="flowChartProcess">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t>函数</a:t>
            </a:r>
            <a:r>
              <a:rPr lang="en-US" altLang="zh-CN" sz="2000" dirty="0"/>
              <a:t>d</a:t>
            </a:r>
            <a:endParaRPr lang="zh-CN" altLang="en-US" sz="2000" dirty="0"/>
          </a:p>
        </p:txBody>
      </p:sp>
      <p:sp>
        <p:nvSpPr>
          <p:cNvPr id="12" name="流程图: 过程 11">
            <a:extLst>
              <a:ext uri="{FF2B5EF4-FFF2-40B4-BE49-F238E27FC236}">
                <a16:creationId xmlns:a16="http://schemas.microsoft.com/office/drawing/2014/main" id="{90EB74F1-A99C-4A5B-A57D-8459A77DDC70}"/>
              </a:ext>
            </a:extLst>
          </p:cNvPr>
          <p:cNvSpPr/>
          <p:nvPr/>
        </p:nvSpPr>
        <p:spPr>
          <a:xfrm>
            <a:off x="6153503" y="4267652"/>
            <a:ext cx="1375327" cy="843566"/>
          </a:xfrm>
          <a:prstGeom prst="flowChartProcess">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t>函数</a:t>
            </a:r>
            <a:r>
              <a:rPr lang="en-US" altLang="zh-CN" sz="2000" dirty="0"/>
              <a:t>c</a:t>
            </a:r>
            <a:endParaRPr lang="zh-CN" altLang="en-US" sz="2000" dirty="0"/>
          </a:p>
        </p:txBody>
      </p:sp>
      <p:sp>
        <p:nvSpPr>
          <p:cNvPr id="13" name="流程图: 过程 12">
            <a:extLst>
              <a:ext uri="{FF2B5EF4-FFF2-40B4-BE49-F238E27FC236}">
                <a16:creationId xmlns:a16="http://schemas.microsoft.com/office/drawing/2014/main" id="{3186FDBC-BB87-4C89-AA49-AD99CC7CD716}"/>
              </a:ext>
            </a:extLst>
          </p:cNvPr>
          <p:cNvSpPr/>
          <p:nvPr/>
        </p:nvSpPr>
        <p:spPr>
          <a:xfrm>
            <a:off x="4249576" y="4267652"/>
            <a:ext cx="1375327" cy="843566"/>
          </a:xfrm>
          <a:prstGeom prst="flowChartProcess">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dirty="0"/>
              <a:t>函数</a:t>
            </a:r>
            <a:r>
              <a:rPr lang="en-US" altLang="zh-CN" sz="2000" dirty="0"/>
              <a:t>b</a:t>
            </a:r>
            <a:endParaRPr lang="zh-CN" altLang="en-US" sz="2000" dirty="0"/>
          </a:p>
        </p:txBody>
      </p:sp>
      <p:cxnSp>
        <p:nvCxnSpPr>
          <p:cNvPr id="15" name="直接箭头连接符 14">
            <a:extLst>
              <a:ext uri="{FF2B5EF4-FFF2-40B4-BE49-F238E27FC236}">
                <a16:creationId xmlns:a16="http://schemas.microsoft.com/office/drawing/2014/main" id="{B9864694-1536-44FE-90CF-9681F0645DA4}"/>
              </a:ext>
            </a:extLst>
          </p:cNvPr>
          <p:cNvCxnSpPr>
            <a:cxnSpLocks/>
            <a:endCxn id="4" idx="1"/>
          </p:cNvCxnSpPr>
          <p:nvPr/>
        </p:nvCxnSpPr>
        <p:spPr>
          <a:xfrm flipH="1">
            <a:off x="3034040" y="1854558"/>
            <a:ext cx="2369812" cy="7484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直接箭头连接符 16">
            <a:extLst>
              <a:ext uri="{FF2B5EF4-FFF2-40B4-BE49-F238E27FC236}">
                <a16:creationId xmlns:a16="http://schemas.microsoft.com/office/drawing/2014/main" id="{1170A597-786F-44FF-B9F4-A43A76E02CFE}"/>
              </a:ext>
            </a:extLst>
          </p:cNvPr>
          <p:cNvCxnSpPr>
            <a:cxnSpLocks/>
            <a:endCxn id="5" idx="1"/>
          </p:cNvCxnSpPr>
          <p:nvPr/>
        </p:nvCxnSpPr>
        <p:spPr>
          <a:xfrm flipH="1">
            <a:off x="4937240" y="1875824"/>
            <a:ext cx="891540" cy="7272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直接箭头连接符 19">
            <a:extLst>
              <a:ext uri="{FF2B5EF4-FFF2-40B4-BE49-F238E27FC236}">
                <a16:creationId xmlns:a16="http://schemas.microsoft.com/office/drawing/2014/main" id="{488E43EB-14D3-4A20-90EA-B111392AA71F}"/>
              </a:ext>
            </a:extLst>
          </p:cNvPr>
          <p:cNvCxnSpPr>
            <a:cxnSpLocks/>
            <a:endCxn id="6" idx="1"/>
          </p:cNvCxnSpPr>
          <p:nvPr/>
        </p:nvCxnSpPr>
        <p:spPr>
          <a:xfrm>
            <a:off x="6045620" y="1875824"/>
            <a:ext cx="795547" cy="7272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直接箭头连接符 22">
            <a:extLst>
              <a:ext uri="{FF2B5EF4-FFF2-40B4-BE49-F238E27FC236}">
                <a16:creationId xmlns:a16="http://schemas.microsoft.com/office/drawing/2014/main" id="{5605288F-1372-4E4E-9CAA-50BAF9120019}"/>
              </a:ext>
            </a:extLst>
          </p:cNvPr>
          <p:cNvCxnSpPr>
            <a:cxnSpLocks/>
            <a:endCxn id="7" idx="1"/>
          </p:cNvCxnSpPr>
          <p:nvPr/>
        </p:nvCxnSpPr>
        <p:spPr>
          <a:xfrm>
            <a:off x="6551482" y="1854558"/>
            <a:ext cx="2193612" cy="74846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直接箭头连接符 25">
            <a:extLst>
              <a:ext uri="{FF2B5EF4-FFF2-40B4-BE49-F238E27FC236}">
                <a16:creationId xmlns:a16="http://schemas.microsoft.com/office/drawing/2014/main" id="{DD2ADFB1-DD2E-4EC4-954F-8B260C8CB551}"/>
              </a:ext>
            </a:extLst>
          </p:cNvPr>
          <p:cNvCxnSpPr>
            <a:cxnSpLocks/>
            <a:stCxn id="4" idx="3"/>
            <a:endCxn id="10" idx="0"/>
          </p:cNvCxnSpPr>
          <p:nvPr/>
        </p:nvCxnSpPr>
        <p:spPr>
          <a:xfrm>
            <a:off x="3034040" y="3650959"/>
            <a:ext cx="0" cy="6166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直接箭头连接符 29">
            <a:extLst>
              <a:ext uri="{FF2B5EF4-FFF2-40B4-BE49-F238E27FC236}">
                <a16:creationId xmlns:a16="http://schemas.microsoft.com/office/drawing/2014/main" id="{4B4E9E8A-673C-45D7-9C97-21C3FC85C18F}"/>
              </a:ext>
            </a:extLst>
          </p:cNvPr>
          <p:cNvCxnSpPr>
            <a:cxnSpLocks/>
          </p:cNvCxnSpPr>
          <p:nvPr/>
        </p:nvCxnSpPr>
        <p:spPr>
          <a:xfrm>
            <a:off x="4937239" y="3650958"/>
            <a:ext cx="0" cy="6166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C22A528C-1E5D-4EBF-AB50-F3D366A85408}"/>
              </a:ext>
            </a:extLst>
          </p:cNvPr>
          <p:cNvCxnSpPr>
            <a:cxnSpLocks/>
          </p:cNvCxnSpPr>
          <p:nvPr/>
        </p:nvCxnSpPr>
        <p:spPr>
          <a:xfrm>
            <a:off x="6841166" y="3650957"/>
            <a:ext cx="0" cy="6166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直接箭头连接符 31">
            <a:extLst>
              <a:ext uri="{FF2B5EF4-FFF2-40B4-BE49-F238E27FC236}">
                <a16:creationId xmlns:a16="http://schemas.microsoft.com/office/drawing/2014/main" id="{48D6D343-18CE-422D-B3AC-FC386E8B8B10}"/>
              </a:ext>
            </a:extLst>
          </p:cNvPr>
          <p:cNvCxnSpPr>
            <a:cxnSpLocks/>
          </p:cNvCxnSpPr>
          <p:nvPr/>
        </p:nvCxnSpPr>
        <p:spPr>
          <a:xfrm>
            <a:off x="8745093" y="3650956"/>
            <a:ext cx="0" cy="6166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灯片编号占位符 2">
            <a:extLst>
              <a:ext uri="{FF2B5EF4-FFF2-40B4-BE49-F238E27FC236}">
                <a16:creationId xmlns:a16="http://schemas.microsoft.com/office/drawing/2014/main" id="{159D617C-514A-4E6F-BC5E-A3AC3C9D3072}"/>
              </a:ext>
            </a:extLst>
          </p:cNvPr>
          <p:cNvSpPr>
            <a:spLocks noGrp="1"/>
          </p:cNvSpPr>
          <p:nvPr>
            <p:ph type="sldNum" sz="quarter" idx="14"/>
          </p:nvPr>
        </p:nvSpPr>
        <p:spPr/>
        <p:txBody>
          <a:bodyPr/>
          <a:lstStyle/>
          <a:p>
            <a:fld id="{AF69888C-E133-43D9-A638-B5C95925B91C}" type="slidenum">
              <a:rPr lang="zh-CN" altLang="en-US" smtClean="0"/>
              <a:t>16</a:t>
            </a:fld>
            <a:endParaRPr lang="zh-CN" altLang="en-US" dirty="0"/>
          </a:p>
        </p:txBody>
      </p:sp>
    </p:spTree>
    <p:extLst>
      <p:ext uri="{BB962C8B-B14F-4D97-AF65-F5344CB8AC3E}">
        <p14:creationId xmlns:p14="http://schemas.microsoft.com/office/powerpoint/2010/main" val="281617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500"/>
                                        <p:tgtEl>
                                          <p:spTgt spid="17"/>
                                        </p:tgtEl>
                                      </p:cBhvr>
                                    </p:animEffect>
                                  </p:childTnLst>
                                </p:cTn>
                              </p:par>
                              <p:par>
                                <p:cTn id="16" presetID="22" presetClass="entr" presetSubtype="1"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up)">
                                      <p:cBhvr>
                                        <p:cTn id="18" dur="500"/>
                                        <p:tgtEl>
                                          <p:spTgt spid="20"/>
                                        </p:tgtEl>
                                      </p:cBhvr>
                                    </p:animEffect>
                                  </p:childTnLst>
                                </p:cTn>
                              </p:par>
                              <p:par>
                                <p:cTn id="19" presetID="22" presetClass="entr" presetSubtype="1"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up)">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wipe(up)">
                                      <p:cBhvr>
                                        <p:cTn id="40" dur="500"/>
                                        <p:tgtEl>
                                          <p:spTgt spid="26"/>
                                        </p:tgtEl>
                                      </p:cBhvr>
                                    </p:animEffect>
                                  </p:childTnLst>
                                </p:cTn>
                              </p:par>
                              <p:par>
                                <p:cTn id="41" presetID="22" presetClass="entr" presetSubtype="1"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up)">
                                      <p:cBhvr>
                                        <p:cTn id="43" dur="500"/>
                                        <p:tgtEl>
                                          <p:spTgt spid="30"/>
                                        </p:tgtEl>
                                      </p:cBhvr>
                                    </p:animEffect>
                                  </p:childTnLst>
                                </p:cTn>
                              </p:par>
                              <p:par>
                                <p:cTn id="44" presetID="22" presetClass="entr" presetSubtype="1"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wipe(up)">
                                      <p:cBhvr>
                                        <p:cTn id="46" dur="500"/>
                                        <p:tgtEl>
                                          <p:spTgt spid="31"/>
                                        </p:tgtEl>
                                      </p:cBhvr>
                                    </p:animEffect>
                                  </p:childTnLst>
                                </p:cTn>
                              </p:par>
                              <p:par>
                                <p:cTn id="47" presetID="22" presetClass="entr" presetSubtype="1"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up)">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500"/>
                                        <p:tgtEl>
                                          <p:spTgt spid="1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33" grpId="0" animBg="1"/>
      <p:bldP spid="7" grpId="0" animBg="1"/>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14B9C477-F3A9-2C1A-65B4-9FE1C0735C51}"/>
              </a:ext>
            </a:extLst>
          </p:cNvPr>
          <p:cNvSpPr txBox="1"/>
          <p:nvPr/>
        </p:nvSpPr>
        <p:spPr>
          <a:xfrm>
            <a:off x="8222665" y="4815821"/>
            <a:ext cx="3737301" cy="1200329"/>
          </a:xfrm>
          <a:prstGeom prst="rect">
            <a:avLst/>
          </a:prstGeom>
          <a:noFill/>
        </p:spPr>
        <p:txBody>
          <a:bodyPr wrap="square" rtlCol="0">
            <a:spAutoFit/>
          </a:bodyPr>
          <a:lstStyle/>
          <a:p>
            <a:pPr marL="342900" indent="-342900" algn="just">
              <a:buFont typeface="Wingdings" pitchFamily="2" charset="2"/>
              <a:buChar char="Ø"/>
            </a:pPr>
            <a:r>
              <a:rPr lang="zh-CN" altLang="en-US" sz="2400" dirty="0">
                <a:latin typeface="+mn-ea"/>
              </a:rPr>
              <a:t>当模型非常复杂，容易过拟合时，</a:t>
            </a:r>
            <a:r>
              <a:rPr lang="en-US" altLang="zh-CN" sz="2400" dirty="0">
                <a:latin typeface="+mn-ea"/>
              </a:rPr>
              <a:t>bagging</a:t>
            </a:r>
            <a:r>
              <a:rPr lang="zh-CN" altLang="en-US" sz="2400" dirty="0">
                <a:latin typeface="+mn-ea"/>
              </a:rPr>
              <a:t>方法很有帮助。如决策树</a:t>
            </a:r>
          </a:p>
        </p:txBody>
      </p:sp>
      <p:sp>
        <p:nvSpPr>
          <p:cNvPr id="5" name="流程图: 过程 4">
            <a:extLst>
              <a:ext uri="{FF2B5EF4-FFF2-40B4-BE49-F238E27FC236}">
                <a16:creationId xmlns:a16="http://schemas.microsoft.com/office/drawing/2014/main" id="{3F6BD1A6-0B34-4E50-9446-0CA98B01D536}"/>
              </a:ext>
            </a:extLst>
          </p:cNvPr>
          <p:cNvSpPr/>
          <p:nvPr/>
        </p:nvSpPr>
        <p:spPr>
          <a:xfrm>
            <a:off x="910608" y="2981542"/>
            <a:ext cx="1375327" cy="843566"/>
          </a:xfrm>
          <a:prstGeom prst="flowChartProcess">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t>函数</a:t>
            </a:r>
            <a:r>
              <a:rPr lang="en-US" altLang="zh-CN" sz="2000" dirty="0"/>
              <a:t>a</a:t>
            </a:r>
            <a:endParaRPr lang="zh-CN" altLang="en-US" sz="2000" dirty="0"/>
          </a:p>
        </p:txBody>
      </p:sp>
      <p:sp>
        <p:nvSpPr>
          <p:cNvPr id="7" name="流程图: 过程 6">
            <a:extLst>
              <a:ext uri="{FF2B5EF4-FFF2-40B4-BE49-F238E27FC236}">
                <a16:creationId xmlns:a16="http://schemas.microsoft.com/office/drawing/2014/main" id="{13C821FA-F545-4F34-B8CA-7C4D43324AD2}"/>
              </a:ext>
            </a:extLst>
          </p:cNvPr>
          <p:cNvSpPr/>
          <p:nvPr/>
        </p:nvSpPr>
        <p:spPr>
          <a:xfrm>
            <a:off x="6621662" y="2981542"/>
            <a:ext cx="1375327" cy="843566"/>
          </a:xfrm>
          <a:prstGeom prst="flowChartProcess">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2000" dirty="0"/>
              <a:t>函数</a:t>
            </a:r>
            <a:r>
              <a:rPr lang="en-US" altLang="zh-CN" sz="2000" dirty="0"/>
              <a:t>d</a:t>
            </a:r>
            <a:endParaRPr lang="zh-CN" altLang="en-US" sz="2000" dirty="0"/>
          </a:p>
        </p:txBody>
      </p:sp>
      <p:sp>
        <p:nvSpPr>
          <p:cNvPr id="8" name="流程图: 过程 7">
            <a:extLst>
              <a:ext uri="{FF2B5EF4-FFF2-40B4-BE49-F238E27FC236}">
                <a16:creationId xmlns:a16="http://schemas.microsoft.com/office/drawing/2014/main" id="{2D8E02D4-5A65-47AD-9C09-B28F75D6191D}"/>
              </a:ext>
            </a:extLst>
          </p:cNvPr>
          <p:cNvSpPr/>
          <p:nvPr/>
        </p:nvSpPr>
        <p:spPr>
          <a:xfrm>
            <a:off x="4717735" y="2981542"/>
            <a:ext cx="1375327" cy="843566"/>
          </a:xfrm>
          <a:prstGeom prst="flowChartProcess">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000" dirty="0"/>
              <a:t>函数</a:t>
            </a:r>
            <a:r>
              <a:rPr lang="en-US" altLang="zh-CN" sz="2000" dirty="0"/>
              <a:t>c</a:t>
            </a:r>
            <a:endParaRPr lang="zh-CN" altLang="en-US" sz="2000" dirty="0"/>
          </a:p>
        </p:txBody>
      </p:sp>
      <p:sp>
        <p:nvSpPr>
          <p:cNvPr id="9" name="流程图: 过程 8">
            <a:extLst>
              <a:ext uri="{FF2B5EF4-FFF2-40B4-BE49-F238E27FC236}">
                <a16:creationId xmlns:a16="http://schemas.microsoft.com/office/drawing/2014/main" id="{85A7A91C-2BB1-49B8-9E61-45E37F72E54F}"/>
              </a:ext>
            </a:extLst>
          </p:cNvPr>
          <p:cNvSpPr/>
          <p:nvPr/>
        </p:nvSpPr>
        <p:spPr>
          <a:xfrm>
            <a:off x="2813808" y="2981542"/>
            <a:ext cx="1375327" cy="843566"/>
          </a:xfrm>
          <a:prstGeom prst="flowChartProcess">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2000" dirty="0"/>
              <a:t>函数</a:t>
            </a:r>
            <a:r>
              <a:rPr lang="en-US" altLang="zh-CN" sz="2000" dirty="0"/>
              <a:t>b</a:t>
            </a:r>
            <a:endParaRPr lang="zh-CN" altLang="en-US" sz="2000" dirty="0"/>
          </a:p>
        </p:txBody>
      </p:sp>
      <p:cxnSp>
        <p:nvCxnSpPr>
          <p:cNvPr id="10" name="直接箭头连接符 9">
            <a:extLst>
              <a:ext uri="{FF2B5EF4-FFF2-40B4-BE49-F238E27FC236}">
                <a16:creationId xmlns:a16="http://schemas.microsoft.com/office/drawing/2014/main" id="{AFE56010-C053-4E74-B8E2-04ABDF706735}"/>
              </a:ext>
            </a:extLst>
          </p:cNvPr>
          <p:cNvCxnSpPr>
            <a:cxnSpLocks/>
          </p:cNvCxnSpPr>
          <p:nvPr/>
        </p:nvCxnSpPr>
        <p:spPr>
          <a:xfrm>
            <a:off x="1586241" y="3825109"/>
            <a:ext cx="0" cy="6166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直接箭头连接符 10">
            <a:extLst>
              <a:ext uri="{FF2B5EF4-FFF2-40B4-BE49-F238E27FC236}">
                <a16:creationId xmlns:a16="http://schemas.microsoft.com/office/drawing/2014/main" id="{513E1D67-0F6C-494E-AFB6-372BCC59B86A}"/>
              </a:ext>
            </a:extLst>
          </p:cNvPr>
          <p:cNvCxnSpPr>
            <a:cxnSpLocks/>
          </p:cNvCxnSpPr>
          <p:nvPr/>
        </p:nvCxnSpPr>
        <p:spPr>
          <a:xfrm>
            <a:off x="3489440" y="3825108"/>
            <a:ext cx="0" cy="6166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直接箭头连接符 11">
            <a:extLst>
              <a:ext uri="{FF2B5EF4-FFF2-40B4-BE49-F238E27FC236}">
                <a16:creationId xmlns:a16="http://schemas.microsoft.com/office/drawing/2014/main" id="{0FC62E57-BB50-432A-B093-AB728EBBE302}"/>
              </a:ext>
            </a:extLst>
          </p:cNvPr>
          <p:cNvCxnSpPr>
            <a:cxnSpLocks/>
          </p:cNvCxnSpPr>
          <p:nvPr/>
        </p:nvCxnSpPr>
        <p:spPr>
          <a:xfrm>
            <a:off x="5393367" y="3825107"/>
            <a:ext cx="0" cy="6166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直接箭头连接符 12">
            <a:extLst>
              <a:ext uri="{FF2B5EF4-FFF2-40B4-BE49-F238E27FC236}">
                <a16:creationId xmlns:a16="http://schemas.microsoft.com/office/drawing/2014/main" id="{9F55EA5C-9532-4160-A502-7DCF2DAD9F2D}"/>
              </a:ext>
            </a:extLst>
          </p:cNvPr>
          <p:cNvCxnSpPr>
            <a:cxnSpLocks/>
          </p:cNvCxnSpPr>
          <p:nvPr/>
        </p:nvCxnSpPr>
        <p:spPr>
          <a:xfrm>
            <a:off x="7297294" y="3825106"/>
            <a:ext cx="0" cy="6166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椭圆 16">
            <a:extLst>
              <a:ext uri="{FF2B5EF4-FFF2-40B4-BE49-F238E27FC236}">
                <a16:creationId xmlns:a16="http://schemas.microsoft.com/office/drawing/2014/main" id="{B28BC2AB-154F-4F65-89FD-371E5DF4AB31}"/>
              </a:ext>
            </a:extLst>
          </p:cNvPr>
          <p:cNvSpPr/>
          <p:nvPr/>
        </p:nvSpPr>
        <p:spPr>
          <a:xfrm>
            <a:off x="3280876" y="1261791"/>
            <a:ext cx="2542293" cy="893295"/>
          </a:xfrm>
          <a:prstGeom prst="ellipse">
            <a:avLst/>
          </a:prstGeom>
          <a:ln>
            <a:noFill/>
          </a:ln>
        </p:spPr>
        <p:style>
          <a:lnRef idx="0">
            <a:scrgbClr r="0" g="0" b="0"/>
          </a:lnRef>
          <a:fillRef idx="1003">
            <a:schemeClr val="dk2"/>
          </a:fillRef>
          <a:effectRef idx="0">
            <a:scrgbClr r="0" g="0" b="0"/>
          </a:effectRef>
          <a:fontRef idx="minor">
            <a:schemeClr val="lt1"/>
          </a:fontRef>
        </p:style>
        <p:txBody>
          <a:bodyPr rtlCol="0" anchor="ctr"/>
          <a:lstStyle/>
          <a:p>
            <a:pPr algn="ctr"/>
            <a:r>
              <a:rPr lang="zh-CN" altLang="en-US" sz="2000" dirty="0">
                <a:latin typeface="+mn-ea"/>
              </a:rPr>
              <a:t>测试数据</a:t>
            </a:r>
            <a:r>
              <a:rPr lang="en-US" altLang="zh-CN" sz="2000" dirty="0">
                <a:latin typeface="+mn-ea"/>
              </a:rPr>
              <a:t>x</a:t>
            </a:r>
            <a:endParaRPr lang="zh-CN" altLang="en-US" sz="2000" dirty="0">
              <a:latin typeface="+mn-ea"/>
            </a:endParaRPr>
          </a:p>
        </p:txBody>
      </p:sp>
      <p:cxnSp>
        <p:nvCxnSpPr>
          <p:cNvPr id="18" name="直接箭头连接符 17">
            <a:extLst>
              <a:ext uri="{FF2B5EF4-FFF2-40B4-BE49-F238E27FC236}">
                <a16:creationId xmlns:a16="http://schemas.microsoft.com/office/drawing/2014/main" id="{3C6BD995-4682-4126-B3CC-4A4553ADE817}"/>
              </a:ext>
            </a:extLst>
          </p:cNvPr>
          <p:cNvCxnSpPr>
            <a:cxnSpLocks/>
          </p:cNvCxnSpPr>
          <p:nvPr/>
        </p:nvCxnSpPr>
        <p:spPr>
          <a:xfrm flipH="1">
            <a:off x="1586240" y="2144453"/>
            <a:ext cx="2369812" cy="7484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直接箭头连接符 18">
            <a:extLst>
              <a:ext uri="{FF2B5EF4-FFF2-40B4-BE49-F238E27FC236}">
                <a16:creationId xmlns:a16="http://schemas.microsoft.com/office/drawing/2014/main" id="{978D6E57-2CCD-4D21-B883-BDDD9F69FE98}"/>
              </a:ext>
            </a:extLst>
          </p:cNvPr>
          <p:cNvCxnSpPr>
            <a:cxnSpLocks/>
          </p:cNvCxnSpPr>
          <p:nvPr/>
        </p:nvCxnSpPr>
        <p:spPr>
          <a:xfrm flipH="1">
            <a:off x="3489440" y="2165719"/>
            <a:ext cx="891540" cy="7272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直接箭头连接符 19">
            <a:extLst>
              <a:ext uri="{FF2B5EF4-FFF2-40B4-BE49-F238E27FC236}">
                <a16:creationId xmlns:a16="http://schemas.microsoft.com/office/drawing/2014/main" id="{6263ED08-ABCF-4043-B6CC-6A11E0F86DBB}"/>
              </a:ext>
            </a:extLst>
          </p:cNvPr>
          <p:cNvCxnSpPr>
            <a:cxnSpLocks/>
          </p:cNvCxnSpPr>
          <p:nvPr/>
        </p:nvCxnSpPr>
        <p:spPr>
          <a:xfrm>
            <a:off x="4597820" y="2165719"/>
            <a:ext cx="795547" cy="72720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直接箭头连接符 20">
            <a:extLst>
              <a:ext uri="{FF2B5EF4-FFF2-40B4-BE49-F238E27FC236}">
                <a16:creationId xmlns:a16="http://schemas.microsoft.com/office/drawing/2014/main" id="{2001200A-6902-4CE4-80EF-E447D00B1698}"/>
              </a:ext>
            </a:extLst>
          </p:cNvPr>
          <p:cNvCxnSpPr>
            <a:cxnSpLocks/>
          </p:cNvCxnSpPr>
          <p:nvPr/>
        </p:nvCxnSpPr>
        <p:spPr>
          <a:xfrm>
            <a:off x="5103682" y="2144453"/>
            <a:ext cx="2193612" cy="7484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文本框 22">
            <a:extLst>
              <a:ext uri="{FF2B5EF4-FFF2-40B4-BE49-F238E27FC236}">
                <a16:creationId xmlns:a16="http://schemas.microsoft.com/office/drawing/2014/main" id="{0C6207A9-BF92-4BC2-A06B-C6DBF63B40D1}"/>
              </a:ext>
            </a:extLst>
          </p:cNvPr>
          <p:cNvSpPr txBox="1"/>
          <p:nvPr/>
        </p:nvSpPr>
        <p:spPr>
          <a:xfrm>
            <a:off x="1361179" y="4358086"/>
            <a:ext cx="523986" cy="461665"/>
          </a:xfrm>
          <a:prstGeom prst="rect">
            <a:avLst/>
          </a:prstGeom>
          <a:noFill/>
        </p:spPr>
        <p:txBody>
          <a:bodyPr wrap="square" rtlCol="0">
            <a:spAutoFit/>
          </a:bodyPr>
          <a:lstStyle/>
          <a:p>
            <a:pPr algn="l"/>
            <a:r>
              <a:rPr lang="en-US" altLang="zh-CN" sz="2400" dirty="0">
                <a:latin typeface="+mn-ea"/>
              </a:rPr>
              <a:t>y</a:t>
            </a:r>
            <a:r>
              <a:rPr lang="en-US" altLang="zh-CN" sz="2400" baseline="-25000" dirty="0">
                <a:latin typeface="+mn-ea"/>
              </a:rPr>
              <a:t>1</a:t>
            </a:r>
            <a:endParaRPr lang="zh-CN" altLang="en-US" sz="2400" baseline="-25000" dirty="0">
              <a:latin typeface="+mn-ea"/>
            </a:endParaRPr>
          </a:p>
        </p:txBody>
      </p:sp>
      <p:sp>
        <p:nvSpPr>
          <p:cNvPr id="28" name="文本框 27">
            <a:extLst>
              <a:ext uri="{FF2B5EF4-FFF2-40B4-BE49-F238E27FC236}">
                <a16:creationId xmlns:a16="http://schemas.microsoft.com/office/drawing/2014/main" id="{0CF04EA8-4A66-4471-9F94-CFD432E61E9E}"/>
              </a:ext>
            </a:extLst>
          </p:cNvPr>
          <p:cNvSpPr txBox="1"/>
          <p:nvPr/>
        </p:nvSpPr>
        <p:spPr>
          <a:xfrm>
            <a:off x="3239478" y="4354157"/>
            <a:ext cx="523986" cy="461665"/>
          </a:xfrm>
          <a:prstGeom prst="rect">
            <a:avLst/>
          </a:prstGeom>
          <a:noFill/>
        </p:spPr>
        <p:txBody>
          <a:bodyPr wrap="square" rtlCol="0">
            <a:spAutoFit/>
          </a:bodyPr>
          <a:lstStyle/>
          <a:p>
            <a:pPr algn="l"/>
            <a:r>
              <a:rPr lang="en-US" altLang="zh-CN" sz="2400" dirty="0">
                <a:latin typeface="+mn-ea"/>
              </a:rPr>
              <a:t>y</a:t>
            </a:r>
            <a:r>
              <a:rPr lang="en-US" altLang="zh-CN" sz="2400" baseline="-25000" dirty="0">
                <a:latin typeface="+mn-ea"/>
              </a:rPr>
              <a:t>2</a:t>
            </a:r>
            <a:endParaRPr lang="zh-CN" altLang="en-US" sz="2400" baseline="-25000" dirty="0">
              <a:latin typeface="+mn-ea"/>
            </a:endParaRPr>
          </a:p>
        </p:txBody>
      </p:sp>
      <p:sp>
        <p:nvSpPr>
          <p:cNvPr id="29" name="文本框 28">
            <a:extLst>
              <a:ext uri="{FF2B5EF4-FFF2-40B4-BE49-F238E27FC236}">
                <a16:creationId xmlns:a16="http://schemas.microsoft.com/office/drawing/2014/main" id="{2046F04C-C89D-413E-812B-DC165B8E0D90}"/>
              </a:ext>
            </a:extLst>
          </p:cNvPr>
          <p:cNvSpPr txBox="1"/>
          <p:nvPr/>
        </p:nvSpPr>
        <p:spPr>
          <a:xfrm>
            <a:off x="5154707" y="4354157"/>
            <a:ext cx="523986" cy="461665"/>
          </a:xfrm>
          <a:prstGeom prst="rect">
            <a:avLst/>
          </a:prstGeom>
          <a:noFill/>
        </p:spPr>
        <p:txBody>
          <a:bodyPr wrap="square" rtlCol="0">
            <a:spAutoFit/>
          </a:bodyPr>
          <a:lstStyle/>
          <a:p>
            <a:pPr algn="l"/>
            <a:r>
              <a:rPr lang="en-US" altLang="zh-CN" sz="2400" dirty="0">
                <a:latin typeface="+mn-ea"/>
              </a:rPr>
              <a:t>y</a:t>
            </a:r>
            <a:r>
              <a:rPr lang="en-US" altLang="zh-CN" sz="2400" baseline="-25000" dirty="0">
                <a:latin typeface="+mn-ea"/>
              </a:rPr>
              <a:t>3</a:t>
            </a:r>
            <a:endParaRPr lang="zh-CN" altLang="en-US" sz="2400" baseline="-25000" dirty="0">
              <a:latin typeface="+mn-ea"/>
            </a:endParaRPr>
          </a:p>
        </p:txBody>
      </p:sp>
      <p:sp>
        <p:nvSpPr>
          <p:cNvPr id="30" name="文本框 29">
            <a:extLst>
              <a:ext uri="{FF2B5EF4-FFF2-40B4-BE49-F238E27FC236}">
                <a16:creationId xmlns:a16="http://schemas.microsoft.com/office/drawing/2014/main" id="{DE221463-82B0-4ED0-A09C-9DB9151C115F}"/>
              </a:ext>
            </a:extLst>
          </p:cNvPr>
          <p:cNvSpPr txBox="1"/>
          <p:nvPr/>
        </p:nvSpPr>
        <p:spPr>
          <a:xfrm>
            <a:off x="7144650" y="4354156"/>
            <a:ext cx="523986" cy="461665"/>
          </a:xfrm>
          <a:prstGeom prst="rect">
            <a:avLst/>
          </a:prstGeom>
          <a:noFill/>
        </p:spPr>
        <p:txBody>
          <a:bodyPr wrap="square" rtlCol="0">
            <a:spAutoFit/>
          </a:bodyPr>
          <a:lstStyle/>
          <a:p>
            <a:pPr algn="l"/>
            <a:r>
              <a:rPr lang="en-US" altLang="zh-CN" sz="2400" dirty="0">
                <a:latin typeface="+mn-ea"/>
              </a:rPr>
              <a:t>y</a:t>
            </a:r>
            <a:r>
              <a:rPr lang="en-US" altLang="zh-CN" sz="2400" baseline="-25000" dirty="0">
                <a:latin typeface="+mn-ea"/>
              </a:rPr>
              <a:t>3</a:t>
            </a:r>
            <a:endParaRPr lang="zh-CN" altLang="en-US" sz="2400" baseline="-25000" dirty="0">
              <a:latin typeface="+mn-ea"/>
            </a:endParaRPr>
          </a:p>
        </p:txBody>
      </p:sp>
      <p:cxnSp>
        <p:nvCxnSpPr>
          <p:cNvPr id="31" name="直接箭头连接符 30">
            <a:extLst>
              <a:ext uri="{FF2B5EF4-FFF2-40B4-BE49-F238E27FC236}">
                <a16:creationId xmlns:a16="http://schemas.microsoft.com/office/drawing/2014/main" id="{D485B2DE-8774-4592-8802-FD81B6207643}"/>
              </a:ext>
            </a:extLst>
          </p:cNvPr>
          <p:cNvCxnSpPr>
            <a:cxnSpLocks/>
          </p:cNvCxnSpPr>
          <p:nvPr/>
        </p:nvCxnSpPr>
        <p:spPr>
          <a:xfrm>
            <a:off x="1623172" y="4905485"/>
            <a:ext cx="2177224" cy="61169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3" name="文本框 32">
            <a:extLst>
              <a:ext uri="{FF2B5EF4-FFF2-40B4-BE49-F238E27FC236}">
                <a16:creationId xmlns:a16="http://schemas.microsoft.com/office/drawing/2014/main" id="{4BCB7421-3B64-4845-B447-35A360271886}"/>
              </a:ext>
            </a:extLst>
          </p:cNvPr>
          <p:cNvSpPr txBox="1"/>
          <p:nvPr/>
        </p:nvSpPr>
        <p:spPr>
          <a:xfrm>
            <a:off x="3232813" y="5517175"/>
            <a:ext cx="3086101" cy="461665"/>
          </a:xfrm>
          <a:prstGeom prst="rect">
            <a:avLst/>
          </a:prstGeom>
          <a:noFill/>
        </p:spPr>
        <p:txBody>
          <a:bodyPr wrap="none" rtlCol="0">
            <a:spAutoFit/>
          </a:bodyPr>
          <a:lstStyle/>
          <a:p>
            <a:pPr algn="l"/>
            <a:r>
              <a:rPr lang="zh-CN" altLang="en-US" sz="2400" dirty="0">
                <a:latin typeface="+mn-ea"/>
              </a:rPr>
              <a:t>平均化处理</a:t>
            </a:r>
            <a:r>
              <a:rPr lang="en-US" altLang="zh-CN" sz="2400" dirty="0">
                <a:latin typeface="+mn-ea"/>
              </a:rPr>
              <a:t>/</a:t>
            </a:r>
            <a:r>
              <a:rPr lang="zh-CN" altLang="en-US" sz="2400" dirty="0">
                <a:latin typeface="+mn-ea"/>
              </a:rPr>
              <a:t>投票原则</a:t>
            </a:r>
          </a:p>
        </p:txBody>
      </p:sp>
      <p:cxnSp>
        <p:nvCxnSpPr>
          <p:cNvPr id="34" name="直接箭头连接符 33">
            <a:extLst>
              <a:ext uri="{FF2B5EF4-FFF2-40B4-BE49-F238E27FC236}">
                <a16:creationId xmlns:a16="http://schemas.microsoft.com/office/drawing/2014/main" id="{2A2448B0-54E1-4027-8DC8-02780AD6E5F1}"/>
              </a:ext>
            </a:extLst>
          </p:cNvPr>
          <p:cNvCxnSpPr>
            <a:cxnSpLocks/>
          </p:cNvCxnSpPr>
          <p:nvPr/>
        </p:nvCxnSpPr>
        <p:spPr>
          <a:xfrm>
            <a:off x="3489440" y="4860653"/>
            <a:ext cx="891540" cy="65652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6" name="直接箭头连接符 35">
            <a:extLst>
              <a:ext uri="{FF2B5EF4-FFF2-40B4-BE49-F238E27FC236}">
                <a16:creationId xmlns:a16="http://schemas.microsoft.com/office/drawing/2014/main" id="{35C7F8B8-5930-4793-AF35-F8AF98DF2B09}"/>
              </a:ext>
            </a:extLst>
          </p:cNvPr>
          <p:cNvCxnSpPr>
            <a:cxnSpLocks/>
            <a:endCxn id="33" idx="0"/>
          </p:cNvCxnSpPr>
          <p:nvPr/>
        </p:nvCxnSpPr>
        <p:spPr>
          <a:xfrm flipH="1">
            <a:off x="4775864" y="4824946"/>
            <a:ext cx="556102" cy="69222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9" name="直接箭头连接符 38">
            <a:extLst>
              <a:ext uri="{FF2B5EF4-FFF2-40B4-BE49-F238E27FC236}">
                <a16:creationId xmlns:a16="http://schemas.microsoft.com/office/drawing/2014/main" id="{690C5F37-A322-4020-90B5-DFD868E97D00}"/>
              </a:ext>
            </a:extLst>
          </p:cNvPr>
          <p:cNvCxnSpPr>
            <a:cxnSpLocks/>
          </p:cNvCxnSpPr>
          <p:nvPr/>
        </p:nvCxnSpPr>
        <p:spPr>
          <a:xfrm flipH="1">
            <a:off x="5506453" y="4856972"/>
            <a:ext cx="1727869" cy="6602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文本占位符 1">
            <a:extLst>
              <a:ext uri="{FF2B5EF4-FFF2-40B4-BE49-F238E27FC236}">
                <a16:creationId xmlns:a16="http://schemas.microsoft.com/office/drawing/2014/main" id="{0D6EDF79-274F-3DB1-2767-08F7CD1B5B22}"/>
              </a:ext>
            </a:extLst>
          </p:cNvPr>
          <p:cNvSpPr>
            <a:spLocks noGrp="1"/>
          </p:cNvSpPr>
          <p:nvPr>
            <p:ph type="body" sz="quarter" idx="12"/>
          </p:nvPr>
        </p:nvSpPr>
        <p:spPr>
          <a:xfrm>
            <a:off x="566962" y="265803"/>
            <a:ext cx="4836888" cy="426497"/>
          </a:xfrm>
        </p:spPr>
        <p:txBody>
          <a:bodyPr/>
          <a:lstStyle/>
          <a:p>
            <a:pPr marL="0" indent="0">
              <a:buNone/>
            </a:pPr>
            <a:r>
              <a:rPr lang="en-US" altLang="zh-CN" sz="3200" dirty="0"/>
              <a:t>Bagging</a:t>
            </a:r>
            <a:endParaRPr lang="zh-CN" altLang="en-US" sz="3200" dirty="0"/>
          </a:p>
        </p:txBody>
      </p:sp>
      <p:sp>
        <p:nvSpPr>
          <p:cNvPr id="3" name="灯片编号占位符 2">
            <a:extLst>
              <a:ext uri="{FF2B5EF4-FFF2-40B4-BE49-F238E27FC236}">
                <a16:creationId xmlns:a16="http://schemas.microsoft.com/office/drawing/2014/main" id="{90B80D8B-1969-405F-AC24-C2164C24A735}"/>
              </a:ext>
            </a:extLst>
          </p:cNvPr>
          <p:cNvSpPr>
            <a:spLocks noGrp="1"/>
          </p:cNvSpPr>
          <p:nvPr>
            <p:ph type="sldNum" sz="quarter" idx="14"/>
          </p:nvPr>
        </p:nvSpPr>
        <p:spPr/>
        <p:txBody>
          <a:bodyPr/>
          <a:lstStyle/>
          <a:p>
            <a:fld id="{AF69888C-E133-43D9-A638-B5C95925B91C}" type="slidenum">
              <a:rPr lang="zh-CN" altLang="en-US" smtClean="0"/>
              <a:t>17</a:t>
            </a:fld>
            <a:endParaRPr lang="zh-CN" altLang="en-US" dirty="0"/>
          </a:p>
        </p:txBody>
      </p:sp>
    </p:spTree>
    <p:extLst>
      <p:ext uri="{BB962C8B-B14F-4D97-AF65-F5344CB8AC3E}">
        <p14:creationId xmlns:p14="http://schemas.microsoft.com/office/powerpoint/2010/main" val="390340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up)">
                                      <p:cBhvr>
                                        <p:cTn id="12" dur="500"/>
                                        <p:tgtEl>
                                          <p:spTgt spid="18"/>
                                        </p:tgtEl>
                                      </p:cBhvr>
                                    </p:animEffect>
                                  </p:childTnLst>
                                </p:cTn>
                              </p:par>
                              <p:par>
                                <p:cTn id="13" presetID="22" presetClass="entr" presetSubtype="1"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par>
                                <p:cTn id="16" presetID="22" presetClass="entr" presetSubtype="1"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up)">
                                      <p:cBhvr>
                                        <p:cTn id="18" dur="500"/>
                                        <p:tgtEl>
                                          <p:spTgt spid="20"/>
                                        </p:tgtEl>
                                      </p:cBhvr>
                                    </p:animEffect>
                                  </p:childTnLst>
                                </p:cTn>
                              </p:par>
                              <p:par>
                                <p:cTn id="19" presetID="22" presetClass="entr" presetSubtype="1"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up)">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par>
                                <p:cTn id="41" presetID="22" presetClass="entr" presetSubtype="1"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up)">
                                      <p:cBhvr>
                                        <p:cTn id="43" dur="500"/>
                                        <p:tgtEl>
                                          <p:spTgt spid="11"/>
                                        </p:tgtEl>
                                      </p:cBhvr>
                                    </p:animEffect>
                                  </p:childTnLst>
                                </p:cTn>
                              </p:par>
                              <p:par>
                                <p:cTn id="44" presetID="22" presetClass="entr" presetSubtype="1"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up)">
                                      <p:cBhvr>
                                        <p:cTn id="46" dur="500"/>
                                        <p:tgtEl>
                                          <p:spTgt spid="12"/>
                                        </p:tgtEl>
                                      </p:cBhvr>
                                    </p:animEffect>
                                  </p:childTnLst>
                                </p:cTn>
                              </p:par>
                              <p:par>
                                <p:cTn id="47" presetID="22" presetClass="entr" presetSubtype="1"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up)">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wipe(up)">
                                      <p:cBhvr>
                                        <p:cTn id="68" dur="500"/>
                                        <p:tgtEl>
                                          <p:spTgt spid="31"/>
                                        </p:tgtEl>
                                      </p:cBhvr>
                                    </p:animEffect>
                                  </p:childTnLst>
                                </p:cTn>
                              </p:par>
                              <p:par>
                                <p:cTn id="69" presetID="22" presetClass="entr" presetSubtype="1" fill="hold" nodeType="withEffect">
                                  <p:stCondLst>
                                    <p:cond delay="0"/>
                                  </p:stCondLst>
                                  <p:childTnLst>
                                    <p:set>
                                      <p:cBhvr>
                                        <p:cTn id="70" dur="1" fill="hold">
                                          <p:stCondLst>
                                            <p:cond delay="0"/>
                                          </p:stCondLst>
                                        </p:cTn>
                                        <p:tgtEl>
                                          <p:spTgt spid="34"/>
                                        </p:tgtEl>
                                        <p:attrNameLst>
                                          <p:attrName>style.visibility</p:attrName>
                                        </p:attrNameLst>
                                      </p:cBhvr>
                                      <p:to>
                                        <p:strVal val="visible"/>
                                      </p:to>
                                    </p:set>
                                    <p:animEffect transition="in" filter="wipe(up)">
                                      <p:cBhvr>
                                        <p:cTn id="71" dur="500"/>
                                        <p:tgtEl>
                                          <p:spTgt spid="34"/>
                                        </p:tgtEl>
                                      </p:cBhvr>
                                    </p:animEffect>
                                  </p:childTnLst>
                                </p:cTn>
                              </p:par>
                              <p:par>
                                <p:cTn id="72" presetID="22" presetClass="entr" presetSubtype="1" fill="hold" nodeType="with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wipe(up)">
                                      <p:cBhvr>
                                        <p:cTn id="74" dur="500"/>
                                        <p:tgtEl>
                                          <p:spTgt spid="36"/>
                                        </p:tgtEl>
                                      </p:cBhvr>
                                    </p:animEffect>
                                  </p:childTnLst>
                                </p:cTn>
                              </p:par>
                              <p:par>
                                <p:cTn id="75" presetID="22" presetClass="entr" presetSubtype="1" fill="hold"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wipe(up)">
                                      <p:cBhvr>
                                        <p:cTn id="77" dur="500"/>
                                        <p:tgtEl>
                                          <p:spTgt spid="3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fade">
                                      <p:cBhvr>
                                        <p:cTn id="8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P spid="7" grpId="0" animBg="1"/>
      <p:bldP spid="8" grpId="0" animBg="1"/>
      <p:bldP spid="9" grpId="0" animBg="1"/>
      <p:bldP spid="17" grpId="0" animBg="1"/>
      <p:bldP spid="23" grpId="0"/>
      <p:bldP spid="28" grpId="0"/>
      <p:bldP spid="29" grpId="0"/>
      <p:bldP spid="30"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61B062-1125-CB44-BBDE-E5B23B85A91F}"/>
              </a:ext>
            </a:extLst>
          </p:cNvPr>
          <p:cNvSpPr txBox="1"/>
          <p:nvPr/>
        </p:nvSpPr>
        <p:spPr>
          <a:xfrm>
            <a:off x="566962" y="1001972"/>
            <a:ext cx="10858500" cy="830997"/>
          </a:xfrm>
          <a:prstGeom prst="rect">
            <a:avLst/>
          </a:prstGeom>
          <a:noFill/>
        </p:spPr>
        <p:txBody>
          <a:bodyPr wrap="square" rtlCol="0">
            <a:spAutoFit/>
          </a:bodyPr>
          <a:lstStyle/>
          <a:p>
            <a:pPr marL="342900" indent="-342900">
              <a:buFont typeface="Wingdings" pitchFamily="2" charset="2"/>
              <a:buChar char="Ø"/>
            </a:pPr>
            <a:r>
              <a:rPr lang="en-GB" altLang="zh-CN" sz="2400" dirty="0"/>
              <a:t>Bagging</a:t>
            </a:r>
            <a:r>
              <a:rPr lang="zh-CN" altLang="en-US" sz="2400" dirty="0"/>
              <a:t>这一名称来源于</a:t>
            </a:r>
            <a:r>
              <a:rPr lang="en-GB" altLang="zh-CN" sz="2400" dirty="0"/>
              <a:t>Bootstrap </a:t>
            </a:r>
            <a:r>
              <a:rPr lang="en-GB" altLang="zh-CN" sz="2400" dirty="0" err="1"/>
              <a:t>AGGregatING</a:t>
            </a:r>
            <a:r>
              <a:rPr lang="en-GB" altLang="zh-CN" sz="2400" dirty="0"/>
              <a:t>[</a:t>
            </a:r>
            <a:r>
              <a:rPr lang="en-GB" altLang="zh-CN" sz="2400" dirty="0" err="1"/>
              <a:t>Breiman</a:t>
            </a:r>
            <a:r>
              <a:rPr lang="en-GB" altLang="zh-CN" sz="2400" dirty="0"/>
              <a:t>, 1996]</a:t>
            </a:r>
            <a:r>
              <a:rPr lang="zh-CN" altLang="en-US" sz="2400" dirty="0"/>
              <a:t>的缩写</a:t>
            </a:r>
            <a:r>
              <a:rPr lang="en-US" altLang="zh-CN" sz="2400" dirty="0"/>
              <a:t>,</a:t>
            </a:r>
            <a:r>
              <a:rPr lang="zh-CN" altLang="en-US" sz="2400" dirty="0"/>
              <a:t>是一种自助聚合的方法 </a:t>
            </a:r>
          </a:p>
        </p:txBody>
      </p:sp>
      <p:sp>
        <p:nvSpPr>
          <p:cNvPr id="2" name="TextBox 1">
            <a:extLst>
              <a:ext uri="{FF2B5EF4-FFF2-40B4-BE49-F238E27FC236}">
                <a16:creationId xmlns:a16="http://schemas.microsoft.com/office/drawing/2014/main" id="{813C0999-69E9-6C4A-8E99-ECAEEF5934E7}"/>
              </a:ext>
            </a:extLst>
          </p:cNvPr>
          <p:cNvSpPr txBox="1"/>
          <p:nvPr/>
        </p:nvSpPr>
        <p:spPr>
          <a:xfrm>
            <a:off x="839678" y="1938367"/>
            <a:ext cx="10858500" cy="1200329"/>
          </a:xfrm>
          <a:prstGeom prst="rect">
            <a:avLst/>
          </a:prstGeom>
          <a:noFill/>
        </p:spPr>
        <p:txBody>
          <a:bodyPr wrap="square" rtlCol="0">
            <a:spAutoFit/>
          </a:bodyPr>
          <a:lstStyle/>
          <a:p>
            <a:r>
              <a:rPr lang="en-US" sz="2400" dirty="0"/>
              <a:t>Bagging</a:t>
            </a:r>
            <a:r>
              <a:rPr lang="zh-CN" altLang="en-US" sz="2400" dirty="0"/>
              <a:t>采用</a:t>
            </a:r>
            <a:r>
              <a:rPr lang="zh-CN" altLang="en-US" sz="2400" b="1" dirty="0">
                <a:solidFill>
                  <a:srgbClr val="FF0000"/>
                </a:solidFill>
              </a:rPr>
              <a:t>自助采样</a:t>
            </a:r>
            <a:r>
              <a:rPr lang="zh-CN" altLang="en-US" sz="2400" dirty="0"/>
              <a:t>生成不同的基分类器。</a:t>
            </a:r>
            <a:endParaRPr lang="en-US" altLang="zh-CN" sz="2400" dirty="0"/>
          </a:p>
          <a:p>
            <a:endParaRPr lang="en-US" altLang="zh-CN" sz="2000" dirty="0"/>
          </a:p>
          <a:p>
            <a:r>
              <a:rPr lang="zh-CN" altLang="en-US" sz="2800" i="1" dirty="0">
                <a:solidFill>
                  <a:schemeClr val="accent1">
                    <a:lumMod val="60000"/>
                    <a:lumOff val="40000"/>
                  </a:schemeClr>
                </a:solidFill>
              </a:rPr>
              <a:t>生成不同的训练样本的同时又可以服从类似的分布</a:t>
            </a:r>
            <a:endParaRPr lang="en-CN" sz="2800" i="1" dirty="0">
              <a:solidFill>
                <a:schemeClr val="accent1">
                  <a:lumMod val="60000"/>
                  <a:lumOff val="40000"/>
                </a:schemeClr>
              </a:solidFill>
              <a:latin typeface="+mn-ea"/>
            </a:endParaRPr>
          </a:p>
        </p:txBody>
      </p:sp>
      <p:pic>
        <p:nvPicPr>
          <p:cNvPr id="7" name="Picture 6">
            <a:extLst>
              <a:ext uri="{FF2B5EF4-FFF2-40B4-BE49-F238E27FC236}">
                <a16:creationId xmlns:a16="http://schemas.microsoft.com/office/drawing/2014/main" id="{3BFDED0E-0186-DC4C-8D93-1D3487BAB1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5648" y="3138696"/>
            <a:ext cx="9681128" cy="3097754"/>
          </a:xfrm>
          <a:prstGeom prst="rect">
            <a:avLst/>
          </a:prstGeom>
        </p:spPr>
      </p:pic>
      <p:sp>
        <p:nvSpPr>
          <p:cNvPr id="9" name="文本占位符 1">
            <a:extLst>
              <a:ext uri="{FF2B5EF4-FFF2-40B4-BE49-F238E27FC236}">
                <a16:creationId xmlns:a16="http://schemas.microsoft.com/office/drawing/2014/main" id="{CD0A9AA4-ABD0-E127-E707-4A095ACA03FB}"/>
              </a:ext>
            </a:extLst>
          </p:cNvPr>
          <p:cNvSpPr>
            <a:spLocks noGrp="1"/>
          </p:cNvSpPr>
          <p:nvPr>
            <p:ph type="body" sz="quarter" idx="12"/>
          </p:nvPr>
        </p:nvSpPr>
        <p:spPr>
          <a:xfrm>
            <a:off x="566962" y="265803"/>
            <a:ext cx="4836888" cy="426497"/>
          </a:xfrm>
        </p:spPr>
        <p:txBody>
          <a:bodyPr/>
          <a:lstStyle/>
          <a:p>
            <a:pPr marL="0" indent="0">
              <a:buNone/>
            </a:pPr>
            <a:r>
              <a:rPr lang="en-US" altLang="zh-CN" sz="3200" dirty="0"/>
              <a:t>Bagging</a:t>
            </a:r>
            <a:endParaRPr lang="zh-CN" altLang="en-US" sz="3200" dirty="0"/>
          </a:p>
        </p:txBody>
      </p:sp>
      <p:sp>
        <p:nvSpPr>
          <p:cNvPr id="4" name="灯片编号占位符 3">
            <a:extLst>
              <a:ext uri="{FF2B5EF4-FFF2-40B4-BE49-F238E27FC236}">
                <a16:creationId xmlns:a16="http://schemas.microsoft.com/office/drawing/2014/main" id="{7D980CAC-E8DD-4208-92D2-DC8FFAD3B643}"/>
              </a:ext>
            </a:extLst>
          </p:cNvPr>
          <p:cNvSpPr>
            <a:spLocks noGrp="1"/>
          </p:cNvSpPr>
          <p:nvPr>
            <p:ph type="sldNum" sz="quarter" idx="14"/>
          </p:nvPr>
        </p:nvSpPr>
        <p:spPr/>
        <p:txBody>
          <a:bodyPr/>
          <a:lstStyle/>
          <a:p>
            <a:fld id="{AF69888C-E133-43D9-A638-B5C95925B91C}" type="slidenum">
              <a:rPr lang="zh-CN" altLang="en-US" smtClean="0"/>
              <a:t>18</a:t>
            </a:fld>
            <a:endParaRPr lang="zh-CN" altLang="en-US" dirty="0"/>
          </a:p>
        </p:txBody>
      </p:sp>
    </p:spTree>
    <p:extLst>
      <p:ext uri="{BB962C8B-B14F-4D97-AF65-F5344CB8AC3E}">
        <p14:creationId xmlns:p14="http://schemas.microsoft.com/office/powerpoint/2010/main" val="3671499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sz="3200" dirty="0"/>
              <a:t>包外样本（</a:t>
            </a:r>
            <a:r>
              <a:rPr lang="en-US" altLang="en-US" sz="3200" dirty="0"/>
              <a:t>Out-of-bag sample</a:t>
            </a:r>
            <a:r>
              <a:rPr lang="zh-CN" altLang="en-US" sz="3200" dirty="0"/>
              <a:t>）</a:t>
            </a:r>
            <a:r>
              <a:rPr lang="en-CN" sz="3200" dirty="0"/>
              <a:t> </a:t>
            </a:r>
            <a:endParaRPr lang="zh-CN" altLang="en-US" sz="32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6DC6080-267D-844A-985B-A0D701B06372}"/>
                  </a:ext>
                </a:extLst>
              </p:cNvPr>
              <p:cNvSpPr txBox="1"/>
              <p:nvPr/>
            </p:nvSpPr>
            <p:spPr>
              <a:xfrm>
                <a:off x="546695" y="1334162"/>
                <a:ext cx="10858500" cy="1354538"/>
              </a:xfrm>
              <a:prstGeom prst="rect">
                <a:avLst/>
              </a:prstGeom>
              <a:noFill/>
            </p:spPr>
            <p:txBody>
              <a:bodyPr wrap="square" rtlCol="0">
                <a:spAutoFit/>
              </a:bodyPr>
              <a:lstStyle/>
              <a:p>
                <a:pPr marL="342900" indent="-342900">
                  <a:buFont typeface="Wingdings" pitchFamily="2" charset="2"/>
                  <a:buChar char="Ø"/>
                </a:pPr>
                <a:r>
                  <a:rPr lang="en-US" sz="2400" dirty="0"/>
                  <a:t>Bootstrap</a:t>
                </a:r>
                <a:r>
                  <a:rPr lang="zh-CN" altLang="en-US" sz="2400" dirty="0"/>
                  <a:t>赋予了</a:t>
                </a:r>
                <a:r>
                  <a:rPr lang="en-US" sz="2400" dirty="0"/>
                  <a:t>Bagging</a:t>
                </a:r>
                <a:r>
                  <a:rPr lang="zh-CN" altLang="en-US" sz="2400" dirty="0"/>
                  <a:t>一个额外的优势。给定</a:t>
                </a:r>
                <a:r>
                  <a:rPr lang="en-US" sz="2400" dirty="0"/>
                  <a:t>m</a:t>
                </a:r>
                <a:r>
                  <a:rPr lang="zh-CN" altLang="en-US" sz="2400" dirty="0"/>
                  <a:t>个训练样本，第</a:t>
                </a:r>
                <a:r>
                  <a:rPr lang="en-US" sz="2400" i="1" dirty="0" err="1"/>
                  <a:t>i</a:t>
                </a:r>
                <a:r>
                  <a:rPr lang="zh-CN" altLang="en-US" sz="2400" dirty="0"/>
                  <a:t>个样本每次被选中的概率为</a:t>
                </a:r>
                <a14:m>
                  <m:oMath xmlns:m="http://schemas.openxmlformats.org/officeDocument/2006/math">
                    <m:f>
                      <m:fPr>
                        <m:ctrlPr>
                          <a:rPr lang="en-CN"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𝑚</m:t>
                        </m:r>
                      </m:den>
                    </m:f>
                  </m:oMath>
                </a14:m>
                <a:r>
                  <a:rPr lang="zh-CN" altLang="en-US" sz="2400" dirty="0"/>
                  <a:t>，选了</a:t>
                </a:r>
                <a:r>
                  <a:rPr lang="en-US" sz="2400" dirty="0"/>
                  <a:t>m</a:t>
                </a:r>
                <a:r>
                  <a:rPr lang="zh-CN" altLang="en-US" sz="2400" dirty="0"/>
                  <a:t>次，当</a:t>
                </a:r>
                <a:r>
                  <a:rPr lang="en-US" sz="2400" dirty="0"/>
                  <a:t>m</a:t>
                </a:r>
                <a:r>
                  <a:rPr lang="zh-CN" altLang="en-US" sz="2400" dirty="0"/>
                  <a:t>趋近于无穷的时候，没有被选中的概率为：</a:t>
                </a:r>
                <a:endParaRPr lang="en-CN" sz="2400" dirty="0">
                  <a:latin typeface="+mn-ea"/>
                </a:endParaRPr>
              </a:p>
            </p:txBody>
          </p:sp>
        </mc:Choice>
        <mc:Fallback xmlns="">
          <p:sp>
            <p:nvSpPr>
              <p:cNvPr id="2" name="TextBox 1">
                <a:extLst>
                  <a:ext uri="{FF2B5EF4-FFF2-40B4-BE49-F238E27FC236}">
                    <a16:creationId xmlns:a16="http://schemas.microsoft.com/office/drawing/2014/main" id="{A6DC6080-267D-844A-985B-A0D701B06372}"/>
                  </a:ext>
                </a:extLst>
              </p:cNvPr>
              <p:cNvSpPr txBox="1">
                <a:spLocks noRot="1" noChangeAspect="1" noMove="1" noResize="1" noEditPoints="1" noAdjustHandles="1" noChangeArrowheads="1" noChangeShapeType="1" noTextEdit="1"/>
              </p:cNvSpPr>
              <p:nvPr/>
            </p:nvSpPr>
            <p:spPr>
              <a:xfrm>
                <a:off x="546695" y="1334162"/>
                <a:ext cx="10858500" cy="1354538"/>
              </a:xfrm>
              <a:prstGeom prst="rect">
                <a:avLst/>
              </a:prstGeom>
              <a:blipFill>
                <a:blip r:embed="rId3"/>
                <a:stretch>
                  <a:fillRect l="-786" t="-3604" b="-94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55476A2-15C8-9A4B-827F-A02DF3A4A1A0}"/>
                  </a:ext>
                </a:extLst>
              </p:cNvPr>
              <p:cNvSpPr txBox="1"/>
              <p:nvPr/>
            </p:nvSpPr>
            <p:spPr>
              <a:xfrm>
                <a:off x="4145972" y="2878978"/>
                <a:ext cx="3165610" cy="813364"/>
              </a:xfrm>
              <a:prstGeom prst="rect">
                <a:avLst/>
              </a:prstGeom>
              <a:noFill/>
            </p:spPr>
            <p:txBody>
              <a:bodyPr wrap="none" rtlCol="0">
                <a:spAutoFit/>
              </a:bodyPr>
              <a:lstStyle/>
              <a:p>
                <a14:m>
                  <m:oMath xmlns:m="http://schemas.openxmlformats.org/officeDocument/2006/math">
                    <m:func>
                      <m:funcPr>
                        <m:ctrlPr>
                          <a:rPr lang="en-CN" sz="2800" i="1">
                            <a:latin typeface="Cambria Math" panose="02040503050406030204" pitchFamily="18" charset="0"/>
                          </a:rPr>
                        </m:ctrlPr>
                      </m:funcPr>
                      <m:fName>
                        <m:limLow>
                          <m:limLowPr>
                            <m:ctrlPr>
                              <a:rPr lang="en-CN" sz="2800" i="1">
                                <a:latin typeface="Cambria Math" panose="02040503050406030204" pitchFamily="18" charset="0"/>
                              </a:rPr>
                            </m:ctrlPr>
                          </m:limLowPr>
                          <m:e>
                            <m:r>
                              <m:rPr>
                                <m:sty m:val="p"/>
                              </m:rPr>
                              <a:rPr lang="en-US" sz="2800">
                                <a:latin typeface="Cambria Math" panose="02040503050406030204" pitchFamily="18" charset="0"/>
                              </a:rPr>
                              <m:t>lim</m:t>
                            </m:r>
                          </m:e>
                          <m:lim>
                            <m:r>
                              <a:rPr lang="en-US" sz="2800" i="1">
                                <a:latin typeface="Cambria Math" panose="02040503050406030204" pitchFamily="18" charset="0"/>
                              </a:rPr>
                              <m:t>𝑚</m:t>
                            </m:r>
                            <m:r>
                              <a:rPr lang="en-US" sz="2800" i="1">
                                <a:latin typeface="Cambria Math" panose="02040503050406030204" pitchFamily="18" charset="0"/>
                              </a:rPr>
                              <m:t>→∞</m:t>
                            </m:r>
                          </m:lim>
                        </m:limLow>
                      </m:fName>
                      <m:e>
                        <m:sSup>
                          <m:sSupPr>
                            <m:ctrlPr>
                              <a:rPr lang="en-CN" sz="2800" i="1">
                                <a:latin typeface="Cambria Math" panose="02040503050406030204" pitchFamily="18" charset="0"/>
                              </a:rPr>
                            </m:ctrlPr>
                          </m:sSupPr>
                          <m:e>
                            <m:d>
                              <m:dPr>
                                <m:ctrlPr>
                                  <a:rPr lang="en-CN" sz="2800" i="1">
                                    <a:latin typeface="Cambria Math" panose="02040503050406030204" pitchFamily="18" charset="0"/>
                                  </a:rPr>
                                </m:ctrlPr>
                              </m:dPr>
                              <m:e>
                                <m:r>
                                  <a:rPr lang="en-US" sz="2800" i="1">
                                    <a:latin typeface="Cambria Math" panose="02040503050406030204" pitchFamily="18" charset="0"/>
                                  </a:rPr>
                                  <m:t>1−</m:t>
                                </m:r>
                                <m:f>
                                  <m:fPr>
                                    <m:ctrlPr>
                                      <a:rPr lang="en-CN"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𝑚</m:t>
                                    </m:r>
                                  </m:den>
                                </m:f>
                              </m:e>
                            </m:d>
                          </m:e>
                          <m:sup>
                            <m:r>
                              <a:rPr lang="en-US" sz="2800" i="1">
                                <a:latin typeface="Cambria Math" panose="02040503050406030204" pitchFamily="18" charset="0"/>
                              </a:rPr>
                              <m:t>𝑚</m:t>
                            </m:r>
                          </m:sup>
                        </m:sSup>
                        <m:r>
                          <a:rPr lang="en-US" sz="2800" i="1">
                            <a:latin typeface="Cambria Math" panose="02040503050406030204" pitchFamily="18" charset="0"/>
                          </a:rPr>
                          <m:t>=</m:t>
                        </m:r>
                        <m:f>
                          <m:fPr>
                            <m:ctrlPr>
                              <a:rPr lang="en-CN"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𝑒</m:t>
                            </m:r>
                          </m:den>
                        </m:f>
                      </m:e>
                    </m:func>
                  </m:oMath>
                </a14:m>
                <a:r>
                  <a:rPr lang="en-CN" sz="2800" dirty="0">
                    <a:effectLst/>
                  </a:rPr>
                  <a:t> </a:t>
                </a:r>
                <a:endParaRPr lang="en-CN" sz="2800" dirty="0">
                  <a:latin typeface="+mn-ea"/>
                </a:endParaRPr>
              </a:p>
            </p:txBody>
          </p:sp>
        </mc:Choice>
        <mc:Fallback xmlns="">
          <p:sp>
            <p:nvSpPr>
              <p:cNvPr id="3" name="TextBox 2">
                <a:extLst>
                  <a:ext uri="{FF2B5EF4-FFF2-40B4-BE49-F238E27FC236}">
                    <a16:creationId xmlns:a16="http://schemas.microsoft.com/office/drawing/2014/main" id="{355476A2-15C8-9A4B-827F-A02DF3A4A1A0}"/>
                  </a:ext>
                </a:extLst>
              </p:cNvPr>
              <p:cNvSpPr txBox="1">
                <a:spLocks noRot="1" noChangeAspect="1" noMove="1" noResize="1" noEditPoints="1" noAdjustHandles="1" noChangeArrowheads="1" noChangeShapeType="1" noTextEdit="1"/>
              </p:cNvSpPr>
              <p:nvPr/>
            </p:nvSpPr>
            <p:spPr>
              <a:xfrm>
                <a:off x="4145972" y="2878978"/>
                <a:ext cx="3165610" cy="813364"/>
              </a:xfrm>
              <a:prstGeom prst="rect">
                <a:avLst/>
              </a:prstGeom>
              <a:blipFill>
                <a:blip r:embed="rId4"/>
                <a:stretch>
                  <a:fillRect/>
                </a:stretch>
              </a:blipFill>
            </p:spPr>
            <p:txBody>
              <a:bodyPr/>
              <a:lstStyle/>
              <a:p>
                <a:r>
                  <a:rPr lang="zh-CN" altLang="en-US">
                    <a:noFill/>
                  </a:rPr>
                  <a:t> </a:t>
                </a:r>
              </a:p>
            </p:txBody>
          </p:sp>
        </mc:Fallback>
      </mc:AlternateContent>
      <p:sp>
        <p:nvSpPr>
          <p:cNvPr id="5" name="TextBox 4">
            <a:extLst>
              <a:ext uri="{FF2B5EF4-FFF2-40B4-BE49-F238E27FC236}">
                <a16:creationId xmlns:a16="http://schemas.microsoft.com/office/drawing/2014/main" id="{F8FE4153-A813-3445-800B-A1AF7F14C8DF}"/>
              </a:ext>
            </a:extLst>
          </p:cNvPr>
          <p:cNvSpPr txBox="1"/>
          <p:nvPr/>
        </p:nvSpPr>
        <p:spPr>
          <a:xfrm>
            <a:off x="834189" y="4072457"/>
            <a:ext cx="11357811" cy="461665"/>
          </a:xfrm>
          <a:prstGeom prst="rect">
            <a:avLst/>
          </a:prstGeom>
          <a:noFill/>
        </p:spPr>
        <p:txBody>
          <a:bodyPr wrap="square" rtlCol="0">
            <a:spAutoFit/>
          </a:bodyPr>
          <a:lstStyle/>
          <a:p>
            <a:r>
              <a:rPr lang="zh-CN" altLang="en-US" sz="2400" dirty="0"/>
              <a:t>对于任意一个基分类器，训练时的原始训练数据中由大约</a:t>
            </a:r>
            <a:r>
              <a:rPr lang="en-US" sz="2400" dirty="0">
                <a:solidFill>
                  <a:srgbClr val="FF0000"/>
                </a:solidFill>
              </a:rPr>
              <a:t>36.8%</a:t>
            </a:r>
            <a:r>
              <a:rPr lang="zh-CN" altLang="en-US" sz="2400" dirty="0"/>
              <a:t>的样本未被使用</a:t>
            </a:r>
            <a:r>
              <a:rPr lang="en-CN" sz="2400" dirty="0"/>
              <a:t> </a:t>
            </a:r>
            <a:endParaRPr lang="en-CN" sz="2400" dirty="0">
              <a:latin typeface="+mn-ea"/>
            </a:endParaRPr>
          </a:p>
        </p:txBody>
      </p:sp>
      <p:sp>
        <p:nvSpPr>
          <p:cNvPr id="6" name="TextBox 1">
            <a:extLst>
              <a:ext uri="{FF2B5EF4-FFF2-40B4-BE49-F238E27FC236}">
                <a16:creationId xmlns:a16="http://schemas.microsoft.com/office/drawing/2014/main" id="{A6DC6080-267D-844A-985B-A0D701B06372}"/>
              </a:ext>
            </a:extLst>
          </p:cNvPr>
          <p:cNvSpPr txBox="1"/>
          <p:nvPr/>
        </p:nvSpPr>
        <p:spPr>
          <a:xfrm>
            <a:off x="566962" y="4914238"/>
            <a:ext cx="10858500" cy="461665"/>
          </a:xfrm>
          <a:prstGeom prst="rect">
            <a:avLst/>
          </a:prstGeom>
          <a:noFill/>
        </p:spPr>
        <p:txBody>
          <a:bodyPr wrap="square" rtlCol="0">
            <a:spAutoFit/>
          </a:bodyPr>
          <a:lstStyle/>
          <a:p>
            <a:pPr marL="342900" indent="-342900">
              <a:buFont typeface="Wingdings" pitchFamily="2" charset="2"/>
              <a:buChar char="Ø"/>
            </a:pPr>
            <a:r>
              <a:rPr lang="zh-CN" altLang="en-US" sz="2400" dirty="0"/>
              <a:t>未被选中的样本（即包外样本）可用于验证基分类器的性能。</a:t>
            </a:r>
            <a:endParaRPr lang="en-CN" sz="2400" dirty="0">
              <a:latin typeface="+mn-ea"/>
            </a:endParaRPr>
          </a:p>
        </p:txBody>
      </p:sp>
      <p:sp>
        <p:nvSpPr>
          <p:cNvPr id="7" name="灯片编号占位符 6">
            <a:extLst>
              <a:ext uri="{FF2B5EF4-FFF2-40B4-BE49-F238E27FC236}">
                <a16:creationId xmlns:a16="http://schemas.microsoft.com/office/drawing/2014/main" id="{8A8E3113-6AD0-4F93-8CC5-BB6EC802970F}"/>
              </a:ext>
            </a:extLst>
          </p:cNvPr>
          <p:cNvSpPr>
            <a:spLocks noGrp="1"/>
          </p:cNvSpPr>
          <p:nvPr>
            <p:ph type="sldNum" sz="quarter" idx="14"/>
          </p:nvPr>
        </p:nvSpPr>
        <p:spPr/>
        <p:txBody>
          <a:bodyPr/>
          <a:lstStyle/>
          <a:p>
            <a:fld id="{AF69888C-E133-43D9-A638-B5C95925B91C}" type="slidenum">
              <a:rPr lang="zh-CN" altLang="en-US" smtClean="0"/>
              <a:t>19</a:t>
            </a:fld>
            <a:endParaRPr lang="zh-CN" altLang="en-US" dirty="0"/>
          </a:p>
        </p:txBody>
      </p:sp>
    </p:spTree>
    <p:extLst>
      <p:ext uri="{BB962C8B-B14F-4D97-AF65-F5344CB8AC3E}">
        <p14:creationId xmlns:p14="http://schemas.microsoft.com/office/powerpoint/2010/main" val="2487397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Bagging</a:t>
            </a:r>
            <a:r>
              <a:rPr lang="zh-CN" altLang="en-US" dirty="0"/>
              <a:t>算法</a:t>
            </a:r>
          </a:p>
        </p:txBody>
      </p:sp>
      <p:pic>
        <p:nvPicPr>
          <p:cNvPr id="8" name="Picture 7">
            <a:extLst>
              <a:ext uri="{FF2B5EF4-FFF2-40B4-BE49-F238E27FC236}">
                <a16:creationId xmlns:a16="http://schemas.microsoft.com/office/drawing/2014/main" id="{DE5689D1-EC56-AD4B-AC90-F3FFB0265E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596" y="4984455"/>
            <a:ext cx="4078518" cy="1706790"/>
          </a:xfrm>
          <a:prstGeom prst="rect">
            <a:avLst/>
          </a:prstGeom>
        </p:spPr>
      </p:pic>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7E8A8856-8F43-2541-9EF4-0750AFAC4C73}"/>
                  </a:ext>
                </a:extLst>
              </p:cNvPr>
              <p:cNvSpPr/>
              <p:nvPr/>
            </p:nvSpPr>
            <p:spPr>
              <a:xfrm>
                <a:off x="3400876" y="1673605"/>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𝟏</m:t>
                          </m:r>
                        </m:sub>
                      </m:sSub>
                    </m:oMath>
                  </m:oMathPara>
                </a14:m>
                <a:endParaRPr lang="en-CN" b="1" dirty="0">
                  <a:solidFill>
                    <a:schemeClr val="tx1"/>
                  </a:solidFill>
                </a:endParaRPr>
              </a:p>
            </p:txBody>
          </p:sp>
        </mc:Choice>
        <mc:Fallback xmlns="">
          <p:sp>
            <p:nvSpPr>
              <p:cNvPr id="7" name="Rounded Rectangle 6">
                <a:extLst>
                  <a:ext uri="{FF2B5EF4-FFF2-40B4-BE49-F238E27FC236}">
                    <a16:creationId xmlns:a16="http://schemas.microsoft.com/office/drawing/2014/main" id="{7E8A8856-8F43-2541-9EF4-0750AFAC4C73}"/>
                  </a:ext>
                </a:extLst>
              </p:cNvPr>
              <p:cNvSpPr>
                <a:spLocks noRot="1" noChangeAspect="1" noMove="1" noResize="1" noEditPoints="1" noAdjustHandles="1" noChangeArrowheads="1" noChangeShapeType="1" noTextEdit="1"/>
              </p:cNvSpPr>
              <p:nvPr/>
            </p:nvSpPr>
            <p:spPr>
              <a:xfrm>
                <a:off x="3400876" y="1673605"/>
                <a:ext cx="410631" cy="426497"/>
              </a:xfrm>
              <a:prstGeom prst="roundRect">
                <a:avLst/>
              </a:prstGeom>
              <a:blipFill>
                <a:blip r:embed="rId4"/>
                <a:stretch>
                  <a:fillRect l="-27273"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B2699E20-1408-BC4B-879F-022014A2E7F5}"/>
                  </a:ext>
                </a:extLst>
              </p:cNvPr>
              <p:cNvSpPr/>
              <p:nvPr/>
            </p:nvSpPr>
            <p:spPr>
              <a:xfrm>
                <a:off x="3958390" y="1673604"/>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𝟐</m:t>
                          </m:r>
                        </m:sub>
                      </m:sSub>
                    </m:oMath>
                  </m:oMathPara>
                </a14:m>
                <a:endParaRPr lang="en-CN" b="1" dirty="0">
                  <a:solidFill>
                    <a:schemeClr val="tx1"/>
                  </a:solidFill>
                </a:endParaRPr>
              </a:p>
            </p:txBody>
          </p:sp>
        </mc:Choice>
        <mc:Fallback xmlns="">
          <p:sp>
            <p:nvSpPr>
              <p:cNvPr id="9" name="Rounded Rectangle 8">
                <a:extLst>
                  <a:ext uri="{FF2B5EF4-FFF2-40B4-BE49-F238E27FC236}">
                    <a16:creationId xmlns:a16="http://schemas.microsoft.com/office/drawing/2014/main" id="{B2699E20-1408-BC4B-879F-022014A2E7F5}"/>
                  </a:ext>
                </a:extLst>
              </p:cNvPr>
              <p:cNvSpPr>
                <a:spLocks noRot="1" noChangeAspect="1" noMove="1" noResize="1" noEditPoints="1" noAdjustHandles="1" noChangeArrowheads="1" noChangeShapeType="1" noTextEdit="1"/>
              </p:cNvSpPr>
              <p:nvPr/>
            </p:nvSpPr>
            <p:spPr>
              <a:xfrm>
                <a:off x="3958390" y="1673604"/>
                <a:ext cx="410631" cy="426497"/>
              </a:xfrm>
              <a:prstGeom prst="roundRect">
                <a:avLst/>
              </a:prstGeom>
              <a:blipFill>
                <a:blip r:embed="rId5"/>
                <a:stretch>
                  <a:fillRect l="-26471"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Rounded Rectangle 9">
                <a:extLst>
                  <a:ext uri="{FF2B5EF4-FFF2-40B4-BE49-F238E27FC236}">
                    <a16:creationId xmlns:a16="http://schemas.microsoft.com/office/drawing/2014/main" id="{0C28C4BC-BC7B-6A43-8E37-7226DB8CB00F}"/>
                  </a:ext>
                </a:extLst>
              </p:cNvPr>
              <p:cNvSpPr/>
              <p:nvPr/>
            </p:nvSpPr>
            <p:spPr>
              <a:xfrm>
                <a:off x="4515904" y="1673604"/>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𝟑</m:t>
                          </m:r>
                        </m:sub>
                      </m:sSub>
                    </m:oMath>
                  </m:oMathPara>
                </a14:m>
                <a:endParaRPr lang="en-CN" b="1" dirty="0">
                  <a:solidFill>
                    <a:schemeClr val="tx1"/>
                  </a:solidFill>
                </a:endParaRPr>
              </a:p>
            </p:txBody>
          </p:sp>
        </mc:Choice>
        <mc:Fallback xmlns="">
          <p:sp>
            <p:nvSpPr>
              <p:cNvPr id="10" name="Rounded Rectangle 9">
                <a:extLst>
                  <a:ext uri="{FF2B5EF4-FFF2-40B4-BE49-F238E27FC236}">
                    <a16:creationId xmlns:a16="http://schemas.microsoft.com/office/drawing/2014/main" id="{0C28C4BC-BC7B-6A43-8E37-7226DB8CB00F}"/>
                  </a:ext>
                </a:extLst>
              </p:cNvPr>
              <p:cNvSpPr>
                <a:spLocks noRot="1" noChangeAspect="1" noMove="1" noResize="1" noEditPoints="1" noAdjustHandles="1" noChangeArrowheads="1" noChangeShapeType="1" noTextEdit="1"/>
              </p:cNvSpPr>
              <p:nvPr/>
            </p:nvSpPr>
            <p:spPr>
              <a:xfrm>
                <a:off x="4515904" y="1673604"/>
                <a:ext cx="410631" cy="426497"/>
              </a:xfrm>
              <a:prstGeom prst="roundRect">
                <a:avLst/>
              </a:prstGeom>
              <a:blipFill>
                <a:blip r:embed="rId6"/>
                <a:stretch>
                  <a:fillRect l="-27273"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F1467D3E-76DD-8541-ABD4-3138BEBBD44A}"/>
                  </a:ext>
                </a:extLst>
              </p:cNvPr>
              <p:cNvSpPr/>
              <p:nvPr/>
            </p:nvSpPr>
            <p:spPr>
              <a:xfrm>
                <a:off x="5073418" y="1673603"/>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𝟒</m:t>
                          </m:r>
                        </m:sub>
                      </m:sSub>
                    </m:oMath>
                  </m:oMathPara>
                </a14:m>
                <a:endParaRPr lang="en-CN" b="1" dirty="0">
                  <a:solidFill>
                    <a:schemeClr val="tx1"/>
                  </a:solidFill>
                </a:endParaRPr>
              </a:p>
            </p:txBody>
          </p:sp>
        </mc:Choice>
        <mc:Fallback xmlns="">
          <p:sp>
            <p:nvSpPr>
              <p:cNvPr id="11" name="Rounded Rectangle 10">
                <a:extLst>
                  <a:ext uri="{FF2B5EF4-FFF2-40B4-BE49-F238E27FC236}">
                    <a16:creationId xmlns:a16="http://schemas.microsoft.com/office/drawing/2014/main" id="{F1467D3E-76DD-8541-ABD4-3138BEBBD44A}"/>
                  </a:ext>
                </a:extLst>
              </p:cNvPr>
              <p:cNvSpPr>
                <a:spLocks noRot="1" noChangeAspect="1" noMove="1" noResize="1" noEditPoints="1" noAdjustHandles="1" noChangeArrowheads="1" noChangeShapeType="1" noTextEdit="1"/>
              </p:cNvSpPr>
              <p:nvPr/>
            </p:nvSpPr>
            <p:spPr>
              <a:xfrm>
                <a:off x="5073418" y="1673603"/>
                <a:ext cx="410631" cy="426497"/>
              </a:xfrm>
              <a:prstGeom prst="roundRect">
                <a:avLst/>
              </a:prstGeom>
              <a:blipFill>
                <a:blip r:embed="rId7"/>
                <a:stretch>
                  <a:fillRect l="-26471"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66ECB72B-2848-F949-BB4C-C2623CC1075E}"/>
                  </a:ext>
                </a:extLst>
              </p:cNvPr>
              <p:cNvSpPr/>
              <p:nvPr/>
            </p:nvSpPr>
            <p:spPr>
              <a:xfrm>
                <a:off x="5630932" y="1673602"/>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𝟓</m:t>
                          </m:r>
                        </m:sub>
                      </m:sSub>
                    </m:oMath>
                  </m:oMathPara>
                </a14:m>
                <a:endParaRPr lang="en-CN" b="1" dirty="0">
                  <a:solidFill>
                    <a:schemeClr val="tx1"/>
                  </a:solidFill>
                </a:endParaRPr>
              </a:p>
            </p:txBody>
          </p:sp>
        </mc:Choice>
        <mc:Fallback xmlns="">
          <p:sp>
            <p:nvSpPr>
              <p:cNvPr id="12" name="Rounded Rectangle 11">
                <a:extLst>
                  <a:ext uri="{FF2B5EF4-FFF2-40B4-BE49-F238E27FC236}">
                    <a16:creationId xmlns:a16="http://schemas.microsoft.com/office/drawing/2014/main" id="{66ECB72B-2848-F949-BB4C-C2623CC1075E}"/>
                  </a:ext>
                </a:extLst>
              </p:cNvPr>
              <p:cNvSpPr>
                <a:spLocks noRot="1" noChangeAspect="1" noMove="1" noResize="1" noEditPoints="1" noAdjustHandles="1" noChangeArrowheads="1" noChangeShapeType="1" noTextEdit="1"/>
              </p:cNvSpPr>
              <p:nvPr/>
            </p:nvSpPr>
            <p:spPr>
              <a:xfrm>
                <a:off x="5630932" y="1673602"/>
                <a:ext cx="410631" cy="426497"/>
              </a:xfrm>
              <a:prstGeom prst="roundRect">
                <a:avLst/>
              </a:prstGeom>
              <a:blipFill>
                <a:blip r:embed="rId8"/>
                <a:stretch>
                  <a:fillRect l="-27273"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8CFA0DFE-4612-9046-9238-19E3489982C4}"/>
                  </a:ext>
                </a:extLst>
              </p:cNvPr>
              <p:cNvSpPr/>
              <p:nvPr/>
            </p:nvSpPr>
            <p:spPr>
              <a:xfrm>
                <a:off x="6186590" y="1673601"/>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𝟔</m:t>
                          </m:r>
                        </m:sub>
                      </m:sSub>
                    </m:oMath>
                  </m:oMathPara>
                </a14:m>
                <a:endParaRPr lang="en-CN" b="1" dirty="0">
                  <a:solidFill>
                    <a:schemeClr val="tx1"/>
                  </a:solidFill>
                </a:endParaRPr>
              </a:p>
            </p:txBody>
          </p:sp>
        </mc:Choice>
        <mc:Fallback xmlns="">
          <p:sp>
            <p:nvSpPr>
              <p:cNvPr id="13" name="Rounded Rectangle 12">
                <a:extLst>
                  <a:ext uri="{FF2B5EF4-FFF2-40B4-BE49-F238E27FC236}">
                    <a16:creationId xmlns:a16="http://schemas.microsoft.com/office/drawing/2014/main" id="{8CFA0DFE-4612-9046-9238-19E3489982C4}"/>
                  </a:ext>
                </a:extLst>
              </p:cNvPr>
              <p:cNvSpPr>
                <a:spLocks noRot="1" noChangeAspect="1" noMove="1" noResize="1" noEditPoints="1" noAdjustHandles="1" noChangeArrowheads="1" noChangeShapeType="1" noTextEdit="1"/>
              </p:cNvSpPr>
              <p:nvPr/>
            </p:nvSpPr>
            <p:spPr>
              <a:xfrm>
                <a:off x="6186590" y="1673601"/>
                <a:ext cx="410631" cy="426497"/>
              </a:xfrm>
              <a:prstGeom prst="roundRect">
                <a:avLst/>
              </a:prstGeom>
              <a:blipFill>
                <a:blip r:embed="rId9"/>
                <a:stretch>
                  <a:fillRect l="-27273"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358577E5-867F-4D44-AE0D-B25B034137EA}"/>
                  </a:ext>
                </a:extLst>
              </p:cNvPr>
              <p:cNvSpPr/>
              <p:nvPr/>
            </p:nvSpPr>
            <p:spPr>
              <a:xfrm>
                <a:off x="7094446" y="1673600"/>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𝒎</m:t>
                          </m:r>
                        </m:sub>
                      </m:sSub>
                    </m:oMath>
                  </m:oMathPara>
                </a14:m>
                <a:endParaRPr lang="en-CN" b="1" dirty="0">
                  <a:solidFill>
                    <a:schemeClr val="tx1"/>
                  </a:solidFill>
                </a:endParaRPr>
              </a:p>
            </p:txBody>
          </p:sp>
        </mc:Choice>
        <mc:Fallback xmlns="">
          <p:sp>
            <p:nvSpPr>
              <p:cNvPr id="14" name="Rounded Rectangle 13">
                <a:extLst>
                  <a:ext uri="{FF2B5EF4-FFF2-40B4-BE49-F238E27FC236}">
                    <a16:creationId xmlns:a16="http://schemas.microsoft.com/office/drawing/2014/main" id="{358577E5-867F-4D44-AE0D-B25B034137EA}"/>
                  </a:ext>
                </a:extLst>
              </p:cNvPr>
              <p:cNvSpPr>
                <a:spLocks noRot="1" noChangeAspect="1" noMove="1" noResize="1" noEditPoints="1" noAdjustHandles="1" noChangeArrowheads="1" noChangeShapeType="1" noTextEdit="1"/>
              </p:cNvSpPr>
              <p:nvPr/>
            </p:nvSpPr>
            <p:spPr>
              <a:xfrm>
                <a:off x="7094446" y="1673600"/>
                <a:ext cx="410631" cy="426497"/>
              </a:xfrm>
              <a:prstGeom prst="roundRect">
                <a:avLst/>
              </a:prstGeom>
              <a:blipFill>
                <a:blip r:embed="rId10"/>
                <a:stretch>
                  <a:fillRect l="-33333"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50D0B2E-2E92-4B4E-BCF4-E88395C5E160}"/>
                  </a:ext>
                </a:extLst>
              </p:cNvPr>
              <p:cNvSpPr txBox="1"/>
              <p:nvPr/>
            </p:nvSpPr>
            <p:spPr>
              <a:xfrm>
                <a:off x="6742248" y="1673601"/>
                <a:ext cx="24205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15" name="TextBox 14">
                <a:extLst>
                  <a:ext uri="{FF2B5EF4-FFF2-40B4-BE49-F238E27FC236}">
                    <a16:creationId xmlns:a16="http://schemas.microsoft.com/office/drawing/2014/main" id="{850D0B2E-2E92-4B4E-BCF4-E88395C5E160}"/>
                  </a:ext>
                </a:extLst>
              </p:cNvPr>
              <p:cNvSpPr txBox="1">
                <a:spLocks noRot="1" noChangeAspect="1" noMove="1" noResize="1" noEditPoints="1" noAdjustHandles="1" noChangeArrowheads="1" noChangeShapeType="1" noTextEdit="1"/>
              </p:cNvSpPr>
              <p:nvPr/>
            </p:nvSpPr>
            <p:spPr>
              <a:xfrm>
                <a:off x="6742248" y="1673601"/>
                <a:ext cx="242053" cy="276999"/>
              </a:xfrm>
              <a:prstGeom prst="rect">
                <a:avLst/>
              </a:prstGeom>
              <a:blipFill>
                <a:blip r:embed="rId11"/>
                <a:stretch>
                  <a:fillRect/>
                </a:stretch>
              </a:blipFill>
            </p:spPr>
            <p:txBody>
              <a:bodyPr/>
              <a:lstStyle/>
              <a:p>
                <a:r>
                  <a:rPr lang="en-CN">
                    <a:noFill/>
                  </a:rPr>
                  <a:t> </a:t>
                </a:r>
              </a:p>
            </p:txBody>
          </p:sp>
        </mc:Fallback>
      </mc:AlternateContent>
      <p:sp>
        <p:nvSpPr>
          <p:cNvPr id="16" name="TextBox 15">
            <a:extLst>
              <a:ext uri="{FF2B5EF4-FFF2-40B4-BE49-F238E27FC236}">
                <a16:creationId xmlns:a16="http://schemas.microsoft.com/office/drawing/2014/main" id="{767AAB77-AD2C-D04F-8BFC-109EE5BC231D}"/>
              </a:ext>
            </a:extLst>
          </p:cNvPr>
          <p:cNvSpPr txBox="1"/>
          <p:nvPr/>
        </p:nvSpPr>
        <p:spPr>
          <a:xfrm>
            <a:off x="2693937" y="1730765"/>
            <a:ext cx="367408" cy="369332"/>
          </a:xfrm>
          <a:prstGeom prst="rect">
            <a:avLst/>
          </a:prstGeom>
          <a:noFill/>
        </p:spPr>
        <p:txBody>
          <a:bodyPr wrap="none" rtlCol="0">
            <a:spAutoFit/>
          </a:bodyPr>
          <a:lstStyle/>
          <a:p>
            <a:pPr algn="l"/>
            <a:r>
              <a:rPr lang="en-US" altLang="zh-CN" b="1" dirty="0">
                <a:latin typeface="+mn-ea"/>
              </a:rPr>
              <a:t>D</a:t>
            </a:r>
            <a:endParaRPr lang="en-CN" b="1" dirty="0">
              <a:latin typeface="+mn-ea"/>
            </a:endParaRPr>
          </a:p>
        </p:txBody>
      </p:sp>
      <p:cxnSp>
        <p:nvCxnSpPr>
          <p:cNvPr id="17" name="Straight Arrow Connector 16">
            <a:extLst>
              <a:ext uri="{FF2B5EF4-FFF2-40B4-BE49-F238E27FC236}">
                <a16:creationId xmlns:a16="http://schemas.microsoft.com/office/drawing/2014/main" id="{9BDF315C-DBC4-DF42-B474-7714F1D4D7BC}"/>
              </a:ext>
            </a:extLst>
          </p:cNvPr>
          <p:cNvCxnSpPr/>
          <p:nvPr/>
        </p:nvCxnSpPr>
        <p:spPr>
          <a:xfrm>
            <a:off x="5278733" y="2207230"/>
            <a:ext cx="0" cy="31251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4EB817C-699E-AA45-BCC0-61154AB171D0}"/>
              </a:ext>
            </a:extLst>
          </p:cNvPr>
          <p:cNvSpPr txBox="1"/>
          <p:nvPr/>
        </p:nvSpPr>
        <p:spPr>
          <a:xfrm>
            <a:off x="5361741" y="2207230"/>
            <a:ext cx="1707519" cy="276999"/>
          </a:xfrm>
          <a:prstGeom prst="rect">
            <a:avLst/>
          </a:prstGeom>
          <a:noFill/>
        </p:spPr>
        <p:txBody>
          <a:bodyPr wrap="none" rtlCol="0">
            <a:spAutoFit/>
          </a:bodyPr>
          <a:lstStyle/>
          <a:p>
            <a:pPr algn="l"/>
            <a:r>
              <a:rPr lang="en-US" altLang="zh-CN" sz="1200" b="1" dirty="0">
                <a:latin typeface="+mn-ea"/>
              </a:rPr>
              <a:t>Bootstrap</a:t>
            </a:r>
            <a:r>
              <a:rPr lang="zh-CN" altLang="en-US" sz="1200" b="1" dirty="0">
                <a:latin typeface="+mn-ea"/>
              </a:rPr>
              <a:t> </a:t>
            </a:r>
            <a:r>
              <a:rPr lang="en-US" altLang="zh-CN" sz="1200" b="1" dirty="0">
                <a:latin typeface="+mn-ea"/>
              </a:rPr>
              <a:t>sampling</a:t>
            </a:r>
            <a:endParaRPr lang="en-CN" sz="1200" b="1" dirty="0">
              <a:latin typeface="+mn-ea"/>
            </a:endParaRPr>
          </a:p>
        </p:txBody>
      </p:sp>
      <p:grpSp>
        <p:nvGrpSpPr>
          <p:cNvPr id="19" name="Group 18">
            <a:extLst>
              <a:ext uri="{FF2B5EF4-FFF2-40B4-BE49-F238E27FC236}">
                <a16:creationId xmlns:a16="http://schemas.microsoft.com/office/drawing/2014/main" id="{1AFEB81F-F134-7D42-925D-279F06B49733}"/>
              </a:ext>
            </a:extLst>
          </p:cNvPr>
          <p:cNvGrpSpPr/>
          <p:nvPr/>
        </p:nvGrpSpPr>
        <p:grpSpPr>
          <a:xfrm>
            <a:off x="2770656" y="2658640"/>
            <a:ext cx="4690315" cy="426502"/>
            <a:chOff x="1424557" y="2511704"/>
            <a:chExt cx="4690315" cy="426502"/>
          </a:xfrm>
        </p:grpSpPr>
        <mc:AlternateContent xmlns:mc="http://schemas.openxmlformats.org/markup-compatibility/2006" xmlns:a14="http://schemas.microsoft.com/office/drawing/2010/main">
          <mc:Choice Requires="a14">
            <p:sp>
              <p:nvSpPr>
                <p:cNvPr id="63" name="Rounded Rectangle 62">
                  <a:extLst>
                    <a:ext uri="{FF2B5EF4-FFF2-40B4-BE49-F238E27FC236}">
                      <a16:creationId xmlns:a16="http://schemas.microsoft.com/office/drawing/2014/main" id="{878B03F7-42C2-6E41-83A9-8A0C96531CAC}"/>
                    </a:ext>
                  </a:extLst>
                </p:cNvPr>
                <p:cNvSpPr/>
                <p:nvPr/>
              </p:nvSpPr>
              <p:spPr>
                <a:xfrm>
                  <a:off x="2010671" y="2511709"/>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𝟏</m:t>
                            </m:r>
                          </m:sub>
                        </m:sSub>
                      </m:oMath>
                    </m:oMathPara>
                  </a14:m>
                  <a:endParaRPr lang="en-CN" b="1" dirty="0">
                    <a:solidFill>
                      <a:schemeClr val="tx1"/>
                    </a:solidFill>
                  </a:endParaRPr>
                </a:p>
              </p:txBody>
            </p:sp>
          </mc:Choice>
          <mc:Fallback xmlns="">
            <p:sp>
              <p:nvSpPr>
                <p:cNvPr id="38" name="Rounded Rectangle 37">
                  <a:extLst>
                    <a:ext uri="{FF2B5EF4-FFF2-40B4-BE49-F238E27FC236}">
                      <a16:creationId xmlns:a16="http://schemas.microsoft.com/office/drawing/2014/main" id="{F81F6AD0-570C-C843-88CC-554ADD8CB8A4}"/>
                    </a:ext>
                  </a:extLst>
                </p:cNvPr>
                <p:cNvSpPr>
                  <a:spLocks noRot="1" noChangeAspect="1" noMove="1" noResize="1" noEditPoints="1" noAdjustHandles="1" noChangeArrowheads="1" noChangeShapeType="1" noTextEdit="1"/>
                </p:cNvSpPr>
                <p:nvPr/>
              </p:nvSpPr>
              <p:spPr>
                <a:xfrm>
                  <a:off x="2010671" y="2511709"/>
                  <a:ext cx="410631" cy="426497"/>
                </a:xfrm>
                <a:prstGeom prst="roundRect">
                  <a:avLst/>
                </a:prstGeom>
                <a:blipFill>
                  <a:blip r:embed="rId12"/>
                  <a:stretch>
                    <a:fillRect l="-27273"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4" name="Rounded Rectangle 63">
                  <a:extLst>
                    <a:ext uri="{FF2B5EF4-FFF2-40B4-BE49-F238E27FC236}">
                      <a16:creationId xmlns:a16="http://schemas.microsoft.com/office/drawing/2014/main" id="{E86501C9-4E82-9144-9A6C-3249E4B360B0}"/>
                    </a:ext>
                  </a:extLst>
                </p:cNvPr>
                <p:cNvSpPr/>
                <p:nvPr/>
              </p:nvSpPr>
              <p:spPr>
                <a:xfrm>
                  <a:off x="2568185" y="2511708"/>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𝟐</m:t>
                            </m:r>
                          </m:sub>
                        </m:sSub>
                      </m:oMath>
                    </m:oMathPara>
                  </a14:m>
                  <a:endParaRPr lang="en-CN" b="1" dirty="0">
                    <a:solidFill>
                      <a:schemeClr val="tx1"/>
                    </a:solidFill>
                  </a:endParaRPr>
                </a:p>
              </p:txBody>
            </p:sp>
          </mc:Choice>
          <mc:Fallback xmlns="">
            <p:sp>
              <p:nvSpPr>
                <p:cNvPr id="39" name="Rounded Rectangle 38">
                  <a:extLst>
                    <a:ext uri="{FF2B5EF4-FFF2-40B4-BE49-F238E27FC236}">
                      <a16:creationId xmlns:a16="http://schemas.microsoft.com/office/drawing/2014/main" id="{BA659DDD-701E-5241-83D5-3C3D440B2C03}"/>
                    </a:ext>
                  </a:extLst>
                </p:cNvPr>
                <p:cNvSpPr>
                  <a:spLocks noRot="1" noChangeAspect="1" noMove="1" noResize="1" noEditPoints="1" noAdjustHandles="1" noChangeArrowheads="1" noChangeShapeType="1" noTextEdit="1"/>
                </p:cNvSpPr>
                <p:nvPr/>
              </p:nvSpPr>
              <p:spPr>
                <a:xfrm>
                  <a:off x="2568185" y="2511708"/>
                  <a:ext cx="410631" cy="426497"/>
                </a:xfrm>
                <a:prstGeom prst="roundRect">
                  <a:avLst/>
                </a:prstGeom>
                <a:blipFill>
                  <a:blip r:embed="rId13"/>
                  <a:stretch>
                    <a:fillRect l="-30303"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5" name="Rounded Rectangle 64">
                  <a:extLst>
                    <a:ext uri="{FF2B5EF4-FFF2-40B4-BE49-F238E27FC236}">
                      <a16:creationId xmlns:a16="http://schemas.microsoft.com/office/drawing/2014/main" id="{2396D3EC-9501-D948-9399-1F5607E020BD}"/>
                    </a:ext>
                  </a:extLst>
                </p:cNvPr>
                <p:cNvSpPr/>
                <p:nvPr/>
              </p:nvSpPr>
              <p:spPr>
                <a:xfrm>
                  <a:off x="3125699" y="2511708"/>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𝟑</m:t>
                            </m:r>
                          </m:sub>
                        </m:sSub>
                      </m:oMath>
                    </m:oMathPara>
                  </a14:m>
                  <a:endParaRPr lang="en-CN" b="1" dirty="0">
                    <a:solidFill>
                      <a:schemeClr val="tx1"/>
                    </a:solidFill>
                  </a:endParaRPr>
                </a:p>
              </p:txBody>
            </p:sp>
          </mc:Choice>
          <mc:Fallback xmlns="">
            <p:sp>
              <p:nvSpPr>
                <p:cNvPr id="41" name="Rounded Rectangle 40">
                  <a:extLst>
                    <a:ext uri="{FF2B5EF4-FFF2-40B4-BE49-F238E27FC236}">
                      <a16:creationId xmlns:a16="http://schemas.microsoft.com/office/drawing/2014/main" id="{6A1AE72C-7B46-3241-A7CC-4334AF683339}"/>
                    </a:ext>
                  </a:extLst>
                </p:cNvPr>
                <p:cNvSpPr>
                  <a:spLocks noRot="1" noChangeAspect="1" noMove="1" noResize="1" noEditPoints="1" noAdjustHandles="1" noChangeArrowheads="1" noChangeShapeType="1" noTextEdit="1"/>
                </p:cNvSpPr>
                <p:nvPr/>
              </p:nvSpPr>
              <p:spPr>
                <a:xfrm>
                  <a:off x="3125699" y="2511708"/>
                  <a:ext cx="410631" cy="426497"/>
                </a:xfrm>
                <a:prstGeom prst="roundRect">
                  <a:avLst/>
                </a:prstGeom>
                <a:blipFill>
                  <a:blip r:embed="rId14"/>
                  <a:stretch>
                    <a:fillRect l="-27273"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6" name="Rounded Rectangle 65">
                  <a:extLst>
                    <a:ext uri="{FF2B5EF4-FFF2-40B4-BE49-F238E27FC236}">
                      <a16:creationId xmlns:a16="http://schemas.microsoft.com/office/drawing/2014/main" id="{1DAADE44-5F0B-D04C-B3AD-2C717070E811}"/>
                    </a:ext>
                  </a:extLst>
                </p:cNvPr>
                <p:cNvSpPr/>
                <p:nvPr/>
              </p:nvSpPr>
              <p:spPr>
                <a:xfrm>
                  <a:off x="3683213" y="2511707"/>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𝟒</m:t>
                            </m:r>
                          </m:sub>
                        </m:sSub>
                      </m:oMath>
                    </m:oMathPara>
                  </a14:m>
                  <a:endParaRPr lang="en-CN" b="1" dirty="0">
                    <a:solidFill>
                      <a:schemeClr val="tx1"/>
                    </a:solidFill>
                  </a:endParaRPr>
                </a:p>
              </p:txBody>
            </p:sp>
          </mc:Choice>
          <mc:Fallback xmlns="">
            <p:sp>
              <p:nvSpPr>
                <p:cNvPr id="42" name="Rounded Rectangle 41">
                  <a:extLst>
                    <a:ext uri="{FF2B5EF4-FFF2-40B4-BE49-F238E27FC236}">
                      <a16:creationId xmlns:a16="http://schemas.microsoft.com/office/drawing/2014/main" id="{0FD8259D-6336-4D42-9B6E-D30018BF2DE0}"/>
                    </a:ext>
                  </a:extLst>
                </p:cNvPr>
                <p:cNvSpPr>
                  <a:spLocks noRot="1" noChangeAspect="1" noMove="1" noResize="1" noEditPoints="1" noAdjustHandles="1" noChangeArrowheads="1" noChangeShapeType="1" noTextEdit="1"/>
                </p:cNvSpPr>
                <p:nvPr/>
              </p:nvSpPr>
              <p:spPr>
                <a:xfrm>
                  <a:off x="3683213" y="2511707"/>
                  <a:ext cx="410631" cy="426497"/>
                </a:xfrm>
                <a:prstGeom prst="roundRect">
                  <a:avLst/>
                </a:prstGeom>
                <a:blipFill>
                  <a:blip r:embed="rId15"/>
                  <a:stretch>
                    <a:fillRect l="-26471"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7" name="Rounded Rectangle 66">
                  <a:extLst>
                    <a:ext uri="{FF2B5EF4-FFF2-40B4-BE49-F238E27FC236}">
                      <a16:creationId xmlns:a16="http://schemas.microsoft.com/office/drawing/2014/main" id="{6846B9F3-9F6C-5642-B5AE-4D5DE75CB332}"/>
                    </a:ext>
                  </a:extLst>
                </p:cNvPr>
                <p:cNvSpPr/>
                <p:nvPr/>
              </p:nvSpPr>
              <p:spPr>
                <a:xfrm>
                  <a:off x="4240727" y="2511706"/>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𝟓</m:t>
                            </m:r>
                          </m:sub>
                        </m:sSub>
                      </m:oMath>
                    </m:oMathPara>
                  </a14:m>
                  <a:endParaRPr lang="en-CN" b="1" dirty="0">
                    <a:solidFill>
                      <a:schemeClr val="tx1"/>
                    </a:solidFill>
                  </a:endParaRPr>
                </a:p>
              </p:txBody>
            </p:sp>
          </mc:Choice>
          <mc:Fallback xmlns="">
            <p:sp>
              <p:nvSpPr>
                <p:cNvPr id="43" name="Rounded Rectangle 42">
                  <a:extLst>
                    <a:ext uri="{FF2B5EF4-FFF2-40B4-BE49-F238E27FC236}">
                      <a16:creationId xmlns:a16="http://schemas.microsoft.com/office/drawing/2014/main" id="{C3939D36-AFA5-3A41-B597-8ABAC7FF726F}"/>
                    </a:ext>
                  </a:extLst>
                </p:cNvPr>
                <p:cNvSpPr>
                  <a:spLocks noRot="1" noChangeAspect="1" noMove="1" noResize="1" noEditPoints="1" noAdjustHandles="1" noChangeArrowheads="1" noChangeShapeType="1" noTextEdit="1"/>
                </p:cNvSpPr>
                <p:nvPr/>
              </p:nvSpPr>
              <p:spPr>
                <a:xfrm>
                  <a:off x="4240727" y="2511706"/>
                  <a:ext cx="410631" cy="426497"/>
                </a:xfrm>
                <a:prstGeom prst="roundRect">
                  <a:avLst/>
                </a:prstGeom>
                <a:blipFill>
                  <a:blip r:embed="rId16"/>
                  <a:stretch>
                    <a:fillRect l="-30303"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8" name="Rounded Rectangle 67">
                  <a:extLst>
                    <a:ext uri="{FF2B5EF4-FFF2-40B4-BE49-F238E27FC236}">
                      <a16:creationId xmlns:a16="http://schemas.microsoft.com/office/drawing/2014/main" id="{9D124100-F5BC-1041-ACB4-EE07C2C7B4DA}"/>
                    </a:ext>
                  </a:extLst>
                </p:cNvPr>
                <p:cNvSpPr/>
                <p:nvPr/>
              </p:nvSpPr>
              <p:spPr>
                <a:xfrm>
                  <a:off x="4796385" y="2511705"/>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𝟔</m:t>
                            </m:r>
                          </m:sub>
                        </m:sSub>
                      </m:oMath>
                    </m:oMathPara>
                  </a14:m>
                  <a:endParaRPr lang="en-CN" b="1" dirty="0">
                    <a:solidFill>
                      <a:schemeClr val="tx1"/>
                    </a:solidFill>
                  </a:endParaRPr>
                </a:p>
              </p:txBody>
            </p:sp>
          </mc:Choice>
          <mc:Fallback xmlns="">
            <p:sp>
              <p:nvSpPr>
                <p:cNvPr id="45" name="Rounded Rectangle 44">
                  <a:extLst>
                    <a:ext uri="{FF2B5EF4-FFF2-40B4-BE49-F238E27FC236}">
                      <a16:creationId xmlns:a16="http://schemas.microsoft.com/office/drawing/2014/main" id="{D17A8A7F-92A2-A642-AC88-2372A06D0063}"/>
                    </a:ext>
                  </a:extLst>
                </p:cNvPr>
                <p:cNvSpPr>
                  <a:spLocks noRot="1" noChangeAspect="1" noMove="1" noResize="1" noEditPoints="1" noAdjustHandles="1" noChangeArrowheads="1" noChangeShapeType="1" noTextEdit="1"/>
                </p:cNvSpPr>
                <p:nvPr/>
              </p:nvSpPr>
              <p:spPr>
                <a:xfrm>
                  <a:off x="4796385" y="2511705"/>
                  <a:ext cx="410631" cy="426497"/>
                </a:xfrm>
                <a:prstGeom prst="roundRect">
                  <a:avLst/>
                </a:prstGeom>
                <a:blipFill>
                  <a:blip r:embed="rId17"/>
                  <a:stretch>
                    <a:fillRect l="-27273"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9" name="Rounded Rectangle 68">
                  <a:extLst>
                    <a:ext uri="{FF2B5EF4-FFF2-40B4-BE49-F238E27FC236}">
                      <a16:creationId xmlns:a16="http://schemas.microsoft.com/office/drawing/2014/main" id="{214FB0A9-09B1-B140-9309-89F2D046D799}"/>
                    </a:ext>
                  </a:extLst>
                </p:cNvPr>
                <p:cNvSpPr/>
                <p:nvPr/>
              </p:nvSpPr>
              <p:spPr>
                <a:xfrm>
                  <a:off x="5704241" y="2511704"/>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𝒎</m:t>
                            </m:r>
                          </m:sub>
                        </m:sSub>
                      </m:oMath>
                    </m:oMathPara>
                  </a14:m>
                  <a:endParaRPr lang="en-CN" b="1" dirty="0">
                    <a:solidFill>
                      <a:schemeClr val="tx1"/>
                    </a:solidFill>
                  </a:endParaRPr>
                </a:p>
              </p:txBody>
            </p:sp>
          </mc:Choice>
          <mc:Fallback xmlns="">
            <p:sp>
              <p:nvSpPr>
                <p:cNvPr id="49" name="Rounded Rectangle 48">
                  <a:extLst>
                    <a:ext uri="{FF2B5EF4-FFF2-40B4-BE49-F238E27FC236}">
                      <a16:creationId xmlns:a16="http://schemas.microsoft.com/office/drawing/2014/main" id="{0F948DB0-6CD7-1C4A-A38F-9A61BA254A30}"/>
                    </a:ext>
                  </a:extLst>
                </p:cNvPr>
                <p:cNvSpPr>
                  <a:spLocks noRot="1" noChangeAspect="1" noMove="1" noResize="1" noEditPoints="1" noAdjustHandles="1" noChangeArrowheads="1" noChangeShapeType="1" noTextEdit="1"/>
                </p:cNvSpPr>
                <p:nvPr/>
              </p:nvSpPr>
              <p:spPr>
                <a:xfrm>
                  <a:off x="5704241" y="2511704"/>
                  <a:ext cx="410631" cy="426497"/>
                </a:xfrm>
                <a:prstGeom prst="roundRect">
                  <a:avLst/>
                </a:prstGeom>
                <a:blipFill>
                  <a:blip r:embed="rId18"/>
                  <a:stretch>
                    <a:fillRect l="-36364" b="-11429"/>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0C88D852-84DC-FB4F-A38B-91B664D608FF}"/>
                    </a:ext>
                  </a:extLst>
                </p:cNvPr>
                <p:cNvSpPr txBox="1"/>
                <p:nvPr/>
              </p:nvSpPr>
              <p:spPr>
                <a:xfrm>
                  <a:off x="5352043" y="2511705"/>
                  <a:ext cx="24205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51" name="TextBox 50">
                  <a:extLst>
                    <a:ext uri="{FF2B5EF4-FFF2-40B4-BE49-F238E27FC236}">
                      <a16:creationId xmlns:a16="http://schemas.microsoft.com/office/drawing/2014/main" id="{9FFF1172-24FB-D640-BE70-369D9A1FB709}"/>
                    </a:ext>
                  </a:extLst>
                </p:cNvPr>
                <p:cNvSpPr txBox="1">
                  <a:spLocks noRot="1" noChangeAspect="1" noMove="1" noResize="1" noEditPoints="1" noAdjustHandles="1" noChangeArrowheads="1" noChangeShapeType="1" noTextEdit="1"/>
                </p:cNvSpPr>
                <p:nvPr/>
              </p:nvSpPr>
              <p:spPr>
                <a:xfrm>
                  <a:off x="5352043" y="2511705"/>
                  <a:ext cx="242053" cy="276999"/>
                </a:xfrm>
                <a:prstGeom prst="rect">
                  <a:avLst/>
                </a:prstGeom>
                <a:blipFill>
                  <a:blip r:embed="rId19"/>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4E7A8E64-1565-F04C-BA63-D1DAE0CE299A}"/>
                    </a:ext>
                  </a:extLst>
                </p:cNvPr>
                <p:cNvSpPr txBox="1"/>
                <p:nvPr/>
              </p:nvSpPr>
              <p:spPr>
                <a:xfrm>
                  <a:off x="1424557" y="2557304"/>
                  <a:ext cx="411458" cy="287386"/>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𝑏𝑠</m:t>
                            </m:r>
                          </m:sub>
                          <m:sup>
                            <m:r>
                              <a:rPr lang="en-US" altLang="zh-CN" b="0" i="1" smtClean="0">
                                <a:latin typeface="Cambria Math" panose="02040503050406030204" pitchFamily="18" charset="0"/>
                              </a:rPr>
                              <m:t>1</m:t>
                            </m:r>
                          </m:sup>
                        </m:sSubSup>
                      </m:oMath>
                    </m:oMathPara>
                  </a14:m>
                  <a:endParaRPr lang="en-CN" dirty="0">
                    <a:latin typeface="+mn-ea"/>
                  </a:endParaRPr>
                </a:p>
              </p:txBody>
            </p:sp>
          </mc:Choice>
          <mc:Fallback xmlns="">
            <p:sp>
              <p:nvSpPr>
                <p:cNvPr id="10" name="TextBox 9">
                  <a:extLst>
                    <a:ext uri="{FF2B5EF4-FFF2-40B4-BE49-F238E27FC236}">
                      <a16:creationId xmlns:a16="http://schemas.microsoft.com/office/drawing/2014/main" id="{5CFE3462-E73C-DA4F-9F65-A47F849106BD}"/>
                    </a:ext>
                  </a:extLst>
                </p:cNvPr>
                <p:cNvSpPr txBox="1">
                  <a:spLocks noRot="1" noChangeAspect="1" noMove="1" noResize="1" noEditPoints="1" noAdjustHandles="1" noChangeArrowheads="1" noChangeShapeType="1" noTextEdit="1"/>
                </p:cNvSpPr>
                <p:nvPr/>
              </p:nvSpPr>
              <p:spPr>
                <a:xfrm>
                  <a:off x="1424557" y="2557304"/>
                  <a:ext cx="411458" cy="287386"/>
                </a:xfrm>
                <a:prstGeom prst="rect">
                  <a:avLst/>
                </a:prstGeom>
                <a:blipFill>
                  <a:blip r:embed="rId20"/>
                  <a:stretch>
                    <a:fillRect l="-12121" r="-3030" b="-16667"/>
                  </a:stretch>
                </a:blipFill>
              </p:spPr>
              <p:txBody>
                <a:bodyPr/>
                <a:lstStyle/>
                <a:p>
                  <a:r>
                    <a:rPr lang="en-CN">
                      <a:noFill/>
                    </a:rPr>
                    <a:t> </a:t>
                  </a:r>
                </a:p>
              </p:txBody>
            </p:sp>
          </mc:Fallback>
        </mc:AlternateContent>
      </p:grpSp>
      <p:grpSp>
        <p:nvGrpSpPr>
          <p:cNvPr id="20" name="Group 19">
            <a:extLst>
              <a:ext uri="{FF2B5EF4-FFF2-40B4-BE49-F238E27FC236}">
                <a16:creationId xmlns:a16="http://schemas.microsoft.com/office/drawing/2014/main" id="{F877E218-2F21-EC40-8D5E-328C6DCD2822}"/>
              </a:ext>
            </a:extLst>
          </p:cNvPr>
          <p:cNvGrpSpPr/>
          <p:nvPr/>
        </p:nvGrpSpPr>
        <p:grpSpPr>
          <a:xfrm>
            <a:off x="2778637" y="3328400"/>
            <a:ext cx="4690315" cy="426502"/>
            <a:chOff x="1424557" y="2511704"/>
            <a:chExt cx="4690315" cy="426502"/>
          </a:xfrm>
        </p:grpSpPr>
        <mc:AlternateContent xmlns:mc="http://schemas.openxmlformats.org/markup-compatibility/2006" xmlns:a14="http://schemas.microsoft.com/office/drawing/2010/main">
          <mc:Choice Requires="a14">
            <p:sp>
              <p:nvSpPr>
                <p:cNvPr id="54" name="Rounded Rectangle 53">
                  <a:extLst>
                    <a:ext uri="{FF2B5EF4-FFF2-40B4-BE49-F238E27FC236}">
                      <a16:creationId xmlns:a16="http://schemas.microsoft.com/office/drawing/2014/main" id="{BB7FDC74-E019-BA40-B3FC-38156F7589D6}"/>
                    </a:ext>
                  </a:extLst>
                </p:cNvPr>
                <p:cNvSpPr/>
                <p:nvPr/>
              </p:nvSpPr>
              <p:spPr>
                <a:xfrm>
                  <a:off x="2010671" y="2511709"/>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𝟏</m:t>
                            </m:r>
                          </m:sub>
                        </m:sSub>
                      </m:oMath>
                    </m:oMathPara>
                  </a14:m>
                  <a:endParaRPr lang="en-CN" b="1" dirty="0">
                    <a:solidFill>
                      <a:schemeClr val="tx1"/>
                    </a:solidFill>
                  </a:endParaRPr>
                </a:p>
              </p:txBody>
            </p:sp>
          </mc:Choice>
          <mc:Fallback xmlns="">
            <p:sp>
              <p:nvSpPr>
                <p:cNvPr id="53" name="Rounded Rectangle 52">
                  <a:extLst>
                    <a:ext uri="{FF2B5EF4-FFF2-40B4-BE49-F238E27FC236}">
                      <a16:creationId xmlns:a16="http://schemas.microsoft.com/office/drawing/2014/main" id="{43FC7B6A-C246-5F44-A4C3-824027B6BB5D}"/>
                    </a:ext>
                  </a:extLst>
                </p:cNvPr>
                <p:cNvSpPr>
                  <a:spLocks noRot="1" noChangeAspect="1" noMove="1" noResize="1" noEditPoints="1" noAdjustHandles="1" noChangeArrowheads="1" noChangeShapeType="1" noTextEdit="1"/>
                </p:cNvSpPr>
                <p:nvPr/>
              </p:nvSpPr>
              <p:spPr>
                <a:xfrm>
                  <a:off x="2010671" y="2511709"/>
                  <a:ext cx="410631" cy="426497"/>
                </a:xfrm>
                <a:prstGeom prst="roundRect">
                  <a:avLst/>
                </a:prstGeom>
                <a:blipFill>
                  <a:blip r:embed="rId21"/>
                  <a:stretch>
                    <a:fillRect l="-26471"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5" name="Rounded Rectangle 54">
                  <a:extLst>
                    <a:ext uri="{FF2B5EF4-FFF2-40B4-BE49-F238E27FC236}">
                      <a16:creationId xmlns:a16="http://schemas.microsoft.com/office/drawing/2014/main" id="{7DB3B034-A9A1-7F43-BE3C-944ABE236D20}"/>
                    </a:ext>
                  </a:extLst>
                </p:cNvPr>
                <p:cNvSpPr/>
                <p:nvPr/>
              </p:nvSpPr>
              <p:spPr>
                <a:xfrm>
                  <a:off x="2568185" y="2511708"/>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𝟐</m:t>
                            </m:r>
                          </m:sub>
                        </m:sSub>
                      </m:oMath>
                    </m:oMathPara>
                  </a14:m>
                  <a:endParaRPr lang="en-CN" b="1" dirty="0">
                    <a:solidFill>
                      <a:schemeClr val="tx1"/>
                    </a:solidFill>
                  </a:endParaRPr>
                </a:p>
              </p:txBody>
            </p:sp>
          </mc:Choice>
          <mc:Fallback xmlns="">
            <p:sp>
              <p:nvSpPr>
                <p:cNvPr id="54" name="Rounded Rectangle 53">
                  <a:extLst>
                    <a:ext uri="{FF2B5EF4-FFF2-40B4-BE49-F238E27FC236}">
                      <a16:creationId xmlns:a16="http://schemas.microsoft.com/office/drawing/2014/main" id="{763E62B0-DFEB-4B41-A24F-671C2ACD817E}"/>
                    </a:ext>
                  </a:extLst>
                </p:cNvPr>
                <p:cNvSpPr>
                  <a:spLocks noRot="1" noChangeAspect="1" noMove="1" noResize="1" noEditPoints="1" noAdjustHandles="1" noChangeArrowheads="1" noChangeShapeType="1" noTextEdit="1"/>
                </p:cNvSpPr>
                <p:nvPr/>
              </p:nvSpPr>
              <p:spPr>
                <a:xfrm>
                  <a:off x="2568185" y="2511708"/>
                  <a:ext cx="410631" cy="426497"/>
                </a:xfrm>
                <a:prstGeom prst="roundRect">
                  <a:avLst/>
                </a:prstGeom>
                <a:blipFill>
                  <a:blip r:embed="rId22"/>
                  <a:stretch>
                    <a:fillRect l="-3030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6" name="Rounded Rectangle 55">
                  <a:extLst>
                    <a:ext uri="{FF2B5EF4-FFF2-40B4-BE49-F238E27FC236}">
                      <a16:creationId xmlns:a16="http://schemas.microsoft.com/office/drawing/2014/main" id="{10ED1002-A362-604B-B3A6-AE5CF5E78AB6}"/>
                    </a:ext>
                  </a:extLst>
                </p:cNvPr>
                <p:cNvSpPr/>
                <p:nvPr/>
              </p:nvSpPr>
              <p:spPr>
                <a:xfrm>
                  <a:off x="3125699" y="2511708"/>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𝟑</m:t>
                            </m:r>
                          </m:sub>
                        </m:sSub>
                      </m:oMath>
                    </m:oMathPara>
                  </a14:m>
                  <a:endParaRPr lang="en-CN" b="1" dirty="0">
                    <a:solidFill>
                      <a:schemeClr val="tx1"/>
                    </a:solidFill>
                  </a:endParaRPr>
                </a:p>
              </p:txBody>
            </p:sp>
          </mc:Choice>
          <mc:Fallback xmlns="">
            <p:sp>
              <p:nvSpPr>
                <p:cNvPr id="55" name="Rounded Rectangle 54">
                  <a:extLst>
                    <a:ext uri="{FF2B5EF4-FFF2-40B4-BE49-F238E27FC236}">
                      <a16:creationId xmlns:a16="http://schemas.microsoft.com/office/drawing/2014/main" id="{5401DBF3-CC1F-1448-8999-CF2A184C4EB4}"/>
                    </a:ext>
                  </a:extLst>
                </p:cNvPr>
                <p:cNvSpPr>
                  <a:spLocks noRot="1" noChangeAspect="1" noMove="1" noResize="1" noEditPoints="1" noAdjustHandles="1" noChangeArrowheads="1" noChangeShapeType="1" noTextEdit="1"/>
                </p:cNvSpPr>
                <p:nvPr/>
              </p:nvSpPr>
              <p:spPr>
                <a:xfrm>
                  <a:off x="3125699" y="2511708"/>
                  <a:ext cx="410631" cy="426497"/>
                </a:xfrm>
                <a:prstGeom prst="roundRect">
                  <a:avLst/>
                </a:prstGeom>
                <a:blipFill>
                  <a:blip r:embed="rId23"/>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7" name="Rounded Rectangle 56">
                  <a:extLst>
                    <a:ext uri="{FF2B5EF4-FFF2-40B4-BE49-F238E27FC236}">
                      <a16:creationId xmlns:a16="http://schemas.microsoft.com/office/drawing/2014/main" id="{A6B0ABA3-7A2B-7A4D-BACB-832422B53481}"/>
                    </a:ext>
                  </a:extLst>
                </p:cNvPr>
                <p:cNvSpPr/>
                <p:nvPr/>
              </p:nvSpPr>
              <p:spPr>
                <a:xfrm>
                  <a:off x="3683213" y="2511707"/>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𝟒</m:t>
                            </m:r>
                          </m:sub>
                        </m:sSub>
                      </m:oMath>
                    </m:oMathPara>
                  </a14:m>
                  <a:endParaRPr lang="en-CN" b="1" dirty="0">
                    <a:solidFill>
                      <a:schemeClr val="tx1"/>
                    </a:solidFill>
                  </a:endParaRPr>
                </a:p>
              </p:txBody>
            </p:sp>
          </mc:Choice>
          <mc:Fallback xmlns="">
            <p:sp>
              <p:nvSpPr>
                <p:cNvPr id="56" name="Rounded Rectangle 55">
                  <a:extLst>
                    <a:ext uri="{FF2B5EF4-FFF2-40B4-BE49-F238E27FC236}">
                      <a16:creationId xmlns:a16="http://schemas.microsoft.com/office/drawing/2014/main" id="{96A352CC-9FBE-094A-96AA-1C3B0FD4DA9B}"/>
                    </a:ext>
                  </a:extLst>
                </p:cNvPr>
                <p:cNvSpPr>
                  <a:spLocks noRot="1" noChangeAspect="1" noMove="1" noResize="1" noEditPoints="1" noAdjustHandles="1" noChangeArrowheads="1" noChangeShapeType="1" noTextEdit="1"/>
                </p:cNvSpPr>
                <p:nvPr/>
              </p:nvSpPr>
              <p:spPr>
                <a:xfrm>
                  <a:off x="3683213" y="2511707"/>
                  <a:ext cx="410631" cy="426497"/>
                </a:xfrm>
                <a:prstGeom prst="roundRect">
                  <a:avLst/>
                </a:prstGeom>
                <a:blipFill>
                  <a:blip r:embed="rId24"/>
                  <a:stretch>
                    <a:fillRect l="-26471"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8" name="Rounded Rectangle 57">
                  <a:extLst>
                    <a:ext uri="{FF2B5EF4-FFF2-40B4-BE49-F238E27FC236}">
                      <a16:creationId xmlns:a16="http://schemas.microsoft.com/office/drawing/2014/main" id="{B8ADD9FD-EAB0-C947-9DB1-28622FEA66E0}"/>
                    </a:ext>
                  </a:extLst>
                </p:cNvPr>
                <p:cNvSpPr/>
                <p:nvPr/>
              </p:nvSpPr>
              <p:spPr>
                <a:xfrm>
                  <a:off x="4240727" y="2511706"/>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𝟓</m:t>
                            </m:r>
                          </m:sub>
                        </m:sSub>
                      </m:oMath>
                    </m:oMathPara>
                  </a14:m>
                  <a:endParaRPr lang="en-CN" b="1" dirty="0">
                    <a:solidFill>
                      <a:schemeClr val="tx1"/>
                    </a:solidFill>
                  </a:endParaRPr>
                </a:p>
              </p:txBody>
            </p:sp>
          </mc:Choice>
          <mc:Fallback xmlns="">
            <p:sp>
              <p:nvSpPr>
                <p:cNvPr id="57" name="Rounded Rectangle 56">
                  <a:extLst>
                    <a:ext uri="{FF2B5EF4-FFF2-40B4-BE49-F238E27FC236}">
                      <a16:creationId xmlns:a16="http://schemas.microsoft.com/office/drawing/2014/main" id="{9EFFC08A-5093-1748-B230-8FD6CDE7145A}"/>
                    </a:ext>
                  </a:extLst>
                </p:cNvPr>
                <p:cNvSpPr>
                  <a:spLocks noRot="1" noChangeAspect="1" noMove="1" noResize="1" noEditPoints="1" noAdjustHandles="1" noChangeArrowheads="1" noChangeShapeType="1" noTextEdit="1"/>
                </p:cNvSpPr>
                <p:nvPr/>
              </p:nvSpPr>
              <p:spPr>
                <a:xfrm>
                  <a:off x="4240727" y="2511706"/>
                  <a:ext cx="410631" cy="426497"/>
                </a:xfrm>
                <a:prstGeom prst="roundRect">
                  <a:avLst/>
                </a:prstGeom>
                <a:blipFill>
                  <a:blip r:embed="rId25"/>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9" name="Rounded Rectangle 58">
                  <a:extLst>
                    <a:ext uri="{FF2B5EF4-FFF2-40B4-BE49-F238E27FC236}">
                      <a16:creationId xmlns:a16="http://schemas.microsoft.com/office/drawing/2014/main" id="{216DC650-955D-EE4E-B65C-DB498320B586}"/>
                    </a:ext>
                  </a:extLst>
                </p:cNvPr>
                <p:cNvSpPr/>
                <p:nvPr/>
              </p:nvSpPr>
              <p:spPr>
                <a:xfrm>
                  <a:off x="4796385" y="2511705"/>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𝟔</m:t>
                            </m:r>
                          </m:sub>
                        </m:sSub>
                      </m:oMath>
                    </m:oMathPara>
                  </a14:m>
                  <a:endParaRPr lang="en-CN" b="1" dirty="0">
                    <a:solidFill>
                      <a:schemeClr val="tx1"/>
                    </a:solidFill>
                  </a:endParaRPr>
                </a:p>
              </p:txBody>
            </p:sp>
          </mc:Choice>
          <mc:Fallback xmlns="">
            <p:sp>
              <p:nvSpPr>
                <p:cNvPr id="58" name="Rounded Rectangle 57">
                  <a:extLst>
                    <a:ext uri="{FF2B5EF4-FFF2-40B4-BE49-F238E27FC236}">
                      <a16:creationId xmlns:a16="http://schemas.microsoft.com/office/drawing/2014/main" id="{ECA1F25B-E0FF-604D-9544-B5AA20F7ADD4}"/>
                    </a:ext>
                  </a:extLst>
                </p:cNvPr>
                <p:cNvSpPr>
                  <a:spLocks noRot="1" noChangeAspect="1" noMove="1" noResize="1" noEditPoints="1" noAdjustHandles="1" noChangeArrowheads="1" noChangeShapeType="1" noTextEdit="1"/>
                </p:cNvSpPr>
                <p:nvPr/>
              </p:nvSpPr>
              <p:spPr>
                <a:xfrm>
                  <a:off x="4796385" y="2511705"/>
                  <a:ext cx="410631" cy="426497"/>
                </a:xfrm>
                <a:prstGeom prst="roundRect">
                  <a:avLst/>
                </a:prstGeom>
                <a:blipFill>
                  <a:blip r:embed="rId26"/>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0" name="Rounded Rectangle 59">
                  <a:extLst>
                    <a:ext uri="{FF2B5EF4-FFF2-40B4-BE49-F238E27FC236}">
                      <a16:creationId xmlns:a16="http://schemas.microsoft.com/office/drawing/2014/main" id="{A5C26F79-C238-3642-9032-FA97DCBDD002}"/>
                    </a:ext>
                  </a:extLst>
                </p:cNvPr>
                <p:cNvSpPr/>
                <p:nvPr/>
              </p:nvSpPr>
              <p:spPr>
                <a:xfrm>
                  <a:off x="5704241" y="2511704"/>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𝒎</m:t>
                            </m:r>
                          </m:sub>
                        </m:sSub>
                      </m:oMath>
                    </m:oMathPara>
                  </a14:m>
                  <a:endParaRPr lang="en-CN" b="1" dirty="0">
                    <a:solidFill>
                      <a:schemeClr val="tx1"/>
                    </a:solidFill>
                  </a:endParaRPr>
                </a:p>
              </p:txBody>
            </p:sp>
          </mc:Choice>
          <mc:Fallback xmlns="">
            <p:sp>
              <p:nvSpPr>
                <p:cNvPr id="59" name="Rounded Rectangle 58">
                  <a:extLst>
                    <a:ext uri="{FF2B5EF4-FFF2-40B4-BE49-F238E27FC236}">
                      <a16:creationId xmlns:a16="http://schemas.microsoft.com/office/drawing/2014/main" id="{2F83EF77-CFE0-2F49-969A-3594FC4E9AAD}"/>
                    </a:ext>
                  </a:extLst>
                </p:cNvPr>
                <p:cNvSpPr>
                  <a:spLocks noRot="1" noChangeAspect="1" noMove="1" noResize="1" noEditPoints="1" noAdjustHandles="1" noChangeArrowheads="1" noChangeShapeType="1" noTextEdit="1"/>
                </p:cNvSpPr>
                <p:nvPr/>
              </p:nvSpPr>
              <p:spPr>
                <a:xfrm>
                  <a:off x="5704241" y="2511704"/>
                  <a:ext cx="410631" cy="426497"/>
                </a:xfrm>
                <a:prstGeom prst="roundRect">
                  <a:avLst/>
                </a:prstGeom>
                <a:blipFill>
                  <a:blip r:embed="rId27"/>
                  <a:stretch>
                    <a:fillRect l="-3333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1E8F00F-68DF-DD43-A4FB-33402B46559C}"/>
                    </a:ext>
                  </a:extLst>
                </p:cNvPr>
                <p:cNvSpPr txBox="1"/>
                <p:nvPr/>
              </p:nvSpPr>
              <p:spPr>
                <a:xfrm>
                  <a:off x="5352043" y="2511705"/>
                  <a:ext cx="24205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60" name="TextBox 59">
                  <a:extLst>
                    <a:ext uri="{FF2B5EF4-FFF2-40B4-BE49-F238E27FC236}">
                      <a16:creationId xmlns:a16="http://schemas.microsoft.com/office/drawing/2014/main" id="{7B6E9B6C-B250-CD4F-867A-2F1EF539B311}"/>
                    </a:ext>
                  </a:extLst>
                </p:cNvPr>
                <p:cNvSpPr txBox="1">
                  <a:spLocks noRot="1" noChangeAspect="1" noMove="1" noResize="1" noEditPoints="1" noAdjustHandles="1" noChangeArrowheads="1" noChangeShapeType="1" noTextEdit="1"/>
                </p:cNvSpPr>
                <p:nvPr/>
              </p:nvSpPr>
              <p:spPr>
                <a:xfrm>
                  <a:off x="5352043" y="2511705"/>
                  <a:ext cx="242053" cy="276999"/>
                </a:xfrm>
                <a:prstGeom prst="rect">
                  <a:avLst/>
                </a:prstGeom>
                <a:blipFill>
                  <a:blip r:embed="rId28"/>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6956850-DC53-214B-9BFB-35212531E227}"/>
                    </a:ext>
                  </a:extLst>
                </p:cNvPr>
                <p:cNvSpPr txBox="1"/>
                <p:nvPr/>
              </p:nvSpPr>
              <p:spPr>
                <a:xfrm>
                  <a:off x="1424557" y="2557304"/>
                  <a:ext cx="411459" cy="287964"/>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𝑏𝑠</m:t>
                            </m:r>
                          </m:sub>
                          <m:sup>
                            <m:r>
                              <a:rPr lang="en-US" altLang="zh-CN" b="0" i="1" smtClean="0">
                                <a:latin typeface="Cambria Math" panose="02040503050406030204" pitchFamily="18" charset="0"/>
                              </a:rPr>
                              <m:t>2</m:t>
                            </m:r>
                          </m:sup>
                        </m:sSubSup>
                      </m:oMath>
                    </m:oMathPara>
                  </a14:m>
                  <a:endParaRPr lang="en-CN" dirty="0">
                    <a:latin typeface="+mn-ea"/>
                  </a:endParaRPr>
                </a:p>
              </p:txBody>
            </p:sp>
          </mc:Choice>
          <mc:Fallback xmlns="">
            <p:sp>
              <p:nvSpPr>
                <p:cNvPr id="61" name="TextBox 60">
                  <a:extLst>
                    <a:ext uri="{FF2B5EF4-FFF2-40B4-BE49-F238E27FC236}">
                      <a16:creationId xmlns:a16="http://schemas.microsoft.com/office/drawing/2014/main" id="{8F8ACD63-A115-1C45-A77F-F431D4AA9009}"/>
                    </a:ext>
                  </a:extLst>
                </p:cNvPr>
                <p:cNvSpPr txBox="1">
                  <a:spLocks noRot="1" noChangeAspect="1" noMove="1" noResize="1" noEditPoints="1" noAdjustHandles="1" noChangeArrowheads="1" noChangeShapeType="1" noTextEdit="1"/>
                </p:cNvSpPr>
                <p:nvPr/>
              </p:nvSpPr>
              <p:spPr>
                <a:xfrm>
                  <a:off x="1424557" y="2557304"/>
                  <a:ext cx="411459" cy="287964"/>
                </a:xfrm>
                <a:prstGeom prst="rect">
                  <a:avLst/>
                </a:prstGeom>
                <a:blipFill>
                  <a:blip r:embed="rId29"/>
                  <a:stretch>
                    <a:fillRect l="-9091" r="-3030" b="-20833"/>
                  </a:stretch>
                </a:blipFill>
              </p:spPr>
              <p:txBody>
                <a:bodyPr/>
                <a:lstStyle/>
                <a:p>
                  <a:r>
                    <a:rPr lang="en-CN">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5E6FDB3-6ECF-8D4E-9611-01BB107E0E5F}"/>
                  </a:ext>
                </a:extLst>
              </p:cNvPr>
              <p:cNvSpPr txBox="1"/>
              <p:nvPr/>
            </p:nvSpPr>
            <p:spPr>
              <a:xfrm>
                <a:off x="5208201" y="3859663"/>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21" name="TextBox 20">
                <a:extLst>
                  <a:ext uri="{FF2B5EF4-FFF2-40B4-BE49-F238E27FC236}">
                    <a16:creationId xmlns:a16="http://schemas.microsoft.com/office/drawing/2014/main" id="{45E6FDB3-6ECF-8D4E-9611-01BB107E0E5F}"/>
                  </a:ext>
                </a:extLst>
              </p:cNvPr>
              <p:cNvSpPr txBox="1">
                <a:spLocks noRot="1" noChangeAspect="1" noMove="1" noResize="1" noEditPoints="1" noAdjustHandles="1" noChangeArrowheads="1" noChangeShapeType="1" noTextEdit="1"/>
              </p:cNvSpPr>
              <p:nvPr/>
            </p:nvSpPr>
            <p:spPr>
              <a:xfrm>
                <a:off x="5208201" y="3859663"/>
                <a:ext cx="141064" cy="276999"/>
              </a:xfrm>
              <a:prstGeom prst="rect">
                <a:avLst/>
              </a:prstGeom>
              <a:blipFill>
                <a:blip r:embed="rId30"/>
                <a:stretch>
                  <a:fillRect l="-15385" r="-23077" b="-4348"/>
                </a:stretch>
              </a:blipFill>
            </p:spPr>
            <p:txBody>
              <a:bodyPr/>
              <a:lstStyle/>
              <a:p>
                <a:r>
                  <a:rPr lang="en-CN">
                    <a:noFill/>
                  </a:rPr>
                  <a:t> </a:t>
                </a:r>
              </a:p>
            </p:txBody>
          </p:sp>
        </mc:Fallback>
      </mc:AlternateContent>
      <p:grpSp>
        <p:nvGrpSpPr>
          <p:cNvPr id="22" name="Group 21">
            <a:extLst>
              <a:ext uri="{FF2B5EF4-FFF2-40B4-BE49-F238E27FC236}">
                <a16:creationId xmlns:a16="http://schemas.microsoft.com/office/drawing/2014/main" id="{BB5E3C7C-4B72-2344-A797-5B5F464FFB43}"/>
              </a:ext>
            </a:extLst>
          </p:cNvPr>
          <p:cNvGrpSpPr/>
          <p:nvPr/>
        </p:nvGrpSpPr>
        <p:grpSpPr>
          <a:xfrm>
            <a:off x="2761281" y="4254190"/>
            <a:ext cx="4690315" cy="426502"/>
            <a:chOff x="1424557" y="2511704"/>
            <a:chExt cx="4690315" cy="426502"/>
          </a:xfrm>
        </p:grpSpPr>
        <mc:AlternateContent xmlns:mc="http://schemas.openxmlformats.org/markup-compatibility/2006" xmlns:a14="http://schemas.microsoft.com/office/drawing/2010/main">
          <mc:Choice Requires="a14">
            <p:sp>
              <p:nvSpPr>
                <p:cNvPr id="45" name="Rounded Rectangle 44">
                  <a:extLst>
                    <a:ext uri="{FF2B5EF4-FFF2-40B4-BE49-F238E27FC236}">
                      <a16:creationId xmlns:a16="http://schemas.microsoft.com/office/drawing/2014/main" id="{C2E31E3C-B42B-9F4C-9A0C-A0F754E4B74E}"/>
                    </a:ext>
                  </a:extLst>
                </p:cNvPr>
                <p:cNvSpPr/>
                <p:nvPr/>
              </p:nvSpPr>
              <p:spPr>
                <a:xfrm>
                  <a:off x="2010671" y="2511709"/>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𝟏</m:t>
                            </m:r>
                          </m:sub>
                        </m:sSub>
                      </m:oMath>
                    </m:oMathPara>
                  </a14:m>
                  <a:endParaRPr lang="en-CN" b="1" dirty="0">
                    <a:solidFill>
                      <a:schemeClr val="tx1"/>
                    </a:solidFill>
                  </a:endParaRPr>
                </a:p>
              </p:txBody>
            </p:sp>
          </mc:Choice>
          <mc:Fallback xmlns="">
            <p:sp>
              <p:nvSpPr>
                <p:cNvPr id="63" name="Rounded Rectangle 62">
                  <a:extLst>
                    <a:ext uri="{FF2B5EF4-FFF2-40B4-BE49-F238E27FC236}">
                      <a16:creationId xmlns:a16="http://schemas.microsoft.com/office/drawing/2014/main" id="{B72FCC42-01EB-9747-8C24-5E2EA61816B6}"/>
                    </a:ext>
                  </a:extLst>
                </p:cNvPr>
                <p:cNvSpPr>
                  <a:spLocks noRot="1" noChangeAspect="1" noMove="1" noResize="1" noEditPoints="1" noAdjustHandles="1" noChangeArrowheads="1" noChangeShapeType="1" noTextEdit="1"/>
                </p:cNvSpPr>
                <p:nvPr/>
              </p:nvSpPr>
              <p:spPr>
                <a:xfrm>
                  <a:off x="2010671" y="2511709"/>
                  <a:ext cx="410631" cy="426497"/>
                </a:xfrm>
                <a:prstGeom prst="roundRect">
                  <a:avLst/>
                </a:prstGeom>
                <a:blipFill>
                  <a:blip r:embed="rId31"/>
                  <a:stretch>
                    <a:fillRect l="-26471"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6" name="Rounded Rectangle 45">
                  <a:extLst>
                    <a:ext uri="{FF2B5EF4-FFF2-40B4-BE49-F238E27FC236}">
                      <a16:creationId xmlns:a16="http://schemas.microsoft.com/office/drawing/2014/main" id="{202D284C-1867-BD4E-BC61-B0EDE1AECC0F}"/>
                    </a:ext>
                  </a:extLst>
                </p:cNvPr>
                <p:cNvSpPr/>
                <p:nvPr/>
              </p:nvSpPr>
              <p:spPr>
                <a:xfrm>
                  <a:off x="2568185" y="2511708"/>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𝟐</m:t>
                            </m:r>
                          </m:sub>
                        </m:sSub>
                      </m:oMath>
                    </m:oMathPara>
                  </a14:m>
                  <a:endParaRPr lang="en-CN" b="1" dirty="0">
                    <a:solidFill>
                      <a:schemeClr val="tx1"/>
                    </a:solidFill>
                  </a:endParaRPr>
                </a:p>
              </p:txBody>
            </p:sp>
          </mc:Choice>
          <mc:Fallback xmlns="">
            <p:sp>
              <p:nvSpPr>
                <p:cNvPr id="64" name="Rounded Rectangle 63">
                  <a:extLst>
                    <a:ext uri="{FF2B5EF4-FFF2-40B4-BE49-F238E27FC236}">
                      <a16:creationId xmlns:a16="http://schemas.microsoft.com/office/drawing/2014/main" id="{519952BF-5263-1448-A573-A222261A5BA8}"/>
                    </a:ext>
                  </a:extLst>
                </p:cNvPr>
                <p:cNvSpPr>
                  <a:spLocks noRot="1" noChangeAspect="1" noMove="1" noResize="1" noEditPoints="1" noAdjustHandles="1" noChangeArrowheads="1" noChangeShapeType="1" noTextEdit="1"/>
                </p:cNvSpPr>
                <p:nvPr/>
              </p:nvSpPr>
              <p:spPr>
                <a:xfrm>
                  <a:off x="2568185" y="2511708"/>
                  <a:ext cx="410631" cy="426497"/>
                </a:xfrm>
                <a:prstGeom prst="roundRect">
                  <a:avLst/>
                </a:prstGeom>
                <a:blipFill>
                  <a:blip r:embed="rId32"/>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7" name="Rounded Rectangle 46">
                  <a:extLst>
                    <a:ext uri="{FF2B5EF4-FFF2-40B4-BE49-F238E27FC236}">
                      <a16:creationId xmlns:a16="http://schemas.microsoft.com/office/drawing/2014/main" id="{F16FD0DD-3B16-C64A-9E14-506CF6E16904}"/>
                    </a:ext>
                  </a:extLst>
                </p:cNvPr>
                <p:cNvSpPr/>
                <p:nvPr/>
              </p:nvSpPr>
              <p:spPr>
                <a:xfrm>
                  <a:off x="3125699" y="2511708"/>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𝟑</m:t>
                            </m:r>
                          </m:sub>
                        </m:sSub>
                      </m:oMath>
                    </m:oMathPara>
                  </a14:m>
                  <a:endParaRPr lang="en-CN" b="1" dirty="0">
                    <a:solidFill>
                      <a:schemeClr val="tx1"/>
                    </a:solidFill>
                  </a:endParaRPr>
                </a:p>
              </p:txBody>
            </p:sp>
          </mc:Choice>
          <mc:Fallback xmlns="">
            <p:sp>
              <p:nvSpPr>
                <p:cNvPr id="65" name="Rounded Rectangle 64">
                  <a:extLst>
                    <a:ext uri="{FF2B5EF4-FFF2-40B4-BE49-F238E27FC236}">
                      <a16:creationId xmlns:a16="http://schemas.microsoft.com/office/drawing/2014/main" id="{11132E60-88E8-614A-96F3-CCE694F197DA}"/>
                    </a:ext>
                  </a:extLst>
                </p:cNvPr>
                <p:cNvSpPr>
                  <a:spLocks noRot="1" noChangeAspect="1" noMove="1" noResize="1" noEditPoints="1" noAdjustHandles="1" noChangeArrowheads="1" noChangeShapeType="1" noTextEdit="1"/>
                </p:cNvSpPr>
                <p:nvPr/>
              </p:nvSpPr>
              <p:spPr>
                <a:xfrm>
                  <a:off x="3125699" y="2511708"/>
                  <a:ext cx="410631" cy="426497"/>
                </a:xfrm>
                <a:prstGeom prst="roundRect">
                  <a:avLst/>
                </a:prstGeom>
                <a:blipFill>
                  <a:blip r:embed="rId33"/>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8" name="Rounded Rectangle 47">
                  <a:extLst>
                    <a:ext uri="{FF2B5EF4-FFF2-40B4-BE49-F238E27FC236}">
                      <a16:creationId xmlns:a16="http://schemas.microsoft.com/office/drawing/2014/main" id="{C20771BA-178A-D344-8640-E6A428016C0C}"/>
                    </a:ext>
                  </a:extLst>
                </p:cNvPr>
                <p:cNvSpPr/>
                <p:nvPr/>
              </p:nvSpPr>
              <p:spPr>
                <a:xfrm>
                  <a:off x="3683213" y="2511707"/>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𝟒</m:t>
                            </m:r>
                          </m:sub>
                        </m:sSub>
                      </m:oMath>
                    </m:oMathPara>
                  </a14:m>
                  <a:endParaRPr lang="en-CN" b="1" dirty="0">
                    <a:solidFill>
                      <a:schemeClr val="tx1"/>
                    </a:solidFill>
                  </a:endParaRPr>
                </a:p>
              </p:txBody>
            </p:sp>
          </mc:Choice>
          <mc:Fallback xmlns="">
            <p:sp>
              <p:nvSpPr>
                <p:cNvPr id="66" name="Rounded Rectangle 65">
                  <a:extLst>
                    <a:ext uri="{FF2B5EF4-FFF2-40B4-BE49-F238E27FC236}">
                      <a16:creationId xmlns:a16="http://schemas.microsoft.com/office/drawing/2014/main" id="{1D7BAC71-E916-E149-B210-EC9DE6AA862B}"/>
                    </a:ext>
                  </a:extLst>
                </p:cNvPr>
                <p:cNvSpPr>
                  <a:spLocks noRot="1" noChangeAspect="1" noMove="1" noResize="1" noEditPoints="1" noAdjustHandles="1" noChangeArrowheads="1" noChangeShapeType="1" noTextEdit="1"/>
                </p:cNvSpPr>
                <p:nvPr/>
              </p:nvSpPr>
              <p:spPr>
                <a:xfrm>
                  <a:off x="3683213" y="2511707"/>
                  <a:ext cx="410631" cy="426497"/>
                </a:xfrm>
                <a:prstGeom prst="roundRect">
                  <a:avLst/>
                </a:prstGeom>
                <a:blipFill>
                  <a:blip r:embed="rId34"/>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9" name="Rounded Rectangle 48">
                  <a:extLst>
                    <a:ext uri="{FF2B5EF4-FFF2-40B4-BE49-F238E27FC236}">
                      <a16:creationId xmlns:a16="http://schemas.microsoft.com/office/drawing/2014/main" id="{FAFAC348-C7AC-7143-8EFA-F202161A996B}"/>
                    </a:ext>
                  </a:extLst>
                </p:cNvPr>
                <p:cNvSpPr/>
                <p:nvPr/>
              </p:nvSpPr>
              <p:spPr>
                <a:xfrm>
                  <a:off x="4240727" y="2511706"/>
                  <a:ext cx="410631" cy="4264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𝟓</m:t>
                            </m:r>
                          </m:sub>
                        </m:sSub>
                      </m:oMath>
                    </m:oMathPara>
                  </a14:m>
                  <a:endParaRPr lang="en-CN" b="1" dirty="0">
                    <a:solidFill>
                      <a:schemeClr val="tx1"/>
                    </a:solidFill>
                  </a:endParaRPr>
                </a:p>
              </p:txBody>
            </p:sp>
          </mc:Choice>
          <mc:Fallback xmlns="">
            <p:sp>
              <p:nvSpPr>
                <p:cNvPr id="67" name="Rounded Rectangle 66">
                  <a:extLst>
                    <a:ext uri="{FF2B5EF4-FFF2-40B4-BE49-F238E27FC236}">
                      <a16:creationId xmlns:a16="http://schemas.microsoft.com/office/drawing/2014/main" id="{48392E75-02E3-A44F-95BA-CBFFDC39368E}"/>
                    </a:ext>
                  </a:extLst>
                </p:cNvPr>
                <p:cNvSpPr>
                  <a:spLocks noRot="1" noChangeAspect="1" noMove="1" noResize="1" noEditPoints="1" noAdjustHandles="1" noChangeArrowheads="1" noChangeShapeType="1" noTextEdit="1"/>
                </p:cNvSpPr>
                <p:nvPr/>
              </p:nvSpPr>
              <p:spPr>
                <a:xfrm>
                  <a:off x="4240727" y="2511706"/>
                  <a:ext cx="410631" cy="426497"/>
                </a:xfrm>
                <a:prstGeom prst="roundRect">
                  <a:avLst/>
                </a:prstGeom>
                <a:blipFill>
                  <a:blip r:embed="rId35"/>
                  <a:stretch>
                    <a:fillRect l="-2727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0" name="Rounded Rectangle 49">
                  <a:extLst>
                    <a:ext uri="{FF2B5EF4-FFF2-40B4-BE49-F238E27FC236}">
                      <a16:creationId xmlns:a16="http://schemas.microsoft.com/office/drawing/2014/main" id="{F34ACEA7-91E6-834C-857B-BCA6C73C251B}"/>
                    </a:ext>
                  </a:extLst>
                </p:cNvPr>
                <p:cNvSpPr/>
                <p:nvPr/>
              </p:nvSpPr>
              <p:spPr>
                <a:xfrm>
                  <a:off x="4796385" y="2511705"/>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𝟔</m:t>
                            </m:r>
                          </m:sub>
                        </m:sSub>
                      </m:oMath>
                    </m:oMathPara>
                  </a14:m>
                  <a:endParaRPr lang="en-CN" b="1" dirty="0">
                    <a:solidFill>
                      <a:schemeClr val="tx1"/>
                    </a:solidFill>
                  </a:endParaRPr>
                </a:p>
              </p:txBody>
            </p:sp>
          </mc:Choice>
          <mc:Fallback xmlns="">
            <p:sp>
              <p:nvSpPr>
                <p:cNvPr id="68" name="Rounded Rectangle 67">
                  <a:extLst>
                    <a:ext uri="{FF2B5EF4-FFF2-40B4-BE49-F238E27FC236}">
                      <a16:creationId xmlns:a16="http://schemas.microsoft.com/office/drawing/2014/main" id="{3ABBF3E9-E91E-B54A-B7A4-5B490A189724}"/>
                    </a:ext>
                  </a:extLst>
                </p:cNvPr>
                <p:cNvSpPr>
                  <a:spLocks noRot="1" noChangeAspect="1" noMove="1" noResize="1" noEditPoints="1" noAdjustHandles="1" noChangeArrowheads="1" noChangeShapeType="1" noTextEdit="1"/>
                </p:cNvSpPr>
                <p:nvPr/>
              </p:nvSpPr>
              <p:spPr>
                <a:xfrm>
                  <a:off x="4796385" y="2511705"/>
                  <a:ext cx="410631" cy="426497"/>
                </a:xfrm>
                <a:prstGeom prst="roundRect">
                  <a:avLst/>
                </a:prstGeom>
                <a:blipFill>
                  <a:blip r:embed="rId36"/>
                  <a:stretch>
                    <a:fillRect l="-26471"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1" name="Rounded Rectangle 50">
                  <a:extLst>
                    <a:ext uri="{FF2B5EF4-FFF2-40B4-BE49-F238E27FC236}">
                      <a16:creationId xmlns:a16="http://schemas.microsoft.com/office/drawing/2014/main" id="{19DDF71C-F166-B444-BC57-E20C88820D89}"/>
                    </a:ext>
                  </a:extLst>
                </p:cNvPr>
                <p:cNvSpPr/>
                <p:nvPr/>
              </p:nvSpPr>
              <p:spPr>
                <a:xfrm>
                  <a:off x="5704241" y="2511704"/>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a:rPr lang="en-US" altLang="zh-CN" b="1" i="1" smtClean="0">
                                <a:solidFill>
                                  <a:schemeClr val="tx1"/>
                                </a:solidFill>
                                <a:latin typeface="Cambria Math" panose="02040503050406030204" pitchFamily="18" charset="0"/>
                              </a:rPr>
                              <m:t>𝒎</m:t>
                            </m:r>
                          </m:sub>
                        </m:sSub>
                      </m:oMath>
                    </m:oMathPara>
                  </a14:m>
                  <a:endParaRPr lang="en-CN" b="1" dirty="0">
                    <a:solidFill>
                      <a:schemeClr val="tx1"/>
                    </a:solidFill>
                  </a:endParaRPr>
                </a:p>
              </p:txBody>
            </p:sp>
          </mc:Choice>
          <mc:Fallback xmlns="">
            <p:sp>
              <p:nvSpPr>
                <p:cNvPr id="69" name="Rounded Rectangle 68">
                  <a:extLst>
                    <a:ext uri="{FF2B5EF4-FFF2-40B4-BE49-F238E27FC236}">
                      <a16:creationId xmlns:a16="http://schemas.microsoft.com/office/drawing/2014/main" id="{6EFCB2AF-3DD8-4247-BF7C-27CD98CE1298}"/>
                    </a:ext>
                  </a:extLst>
                </p:cNvPr>
                <p:cNvSpPr>
                  <a:spLocks noRot="1" noChangeAspect="1" noMove="1" noResize="1" noEditPoints="1" noAdjustHandles="1" noChangeArrowheads="1" noChangeShapeType="1" noTextEdit="1"/>
                </p:cNvSpPr>
                <p:nvPr/>
              </p:nvSpPr>
              <p:spPr>
                <a:xfrm>
                  <a:off x="5704241" y="2511704"/>
                  <a:ext cx="410631" cy="426497"/>
                </a:xfrm>
                <a:prstGeom prst="roundRect">
                  <a:avLst/>
                </a:prstGeom>
                <a:blipFill>
                  <a:blip r:embed="rId37"/>
                  <a:stretch>
                    <a:fillRect l="-33333"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A75EC05-C24D-394E-9E9D-E1CECA8F22D4}"/>
                    </a:ext>
                  </a:extLst>
                </p:cNvPr>
                <p:cNvSpPr txBox="1"/>
                <p:nvPr/>
              </p:nvSpPr>
              <p:spPr>
                <a:xfrm>
                  <a:off x="5352043" y="2511705"/>
                  <a:ext cx="242053"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70" name="TextBox 69">
                  <a:extLst>
                    <a:ext uri="{FF2B5EF4-FFF2-40B4-BE49-F238E27FC236}">
                      <a16:creationId xmlns:a16="http://schemas.microsoft.com/office/drawing/2014/main" id="{7B63D9AF-7465-F044-89D1-9D1C4E364168}"/>
                    </a:ext>
                  </a:extLst>
                </p:cNvPr>
                <p:cNvSpPr txBox="1">
                  <a:spLocks noRot="1" noChangeAspect="1" noMove="1" noResize="1" noEditPoints="1" noAdjustHandles="1" noChangeArrowheads="1" noChangeShapeType="1" noTextEdit="1"/>
                </p:cNvSpPr>
                <p:nvPr/>
              </p:nvSpPr>
              <p:spPr>
                <a:xfrm>
                  <a:off x="5352043" y="2511705"/>
                  <a:ext cx="242053" cy="276999"/>
                </a:xfrm>
                <a:prstGeom prst="rect">
                  <a:avLst/>
                </a:prstGeom>
                <a:blipFill>
                  <a:blip r:embed="rId38"/>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CF4D672-C913-B64C-8E7C-41DE59A688FE}"/>
                    </a:ext>
                  </a:extLst>
                </p:cNvPr>
                <p:cNvSpPr txBox="1"/>
                <p:nvPr/>
              </p:nvSpPr>
              <p:spPr>
                <a:xfrm>
                  <a:off x="1424557" y="2557304"/>
                  <a:ext cx="411459" cy="28809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𝑏𝑠</m:t>
                            </m:r>
                          </m:sub>
                          <m:sup>
                            <m:r>
                              <a:rPr lang="en-US" altLang="zh-CN" b="0" i="1" smtClean="0">
                                <a:latin typeface="Cambria Math" panose="02040503050406030204" pitchFamily="18" charset="0"/>
                              </a:rPr>
                              <m:t>𝑇</m:t>
                            </m:r>
                          </m:sup>
                        </m:sSubSup>
                      </m:oMath>
                    </m:oMathPara>
                  </a14:m>
                  <a:endParaRPr lang="en-CN" dirty="0">
                    <a:latin typeface="+mn-ea"/>
                  </a:endParaRPr>
                </a:p>
              </p:txBody>
            </p:sp>
          </mc:Choice>
          <mc:Fallback xmlns="">
            <p:sp>
              <p:nvSpPr>
                <p:cNvPr id="71" name="TextBox 70">
                  <a:extLst>
                    <a:ext uri="{FF2B5EF4-FFF2-40B4-BE49-F238E27FC236}">
                      <a16:creationId xmlns:a16="http://schemas.microsoft.com/office/drawing/2014/main" id="{F06C3D59-5FCE-A24B-A4DC-A653DF276D8E}"/>
                    </a:ext>
                  </a:extLst>
                </p:cNvPr>
                <p:cNvSpPr txBox="1">
                  <a:spLocks noRot="1" noChangeAspect="1" noMove="1" noResize="1" noEditPoints="1" noAdjustHandles="1" noChangeArrowheads="1" noChangeShapeType="1" noTextEdit="1"/>
                </p:cNvSpPr>
                <p:nvPr/>
              </p:nvSpPr>
              <p:spPr>
                <a:xfrm>
                  <a:off x="1424557" y="2557304"/>
                  <a:ext cx="411459" cy="288092"/>
                </a:xfrm>
                <a:prstGeom prst="rect">
                  <a:avLst/>
                </a:prstGeom>
                <a:blipFill>
                  <a:blip r:embed="rId39"/>
                  <a:stretch>
                    <a:fillRect l="-9091" r="-3030" b="-16667"/>
                  </a:stretch>
                </a:blipFill>
              </p:spPr>
              <p:txBody>
                <a:bodyPr/>
                <a:lstStyle/>
                <a:p>
                  <a:r>
                    <a:rPr lang="en-CN">
                      <a:noFill/>
                    </a:rPr>
                    <a:t> </a:t>
                  </a:r>
                </a:p>
              </p:txBody>
            </p:sp>
          </mc:Fallback>
        </mc:AlternateContent>
      </p:grpSp>
      <p:sp>
        <p:nvSpPr>
          <p:cNvPr id="23" name="Rounded Rectangle 22">
            <a:extLst>
              <a:ext uri="{FF2B5EF4-FFF2-40B4-BE49-F238E27FC236}">
                <a16:creationId xmlns:a16="http://schemas.microsoft.com/office/drawing/2014/main" id="{6C2E4FC8-D8C3-D540-BE6E-2B71AAF2C7AF}"/>
              </a:ext>
            </a:extLst>
          </p:cNvPr>
          <p:cNvSpPr/>
          <p:nvPr/>
        </p:nvSpPr>
        <p:spPr>
          <a:xfrm>
            <a:off x="2551811" y="2521856"/>
            <a:ext cx="5312779" cy="2280215"/>
          </a:xfrm>
          <a:prstGeom prst="roundRect">
            <a:avLst/>
          </a:prstGeom>
          <a:noFill/>
          <a:ln>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24" name="Straight Arrow Connector 23">
            <a:extLst>
              <a:ext uri="{FF2B5EF4-FFF2-40B4-BE49-F238E27FC236}">
                <a16:creationId xmlns:a16="http://schemas.microsoft.com/office/drawing/2014/main" id="{1B065A76-1BA3-364A-812A-3D226DB23BDD}"/>
              </a:ext>
            </a:extLst>
          </p:cNvPr>
          <p:cNvCxnSpPr>
            <a:cxnSpLocks/>
          </p:cNvCxnSpPr>
          <p:nvPr/>
        </p:nvCxnSpPr>
        <p:spPr>
          <a:xfrm>
            <a:off x="7965989" y="2935640"/>
            <a:ext cx="3943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A1F553F-259F-B540-BC59-FA75FA89FDAB}"/>
              </a:ext>
            </a:extLst>
          </p:cNvPr>
          <p:cNvCxnSpPr>
            <a:cxnSpLocks/>
          </p:cNvCxnSpPr>
          <p:nvPr/>
        </p:nvCxnSpPr>
        <p:spPr>
          <a:xfrm>
            <a:off x="7977564" y="3605400"/>
            <a:ext cx="3943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0AE5D91-4C87-5C48-9FE6-3E03C437CCAA}"/>
              </a:ext>
            </a:extLst>
          </p:cNvPr>
          <p:cNvCxnSpPr>
            <a:cxnSpLocks/>
          </p:cNvCxnSpPr>
          <p:nvPr/>
        </p:nvCxnSpPr>
        <p:spPr>
          <a:xfrm>
            <a:off x="7977564" y="4467438"/>
            <a:ext cx="39436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EAF9069-879D-5245-A627-BAB2EAC09DAA}"/>
              </a:ext>
            </a:extLst>
          </p:cNvPr>
          <p:cNvSpPr txBox="1"/>
          <p:nvPr/>
        </p:nvSpPr>
        <p:spPr>
          <a:xfrm>
            <a:off x="7777623" y="2605261"/>
            <a:ext cx="772969" cy="276999"/>
          </a:xfrm>
          <a:prstGeom prst="rect">
            <a:avLst/>
          </a:prstGeom>
          <a:noFill/>
        </p:spPr>
        <p:txBody>
          <a:bodyPr wrap="none" rtlCol="0">
            <a:spAutoFit/>
          </a:bodyPr>
          <a:lstStyle/>
          <a:p>
            <a:pPr algn="l"/>
            <a:r>
              <a:rPr lang="en-US" altLang="zh-CN" sz="1200" dirty="0">
                <a:latin typeface="+mn-ea"/>
              </a:rPr>
              <a:t>Training</a:t>
            </a:r>
            <a:endParaRPr lang="en-CN" sz="1200" dirty="0">
              <a:latin typeface="+mn-ea"/>
            </a:endParaRPr>
          </a:p>
        </p:txBody>
      </p:sp>
      <mc:AlternateContent xmlns:mc="http://schemas.openxmlformats.org/markup-compatibility/2006" xmlns:a14="http://schemas.microsoft.com/office/drawing/2010/main">
        <mc:Choice Requires="a14">
          <p:sp>
            <p:nvSpPr>
              <p:cNvPr id="28" name="Bevel 27">
                <a:extLst>
                  <a:ext uri="{FF2B5EF4-FFF2-40B4-BE49-F238E27FC236}">
                    <a16:creationId xmlns:a16="http://schemas.microsoft.com/office/drawing/2014/main" id="{D079D17A-4F52-8345-B656-084589960633}"/>
                  </a:ext>
                </a:extLst>
              </p:cNvPr>
              <p:cNvSpPr/>
              <p:nvPr/>
            </p:nvSpPr>
            <p:spPr>
              <a:xfrm>
                <a:off x="8720361" y="2722391"/>
                <a:ext cx="474562" cy="426497"/>
              </a:xfrm>
              <a:prstGeom prst="bevel">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zh-CN" altLang="en-US"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1</m:t>
                          </m:r>
                        </m:sub>
                      </m:sSub>
                    </m:oMath>
                  </m:oMathPara>
                </a14:m>
                <a:endParaRPr lang="en-CN" dirty="0"/>
              </a:p>
            </p:txBody>
          </p:sp>
        </mc:Choice>
        <mc:Fallback xmlns="">
          <p:sp>
            <p:nvSpPr>
              <p:cNvPr id="28" name="Bevel 27">
                <a:extLst>
                  <a:ext uri="{FF2B5EF4-FFF2-40B4-BE49-F238E27FC236}">
                    <a16:creationId xmlns:a16="http://schemas.microsoft.com/office/drawing/2014/main" id="{D079D17A-4F52-8345-B656-084589960633}"/>
                  </a:ext>
                </a:extLst>
              </p:cNvPr>
              <p:cNvSpPr>
                <a:spLocks noRot="1" noChangeAspect="1" noMove="1" noResize="1" noEditPoints="1" noAdjustHandles="1" noChangeArrowheads="1" noChangeShapeType="1" noTextEdit="1"/>
              </p:cNvSpPr>
              <p:nvPr/>
            </p:nvSpPr>
            <p:spPr>
              <a:xfrm>
                <a:off x="8720361" y="2722391"/>
                <a:ext cx="474562" cy="426497"/>
              </a:xfrm>
              <a:prstGeom prst="bevel">
                <a:avLst/>
              </a:prstGeom>
              <a:blipFill>
                <a:blip r:embed="rId40"/>
                <a:stretch>
                  <a:fillRect l="-15789"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Bevel 28">
                <a:extLst>
                  <a:ext uri="{FF2B5EF4-FFF2-40B4-BE49-F238E27FC236}">
                    <a16:creationId xmlns:a16="http://schemas.microsoft.com/office/drawing/2014/main" id="{227F3FFF-7EBE-0044-A998-8A9F482EA92B}"/>
                  </a:ext>
                </a:extLst>
              </p:cNvPr>
              <p:cNvSpPr/>
              <p:nvPr/>
            </p:nvSpPr>
            <p:spPr>
              <a:xfrm>
                <a:off x="8711264" y="3362687"/>
                <a:ext cx="474562" cy="426497"/>
              </a:xfrm>
              <a:prstGeom prst="bevel">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zh-CN" altLang="en-US"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2</m:t>
                          </m:r>
                        </m:sub>
                      </m:sSub>
                    </m:oMath>
                  </m:oMathPara>
                </a14:m>
                <a:endParaRPr lang="en-CN" dirty="0"/>
              </a:p>
            </p:txBody>
          </p:sp>
        </mc:Choice>
        <mc:Fallback xmlns="">
          <p:sp>
            <p:nvSpPr>
              <p:cNvPr id="29" name="Bevel 28">
                <a:extLst>
                  <a:ext uri="{FF2B5EF4-FFF2-40B4-BE49-F238E27FC236}">
                    <a16:creationId xmlns:a16="http://schemas.microsoft.com/office/drawing/2014/main" id="{227F3FFF-7EBE-0044-A998-8A9F482EA92B}"/>
                  </a:ext>
                </a:extLst>
              </p:cNvPr>
              <p:cNvSpPr>
                <a:spLocks noRot="1" noChangeAspect="1" noMove="1" noResize="1" noEditPoints="1" noAdjustHandles="1" noChangeArrowheads="1" noChangeShapeType="1" noTextEdit="1"/>
              </p:cNvSpPr>
              <p:nvPr/>
            </p:nvSpPr>
            <p:spPr>
              <a:xfrm>
                <a:off x="8711264" y="3362687"/>
                <a:ext cx="474562" cy="426497"/>
              </a:xfrm>
              <a:prstGeom prst="bevel">
                <a:avLst/>
              </a:prstGeom>
              <a:blipFill>
                <a:blip r:embed="rId41"/>
                <a:stretch>
                  <a:fillRect l="-15385" b="-8571"/>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0" name="Bevel 29">
                <a:extLst>
                  <a:ext uri="{FF2B5EF4-FFF2-40B4-BE49-F238E27FC236}">
                    <a16:creationId xmlns:a16="http://schemas.microsoft.com/office/drawing/2014/main" id="{4A26C338-384F-AE45-AAF2-A3CB01F1F789}"/>
                  </a:ext>
                </a:extLst>
              </p:cNvPr>
              <p:cNvSpPr/>
              <p:nvPr/>
            </p:nvSpPr>
            <p:spPr>
              <a:xfrm>
                <a:off x="8711264" y="4254189"/>
                <a:ext cx="474562" cy="426497"/>
              </a:xfrm>
              <a:prstGeom prst="bevel">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zh-CN" altLang="en-US"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h</m:t>
                          </m:r>
                        </m:e>
                        <m:sub>
                          <m:r>
                            <a:rPr lang="en-US" altLang="zh-CN" b="0" i="1" smtClean="0">
                              <a:solidFill>
                                <a:schemeClr val="tx1"/>
                              </a:solidFill>
                              <a:latin typeface="Cambria Math" panose="02040503050406030204" pitchFamily="18" charset="0"/>
                            </a:rPr>
                            <m:t>𝑇</m:t>
                          </m:r>
                        </m:sub>
                      </m:sSub>
                    </m:oMath>
                  </m:oMathPara>
                </a14:m>
                <a:endParaRPr lang="en-CN" dirty="0"/>
              </a:p>
            </p:txBody>
          </p:sp>
        </mc:Choice>
        <mc:Fallback xmlns="">
          <p:sp>
            <p:nvSpPr>
              <p:cNvPr id="30" name="Bevel 29">
                <a:extLst>
                  <a:ext uri="{FF2B5EF4-FFF2-40B4-BE49-F238E27FC236}">
                    <a16:creationId xmlns:a16="http://schemas.microsoft.com/office/drawing/2014/main" id="{4A26C338-384F-AE45-AAF2-A3CB01F1F789}"/>
                  </a:ext>
                </a:extLst>
              </p:cNvPr>
              <p:cNvSpPr>
                <a:spLocks noRot="1" noChangeAspect="1" noMove="1" noResize="1" noEditPoints="1" noAdjustHandles="1" noChangeArrowheads="1" noChangeShapeType="1" noTextEdit="1"/>
              </p:cNvSpPr>
              <p:nvPr/>
            </p:nvSpPr>
            <p:spPr>
              <a:xfrm>
                <a:off x="8711264" y="4254189"/>
                <a:ext cx="474562" cy="426497"/>
              </a:xfrm>
              <a:prstGeom prst="bevel">
                <a:avLst/>
              </a:prstGeom>
              <a:blipFill>
                <a:blip r:embed="rId42"/>
                <a:stretch>
                  <a:fillRect l="-15385" b="-8824"/>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7997F14-ABE8-F94B-8FF0-4114BCF90500}"/>
                  </a:ext>
                </a:extLst>
              </p:cNvPr>
              <p:cNvSpPr txBox="1"/>
              <p:nvPr/>
            </p:nvSpPr>
            <p:spPr>
              <a:xfrm>
                <a:off x="8092641" y="3918818"/>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31" name="TextBox 30">
                <a:extLst>
                  <a:ext uri="{FF2B5EF4-FFF2-40B4-BE49-F238E27FC236}">
                    <a16:creationId xmlns:a16="http://schemas.microsoft.com/office/drawing/2014/main" id="{37997F14-ABE8-F94B-8FF0-4114BCF90500}"/>
                  </a:ext>
                </a:extLst>
              </p:cNvPr>
              <p:cNvSpPr txBox="1">
                <a:spLocks noRot="1" noChangeAspect="1" noMove="1" noResize="1" noEditPoints="1" noAdjustHandles="1" noChangeArrowheads="1" noChangeShapeType="1" noTextEdit="1"/>
              </p:cNvSpPr>
              <p:nvPr/>
            </p:nvSpPr>
            <p:spPr>
              <a:xfrm>
                <a:off x="8092641" y="3918818"/>
                <a:ext cx="141064" cy="276999"/>
              </a:xfrm>
              <a:prstGeom prst="rect">
                <a:avLst/>
              </a:prstGeom>
              <a:blipFill>
                <a:blip r:embed="rId30"/>
                <a:stretch>
                  <a:fillRect l="-25000" r="-25000" b="-434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D73DF2E-EFD7-914F-A679-3430E724BF8C}"/>
                  </a:ext>
                </a:extLst>
              </p:cNvPr>
              <p:cNvSpPr txBox="1"/>
              <p:nvPr/>
            </p:nvSpPr>
            <p:spPr>
              <a:xfrm>
                <a:off x="10037708" y="3926200"/>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32" name="TextBox 31">
                <a:extLst>
                  <a:ext uri="{FF2B5EF4-FFF2-40B4-BE49-F238E27FC236}">
                    <a16:creationId xmlns:a16="http://schemas.microsoft.com/office/drawing/2014/main" id="{7D73DF2E-EFD7-914F-A679-3430E724BF8C}"/>
                  </a:ext>
                </a:extLst>
              </p:cNvPr>
              <p:cNvSpPr txBox="1">
                <a:spLocks noRot="1" noChangeAspect="1" noMove="1" noResize="1" noEditPoints="1" noAdjustHandles="1" noChangeArrowheads="1" noChangeShapeType="1" noTextEdit="1"/>
              </p:cNvSpPr>
              <p:nvPr/>
            </p:nvSpPr>
            <p:spPr>
              <a:xfrm>
                <a:off x="10037708" y="3926200"/>
                <a:ext cx="141064" cy="276999"/>
              </a:xfrm>
              <a:prstGeom prst="rect">
                <a:avLst/>
              </a:prstGeom>
              <a:blipFill>
                <a:blip r:embed="rId43"/>
                <a:stretch>
                  <a:fillRect l="-25000" r="-25000"/>
                </a:stretch>
              </a:blipFill>
            </p:spPr>
            <p:txBody>
              <a:bodyPr/>
              <a:lstStyle/>
              <a:p>
                <a:r>
                  <a:rPr lang="en-CN">
                    <a:noFill/>
                  </a:rPr>
                  <a:t> </a:t>
                </a:r>
              </a:p>
            </p:txBody>
          </p:sp>
        </mc:Fallback>
      </mc:AlternateContent>
      <p:sp>
        <p:nvSpPr>
          <p:cNvPr id="33" name="TextBox 32">
            <a:extLst>
              <a:ext uri="{FF2B5EF4-FFF2-40B4-BE49-F238E27FC236}">
                <a16:creationId xmlns:a16="http://schemas.microsoft.com/office/drawing/2014/main" id="{9802696A-98C6-3D4D-BC55-4C037DE13629}"/>
              </a:ext>
            </a:extLst>
          </p:cNvPr>
          <p:cNvSpPr txBox="1"/>
          <p:nvPr/>
        </p:nvSpPr>
        <p:spPr>
          <a:xfrm>
            <a:off x="8403644" y="2207230"/>
            <a:ext cx="1107996" cy="369332"/>
          </a:xfrm>
          <a:prstGeom prst="rect">
            <a:avLst/>
          </a:prstGeom>
          <a:noFill/>
        </p:spPr>
        <p:txBody>
          <a:bodyPr wrap="none" rtlCol="0">
            <a:spAutoFit/>
          </a:bodyPr>
          <a:lstStyle/>
          <a:p>
            <a:pPr algn="l"/>
            <a:r>
              <a:rPr lang="en-US" dirty="0" err="1">
                <a:latin typeface="+mn-ea"/>
              </a:rPr>
              <a:t>基分类器</a:t>
            </a:r>
            <a:endParaRPr lang="en-CN" dirty="0">
              <a:latin typeface="+mn-ea"/>
            </a:endParaRPr>
          </a:p>
        </p:txBody>
      </p:sp>
      <p:sp>
        <p:nvSpPr>
          <p:cNvPr id="34" name="Right Arrow 33">
            <a:extLst>
              <a:ext uri="{FF2B5EF4-FFF2-40B4-BE49-F238E27FC236}">
                <a16:creationId xmlns:a16="http://schemas.microsoft.com/office/drawing/2014/main" id="{1FB5BA5A-13E1-CF4D-B9C8-F15ACFD0F313}"/>
              </a:ext>
            </a:extLst>
          </p:cNvPr>
          <p:cNvSpPr/>
          <p:nvPr/>
        </p:nvSpPr>
        <p:spPr>
          <a:xfrm>
            <a:off x="9300025" y="3466900"/>
            <a:ext cx="544010" cy="33356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35" name="Straight Arrow Connector 34">
            <a:extLst>
              <a:ext uri="{FF2B5EF4-FFF2-40B4-BE49-F238E27FC236}">
                <a16:creationId xmlns:a16="http://schemas.microsoft.com/office/drawing/2014/main" id="{9CE6C23A-1E3D-E244-A556-E6873B5442A4}"/>
              </a:ext>
            </a:extLst>
          </p:cNvPr>
          <p:cNvCxnSpPr>
            <a:cxnSpLocks/>
          </p:cNvCxnSpPr>
          <p:nvPr/>
        </p:nvCxnSpPr>
        <p:spPr>
          <a:xfrm flipV="1">
            <a:off x="8957642" y="4802071"/>
            <a:ext cx="0" cy="3798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ounded Rectangle 35">
                <a:extLst>
                  <a:ext uri="{FF2B5EF4-FFF2-40B4-BE49-F238E27FC236}">
                    <a16:creationId xmlns:a16="http://schemas.microsoft.com/office/drawing/2014/main" id="{666FD0A0-C7A6-1A43-B68E-AEF14BD0EABB}"/>
                  </a:ext>
                </a:extLst>
              </p:cNvPr>
              <p:cNvSpPr/>
              <p:nvPr/>
            </p:nvSpPr>
            <p:spPr>
              <a:xfrm>
                <a:off x="8624908" y="5312242"/>
                <a:ext cx="647273"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𝒙</m:t>
                          </m:r>
                        </m:e>
                        <m:sub>
                          <m:r>
                            <m:rPr>
                              <m:sty m:val="p"/>
                            </m:rPr>
                            <a:rPr lang="en-US" altLang="zh-CN" b="1" i="1">
                              <a:solidFill>
                                <a:schemeClr val="tx1"/>
                              </a:solidFill>
                              <a:latin typeface="Cambria Math" panose="02040503050406030204" pitchFamily="18" charset="0"/>
                            </a:rPr>
                            <m:t>m</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𝟏</m:t>
                          </m:r>
                          <m:r>
                            <a:rPr lang="zh-CN" altLang="en-US" b="1" i="1" smtClean="0">
                              <a:solidFill>
                                <a:schemeClr val="tx1"/>
                              </a:solidFill>
                              <a:latin typeface="Cambria Math" panose="02040503050406030204" pitchFamily="18" charset="0"/>
                            </a:rPr>
                            <m:t> </m:t>
                          </m:r>
                        </m:sub>
                      </m:sSub>
                    </m:oMath>
                  </m:oMathPara>
                </a14:m>
                <a:endParaRPr lang="en-CN" b="1" dirty="0">
                  <a:solidFill>
                    <a:schemeClr val="tx1"/>
                  </a:solidFill>
                </a:endParaRPr>
              </a:p>
            </p:txBody>
          </p:sp>
        </mc:Choice>
        <mc:Fallback xmlns="">
          <p:sp>
            <p:nvSpPr>
              <p:cNvPr id="36" name="Rounded Rectangle 35">
                <a:extLst>
                  <a:ext uri="{FF2B5EF4-FFF2-40B4-BE49-F238E27FC236}">
                    <a16:creationId xmlns:a16="http://schemas.microsoft.com/office/drawing/2014/main" id="{666FD0A0-C7A6-1A43-B68E-AEF14BD0EABB}"/>
                  </a:ext>
                </a:extLst>
              </p:cNvPr>
              <p:cNvSpPr>
                <a:spLocks noRot="1" noChangeAspect="1" noMove="1" noResize="1" noEditPoints="1" noAdjustHandles="1" noChangeArrowheads="1" noChangeShapeType="1" noTextEdit="1"/>
              </p:cNvSpPr>
              <p:nvPr/>
            </p:nvSpPr>
            <p:spPr>
              <a:xfrm>
                <a:off x="8624908" y="5312242"/>
                <a:ext cx="647273" cy="426497"/>
              </a:xfrm>
              <a:prstGeom prst="roundRect">
                <a:avLst/>
              </a:prstGeom>
              <a:blipFill>
                <a:blip r:embed="rId44"/>
                <a:stretch>
                  <a:fillRect l="-23077" r="-5769" b="-11765"/>
                </a:stretch>
              </a:blipFill>
              <a:ln>
                <a:noFill/>
              </a:ln>
            </p:spPr>
            <p:txBody>
              <a:bodyPr/>
              <a:lstStyle/>
              <a:p>
                <a:r>
                  <a:rPr lang="en-CN">
                    <a:noFill/>
                  </a:rPr>
                  <a:t> </a:t>
                </a:r>
              </a:p>
            </p:txBody>
          </p:sp>
        </mc:Fallback>
      </mc:AlternateContent>
      <p:sp>
        <p:nvSpPr>
          <p:cNvPr id="37" name="Rounded Rectangle 36">
            <a:extLst>
              <a:ext uri="{FF2B5EF4-FFF2-40B4-BE49-F238E27FC236}">
                <a16:creationId xmlns:a16="http://schemas.microsoft.com/office/drawing/2014/main" id="{92A543B7-AFEF-BE48-9E41-6793B8D6B87B}"/>
              </a:ext>
            </a:extLst>
          </p:cNvPr>
          <p:cNvSpPr/>
          <p:nvPr/>
        </p:nvSpPr>
        <p:spPr>
          <a:xfrm>
            <a:off x="9902925" y="2722390"/>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dirty="0">
              <a:solidFill>
                <a:schemeClr val="tx1"/>
              </a:solidFill>
            </a:endParaRPr>
          </a:p>
        </p:txBody>
      </p:sp>
      <p:sp>
        <p:nvSpPr>
          <p:cNvPr id="38" name="Rounded Rectangle 37">
            <a:extLst>
              <a:ext uri="{FF2B5EF4-FFF2-40B4-BE49-F238E27FC236}">
                <a16:creationId xmlns:a16="http://schemas.microsoft.com/office/drawing/2014/main" id="{49F3B2A2-392C-D347-A6B5-453A8F04C3F8}"/>
              </a:ext>
            </a:extLst>
          </p:cNvPr>
          <p:cNvSpPr/>
          <p:nvPr/>
        </p:nvSpPr>
        <p:spPr>
          <a:xfrm>
            <a:off x="9902925" y="3448714"/>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dirty="0">
              <a:solidFill>
                <a:schemeClr val="tx1"/>
              </a:solidFill>
            </a:endParaRPr>
          </a:p>
        </p:txBody>
      </p:sp>
      <p:sp>
        <p:nvSpPr>
          <p:cNvPr id="39" name="Rounded Rectangle 38">
            <a:extLst>
              <a:ext uri="{FF2B5EF4-FFF2-40B4-BE49-F238E27FC236}">
                <a16:creationId xmlns:a16="http://schemas.microsoft.com/office/drawing/2014/main" id="{434BB5FC-E1E9-3B40-9E7D-61346A63A6A3}"/>
              </a:ext>
            </a:extLst>
          </p:cNvPr>
          <p:cNvSpPr/>
          <p:nvPr/>
        </p:nvSpPr>
        <p:spPr>
          <a:xfrm>
            <a:off x="9891752" y="4254189"/>
            <a:ext cx="410631" cy="42649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dirty="0">
              <a:solidFill>
                <a:schemeClr val="tx1"/>
              </a:solidFil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B5CF00A-2E08-554F-8C5F-7B29F7EDF910}"/>
                  </a:ext>
                </a:extLst>
              </p:cNvPr>
              <p:cNvSpPr txBox="1"/>
              <p:nvPr/>
            </p:nvSpPr>
            <p:spPr>
              <a:xfrm>
                <a:off x="8887110" y="3918818"/>
                <a:ext cx="141064" cy="276999"/>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CN" i="1" smtClean="0">
                          <a:latin typeface="Cambria Math" panose="02040503050406030204" pitchFamily="18" charset="0"/>
                        </a:rPr>
                        <m:t>⋮</m:t>
                      </m:r>
                    </m:oMath>
                  </m:oMathPara>
                </a14:m>
                <a:endParaRPr lang="en-CN" dirty="0">
                  <a:latin typeface="+mn-ea"/>
                </a:endParaRPr>
              </a:p>
            </p:txBody>
          </p:sp>
        </mc:Choice>
        <mc:Fallback xmlns="">
          <p:sp>
            <p:nvSpPr>
              <p:cNvPr id="40" name="TextBox 39">
                <a:extLst>
                  <a:ext uri="{FF2B5EF4-FFF2-40B4-BE49-F238E27FC236}">
                    <a16:creationId xmlns:a16="http://schemas.microsoft.com/office/drawing/2014/main" id="{CB5CF00A-2E08-554F-8C5F-7B29F7EDF910}"/>
                  </a:ext>
                </a:extLst>
              </p:cNvPr>
              <p:cNvSpPr txBox="1">
                <a:spLocks noRot="1" noChangeAspect="1" noMove="1" noResize="1" noEditPoints="1" noAdjustHandles="1" noChangeArrowheads="1" noChangeShapeType="1" noTextEdit="1"/>
              </p:cNvSpPr>
              <p:nvPr/>
            </p:nvSpPr>
            <p:spPr>
              <a:xfrm>
                <a:off x="8887110" y="3918818"/>
                <a:ext cx="141064" cy="276999"/>
              </a:xfrm>
              <a:prstGeom prst="rect">
                <a:avLst/>
              </a:prstGeom>
              <a:blipFill>
                <a:blip r:embed="rId45"/>
                <a:stretch>
                  <a:fillRect l="-25000" r="-25000" b="-4348"/>
                </a:stretch>
              </a:blipFill>
            </p:spPr>
            <p:txBody>
              <a:bodyPr/>
              <a:lstStyle/>
              <a:p>
                <a:r>
                  <a:rPr lang="en-CN">
                    <a:noFill/>
                  </a:rPr>
                  <a:t> </a:t>
                </a:r>
              </a:p>
            </p:txBody>
          </p:sp>
        </mc:Fallback>
      </mc:AlternateContent>
      <p:sp>
        <p:nvSpPr>
          <p:cNvPr id="41" name="Right Arrow 40">
            <a:extLst>
              <a:ext uri="{FF2B5EF4-FFF2-40B4-BE49-F238E27FC236}">
                <a16:creationId xmlns:a16="http://schemas.microsoft.com/office/drawing/2014/main" id="{D6CEB66B-81A6-C145-BC13-81CE5B1A89AF}"/>
              </a:ext>
            </a:extLst>
          </p:cNvPr>
          <p:cNvSpPr/>
          <p:nvPr/>
        </p:nvSpPr>
        <p:spPr>
          <a:xfrm>
            <a:off x="10479886" y="3455621"/>
            <a:ext cx="544010" cy="33356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2" name="TextBox 41">
            <a:extLst>
              <a:ext uri="{FF2B5EF4-FFF2-40B4-BE49-F238E27FC236}">
                <a16:creationId xmlns:a16="http://schemas.microsoft.com/office/drawing/2014/main" id="{C3B2BDDA-2381-B34A-8C3B-396D92370943}"/>
              </a:ext>
            </a:extLst>
          </p:cNvPr>
          <p:cNvSpPr txBox="1"/>
          <p:nvPr/>
        </p:nvSpPr>
        <p:spPr>
          <a:xfrm>
            <a:off x="8403644" y="5738072"/>
            <a:ext cx="1107996" cy="369332"/>
          </a:xfrm>
          <a:prstGeom prst="rect">
            <a:avLst/>
          </a:prstGeom>
          <a:noFill/>
        </p:spPr>
        <p:txBody>
          <a:bodyPr wrap="none" rtlCol="0">
            <a:spAutoFit/>
          </a:bodyPr>
          <a:lstStyle/>
          <a:p>
            <a:pPr algn="l"/>
            <a:r>
              <a:rPr lang="en-US" dirty="0" err="1">
                <a:latin typeface="+mn-ea"/>
              </a:rPr>
              <a:t>新的输入</a:t>
            </a:r>
            <a:endParaRPr lang="en-CN" dirty="0">
              <a:latin typeface="+mn-ea"/>
            </a:endParaRPr>
          </a:p>
        </p:txBody>
      </p:sp>
      <p:sp>
        <p:nvSpPr>
          <p:cNvPr id="43" name="TextBox 42">
            <a:extLst>
              <a:ext uri="{FF2B5EF4-FFF2-40B4-BE49-F238E27FC236}">
                <a16:creationId xmlns:a16="http://schemas.microsoft.com/office/drawing/2014/main" id="{73E15517-C4F1-3746-A7F4-104C10E8E795}"/>
              </a:ext>
            </a:extLst>
          </p:cNvPr>
          <p:cNvSpPr txBox="1"/>
          <p:nvPr/>
        </p:nvSpPr>
        <p:spPr>
          <a:xfrm>
            <a:off x="10350072" y="3161312"/>
            <a:ext cx="749564" cy="307777"/>
          </a:xfrm>
          <a:prstGeom prst="rect">
            <a:avLst/>
          </a:prstGeom>
          <a:noFill/>
        </p:spPr>
        <p:txBody>
          <a:bodyPr wrap="none" rtlCol="0">
            <a:spAutoFit/>
          </a:bodyPr>
          <a:lstStyle/>
          <a:p>
            <a:pPr algn="l"/>
            <a:r>
              <a:rPr lang="en-US" altLang="zh-CN" sz="1400" dirty="0">
                <a:latin typeface="+mn-ea"/>
              </a:rPr>
              <a:t>Voting</a:t>
            </a:r>
            <a:endParaRPr lang="en-CN" sz="1400" dirty="0">
              <a:latin typeface="+mn-ea"/>
            </a:endParaRPr>
          </a:p>
        </p:txBody>
      </p:sp>
      <p:sp>
        <p:nvSpPr>
          <p:cNvPr id="44" name="Rounded Rectangle 43">
            <a:extLst>
              <a:ext uri="{FF2B5EF4-FFF2-40B4-BE49-F238E27FC236}">
                <a16:creationId xmlns:a16="http://schemas.microsoft.com/office/drawing/2014/main" id="{C1239FFC-6D19-1648-B157-300F47183560}"/>
              </a:ext>
            </a:extLst>
          </p:cNvPr>
          <p:cNvSpPr/>
          <p:nvPr/>
        </p:nvSpPr>
        <p:spPr>
          <a:xfrm>
            <a:off x="11120969" y="3433166"/>
            <a:ext cx="410631" cy="42649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dirty="0">
              <a:solidFill>
                <a:schemeClr val="tx1"/>
              </a:solidFill>
            </a:endParaRPr>
          </a:p>
        </p:txBody>
      </p:sp>
    </p:spTree>
    <p:extLst>
      <p:ext uri="{BB962C8B-B14F-4D97-AF65-F5344CB8AC3E}">
        <p14:creationId xmlns:p14="http://schemas.microsoft.com/office/powerpoint/2010/main" val="313087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linds(horizontal)">
                                      <p:cBhvr>
                                        <p:cTn id="25" dur="500"/>
                                        <p:tgtEl>
                                          <p:spTgt spid="1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linds(horizontal)">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linds(horizontal)">
                                      <p:cBhvr>
                                        <p:cTn id="36" dur="500"/>
                                        <p:tgtEl>
                                          <p:spTgt spid="18"/>
                                        </p:tgtEl>
                                      </p:cBhvr>
                                    </p:animEffect>
                                  </p:childTnLst>
                                </p:cTn>
                              </p:par>
                              <p:par>
                                <p:cTn id="37" presetID="3" presetClass="entr" presetSubtype="1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linds(horizontal)">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blinds(horizontal)">
                                      <p:cBhvr>
                                        <p:cTn id="44" dur="500"/>
                                        <p:tgtEl>
                                          <p:spTgt spid="19"/>
                                        </p:tgtEl>
                                      </p:cBhvr>
                                    </p:animEffect>
                                  </p:childTnLst>
                                </p:cTn>
                              </p:par>
                              <p:par>
                                <p:cTn id="45" presetID="3" presetClass="entr" presetSubtype="1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blinds(horizontal)">
                                      <p:cBhvr>
                                        <p:cTn id="50" dur="500"/>
                                        <p:tgtEl>
                                          <p:spTgt spid="21"/>
                                        </p:tgtEl>
                                      </p:cBhvr>
                                    </p:animEffect>
                                  </p:childTnLst>
                                </p:cTn>
                              </p:par>
                              <p:par>
                                <p:cTn id="51" presetID="3" presetClass="entr" presetSubtype="1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blinds(horizontal)">
                                      <p:cBhvr>
                                        <p:cTn id="53" dur="500"/>
                                        <p:tgtEl>
                                          <p:spTgt spid="22"/>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blinds(horizontal)">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blinds(horizontal)">
                                      <p:cBhvr>
                                        <p:cTn id="61" dur="500"/>
                                        <p:tgtEl>
                                          <p:spTgt spid="24"/>
                                        </p:tgtEl>
                                      </p:cBhvr>
                                    </p:animEffect>
                                  </p:childTnLst>
                                </p:cTn>
                              </p:par>
                              <p:par>
                                <p:cTn id="62" presetID="3" presetClass="entr" presetSubtype="1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blinds(horizontal)">
                                      <p:cBhvr>
                                        <p:cTn id="64" dur="500"/>
                                        <p:tgtEl>
                                          <p:spTgt spid="25"/>
                                        </p:tgtEl>
                                      </p:cBhvr>
                                    </p:animEffect>
                                  </p:childTnLst>
                                </p:cTn>
                              </p:par>
                              <p:par>
                                <p:cTn id="65" presetID="3" presetClass="entr" presetSubtype="1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linds(horizontal)">
                                      <p:cBhvr>
                                        <p:cTn id="67" dur="500"/>
                                        <p:tgtEl>
                                          <p:spTgt spid="26"/>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blinds(horizontal)">
                                      <p:cBhvr>
                                        <p:cTn id="70" dur="500"/>
                                        <p:tgtEl>
                                          <p:spTgt spid="27"/>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blinds(horizontal)">
                                      <p:cBhvr>
                                        <p:cTn id="73" dur="500"/>
                                        <p:tgtEl>
                                          <p:spTgt spid="31"/>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blinds(horizontal)">
                                      <p:cBhvr>
                                        <p:cTn id="78" dur="500"/>
                                        <p:tgtEl>
                                          <p:spTgt spid="28"/>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blinds(horizontal)">
                                      <p:cBhvr>
                                        <p:cTn id="81" dur="500"/>
                                        <p:tgtEl>
                                          <p:spTgt spid="29"/>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blinds(horizontal)">
                                      <p:cBhvr>
                                        <p:cTn id="84" dur="500"/>
                                        <p:tgtEl>
                                          <p:spTgt spid="30"/>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blinds(horizontal)">
                                      <p:cBhvr>
                                        <p:cTn id="87" dur="500"/>
                                        <p:tgtEl>
                                          <p:spTgt spid="40"/>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blinds(horizontal)">
                                      <p:cBhvr>
                                        <p:cTn id="90" dur="500"/>
                                        <p:tgtEl>
                                          <p:spTgt spid="33"/>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blinds(horizontal)">
                                      <p:cBhvr>
                                        <p:cTn id="95" dur="500"/>
                                        <p:tgtEl>
                                          <p:spTgt spid="35"/>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blinds(horizontal)">
                                      <p:cBhvr>
                                        <p:cTn id="98" dur="500"/>
                                        <p:tgtEl>
                                          <p:spTgt spid="36"/>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animEffect transition="in" filter="blinds(horizontal)">
                                      <p:cBhvr>
                                        <p:cTn id="101" dur="500"/>
                                        <p:tgtEl>
                                          <p:spTgt spid="42"/>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blinds(horizontal)">
                                      <p:cBhvr>
                                        <p:cTn id="106" dur="500"/>
                                        <p:tgtEl>
                                          <p:spTgt spid="32"/>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34"/>
                                        </p:tgtEl>
                                        <p:attrNameLst>
                                          <p:attrName>style.visibility</p:attrName>
                                        </p:attrNameLst>
                                      </p:cBhvr>
                                      <p:to>
                                        <p:strVal val="visible"/>
                                      </p:to>
                                    </p:set>
                                    <p:animEffect transition="in" filter="blinds(horizontal)">
                                      <p:cBhvr>
                                        <p:cTn id="109" dur="500"/>
                                        <p:tgtEl>
                                          <p:spTgt spid="34"/>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blinds(horizontal)">
                                      <p:cBhvr>
                                        <p:cTn id="112" dur="500"/>
                                        <p:tgtEl>
                                          <p:spTgt spid="37"/>
                                        </p:tgtEl>
                                      </p:cBhvr>
                                    </p:animEffect>
                                  </p:childTnLst>
                                </p:cTn>
                              </p:par>
                              <p:par>
                                <p:cTn id="113" presetID="3" presetClass="entr" presetSubtype="1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blinds(horizontal)">
                                      <p:cBhvr>
                                        <p:cTn id="115" dur="500"/>
                                        <p:tgtEl>
                                          <p:spTgt spid="38"/>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blinds(horizontal)">
                                      <p:cBhvr>
                                        <p:cTn id="118" dur="500"/>
                                        <p:tgtEl>
                                          <p:spTgt spid="39"/>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blinds(horizontal)">
                                      <p:cBhvr>
                                        <p:cTn id="121" dur="500"/>
                                        <p:tgtEl>
                                          <p:spTgt spid="41"/>
                                        </p:tgtEl>
                                      </p:cBhvr>
                                    </p:animEffect>
                                  </p:childTnLst>
                                </p:cTn>
                              </p:par>
                              <p:par>
                                <p:cTn id="122" presetID="3" presetClass="entr" presetSubtype="1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blinds(horizontal)">
                                      <p:cBhvr>
                                        <p:cTn id="124" dur="500"/>
                                        <p:tgtEl>
                                          <p:spTgt spid="43"/>
                                        </p:tgtEl>
                                      </p:cBhvr>
                                    </p:animEffect>
                                  </p:childTnLst>
                                </p:cTn>
                              </p:par>
                              <p:par>
                                <p:cTn id="125" presetID="3" presetClass="entr" presetSubtype="1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blinds(horizontal)">
                                      <p:cBhvr>
                                        <p:cTn id="12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p:bldP spid="16" grpId="0"/>
      <p:bldP spid="18" grpId="0"/>
      <p:bldP spid="21" grpId="0"/>
      <p:bldP spid="23" grpId="0" animBg="1"/>
      <p:bldP spid="27" grpId="0"/>
      <p:bldP spid="28" grpId="0" animBg="1"/>
      <p:bldP spid="29" grpId="0" animBg="1"/>
      <p:bldP spid="30" grpId="0" animBg="1"/>
      <p:bldP spid="31" grpId="0"/>
      <p:bldP spid="32" grpId="0"/>
      <p:bldP spid="33" grpId="0"/>
      <p:bldP spid="34" grpId="0" animBg="1"/>
      <p:bldP spid="36" grpId="0" animBg="1"/>
      <p:bldP spid="37" grpId="0" animBg="1"/>
      <p:bldP spid="38" grpId="0" animBg="1"/>
      <p:bldP spid="39" grpId="0" animBg="1"/>
      <p:bldP spid="40" grpId="0"/>
      <p:bldP spid="41" grpId="0" animBg="1"/>
      <p:bldP spid="42" grpId="0"/>
      <p:bldP spid="43" grpId="0"/>
      <p:bldP spid="4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CN" sz="3200" dirty="0"/>
              <a:t>随机森林</a:t>
            </a:r>
            <a:endParaRPr lang="zh-CN" altLang="en-US" sz="3200" dirty="0"/>
          </a:p>
        </p:txBody>
      </p:sp>
      <p:sp>
        <p:nvSpPr>
          <p:cNvPr id="3" name="TextBox 2">
            <a:extLst>
              <a:ext uri="{FF2B5EF4-FFF2-40B4-BE49-F238E27FC236}">
                <a16:creationId xmlns:a16="http://schemas.microsoft.com/office/drawing/2014/main" id="{728CA0C0-2BA3-2448-82AC-C1CD9506E742}"/>
              </a:ext>
            </a:extLst>
          </p:cNvPr>
          <p:cNvSpPr txBox="1"/>
          <p:nvPr/>
        </p:nvSpPr>
        <p:spPr>
          <a:xfrm>
            <a:off x="721806" y="1536174"/>
            <a:ext cx="10748388" cy="1938992"/>
          </a:xfrm>
          <a:prstGeom prst="rect">
            <a:avLst/>
          </a:prstGeom>
          <a:noFill/>
        </p:spPr>
        <p:txBody>
          <a:bodyPr wrap="square" rtlCol="0">
            <a:spAutoFit/>
          </a:bodyPr>
          <a:lstStyle/>
          <a:p>
            <a:pPr marL="342900" indent="-342900">
              <a:buFont typeface="Wingdings" pitchFamily="2" charset="2"/>
              <a:buChar char="Ø"/>
            </a:pPr>
            <a:r>
              <a:rPr lang="zh-CN" altLang="en-US" sz="2400" dirty="0"/>
              <a:t>随机森林</a:t>
            </a:r>
            <a:r>
              <a:rPr lang="en-US" sz="2400" dirty="0"/>
              <a:t>(Random Forest</a:t>
            </a:r>
            <a:r>
              <a:rPr lang="zh-CN" altLang="en-US" sz="2400" dirty="0"/>
              <a:t>，简称</a:t>
            </a:r>
            <a:r>
              <a:rPr lang="en-US" sz="2400" dirty="0"/>
              <a:t>RF) </a:t>
            </a:r>
            <a:r>
              <a:rPr lang="zh-CN" altLang="en-US" sz="2400" dirty="0"/>
              <a:t>是</a:t>
            </a:r>
            <a:r>
              <a:rPr lang="en-US" sz="2400" dirty="0"/>
              <a:t>Bagging </a:t>
            </a:r>
            <a:r>
              <a:rPr lang="zh-CN" altLang="en-US" sz="2400" dirty="0"/>
              <a:t>的一个扩展变体。</a:t>
            </a:r>
            <a:r>
              <a:rPr lang="en-US" sz="2400" dirty="0"/>
              <a:t>RF </a:t>
            </a:r>
            <a:r>
              <a:rPr lang="zh-CN" altLang="en-US" sz="2400" dirty="0"/>
              <a:t>是在以决策树为基学习器构建</a:t>
            </a:r>
            <a:r>
              <a:rPr lang="en-US" sz="2400" dirty="0"/>
              <a:t>Bagging </a:t>
            </a:r>
            <a:r>
              <a:rPr lang="zh-CN" altLang="en-US" sz="2400" dirty="0"/>
              <a:t>集成的基础上，</a:t>
            </a:r>
            <a:r>
              <a:rPr lang="zh-CN" altLang="en-US" sz="2400" dirty="0">
                <a:solidFill>
                  <a:srgbClr val="C00000"/>
                </a:solidFill>
              </a:rPr>
              <a:t>进一步在决策树的训练过程中引入了</a:t>
            </a:r>
            <a:r>
              <a:rPr lang="zh-CN" altLang="en-US" sz="2400" b="1" dirty="0">
                <a:solidFill>
                  <a:srgbClr val="C00000"/>
                </a:solidFill>
              </a:rPr>
              <a:t>随机属性选择</a:t>
            </a:r>
            <a:r>
              <a:rPr lang="en-US" sz="2400" dirty="0"/>
              <a:t>. </a:t>
            </a:r>
          </a:p>
          <a:p>
            <a:pPr marL="342900" indent="-342900">
              <a:buFont typeface="Wingdings" pitchFamily="2" charset="2"/>
              <a:buChar char="Ø"/>
            </a:pPr>
            <a:endParaRPr lang="en-US" sz="2400" dirty="0"/>
          </a:p>
          <a:p>
            <a:pPr algn="l"/>
            <a:endParaRPr lang="en-CN" sz="2400" dirty="0">
              <a:latin typeface="+mn-ea"/>
            </a:endParaRPr>
          </a:p>
        </p:txBody>
      </p:sp>
      <p:sp>
        <p:nvSpPr>
          <p:cNvPr id="5" name="TextBox 4">
            <a:extLst>
              <a:ext uri="{FF2B5EF4-FFF2-40B4-BE49-F238E27FC236}">
                <a16:creationId xmlns:a16="http://schemas.microsoft.com/office/drawing/2014/main" id="{10199404-6588-20E4-C093-8592C869257D}"/>
              </a:ext>
            </a:extLst>
          </p:cNvPr>
          <p:cNvSpPr txBox="1"/>
          <p:nvPr/>
        </p:nvSpPr>
        <p:spPr>
          <a:xfrm>
            <a:off x="1323667" y="3164878"/>
            <a:ext cx="9575391" cy="2308324"/>
          </a:xfrm>
          <a:prstGeom prst="rect">
            <a:avLst/>
          </a:prstGeom>
          <a:noFill/>
        </p:spPr>
        <p:txBody>
          <a:bodyPr wrap="square">
            <a:spAutoFit/>
          </a:bodyPr>
          <a:lstStyle/>
          <a:p>
            <a:pPr marL="342900" indent="-342900">
              <a:buFont typeface="Wingdings" pitchFamily="2" charset="2"/>
              <a:buChar char="ü"/>
            </a:pPr>
            <a:r>
              <a:rPr lang="zh-CN" altLang="en-US" sz="2400" dirty="0"/>
              <a:t>传统决策树在选择划分属性时是在当前结点的属性集合</a:t>
            </a:r>
            <a:r>
              <a:rPr lang="en-US" sz="2400" dirty="0"/>
              <a:t>(</a:t>
            </a:r>
            <a:r>
              <a:rPr lang="zh-CN" altLang="en-US" sz="2400" dirty="0"/>
              <a:t>假定有</a:t>
            </a:r>
            <a:r>
              <a:rPr lang="en-US" sz="2400" dirty="0"/>
              <a:t>d</a:t>
            </a:r>
            <a:r>
              <a:rPr lang="zh-CN" altLang="en-US" sz="2400" dirty="0"/>
              <a:t>个属性</a:t>
            </a:r>
            <a:r>
              <a:rPr lang="en-US" sz="2400" dirty="0"/>
              <a:t>) </a:t>
            </a:r>
            <a:r>
              <a:rPr lang="zh-CN" altLang="en-US" sz="2400" dirty="0"/>
              <a:t>中选择一个最优属性；</a:t>
            </a:r>
            <a:endParaRPr lang="en-US" altLang="zh-CN" sz="2400" dirty="0"/>
          </a:p>
          <a:p>
            <a:pPr marL="342900" indent="-342900">
              <a:buFont typeface="Wingdings" pitchFamily="2" charset="2"/>
              <a:buChar char="ü"/>
            </a:pPr>
            <a:endParaRPr lang="en-US" altLang="zh-CN" sz="2400" dirty="0"/>
          </a:p>
          <a:p>
            <a:pPr marL="342900" indent="-342900">
              <a:buFont typeface="Wingdings" pitchFamily="2" charset="2"/>
              <a:buChar char="ü"/>
            </a:pPr>
            <a:r>
              <a:rPr lang="zh-CN" altLang="en-US" sz="2400" dirty="0"/>
              <a:t>而在</a:t>
            </a:r>
            <a:r>
              <a:rPr lang="en-US" sz="2400" dirty="0"/>
              <a:t>RF </a:t>
            </a:r>
            <a:r>
              <a:rPr lang="zh-CN" altLang="en-US" sz="2400" dirty="0"/>
              <a:t>中，对基决策树的每个结点，先从该结点的属性集合中</a:t>
            </a:r>
            <a:r>
              <a:rPr lang="zh-CN" altLang="en-US" sz="2400" b="1" dirty="0">
                <a:solidFill>
                  <a:srgbClr val="C00000"/>
                </a:solidFill>
              </a:rPr>
              <a:t>随机选择一个包含</a:t>
            </a:r>
            <a:r>
              <a:rPr lang="en-US" sz="2400" b="1" i="1" dirty="0">
                <a:solidFill>
                  <a:srgbClr val="C00000"/>
                </a:solidFill>
              </a:rPr>
              <a:t>K </a:t>
            </a:r>
            <a:r>
              <a:rPr lang="zh-CN" altLang="en-US" sz="2400" b="1" dirty="0">
                <a:solidFill>
                  <a:srgbClr val="C00000"/>
                </a:solidFill>
              </a:rPr>
              <a:t>个属性的子集</a:t>
            </a:r>
            <a:r>
              <a:rPr lang="zh-CN" altLang="en-US" sz="2400" dirty="0"/>
              <a:t>，然后再从这个子集中选择一个最优属性用于划分。</a:t>
            </a:r>
            <a:endParaRPr lang="en-CN" sz="2400" dirty="0"/>
          </a:p>
        </p:txBody>
      </p:sp>
      <p:sp>
        <p:nvSpPr>
          <p:cNvPr id="2" name="灯片编号占位符 1">
            <a:extLst>
              <a:ext uri="{FF2B5EF4-FFF2-40B4-BE49-F238E27FC236}">
                <a16:creationId xmlns:a16="http://schemas.microsoft.com/office/drawing/2014/main" id="{976B11B6-8767-4189-A8EB-1F5BBB95D3F4}"/>
              </a:ext>
            </a:extLst>
          </p:cNvPr>
          <p:cNvSpPr>
            <a:spLocks noGrp="1"/>
          </p:cNvSpPr>
          <p:nvPr>
            <p:ph type="sldNum" sz="quarter" idx="14"/>
          </p:nvPr>
        </p:nvSpPr>
        <p:spPr/>
        <p:txBody>
          <a:bodyPr/>
          <a:lstStyle/>
          <a:p>
            <a:fld id="{AF69888C-E133-43D9-A638-B5C95925B91C}" type="slidenum">
              <a:rPr lang="zh-CN" altLang="en-US" smtClean="0"/>
              <a:t>21</a:t>
            </a:fld>
            <a:endParaRPr lang="zh-CN" altLang="en-US" dirty="0"/>
          </a:p>
        </p:txBody>
      </p:sp>
    </p:spTree>
    <p:extLst>
      <p:ext uri="{BB962C8B-B14F-4D97-AF65-F5344CB8AC3E}">
        <p14:creationId xmlns:p14="http://schemas.microsoft.com/office/powerpoint/2010/main" val="380359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CN" sz="3200" dirty="0"/>
              <a:t>随机森林</a:t>
            </a:r>
            <a:endParaRPr lang="zh-CN" altLang="en-US" sz="3200" dirty="0"/>
          </a:p>
        </p:txBody>
      </p:sp>
      <p:pic>
        <p:nvPicPr>
          <p:cNvPr id="5" name="Picture 4">
            <a:extLst>
              <a:ext uri="{FF2B5EF4-FFF2-40B4-BE49-F238E27FC236}">
                <a16:creationId xmlns:a16="http://schemas.microsoft.com/office/drawing/2014/main" id="{81A443FB-BA57-6C4F-BC83-15E07CB5B84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7840"/>
          <a:stretch/>
        </p:blipFill>
        <p:spPr bwMode="auto">
          <a:xfrm>
            <a:off x="839371" y="827180"/>
            <a:ext cx="5038914" cy="4430509"/>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E4143E11-68EB-CB42-A79B-AD7442BE8ED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160"/>
          <a:stretch/>
        </p:blipFill>
        <p:spPr bwMode="auto">
          <a:xfrm>
            <a:off x="5900769" y="827180"/>
            <a:ext cx="5492417" cy="4430510"/>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D4ECB54B-D978-077E-A110-6426AFA1DB85}"/>
              </a:ext>
            </a:extLst>
          </p:cNvPr>
          <p:cNvSpPr txBox="1"/>
          <p:nvPr/>
        </p:nvSpPr>
        <p:spPr>
          <a:xfrm>
            <a:off x="839370" y="5392568"/>
            <a:ext cx="10811855" cy="830997"/>
          </a:xfrm>
          <a:prstGeom prst="rect">
            <a:avLst/>
          </a:prstGeom>
          <a:noFill/>
        </p:spPr>
        <p:txBody>
          <a:bodyPr wrap="square">
            <a:spAutoFit/>
          </a:bodyPr>
          <a:lstStyle/>
          <a:p>
            <a:pPr marL="342900" indent="-342900">
              <a:buFont typeface="Wingdings" pitchFamily="2" charset="2"/>
              <a:buChar char="Ø"/>
            </a:pPr>
            <a:r>
              <a:rPr lang="zh-CN" altLang="en-US" sz="2400" kern="1200" dirty="0">
                <a:solidFill>
                  <a:schemeClr val="tx1"/>
                </a:solidFill>
                <a:effectLst/>
                <a:latin typeface="+mn-lt"/>
                <a:ea typeface="+mn-ea"/>
                <a:cs typeface="+mn-cs"/>
              </a:rPr>
              <a:t>对基决策树的每个结点，先从该结点的属性集合中随机选择一个包含</a:t>
            </a:r>
            <a:r>
              <a:rPr lang="en-US" sz="2400" b="1" kern="1200" dirty="0">
                <a:solidFill>
                  <a:srgbClr val="FF0000"/>
                </a:solidFill>
                <a:effectLst/>
                <a:latin typeface="+mn-lt"/>
                <a:ea typeface="+mn-ea"/>
                <a:cs typeface="+mn-cs"/>
              </a:rPr>
              <a:t>K </a:t>
            </a:r>
            <a:r>
              <a:rPr lang="zh-CN" altLang="en-US" sz="2400" b="1" kern="1200" dirty="0">
                <a:solidFill>
                  <a:srgbClr val="FF0000"/>
                </a:solidFill>
                <a:effectLst/>
                <a:latin typeface="+mn-lt"/>
                <a:ea typeface="+mn-ea"/>
                <a:cs typeface="+mn-cs"/>
              </a:rPr>
              <a:t>个属性的子集</a:t>
            </a:r>
            <a:r>
              <a:rPr lang="zh-CN" altLang="en-US" sz="2400" kern="1200" dirty="0">
                <a:solidFill>
                  <a:schemeClr val="tx1"/>
                </a:solidFill>
                <a:effectLst/>
                <a:latin typeface="+mn-lt"/>
                <a:ea typeface="+mn-ea"/>
                <a:cs typeface="+mn-cs"/>
              </a:rPr>
              <a:t>，然后再从这个子集中选择一个最优属性用于划分</a:t>
            </a:r>
            <a:endParaRPr lang="en-CN" sz="2400" dirty="0"/>
          </a:p>
        </p:txBody>
      </p:sp>
      <p:sp>
        <p:nvSpPr>
          <p:cNvPr id="2" name="灯片编号占位符 1">
            <a:extLst>
              <a:ext uri="{FF2B5EF4-FFF2-40B4-BE49-F238E27FC236}">
                <a16:creationId xmlns:a16="http://schemas.microsoft.com/office/drawing/2014/main" id="{C1D9FAB6-6684-4EAF-98B0-62D9AA3C8C70}"/>
              </a:ext>
            </a:extLst>
          </p:cNvPr>
          <p:cNvSpPr>
            <a:spLocks noGrp="1"/>
          </p:cNvSpPr>
          <p:nvPr>
            <p:ph type="sldNum" sz="quarter" idx="14"/>
          </p:nvPr>
        </p:nvSpPr>
        <p:spPr/>
        <p:txBody>
          <a:bodyPr/>
          <a:lstStyle/>
          <a:p>
            <a:fld id="{AF69888C-E133-43D9-A638-B5C95925B91C}" type="slidenum">
              <a:rPr lang="zh-CN" altLang="en-US" smtClean="0"/>
              <a:t>22</a:t>
            </a:fld>
            <a:endParaRPr lang="zh-CN" altLang="en-US" dirty="0"/>
          </a:p>
        </p:txBody>
      </p:sp>
    </p:spTree>
    <p:extLst>
      <p:ext uri="{BB962C8B-B14F-4D97-AF65-F5344CB8AC3E}">
        <p14:creationId xmlns:p14="http://schemas.microsoft.com/office/powerpoint/2010/main" val="1181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随机森林与</a:t>
            </a:r>
            <a:r>
              <a:rPr lang="en-US" altLang="en-US" dirty="0"/>
              <a:t>Bagging</a:t>
            </a:r>
            <a:r>
              <a:rPr lang="zh-CN" altLang="en-US" dirty="0"/>
              <a:t>的预测效果比较</a:t>
            </a:r>
            <a:r>
              <a:rPr lang="en-CN" dirty="0"/>
              <a:t> </a:t>
            </a:r>
            <a:endParaRPr lang="zh-CN" altLang="en-US" dirty="0"/>
          </a:p>
        </p:txBody>
      </p:sp>
      <p:pic>
        <p:nvPicPr>
          <p:cNvPr id="3" name="Picture 2">
            <a:extLst>
              <a:ext uri="{FF2B5EF4-FFF2-40B4-BE49-F238E27FC236}">
                <a16:creationId xmlns:a16="http://schemas.microsoft.com/office/drawing/2014/main" id="{A5660E9F-4D96-CB46-85C4-ABCB063EE551}"/>
              </a:ext>
            </a:extLst>
          </p:cNvPr>
          <p:cNvPicPr>
            <a:picLocks noChangeAspect="1"/>
          </p:cNvPicPr>
          <p:nvPr/>
        </p:nvPicPr>
        <p:blipFill>
          <a:blip r:embed="rId3"/>
          <a:stretch>
            <a:fillRect/>
          </a:stretch>
        </p:blipFill>
        <p:spPr>
          <a:xfrm>
            <a:off x="579867" y="2061921"/>
            <a:ext cx="4051319" cy="2528023"/>
          </a:xfrm>
          <a:prstGeom prst="rect">
            <a:avLst/>
          </a:prstGeom>
        </p:spPr>
      </p:pic>
      <p:sp>
        <p:nvSpPr>
          <p:cNvPr id="5" name="TextBox 4">
            <a:extLst>
              <a:ext uri="{FF2B5EF4-FFF2-40B4-BE49-F238E27FC236}">
                <a16:creationId xmlns:a16="http://schemas.microsoft.com/office/drawing/2014/main" id="{BAFF4FB0-1A7C-B147-8302-50358B818D4A}"/>
              </a:ext>
            </a:extLst>
          </p:cNvPr>
          <p:cNvSpPr txBox="1"/>
          <p:nvPr/>
        </p:nvSpPr>
        <p:spPr>
          <a:xfrm>
            <a:off x="566962" y="947586"/>
            <a:ext cx="10949604" cy="830997"/>
          </a:xfrm>
          <a:prstGeom prst="rect">
            <a:avLst/>
          </a:prstGeom>
          <a:noFill/>
        </p:spPr>
        <p:txBody>
          <a:bodyPr wrap="square" rtlCol="0">
            <a:spAutoFit/>
          </a:bodyPr>
          <a:lstStyle/>
          <a:p>
            <a:pPr marL="342900" indent="-342900">
              <a:buFont typeface="Wingdings" pitchFamily="2" charset="2"/>
              <a:buChar char="Ø"/>
            </a:pPr>
            <a:r>
              <a:rPr lang="en-US" sz="2400" dirty="0"/>
              <a:t>A comparison of Random Forest and Bagging for different numbers of trees</a:t>
            </a:r>
            <a:r>
              <a:rPr lang="zh-CN" altLang="en-US" sz="2400" dirty="0"/>
              <a:t> （</a:t>
            </a:r>
            <a:r>
              <a:rPr lang="en-US" altLang="zh-CN" sz="2400" dirty="0"/>
              <a:t>2020</a:t>
            </a:r>
            <a:r>
              <a:rPr lang="zh-CN" altLang="en-US" sz="2400" dirty="0"/>
              <a:t>）</a:t>
            </a:r>
            <a:r>
              <a:rPr lang="en-US" sz="2400" dirty="0"/>
              <a:t> </a:t>
            </a:r>
            <a:r>
              <a:rPr lang="zh-CN" altLang="en-US" sz="2400" dirty="0"/>
              <a:t>本文比较了在不同数据集上</a:t>
            </a:r>
            <a:r>
              <a:rPr lang="en-US" sz="2400" dirty="0"/>
              <a:t>Random forest </a:t>
            </a:r>
            <a:r>
              <a:rPr lang="zh-CN" altLang="en-US" sz="2400" dirty="0"/>
              <a:t>和</a:t>
            </a:r>
            <a:r>
              <a:rPr lang="en-US" sz="2400" dirty="0"/>
              <a:t>Bagging</a:t>
            </a:r>
            <a:r>
              <a:rPr lang="zh-CN" altLang="en-US" sz="2400" dirty="0"/>
              <a:t>的区别</a:t>
            </a:r>
            <a:endParaRPr lang="en-CN" sz="2400" dirty="0">
              <a:latin typeface="+mn-ea"/>
            </a:endParaRPr>
          </a:p>
        </p:txBody>
      </p:sp>
      <p:sp>
        <p:nvSpPr>
          <p:cNvPr id="7" name="TextBox 6">
            <a:extLst>
              <a:ext uri="{FF2B5EF4-FFF2-40B4-BE49-F238E27FC236}">
                <a16:creationId xmlns:a16="http://schemas.microsoft.com/office/drawing/2014/main" id="{BEA2148E-FCB1-B34D-90FF-0F8C9744506E}"/>
              </a:ext>
            </a:extLst>
          </p:cNvPr>
          <p:cNvSpPr txBox="1"/>
          <p:nvPr/>
        </p:nvSpPr>
        <p:spPr>
          <a:xfrm>
            <a:off x="5094515" y="2165787"/>
            <a:ext cx="6203878" cy="369332"/>
          </a:xfrm>
          <a:prstGeom prst="rect">
            <a:avLst/>
          </a:prstGeom>
          <a:noFill/>
        </p:spPr>
        <p:txBody>
          <a:bodyPr wrap="none" rtlCol="0">
            <a:spAutoFit/>
          </a:bodyPr>
          <a:lstStyle/>
          <a:p>
            <a:r>
              <a:rPr lang="en-US" altLang="zh-CN" dirty="0">
                <a:latin typeface="+mn-ea"/>
              </a:rPr>
              <a:t>1.</a:t>
            </a:r>
            <a:r>
              <a:rPr lang="zh-CN" altLang="en-US" dirty="0">
                <a:latin typeface="+mn-ea"/>
              </a:rPr>
              <a:t> </a:t>
            </a:r>
            <a:r>
              <a:rPr lang="en-US" altLang="zh-CN" dirty="0">
                <a:latin typeface="+mn-ea"/>
              </a:rPr>
              <a:t>Haberman</a:t>
            </a:r>
            <a:r>
              <a:rPr lang="zh-CN" altLang="en-US" dirty="0">
                <a:latin typeface="+mn-ea"/>
              </a:rPr>
              <a:t> </a:t>
            </a:r>
            <a:r>
              <a:rPr lang="en-US" altLang="zh-CN" dirty="0">
                <a:latin typeface="+mn-ea"/>
              </a:rPr>
              <a:t>Dataset</a:t>
            </a:r>
            <a:r>
              <a:rPr lang="zh-CN" altLang="en-US" dirty="0">
                <a:latin typeface="+mn-ea"/>
              </a:rPr>
              <a:t> </a:t>
            </a:r>
            <a:r>
              <a:rPr lang="en-US" altLang="zh-CN" dirty="0">
                <a:latin typeface="+mn-ea"/>
              </a:rPr>
              <a:t>(https://</a:t>
            </a:r>
            <a:r>
              <a:rPr lang="en-US" altLang="zh-CN" dirty="0" err="1">
                <a:latin typeface="+mn-ea"/>
              </a:rPr>
              <a:t>www.openml.org</a:t>
            </a:r>
            <a:r>
              <a:rPr lang="en-US" altLang="zh-CN" dirty="0">
                <a:latin typeface="+mn-ea"/>
              </a:rPr>
              <a:t>/d/43)</a:t>
            </a:r>
            <a:endParaRPr lang="en-CN" dirty="0">
              <a:latin typeface="+mn-ea"/>
            </a:endParaRPr>
          </a:p>
        </p:txBody>
      </p:sp>
      <p:sp>
        <p:nvSpPr>
          <p:cNvPr id="9" name="TextBox 8">
            <a:extLst>
              <a:ext uri="{FF2B5EF4-FFF2-40B4-BE49-F238E27FC236}">
                <a16:creationId xmlns:a16="http://schemas.microsoft.com/office/drawing/2014/main" id="{D946095F-B904-7C48-98F8-331386612151}"/>
              </a:ext>
            </a:extLst>
          </p:cNvPr>
          <p:cNvSpPr txBox="1"/>
          <p:nvPr/>
        </p:nvSpPr>
        <p:spPr>
          <a:xfrm>
            <a:off x="5066815" y="2458794"/>
            <a:ext cx="5507929" cy="646331"/>
          </a:xfrm>
          <a:prstGeom prst="rect">
            <a:avLst/>
          </a:prstGeom>
          <a:noFill/>
        </p:spPr>
        <p:txBody>
          <a:bodyPr wrap="square" rtlCol="0">
            <a:spAutoFit/>
          </a:bodyPr>
          <a:lstStyle/>
          <a:p>
            <a:r>
              <a:rPr lang="en-US" altLang="zh-CN" dirty="0">
                <a:latin typeface="+mn-ea"/>
              </a:rPr>
              <a:t>2.</a:t>
            </a:r>
            <a:r>
              <a:rPr lang="zh-CN" altLang="en-US" dirty="0">
                <a:latin typeface="+mn-ea"/>
              </a:rPr>
              <a:t> </a:t>
            </a:r>
            <a:r>
              <a:rPr lang="en-GB" dirty="0" err="1"/>
              <a:t>visualizing_environmental</a:t>
            </a:r>
            <a:r>
              <a:rPr lang="zh-CN" altLang="en-US" dirty="0"/>
              <a:t> </a:t>
            </a:r>
            <a:r>
              <a:rPr lang="en-GB" dirty="0"/>
              <a:t>dataset</a:t>
            </a:r>
            <a:r>
              <a:rPr lang="zh-CN" altLang="en-US" dirty="0"/>
              <a:t> </a:t>
            </a:r>
            <a:r>
              <a:rPr lang="en-US" altLang="zh-CN" dirty="0"/>
              <a:t>(</a:t>
            </a:r>
            <a:r>
              <a:rPr lang="en-GB" dirty="0">
                <a:latin typeface="+mn-ea"/>
              </a:rPr>
              <a:t>https://</a:t>
            </a:r>
            <a:r>
              <a:rPr lang="en-GB" dirty="0" err="1">
                <a:latin typeface="+mn-ea"/>
              </a:rPr>
              <a:t>www.openml.org</a:t>
            </a:r>
            <a:r>
              <a:rPr lang="en-GB" dirty="0">
                <a:latin typeface="+mn-ea"/>
              </a:rPr>
              <a:t>/d/678</a:t>
            </a:r>
            <a:r>
              <a:rPr lang="en-US" altLang="zh-CN" dirty="0"/>
              <a:t>)</a:t>
            </a:r>
            <a:endParaRPr lang="en-GB" dirty="0"/>
          </a:p>
        </p:txBody>
      </p:sp>
      <p:sp>
        <p:nvSpPr>
          <p:cNvPr id="10" name="TextBox 9">
            <a:extLst>
              <a:ext uri="{FF2B5EF4-FFF2-40B4-BE49-F238E27FC236}">
                <a16:creationId xmlns:a16="http://schemas.microsoft.com/office/drawing/2014/main" id="{35A18B0E-E230-6747-B352-4F04FC45396E}"/>
              </a:ext>
            </a:extLst>
          </p:cNvPr>
          <p:cNvSpPr txBox="1"/>
          <p:nvPr/>
        </p:nvSpPr>
        <p:spPr>
          <a:xfrm>
            <a:off x="5066815" y="3141267"/>
            <a:ext cx="6231578" cy="369332"/>
          </a:xfrm>
          <a:prstGeom prst="rect">
            <a:avLst/>
          </a:prstGeom>
          <a:noFill/>
        </p:spPr>
        <p:txBody>
          <a:bodyPr wrap="none" rtlCol="0">
            <a:spAutoFit/>
          </a:bodyPr>
          <a:lstStyle/>
          <a:p>
            <a:r>
              <a:rPr lang="en-US" altLang="zh-CN" dirty="0">
                <a:latin typeface="+mn-ea"/>
              </a:rPr>
              <a:t>3.</a:t>
            </a:r>
            <a:r>
              <a:rPr lang="zh-CN" altLang="en-US" dirty="0">
                <a:latin typeface="+mn-ea"/>
              </a:rPr>
              <a:t> </a:t>
            </a:r>
            <a:r>
              <a:rPr lang="en-GB" dirty="0"/>
              <a:t>fri_c3_100_5</a:t>
            </a:r>
            <a:r>
              <a:rPr lang="zh-CN" altLang="en-US" dirty="0">
                <a:latin typeface="+mn-ea"/>
              </a:rPr>
              <a:t> </a:t>
            </a:r>
            <a:r>
              <a:rPr lang="en-US" altLang="zh-CN" dirty="0">
                <a:latin typeface="+mn-ea"/>
              </a:rPr>
              <a:t>dataset</a:t>
            </a:r>
            <a:r>
              <a:rPr lang="zh-CN" altLang="en-US" dirty="0">
                <a:latin typeface="+mn-ea"/>
              </a:rPr>
              <a:t> </a:t>
            </a:r>
            <a:r>
              <a:rPr lang="en-US" altLang="zh-CN" dirty="0">
                <a:latin typeface="+mn-ea"/>
              </a:rPr>
              <a:t>(https://</a:t>
            </a:r>
            <a:r>
              <a:rPr lang="en-US" altLang="zh-CN" dirty="0" err="1">
                <a:latin typeface="+mn-ea"/>
              </a:rPr>
              <a:t>www.openml.org</a:t>
            </a:r>
            <a:r>
              <a:rPr lang="en-US" altLang="zh-CN" dirty="0">
                <a:latin typeface="+mn-ea"/>
              </a:rPr>
              <a:t>/d/611)</a:t>
            </a:r>
            <a:endParaRPr lang="en-GB" dirty="0"/>
          </a:p>
        </p:txBody>
      </p:sp>
      <p:sp>
        <p:nvSpPr>
          <p:cNvPr id="11" name="TextBox 10">
            <a:extLst>
              <a:ext uri="{FF2B5EF4-FFF2-40B4-BE49-F238E27FC236}">
                <a16:creationId xmlns:a16="http://schemas.microsoft.com/office/drawing/2014/main" id="{FDF11513-5537-3147-B359-AAB94F9EA402}"/>
              </a:ext>
            </a:extLst>
          </p:cNvPr>
          <p:cNvSpPr txBox="1"/>
          <p:nvPr/>
        </p:nvSpPr>
        <p:spPr>
          <a:xfrm>
            <a:off x="5066815" y="3534711"/>
            <a:ext cx="5137368" cy="369332"/>
          </a:xfrm>
          <a:prstGeom prst="rect">
            <a:avLst/>
          </a:prstGeom>
          <a:noFill/>
        </p:spPr>
        <p:txBody>
          <a:bodyPr wrap="none" rtlCol="0">
            <a:spAutoFit/>
          </a:bodyPr>
          <a:lstStyle/>
          <a:p>
            <a:r>
              <a:rPr lang="en-US" altLang="zh-CN" dirty="0">
                <a:latin typeface="+mn-ea"/>
              </a:rPr>
              <a:t>4.</a:t>
            </a:r>
            <a:r>
              <a:rPr lang="zh-CN" altLang="en-US" dirty="0">
                <a:latin typeface="+mn-ea"/>
              </a:rPr>
              <a:t> </a:t>
            </a:r>
            <a:r>
              <a:rPr lang="en-GB" dirty="0" err="1"/>
              <a:t>hayes-roth</a:t>
            </a:r>
            <a:r>
              <a:rPr lang="en-US" altLang="zh-CN" dirty="0">
                <a:latin typeface="+mn-ea"/>
              </a:rPr>
              <a:t>(https://</a:t>
            </a:r>
            <a:r>
              <a:rPr lang="en-US" altLang="zh-CN" dirty="0" err="1">
                <a:latin typeface="+mn-ea"/>
              </a:rPr>
              <a:t>www.openml.org</a:t>
            </a:r>
            <a:r>
              <a:rPr lang="en-US" altLang="zh-CN" dirty="0">
                <a:latin typeface="+mn-ea"/>
              </a:rPr>
              <a:t>/d/329)</a:t>
            </a:r>
            <a:endParaRPr lang="en-GB" dirty="0"/>
          </a:p>
        </p:txBody>
      </p:sp>
      <p:sp>
        <p:nvSpPr>
          <p:cNvPr id="12" name="TextBox 11">
            <a:extLst>
              <a:ext uri="{FF2B5EF4-FFF2-40B4-BE49-F238E27FC236}">
                <a16:creationId xmlns:a16="http://schemas.microsoft.com/office/drawing/2014/main" id="{DE0B28C5-A364-554E-A163-4E3C07A51484}"/>
              </a:ext>
            </a:extLst>
          </p:cNvPr>
          <p:cNvSpPr txBox="1"/>
          <p:nvPr/>
        </p:nvSpPr>
        <p:spPr>
          <a:xfrm>
            <a:off x="5066815" y="3932081"/>
            <a:ext cx="6545318" cy="369332"/>
          </a:xfrm>
          <a:prstGeom prst="rect">
            <a:avLst/>
          </a:prstGeom>
          <a:noFill/>
        </p:spPr>
        <p:txBody>
          <a:bodyPr wrap="none" rtlCol="0">
            <a:spAutoFit/>
          </a:bodyPr>
          <a:lstStyle/>
          <a:p>
            <a:r>
              <a:rPr lang="en-US" altLang="zh-CN" dirty="0">
                <a:latin typeface="+mn-ea"/>
              </a:rPr>
              <a:t>5.</a:t>
            </a:r>
            <a:r>
              <a:rPr lang="zh-CN" altLang="en-US" dirty="0">
                <a:latin typeface="+mn-ea"/>
              </a:rPr>
              <a:t> </a:t>
            </a:r>
            <a:r>
              <a:rPr lang="en-GB" dirty="0"/>
              <a:t>blood-transfusion</a:t>
            </a:r>
            <a:r>
              <a:rPr lang="zh-CN" altLang="en-US" dirty="0"/>
              <a:t> </a:t>
            </a:r>
            <a:r>
              <a:rPr lang="en-US" altLang="zh-CN" dirty="0"/>
              <a:t>dataset</a:t>
            </a:r>
            <a:r>
              <a:rPr lang="zh-CN" altLang="en-US" dirty="0"/>
              <a:t> </a:t>
            </a:r>
            <a:r>
              <a:rPr lang="en-US" altLang="zh-CN" dirty="0"/>
              <a:t>(https://</a:t>
            </a:r>
            <a:r>
              <a:rPr lang="en-US" altLang="zh-CN" dirty="0" err="1"/>
              <a:t>www.openml.org</a:t>
            </a:r>
            <a:r>
              <a:rPr lang="en-US" altLang="zh-CN" dirty="0"/>
              <a:t>/d/1464)</a:t>
            </a:r>
            <a:endParaRPr lang="en-GB" dirty="0"/>
          </a:p>
        </p:txBody>
      </p:sp>
      <p:sp>
        <p:nvSpPr>
          <p:cNvPr id="13" name="TextBox 12">
            <a:extLst>
              <a:ext uri="{FF2B5EF4-FFF2-40B4-BE49-F238E27FC236}">
                <a16:creationId xmlns:a16="http://schemas.microsoft.com/office/drawing/2014/main" id="{F83A1167-D652-8447-A8EC-E1DF183DD29F}"/>
              </a:ext>
            </a:extLst>
          </p:cNvPr>
          <p:cNvSpPr txBox="1"/>
          <p:nvPr/>
        </p:nvSpPr>
        <p:spPr>
          <a:xfrm>
            <a:off x="5094515" y="4325525"/>
            <a:ext cx="5304401" cy="646331"/>
          </a:xfrm>
          <a:prstGeom prst="rect">
            <a:avLst/>
          </a:prstGeom>
          <a:noFill/>
        </p:spPr>
        <p:txBody>
          <a:bodyPr wrap="none" rtlCol="0">
            <a:spAutoFit/>
          </a:bodyPr>
          <a:lstStyle/>
          <a:p>
            <a:r>
              <a:rPr lang="en-US" altLang="zh-CN" dirty="0">
                <a:latin typeface="+mn-ea"/>
              </a:rPr>
              <a:t>6.</a:t>
            </a:r>
            <a:r>
              <a:rPr lang="zh-CN" altLang="en-US" dirty="0">
                <a:latin typeface="+mn-ea"/>
              </a:rPr>
              <a:t> </a:t>
            </a:r>
            <a:r>
              <a:rPr lang="en-GB" dirty="0"/>
              <a:t>Diabetes</a:t>
            </a:r>
            <a:r>
              <a:rPr lang="zh-CN" altLang="en-US" dirty="0"/>
              <a:t> </a:t>
            </a:r>
            <a:r>
              <a:rPr lang="en-GB" dirty="0"/>
              <a:t>dataset</a:t>
            </a:r>
            <a:r>
              <a:rPr lang="en-US" altLang="zh-CN" dirty="0"/>
              <a:t>(https://</a:t>
            </a:r>
            <a:r>
              <a:rPr lang="en-US" altLang="zh-CN" dirty="0" err="1"/>
              <a:t>www.openml.org</a:t>
            </a:r>
            <a:r>
              <a:rPr lang="en-US" altLang="zh-CN" dirty="0"/>
              <a:t>/d/37)</a:t>
            </a:r>
            <a:endParaRPr lang="en-GB" dirty="0"/>
          </a:p>
          <a:p>
            <a:pPr algn="l"/>
            <a:r>
              <a:rPr lang="zh-CN" altLang="en-US" dirty="0">
                <a:latin typeface="+mn-ea"/>
              </a:rPr>
              <a:t> </a:t>
            </a:r>
            <a:endParaRPr lang="en-CN" dirty="0">
              <a:latin typeface="+mn-ea"/>
            </a:endParaRPr>
          </a:p>
        </p:txBody>
      </p:sp>
      <p:sp>
        <p:nvSpPr>
          <p:cNvPr id="15" name="TextBox 14">
            <a:extLst>
              <a:ext uri="{FF2B5EF4-FFF2-40B4-BE49-F238E27FC236}">
                <a16:creationId xmlns:a16="http://schemas.microsoft.com/office/drawing/2014/main" id="{76F1D732-0AE3-024A-8926-0E431605EF30}"/>
              </a:ext>
            </a:extLst>
          </p:cNvPr>
          <p:cNvSpPr txBox="1"/>
          <p:nvPr/>
        </p:nvSpPr>
        <p:spPr>
          <a:xfrm>
            <a:off x="5094515" y="4688617"/>
            <a:ext cx="6203878" cy="923330"/>
          </a:xfrm>
          <a:prstGeom prst="rect">
            <a:avLst/>
          </a:prstGeom>
          <a:noFill/>
        </p:spPr>
        <p:txBody>
          <a:bodyPr wrap="square" rtlCol="0">
            <a:spAutoFit/>
          </a:bodyPr>
          <a:lstStyle/>
          <a:p>
            <a:r>
              <a:rPr lang="en-US" altLang="zh-CN" dirty="0">
                <a:latin typeface="+mn-ea"/>
              </a:rPr>
              <a:t>7.</a:t>
            </a:r>
            <a:r>
              <a:rPr lang="zh-CN" altLang="en-US" dirty="0">
                <a:latin typeface="+mn-ea"/>
              </a:rPr>
              <a:t> </a:t>
            </a:r>
            <a:r>
              <a:rPr lang="en-GB" dirty="0"/>
              <a:t>Immunotherapy</a:t>
            </a:r>
            <a:r>
              <a:rPr lang="zh-CN" altLang="en-US" dirty="0"/>
              <a:t> </a:t>
            </a:r>
            <a:r>
              <a:rPr lang="en-GB" dirty="0"/>
              <a:t>dataset</a:t>
            </a:r>
            <a:r>
              <a:rPr lang="en-US" altLang="zh-CN" dirty="0">
                <a:latin typeface="+mn-ea"/>
              </a:rPr>
              <a:t>(https://</a:t>
            </a:r>
            <a:r>
              <a:rPr lang="en-US" altLang="zh-CN" dirty="0" err="1">
                <a:latin typeface="+mn-ea"/>
              </a:rPr>
              <a:t>archive.ics.uci.edu</a:t>
            </a:r>
            <a:r>
              <a:rPr lang="en-US" altLang="zh-CN" dirty="0">
                <a:latin typeface="+mn-ea"/>
              </a:rPr>
              <a:t>/ml/datasets/</a:t>
            </a:r>
            <a:r>
              <a:rPr lang="en-US" altLang="zh-CN" dirty="0" err="1">
                <a:latin typeface="+mn-ea"/>
              </a:rPr>
              <a:t>Immunotherapy+Dataset</a:t>
            </a:r>
            <a:r>
              <a:rPr lang="en-US" altLang="zh-CN" dirty="0">
                <a:latin typeface="+mn-ea"/>
              </a:rPr>
              <a:t>)</a:t>
            </a:r>
            <a:endParaRPr lang="en-GB" dirty="0"/>
          </a:p>
        </p:txBody>
      </p:sp>
      <p:sp>
        <p:nvSpPr>
          <p:cNvPr id="16" name="TextBox 15">
            <a:extLst>
              <a:ext uri="{FF2B5EF4-FFF2-40B4-BE49-F238E27FC236}">
                <a16:creationId xmlns:a16="http://schemas.microsoft.com/office/drawing/2014/main" id="{968C28FA-3A83-6D43-AC89-100D901416F6}"/>
              </a:ext>
            </a:extLst>
          </p:cNvPr>
          <p:cNvSpPr txBox="1"/>
          <p:nvPr/>
        </p:nvSpPr>
        <p:spPr>
          <a:xfrm>
            <a:off x="5094515" y="5605707"/>
            <a:ext cx="7193829" cy="646331"/>
          </a:xfrm>
          <a:prstGeom prst="rect">
            <a:avLst/>
          </a:prstGeom>
          <a:noFill/>
        </p:spPr>
        <p:txBody>
          <a:bodyPr wrap="none" rtlCol="0">
            <a:spAutoFit/>
          </a:bodyPr>
          <a:lstStyle/>
          <a:p>
            <a:r>
              <a:rPr lang="en-US" altLang="zh-CN" dirty="0">
                <a:latin typeface="+mn-ea"/>
              </a:rPr>
              <a:t>8. Cryotherapy Dataset</a:t>
            </a:r>
          </a:p>
          <a:p>
            <a:r>
              <a:rPr lang="en-US" altLang="zh-CN" dirty="0">
                <a:latin typeface="+mn-ea"/>
              </a:rPr>
              <a:t>(https://</a:t>
            </a:r>
            <a:r>
              <a:rPr lang="en-US" altLang="zh-CN" dirty="0" err="1">
                <a:latin typeface="+mn-ea"/>
              </a:rPr>
              <a:t>archive.ics.uci.edu</a:t>
            </a:r>
            <a:r>
              <a:rPr lang="en-US" altLang="zh-CN" dirty="0">
                <a:latin typeface="+mn-ea"/>
              </a:rPr>
              <a:t>/ml/datasets/</a:t>
            </a:r>
            <a:r>
              <a:rPr lang="en-US" altLang="zh-CN" dirty="0" err="1">
                <a:latin typeface="+mn-ea"/>
              </a:rPr>
              <a:t>Cryotherapy+Dataset</a:t>
            </a:r>
            <a:r>
              <a:rPr lang="en-US" altLang="zh-CN" dirty="0">
                <a:latin typeface="+mn-ea"/>
              </a:rPr>
              <a:t>+)</a:t>
            </a:r>
            <a:endParaRPr lang="en-CN" dirty="0">
              <a:latin typeface="+mn-ea"/>
            </a:endParaRPr>
          </a:p>
        </p:txBody>
      </p:sp>
      <p:sp>
        <p:nvSpPr>
          <p:cNvPr id="2" name="TextBox 1">
            <a:extLst>
              <a:ext uri="{FF2B5EF4-FFF2-40B4-BE49-F238E27FC236}">
                <a16:creationId xmlns:a16="http://schemas.microsoft.com/office/drawing/2014/main" id="{1EB3B67E-5CD9-3BFC-1E3D-3F7757E112A5}"/>
              </a:ext>
            </a:extLst>
          </p:cNvPr>
          <p:cNvSpPr txBox="1"/>
          <p:nvPr/>
        </p:nvSpPr>
        <p:spPr>
          <a:xfrm>
            <a:off x="980513" y="5099525"/>
            <a:ext cx="3650673" cy="830997"/>
          </a:xfrm>
          <a:prstGeom prst="rect">
            <a:avLst/>
          </a:prstGeom>
          <a:noFill/>
        </p:spPr>
        <p:txBody>
          <a:bodyPr wrap="square" rtlCol="0">
            <a:spAutoFit/>
          </a:bodyPr>
          <a:lstStyle/>
          <a:p>
            <a:pPr marL="342900" indent="-342900">
              <a:buFont typeface="Wingdings" pitchFamily="2" charset="2"/>
              <a:buChar char="ü"/>
            </a:pPr>
            <a:r>
              <a:rPr lang="en-CN" sz="2400" dirty="0"/>
              <a:t>准确率区别不大</a:t>
            </a:r>
          </a:p>
          <a:p>
            <a:pPr marL="342900" indent="-342900">
              <a:buFont typeface="Wingdings" pitchFamily="2" charset="2"/>
              <a:buChar char="ü"/>
            </a:pPr>
            <a:r>
              <a:rPr lang="en-CN" sz="2400" dirty="0">
                <a:latin typeface="+mn-ea"/>
              </a:rPr>
              <a:t>RF</a:t>
            </a:r>
            <a:r>
              <a:rPr lang="en-CN" sz="2400" dirty="0">
                <a:solidFill>
                  <a:srgbClr val="FF0000"/>
                </a:solidFill>
                <a:latin typeface="+mn-ea"/>
              </a:rPr>
              <a:t>训练效率更高</a:t>
            </a:r>
          </a:p>
        </p:txBody>
      </p:sp>
      <p:sp>
        <p:nvSpPr>
          <p:cNvPr id="6" name="灯片编号占位符 5">
            <a:extLst>
              <a:ext uri="{FF2B5EF4-FFF2-40B4-BE49-F238E27FC236}">
                <a16:creationId xmlns:a16="http://schemas.microsoft.com/office/drawing/2014/main" id="{E540349D-26D7-4BE6-9CC3-85360A14FD70}"/>
              </a:ext>
            </a:extLst>
          </p:cNvPr>
          <p:cNvSpPr>
            <a:spLocks noGrp="1"/>
          </p:cNvSpPr>
          <p:nvPr>
            <p:ph type="sldNum" sz="quarter" idx="14"/>
          </p:nvPr>
        </p:nvSpPr>
        <p:spPr/>
        <p:txBody>
          <a:bodyPr/>
          <a:lstStyle/>
          <a:p>
            <a:fld id="{AF69888C-E133-43D9-A638-B5C95925B91C}" type="slidenum">
              <a:rPr lang="zh-CN" altLang="en-US" smtClean="0"/>
              <a:t>23</a:t>
            </a:fld>
            <a:endParaRPr lang="zh-CN" altLang="en-US" dirty="0"/>
          </a:p>
        </p:txBody>
      </p:sp>
    </p:spTree>
    <p:extLst>
      <p:ext uri="{BB962C8B-B14F-4D97-AF65-F5344CB8AC3E}">
        <p14:creationId xmlns:p14="http://schemas.microsoft.com/office/powerpoint/2010/main" val="415747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linds(horizontal)">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5" grpId="0"/>
      <p:bldP spid="16"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随机森林与</a:t>
            </a:r>
            <a:r>
              <a:rPr lang="en-US" altLang="en-US" dirty="0"/>
              <a:t>Bagging</a:t>
            </a:r>
            <a:r>
              <a:rPr lang="zh-CN" altLang="en-US" dirty="0"/>
              <a:t>的预测效果比较</a:t>
            </a:r>
            <a:r>
              <a:rPr lang="en-CN" dirty="0"/>
              <a:t> </a:t>
            </a:r>
            <a:endParaRPr lang="zh-CN" altLang="en-US" dirty="0"/>
          </a:p>
        </p:txBody>
      </p:sp>
      <p:sp>
        <p:nvSpPr>
          <p:cNvPr id="6" name="TextBox 5">
            <a:extLst>
              <a:ext uri="{FF2B5EF4-FFF2-40B4-BE49-F238E27FC236}">
                <a16:creationId xmlns:a16="http://schemas.microsoft.com/office/drawing/2014/main" id="{ACA434DF-F426-9B4C-AF52-CD8203CA34FF}"/>
              </a:ext>
            </a:extLst>
          </p:cNvPr>
          <p:cNvSpPr txBox="1"/>
          <p:nvPr/>
        </p:nvSpPr>
        <p:spPr>
          <a:xfrm>
            <a:off x="566962" y="958018"/>
            <a:ext cx="6873228" cy="461665"/>
          </a:xfrm>
          <a:prstGeom prst="rect">
            <a:avLst/>
          </a:prstGeom>
          <a:noFill/>
        </p:spPr>
        <p:txBody>
          <a:bodyPr wrap="none" rtlCol="0">
            <a:spAutoFit/>
          </a:bodyPr>
          <a:lstStyle/>
          <a:p>
            <a:pPr algn="l"/>
            <a:r>
              <a:rPr lang="en-US" sz="2400" dirty="0">
                <a:latin typeface="+mn-ea"/>
              </a:rPr>
              <a:t>五次</a:t>
            </a:r>
            <a:r>
              <a:rPr lang="en-US" altLang="zh-CN" sz="2400" dirty="0">
                <a:latin typeface="+mn-ea"/>
              </a:rPr>
              <a:t>10-fold</a:t>
            </a:r>
            <a:r>
              <a:rPr lang="zh-CN" altLang="en-US" sz="2400" dirty="0">
                <a:latin typeface="+mn-ea"/>
              </a:rPr>
              <a:t> </a:t>
            </a:r>
            <a:r>
              <a:rPr lang="en-US" altLang="zh-CN" sz="2400" dirty="0">
                <a:latin typeface="+mn-ea"/>
              </a:rPr>
              <a:t>cross</a:t>
            </a:r>
            <a:r>
              <a:rPr lang="zh-CN" altLang="en-US" sz="2400" dirty="0">
                <a:latin typeface="+mn-ea"/>
              </a:rPr>
              <a:t> </a:t>
            </a:r>
            <a:r>
              <a:rPr lang="en-US" altLang="zh-CN" sz="2400" dirty="0">
                <a:latin typeface="+mn-ea"/>
              </a:rPr>
              <a:t>validation,</a:t>
            </a:r>
            <a:r>
              <a:rPr lang="zh-CN" altLang="en-US" sz="2400" dirty="0">
                <a:latin typeface="+mn-ea"/>
              </a:rPr>
              <a:t> 对预测结果取均值</a:t>
            </a:r>
            <a:endParaRPr lang="en-CN" sz="2400" dirty="0">
              <a:latin typeface="+mn-ea"/>
            </a:endParaRPr>
          </a:p>
        </p:txBody>
      </p:sp>
      <p:pic>
        <p:nvPicPr>
          <p:cNvPr id="14" name="Picture 13">
            <a:extLst>
              <a:ext uri="{FF2B5EF4-FFF2-40B4-BE49-F238E27FC236}">
                <a16:creationId xmlns:a16="http://schemas.microsoft.com/office/drawing/2014/main" id="{487E8602-8314-B247-B752-8E3DE56230F3}"/>
              </a:ext>
            </a:extLst>
          </p:cNvPr>
          <p:cNvPicPr>
            <a:picLocks noChangeAspect="1"/>
          </p:cNvPicPr>
          <p:nvPr/>
        </p:nvPicPr>
        <p:blipFill>
          <a:blip r:embed="rId3"/>
          <a:stretch>
            <a:fillRect/>
          </a:stretch>
        </p:blipFill>
        <p:spPr>
          <a:xfrm>
            <a:off x="249575" y="1634915"/>
            <a:ext cx="6623174" cy="5101633"/>
          </a:xfrm>
          <a:prstGeom prst="rect">
            <a:avLst/>
          </a:prstGeom>
        </p:spPr>
      </p:pic>
      <p:pic>
        <p:nvPicPr>
          <p:cNvPr id="18" name="Picture 17">
            <a:extLst>
              <a:ext uri="{FF2B5EF4-FFF2-40B4-BE49-F238E27FC236}">
                <a16:creationId xmlns:a16="http://schemas.microsoft.com/office/drawing/2014/main" id="{7B32AC95-4CE4-6048-9C4E-8B9AB4882F34}"/>
              </a:ext>
            </a:extLst>
          </p:cNvPr>
          <p:cNvPicPr>
            <a:picLocks noChangeAspect="1"/>
          </p:cNvPicPr>
          <p:nvPr/>
        </p:nvPicPr>
        <p:blipFill>
          <a:blip r:embed="rId4"/>
          <a:stretch>
            <a:fillRect/>
          </a:stretch>
        </p:blipFill>
        <p:spPr>
          <a:xfrm>
            <a:off x="4251505" y="1814053"/>
            <a:ext cx="7676223" cy="4922496"/>
          </a:xfrm>
          <a:prstGeom prst="rect">
            <a:avLst/>
          </a:prstGeom>
        </p:spPr>
      </p:pic>
      <p:sp>
        <p:nvSpPr>
          <p:cNvPr id="2" name="灯片编号占位符 1">
            <a:extLst>
              <a:ext uri="{FF2B5EF4-FFF2-40B4-BE49-F238E27FC236}">
                <a16:creationId xmlns:a16="http://schemas.microsoft.com/office/drawing/2014/main" id="{1FE3FD31-FEE5-4B22-B468-DD39B9277E6B}"/>
              </a:ext>
            </a:extLst>
          </p:cNvPr>
          <p:cNvSpPr>
            <a:spLocks noGrp="1"/>
          </p:cNvSpPr>
          <p:nvPr>
            <p:ph type="sldNum" sz="quarter" idx="14"/>
          </p:nvPr>
        </p:nvSpPr>
        <p:spPr/>
        <p:txBody>
          <a:bodyPr/>
          <a:lstStyle/>
          <a:p>
            <a:fld id="{AF69888C-E133-43D9-A638-B5C95925B91C}" type="slidenum">
              <a:rPr lang="zh-CN" altLang="en-US" smtClean="0"/>
              <a:t>24</a:t>
            </a:fld>
            <a:endParaRPr lang="zh-CN" altLang="en-US" dirty="0"/>
          </a:p>
        </p:txBody>
      </p:sp>
    </p:spTree>
    <p:extLst>
      <p:ext uri="{BB962C8B-B14F-4D97-AF65-F5344CB8AC3E}">
        <p14:creationId xmlns:p14="http://schemas.microsoft.com/office/powerpoint/2010/main" val="165870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5FB-C2FF-FD47-8FDA-625D80EE3A7E}"/>
              </a:ext>
            </a:extLst>
          </p:cNvPr>
          <p:cNvSpPr>
            <a:spLocks noGrp="1"/>
          </p:cNvSpPr>
          <p:nvPr>
            <p:ph type="body" sz="quarter" idx="12"/>
          </p:nvPr>
        </p:nvSpPr>
        <p:spPr/>
        <p:txBody>
          <a:bodyPr/>
          <a:lstStyle/>
          <a:p>
            <a:pPr marL="0" indent="0">
              <a:buNone/>
            </a:pPr>
            <a:r>
              <a:rPr lang="en-CN" dirty="0"/>
              <a:t>随机森林</a:t>
            </a:r>
          </a:p>
        </p:txBody>
      </p:sp>
      <p:sp>
        <p:nvSpPr>
          <p:cNvPr id="9" name="矩形 2">
            <a:extLst>
              <a:ext uri="{FF2B5EF4-FFF2-40B4-BE49-F238E27FC236}">
                <a16:creationId xmlns:a16="http://schemas.microsoft.com/office/drawing/2014/main" id="{8D00EA94-DF8F-5645-91A0-E27FCC5CBD83}"/>
              </a:ext>
            </a:extLst>
          </p:cNvPr>
          <p:cNvSpPr/>
          <p:nvPr/>
        </p:nvSpPr>
        <p:spPr>
          <a:xfrm>
            <a:off x="1527056" y="1122263"/>
            <a:ext cx="10527507" cy="565539"/>
          </a:xfrm>
          <a:prstGeom prst="rect">
            <a:avLst/>
          </a:prstGeom>
        </p:spPr>
        <p:txBody>
          <a:bodyPr wrap="square">
            <a:spAutoFit/>
          </a:bodyPr>
          <a:lstStyle/>
          <a:p>
            <a:pPr marL="342900" indent="-342900">
              <a:lnSpc>
                <a:spcPct val="120000"/>
              </a:lnSpc>
              <a:buFont typeface="Wingdings" pitchFamily="2" charset="2"/>
              <a:buChar char="Ø"/>
            </a:pPr>
            <a:r>
              <a:rPr lang="zh-CN" altLang="en-US" sz="2800" spc="-10" dirty="0">
                <a:solidFill>
                  <a:schemeClr val="accent1">
                    <a:lumMod val="75000"/>
                  </a:schemeClr>
                </a:solidFill>
                <a:latin typeface="+mn-ea"/>
              </a:rPr>
              <a:t>测验：</a:t>
            </a:r>
            <a:endParaRPr lang="en-US" altLang="zh-CN" sz="2800" spc="-10" dirty="0">
              <a:latin typeface="+mn-ea"/>
            </a:endParaRPr>
          </a:p>
        </p:txBody>
      </p:sp>
      <p:sp>
        <p:nvSpPr>
          <p:cNvPr id="10" name="文本框 4">
            <a:extLst>
              <a:ext uri="{FF2B5EF4-FFF2-40B4-BE49-F238E27FC236}">
                <a16:creationId xmlns:a16="http://schemas.microsoft.com/office/drawing/2014/main" id="{ED66A883-10DF-5E4F-AFF7-22A54AB92A5D}"/>
              </a:ext>
            </a:extLst>
          </p:cNvPr>
          <p:cNvSpPr txBox="1"/>
          <p:nvPr/>
        </p:nvSpPr>
        <p:spPr>
          <a:xfrm>
            <a:off x="1660038" y="1755450"/>
            <a:ext cx="10214274" cy="3247812"/>
          </a:xfrm>
          <a:prstGeom prst="rect">
            <a:avLst/>
          </a:prstGeom>
          <a:noFill/>
        </p:spPr>
        <p:txBody>
          <a:bodyPr wrap="square">
            <a:spAutoFit/>
          </a:bodyPr>
          <a:lstStyle/>
          <a:p>
            <a:pPr>
              <a:lnSpc>
                <a:spcPct val="150000"/>
              </a:lnSpc>
            </a:pPr>
            <a:r>
              <a:rPr lang="zh-CN" altLang="en-CN" sz="2800" spc="-10" dirty="0">
                <a:latin typeface="+mn-ea"/>
              </a:rPr>
              <a:t>下列</a:t>
            </a:r>
            <a:r>
              <a:rPr lang="zh-CN" altLang="en-US" sz="2800" spc="-10" dirty="0">
                <a:latin typeface="+mn-ea"/>
              </a:rPr>
              <a:t>哪一项</a:t>
            </a:r>
            <a:r>
              <a:rPr lang="zh-CN" altLang="en-US" sz="2800" spc="-10" dirty="0">
                <a:solidFill>
                  <a:srgbClr val="FF0000"/>
                </a:solidFill>
                <a:latin typeface="+mn-ea"/>
              </a:rPr>
              <a:t>不是</a:t>
            </a:r>
            <a:r>
              <a:rPr lang="zh-CN" altLang="en-US" sz="2800" spc="-10" dirty="0">
                <a:latin typeface="+mn-ea"/>
              </a:rPr>
              <a:t>随机森林的特点：</a:t>
            </a:r>
            <a:endParaRPr lang="en-US" altLang="zh-CN" sz="2800" spc="-10" dirty="0">
              <a:latin typeface="+mn-ea"/>
            </a:endParaRPr>
          </a:p>
          <a:p>
            <a:pPr marL="514350" indent="-514350">
              <a:lnSpc>
                <a:spcPct val="150000"/>
              </a:lnSpc>
              <a:buAutoNum type="alphaUcPeriod"/>
            </a:pPr>
            <a:r>
              <a:rPr lang="zh-CN" altLang="en-US" sz="2800" spc="-10" dirty="0">
                <a:latin typeface="+mn-ea"/>
              </a:rPr>
              <a:t>它是基于决策树的集成学习方法</a:t>
            </a:r>
            <a:endParaRPr lang="en-US" altLang="zh-CN" sz="2800" spc="-10" dirty="0">
              <a:latin typeface="+mn-ea"/>
            </a:endParaRPr>
          </a:p>
          <a:p>
            <a:pPr marL="514350" indent="-514350">
              <a:lnSpc>
                <a:spcPct val="150000"/>
              </a:lnSpc>
              <a:buAutoNum type="alphaUcPeriod"/>
            </a:pPr>
            <a:r>
              <a:rPr lang="zh-CN" altLang="en-US" sz="2800" spc="-10" dirty="0">
                <a:latin typeface="+mn-ea"/>
              </a:rPr>
              <a:t>引入了随机特征选择</a:t>
            </a:r>
            <a:endParaRPr lang="en-US" altLang="zh-CN" sz="2800" spc="-10" dirty="0">
              <a:latin typeface="+mn-ea"/>
            </a:endParaRPr>
          </a:p>
          <a:p>
            <a:pPr marL="514350" indent="-514350">
              <a:lnSpc>
                <a:spcPct val="150000"/>
              </a:lnSpc>
              <a:buAutoNum type="alphaUcPeriod"/>
            </a:pPr>
            <a:r>
              <a:rPr lang="zh-CN" altLang="en-US" sz="2800" spc="-10" dirty="0">
                <a:latin typeface="+mn-ea"/>
              </a:rPr>
              <a:t>它是一种串行集成方法</a:t>
            </a:r>
            <a:endParaRPr lang="en-US" altLang="zh-CN" sz="2800" spc="-10" dirty="0">
              <a:latin typeface="+mn-ea"/>
            </a:endParaRPr>
          </a:p>
          <a:p>
            <a:pPr marL="514350" indent="-514350">
              <a:lnSpc>
                <a:spcPct val="150000"/>
              </a:lnSpc>
              <a:buAutoNum type="alphaUcPeriod"/>
            </a:pPr>
            <a:r>
              <a:rPr lang="zh-CN" altLang="en-US" sz="2800" spc="-10" dirty="0">
                <a:latin typeface="+mn-ea"/>
              </a:rPr>
              <a:t>样本选择时采用</a:t>
            </a:r>
            <a:r>
              <a:rPr lang="en-US" altLang="zh-CN" sz="2800" spc="-10" dirty="0">
                <a:latin typeface="+mn-ea"/>
              </a:rPr>
              <a:t>Bootstrap</a:t>
            </a:r>
            <a:r>
              <a:rPr lang="zh-CN" altLang="en-US" sz="2800" spc="-10" dirty="0">
                <a:latin typeface="+mn-ea"/>
              </a:rPr>
              <a:t>的采样方式</a:t>
            </a:r>
            <a:endParaRPr lang="en-US" altLang="zh-CN" sz="2800" spc="-10" dirty="0">
              <a:latin typeface="+mn-ea"/>
            </a:endParaRPr>
          </a:p>
        </p:txBody>
      </p:sp>
      <p:sp>
        <p:nvSpPr>
          <p:cNvPr id="2" name="Text Box 314">
            <a:extLst>
              <a:ext uri="{FF2B5EF4-FFF2-40B4-BE49-F238E27FC236}">
                <a16:creationId xmlns:a16="http://schemas.microsoft.com/office/drawing/2014/main" id="{5852C2E1-410A-AE39-7D0F-22509FE876A7}"/>
              </a:ext>
            </a:extLst>
          </p:cNvPr>
          <p:cNvSpPr txBox="1">
            <a:spLocks noChangeArrowheads="1"/>
          </p:cNvSpPr>
          <p:nvPr/>
        </p:nvSpPr>
        <p:spPr bwMode="auto">
          <a:xfrm>
            <a:off x="770174" y="3668379"/>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sp>
        <p:nvSpPr>
          <p:cNvPr id="4" name="灯片编号占位符 3">
            <a:extLst>
              <a:ext uri="{FF2B5EF4-FFF2-40B4-BE49-F238E27FC236}">
                <a16:creationId xmlns:a16="http://schemas.microsoft.com/office/drawing/2014/main" id="{48B44327-7A0E-4DE9-82FF-9E2F47AD418E}"/>
              </a:ext>
            </a:extLst>
          </p:cNvPr>
          <p:cNvSpPr>
            <a:spLocks noGrp="1"/>
          </p:cNvSpPr>
          <p:nvPr>
            <p:ph type="sldNum" sz="quarter" idx="14"/>
          </p:nvPr>
        </p:nvSpPr>
        <p:spPr/>
        <p:txBody>
          <a:bodyPr/>
          <a:lstStyle/>
          <a:p>
            <a:fld id="{AF69888C-E133-43D9-A638-B5C95925B91C}" type="slidenum">
              <a:rPr lang="zh-CN" altLang="en-US" smtClean="0"/>
              <a:t>25</a:t>
            </a:fld>
            <a:endParaRPr lang="zh-CN" altLang="en-US" dirty="0"/>
          </a:p>
        </p:txBody>
      </p:sp>
    </p:spTree>
    <p:extLst>
      <p:ext uri="{BB962C8B-B14F-4D97-AF65-F5344CB8AC3E}">
        <p14:creationId xmlns:p14="http://schemas.microsoft.com/office/powerpoint/2010/main" val="164728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串行集成方法</a:t>
            </a:r>
          </a:p>
        </p:txBody>
      </p:sp>
      <p:graphicFrame>
        <p:nvGraphicFramePr>
          <p:cNvPr id="2" name="Diagram 1">
            <a:extLst>
              <a:ext uri="{FF2B5EF4-FFF2-40B4-BE49-F238E27FC236}">
                <a16:creationId xmlns:a16="http://schemas.microsoft.com/office/drawing/2014/main" id="{76F374E9-5557-804B-9995-92DF6D652D0C}"/>
              </a:ext>
            </a:extLst>
          </p:cNvPr>
          <p:cNvGraphicFramePr/>
          <p:nvPr/>
        </p:nvGraphicFramePr>
        <p:xfrm>
          <a:off x="1456267" y="96836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1A624B8-E6B6-4445-ABBE-2A794ABDA098}"/>
              </a:ext>
            </a:extLst>
          </p:cNvPr>
          <p:cNvSpPr txBox="1"/>
          <p:nvPr/>
        </p:nvSpPr>
        <p:spPr>
          <a:xfrm>
            <a:off x="3090721" y="2138278"/>
            <a:ext cx="1569660" cy="369332"/>
          </a:xfrm>
          <a:prstGeom prst="rect">
            <a:avLst/>
          </a:prstGeom>
          <a:noFill/>
        </p:spPr>
        <p:txBody>
          <a:bodyPr wrap="none" rtlCol="0">
            <a:spAutoFit/>
          </a:bodyPr>
          <a:lstStyle/>
          <a:p>
            <a:pPr algn="l"/>
            <a:r>
              <a:rPr lang="en-US" b="1" dirty="0" err="1">
                <a:latin typeface="+mn-ea"/>
              </a:rPr>
              <a:t>自动调节权重</a:t>
            </a:r>
            <a:endParaRPr lang="en-CN" b="1" dirty="0">
              <a:latin typeface="+mn-ea"/>
            </a:endParaRPr>
          </a:p>
        </p:txBody>
      </p:sp>
      <p:sp>
        <p:nvSpPr>
          <p:cNvPr id="9" name="TextBox 8">
            <a:extLst>
              <a:ext uri="{FF2B5EF4-FFF2-40B4-BE49-F238E27FC236}">
                <a16:creationId xmlns:a16="http://schemas.microsoft.com/office/drawing/2014/main" id="{A89C4EC0-3234-9941-BC09-B49229B99DB7}"/>
              </a:ext>
            </a:extLst>
          </p:cNvPr>
          <p:cNvSpPr txBox="1"/>
          <p:nvPr/>
        </p:nvSpPr>
        <p:spPr>
          <a:xfrm>
            <a:off x="4660381" y="3244334"/>
            <a:ext cx="3260829" cy="369332"/>
          </a:xfrm>
          <a:prstGeom prst="rect">
            <a:avLst/>
          </a:prstGeom>
          <a:noFill/>
        </p:spPr>
        <p:txBody>
          <a:bodyPr wrap="none" rtlCol="0">
            <a:spAutoFit/>
          </a:bodyPr>
          <a:lstStyle/>
          <a:p>
            <a:r>
              <a:rPr lang="zh-CN" altLang="en-US" b="1" dirty="0"/>
              <a:t>损失函数的负梯度去拟合残差</a:t>
            </a:r>
            <a:endParaRPr lang="en-CN" b="1" dirty="0">
              <a:latin typeface="+mn-ea"/>
            </a:endParaRPr>
          </a:p>
        </p:txBody>
      </p:sp>
      <p:sp>
        <p:nvSpPr>
          <p:cNvPr id="3" name="TextBox 2">
            <a:extLst>
              <a:ext uri="{FF2B5EF4-FFF2-40B4-BE49-F238E27FC236}">
                <a16:creationId xmlns:a16="http://schemas.microsoft.com/office/drawing/2014/main" id="{B0C6FED6-33CE-9948-BDC6-B43960901007}"/>
              </a:ext>
            </a:extLst>
          </p:cNvPr>
          <p:cNvSpPr txBox="1"/>
          <p:nvPr/>
        </p:nvSpPr>
        <p:spPr>
          <a:xfrm>
            <a:off x="6662497" y="4631016"/>
            <a:ext cx="4073236" cy="369332"/>
          </a:xfrm>
          <a:prstGeom prst="rect">
            <a:avLst/>
          </a:prstGeom>
          <a:noFill/>
        </p:spPr>
        <p:txBody>
          <a:bodyPr wrap="square" rtlCol="0">
            <a:spAutoFit/>
          </a:bodyPr>
          <a:lstStyle/>
          <a:p>
            <a:r>
              <a:rPr lang="zh-CN" altLang="en-US" b="1" dirty="0"/>
              <a:t>在代价函数里加入了正则项等</a:t>
            </a:r>
            <a:endParaRPr lang="en-CN" b="1" dirty="0">
              <a:latin typeface="+mn-ea"/>
            </a:endParaRPr>
          </a:p>
        </p:txBody>
      </p:sp>
      <p:sp>
        <p:nvSpPr>
          <p:cNvPr id="6" name="灯片编号占位符 5">
            <a:extLst>
              <a:ext uri="{FF2B5EF4-FFF2-40B4-BE49-F238E27FC236}">
                <a16:creationId xmlns:a16="http://schemas.microsoft.com/office/drawing/2014/main" id="{3900FF5E-FE86-452B-9597-4808C2502BE2}"/>
              </a:ext>
            </a:extLst>
          </p:cNvPr>
          <p:cNvSpPr>
            <a:spLocks noGrp="1"/>
          </p:cNvSpPr>
          <p:nvPr>
            <p:ph type="sldNum" sz="quarter" idx="14"/>
          </p:nvPr>
        </p:nvSpPr>
        <p:spPr/>
        <p:txBody>
          <a:bodyPr/>
          <a:lstStyle/>
          <a:p>
            <a:fld id="{AF69888C-E133-43D9-A638-B5C95925B91C}" type="slidenum">
              <a:rPr lang="zh-CN" altLang="en-US" smtClean="0"/>
              <a:t>26</a:t>
            </a:fld>
            <a:endParaRPr lang="zh-CN" altLang="en-US" dirty="0"/>
          </a:p>
        </p:txBody>
      </p:sp>
    </p:spTree>
    <p:extLst>
      <p:ext uri="{BB962C8B-B14F-4D97-AF65-F5344CB8AC3E}">
        <p14:creationId xmlns:p14="http://schemas.microsoft.com/office/powerpoint/2010/main" val="4151588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10129113" cy="558704"/>
          </a:xfrm>
        </p:spPr>
        <p:txBody>
          <a:bodyPr/>
          <a:lstStyle/>
          <a:p>
            <a:pPr marL="0" indent="0">
              <a:buNone/>
            </a:pPr>
            <a:r>
              <a:rPr lang="en-US" altLang="zh-CN" sz="3200" dirty="0"/>
              <a:t>Boosting</a:t>
            </a:r>
            <a:endParaRPr lang="zh-CN" altLang="en-US" sz="3200" dirty="0"/>
          </a:p>
        </p:txBody>
      </p:sp>
      <mc:AlternateContent xmlns:mc="http://schemas.openxmlformats.org/markup-compatibility/2006" xmlns:a14="http://schemas.microsoft.com/office/drawing/2010/main">
        <mc:Choice Requires="a14">
          <p:sp>
            <p:nvSpPr>
              <p:cNvPr id="5" name="文本框 119">
                <a:extLst>
                  <a:ext uri="{FF2B5EF4-FFF2-40B4-BE49-F238E27FC236}">
                    <a16:creationId xmlns:a16="http://schemas.microsoft.com/office/drawing/2014/main" id="{F9260F1B-80EE-FD47-A38C-FCE2E775FA7B}"/>
                  </a:ext>
                </a:extLst>
              </p:cNvPr>
              <p:cNvSpPr txBox="1"/>
              <p:nvPr/>
            </p:nvSpPr>
            <p:spPr>
              <a:xfrm>
                <a:off x="2614056" y="2617738"/>
                <a:ext cx="7960488" cy="3600345"/>
              </a:xfrm>
              <a:prstGeom prst="rect">
                <a:avLst/>
              </a:prstGeom>
              <a:noFill/>
            </p:spPr>
            <p:txBody>
              <a:bodyPr wrap="square" rtlCol="0">
                <a:spAutoFit/>
              </a:bodyPr>
              <a:lstStyle/>
              <a:p>
                <a:pPr marL="342900" indent="-342900">
                  <a:lnSpc>
                    <a:spcPct val="120000"/>
                  </a:lnSpc>
                  <a:buFont typeface="Wingdings" pitchFamily="2" charset="2"/>
                  <a:buChar char="Ø"/>
                </a:pPr>
                <a:r>
                  <a:rPr lang="en-US" altLang="zh-CN" sz="2400" spc="-10" dirty="0">
                    <a:latin typeface="+mn-ea"/>
                  </a:rPr>
                  <a:t>Boosting</a:t>
                </a:r>
                <a:r>
                  <a:rPr lang="zh-CN" altLang="en-US" sz="2400" spc="-10" dirty="0">
                    <a:latin typeface="+mn-ea"/>
                  </a:rPr>
                  <a:t>的工作框架：</a:t>
                </a:r>
                <a:endParaRPr lang="en-US" altLang="zh-CN" sz="2400" spc="-10" dirty="0">
                  <a:latin typeface="+mn-ea"/>
                </a:endParaRPr>
              </a:p>
              <a:p>
                <a:pPr>
                  <a:lnSpc>
                    <a:spcPct val="120000"/>
                  </a:lnSpc>
                </a:pPr>
                <a:r>
                  <a:rPr lang="en-US" altLang="zh-CN" sz="2400" spc="-10" dirty="0">
                    <a:latin typeface="+mn-ea"/>
                  </a:rPr>
                  <a:t>    •</a:t>
                </a:r>
                <a:r>
                  <a:rPr lang="zh-CN" altLang="en-US" sz="2400" spc="-10" dirty="0">
                    <a:latin typeface="+mn-ea"/>
                  </a:rPr>
                  <a:t> 获得第一个分类器</a:t>
                </a:r>
                <a14:m>
                  <m:oMath xmlns:m="http://schemas.openxmlformats.org/officeDocument/2006/math">
                    <m:sSub>
                      <m:sSubPr>
                        <m:ctrlPr>
                          <a:rPr lang="en-US" altLang="zh-CN" sz="2400" i="1" spc="-10" dirty="0" smtClean="0">
                            <a:latin typeface="Cambria Math" panose="02040503050406030204" pitchFamily="18" charset="0"/>
                          </a:rPr>
                        </m:ctrlPr>
                      </m:sSubPr>
                      <m:e>
                        <m:r>
                          <a:rPr lang="en-US" altLang="zh-CN" sz="2400" b="0" i="1" spc="-10" dirty="0" smtClean="0">
                            <a:latin typeface="Cambria Math" panose="02040503050406030204" pitchFamily="18" charset="0"/>
                          </a:rPr>
                          <m:t>𝑓</m:t>
                        </m:r>
                      </m:e>
                      <m:sub>
                        <m:r>
                          <a:rPr lang="en-US" altLang="zh-CN" sz="2400" b="0" i="1" spc="-10" dirty="0" smtClean="0">
                            <a:latin typeface="Cambria Math" panose="02040503050406030204" pitchFamily="18" charset="0"/>
                          </a:rPr>
                          <m:t>1</m:t>
                        </m:r>
                      </m:sub>
                    </m:sSub>
                    <m:r>
                      <a:rPr lang="en-US" altLang="zh-CN" sz="2400" i="1" spc="-10" dirty="0" smtClean="0">
                        <a:latin typeface="Cambria Math" panose="02040503050406030204" pitchFamily="18" charset="0"/>
                      </a:rPr>
                      <m:t>(</m:t>
                    </m:r>
                    <m:r>
                      <a:rPr lang="en-US" altLang="zh-CN" sz="2400" i="1" spc="-10" dirty="0" smtClean="0">
                        <a:latin typeface="Cambria Math" panose="02040503050406030204" pitchFamily="18" charset="0"/>
                      </a:rPr>
                      <m:t>𝑥</m:t>
                    </m:r>
                    <m:r>
                      <a:rPr lang="en-US" altLang="zh-CN" sz="2400" i="1" spc="-10" dirty="0" smtClean="0">
                        <a:latin typeface="Cambria Math" panose="02040503050406030204" pitchFamily="18" charset="0"/>
                      </a:rPr>
                      <m:t>)</m:t>
                    </m:r>
                  </m:oMath>
                </a14:m>
                <a:endParaRPr lang="en-US" altLang="zh-CN" sz="2400" spc="-10" dirty="0">
                  <a:latin typeface="+mn-ea"/>
                </a:endParaRPr>
              </a:p>
              <a:p>
                <a:pPr>
                  <a:lnSpc>
                    <a:spcPct val="120000"/>
                  </a:lnSpc>
                </a:pPr>
                <a:r>
                  <a:rPr lang="zh-CN" altLang="en-US" sz="2400" spc="-10" dirty="0">
                    <a:latin typeface="+mn-ea"/>
                  </a:rPr>
                  <a:t>    </a:t>
                </a:r>
                <a:r>
                  <a:rPr lang="en-US" altLang="zh-CN" sz="2400" spc="-10" dirty="0">
                    <a:latin typeface="+mn-ea"/>
                  </a:rPr>
                  <a:t>•</a:t>
                </a:r>
                <a:r>
                  <a:rPr lang="zh-CN" altLang="en-US" sz="2400" spc="-10" dirty="0">
                    <a:latin typeface="+mn-ea"/>
                  </a:rPr>
                  <a:t> 寻找另一个函数</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b="0" i="1" spc="-10" dirty="0" smtClean="0">
                            <a:latin typeface="Cambria Math" panose="02040503050406030204" pitchFamily="18" charset="0"/>
                          </a:rPr>
                          <m:t>2</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oMath>
                </a14:m>
                <a:r>
                  <a:rPr lang="zh-CN" altLang="en-US" sz="2400" spc="-10" dirty="0">
                    <a:latin typeface="+mn-ea"/>
                  </a:rPr>
                  <a:t>来</a:t>
                </a:r>
                <a:r>
                  <a:rPr lang="zh-CN" altLang="en-US" sz="2400" b="1" spc="-10" dirty="0">
                    <a:solidFill>
                      <a:srgbClr val="FF0000"/>
                    </a:solidFill>
                    <a:latin typeface="+mn-ea"/>
                  </a:rPr>
                  <a:t>帮助</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i="1" spc="-10" dirty="0">
                            <a:latin typeface="Cambria Math" panose="02040503050406030204" pitchFamily="18" charset="0"/>
                          </a:rPr>
                          <m:t>1</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oMath>
                </a14:m>
                <a:endParaRPr lang="en-US" altLang="zh-CN" sz="2400" spc="-10" dirty="0">
                  <a:latin typeface="+mn-ea"/>
                </a:endParaRPr>
              </a:p>
              <a:p>
                <a:pPr>
                  <a:lnSpc>
                    <a:spcPct val="120000"/>
                  </a:lnSpc>
                </a:pPr>
                <a:r>
                  <a:rPr lang="zh-CN" altLang="en-US" sz="2400" spc="-10" dirty="0">
                    <a:latin typeface="+mn-ea"/>
                  </a:rPr>
                  <a:t>       </a:t>
                </a:r>
                <a:r>
                  <a:rPr lang="en-US" altLang="zh-CN" sz="2400" spc="-10" dirty="0">
                    <a:latin typeface="+mn-ea"/>
                  </a:rPr>
                  <a:t>•</a:t>
                </a:r>
                <a:r>
                  <a:rPr lang="zh-CN" altLang="en-US" sz="2400" spc="-10" dirty="0">
                    <a:latin typeface="+mn-ea"/>
                  </a:rPr>
                  <a:t> 然而，如果</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i="1" spc="-10" dirty="0">
                            <a:latin typeface="Cambria Math" panose="02040503050406030204" pitchFamily="18" charset="0"/>
                          </a:rPr>
                          <m:t>2</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oMath>
                </a14:m>
                <a:r>
                  <a:rPr lang="zh-CN" altLang="en-US" sz="2400" spc="-10" dirty="0">
                    <a:latin typeface="+mn-ea"/>
                  </a:rPr>
                  <a:t>与</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i="1" spc="-10" dirty="0">
                            <a:latin typeface="Cambria Math" panose="02040503050406030204" pitchFamily="18" charset="0"/>
                          </a:rPr>
                          <m:t>1</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r>
                      <a:rPr lang="zh-CN" altLang="en-US" sz="2400" i="1" spc="-10" dirty="0" smtClean="0">
                        <a:latin typeface="Cambria Math" panose="02040503050406030204" pitchFamily="18" charset="0"/>
                      </a:rPr>
                      <m:t>相似</m:t>
                    </m:r>
                  </m:oMath>
                </a14:m>
                <a:r>
                  <a:rPr lang="zh-CN" altLang="en-US" sz="2400" spc="-10" dirty="0">
                    <a:latin typeface="+mn-ea"/>
                  </a:rPr>
                  <a:t>，则用处不大</a:t>
                </a:r>
              </a:p>
              <a:p>
                <a:pPr>
                  <a:lnSpc>
                    <a:spcPct val="120000"/>
                  </a:lnSpc>
                </a:pPr>
                <a:r>
                  <a:rPr lang="en-US" altLang="zh-CN" sz="2400" spc="-10" dirty="0">
                    <a:latin typeface="+mn-ea"/>
                  </a:rPr>
                  <a:t>       •</a:t>
                </a:r>
                <a:r>
                  <a:rPr lang="zh-CN" altLang="en-US" sz="2400" spc="-10" dirty="0">
                    <a:latin typeface="+mn-ea"/>
                  </a:rPr>
                  <a:t> 我们希望</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i="1" spc="-10" dirty="0">
                            <a:latin typeface="Cambria Math" panose="02040503050406030204" pitchFamily="18" charset="0"/>
                          </a:rPr>
                          <m:t>2</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oMath>
                </a14:m>
                <a:r>
                  <a:rPr lang="zh-CN" altLang="en-US" sz="2400" spc="-10" dirty="0">
                    <a:latin typeface="+mn-ea"/>
                  </a:rPr>
                  <a:t>与</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b="0" i="1" spc="-10" dirty="0" smtClean="0">
                            <a:latin typeface="Cambria Math" panose="02040503050406030204" pitchFamily="18" charset="0"/>
                          </a:rPr>
                          <m:t>1</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oMath>
                </a14:m>
                <a:r>
                  <a:rPr lang="zh-CN" altLang="en-US" sz="2400" b="1" spc="-10" dirty="0">
                    <a:solidFill>
                      <a:srgbClr val="FF0000"/>
                    </a:solidFill>
                    <a:latin typeface="+mn-ea"/>
                  </a:rPr>
                  <a:t>互补</a:t>
                </a:r>
                <a:r>
                  <a:rPr lang="zh-CN" altLang="en-US" sz="2400" spc="-10" dirty="0">
                    <a:latin typeface="+mn-ea"/>
                  </a:rPr>
                  <a:t>（怎么做？）</a:t>
                </a:r>
              </a:p>
              <a:p>
                <a:pPr>
                  <a:lnSpc>
                    <a:spcPct val="120000"/>
                  </a:lnSpc>
                </a:pPr>
                <a:r>
                  <a:rPr lang="en-US" altLang="zh-CN" sz="2400" spc="-10" dirty="0">
                    <a:latin typeface="+mn-ea"/>
                  </a:rPr>
                  <a:t>    •</a:t>
                </a:r>
                <a:r>
                  <a:rPr lang="zh-CN" altLang="en-US" sz="2400" spc="-10" dirty="0">
                    <a:latin typeface="+mn-ea"/>
                  </a:rPr>
                  <a:t> 获得第二个分类器</a:t>
                </a:r>
                <a14:m>
                  <m:oMath xmlns:m="http://schemas.openxmlformats.org/officeDocument/2006/math">
                    <m:sSub>
                      <m:sSubPr>
                        <m:ctrlPr>
                          <a:rPr lang="en-US" altLang="zh-CN" sz="2400" i="1" spc="-10" dirty="0">
                            <a:latin typeface="Cambria Math" panose="02040503050406030204" pitchFamily="18" charset="0"/>
                          </a:rPr>
                        </m:ctrlPr>
                      </m:sSubPr>
                      <m:e>
                        <m:r>
                          <a:rPr lang="en-US" altLang="zh-CN" sz="2400" i="1" spc="-10" dirty="0">
                            <a:latin typeface="Cambria Math" panose="02040503050406030204" pitchFamily="18" charset="0"/>
                          </a:rPr>
                          <m:t>𝑓</m:t>
                        </m:r>
                      </m:e>
                      <m:sub>
                        <m:r>
                          <a:rPr lang="en-US" altLang="zh-CN" sz="2400" i="1" spc="-10" dirty="0">
                            <a:latin typeface="Cambria Math" panose="02040503050406030204" pitchFamily="18" charset="0"/>
                          </a:rPr>
                          <m:t>2</m:t>
                        </m:r>
                      </m:sub>
                    </m:sSub>
                    <m:r>
                      <a:rPr lang="en-US" altLang="zh-CN" sz="2400" i="1" spc="-10" dirty="0">
                        <a:latin typeface="Cambria Math" panose="02040503050406030204" pitchFamily="18" charset="0"/>
                      </a:rPr>
                      <m:t>(</m:t>
                    </m:r>
                    <m:r>
                      <a:rPr lang="en-US" altLang="zh-CN" sz="2400" i="1" spc="-10" dirty="0">
                        <a:latin typeface="Cambria Math" panose="02040503050406030204" pitchFamily="18" charset="0"/>
                      </a:rPr>
                      <m:t>𝑥</m:t>
                    </m:r>
                    <m:r>
                      <a:rPr lang="en-US" altLang="zh-CN" sz="2400" i="1" spc="-10" dirty="0">
                        <a:latin typeface="Cambria Math" panose="02040503050406030204" pitchFamily="18" charset="0"/>
                      </a:rPr>
                      <m:t>)</m:t>
                    </m:r>
                  </m:oMath>
                </a14:m>
                <a:r>
                  <a:rPr lang="en-US" altLang="zh-CN" sz="2400" spc="-10" dirty="0">
                    <a:latin typeface="+mn-ea"/>
                  </a:rPr>
                  <a:t> ……</a:t>
                </a:r>
              </a:p>
              <a:p>
                <a:pPr>
                  <a:lnSpc>
                    <a:spcPct val="120000"/>
                  </a:lnSpc>
                </a:pPr>
                <a:r>
                  <a:rPr lang="en-US" altLang="zh-CN" sz="2400" spc="-10" dirty="0">
                    <a:latin typeface="+mn-ea"/>
                  </a:rPr>
                  <a:t>    •</a:t>
                </a:r>
                <a:r>
                  <a:rPr lang="zh-CN" altLang="en-US" sz="2400" spc="-10" dirty="0">
                    <a:latin typeface="+mn-ea"/>
                  </a:rPr>
                  <a:t> 最后，组合所有分类器</a:t>
                </a:r>
                <a:endParaRPr lang="en-US" altLang="zh-CN" sz="2400" spc="-10" dirty="0">
                  <a:latin typeface="+mn-ea"/>
                </a:endParaRPr>
              </a:p>
              <a:p>
                <a:pPr marL="342900" indent="-342900">
                  <a:lnSpc>
                    <a:spcPct val="120000"/>
                  </a:lnSpc>
                  <a:buFont typeface="Wingdings" pitchFamily="2" charset="2"/>
                  <a:buChar char="Ø"/>
                </a:pPr>
                <a:r>
                  <a:rPr lang="zh-CN" altLang="en-US" sz="2400" spc="-10" dirty="0">
                    <a:latin typeface="+mn-ea"/>
                  </a:rPr>
                  <a:t>分类器是按顺序学习的</a:t>
                </a:r>
                <a:endParaRPr lang="en-US" altLang="zh-CN" sz="2400" spc="-10" dirty="0">
                  <a:latin typeface="+mn-ea"/>
                </a:endParaRPr>
              </a:p>
            </p:txBody>
          </p:sp>
        </mc:Choice>
        <mc:Fallback xmlns="">
          <p:sp>
            <p:nvSpPr>
              <p:cNvPr id="5" name="文本框 119">
                <a:extLst>
                  <a:ext uri="{FF2B5EF4-FFF2-40B4-BE49-F238E27FC236}">
                    <a16:creationId xmlns:a16="http://schemas.microsoft.com/office/drawing/2014/main" id="{F9260F1B-80EE-FD47-A38C-FCE2E775FA7B}"/>
                  </a:ext>
                </a:extLst>
              </p:cNvPr>
              <p:cNvSpPr txBox="1">
                <a:spLocks noRot="1" noChangeAspect="1" noMove="1" noResize="1" noEditPoints="1" noAdjustHandles="1" noChangeArrowheads="1" noChangeShapeType="1" noTextEdit="1"/>
              </p:cNvSpPr>
              <p:nvPr/>
            </p:nvSpPr>
            <p:spPr>
              <a:xfrm>
                <a:off x="2614056" y="2617738"/>
                <a:ext cx="7960488" cy="3600345"/>
              </a:xfrm>
              <a:prstGeom prst="rect">
                <a:avLst/>
              </a:prstGeom>
              <a:blipFill>
                <a:blip r:embed="rId3"/>
                <a:stretch>
                  <a:fillRect l="-955" b="-3158"/>
                </a:stretch>
              </a:blipFill>
            </p:spPr>
            <p:txBody>
              <a:bodyPr/>
              <a:lstStyle/>
              <a:p>
                <a:r>
                  <a:rPr lang="en-CN">
                    <a:noFill/>
                  </a:rPr>
                  <a:t> </a:t>
                </a:r>
              </a:p>
            </p:txBody>
          </p:sp>
        </mc:Fallback>
      </mc:AlternateContent>
      <p:sp>
        <p:nvSpPr>
          <p:cNvPr id="3" name="TextBox 2">
            <a:extLst>
              <a:ext uri="{FF2B5EF4-FFF2-40B4-BE49-F238E27FC236}">
                <a16:creationId xmlns:a16="http://schemas.microsoft.com/office/drawing/2014/main" id="{A58BD63E-D38F-41DC-D217-D29E42E39269}"/>
              </a:ext>
            </a:extLst>
          </p:cNvPr>
          <p:cNvSpPr txBox="1"/>
          <p:nvPr/>
        </p:nvSpPr>
        <p:spPr>
          <a:xfrm>
            <a:off x="677118" y="1059707"/>
            <a:ext cx="10670129" cy="941155"/>
          </a:xfrm>
          <a:prstGeom prst="rect">
            <a:avLst/>
          </a:prstGeom>
          <a:noFill/>
        </p:spPr>
        <p:txBody>
          <a:bodyPr wrap="square">
            <a:spAutoFit/>
          </a:bodyPr>
          <a:lstStyle/>
          <a:p>
            <a:pPr marL="342900" marR="0" lvl="0" indent="-342900" algn="l" defTabSz="914400" rtl="0" eaLnBrk="1" fontAlgn="auto" latinLnBrk="0" hangingPunct="1">
              <a:lnSpc>
                <a:spcPct val="120000"/>
              </a:lnSpc>
              <a:spcBef>
                <a:spcPts val="0"/>
              </a:spcBef>
              <a:spcAft>
                <a:spcPts val="0"/>
              </a:spcAft>
              <a:buClrTx/>
              <a:buSzTx/>
              <a:buFont typeface="Wingdings" pitchFamily="2" charset="2"/>
              <a:buChar char="Ø"/>
              <a:tabLst/>
              <a:defRPr/>
            </a:pPr>
            <a:r>
              <a:rPr lang="en-US" sz="2400" dirty="0"/>
              <a:t>Boosting</a:t>
            </a:r>
            <a:r>
              <a:rPr lang="zh-CN" altLang="en-US" sz="2400" dirty="0"/>
              <a:t>是一类将弱学习器提升为强学习器的算法</a:t>
            </a:r>
            <a:endParaRPr kumimoji="0" lang="en-US" altLang="zh-CN" sz="2400" b="0" i="0" u="none" strike="noStrike" kern="1200" cap="none" spc="-10" normalizeH="0" baseline="0" noProof="0" dirty="0">
              <a:ln>
                <a:noFill/>
              </a:ln>
              <a:solidFill>
                <a:prstClr val="black"/>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400" b="0" i="0" u="none" strike="noStrike" kern="1200" cap="none" spc="-10" normalizeH="0" baseline="0" noProof="0" dirty="0">
                <a:ln>
                  <a:noFill/>
                </a:ln>
                <a:solidFill>
                  <a:prstClr val="black"/>
                </a:solidFill>
                <a:effectLst/>
                <a:uLnTx/>
                <a:uFillTx/>
                <a:latin typeface="微软雅黑"/>
                <a:ea typeface="微软雅黑"/>
                <a:cs typeface="+mn-cs"/>
              </a:rPr>
              <a:t>    </a:t>
            </a:r>
          </a:p>
        </p:txBody>
      </p:sp>
      <p:sp>
        <p:nvSpPr>
          <p:cNvPr id="7" name="TextBox 6">
            <a:extLst>
              <a:ext uri="{FF2B5EF4-FFF2-40B4-BE49-F238E27FC236}">
                <a16:creationId xmlns:a16="http://schemas.microsoft.com/office/drawing/2014/main" id="{31EEB875-6E92-87C0-F486-6C2914C32884}"/>
              </a:ext>
            </a:extLst>
          </p:cNvPr>
          <p:cNvSpPr txBox="1"/>
          <p:nvPr/>
        </p:nvSpPr>
        <p:spPr>
          <a:xfrm>
            <a:off x="1426581" y="1589731"/>
            <a:ext cx="7960488" cy="707886"/>
          </a:xfrm>
          <a:prstGeom prst="rect">
            <a:avLst/>
          </a:prstGeom>
          <a:noFill/>
        </p:spPr>
        <p:txBody>
          <a:bodyPr wrap="square">
            <a:spAutoFit/>
          </a:bodyPr>
          <a:lstStyle/>
          <a:p>
            <a:pPr marL="285750" indent="-285750">
              <a:buFont typeface="Wingdings" pitchFamily="2" charset="2"/>
              <a:buChar char="ü"/>
            </a:pPr>
            <a:r>
              <a:rPr lang="zh-CN" altLang="en-US" sz="2000" dirty="0"/>
              <a:t>弱学习算法：在训练数据上生成错误率略小于</a:t>
            </a:r>
            <a:r>
              <a:rPr lang="en-US" altLang="zh-CN" sz="2000" dirty="0"/>
              <a:t>50%</a:t>
            </a:r>
            <a:r>
              <a:rPr lang="zh-CN" altLang="en-US" sz="2000" dirty="0"/>
              <a:t>的分类器。</a:t>
            </a:r>
          </a:p>
          <a:p>
            <a:pPr marL="285750" indent="-285750">
              <a:buFont typeface="Wingdings" pitchFamily="2" charset="2"/>
              <a:buChar char="ü"/>
            </a:pPr>
            <a:r>
              <a:rPr lang="en-US" altLang="zh-CN" sz="2000" dirty="0"/>
              <a:t>Boosting</a:t>
            </a:r>
            <a:r>
              <a:rPr lang="zh-CN" altLang="en-US" sz="2000" dirty="0"/>
              <a:t>后，可获得错误率为</a:t>
            </a:r>
            <a:r>
              <a:rPr lang="en-US" altLang="zh-CN" sz="2000" dirty="0"/>
              <a:t>0%</a:t>
            </a:r>
            <a:r>
              <a:rPr lang="zh-CN" altLang="en-US" sz="2000" dirty="0"/>
              <a:t>的分类器。</a:t>
            </a:r>
          </a:p>
        </p:txBody>
      </p:sp>
      <p:pic>
        <p:nvPicPr>
          <p:cNvPr id="8" name="Picture 7">
            <a:extLst>
              <a:ext uri="{FF2B5EF4-FFF2-40B4-BE49-F238E27FC236}">
                <a16:creationId xmlns:a16="http://schemas.microsoft.com/office/drawing/2014/main" id="{353852F6-629C-9BB0-52D1-062862441F06}"/>
              </a:ext>
            </a:extLst>
          </p:cNvPr>
          <p:cNvPicPr>
            <a:picLocks noChangeAspect="1"/>
          </p:cNvPicPr>
          <p:nvPr/>
        </p:nvPicPr>
        <p:blipFill>
          <a:blip r:embed="rId4"/>
          <a:stretch>
            <a:fillRect/>
          </a:stretch>
        </p:blipFill>
        <p:spPr>
          <a:xfrm>
            <a:off x="6200735" y="64475"/>
            <a:ext cx="4204906" cy="961360"/>
          </a:xfrm>
          <a:prstGeom prst="rect">
            <a:avLst/>
          </a:prstGeom>
        </p:spPr>
      </p:pic>
      <p:sp>
        <p:nvSpPr>
          <p:cNvPr id="2" name="灯片编号占位符 1">
            <a:extLst>
              <a:ext uri="{FF2B5EF4-FFF2-40B4-BE49-F238E27FC236}">
                <a16:creationId xmlns:a16="http://schemas.microsoft.com/office/drawing/2014/main" id="{67726E07-3511-4403-ACE2-4BA136C33B9B}"/>
              </a:ext>
            </a:extLst>
          </p:cNvPr>
          <p:cNvSpPr>
            <a:spLocks noGrp="1"/>
          </p:cNvSpPr>
          <p:nvPr>
            <p:ph type="sldNum" sz="quarter" idx="14"/>
          </p:nvPr>
        </p:nvSpPr>
        <p:spPr/>
        <p:txBody>
          <a:bodyPr/>
          <a:lstStyle/>
          <a:p>
            <a:fld id="{AF69888C-E133-43D9-A638-B5C95925B91C}" type="slidenum">
              <a:rPr lang="zh-CN" altLang="en-US" smtClean="0"/>
              <a:t>27</a:t>
            </a:fld>
            <a:endParaRPr lang="zh-CN" altLang="en-US" dirty="0"/>
          </a:p>
        </p:txBody>
      </p:sp>
    </p:spTree>
    <p:extLst>
      <p:ext uri="{BB962C8B-B14F-4D97-AF65-F5344CB8AC3E}">
        <p14:creationId xmlns:p14="http://schemas.microsoft.com/office/powerpoint/2010/main" val="427604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386250" y="960534"/>
            <a:ext cx="5810689" cy="426497"/>
          </a:xfrm>
        </p:spPr>
        <p:txBody>
          <a:bodyPr/>
          <a:lstStyle/>
          <a:p>
            <a:pPr>
              <a:buFont typeface="Wingdings" pitchFamily="2" charset="2"/>
              <a:buChar char="Ø"/>
            </a:pPr>
            <a:r>
              <a:rPr lang="zh-CN" altLang="en-US" sz="2400" b="0" dirty="0"/>
              <a:t> 怎么获得不同的分类器？</a:t>
            </a: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671AAB3-5CEB-4B97-9825-1BD989459C28}"/>
                  </a:ext>
                </a:extLst>
              </p:cNvPr>
              <p:cNvSpPr/>
              <p:nvPr/>
            </p:nvSpPr>
            <p:spPr>
              <a:xfrm>
                <a:off x="7129458" y="3606101"/>
                <a:ext cx="4088080" cy="1045543"/>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sz="2400" i="1" dirty="0">
                          <a:solidFill>
                            <a:schemeClr val="tx1"/>
                          </a:solidFill>
                          <a:latin typeface="Cambria Math" panose="02040503050406030204" pitchFamily="18" charset="0"/>
                        </a:rPr>
                        <m:t>𝐿</m:t>
                      </m:r>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𝑓</m:t>
                          </m:r>
                        </m:e>
                      </m:d>
                      <m:r>
                        <a:rPr lang="zh-CN" altLang="en-US" sz="2400" dirty="0">
                          <a:solidFill>
                            <a:schemeClr val="tx1"/>
                          </a:solidFill>
                          <a:latin typeface="Cambria Math" panose="02040503050406030204" pitchFamily="18" charset="0"/>
                        </a:rPr>
                        <m:t>=</m:t>
                      </m:r>
                      <m:nary>
                        <m:naryPr>
                          <m:chr m:val="∑"/>
                          <m:limLoc m:val="undOvr"/>
                          <m:grow m:val="on"/>
                          <m:supHide m:val="on"/>
                          <m:ctrlPr>
                            <a:rPr lang="zh-CN" altLang="en-US" sz="2400" i="1" dirty="0">
                              <a:solidFill>
                                <a:schemeClr val="tx1"/>
                              </a:solidFill>
                              <a:latin typeface="Cambria Math" panose="02040503050406030204" pitchFamily="18" charset="0"/>
                            </a:rPr>
                          </m:ctrlPr>
                        </m:naryPr>
                        <m:sub>
                          <m:r>
                            <a:rPr lang="zh-CN" altLang="en-US" sz="2400" i="1" dirty="0">
                              <a:solidFill>
                                <a:schemeClr val="tx1"/>
                              </a:solidFill>
                              <a:latin typeface="Cambria Math" panose="02040503050406030204" pitchFamily="18" charset="0"/>
                            </a:rPr>
                            <m:t>𝑛</m:t>
                          </m:r>
                        </m:sub>
                        <m:sup/>
                        <m:e>
                          <m:r>
                            <a:rPr lang="zh-CN" altLang="en-US" sz="2400" i="1" dirty="0">
                              <a:solidFill>
                                <a:schemeClr val="tx1"/>
                              </a:solidFill>
                              <a:latin typeface="Cambria Math" panose="02040503050406030204" pitchFamily="18" charset="0"/>
                            </a:rPr>
                            <m:t>𝑙</m:t>
                          </m:r>
                        </m:e>
                      </m:nary>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𝑓</m:t>
                          </m:r>
                          <m:d>
                            <m:dPr>
                              <m:ctrlPr>
                                <a:rPr lang="zh-CN" altLang="en-US" sz="2400" i="1" dirty="0">
                                  <a:solidFill>
                                    <a:schemeClr val="tx1"/>
                                  </a:solidFill>
                                  <a:latin typeface="Cambria Math" panose="02040503050406030204" pitchFamily="18" charset="0"/>
                                </a:rPr>
                              </m:ctrlPr>
                            </m:dPr>
                            <m:e>
                              <m:sSup>
                                <m:sSupPr>
                                  <m:ctrlPr>
                                    <a:rPr lang="zh-CN" altLang="en-US" sz="2400" i="1" dirty="0">
                                      <a:solidFill>
                                        <a:schemeClr val="tx1"/>
                                      </a:solidFill>
                                      <a:latin typeface="Cambria Math" panose="02040503050406030204" pitchFamily="18" charset="0"/>
                                    </a:rPr>
                                  </m:ctrlPr>
                                </m:sSupPr>
                                <m:e>
                                  <m:r>
                                    <a:rPr lang="zh-CN" altLang="en-US" sz="2400" i="1" dirty="0">
                                      <a:solidFill>
                                        <a:schemeClr val="tx1"/>
                                      </a:solidFill>
                                      <a:latin typeface="Cambria Math" panose="02040503050406030204" pitchFamily="18" charset="0"/>
                                    </a:rPr>
                                    <m:t>𝑥</m:t>
                                  </m:r>
                                </m:e>
                                <m:sup>
                                  <m:r>
                                    <a:rPr lang="zh-CN" altLang="en-US" sz="2400" i="1" dirty="0">
                                      <a:solidFill>
                                        <a:schemeClr val="tx1"/>
                                      </a:solidFill>
                                      <a:latin typeface="Cambria Math" panose="02040503050406030204" pitchFamily="18" charset="0"/>
                                    </a:rPr>
                                    <m:t>𝑛</m:t>
                                  </m:r>
                                </m:sup>
                              </m:sSup>
                            </m:e>
                          </m:d>
                          <m:r>
                            <a:rPr lang="zh-CN" altLang="en-US" sz="2400" dirty="0">
                              <a:solidFill>
                                <a:schemeClr val="tx1"/>
                              </a:solidFill>
                              <a:latin typeface="Cambria Math" panose="02040503050406030204" pitchFamily="18" charset="0"/>
                            </a:rPr>
                            <m:t>,</m:t>
                          </m:r>
                          <m:sSup>
                            <m:sSupPr>
                              <m:ctrlPr>
                                <a:rPr lang="zh-CN" altLang="en-US" sz="2400" i="1" dirty="0">
                                  <a:solidFill>
                                    <a:schemeClr val="tx1"/>
                                  </a:solidFill>
                                  <a:latin typeface="Cambria Math" panose="02040503050406030204" pitchFamily="18" charset="0"/>
                                </a:rPr>
                              </m:ctrlPr>
                            </m:sSupPr>
                            <m:e>
                              <m:acc>
                                <m:accPr>
                                  <m:chr m:val="̂"/>
                                  <m:ctrlPr>
                                    <a:rPr lang="zh-CN" altLang="en-US" sz="2400" i="1" dirty="0">
                                      <a:solidFill>
                                        <a:schemeClr val="tx1"/>
                                      </a:solidFill>
                                      <a:latin typeface="Cambria Math" panose="02040503050406030204" pitchFamily="18" charset="0"/>
                                    </a:rPr>
                                  </m:ctrlPr>
                                </m:accPr>
                                <m:e>
                                  <m:r>
                                    <a:rPr lang="zh-CN" altLang="en-US" sz="2400" i="1" dirty="0">
                                      <a:solidFill>
                                        <a:schemeClr val="tx1"/>
                                      </a:solidFill>
                                      <a:latin typeface="Cambria Math" panose="02040503050406030204" pitchFamily="18" charset="0"/>
                                    </a:rPr>
                                    <m:t>𝑦</m:t>
                                  </m:r>
                                </m:e>
                              </m:acc>
                            </m:e>
                            <m:sup>
                              <m:r>
                                <a:rPr lang="zh-CN" altLang="en-US" sz="2400" i="1" dirty="0">
                                  <a:solidFill>
                                    <a:schemeClr val="tx1"/>
                                  </a:solidFill>
                                  <a:latin typeface="Cambria Math" panose="02040503050406030204" pitchFamily="18" charset="0"/>
                                </a:rPr>
                                <m:t>𝑛</m:t>
                              </m:r>
                            </m:sup>
                          </m:sSup>
                        </m:e>
                      </m:d>
                    </m:oMath>
                  </m:oMathPara>
                </a14:m>
                <a:endParaRPr lang="zh-CN" altLang="en-US" dirty="0">
                  <a:latin typeface="+mn-ea"/>
                </a:endParaRPr>
              </a:p>
            </p:txBody>
          </p:sp>
        </mc:Choice>
        <mc:Fallback xmlns="">
          <p:sp>
            <p:nvSpPr>
              <p:cNvPr id="7" name="矩形 6">
                <a:extLst>
                  <a:ext uri="{FF2B5EF4-FFF2-40B4-BE49-F238E27FC236}">
                    <a16:creationId xmlns:a16="http://schemas.microsoft.com/office/drawing/2014/main" id="{6671AAB3-5CEB-4B97-9825-1BD989459C28}"/>
                  </a:ext>
                </a:extLst>
              </p:cNvPr>
              <p:cNvSpPr>
                <a:spLocks noRot="1" noChangeAspect="1" noMove="1" noResize="1" noEditPoints="1" noAdjustHandles="1" noChangeArrowheads="1" noChangeShapeType="1" noTextEdit="1"/>
              </p:cNvSpPr>
              <p:nvPr/>
            </p:nvSpPr>
            <p:spPr>
              <a:xfrm>
                <a:off x="7129458" y="3606101"/>
                <a:ext cx="4088080" cy="1045543"/>
              </a:xfrm>
              <a:prstGeom prst="rect">
                <a:avLst/>
              </a:prstGeom>
              <a:blipFill>
                <a:blip r:embed="rId3"/>
                <a:stretch>
                  <a:fillRect/>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C9FD205-C5E3-4A19-9FBC-CF5C55099BDD}"/>
                  </a:ext>
                </a:extLst>
              </p:cNvPr>
              <p:cNvSpPr/>
              <p:nvPr/>
            </p:nvSpPr>
            <p:spPr>
              <a:xfrm>
                <a:off x="7129458" y="5018976"/>
                <a:ext cx="4374725" cy="1157942"/>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sz="2400" i="1" dirty="0">
                          <a:solidFill>
                            <a:schemeClr val="tx1"/>
                          </a:solidFill>
                          <a:latin typeface="Cambria Math" panose="02040503050406030204" pitchFamily="18" charset="0"/>
                        </a:rPr>
                        <m:t>𝐿</m:t>
                      </m:r>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𝑓</m:t>
                          </m:r>
                        </m:e>
                      </m:d>
                      <m:r>
                        <a:rPr lang="zh-CN" altLang="en-US" sz="2400" dirty="0">
                          <a:solidFill>
                            <a:schemeClr val="tx1"/>
                          </a:solidFill>
                          <a:latin typeface="Cambria Math" panose="02040503050406030204" pitchFamily="18" charset="0"/>
                        </a:rPr>
                        <m:t>=</m:t>
                      </m:r>
                      <m:nary>
                        <m:naryPr>
                          <m:chr m:val="∑"/>
                          <m:limLoc m:val="undOvr"/>
                          <m:grow m:val="on"/>
                          <m:supHide m:val="on"/>
                          <m:ctrlPr>
                            <a:rPr lang="zh-CN" altLang="en-US" sz="2400" i="1" dirty="0">
                              <a:solidFill>
                                <a:schemeClr val="tx1"/>
                              </a:solidFill>
                              <a:latin typeface="Cambria Math" panose="02040503050406030204" pitchFamily="18" charset="0"/>
                            </a:rPr>
                          </m:ctrlPr>
                        </m:naryPr>
                        <m:sub>
                          <m:r>
                            <a:rPr lang="zh-CN" altLang="en-US" sz="2400" i="1" dirty="0">
                              <a:solidFill>
                                <a:schemeClr val="tx1"/>
                              </a:solidFill>
                              <a:latin typeface="Cambria Math" panose="02040503050406030204" pitchFamily="18" charset="0"/>
                            </a:rPr>
                            <m:t>𝑛</m:t>
                          </m:r>
                        </m:sub>
                        <m:sup/>
                        <m:e>
                          <m:sSup>
                            <m:sSupPr>
                              <m:ctrlPr>
                                <a:rPr lang="zh-CN" altLang="en-US" sz="2400" i="1" dirty="0">
                                  <a:solidFill>
                                    <a:schemeClr val="tx1"/>
                                  </a:solidFill>
                                  <a:latin typeface="Cambria Math" panose="02040503050406030204" pitchFamily="18" charset="0"/>
                                </a:rPr>
                              </m:ctrlPr>
                            </m:sSupPr>
                            <m:e>
                              <m:r>
                                <a:rPr lang="zh-CN" altLang="en-US" sz="2400" i="1" dirty="0">
                                  <a:solidFill>
                                    <a:schemeClr val="tx1"/>
                                  </a:solidFill>
                                  <a:latin typeface="Cambria Math" panose="02040503050406030204" pitchFamily="18" charset="0"/>
                                </a:rPr>
                                <m:t>𝑢</m:t>
                              </m:r>
                            </m:e>
                            <m:sup>
                              <m:r>
                                <a:rPr lang="zh-CN" altLang="en-US" sz="2400" i="1" dirty="0">
                                  <a:solidFill>
                                    <a:schemeClr val="tx1"/>
                                  </a:solidFill>
                                  <a:latin typeface="Cambria Math" panose="02040503050406030204" pitchFamily="18" charset="0"/>
                                </a:rPr>
                                <m:t>𝑛</m:t>
                              </m:r>
                            </m:sup>
                          </m:sSup>
                        </m:e>
                      </m:nary>
                      <m:r>
                        <a:rPr lang="zh-CN" altLang="en-US" sz="2400" dirty="0">
                          <a:solidFill>
                            <a:schemeClr val="tx1"/>
                          </a:solidFill>
                          <a:latin typeface="Cambria Math" panose="02040503050406030204" pitchFamily="18" charset="0"/>
                        </a:rPr>
                        <m:t>⋅</m:t>
                      </m:r>
                      <m:r>
                        <a:rPr lang="zh-CN" altLang="en-US" sz="2400" i="1" dirty="0">
                          <a:solidFill>
                            <a:schemeClr val="tx1"/>
                          </a:solidFill>
                          <a:latin typeface="Cambria Math" panose="02040503050406030204" pitchFamily="18" charset="0"/>
                        </a:rPr>
                        <m:t>𝑙</m:t>
                      </m:r>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𝑓</m:t>
                          </m:r>
                          <m:d>
                            <m:dPr>
                              <m:ctrlPr>
                                <a:rPr lang="zh-CN" altLang="en-US" sz="2400" i="1" dirty="0">
                                  <a:solidFill>
                                    <a:schemeClr val="tx1"/>
                                  </a:solidFill>
                                  <a:latin typeface="Cambria Math" panose="02040503050406030204" pitchFamily="18" charset="0"/>
                                </a:rPr>
                              </m:ctrlPr>
                            </m:dPr>
                            <m:e>
                              <m:sSup>
                                <m:sSupPr>
                                  <m:ctrlPr>
                                    <a:rPr lang="zh-CN" altLang="en-US" sz="2400" i="1" dirty="0">
                                      <a:solidFill>
                                        <a:schemeClr val="tx1"/>
                                      </a:solidFill>
                                      <a:latin typeface="Cambria Math" panose="02040503050406030204" pitchFamily="18" charset="0"/>
                                    </a:rPr>
                                  </m:ctrlPr>
                                </m:sSupPr>
                                <m:e>
                                  <m:r>
                                    <a:rPr lang="zh-CN" altLang="en-US" sz="2400" i="1" dirty="0">
                                      <a:solidFill>
                                        <a:schemeClr val="tx1"/>
                                      </a:solidFill>
                                      <a:latin typeface="Cambria Math" panose="02040503050406030204" pitchFamily="18" charset="0"/>
                                    </a:rPr>
                                    <m:t>𝑥</m:t>
                                  </m:r>
                                </m:e>
                                <m:sup>
                                  <m:r>
                                    <a:rPr lang="zh-CN" altLang="en-US" sz="2400" i="1" dirty="0">
                                      <a:solidFill>
                                        <a:schemeClr val="tx1"/>
                                      </a:solidFill>
                                      <a:latin typeface="Cambria Math" panose="02040503050406030204" pitchFamily="18" charset="0"/>
                                    </a:rPr>
                                    <m:t>𝑛</m:t>
                                  </m:r>
                                </m:sup>
                              </m:sSup>
                            </m:e>
                          </m:d>
                          <m:r>
                            <a:rPr lang="zh-CN" altLang="en-US" sz="2400" dirty="0">
                              <a:solidFill>
                                <a:schemeClr val="tx1"/>
                              </a:solidFill>
                              <a:latin typeface="Cambria Math" panose="02040503050406030204" pitchFamily="18" charset="0"/>
                            </a:rPr>
                            <m:t>,</m:t>
                          </m:r>
                          <m:sSup>
                            <m:sSupPr>
                              <m:ctrlPr>
                                <a:rPr lang="zh-CN" altLang="en-US" sz="2400" i="1" dirty="0">
                                  <a:solidFill>
                                    <a:schemeClr val="tx1"/>
                                  </a:solidFill>
                                  <a:latin typeface="Cambria Math" panose="02040503050406030204" pitchFamily="18" charset="0"/>
                                </a:rPr>
                              </m:ctrlPr>
                            </m:sSupPr>
                            <m:e>
                              <m:acc>
                                <m:accPr>
                                  <m:chr m:val="̂"/>
                                  <m:ctrlPr>
                                    <a:rPr lang="zh-CN" altLang="en-US" sz="2400" i="1" dirty="0">
                                      <a:solidFill>
                                        <a:schemeClr val="tx1"/>
                                      </a:solidFill>
                                      <a:latin typeface="Cambria Math" panose="02040503050406030204" pitchFamily="18" charset="0"/>
                                    </a:rPr>
                                  </m:ctrlPr>
                                </m:accPr>
                                <m:e>
                                  <m:r>
                                    <a:rPr lang="zh-CN" altLang="en-US" sz="2400" i="1" dirty="0">
                                      <a:solidFill>
                                        <a:schemeClr val="tx1"/>
                                      </a:solidFill>
                                      <a:latin typeface="Cambria Math" panose="02040503050406030204" pitchFamily="18" charset="0"/>
                                    </a:rPr>
                                    <m:t>𝑦</m:t>
                                  </m:r>
                                </m:e>
                              </m:acc>
                            </m:e>
                            <m:sup>
                              <m:r>
                                <a:rPr lang="zh-CN" altLang="en-US" sz="2400" i="1" dirty="0">
                                  <a:solidFill>
                                    <a:schemeClr val="tx1"/>
                                  </a:solidFill>
                                  <a:latin typeface="Cambria Math" panose="02040503050406030204" pitchFamily="18" charset="0"/>
                                </a:rPr>
                                <m:t>𝑛</m:t>
                              </m:r>
                            </m:sup>
                          </m:sSup>
                        </m:e>
                      </m:d>
                    </m:oMath>
                  </m:oMathPara>
                </a14:m>
                <a:endParaRPr lang="zh-CN" altLang="en-US" sz="2400" dirty="0">
                  <a:solidFill>
                    <a:schemeClr val="tx1"/>
                  </a:solidFill>
                  <a:latin typeface="+mn-ea"/>
                </a:endParaRPr>
              </a:p>
            </p:txBody>
          </p:sp>
        </mc:Choice>
        <mc:Fallback xmlns="">
          <p:sp>
            <p:nvSpPr>
              <p:cNvPr id="9" name="矩形 8">
                <a:extLst>
                  <a:ext uri="{FF2B5EF4-FFF2-40B4-BE49-F238E27FC236}">
                    <a16:creationId xmlns:a16="http://schemas.microsoft.com/office/drawing/2014/main" id="{7C9FD205-C5E3-4A19-9FBC-CF5C55099BDD}"/>
                  </a:ext>
                </a:extLst>
              </p:cNvPr>
              <p:cNvSpPr>
                <a:spLocks noRot="1" noChangeAspect="1" noMove="1" noResize="1" noEditPoints="1" noAdjustHandles="1" noChangeArrowheads="1" noChangeShapeType="1" noTextEdit="1"/>
              </p:cNvSpPr>
              <p:nvPr/>
            </p:nvSpPr>
            <p:spPr>
              <a:xfrm>
                <a:off x="7129458" y="5018976"/>
                <a:ext cx="4374725" cy="1157942"/>
              </a:xfrm>
              <a:prstGeom prst="rect">
                <a:avLst/>
              </a:prstGeom>
              <a:blipFill>
                <a:blip r:embed="rId4"/>
                <a:stretch>
                  <a:fillRect/>
                </a:stretch>
              </a:blipFill>
              <a:ln/>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D28C0655-1F3F-598E-5158-789FC688A712}"/>
              </a:ext>
            </a:extLst>
          </p:cNvPr>
          <p:cNvSpPr/>
          <p:nvPr/>
        </p:nvSpPr>
        <p:spPr>
          <a:xfrm rot="5400000">
            <a:off x="5949463" y="4337285"/>
            <a:ext cx="1314447" cy="1045543"/>
          </a:xfrm>
          <a:prstGeom prst="rightArrow">
            <a:avLst/>
          </a:prstGeom>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dirty="0"/>
          </a:p>
        </p:txBody>
      </p:sp>
      <p:pic>
        <p:nvPicPr>
          <p:cNvPr id="8" name="图片 7" descr="文本&#10;&#10;中度可信度描述已自动生成">
            <a:extLst>
              <a:ext uri="{FF2B5EF4-FFF2-40B4-BE49-F238E27FC236}">
                <a16:creationId xmlns:a16="http://schemas.microsoft.com/office/drawing/2014/main" id="{71EFFBF1-61D3-D831-3F9A-66AEF61F30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3268" y="4049129"/>
            <a:ext cx="3729698" cy="2127789"/>
          </a:xfrm>
          <a:prstGeom prst="rect">
            <a:avLst/>
          </a:prstGeom>
        </p:spPr>
      </p:pic>
      <p:sp>
        <p:nvSpPr>
          <p:cNvPr id="2" name="文本占位符 3">
            <a:extLst>
              <a:ext uri="{FF2B5EF4-FFF2-40B4-BE49-F238E27FC236}">
                <a16:creationId xmlns:a16="http://schemas.microsoft.com/office/drawing/2014/main" id="{9F1DBCB3-ADC0-8107-B2FC-2E1F232AE1C5}"/>
              </a:ext>
            </a:extLst>
          </p:cNvPr>
          <p:cNvSpPr txBox="1">
            <a:spLocks/>
          </p:cNvSpPr>
          <p:nvPr/>
        </p:nvSpPr>
        <p:spPr>
          <a:xfrm>
            <a:off x="566961" y="265803"/>
            <a:ext cx="10129113" cy="558704"/>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b="1" kern="1200" dirty="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3200" dirty="0"/>
              <a:t>Boosting</a:t>
            </a:r>
            <a:endParaRPr lang="en-US" sz="3200" dirty="0"/>
          </a:p>
        </p:txBody>
      </p:sp>
      <p:sp>
        <p:nvSpPr>
          <p:cNvPr id="3" name="文本占位符 3">
            <a:extLst>
              <a:ext uri="{FF2B5EF4-FFF2-40B4-BE49-F238E27FC236}">
                <a16:creationId xmlns:a16="http://schemas.microsoft.com/office/drawing/2014/main" id="{C7613810-D645-35CD-9FDE-D885044D0034}"/>
              </a:ext>
            </a:extLst>
          </p:cNvPr>
          <p:cNvSpPr txBox="1">
            <a:spLocks/>
          </p:cNvSpPr>
          <p:nvPr/>
        </p:nvSpPr>
        <p:spPr>
          <a:xfrm>
            <a:off x="1243268" y="1445291"/>
            <a:ext cx="5810689" cy="42649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b="1" kern="1200" dirty="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ü"/>
            </a:pPr>
            <a:r>
              <a:rPr lang="zh-CN" altLang="en-US" sz="2200" b="0" dirty="0"/>
              <a:t> 使用不同的训练数据集来进行训练</a:t>
            </a:r>
          </a:p>
        </p:txBody>
      </p:sp>
      <p:sp>
        <p:nvSpPr>
          <p:cNvPr id="10" name="文本占位符 3">
            <a:extLst>
              <a:ext uri="{FF2B5EF4-FFF2-40B4-BE49-F238E27FC236}">
                <a16:creationId xmlns:a16="http://schemas.microsoft.com/office/drawing/2014/main" id="{ADFE2CA8-0EEB-9FE9-CA74-6FB8134BB3E3}"/>
              </a:ext>
            </a:extLst>
          </p:cNvPr>
          <p:cNvSpPr txBox="1">
            <a:spLocks/>
          </p:cNvSpPr>
          <p:nvPr/>
        </p:nvSpPr>
        <p:spPr>
          <a:xfrm>
            <a:off x="386250" y="1983471"/>
            <a:ext cx="5810689" cy="42649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b="1" kern="1200" dirty="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zh-CN" altLang="en-US" sz="2400" b="0" dirty="0"/>
              <a:t> 怎么获得</a:t>
            </a:r>
            <a:r>
              <a:rPr lang="zh-CN" altLang="en-US" sz="2400" dirty="0">
                <a:solidFill>
                  <a:srgbClr val="C00000"/>
                </a:solidFill>
              </a:rPr>
              <a:t>不同的训练集</a:t>
            </a:r>
            <a:r>
              <a:rPr lang="zh-CN" altLang="en-US" sz="2400" b="0" dirty="0"/>
              <a:t>？</a:t>
            </a:r>
          </a:p>
        </p:txBody>
      </p:sp>
      <p:sp>
        <p:nvSpPr>
          <p:cNvPr id="11" name="文本占位符 3">
            <a:extLst>
              <a:ext uri="{FF2B5EF4-FFF2-40B4-BE49-F238E27FC236}">
                <a16:creationId xmlns:a16="http://schemas.microsoft.com/office/drawing/2014/main" id="{17CBEC5A-7E53-FD50-3BBD-D4790816F0D8}"/>
              </a:ext>
            </a:extLst>
          </p:cNvPr>
          <p:cNvSpPr txBox="1">
            <a:spLocks/>
          </p:cNvSpPr>
          <p:nvPr/>
        </p:nvSpPr>
        <p:spPr>
          <a:xfrm>
            <a:off x="1219614" y="2217693"/>
            <a:ext cx="8366837" cy="1911179"/>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b="1" kern="1200" dirty="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ü"/>
            </a:pPr>
            <a:r>
              <a:rPr lang="zh-CN" altLang="en-US" sz="2200" b="0" dirty="0"/>
              <a:t> </a:t>
            </a:r>
            <a:r>
              <a:rPr lang="zh-CN" altLang="en-US" sz="2200" b="0" dirty="0">
                <a:solidFill>
                  <a:schemeClr val="accent1"/>
                </a:solidFill>
              </a:rPr>
              <a:t>重新采样</a:t>
            </a:r>
            <a:r>
              <a:rPr lang="zh-CN" altLang="en-US" sz="2200" b="0" dirty="0"/>
              <a:t>训练数据以形成新的集合</a:t>
            </a:r>
          </a:p>
          <a:p>
            <a:pPr>
              <a:buFont typeface="Wingdings" pitchFamily="2" charset="2"/>
              <a:buChar char="ü"/>
            </a:pPr>
            <a:r>
              <a:rPr lang="zh-CN" altLang="en-US" sz="2200" b="0" dirty="0"/>
              <a:t> </a:t>
            </a:r>
            <a:r>
              <a:rPr lang="zh-CN" altLang="en-US" sz="2200" dirty="0">
                <a:solidFill>
                  <a:srgbClr val="FF0000"/>
                </a:solidFill>
              </a:rPr>
              <a:t>重新赋权</a:t>
            </a:r>
            <a:r>
              <a:rPr lang="zh-CN" altLang="en-US" sz="2200" b="0" dirty="0"/>
              <a:t>训练数据，改变样本分布，形成新的训练数据集</a:t>
            </a:r>
          </a:p>
          <a:p>
            <a:pPr>
              <a:buFont typeface="Wingdings" pitchFamily="2" charset="2"/>
              <a:buChar char="ü"/>
            </a:pPr>
            <a:r>
              <a:rPr lang="zh-CN" altLang="en-US" sz="2200" b="0" dirty="0"/>
              <a:t> 在实际操作中，只</a:t>
            </a:r>
            <a:r>
              <a:rPr lang="zh-CN" altLang="en-US" sz="2200" b="0" dirty="0">
                <a:solidFill>
                  <a:schemeClr val="accent1"/>
                </a:solidFill>
              </a:rPr>
              <a:t>更改代价</a:t>
            </a:r>
            <a:r>
              <a:rPr lang="en-US" altLang="zh-CN" sz="2200" b="0" dirty="0">
                <a:solidFill>
                  <a:schemeClr val="accent1"/>
                </a:solidFill>
              </a:rPr>
              <a:t>/</a:t>
            </a:r>
            <a:r>
              <a:rPr lang="zh-CN" altLang="en-US" sz="2200" b="0" dirty="0">
                <a:solidFill>
                  <a:schemeClr val="accent1"/>
                </a:solidFill>
              </a:rPr>
              <a:t>目标函数</a:t>
            </a:r>
          </a:p>
        </p:txBody>
      </p:sp>
      <p:sp>
        <p:nvSpPr>
          <p:cNvPr id="5" name="灯片编号占位符 4">
            <a:extLst>
              <a:ext uri="{FF2B5EF4-FFF2-40B4-BE49-F238E27FC236}">
                <a16:creationId xmlns:a16="http://schemas.microsoft.com/office/drawing/2014/main" id="{7B20DC6D-B56E-4FF0-BFAC-502E3975D3A3}"/>
              </a:ext>
            </a:extLst>
          </p:cNvPr>
          <p:cNvSpPr>
            <a:spLocks noGrp="1"/>
          </p:cNvSpPr>
          <p:nvPr>
            <p:ph type="sldNum" sz="quarter" idx="14"/>
          </p:nvPr>
        </p:nvSpPr>
        <p:spPr/>
        <p:txBody>
          <a:bodyPr/>
          <a:lstStyle/>
          <a:p>
            <a:fld id="{AF69888C-E133-43D9-A638-B5C95925B91C}" type="slidenum">
              <a:rPr lang="zh-CN" altLang="en-US" smtClean="0"/>
              <a:t>28</a:t>
            </a:fld>
            <a:endParaRPr lang="zh-CN" altLang="en-US" dirty="0"/>
          </a:p>
        </p:txBody>
      </p:sp>
    </p:spTree>
    <p:extLst>
      <p:ext uri="{BB962C8B-B14F-4D97-AF65-F5344CB8AC3E}">
        <p14:creationId xmlns:p14="http://schemas.microsoft.com/office/powerpoint/2010/main" val="115018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6" grpId="0" animBg="1"/>
      <p:bldP spid="3"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8D34538-0379-05DD-02D6-C1C29982D75F}"/>
              </a:ext>
            </a:extLst>
          </p:cNvPr>
          <p:cNvSpPr>
            <a:spLocks noGrp="1"/>
          </p:cNvSpPr>
          <p:nvPr>
            <p:ph type="body" sz="quarter" idx="12"/>
          </p:nvPr>
        </p:nvSpPr>
        <p:spPr/>
        <p:txBody>
          <a:bodyPr/>
          <a:lstStyle/>
          <a:p>
            <a:pPr marL="0" indent="0">
              <a:buNone/>
            </a:pPr>
            <a:r>
              <a:rPr lang="en-US" altLang="zh-CN" sz="3200" dirty="0" err="1"/>
              <a:t>Adaboost</a:t>
            </a:r>
            <a:endParaRPr lang="zh-CN" altLang="en-US" sz="3200" dirty="0"/>
          </a:p>
        </p:txBody>
      </p:sp>
      <p:sp>
        <p:nvSpPr>
          <p:cNvPr id="3" name="文本框 2">
            <a:extLst>
              <a:ext uri="{FF2B5EF4-FFF2-40B4-BE49-F238E27FC236}">
                <a16:creationId xmlns:a16="http://schemas.microsoft.com/office/drawing/2014/main" id="{C4C93D33-970E-3514-F31C-FBB284FB53A8}"/>
              </a:ext>
            </a:extLst>
          </p:cNvPr>
          <p:cNvSpPr txBox="1"/>
          <p:nvPr/>
        </p:nvSpPr>
        <p:spPr>
          <a:xfrm>
            <a:off x="566962" y="943667"/>
            <a:ext cx="7217040" cy="830997"/>
          </a:xfrm>
          <a:prstGeom prst="rect">
            <a:avLst/>
          </a:prstGeom>
          <a:noFill/>
        </p:spPr>
        <p:txBody>
          <a:bodyPr wrap="none" rtlCol="0">
            <a:spAutoFit/>
          </a:bodyPr>
          <a:lstStyle/>
          <a:p>
            <a:pPr marL="342900" indent="-342900" algn="l">
              <a:buFont typeface="Wingdings" pitchFamily="2" charset="2"/>
              <a:buChar char="Ø"/>
            </a:pPr>
            <a:r>
              <a:rPr lang="zh-CN" altLang="en-US" sz="2400" dirty="0">
                <a:latin typeface="+mn-ea"/>
              </a:rPr>
              <a:t>核心思想：在使得</a:t>
            </a:r>
            <a:r>
              <a:rPr lang="en-US" altLang="zh-CN" sz="2400" dirty="0">
                <a:latin typeface="+mn-ea"/>
              </a:rPr>
              <a:t>f1</a:t>
            </a:r>
            <a:r>
              <a:rPr lang="zh-CN" altLang="en-US" sz="2400" dirty="0">
                <a:latin typeface="+mn-ea"/>
              </a:rPr>
              <a:t>训练失败的训练集上训练</a:t>
            </a:r>
            <a:r>
              <a:rPr lang="en-US" altLang="zh-CN" sz="2400" dirty="0">
                <a:latin typeface="+mn-ea"/>
              </a:rPr>
              <a:t>f2</a:t>
            </a:r>
          </a:p>
          <a:p>
            <a:pPr marL="342900" indent="-342900" algn="l">
              <a:buFont typeface="Wingdings" pitchFamily="2" charset="2"/>
              <a:buChar char="Ø"/>
            </a:pPr>
            <a:r>
              <a:rPr lang="zh-CN" altLang="en-US" sz="2400" dirty="0">
                <a:latin typeface="+mn-ea"/>
              </a:rPr>
              <a:t>如何找到使</a:t>
            </a:r>
            <a:r>
              <a:rPr lang="en-US" altLang="zh-CN" sz="2400" dirty="0">
                <a:latin typeface="+mn-ea"/>
              </a:rPr>
              <a:t>f1</a:t>
            </a:r>
            <a:r>
              <a:rPr lang="zh-CN" altLang="en-US" sz="2400" dirty="0">
                <a:latin typeface="+mn-ea"/>
              </a:rPr>
              <a:t>训练失败的训练集？</a:t>
            </a:r>
            <a:endParaRPr lang="en-US" altLang="zh-CN" sz="2400" dirty="0">
              <a:latin typeface="+mn-ea"/>
            </a:endParaRPr>
          </a:p>
        </p:txBody>
      </p:sp>
      <p:sp>
        <p:nvSpPr>
          <p:cNvPr id="17" name="矩形 16">
            <a:extLst>
              <a:ext uri="{FF2B5EF4-FFF2-40B4-BE49-F238E27FC236}">
                <a16:creationId xmlns:a16="http://schemas.microsoft.com/office/drawing/2014/main" id="{97B3F64F-ACA3-4DE0-AD4D-D8DF739EC990}"/>
              </a:ext>
            </a:extLst>
          </p:cNvPr>
          <p:cNvSpPr/>
          <p:nvPr/>
        </p:nvSpPr>
        <p:spPr>
          <a:xfrm>
            <a:off x="5862432" y="4605240"/>
            <a:ext cx="4772111" cy="787441"/>
          </a:xfrm>
          <a:prstGeom prst="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dirty="0">
                <a:latin typeface="+mn-ea"/>
              </a:rPr>
              <a:t>对于新的权重，</a:t>
            </a:r>
            <a:r>
              <a:rPr lang="en-US" altLang="zh-CN" sz="2400" dirty="0">
                <a:latin typeface="+mn-ea"/>
              </a:rPr>
              <a:t>f1</a:t>
            </a:r>
            <a:r>
              <a:rPr lang="zh-CN" altLang="en-US" sz="2400" dirty="0">
                <a:latin typeface="+mn-ea"/>
              </a:rPr>
              <a:t>的性能是随机的</a:t>
            </a:r>
          </a:p>
        </p:txBody>
      </p:sp>
      <p:sp>
        <p:nvSpPr>
          <p:cNvPr id="6" name="文本框 5">
            <a:extLst>
              <a:ext uri="{FF2B5EF4-FFF2-40B4-BE49-F238E27FC236}">
                <a16:creationId xmlns:a16="http://schemas.microsoft.com/office/drawing/2014/main" id="{D4F6BB3F-1952-0A5E-6519-BAF859D6E688}"/>
              </a:ext>
            </a:extLst>
          </p:cNvPr>
          <p:cNvSpPr txBox="1"/>
          <p:nvPr/>
        </p:nvSpPr>
        <p:spPr>
          <a:xfrm>
            <a:off x="497409" y="3901044"/>
            <a:ext cx="4493691" cy="461665"/>
          </a:xfrm>
          <a:prstGeom prst="rect">
            <a:avLst/>
          </a:prstGeom>
          <a:noFill/>
        </p:spPr>
        <p:txBody>
          <a:bodyPr wrap="square" rtlCol="0">
            <a:spAutoFit/>
          </a:bodyPr>
          <a:lstStyle/>
          <a:p>
            <a:pPr algn="l"/>
            <a:r>
              <a:rPr lang="zh-CN" altLang="en-US" sz="2400" dirty="0">
                <a:latin typeface="+mn-ea"/>
              </a:rPr>
              <a:t>更新</a:t>
            </a:r>
            <a:r>
              <a:rPr lang="en-US" altLang="zh-CN" sz="2400" dirty="0">
                <a:latin typeface="+mn-ea"/>
              </a:rPr>
              <a:t>u</a:t>
            </a:r>
            <a:r>
              <a:rPr lang="en-US" altLang="zh-CN" sz="2400" baseline="-25000" dirty="0">
                <a:latin typeface="+mn-ea"/>
              </a:rPr>
              <a:t>1</a:t>
            </a:r>
            <a:r>
              <a:rPr lang="en-US" altLang="zh-CN" sz="2400" baseline="30000" dirty="0">
                <a:latin typeface="+mn-ea"/>
              </a:rPr>
              <a:t>n</a:t>
            </a:r>
            <a:r>
              <a:rPr lang="zh-CN" altLang="en-US" sz="2400" dirty="0">
                <a:latin typeface="+mn-ea"/>
              </a:rPr>
              <a:t>到</a:t>
            </a:r>
            <a:r>
              <a:rPr lang="en-US" altLang="zh-CN" sz="2400" dirty="0">
                <a:latin typeface="+mn-ea"/>
              </a:rPr>
              <a:t>u</a:t>
            </a:r>
            <a:r>
              <a:rPr lang="en-US" altLang="zh-CN" sz="2400" baseline="-25000" dirty="0">
                <a:latin typeface="+mn-ea"/>
              </a:rPr>
              <a:t>2</a:t>
            </a:r>
            <a:r>
              <a:rPr lang="en-US" altLang="zh-CN" sz="2400" baseline="30000" dirty="0">
                <a:latin typeface="+mn-ea"/>
              </a:rPr>
              <a:t>n</a:t>
            </a:r>
            <a:r>
              <a:rPr lang="zh-CN" altLang="en-US" sz="2400" dirty="0">
                <a:latin typeface="+mn-ea"/>
              </a:rPr>
              <a:t>样本的权重，使</a:t>
            </a:r>
          </a:p>
        </p:txBody>
      </p:sp>
      <p:sp>
        <p:nvSpPr>
          <p:cNvPr id="10" name="文本框 9">
            <a:extLst>
              <a:ext uri="{FF2B5EF4-FFF2-40B4-BE49-F238E27FC236}">
                <a16:creationId xmlns:a16="http://schemas.microsoft.com/office/drawing/2014/main" id="{0AFFC948-3004-4AB2-BC22-CFB42FC3E153}"/>
              </a:ext>
            </a:extLst>
          </p:cNvPr>
          <p:cNvSpPr txBox="1"/>
          <p:nvPr/>
        </p:nvSpPr>
        <p:spPr>
          <a:xfrm flipH="1">
            <a:off x="428728" y="5554145"/>
            <a:ext cx="4708421" cy="830997"/>
          </a:xfrm>
          <a:prstGeom prst="rect">
            <a:avLst/>
          </a:prstGeom>
          <a:noFill/>
        </p:spPr>
        <p:txBody>
          <a:bodyPr wrap="square" rtlCol="0">
            <a:spAutoFit/>
          </a:bodyPr>
          <a:lstStyle/>
          <a:p>
            <a:pPr algn="l"/>
            <a:r>
              <a:rPr lang="zh-CN" altLang="en-US" sz="2400" dirty="0">
                <a:latin typeface="+mn-ea"/>
              </a:rPr>
              <a:t>基于新权重</a:t>
            </a:r>
            <a:r>
              <a:rPr lang="en-US" altLang="zh-CN" sz="2400" dirty="0">
                <a:latin typeface="+mn-ea"/>
              </a:rPr>
              <a:t>u</a:t>
            </a:r>
            <a:r>
              <a:rPr lang="en-US" altLang="zh-CN" sz="2400" baseline="-25000" dirty="0">
                <a:latin typeface="+mn-ea"/>
              </a:rPr>
              <a:t>2</a:t>
            </a:r>
            <a:r>
              <a:rPr lang="en-US" altLang="zh-CN" sz="2400" baseline="30000" dirty="0">
                <a:latin typeface="+mn-ea"/>
              </a:rPr>
              <a:t>n </a:t>
            </a:r>
            <a:r>
              <a:rPr lang="zh-CN" altLang="en-US" sz="2400" dirty="0">
                <a:latin typeface="+mn-ea"/>
              </a:rPr>
              <a:t>，训练</a:t>
            </a:r>
            <a:r>
              <a:rPr lang="en-US" altLang="zh-CN" sz="2400" dirty="0">
                <a:latin typeface="+mn-ea"/>
              </a:rPr>
              <a:t>f2</a:t>
            </a:r>
          </a:p>
          <a:p>
            <a:pPr algn="l"/>
            <a:endParaRPr lang="zh-CN" altLang="en-US" sz="2400" dirty="0">
              <a:latin typeface="+mn-ea"/>
            </a:endParaRPr>
          </a:p>
        </p:txBody>
      </p:sp>
      <p:pic>
        <p:nvPicPr>
          <p:cNvPr id="7" name="图片 6">
            <a:extLst>
              <a:ext uri="{FF2B5EF4-FFF2-40B4-BE49-F238E27FC236}">
                <a16:creationId xmlns:a16="http://schemas.microsoft.com/office/drawing/2014/main" id="{C27B611F-6EFD-4E25-8247-974D119F4863}"/>
              </a:ext>
            </a:extLst>
          </p:cNvPr>
          <p:cNvPicPr>
            <a:picLocks noChangeAspect="1"/>
          </p:cNvPicPr>
          <p:nvPr/>
        </p:nvPicPr>
        <p:blipFill>
          <a:blip r:embed="rId3"/>
          <a:stretch>
            <a:fillRect/>
          </a:stretch>
        </p:blipFill>
        <p:spPr>
          <a:xfrm>
            <a:off x="622036" y="2245792"/>
            <a:ext cx="4972306" cy="1435174"/>
          </a:xfrm>
          <a:prstGeom prst="rect">
            <a:avLst/>
          </a:prstGeom>
        </p:spPr>
      </p:pic>
      <p:pic>
        <p:nvPicPr>
          <p:cNvPr id="12" name="图片 11">
            <a:extLst>
              <a:ext uri="{FF2B5EF4-FFF2-40B4-BE49-F238E27FC236}">
                <a16:creationId xmlns:a16="http://schemas.microsoft.com/office/drawing/2014/main" id="{985D0458-6425-47AD-BD9F-DF5DEA55F9EC}"/>
              </a:ext>
            </a:extLst>
          </p:cNvPr>
          <p:cNvPicPr>
            <a:picLocks noChangeAspect="1"/>
          </p:cNvPicPr>
          <p:nvPr/>
        </p:nvPicPr>
        <p:blipFill>
          <a:blip r:embed="rId4"/>
          <a:stretch>
            <a:fillRect/>
          </a:stretch>
        </p:blipFill>
        <p:spPr>
          <a:xfrm>
            <a:off x="5994122" y="2366448"/>
            <a:ext cx="2254366" cy="1314518"/>
          </a:xfrm>
          <a:prstGeom prst="rect">
            <a:avLst/>
          </a:prstGeom>
        </p:spPr>
      </p:pic>
      <p:pic>
        <p:nvPicPr>
          <p:cNvPr id="14" name="图片 13">
            <a:extLst>
              <a:ext uri="{FF2B5EF4-FFF2-40B4-BE49-F238E27FC236}">
                <a16:creationId xmlns:a16="http://schemas.microsoft.com/office/drawing/2014/main" id="{6793F386-067B-483B-9EE2-1E8D72D14CA8}"/>
              </a:ext>
            </a:extLst>
          </p:cNvPr>
          <p:cNvPicPr>
            <a:picLocks noChangeAspect="1"/>
          </p:cNvPicPr>
          <p:nvPr/>
        </p:nvPicPr>
        <p:blipFill>
          <a:blip r:embed="rId5"/>
          <a:stretch>
            <a:fillRect/>
          </a:stretch>
        </p:blipFill>
        <p:spPr>
          <a:xfrm>
            <a:off x="8648268" y="2848193"/>
            <a:ext cx="1790792" cy="787440"/>
          </a:xfrm>
          <a:prstGeom prst="rect">
            <a:avLst/>
          </a:prstGeom>
        </p:spPr>
      </p:pic>
      <p:pic>
        <p:nvPicPr>
          <p:cNvPr id="16" name="图片 15">
            <a:extLst>
              <a:ext uri="{FF2B5EF4-FFF2-40B4-BE49-F238E27FC236}">
                <a16:creationId xmlns:a16="http://schemas.microsoft.com/office/drawing/2014/main" id="{D3833BFC-5C0A-420A-8671-B2DED605E781}"/>
              </a:ext>
            </a:extLst>
          </p:cNvPr>
          <p:cNvPicPr>
            <a:picLocks noChangeAspect="1"/>
          </p:cNvPicPr>
          <p:nvPr/>
        </p:nvPicPr>
        <p:blipFill>
          <a:blip r:embed="rId6"/>
          <a:stretch>
            <a:fillRect/>
          </a:stretch>
        </p:blipFill>
        <p:spPr>
          <a:xfrm>
            <a:off x="551512" y="4298479"/>
            <a:ext cx="4836888" cy="1295809"/>
          </a:xfrm>
          <a:prstGeom prst="rect">
            <a:avLst/>
          </a:prstGeom>
        </p:spPr>
      </p:pic>
      <p:sp>
        <p:nvSpPr>
          <p:cNvPr id="18" name="矩形: 圆角 17">
            <a:extLst>
              <a:ext uri="{FF2B5EF4-FFF2-40B4-BE49-F238E27FC236}">
                <a16:creationId xmlns:a16="http://schemas.microsoft.com/office/drawing/2014/main" id="{2D2EC718-4FB7-471F-85E0-4C030B37EA87}"/>
              </a:ext>
            </a:extLst>
          </p:cNvPr>
          <p:cNvSpPr/>
          <p:nvPr/>
        </p:nvSpPr>
        <p:spPr>
          <a:xfrm>
            <a:off x="6561629" y="1558584"/>
            <a:ext cx="3701376" cy="52165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l"/>
            <a:r>
              <a:rPr lang="zh-CN" altLang="en-US" sz="2000" dirty="0">
                <a:latin typeface="+mn-ea"/>
              </a:rPr>
              <a:t>𝜀</a:t>
            </a:r>
            <a:r>
              <a:rPr lang="en-US" altLang="zh-CN" sz="2000" dirty="0">
                <a:latin typeface="+mn-ea"/>
              </a:rPr>
              <a:t>1</a:t>
            </a:r>
            <a:r>
              <a:rPr lang="zh-CN" altLang="en-US" sz="2000" dirty="0">
                <a:latin typeface="+mn-ea"/>
              </a:rPr>
              <a:t>：</a:t>
            </a:r>
            <a:r>
              <a:rPr lang="en-US" altLang="zh-CN" sz="2000" dirty="0">
                <a:latin typeface="+mn-ea"/>
              </a:rPr>
              <a:t>f1</a:t>
            </a:r>
            <a:r>
              <a:rPr lang="zh-CN" altLang="en-US" sz="2000" dirty="0">
                <a:latin typeface="+mn-ea"/>
              </a:rPr>
              <a:t>在训练集上的错误率</a:t>
            </a:r>
            <a:endParaRPr lang="en-US" altLang="zh-CN" sz="2000" dirty="0">
              <a:latin typeface="+mn-ea"/>
            </a:endParaRPr>
          </a:p>
        </p:txBody>
      </p:sp>
      <p:sp>
        <p:nvSpPr>
          <p:cNvPr id="20" name="流程图: 接点 19">
            <a:extLst>
              <a:ext uri="{FF2B5EF4-FFF2-40B4-BE49-F238E27FC236}">
                <a16:creationId xmlns:a16="http://schemas.microsoft.com/office/drawing/2014/main" id="{552828FC-1CBB-4C04-8B11-D53834108E16}"/>
              </a:ext>
            </a:extLst>
          </p:cNvPr>
          <p:cNvSpPr/>
          <p:nvPr/>
        </p:nvSpPr>
        <p:spPr>
          <a:xfrm>
            <a:off x="428729" y="2568321"/>
            <a:ext cx="714271" cy="860679"/>
          </a:xfrm>
          <a:prstGeom prst="flowChartConnector">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连接符: 曲线 21">
            <a:extLst>
              <a:ext uri="{FF2B5EF4-FFF2-40B4-BE49-F238E27FC236}">
                <a16:creationId xmlns:a16="http://schemas.microsoft.com/office/drawing/2014/main" id="{5D1D9525-133A-421B-ABBB-DCDE2A19916C}"/>
              </a:ext>
            </a:extLst>
          </p:cNvPr>
          <p:cNvCxnSpPr>
            <a:stCxn id="20" idx="0"/>
            <a:endCxn id="18" idx="1"/>
          </p:cNvCxnSpPr>
          <p:nvPr/>
        </p:nvCxnSpPr>
        <p:spPr>
          <a:xfrm rot="5400000" flipH="1" flipV="1">
            <a:off x="3299292" y="-694016"/>
            <a:ext cx="748911" cy="577576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连接符: 曲线 10">
            <a:extLst>
              <a:ext uri="{FF2B5EF4-FFF2-40B4-BE49-F238E27FC236}">
                <a16:creationId xmlns:a16="http://schemas.microsoft.com/office/drawing/2014/main" id="{48EE9820-5705-4569-A555-813F68AE41BB}"/>
              </a:ext>
            </a:extLst>
          </p:cNvPr>
          <p:cNvCxnSpPr>
            <a:cxnSpLocks/>
          </p:cNvCxnSpPr>
          <p:nvPr/>
        </p:nvCxnSpPr>
        <p:spPr>
          <a:xfrm flipV="1">
            <a:off x="3822700" y="2940050"/>
            <a:ext cx="2122657" cy="329568"/>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4" name="灯片编号占位符 3">
            <a:extLst>
              <a:ext uri="{FF2B5EF4-FFF2-40B4-BE49-F238E27FC236}">
                <a16:creationId xmlns:a16="http://schemas.microsoft.com/office/drawing/2014/main" id="{062E032F-3A50-4329-B71E-DFA0AB24A93F}"/>
              </a:ext>
            </a:extLst>
          </p:cNvPr>
          <p:cNvSpPr>
            <a:spLocks noGrp="1"/>
          </p:cNvSpPr>
          <p:nvPr>
            <p:ph type="sldNum" sz="quarter" idx="14"/>
          </p:nvPr>
        </p:nvSpPr>
        <p:spPr/>
        <p:txBody>
          <a:bodyPr/>
          <a:lstStyle/>
          <a:p>
            <a:fld id="{AF69888C-E133-43D9-A638-B5C95925B91C}" type="slidenum">
              <a:rPr lang="zh-CN" altLang="en-US" smtClean="0"/>
              <a:t>29</a:t>
            </a:fld>
            <a:endParaRPr lang="zh-CN" altLang="en-US" dirty="0"/>
          </a:p>
        </p:txBody>
      </p:sp>
    </p:spTree>
    <p:extLst>
      <p:ext uri="{BB962C8B-B14F-4D97-AF65-F5344CB8AC3E}">
        <p14:creationId xmlns:p14="http://schemas.microsoft.com/office/powerpoint/2010/main" val="68514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6" grpId="0"/>
      <p:bldP spid="10" grpId="0"/>
      <p:bldP spid="18"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8AD014C-B466-DF0C-E4AB-E76CAE64A093}"/>
              </a:ext>
            </a:extLst>
          </p:cNvPr>
          <p:cNvSpPr txBox="1"/>
          <p:nvPr/>
        </p:nvSpPr>
        <p:spPr>
          <a:xfrm>
            <a:off x="1168544" y="910436"/>
            <a:ext cx="5378395" cy="1200329"/>
          </a:xfrm>
          <a:prstGeom prst="rect">
            <a:avLst/>
          </a:prstGeom>
          <a:noFill/>
        </p:spPr>
        <p:txBody>
          <a:bodyPr wrap="none" rtlCol="0">
            <a:spAutoFit/>
          </a:bodyPr>
          <a:lstStyle/>
          <a:p>
            <a:pPr algn="l"/>
            <a:r>
              <a:rPr lang="zh-CN" altLang="en-US" sz="2400" dirty="0">
                <a:latin typeface="+mn-ea"/>
              </a:rPr>
              <a:t>想法：在</a:t>
            </a:r>
            <a:r>
              <a:rPr lang="en-US" altLang="zh-CN" sz="2400" dirty="0">
                <a:latin typeface="+mn-ea"/>
              </a:rPr>
              <a:t>f1</a:t>
            </a:r>
            <a:r>
              <a:rPr lang="zh-CN" altLang="en-US" sz="2400" dirty="0">
                <a:latin typeface="+mn-ea"/>
              </a:rPr>
              <a:t>训练失败的训练集上训练</a:t>
            </a:r>
            <a:r>
              <a:rPr lang="en-US" altLang="zh-CN" sz="2400" dirty="0">
                <a:latin typeface="+mn-ea"/>
              </a:rPr>
              <a:t>f2</a:t>
            </a:r>
          </a:p>
          <a:p>
            <a:pPr algn="l"/>
            <a:r>
              <a:rPr lang="zh-CN" altLang="en-US" sz="2400" dirty="0">
                <a:latin typeface="+mn-ea"/>
              </a:rPr>
              <a:t> </a:t>
            </a:r>
            <a:endParaRPr lang="en-US" altLang="zh-CN" sz="2400" dirty="0">
              <a:latin typeface="+mn-ea"/>
            </a:endParaRPr>
          </a:p>
          <a:p>
            <a:pPr algn="l"/>
            <a:r>
              <a:rPr lang="zh-CN" altLang="en-US" sz="2400" dirty="0">
                <a:solidFill>
                  <a:schemeClr val="accent1">
                    <a:lumMod val="60000"/>
                    <a:lumOff val="40000"/>
                  </a:schemeClr>
                </a:solidFill>
                <a:latin typeface="+mn-ea"/>
              </a:rPr>
              <a:t>如何找到</a:t>
            </a:r>
            <a:r>
              <a:rPr lang="en-US" altLang="zh-CN" sz="2400" dirty="0">
                <a:solidFill>
                  <a:schemeClr val="accent1">
                    <a:lumMod val="60000"/>
                    <a:lumOff val="40000"/>
                  </a:schemeClr>
                </a:solidFill>
                <a:latin typeface="+mn-ea"/>
              </a:rPr>
              <a:t>f1</a:t>
            </a:r>
            <a:r>
              <a:rPr lang="zh-CN" altLang="en-US" sz="2400" dirty="0">
                <a:solidFill>
                  <a:schemeClr val="accent1">
                    <a:lumMod val="60000"/>
                    <a:lumOff val="40000"/>
                  </a:schemeClr>
                </a:solidFill>
                <a:latin typeface="+mn-ea"/>
              </a:rPr>
              <a:t>训练失败的训练集？</a:t>
            </a:r>
          </a:p>
        </p:txBody>
      </p:sp>
      <p:grpSp>
        <p:nvGrpSpPr>
          <p:cNvPr id="21" name="组合 20">
            <a:extLst>
              <a:ext uri="{FF2B5EF4-FFF2-40B4-BE49-F238E27FC236}">
                <a16:creationId xmlns:a16="http://schemas.microsoft.com/office/drawing/2014/main" id="{7E88A4F2-11C4-4139-978E-9C7AAA4E5088}"/>
              </a:ext>
            </a:extLst>
          </p:cNvPr>
          <p:cNvGrpSpPr/>
          <p:nvPr/>
        </p:nvGrpSpPr>
        <p:grpSpPr>
          <a:xfrm>
            <a:off x="566962" y="2192754"/>
            <a:ext cx="3168813" cy="2676796"/>
            <a:chOff x="566962" y="2192754"/>
            <a:chExt cx="3168813" cy="2676796"/>
          </a:xfrm>
        </p:grpSpPr>
        <p:pic>
          <p:nvPicPr>
            <p:cNvPr id="6" name="图片 5">
              <a:extLst>
                <a:ext uri="{FF2B5EF4-FFF2-40B4-BE49-F238E27FC236}">
                  <a16:creationId xmlns:a16="http://schemas.microsoft.com/office/drawing/2014/main" id="{80702F70-7E18-45C4-83F8-BE72306C5A54}"/>
                </a:ext>
              </a:extLst>
            </p:cNvPr>
            <p:cNvPicPr>
              <a:picLocks noChangeAspect="1"/>
            </p:cNvPicPr>
            <p:nvPr/>
          </p:nvPicPr>
          <p:blipFill rotWithShape="1">
            <a:blip r:embed="rId2"/>
            <a:srcRect l="-1969" r="1969" b="7154"/>
            <a:stretch/>
          </p:blipFill>
          <p:spPr>
            <a:xfrm>
              <a:off x="566962" y="2192754"/>
              <a:ext cx="1962251" cy="2676796"/>
            </a:xfrm>
            <a:prstGeom prst="rect">
              <a:avLst/>
            </a:prstGeom>
          </p:spPr>
        </p:pic>
        <p:pic>
          <p:nvPicPr>
            <p:cNvPr id="10" name="图片 9">
              <a:extLst>
                <a:ext uri="{FF2B5EF4-FFF2-40B4-BE49-F238E27FC236}">
                  <a16:creationId xmlns:a16="http://schemas.microsoft.com/office/drawing/2014/main" id="{975CD604-ED35-451F-8422-2FF1ABAA34CC}"/>
                </a:ext>
              </a:extLst>
            </p:cNvPr>
            <p:cNvPicPr>
              <a:picLocks noChangeAspect="1"/>
            </p:cNvPicPr>
            <p:nvPr/>
          </p:nvPicPr>
          <p:blipFill>
            <a:blip r:embed="rId3"/>
            <a:stretch>
              <a:fillRect/>
            </a:stretch>
          </p:blipFill>
          <p:spPr>
            <a:xfrm>
              <a:off x="2529213" y="2197583"/>
              <a:ext cx="1206562" cy="2667137"/>
            </a:xfrm>
            <a:prstGeom prst="rect">
              <a:avLst/>
            </a:prstGeom>
          </p:spPr>
        </p:pic>
      </p:grpSp>
      <p:cxnSp>
        <p:nvCxnSpPr>
          <p:cNvPr id="12" name="直接箭头连接符 11">
            <a:extLst>
              <a:ext uri="{FF2B5EF4-FFF2-40B4-BE49-F238E27FC236}">
                <a16:creationId xmlns:a16="http://schemas.microsoft.com/office/drawing/2014/main" id="{314EA01D-317F-473F-A424-FD351093EAC9}"/>
              </a:ext>
            </a:extLst>
          </p:cNvPr>
          <p:cNvCxnSpPr>
            <a:cxnSpLocks/>
          </p:cNvCxnSpPr>
          <p:nvPr/>
        </p:nvCxnSpPr>
        <p:spPr>
          <a:xfrm>
            <a:off x="2202288" y="4875466"/>
            <a:ext cx="930206" cy="6560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6" name="图片 15">
            <a:extLst>
              <a:ext uri="{FF2B5EF4-FFF2-40B4-BE49-F238E27FC236}">
                <a16:creationId xmlns:a16="http://schemas.microsoft.com/office/drawing/2014/main" id="{0469AC1B-7B11-4B41-BA64-01BA8E261D80}"/>
              </a:ext>
            </a:extLst>
          </p:cNvPr>
          <p:cNvPicPr>
            <a:picLocks noChangeAspect="1"/>
          </p:cNvPicPr>
          <p:nvPr/>
        </p:nvPicPr>
        <p:blipFill rotWithShape="1">
          <a:blip r:embed="rId4"/>
          <a:srcRect t="6165"/>
          <a:stretch/>
        </p:blipFill>
        <p:spPr>
          <a:xfrm>
            <a:off x="3254913" y="5325232"/>
            <a:ext cx="1047804" cy="572052"/>
          </a:xfrm>
          <a:prstGeom prst="rect">
            <a:avLst/>
          </a:prstGeom>
        </p:spPr>
      </p:pic>
      <p:pic>
        <p:nvPicPr>
          <p:cNvPr id="20" name="图片 19">
            <a:extLst>
              <a:ext uri="{FF2B5EF4-FFF2-40B4-BE49-F238E27FC236}">
                <a16:creationId xmlns:a16="http://schemas.microsoft.com/office/drawing/2014/main" id="{C8021A4A-DF6C-44A2-BF19-186348C28801}"/>
              </a:ext>
            </a:extLst>
          </p:cNvPr>
          <p:cNvPicPr>
            <a:picLocks noChangeAspect="1"/>
          </p:cNvPicPr>
          <p:nvPr/>
        </p:nvPicPr>
        <p:blipFill>
          <a:blip r:embed="rId5"/>
          <a:stretch>
            <a:fillRect/>
          </a:stretch>
        </p:blipFill>
        <p:spPr>
          <a:xfrm>
            <a:off x="3735775" y="2192754"/>
            <a:ext cx="958899" cy="2667137"/>
          </a:xfrm>
          <a:prstGeom prst="rect">
            <a:avLst/>
          </a:prstGeom>
        </p:spPr>
      </p:pic>
      <p:pic>
        <p:nvPicPr>
          <p:cNvPr id="23" name="图片 22">
            <a:extLst>
              <a:ext uri="{FF2B5EF4-FFF2-40B4-BE49-F238E27FC236}">
                <a16:creationId xmlns:a16="http://schemas.microsoft.com/office/drawing/2014/main" id="{017002DA-D74B-46CE-AEDA-286E7FCAD9D3}"/>
              </a:ext>
            </a:extLst>
          </p:cNvPr>
          <p:cNvPicPr>
            <a:picLocks noChangeAspect="1"/>
          </p:cNvPicPr>
          <p:nvPr/>
        </p:nvPicPr>
        <p:blipFill>
          <a:blip r:embed="rId6"/>
          <a:stretch>
            <a:fillRect/>
          </a:stretch>
        </p:blipFill>
        <p:spPr>
          <a:xfrm>
            <a:off x="5449233" y="2202414"/>
            <a:ext cx="1809843" cy="2667136"/>
          </a:xfrm>
          <a:prstGeom prst="rect">
            <a:avLst/>
          </a:prstGeom>
        </p:spPr>
      </p:pic>
      <p:pic>
        <p:nvPicPr>
          <p:cNvPr id="25" name="图片 24">
            <a:extLst>
              <a:ext uri="{FF2B5EF4-FFF2-40B4-BE49-F238E27FC236}">
                <a16:creationId xmlns:a16="http://schemas.microsoft.com/office/drawing/2014/main" id="{EFD51882-81FF-4E9D-818E-B4C5DAC83151}"/>
              </a:ext>
            </a:extLst>
          </p:cNvPr>
          <p:cNvPicPr>
            <a:picLocks noChangeAspect="1"/>
          </p:cNvPicPr>
          <p:nvPr/>
        </p:nvPicPr>
        <p:blipFill>
          <a:blip r:embed="rId7"/>
          <a:stretch>
            <a:fillRect/>
          </a:stretch>
        </p:blipFill>
        <p:spPr>
          <a:xfrm>
            <a:off x="7259076" y="2215114"/>
            <a:ext cx="977950" cy="2654436"/>
          </a:xfrm>
          <a:prstGeom prst="rect">
            <a:avLst/>
          </a:prstGeom>
        </p:spPr>
      </p:pic>
      <p:cxnSp>
        <p:nvCxnSpPr>
          <p:cNvPr id="26" name="直接箭头连接符 25">
            <a:extLst>
              <a:ext uri="{FF2B5EF4-FFF2-40B4-BE49-F238E27FC236}">
                <a16:creationId xmlns:a16="http://schemas.microsoft.com/office/drawing/2014/main" id="{F00623BB-92D2-4ECB-8E1B-D61F1CFDC292}"/>
              </a:ext>
            </a:extLst>
          </p:cNvPr>
          <p:cNvCxnSpPr>
            <a:cxnSpLocks/>
          </p:cNvCxnSpPr>
          <p:nvPr/>
        </p:nvCxnSpPr>
        <p:spPr>
          <a:xfrm flipV="1">
            <a:off x="4349712" y="4935847"/>
            <a:ext cx="2212424" cy="6829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8D719877-C7AF-4510-92A3-2D413CC71C21}"/>
                  </a:ext>
                </a:extLst>
              </p:cNvPr>
              <p:cNvSpPr/>
              <p:nvPr/>
            </p:nvSpPr>
            <p:spPr>
              <a:xfrm>
                <a:off x="1581748" y="5156009"/>
                <a:ext cx="1219407" cy="480825"/>
              </a:xfrm>
              <a:prstGeom prst="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smtClean="0">
                              <a:latin typeface="Cambria Math" panose="02040503050406030204" pitchFamily="18" charset="0"/>
                            </a:rPr>
                            <m:t>𝜀</m:t>
                          </m:r>
                        </m:e>
                        <m:sub>
                          <m:r>
                            <a:rPr lang="zh-CN" altLang="en-US" i="1" smtClean="0">
                              <a:latin typeface="Cambria Math" panose="02040503050406030204" pitchFamily="18" charset="0"/>
                            </a:rPr>
                            <m:t>1</m:t>
                          </m:r>
                        </m:sub>
                      </m:sSub>
                      <m:r>
                        <a:rPr lang="zh-CN" altLang="en-US" i="1" smtClean="0">
                          <a:latin typeface="Cambria Math" panose="02040503050406030204" pitchFamily="18" charset="0"/>
                        </a:rPr>
                        <m:t>=0.</m:t>
                      </m:r>
                      <m:r>
                        <a:rPr lang="en-US" altLang="zh-CN" b="0" i="1" smtClean="0">
                          <a:latin typeface="Cambria Math" panose="02040503050406030204" pitchFamily="18" charset="0"/>
                        </a:rPr>
                        <m:t>2</m:t>
                      </m:r>
                      <m:r>
                        <a:rPr lang="zh-CN" altLang="en-US" i="1" smtClean="0">
                          <a:latin typeface="Cambria Math" panose="02040503050406030204" pitchFamily="18" charset="0"/>
                        </a:rPr>
                        <m:t>5</m:t>
                      </m:r>
                    </m:oMath>
                  </m:oMathPara>
                </a14:m>
                <a:endParaRPr lang="zh-CN" altLang="en-US" dirty="0"/>
              </a:p>
            </p:txBody>
          </p:sp>
        </mc:Choice>
        <mc:Fallback xmlns="">
          <p:sp>
            <p:nvSpPr>
              <p:cNvPr id="31" name="矩形 30">
                <a:extLst>
                  <a:ext uri="{FF2B5EF4-FFF2-40B4-BE49-F238E27FC236}">
                    <a16:creationId xmlns:a16="http://schemas.microsoft.com/office/drawing/2014/main" id="{8D719877-C7AF-4510-92A3-2D413CC71C21}"/>
                  </a:ext>
                </a:extLst>
              </p:cNvPr>
              <p:cNvSpPr>
                <a:spLocks noRot="1" noChangeAspect="1" noMove="1" noResize="1" noEditPoints="1" noAdjustHandles="1" noChangeArrowheads="1" noChangeShapeType="1" noTextEdit="1"/>
              </p:cNvSpPr>
              <p:nvPr/>
            </p:nvSpPr>
            <p:spPr>
              <a:xfrm>
                <a:off x="1581748" y="5156009"/>
                <a:ext cx="1219407" cy="480825"/>
              </a:xfrm>
              <a:prstGeom prst="rect">
                <a:avLst/>
              </a:prstGeom>
              <a:blipFill>
                <a:blip r:embed="rId8"/>
                <a:stretch>
                  <a:fillRect/>
                </a:stretch>
              </a:blip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5E97DB23-FD87-4AAF-A0CE-1F14A6FA98D3}"/>
                  </a:ext>
                </a:extLst>
              </p:cNvPr>
              <p:cNvSpPr/>
              <p:nvPr/>
            </p:nvSpPr>
            <p:spPr>
              <a:xfrm>
                <a:off x="5120384" y="5277336"/>
                <a:ext cx="1047804" cy="417445"/>
              </a:xfrm>
              <a:prstGeom prst="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0.5</m:t>
                      </m:r>
                    </m:oMath>
                  </m:oMathPara>
                </a14:m>
                <a:endParaRPr lang="zh-CN" altLang="en-US" dirty="0"/>
              </a:p>
            </p:txBody>
          </p:sp>
        </mc:Choice>
        <mc:Fallback xmlns="">
          <p:sp>
            <p:nvSpPr>
              <p:cNvPr id="32" name="矩形 31">
                <a:extLst>
                  <a:ext uri="{FF2B5EF4-FFF2-40B4-BE49-F238E27FC236}">
                    <a16:creationId xmlns:a16="http://schemas.microsoft.com/office/drawing/2014/main" id="{5E97DB23-FD87-4AAF-A0CE-1F14A6FA98D3}"/>
                  </a:ext>
                </a:extLst>
              </p:cNvPr>
              <p:cNvSpPr>
                <a:spLocks noRot="1" noChangeAspect="1" noMove="1" noResize="1" noEditPoints="1" noAdjustHandles="1" noChangeArrowheads="1" noChangeShapeType="1" noTextEdit="1"/>
              </p:cNvSpPr>
              <p:nvPr/>
            </p:nvSpPr>
            <p:spPr>
              <a:xfrm>
                <a:off x="5120384" y="5277336"/>
                <a:ext cx="1047804" cy="417445"/>
              </a:xfrm>
              <a:prstGeom prst="rect">
                <a:avLst/>
              </a:prstGeom>
              <a:blipFill>
                <a:blip r:embed="rId9"/>
                <a:stretch>
                  <a:fillRect/>
                </a:stretch>
              </a:blipFill>
              <a:ln/>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AE80D934-9B54-4C3C-9E02-FEA43A5CBB24}"/>
              </a:ext>
            </a:extLst>
          </p:cNvPr>
          <p:cNvCxnSpPr>
            <a:cxnSpLocks/>
            <a:endCxn id="38" idx="1"/>
          </p:cNvCxnSpPr>
          <p:nvPr/>
        </p:nvCxnSpPr>
        <p:spPr>
          <a:xfrm>
            <a:off x="7011413" y="4935848"/>
            <a:ext cx="2745020" cy="7450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8" name="图片 37">
            <a:extLst>
              <a:ext uri="{FF2B5EF4-FFF2-40B4-BE49-F238E27FC236}">
                <a16:creationId xmlns:a16="http://schemas.microsoft.com/office/drawing/2014/main" id="{AE12D738-3177-4B98-8637-57A34E2655BA}"/>
              </a:ext>
            </a:extLst>
          </p:cNvPr>
          <p:cNvPicPr>
            <a:picLocks noChangeAspect="1"/>
          </p:cNvPicPr>
          <p:nvPr/>
        </p:nvPicPr>
        <p:blipFill>
          <a:blip r:embed="rId10"/>
          <a:stretch>
            <a:fillRect/>
          </a:stretch>
        </p:blipFill>
        <p:spPr>
          <a:xfrm>
            <a:off x="9756433" y="5325232"/>
            <a:ext cx="1143059" cy="711237"/>
          </a:xfrm>
          <a:prstGeom prst="rect">
            <a:avLst/>
          </a:prstGeom>
        </p:spPr>
      </p:pic>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6E293925-572D-43D3-B674-FFD54290BE8B}"/>
                  </a:ext>
                </a:extLst>
              </p:cNvPr>
              <p:cNvSpPr/>
              <p:nvPr/>
            </p:nvSpPr>
            <p:spPr>
              <a:xfrm>
                <a:off x="8056208" y="4658502"/>
                <a:ext cx="1260190" cy="554690"/>
              </a:xfrm>
              <a:prstGeom prst="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smtClean="0">
                              <a:latin typeface="Cambria Math" panose="02040503050406030204" pitchFamily="18" charset="0"/>
                            </a:rPr>
                            <m:t>𝜀</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&lt;</m:t>
                      </m:r>
                      <m:r>
                        <a:rPr lang="zh-CN" altLang="en-US" i="1" smtClean="0">
                          <a:latin typeface="Cambria Math" panose="02040503050406030204" pitchFamily="18" charset="0"/>
                        </a:rPr>
                        <m:t>0.5</m:t>
                      </m:r>
                    </m:oMath>
                  </m:oMathPara>
                </a14:m>
                <a:endParaRPr lang="zh-CN" altLang="en-US" dirty="0"/>
              </a:p>
            </p:txBody>
          </p:sp>
        </mc:Choice>
        <mc:Fallback xmlns="">
          <p:sp>
            <p:nvSpPr>
              <p:cNvPr id="33" name="矩形 32">
                <a:extLst>
                  <a:ext uri="{FF2B5EF4-FFF2-40B4-BE49-F238E27FC236}">
                    <a16:creationId xmlns:a16="http://schemas.microsoft.com/office/drawing/2014/main" id="{6E293925-572D-43D3-B674-FFD54290BE8B}"/>
                  </a:ext>
                </a:extLst>
              </p:cNvPr>
              <p:cNvSpPr>
                <a:spLocks noRot="1" noChangeAspect="1" noMove="1" noResize="1" noEditPoints="1" noAdjustHandles="1" noChangeArrowheads="1" noChangeShapeType="1" noTextEdit="1"/>
              </p:cNvSpPr>
              <p:nvPr/>
            </p:nvSpPr>
            <p:spPr>
              <a:xfrm>
                <a:off x="8056208" y="4658502"/>
                <a:ext cx="1260190" cy="554690"/>
              </a:xfrm>
              <a:prstGeom prst="rect">
                <a:avLst/>
              </a:prstGeom>
              <a:blipFill>
                <a:blip r:embed="rId11"/>
                <a:stretch>
                  <a:fillRect/>
                </a:stretch>
              </a:blipFill>
              <a:ln/>
            </p:spPr>
            <p:txBody>
              <a:bodyPr/>
              <a:lstStyle/>
              <a:p>
                <a:r>
                  <a:rPr lang="zh-CN" altLang="en-US">
                    <a:noFill/>
                  </a:rPr>
                  <a:t> </a:t>
                </a:r>
              </a:p>
            </p:txBody>
          </p:sp>
        </mc:Fallback>
      </mc:AlternateContent>
      <p:sp>
        <p:nvSpPr>
          <p:cNvPr id="4" name="文本占位符 1">
            <a:extLst>
              <a:ext uri="{FF2B5EF4-FFF2-40B4-BE49-F238E27FC236}">
                <a16:creationId xmlns:a16="http://schemas.microsoft.com/office/drawing/2014/main" id="{10F3099A-C661-5DE1-1DC9-E0F7714CA3F3}"/>
              </a:ext>
            </a:extLst>
          </p:cNvPr>
          <p:cNvSpPr txBox="1">
            <a:spLocks/>
          </p:cNvSpPr>
          <p:nvPr/>
        </p:nvSpPr>
        <p:spPr>
          <a:xfrm>
            <a:off x="566962" y="265803"/>
            <a:ext cx="4836888" cy="426497"/>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800" b="1" kern="1200" dirty="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3200"/>
              <a:t>Adaboost</a:t>
            </a:r>
            <a:endParaRPr lang="en-US" sz="3200"/>
          </a:p>
        </p:txBody>
      </p:sp>
      <p:sp>
        <p:nvSpPr>
          <p:cNvPr id="2" name="灯片编号占位符 1">
            <a:extLst>
              <a:ext uri="{FF2B5EF4-FFF2-40B4-BE49-F238E27FC236}">
                <a16:creationId xmlns:a16="http://schemas.microsoft.com/office/drawing/2014/main" id="{3CB453CB-E246-4F10-A8CF-C1F61AA1A9D7}"/>
              </a:ext>
            </a:extLst>
          </p:cNvPr>
          <p:cNvSpPr>
            <a:spLocks noGrp="1"/>
          </p:cNvSpPr>
          <p:nvPr>
            <p:ph type="sldNum" sz="quarter" idx="14"/>
          </p:nvPr>
        </p:nvSpPr>
        <p:spPr/>
        <p:txBody>
          <a:bodyPr/>
          <a:lstStyle/>
          <a:p>
            <a:fld id="{AF69888C-E133-43D9-A638-B5C95925B91C}" type="slidenum">
              <a:rPr lang="zh-CN" altLang="en-US" smtClean="0"/>
              <a:t>30</a:t>
            </a:fld>
            <a:endParaRPr lang="zh-CN" altLang="en-US" dirty="0"/>
          </a:p>
        </p:txBody>
      </p:sp>
    </p:spTree>
    <p:extLst>
      <p:ext uri="{BB962C8B-B14F-4D97-AF65-F5344CB8AC3E}">
        <p14:creationId xmlns:p14="http://schemas.microsoft.com/office/powerpoint/2010/main" val="478983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down)">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left)">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50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7CF800-5A67-01AF-0E1E-65FA1D0BCB3C}"/>
              </a:ext>
            </a:extLst>
          </p:cNvPr>
          <p:cNvSpPr>
            <a:spLocks noGrp="1"/>
          </p:cNvSpPr>
          <p:nvPr>
            <p:ph type="body" sz="quarter" idx="12"/>
          </p:nvPr>
        </p:nvSpPr>
        <p:spPr>
          <a:xfrm>
            <a:off x="566961" y="265803"/>
            <a:ext cx="5063817" cy="877197"/>
          </a:xfrm>
        </p:spPr>
        <p:txBody>
          <a:bodyPr/>
          <a:lstStyle/>
          <a:p>
            <a:pPr marL="0" indent="0">
              <a:buNone/>
            </a:pPr>
            <a:r>
              <a:rPr lang="zh-CN" altLang="en-US" dirty="0"/>
              <a:t>新权重下的训练数据</a:t>
            </a:r>
          </a:p>
          <a:p>
            <a:endParaRPr lang="zh-CN" altLang="en-US" dirty="0"/>
          </a:p>
        </p:txBody>
      </p:sp>
      <p:sp>
        <p:nvSpPr>
          <p:cNvPr id="3" name="文本框 2">
            <a:extLst>
              <a:ext uri="{FF2B5EF4-FFF2-40B4-BE49-F238E27FC236}">
                <a16:creationId xmlns:a16="http://schemas.microsoft.com/office/drawing/2014/main" id="{22F6C8F5-9456-97CD-28EE-A7F457D0E060}"/>
              </a:ext>
            </a:extLst>
          </p:cNvPr>
          <p:cNvSpPr txBox="1"/>
          <p:nvPr/>
        </p:nvSpPr>
        <p:spPr>
          <a:xfrm>
            <a:off x="1082842" y="1109733"/>
            <a:ext cx="5378395" cy="1200329"/>
          </a:xfrm>
          <a:prstGeom prst="rect">
            <a:avLst/>
          </a:prstGeom>
          <a:noFill/>
        </p:spPr>
        <p:txBody>
          <a:bodyPr wrap="none" rtlCol="0">
            <a:spAutoFit/>
          </a:bodyPr>
          <a:lstStyle/>
          <a:p>
            <a:pPr algn="l"/>
            <a:r>
              <a:rPr lang="zh-CN" altLang="en-US" sz="2400" dirty="0">
                <a:latin typeface="+mn-ea"/>
              </a:rPr>
              <a:t>想法：在</a:t>
            </a:r>
            <a:r>
              <a:rPr lang="en-US" altLang="zh-CN" sz="2400" dirty="0">
                <a:latin typeface="+mn-ea"/>
              </a:rPr>
              <a:t>f1</a:t>
            </a:r>
            <a:r>
              <a:rPr lang="zh-CN" altLang="en-US" sz="2400" dirty="0">
                <a:latin typeface="+mn-ea"/>
              </a:rPr>
              <a:t>训练失败的训练集上训练</a:t>
            </a:r>
            <a:r>
              <a:rPr lang="en-US" altLang="zh-CN" sz="2400" dirty="0">
                <a:latin typeface="+mn-ea"/>
              </a:rPr>
              <a:t>f2</a:t>
            </a:r>
          </a:p>
          <a:p>
            <a:pPr algn="l"/>
            <a:r>
              <a:rPr lang="zh-CN" altLang="en-US" sz="2400" dirty="0">
                <a:latin typeface="+mn-ea"/>
              </a:rPr>
              <a:t> </a:t>
            </a:r>
            <a:endParaRPr lang="en-US" altLang="zh-CN" sz="2400" dirty="0">
              <a:latin typeface="+mn-ea"/>
            </a:endParaRPr>
          </a:p>
          <a:p>
            <a:pPr algn="l"/>
            <a:r>
              <a:rPr lang="zh-CN" altLang="en-US" sz="2400" dirty="0">
                <a:solidFill>
                  <a:schemeClr val="accent1">
                    <a:lumMod val="60000"/>
                    <a:lumOff val="40000"/>
                  </a:schemeClr>
                </a:solidFill>
                <a:latin typeface="+mn-ea"/>
              </a:rPr>
              <a:t>如何找到</a:t>
            </a:r>
            <a:r>
              <a:rPr lang="en-US" altLang="zh-CN" sz="2400" dirty="0">
                <a:solidFill>
                  <a:schemeClr val="accent1">
                    <a:lumMod val="60000"/>
                    <a:lumOff val="40000"/>
                  </a:schemeClr>
                </a:solidFill>
                <a:latin typeface="+mn-ea"/>
              </a:rPr>
              <a:t>f1</a:t>
            </a:r>
            <a:r>
              <a:rPr lang="zh-CN" altLang="en-US" sz="2400" dirty="0">
                <a:solidFill>
                  <a:schemeClr val="accent1">
                    <a:lumMod val="60000"/>
                    <a:lumOff val="40000"/>
                  </a:schemeClr>
                </a:solidFill>
                <a:latin typeface="+mn-ea"/>
              </a:rPr>
              <a:t>训练失败的训练集？</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05E8BEF-2470-E806-A73C-41DF83A70F0E}"/>
                  </a:ext>
                </a:extLst>
              </p:cNvPr>
              <p:cNvSpPr txBox="1"/>
              <p:nvPr/>
            </p:nvSpPr>
            <p:spPr>
              <a:xfrm>
                <a:off x="1082842" y="2828835"/>
                <a:ext cx="6357831" cy="1200329"/>
              </a:xfrm>
              <a:prstGeom prst="rect">
                <a:avLst/>
              </a:prstGeom>
              <a:noFill/>
            </p:spPr>
            <p:txBody>
              <a:bodyPr wrap="none" rtlCol="0">
                <a:spAutoFit/>
              </a:bodyPr>
              <a:lstStyle/>
              <a:p>
                <a:r>
                  <a:rPr lang="zh-CN" altLang="en-US" sz="2400" dirty="0">
                    <a:latin typeface="+mn-ea"/>
                  </a:rPr>
                  <a:t>如果</a:t>
                </a:r>
                <a:r>
                  <a:rPr lang="en-US" altLang="zh-CN" sz="2400" dirty="0" err="1">
                    <a:latin typeface="+mn-ea"/>
                  </a:rPr>
                  <a:t>x</a:t>
                </a:r>
                <a:r>
                  <a:rPr lang="en-US" altLang="zh-CN" sz="2400" baseline="30000" dirty="0" err="1">
                    <a:latin typeface="+mn-ea"/>
                  </a:rPr>
                  <a:t>n</a:t>
                </a:r>
                <a:r>
                  <a:rPr lang="zh-CN" altLang="en-US" sz="2400" dirty="0">
                    <a:latin typeface="+mn-ea"/>
                  </a:rPr>
                  <a:t>被</a:t>
                </a:r>
                <a:r>
                  <a:rPr lang="en-US" altLang="zh-CN" sz="2400" dirty="0">
                    <a:latin typeface="+mn-ea"/>
                  </a:rPr>
                  <a:t>f1</a:t>
                </a:r>
                <a:r>
                  <a:rPr lang="zh-CN" altLang="en-US" sz="2400" dirty="0">
                    <a:latin typeface="+mn-ea"/>
                  </a:rPr>
                  <a:t>错误分类：</a:t>
                </a:r>
                <a:r>
                  <a:rPr lang="en-US" altLang="zh-CN" sz="2400" dirty="0"/>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b="0" i="1" smtClean="0">
                            <a:latin typeface="Cambria Math" panose="02040503050406030204" pitchFamily="18" charset="0"/>
                          </a:rPr>
                          <m:t>2</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a:t>
                </a:r>
                <a:r>
                  <a:rPr lang="en-US" altLang="zh-CN" sz="2400" dirty="0"/>
                  <a:t> </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𝑢</m:t>
                        </m:r>
                      </m:e>
                      <m:sub>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sSubSup>
                  </m:oMath>
                </a14:m>
                <a:r>
                  <a:rPr lang="en-US" altLang="zh-CN" sz="2400" baseline="30000" dirty="0">
                    <a:latin typeface="+mn-ea"/>
                  </a:rPr>
                  <a:t> </a:t>
                </a:r>
                <a:r>
                  <a:rPr lang="en-US" altLang="zh-CN" sz="2400" dirty="0">
                    <a:latin typeface="+mn-ea"/>
                  </a:rPr>
                  <a:t>*</a:t>
                </a:r>
                <a:r>
                  <a:rPr lang="en-US" altLang="zh-CN" sz="2400" baseline="30000" dirty="0">
                    <a:latin typeface="+mn-ea"/>
                  </a:rPr>
                  <a:t> </a:t>
                </a:r>
                <a:r>
                  <a:rPr lang="en-US" altLang="zh-CN" sz="2400" dirty="0">
                    <a:latin typeface="+mn-ea"/>
                  </a:rPr>
                  <a:t>d</a:t>
                </a:r>
                <a:r>
                  <a:rPr lang="en-US" altLang="zh-CN" sz="2400" baseline="-25000" dirty="0">
                    <a:latin typeface="+mn-ea"/>
                  </a:rPr>
                  <a:t>1</a:t>
                </a:r>
                <a:r>
                  <a:rPr lang="zh-CN" altLang="en-US" sz="2400" dirty="0">
                    <a:latin typeface="+mn-ea"/>
                  </a:rPr>
                  <a:t>（增强）</a:t>
                </a:r>
                <a:endParaRPr lang="en-US" altLang="zh-CN" sz="2400" dirty="0">
                  <a:latin typeface="+mn-ea"/>
                </a:endParaRPr>
              </a:p>
              <a:p>
                <a:pPr algn="l"/>
                <a:endParaRPr lang="en-US" altLang="zh-CN" sz="2400" dirty="0">
                  <a:latin typeface="+mn-ea"/>
                </a:endParaRPr>
              </a:p>
              <a:p>
                <a:r>
                  <a:rPr lang="zh-CN" altLang="en-US" sz="2400" dirty="0">
                    <a:latin typeface="+mn-ea"/>
                  </a:rPr>
                  <a:t>如果</a:t>
                </a:r>
                <a:r>
                  <a:rPr lang="en-US" altLang="zh-CN" sz="2400" dirty="0" err="1">
                    <a:latin typeface="+mn-ea"/>
                  </a:rPr>
                  <a:t>x</a:t>
                </a:r>
                <a:r>
                  <a:rPr lang="en-US" altLang="zh-CN" sz="2400" baseline="30000" dirty="0" err="1">
                    <a:latin typeface="+mn-ea"/>
                  </a:rPr>
                  <a:t>n</a:t>
                </a:r>
                <a:r>
                  <a:rPr lang="zh-CN" altLang="en-US" sz="2400" dirty="0">
                    <a:latin typeface="+mn-ea"/>
                  </a:rPr>
                  <a:t>被</a:t>
                </a:r>
                <a:r>
                  <a:rPr lang="en-US" altLang="zh-CN" sz="2400" dirty="0">
                    <a:latin typeface="+mn-ea"/>
                  </a:rPr>
                  <a:t>f1</a:t>
                </a:r>
                <a:r>
                  <a:rPr lang="zh-CN" altLang="en-US" sz="2400" dirty="0">
                    <a:latin typeface="+mn-ea"/>
                  </a:rPr>
                  <a:t>正确分类：</a:t>
                </a:r>
                <a:r>
                  <a:rPr lang="en-US" altLang="zh-CN" sz="2400" dirty="0"/>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2</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a:t>
                </a:r>
                <a:r>
                  <a:rPr lang="en-US" altLang="zh-CN" sz="2400" dirty="0"/>
                  <a:t> </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𝑢</m:t>
                        </m:r>
                      </m:e>
                      <m:sub>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sSubSup>
                    <m:r>
                      <a:rPr lang="en-US" altLang="zh-CN" sz="2400" b="0" i="1" smtClean="0">
                        <a:latin typeface="Cambria Math" panose="02040503050406030204" pitchFamily="18" charset="0"/>
                      </a:rPr>
                      <m:t> </m:t>
                    </m:r>
                  </m:oMath>
                </a14:m>
                <a:r>
                  <a:rPr lang="en-US" altLang="zh-CN" sz="2400" dirty="0">
                    <a:latin typeface="+mn-ea"/>
                  </a:rPr>
                  <a:t>/d</a:t>
                </a:r>
                <a:r>
                  <a:rPr lang="en-US" altLang="zh-CN" sz="2400" baseline="-25000" dirty="0">
                    <a:latin typeface="+mn-ea"/>
                  </a:rPr>
                  <a:t>1</a:t>
                </a:r>
                <a:r>
                  <a:rPr lang="zh-CN" altLang="en-US" sz="2400" dirty="0">
                    <a:latin typeface="+mn-ea"/>
                  </a:rPr>
                  <a:t>（减小）</a:t>
                </a:r>
                <a:endParaRPr lang="en-US" altLang="zh-CN" dirty="0">
                  <a:latin typeface="+mn-ea"/>
                </a:endParaRPr>
              </a:p>
            </p:txBody>
          </p:sp>
        </mc:Choice>
        <mc:Fallback xmlns="">
          <p:sp>
            <p:nvSpPr>
              <p:cNvPr id="5" name="文本框 4">
                <a:extLst>
                  <a:ext uri="{FF2B5EF4-FFF2-40B4-BE49-F238E27FC236}">
                    <a16:creationId xmlns:a16="http://schemas.microsoft.com/office/drawing/2014/main" id="{305E8BEF-2470-E806-A73C-41DF83A70F0E}"/>
                  </a:ext>
                </a:extLst>
              </p:cNvPr>
              <p:cNvSpPr txBox="1">
                <a:spLocks noRot="1" noChangeAspect="1" noMove="1" noResize="1" noEditPoints="1" noAdjustHandles="1" noChangeArrowheads="1" noChangeShapeType="1" noTextEdit="1"/>
              </p:cNvSpPr>
              <p:nvPr/>
            </p:nvSpPr>
            <p:spPr>
              <a:xfrm>
                <a:off x="1082842" y="2828835"/>
                <a:ext cx="6357831" cy="1200329"/>
              </a:xfrm>
              <a:prstGeom prst="rect">
                <a:avLst/>
              </a:prstGeom>
              <a:blipFill>
                <a:blip r:embed="rId2"/>
                <a:stretch>
                  <a:fillRect l="-1534" t="-4061" b="-106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506D66B-80F0-9612-2C26-40C697DB42AE}"/>
                  </a:ext>
                </a:extLst>
              </p:cNvPr>
              <p:cNvSpPr txBox="1"/>
              <p:nvPr/>
            </p:nvSpPr>
            <p:spPr>
              <a:xfrm>
                <a:off x="1082842" y="4511842"/>
                <a:ext cx="4663456" cy="1200329"/>
              </a:xfrm>
              <a:prstGeom prst="rect">
                <a:avLst/>
              </a:prstGeom>
              <a:noFill/>
            </p:spPr>
            <p:txBody>
              <a:bodyPr wrap="none" rtlCol="0">
                <a:spAutoFit/>
              </a:bodyPr>
              <a:lstStyle/>
              <a:p>
                <a:pPr algn="l"/>
                <a:r>
                  <a:rPr lang="zh-CN" altLang="en-US" sz="2400" dirty="0">
                    <a:latin typeface="+mn-ea"/>
                  </a:rPr>
                  <a:t>基于样本权重</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2</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zh-CN" altLang="en-US" sz="2400" dirty="0">
                    <a:latin typeface="+mn-ea"/>
                  </a:rPr>
                  <a:t>，训练</a:t>
                </a:r>
                <a:r>
                  <a:rPr lang="en-US" altLang="zh-CN" sz="2400" dirty="0">
                    <a:latin typeface="+mn-ea"/>
                  </a:rPr>
                  <a:t>f2</a:t>
                </a:r>
                <a:r>
                  <a:rPr lang="zh-CN" altLang="en-US" sz="2400" dirty="0">
                    <a:latin typeface="+mn-ea"/>
                  </a:rPr>
                  <a:t>分类器</a:t>
                </a:r>
                <a:endParaRPr lang="en-US" altLang="zh-CN" sz="2400" dirty="0">
                  <a:latin typeface="+mn-ea"/>
                </a:endParaRPr>
              </a:p>
              <a:p>
                <a:pPr algn="l"/>
                <a:endParaRPr lang="en-US" altLang="zh-CN" sz="2400" dirty="0">
                  <a:latin typeface="+mn-ea"/>
                </a:endParaRPr>
              </a:p>
              <a:p>
                <a:pPr algn="l"/>
                <a:r>
                  <a:rPr lang="en-US" altLang="zh-CN" sz="2400" dirty="0">
                    <a:latin typeface="+mn-ea"/>
                  </a:rPr>
                  <a:t>d</a:t>
                </a:r>
                <a:r>
                  <a:rPr lang="en-US" altLang="zh-CN" sz="2400" baseline="-25000" dirty="0">
                    <a:latin typeface="+mn-ea"/>
                  </a:rPr>
                  <a:t>1</a:t>
                </a:r>
                <a:r>
                  <a:rPr lang="zh-CN" altLang="en-US" sz="2400" dirty="0">
                    <a:latin typeface="+mn-ea"/>
                  </a:rPr>
                  <a:t>的值是什么？</a:t>
                </a:r>
                <a:endParaRPr lang="en-US" altLang="zh-CN" sz="2400" dirty="0">
                  <a:latin typeface="+mn-ea"/>
                </a:endParaRPr>
              </a:p>
            </p:txBody>
          </p:sp>
        </mc:Choice>
        <mc:Fallback xmlns="">
          <p:sp>
            <p:nvSpPr>
              <p:cNvPr id="6" name="文本框 5">
                <a:extLst>
                  <a:ext uri="{FF2B5EF4-FFF2-40B4-BE49-F238E27FC236}">
                    <a16:creationId xmlns:a16="http://schemas.microsoft.com/office/drawing/2014/main" id="{8506D66B-80F0-9612-2C26-40C697DB42AE}"/>
                  </a:ext>
                </a:extLst>
              </p:cNvPr>
              <p:cNvSpPr txBox="1">
                <a:spLocks noRot="1" noChangeAspect="1" noMove="1" noResize="1" noEditPoints="1" noAdjustHandles="1" noChangeArrowheads="1" noChangeShapeType="1" noTextEdit="1"/>
              </p:cNvSpPr>
              <p:nvPr/>
            </p:nvSpPr>
            <p:spPr>
              <a:xfrm>
                <a:off x="1082842" y="4511842"/>
                <a:ext cx="4663456" cy="1200329"/>
              </a:xfrm>
              <a:prstGeom prst="rect">
                <a:avLst/>
              </a:prstGeom>
              <a:blipFill>
                <a:blip r:embed="rId3"/>
                <a:stretch>
                  <a:fillRect l="-2092" t="-4061" b="-10660"/>
                </a:stretch>
              </a:blipFill>
            </p:spPr>
            <p:txBody>
              <a:bodyPr/>
              <a:lstStyle/>
              <a:p>
                <a:r>
                  <a:rPr lang="zh-CN" altLang="en-US">
                    <a:noFill/>
                  </a:rPr>
                  <a:t> </a:t>
                </a:r>
              </a:p>
            </p:txBody>
          </p:sp>
        </mc:Fallback>
      </mc:AlternateContent>
      <p:sp>
        <p:nvSpPr>
          <p:cNvPr id="4" name="左大括号 3">
            <a:extLst>
              <a:ext uri="{FF2B5EF4-FFF2-40B4-BE49-F238E27FC236}">
                <a16:creationId xmlns:a16="http://schemas.microsoft.com/office/drawing/2014/main" id="{6C3E957E-ADC2-E677-7E30-D11E1B7D90E2}"/>
              </a:ext>
            </a:extLst>
          </p:cNvPr>
          <p:cNvSpPr/>
          <p:nvPr/>
        </p:nvSpPr>
        <p:spPr>
          <a:xfrm>
            <a:off x="735496" y="2994991"/>
            <a:ext cx="404191" cy="877197"/>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7" name="灯片编号占位符 6">
            <a:extLst>
              <a:ext uri="{FF2B5EF4-FFF2-40B4-BE49-F238E27FC236}">
                <a16:creationId xmlns:a16="http://schemas.microsoft.com/office/drawing/2014/main" id="{D260C241-F925-4D62-9094-4FE2B8D00122}"/>
              </a:ext>
            </a:extLst>
          </p:cNvPr>
          <p:cNvSpPr>
            <a:spLocks noGrp="1"/>
          </p:cNvSpPr>
          <p:nvPr>
            <p:ph type="sldNum" sz="quarter" idx="14"/>
          </p:nvPr>
        </p:nvSpPr>
        <p:spPr/>
        <p:txBody>
          <a:bodyPr/>
          <a:lstStyle/>
          <a:p>
            <a:fld id="{AF69888C-E133-43D9-A638-B5C95925B91C}" type="slidenum">
              <a:rPr lang="zh-CN" altLang="en-US" smtClean="0"/>
              <a:t>31</a:t>
            </a:fld>
            <a:endParaRPr lang="zh-CN" altLang="en-US" dirty="0"/>
          </a:p>
        </p:txBody>
      </p:sp>
    </p:spTree>
    <p:extLst>
      <p:ext uri="{BB962C8B-B14F-4D97-AF65-F5344CB8AC3E}">
        <p14:creationId xmlns:p14="http://schemas.microsoft.com/office/powerpoint/2010/main" val="428168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1CB9AF5-0E84-46B4-9556-AC9BFE68A35A}"/>
              </a:ext>
            </a:extLst>
          </p:cNvPr>
          <p:cNvSpPr>
            <a:spLocks noGrp="1"/>
          </p:cNvSpPr>
          <p:nvPr>
            <p:ph type="body" sz="quarter" idx="12"/>
          </p:nvPr>
        </p:nvSpPr>
        <p:spPr/>
        <p:txBody>
          <a:bodyPr/>
          <a:lstStyle/>
          <a:p>
            <a:pPr marL="0" indent="0">
              <a:buNone/>
            </a:pPr>
            <a:r>
              <a:rPr lang="zh-CN" altLang="en-US" dirty="0"/>
              <a:t>新权重下的训练数据</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51F7B86-57BA-43EC-9B64-70ABE8C16197}"/>
                  </a:ext>
                </a:extLst>
              </p:cNvPr>
              <p:cNvSpPr txBox="1"/>
              <p:nvPr/>
            </p:nvSpPr>
            <p:spPr>
              <a:xfrm>
                <a:off x="746974" y="1287378"/>
                <a:ext cx="4558951" cy="98950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zh-CN" altLang="en-US" sz="2800" i="1" dirty="0" smtClean="0">
                              <a:solidFill>
                                <a:schemeClr val="tx1"/>
                              </a:solidFill>
                              <a:latin typeface="Cambria Math" panose="02040503050406030204" pitchFamily="18" charset="0"/>
                            </a:rPr>
                          </m:ctrlPr>
                        </m:sSubPr>
                        <m:e>
                          <m:r>
                            <a:rPr lang="zh-CN" altLang="en-US" sz="2800" i="1" dirty="0" smtClean="0">
                              <a:solidFill>
                                <a:schemeClr val="tx1"/>
                              </a:solidFill>
                              <a:latin typeface="Cambria Math" panose="02040503050406030204" pitchFamily="18" charset="0"/>
                            </a:rPr>
                            <m:t>𝜀</m:t>
                          </m:r>
                        </m:e>
                        <m:sub>
                          <m:r>
                            <a:rPr lang="zh-CN" altLang="en-US" sz="2800" i="0" dirty="0" smtClean="0">
                              <a:solidFill>
                                <a:schemeClr val="tx1"/>
                              </a:solidFill>
                              <a:latin typeface="Cambria Math" panose="02040503050406030204" pitchFamily="18" charset="0"/>
                            </a:rPr>
                            <m:t>1</m:t>
                          </m:r>
                        </m:sub>
                      </m:sSub>
                      <m:r>
                        <a:rPr lang="zh-CN" altLang="en-US" sz="2800" i="0" dirty="0" smtClean="0">
                          <a:solidFill>
                            <a:schemeClr val="tx1"/>
                          </a:solidFill>
                          <a:latin typeface="Cambria Math" panose="02040503050406030204" pitchFamily="18" charset="0"/>
                        </a:rPr>
                        <m:t>=</m:t>
                      </m:r>
                      <m:f>
                        <m:fPr>
                          <m:ctrlPr>
                            <a:rPr lang="zh-CN" altLang="en-US" sz="2800" i="1" dirty="0" smtClean="0">
                              <a:solidFill>
                                <a:schemeClr val="tx1"/>
                              </a:solidFill>
                              <a:latin typeface="Cambria Math" panose="02040503050406030204" pitchFamily="18" charset="0"/>
                            </a:rPr>
                          </m:ctrlPr>
                        </m:fPr>
                        <m:num>
                          <m:nary>
                            <m:naryPr>
                              <m:chr m:val="∑"/>
                              <m:limLoc m:val="undOvr"/>
                              <m:grow m:val="on"/>
                              <m:supHide m:val="on"/>
                              <m:ctrlPr>
                                <a:rPr lang="zh-CN" altLang="en-US" sz="2800" i="1" dirty="0" smtClean="0">
                                  <a:solidFill>
                                    <a:schemeClr val="tx1"/>
                                  </a:solidFill>
                                  <a:latin typeface="Cambria Math" panose="02040503050406030204" pitchFamily="18" charset="0"/>
                                </a:rPr>
                              </m:ctrlPr>
                            </m:naryPr>
                            <m:sub>
                              <m:r>
                                <a:rPr lang="zh-CN" altLang="en-US" sz="2800" i="1" dirty="0" smtClean="0">
                                  <a:solidFill>
                                    <a:schemeClr val="tx1"/>
                                  </a:solidFill>
                                  <a:latin typeface="Cambria Math" panose="02040503050406030204" pitchFamily="18" charset="0"/>
                                </a:rPr>
                                <m:t>𝑛</m:t>
                              </m:r>
                            </m:sub>
                            <m:sup/>
                            <m:e>
                              <m:sSubSup>
                                <m:sSubSupPr>
                                  <m:ctrlPr>
                                    <a:rPr lang="zh-CN" altLang="en-US" sz="2800" i="1" dirty="0" smtClean="0">
                                      <a:solidFill>
                                        <a:schemeClr val="tx1"/>
                                      </a:solidFill>
                                      <a:latin typeface="Cambria Math" panose="02040503050406030204" pitchFamily="18" charset="0"/>
                                    </a:rPr>
                                  </m:ctrlPr>
                                </m:sSubSupPr>
                                <m:e>
                                  <m:r>
                                    <a:rPr lang="zh-CN" altLang="en-US" sz="2800" i="1" dirty="0" smtClean="0">
                                      <a:solidFill>
                                        <a:schemeClr val="tx1"/>
                                      </a:solidFill>
                                      <a:latin typeface="Cambria Math" panose="02040503050406030204" pitchFamily="18" charset="0"/>
                                    </a:rPr>
                                    <m:t>𝑢</m:t>
                                  </m:r>
                                </m:e>
                                <m:sub>
                                  <m:r>
                                    <a:rPr lang="zh-CN" altLang="en-US" sz="2800" i="0" dirty="0" smtClean="0">
                                      <a:solidFill>
                                        <a:schemeClr val="tx1"/>
                                      </a:solidFill>
                                      <a:latin typeface="Cambria Math" panose="02040503050406030204" pitchFamily="18" charset="0"/>
                                    </a:rPr>
                                    <m:t>1</m:t>
                                  </m:r>
                                </m:sub>
                                <m:sup>
                                  <m:r>
                                    <a:rPr lang="zh-CN" altLang="en-US" sz="2800" i="1" dirty="0" smtClean="0">
                                      <a:solidFill>
                                        <a:schemeClr val="tx1"/>
                                      </a:solidFill>
                                      <a:latin typeface="Cambria Math" panose="02040503050406030204" pitchFamily="18" charset="0"/>
                                    </a:rPr>
                                    <m:t>𝑛</m:t>
                                  </m:r>
                                </m:sup>
                              </m:sSubSup>
                              <m:r>
                                <a:rPr lang="zh-CN" altLang="en-US" sz="2800" i="1" dirty="0" smtClean="0">
                                  <a:solidFill>
                                    <a:schemeClr val="tx1"/>
                                  </a:solidFill>
                                  <a:latin typeface="Cambria Math" panose="02040503050406030204" pitchFamily="18" charset="0"/>
                                </a:rPr>
                                <m:t>𝛿</m:t>
                              </m:r>
                              <m:d>
                                <m:dPr>
                                  <m:ctrlPr>
                                    <a:rPr lang="zh-CN" altLang="en-US" sz="2800" i="1" dirty="0" smtClean="0">
                                      <a:solidFill>
                                        <a:schemeClr val="tx1"/>
                                      </a:solidFill>
                                      <a:latin typeface="Cambria Math" panose="02040503050406030204" pitchFamily="18" charset="0"/>
                                    </a:rPr>
                                  </m:ctrlPr>
                                </m:dPr>
                                <m:e>
                                  <m:sSub>
                                    <m:sSubPr>
                                      <m:ctrlPr>
                                        <a:rPr lang="zh-CN" altLang="en-US" sz="2800" i="1" dirty="0" smtClean="0">
                                          <a:solidFill>
                                            <a:schemeClr val="tx1"/>
                                          </a:solidFill>
                                          <a:latin typeface="Cambria Math" panose="02040503050406030204" pitchFamily="18" charset="0"/>
                                        </a:rPr>
                                      </m:ctrlPr>
                                    </m:sSubPr>
                                    <m:e>
                                      <m:r>
                                        <a:rPr lang="zh-CN" altLang="en-US" sz="2800" i="1" dirty="0" smtClean="0">
                                          <a:solidFill>
                                            <a:schemeClr val="tx1"/>
                                          </a:solidFill>
                                          <a:latin typeface="Cambria Math" panose="02040503050406030204" pitchFamily="18" charset="0"/>
                                        </a:rPr>
                                        <m:t>𝑓</m:t>
                                      </m:r>
                                    </m:e>
                                    <m:sub>
                                      <m:r>
                                        <a:rPr lang="zh-CN" altLang="en-US" sz="2800" i="0" dirty="0" smtClean="0">
                                          <a:solidFill>
                                            <a:schemeClr val="tx1"/>
                                          </a:solidFill>
                                          <a:latin typeface="Cambria Math" panose="02040503050406030204" pitchFamily="18" charset="0"/>
                                        </a:rPr>
                                        <m:t>1</m:t>
                                      </m:r>
                                    </m:sub>
                                  </m:sSub>
                                  <m:d>
                                    <m:dPr>
                                      <m:ctrlPr>
                                        <a:rPr lang="zh-CN" altLang="en-US" sz="2800" i="1" dirty="0" smtClean="0">
                                          <a:solidFill>
                                            <a:schemeClr val="tx1"/>
                                          </a:solidFill>
                                          <a:latin typeface="Cambria Math" panose="02040503050406030204" pitchFamily="18" charset="0"/>
                                        </a:rPr>
                                      </m:ctrlPr>
                                    </m:dPr>
                                    <m:e>
                                      <m:sSup>
                                        <m:sSupPr>
                                          <m:ctrlPr>
                                            <a:rPr lang="zh-CN" altLang="en-US" sz="2800" i="1" dirty="0" smtClean="0">
                                              <a:solidFill>
                                                <a:schemeClr val="tx1"/>
                                              </a:solidFill>
                                              <a:latin typeface="Cambria Math" panose="02040503050406030204" pitchFamily="18" charset="0"/>
                                            </a:rPr>
                                          </m:ctrlPr>
                                        </m:sSupPr>
                                        <m:e>
                                          <m:r>
                                            <a:rPr lang="zh-CN" altLang="en-US" sz="2800" i="1" dirty="0" smtClean="0">
                                              <a:solidFill>
                                                <a:schemeClr val="tx1"/>
                                              </a:solidFill>
                                              <a:latin typeface="Cambria Math" panose="02040503050406030204" pitchFamily="18" charset="0"/>
                                            </a:rPr>
                                            <m:t>𝑥</m:t>
                                          </m:r>
                                        </m:e>
                                        <m:sup>
                                          <m:r>
                                            <a:rPr lang="zh-CN" altLang="en-US" sz="2800" i="1" dirty="0" smtClean="0">
                                              <a:solidFill>
                                                <a:schemeClr val="tx1"/>
                                              </a:solidFill>
                                              <a:latin typeface="Cambria Math" panose="02040503050406030204" pitchFamily="18" charset="0"/>
                                            </a:rPr>
                                            <m:t>𝑛</m:t>
                                          </m:r>
                                        </m:sup>
                                      </m:sSup>
                                    </m:e>
                                  </m:d>
                                  <m:r>
                                    <a:rPr lang="zh-CN" altLang="en-US" sz="2800" i="0" dirty="0" smtClean="0">
                                      <a:solidFill>
                                        <a:schemeClr val="tx1"/>
                                      </a:solidFill>
                                      <a:latin typeface="Cambria Math" panose="02040503050406030204" pitchFamily="18" charset="0"/>
                                    </a:rPr>
                                    <m:t>≠</m:t>
                                  </m:r>
                                  <m:sSup>
                                    <m:sSupPr>
                                      <m:ctrlPr>
                                        <a:rPr lang="zh-CN" altLang="en-US" sz="2800" i="1" dirty="0" smtClean="0">
                                          <a:solidFill>
                                            <a:schemeClr val="tx1"/>
                                          </a:solidFill>
                                          <a:latin typeface="Cambria Math" panose="02040503050406030204" pitchFamily="18" charset="0"/>
                                        </a:rPr>
                                      </m:ctrlPr>
                                    </m:sSupPr>
                                    <m:e>
                                      <m:acc>
                                        <m:accPr>
                                          <m:chr m:val="̂"/>
                                          <m:ctrlPr>
                                            <a:rPr lang="zh-CN" altLang="en-US" sz="2800" i="1" dirty="0" smtClean="0">
                                              <a:solidFill>
                                                <a:schemeClr val="tx1"/>
                                              </a:solidFill>
                                              <a:latin typeface="Cambria Math" panose="02040503050406030204" pitchFamily="18" charset="0"/>
                                            </a:rPr>
                                          </m:ctrlPr>
                                        </m:accPr>
                                        <m:e>
                                          <m:r>
                                            <a:rPr lang="zh-CN" altLang="en-US" sz="2800" i="1" dirty="0" smtClean="0">
                                              <a:solidFill>
                                                <a:schemeClr val="tx1"/>
                                              </a:solidFill>
                                              <a:latin typeface="Cambria Math" panose="02040503050406030204" pitchFamily="18" charset="0"/>
                                            </a:rPr>
                                            <m:t>𝑦</m:t>
                                          </m:r>
                                        </m:e>
                                      </m:acc>
                                    </m:e>
                                    <m:sup>
                                      <m:r>
                                        <a:rPr lang="zh-CN" altLang="en-US" sz="2800" i="1" dirty="0" smtClean="0">
                                          <a:solidFill>
                                            <a:schemeClr val="tx1"/>
                                          </a:solidFill>
                                          <a:latin typeface="Cambria Math" panose="02040503050406030204" pitchFamily="18" charset="0"/>
                                        </a:rPr>
                                        <m:t>𝑛</m:t>
                                      </m:r>
                                    </m:sup>
                                  </m:sSup>
                                </m:e>
                              </m:d>
                            </m:e>
                          </m:nary>
                        </m:num>
                        <m:den>
                          <m:sSub>
                            <m:sSubPr>
                              <m:ctrlPr>
                                <a:rPr lang="zh-CN" altLang="en-US"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𝑍</m:t>
                              </m:r>
                            </m:e>
                            <m:sub>
                              <m:r>
                                <a:rPr lang="zh-CN" altLang="en-US" sz="2800" i="0" dirty="0" smtClean="0">
                                  <a:solidFill>
                                    <a:schemeClr val="tx1"/>
                                  </a:solidFill>
                                  <a:latin typeface="Cambria Math" panose="02040503050406030204" pitchFamily="18" charset="0"/>
                                </a:rPr>
                                <m:t>1</m:t>
                              </m:r>
                            </m:sub>
                          </m:sSub>
                        </m:den>
                      </m:f>
                    </m:oMath>
                  </m:oMathPara>
                </a14:m>
                <a:endParaRPr lang="zh-CN" altLang="en-US" sz="2800" dirty="0">
                  <a:solidFill>
                    <a:schemeClr val="tx1"/>
                  </a:solidFill>
                </a:endParaRPr>
              </a:p>
            </p:txBody>
          </p:sp>
        </mc:Choice>
        <mc:Fallback xmlns="">
          <p:sp>
            <p:nvSpPr>
              <p:cNvPr id="4" name="文本框 3">
                <a:extLst>
                  <a:ext uri="{FF2B5EF4-FFF2-40B4-BE49-F238E27FC236}">
                    <a16:creationId xmlns:a16="http://schemas.microsoft.com/office/drawing/2014/main" id="{B51F7B86-57BA-43EC-9B64-70ABE8C16197}"/>
                  </a:ext>
                </a:extLst>
              </p:cNvPr>
              <p:cNvSpPr txBox="1">
                <a:spLocks noRot="1" noChangeAspect="1" noMove="1" noResize="1" noEditPoints="1" noAdjustHandles="1" noChangeArrowheads="1" noChangeShapeType="1" noTextEdit="1"/>
              </p:cNvSpPr>
              <p:nvPr/>
            </p:nvSpPr>
            <p:spPr>
              <a:xfrm>
                <a:off x="746974" y="1287378"/>
                <a:ext cx="4558951" cy="98950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圆角 11">
                <a:extLst>
                  <a:ext uri="{FF2B5EF4-FFF2-40B4-BE49-F238E27FC236}">
                    <a16:creationId xmlns:a16="http://schemas.microsoft.com/office/drawing/2014/main" id="{3DD97A9F-BCB0-4C44-94A1-BD3E3530FA64}"/>
                  </a:ext>
                </a:extLst>
              </p:cNvPr>
              <p:cNvSpPr/>
              <p:nvPr/>
            </p:nvSpPr>
            <p:spPr>
              <a:xfrm>
                <a:off x="5510186" y="-15841"/>
                <a:ext cx="2201518" cy="2072354"/>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zh-CN" altLang="en-US"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zh-CN" altLang="en-US" sz="2400" dirty="0">
                              <a:latin typeface="Cambria Math" panose="02040503050406030204" pitchFamily="18" charset="0"/>
                            </a:rPr>
                            <m:t>1</m:t>
                          </m:r>
                        </m:sub>
                      </m:sSub>
                      <m:r>
                        <a:rPr lang="zh-CN" altLang="en-US" sz="2400" i="0" dirty="0" smtClean="0">
                          <a:latin typeface="Cambria Math" panose="02040503050406030204" pitchFamily="18" charset="0"/>
                        </a:rPr>
                        <m:t>=</m:t>
                      </m:r>
                      <m:nary>
                        <m:naryPr>
                          <m:chr m:val="∑"/>
                          <m:limLoc m:val="undOvr"/>
                          <m:grow m:val="on"/>
                          <m:supHide m:val="on"/>
                          <m:ctrlPr>
                            <a:rPr lang="zh-CN" altLang="en-US" sz="2400" i="1" dirty="0" smtClean="0">
                              <a:latin typeface="Cambria Math" panose="02040503050406030204" pitchFamily="18" charset="0"/>
                            </a:rPr>
                          </m:ctrlPr>
                        </m:naryPr>
                        <m:sub>
                          <m:r>
                            <a:rPr lang="zh-CN" altLang="en-US" sz="2400" i="1" dirty="0" smtClean="0">
                              <a:latin typeface="Cambria Math" panose="02040503050406030204" pitchFamily="18" charset="0"/>
                            </a:rPr>
                            <m:t>𝑛</m:t>
                          </m:r>
                        </m:sub>
                        <m:sup/>
                        <m:e>
                          <m:sSubSup>
                            <m:sSubSupPr>
                              <m:ctrlPr>
                                <a:rPr lang="zh-CN" altLang="en-US" sz="2400" i="1" dirty="0" smtClean="0">
                                  <a:solidFill>
                                    <a:srgbClr val="836967"/>
                                  </a:solidFill>
                                  <a:latin typeface="Cambria Math" panose="02040503050406030204" pitchFamily="18" charset="0"/>
                                </a:rPr>
                              </m:ctrlPr>
                            </m:sSubSupPr>
                            <m:e>
                              <m:r>
                                <a:rPr lang="zh-CN" altLang="en-US" sz="2400" i="1" dirty="0" smtClean="0">
                                  <a:latin typeface="Cambria Math" panose="02040503050406030204" pitchFamily="18" charset="0"/>
                                </a:rPr>
                                <m:t>𝑢</m:t>
                              </m:r>
                            </m:e>
                            <m:sub>
                              <m:r>
                                <a:rPr lang="zh-CN" altLang="en-US" sz="2400" i="0" dirty="0" smtClean="0">
                                  <a:latin typeface="Cambria Math" panose="02040503050406030204" pitchFamily="18" charset="0"/>
                                </a:rPr>
                                <m:t>1</m:t>
                              </m:r>
                            </m:sub>
                            <m:sup>
                              <m:r>
                                <a:rPr lang="zh-CN" altLang="en-US" sz="2400" i="1" dirty="0" smtClean="0">
                                  <a:latin typeface="Cambria Math" panose="02040503050406030204" pitchFamily="18" charset="0"/>
                                </a:rPr>
                                <m:t>𝑛</m:t>
                              </m:r>
                            </m:sup>
                          </m:sSubSup>
                        </m:e>
                      </m:nary>
                    </m:oMath>
                  </m:oMathPara>
                </a14:m>
                <a:endParaRPr lang="en-US" altLang="zh-CN" sz="2400" dirty="0">
                  <a:latin typeface="+mn-ea"/>
                </a:endParaRPr>
              </a:p>
              <a:p>
                <a:pPr/>
                <a14:m>
                  <m:oMathPara xmlns:m="http://schemas.openxmlformats.org/officeDocument/2006/math">
                    <m:oMathParaPr>
                      <m:jc m:val="centerGroup"/>
                    </m:oMathParaPr>
                    <m:oMath xmlns:m="http://schemas.openxmlformats.org/officeDocument/2006/math">
                      <m:sSub>
                        <m:sSubPr>
                          <m:ctrlPr>
                            <a:rPr lang="zh-CN" altLang="en-US"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en-US" altLang="zh-CN" sz="2400" b="0" i="1" dirty="0" smtClean="0">
                              <a:latin typeface="Cambria Math" panose="02040503050406030204" pitchFamily="18" charset="0"/>
                            </a:rPr>
                            <m:t>2</m:t>
                          </m:r>
                        </m:sub>
                      </m:sSub>
                      <m:r>
                        <a:rPr lang="zh-CN" altLang="en-US" sz="2400" i="0" dirty="0" smtClean="0">
                          <a:latin typeface="Cambria Math" panose="02040503050406030204" pitchFamily="18" charset="0"/>
                        </a:rPr>
                        <m:t>=</m:t>
                      </m:r>
                      <m:nary>
                        <m:naryPr>
                          <m:chr m:val="∑"/>
                          <m:limLoc m:val="undOvr"/>
                          <m:grow m:val="on"/>
                          <m:supHide m:val="on"/>
                          <m:ctrlPr>
                            <a:rPr lang="zh-CN" altLang="en-US" sz="2400" i="1" dirty="0" smtClean="0">
                              <a:latin typeface="Cambria Math" panose="02040503050406030204" pitchFamily="18" charset="0"/>
                            </a:rPr>
                          </m:ctrlPr>
                        </m:naryPr>
                        <m:sub>
                          <m:r>
                            <a:rPr lang="zh-CN" altLang="en-US" sz="2400" i="1" dirty="0" smtClean="0">
                              <a:latin typeface="Cambria Math" panose="02040503050406030204" pitchFamily="18" charset="0"/>
                            </a:rPr>
                            <m:t>𝑛</m:t>
                          </m:r>
                        </m:sub>
                        <m:sup/>
                        <m:e>
                          <m:sSubSup>
                            <m:sSubSupPr>
                              <m:ctrlPr>
                                <a:rPr lang="zh-CN" altLang="en-US" sz="2400" i="1" dirty="0" smtClean="0">
                                  <a:solidFill>
                                    <a:srgbClr val="836967"/>
                                  </a:solidFill>
                                  <a:latin typeface="Cambria Math" panose="02040503050406030204" pitchFamily="18" charset="0"/>
                                </a:rPr>
                              </m:ctrlPr>
                            </m:sSubSupPr>
                            <m:e>
                              <m:r>
                                <a:rPr lang="zh-CN" altLang="en-US" sz="2400" i="1" dirty="0" smtClean="0">
                                  <a:latin typeface="Cambria Math" panose="02040503050406030204" pitchFamily="18" charset="0"/>
                                </a:rPr>
                                <m:t>𝑢</m:t>
                              </m:r>
                            </m:e>
                            <m:sub>
                              <m:r>
                                <a:rPr lang="en-US" altLang="zh-CN" sz="2400" b="0" i="0" dirty="0" smtClean="0">
                                  <a:latin typeface="Cambria Math" panose="02040503050406030204" pitchFamily="18" charset="0"/>
                                </a:rPr>
                                <m:t>2</m:t>
                              </m:r>
                            </m:sub>
                            <m:sup>
                              <m:r>
                                <a:rPr lang="zh-CN" altLang="en-US" sz="2400" i="1" dirty="0" smtClean="0">
                                  <a:latin typeface="Cambria Math" panose="02040503050406030204" pitchFamily="18" charset="0"/>
                                </a:rPr>
                                <m:t>𝑛</m:t>
                              </m:r>
                            </m:sup>
                          </m:sSubSup>
                        </m:e>
                      </m:nary>
                    </m:oMath>
                  </m:oMathPara>
                </a14:m>
                <a:endParaRPr lang="en-US" altLang="zh-CN" sz="2400" dirty="0">
                  <a:latin typeface="+mn-ea"/>
                </a:endParaRPr>
              </a:p>
            </p:txBody>
          </p:sp>
        </mc:Choice>
        <mc:Fallback xmlns="">
          <p:sp>
            <p:nvSpPr>
              <p:cNvPr id="12" name="矩形: 圆角 11">
                <a:extLst>
                  <a:ext uri="{FF2B5EF4-FFF2-40B4-BE49-F238E27FC236}">
                    <a16:creationId xmlns:a16="http://schemas.microsoft.com/office/drawing/2014/main" id="{3DD97A9F-BCB0-4C44-94A1-BD3E3530FA64}"/>
                  </a:ext>
                </a:extLst>
              </p:cNvPr>
              <p:cNvSpPr>
                <a:spLocks noRot="1" noChangeAspect="1" noMove="1" noResize="1" noEditPoints="1" noAdjustHandles="1" noChangeArrowheads="1" noChangeShapeType="1" noTextEdit="1"/>
              </p:cNvSpPr>
              <p:nvPr/>
            </p:nvSpPr>
            <p:spPr>
              <a:xfrm>
                <a:off x="5510186" y="-15841"/>
                <a:ext cx="2201518" cy="2072354"/>
              </a:xfrm>
              <a:prstGeom prst="roundRect">
                <a:avLst/>
              </a:prstGeom>
              <a:blipFill>
                <a:blip r:embed="rId3"/>
                <a:stretch>
                  <a:fillRect/>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7869FE6-D90F-4165-BF22-A6921D5CBD92}"/>
                  </a:ext>
                </a:extLst>
              </p:cNvPr>
              <p:cNvSpPr txBox="1"/>
              <p:nvPr/>
            </p:nvSpPr>
            <p:spPr>
              <a:xfrm>
                <a:off x="888365" y="2509494"/>
                <a:ext cx="4621821" cy="1073499"/>
              </a:xfrm>
              <a:prstGeom prst="rect">
                <a:avLst/>
              </a:prstGeom>
              <a:noFill/>
            </p:spPr>
            <p:txBody>
              <a:bodyPr wrap="square">
                <a:spAutoFit/>
              </a:bodyPr>
              <a:lstStyle/>
              <a:p>
                <a14:m>
                  <m:oMath xmlns:m="http://schemas.openxmlformats.org/officeDocument/2006/math">
                    <m:f>
                      <m:fPr>
                        <m:ctrlPr>
                          <a:rPr lang="zh-CN" altLang="en-US" sz="3600" i="1" dirty="0" smtClean="0">
                            <a:solidFill>
                              <a:schemeClr val="tx1"/>
                            </a:solidFill>
                            <a:latin typeface="Cambria Math" panose="02040503050406030204" pitchFamily="18" charset="0"/>
                          </a:rPr>
                        </m:ctrlPr>
                      </m:fPr>
                      <m:num>
                        <m:nary>
                          <m:naryPr>
                            <m:chr m:val="∑"/>
                            <m:limLoc m:val="undOvr"/>
                            <m:grow m:val="on"/>
                            <m:supHide m:val="on"/>
                            <m:ctrlPr>
                              <a:rPr lang="zh-CN" altLang="en-US" sz="3600" i="1" dirty="0" smtClean="0">
                                <a:solidFill>
                                  <a:schemeClr val="tx1"/>
                                </a:solidFill>
                                <a:latin typeface="Cambria Math" panose="02040503050406030204" pitchFamily="18" charset="0"/>
                              </a:rPr>
                            </m:ctrlPr>
                          </m:naryPr>
                          <m:sub>
                            <m:r>
                              <a:rPr lang="zh-CN" altLang="en-US" sz="3600" i="1" dirty="0" smtClean="0">
                                <a:solidFill>
                                  <a:schemeClr val="tx1"/>
                                </a:solidFill>
                                <a:latin typeface="Cambria Math" panose="02040503050406030204" pitchFamily="18" charset="0"/>
                              </a:rPr>
                              <m:t>𝑛</m:t>
                            </m:r>
                          </m:sub>
                          <m:sup/>
                          <m:e>
                            <m:sSubSup>
                              <m:sSubSupPr>
                                <m:ctrlPr>
                                  <a:rPr lang="zh-CN" altLang="en-US" sz="3600" i="1" dirty="0" smtClean="0">
                                    <a:solidFill>
                                      <a:schemeClr val="tx1"/>
                                    </a:solidFill>
                                    <a:latin typeface="Cambria Math" panose="02040503050406030204" pitchFamily="18" charset="0"/>
                                  </a:rPr>
                                </m:ctrlPr>
                              </m:sSubSupPr>
                              <m:e>
                                <m:r>
                                  <a:rPr lang="zh-CN" altLang="en-US" sz="3600" i="1" dirty="0" smtClean="0">
                                    <a:solidFill>
                                      <a:schemeClr val="tx1"/>
                                    </a:solidFill>
                                    <a:latin typeface="Cambria Math" panose="02040503050406030204" pitchFamily="18" charset="0"/>
                                  </a:rPr>
                                  <m:t>𝑢</m:t>
                                </m:r>
                              </m:e>
                              <m:sub>
                                <m:r>
                                  <a:rPr lang="en-US" altLang="zh-CN" sz="3600" b="0" i="0" dirty="0" smtClean="0">
                                    <a:solidFill>
                                      <a:schemeClr val="tx1"/>
                                    </a:solidFill>
                                    <a:latin typeface="Cambria Math" panose="02040503050406030204" pitchFamily="18" charset="0"/>
                                  </a:rPr>
                                  <m:t>2</m:t>
                                </m:r>
                              </m:sub>
                              <m:sup>
                                <m:r>
                                  <a:rPr lang="zh-CN" altLang="en-US" sz="3600" i="1" dirty="0" smtClean="0">
                                    <a:solidFill>
                                      <a:schemeClr val="tx1"/>
                                    </a:solidFill>
                                    <a:latin typeface="Cambria Math" panose="02040503050406030204" pitchFamily="18" charset="0"/>
                                  </a:rPr>
                                  <m:t>𝑛</m:t>
                                </m:r>
                              </m:sup>
                            </m:sSubSup>
                            <m:r>
                              <a:rPr lang="zh-CN" altLang="en-US" sz="3600" i="1" dirty="0" smtClean="0">
                                <a:solidFill>
                                  <a:schemeClr val="tx1"/>
                                </a:solidFill>
                                <a:latin typeface="Cambria Math" panose="02040503050406030204" pitchFamily="18" charset="0"/>
                              </a:rPr>
                              <m:t>𝛿</m:t>
                            </m:r>
                            <m:d>
                              <m:dPr>
                                <m:ctrlPr>
                                  <a:rPr lang="zh-CN" altLang="en-US" sz="3600" i="1" dirty="0" smtClean="0">
                                    <a:solidFill>
                                      <a:schemeClr val="tx1"/>
                                    </a:solidFill>
                                    <a:latin typeface="Cambria Math" panose="02040503050406030204" pitchFamily="18" charset="0"/>
                                  </a:rPr>
                                </m:ctrlPr>
                              </m:dPr>
                              <m:e>
                                <m:sSub>
                                  <m:sSubPr>
                                    <m:ctrlPr>
                                      <a:rPr lang="zh-CN" altLang="en-US" sz="3600" i="1" dirty="0" smtClean="0">
                                        <a:solidFill>
                                          <a:schemeClr val="tx1"/>
                                        </a:solidFill>
                                        <a:latin typeface="Cambria Math" panose="02040503050406030204" pitchFamily="18" charset="0"/>
                                      </a:rPr>
                                    </m:ctrlPr>
                                  </m:sSubPr>
                                  <m:e>
                                    <m:r>
                                      <a:rPr lang="zh-CN" altLang="en-US" sz="3600" i="1" dirty="0" smtClean="0">
                                        <a:solidFill>
                                          <a:schemeClr val="tx1"/>
                                        </a:solidFill>
                                        <a:latin typeface="Cambria Math" panose="02040503050406030204" pitchFamily="18" charset="0"/>
                                      </a:rPr>
                                      <m:t>𝑓</m:t>
                                    </m:r>
                                  </m:e>
                                  <m:sub>
                                    <m:r>
                                      <a:rPr lang="zh-CN" altLang="en-US" sz="3600" i="0" dirty="0" smtClean="0">
                                        <a:solidFill>
                                          <a:schemeClr val="tx1"/>
                                        </a:solidFill>
                                        <a:latin typeface="Cambria Math" panose="02040503050406030204" pitchFamily="18" charset="0"/>
                                      </a:rPr>
                                      <m:t>1</m:t>
                                    </m:r>
                                  </m:sub>
                                </m:sSub>
                                <m:d>
                                  <m:dPr>
                                    <m:ctrlPr>
                                      <a:rPr lang="zh-CN" altLang="en-US" sz="3600" i="1" dirty="0" smtClean="0">
                                        <a:solidFill>
                                          <a:schemeClr val="tx1"/>
                                        </a:solidFill>
                                        <a:latin typeface="Cambria Math" panose="02040503050406030204" pitchFamily="18" charset="0"/>
                                      </a:rPr>
                                    </m:ctrlPr>
                                  </m:dPr>
                                  <m:e>
                                    <m:sSup>
                                      <m:sSupPr>
                                        <m:ctrlPr>
                                          <a:rPr lang="zh-CN" altLang="en-US" sz="3600" i="1" dirty="0" smtClean="0">
                                            <a:solidFill>
                                              <a:schemeClr val="tx1"/>
                                            </a:solidFill>
                                            <a:latin typeface="Cambria Math" panose="02040503050406030204" pitchFamily="18" charset="0"/>
                                          </a:rPr>
                                        </m:ctrlPr>
                                      </m:sSupPr>
                                      <m:e>
                                        <m:r>
                                          <a:rPr lang="zh-CN" altLang="en-US" sz="3600" i="1" dirty="0" smtClean="0">
                                            <a:solidFill>
                                              <a:schemeClr val="tx1"/>
                                            </a:solidFill>
                                            <a:latin typeface="Cambria Math" panose="02040503050406030204" pitchFamily="18" charset="0"/>
                                          </a:rPr>
                                          <m:t>𝑥</m:t>
                                        </m:r>
                                      </m:e>
                                      <m:sup>
                                        <m:r>
                                          <a:rPr lang="zh-CN" altLang="en-US" sz="3600" i="1" dirty="0" smtClean="0">
                                            <a:solidFill>
                                              <a:schemeClr val="tx1"/>
                                            </a:solidFill>
                                            <a:latin typeface="Cambria Math" panose="02040503050406030204" pitchFamily="18" charset="0"/>
                                          </a:rPr>
                                          <m:t>𝑛</m:t>
                                        </m:r>
                                      </m:sup>
                                    </m:sSup>
                                  </m:e>
                                </m:d>
                                <m:r>
                                  <a:rPr lang="zh-CN" altLang="en-US" sz="3600" i="0" dirty="0" smtClean="0">
                                    <a:solidFill>
                                      <a:schemeClr val="tx1"/>
                                    </a:solidFill>
                                    <a:latin typeface="Cambria Math" panose="02040503050406030204" pitchFamily="18" charset="0"/>
                                  </a:rPr>
                                  <m:t>≠</m:t>
                                </m:r>
                                <m:sSup>
                                  <m:sSupPr>
                                    <m:ctrlPr>
                                      <a:rPr lang="zh-CN" altLang="en-US" sz="3600" i="1" dirty="0" smtClean="0">
                                        <a:solidFill>
                                          <a:schemeClr val="tx1"/>
                                        </a:solidFill>
                                        <a:latin typeface="Cambria Math" panose="02040503050406030204" pitchFamily="18" charset="0"/>
                                      </a:rPr>
                                    </m:ctrlPr>
                                  </m:sSupPr>
                                  <m:e>
                                    <m:acc>
                                      <m:accPr>
                                        <m:chr m:val="̂"/>
                                        <m:ctrlPr>
                                          <a:rPr lang="zh-CN" altLang="en-US" sz="3600" i="1" dirty="0" smtClean="0">
                                            <a:solidFill>
                                              <a:schemeClr val="tx1"/>
                                            </a:solidFill>
                                            <a:latin typeface="Cambria Math" panose="02040503050406030204" pitchFamily="18" charset="0"/>
                                          </a:rPr>
                                        </m:ctrlPr>
                                      </m:accPr>
                                      <m:e>
                                        <m:r>
                                          <a:rPr lang="zh-CN" altLang="en-US" sz="3600" i="1" dirty="0" smtClean="0">
                                            <a:solidFill>
                                              <a:schemeClr val="tx1"/>
                                            </a:solidFill>
                                            <a:latin typeface="Cambria Math" panose="02040503050406030204" pitchFamily="18" charset="0"/>
                                          </a:rPr>
                                          <m:t>𝑦</m:t>
                                        </m:r>
                                      </m:e>
                                    </m:acc>
                                  </m:e>
                                  <m:sup>
                                    <m:r>
                                      <a:rPr lang="zh-CN" altLang="en-US" sz="3600" i="1" dirty="0" smtClean="0">
                                        <a:solidFill>
                                          <a:schemeClr val="tx1"/>
                                        </a:solidFill>
                                        <a:latin typeface="Cambria Math" panose="02040503050406030204" pitchFamily="18" charset="0"/>
                                      </a:rPr>
                                      <m:t>𝑛</m:t>
                                    </m:r>
                                  </m:sup>
                                </m:sSup>
                              </m:e>
                            </m:d>
                          </m:e>
                        </m:nary>
                      </m:num>
                      <m:den>
                        <m:sSub>
                          <m:sSubPr>
                            <m:ctrlPr>
                              <a:rPr lang="zh-CN" altLang="en-US" sz="3600" i="1" dirty="0" smtClean="0">
                                <a:solidFill>
                                  <a:schemeClr val="tx1"/>
                                </a:solidFill>
                                <a:latin typeface="Cambria Math" panose="02040503050406030204" pitchFamily="18" charset="0"/>
                              </a:rPr>
                            </m:ctrlPr>
                          </m:sSubPr>
                          <m:e>
                            <m:r>
                              <a:rPr lang="en-US" altLang="zh-CN" sz="3600" b="0" i="1" dirty="0" smtClean="0">
                                <a:solidFill>
                                  <a:schemeClr val="tx1"/>
                                </a:solidFill>
                                <a:latin typeface="Cambria Math" panose="02040503050406030204" pitchFamily="18" charset="0"/>
                              </a:rPr>
                              <m:t>𝑍</m:t>
                            </m:r>
                          </m:e>
                          <m:sub>
                            <m:r>
                              <a:rPr lang="en-US" altLang="zh-CN" sz="3600" b="0" i="0" dirty="0" smtClean="0">
                                <a:solidFill>
                                  <a:schemeClr val="tx1"/>
                                </a:solidFill>
                                <a:latin typeface="Cambria Math" panose="02040503050406030204" pitchFamily="18" charset="0"/>
                              </a:rPr>
                              <m:t>2</m:t>
                            </m:r>
                          </m:sub>
                        </m:sSub>
                      </m:den>
                    </m:f>
                  </m:oMath>
                </a14:m>
                <a:r>
                  <a:rPr lang="en-US" altLang="zh-CN" sz="3600" dirty="0">
                    <a:latin typeface="Bodoni MT" panose="02070603080606020203" pitchFamily="18" charset="0"/>
                    <a:cs typeface="Arial" panose="020B0604020202020204" pitchFamily="34" charset="0"/>
                  </a:rPr>
                  <a:t>=0.5</a:t>
                </a:r>
                <a:endParaRPr lang="zh-CN" altLang="en-US" sz="3600" dirty="0">
                  <a:latin typeface="Bodoni MT" panose="02070603080606020203" pitchFamily="18" charset="0"/>
                  <a:cs typeface="Arial" panose="020B0604020202020204" pitchFamily="34" charset="0"/>
                </a:endParaRPr>
              </a:p>
            </p:txBody>
          </p:sp>
        </mc:Choice>
        <mc:Fallback xmlns="">
          <p:sp>
            <p:nvSpPr>
              <p:cNvPr id="6" name="文本框 5">
                <a:extLst>
                  <a:ext uri="{FF2B5EF4-FFF2-40B4-BE49-F238E27FC236}">
                    <a16:creationId xmlns:a16="http://schemas.microsoft.com/office/drawing/2014/main" id="{57869FE6-D90F-4165-BF22-A6921D5CBD92}"/>
                  </a:ext>
                </a:extLst>
              </p:cNvPr>
              <p:cNvSpPr txBox="1">
                <a:spLocks noRot="1" noChangeAspect="1" noMove="1" noResize="1" noEditPoints="1" noAdjustHandles="1" noChangeArrowheads="1" noChangeShapeType="1" noTextEdit="1"/>
              </p:cNvSpPr>
              <p:nvPr/>
            </p:nvSpPr>
            <p:spPr>
              <a:xfrm>
                <a:off x="888365" y="2509494"/>
                <a:ext cx="4621821" cy="1073499"/>
              </a:xfrm>
              <a:prstGeom prst="rect">
                <a:avLst/>
              </a:prstGeom>
              <a:blipFill>
                <a:blip r:embed="rId4"/>
                <a:stretch>
                  <a:fillRect l="-14286" t="-73256" b="-6395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D79AC33-1129-42A5-8587-948BBBDBD273}"/>
                  </a:ext>
                </a:extLst>
              </p:cNvPr>
              <p:cNvSpPr txBox="1"/>
              <p:nvPr/>
            </p:nvSpPr>
            <p:spPr>
              <a:xfrm>
                <a:off x="166092" y="4602044"/>
                <a:ext cx="12390719" cy="661784"/>
              </a:xfrm>
              <a:prstGeom prst="rect">
                <a:avLst/>
              </a:prstGeom>
              <a:noFill/>
            </p:spPr>
            <p:txBody>
              <a:bodyPr wrap="square">
                <a:spAutoFit/>
              </a:bodyPr>
              <a:lstStyle/>
              <a:p>
                <a14:m>
                  <m:oMath xmlns:m="http://schemas.openxmlformats.org/officeDocument/2006/math">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𝑍</m:t>
                        </m:r>
                      </m:e>
                      <m:sub>
                        <m:r>
                          <a:rPr lang="en-US" altLang="zh-CN" sz="2800" dirty="0">
                            <a:latin typeface="Cambria Math" panose="02040503050406030204" pitchFamily="18" charset="0"/>
                          </a:rPr>
                          <m:t>2</m:t>
                        </m:r>
                      </m:sub>
                    </m:sSub>
                    <m:r>
                      <a:rPr lang="en-US" altLang="zh-CN" sz="2800" i="1" dirty="0">
                        <a:latin typeface="Cambria Math" panose="02040503050406030204" pitchFamily="18" charset="0"/>
                      </a:rPr>
                      <m:t> </m:t>
                    </m:r>
                  </m:oMath>
                </a14:m>
                <a:r>
                  <a:rPr lang="en-US" altLang="zh-CN" sz="2800" dirty="0">
                    <a:solidFill>
                      <a:schemeClr val="tx1"/>
                    </a:solidFill>
                  </a:rPr>
                  <a:t>= </a:t>
                </a:r>
                <a14:m>
                  <m:oMath xmlns:m="http://schemas.openxmlformats.org/officeDocument/2006/math">
                    <m:nary>
                      <m:naryPr>
                        <m:chr m:val="∑"/>
                        <m:limLoc m:val="undOvr"/>
                        <m:grow m:val="on"/>
                        <m:supHide m:val="on"/>
                        <m:ctrlPr>
                          <a:rPr lang="zh-CN" altLang="en-US" sz="2800" i="1" dirty="0">
                            <a:latin typeface="Cambria Math" panose="02040503050406030204" pitchFamily="18" charset="0"/>
                          </a:rPr>
                        </m:ctrlPr>
                      </m:naryPr>
                      <m:sub>
                        <m:sSub>
                          <m:sSubPr>
                            <m:ctrlPr>
                              <a:rPr lang="zh-CN" altLang="en-US" sz="2800" i="1" dirty="0" smtClean="0">
                                <a:solidFill>
                                  <a:srgbClr val="FF0000"/>
                                </a:solidFill>
                                <a:latin typeface="Cambria Math" panose="02040503050406030204" pitchFamily="18" charset="0"/>
                              </a:rPr>
                            </m:ctrlPr>
                          </m:sSubPr>
                          <m:e>
                            <m:r>
                              <a:rPr lang="zh-CN" altLang="en-US" sz="2800" i="1" dirty="0">
                                <a:solidFill>
                                  <a:srgbClr val="FF0000"/>
                                </a:solidFill>
                                <a:latin typeface="Cambria Math" panose="02040503050406030204" pitchFamily="18" charset="0"/>
                              </a:rPr>
                              <m:t>𝑓</m:t>
                            </m:r>
                          </m:e>
                          <m:sub>
                            <m:r>
                              <a:rPr lang="zh-CN" altLang="en-US" sz="2800" dirty="0">
                                <a:solidFill>
                                  <a:srgbClr val="FF0000"/>
                                </a:solidFill>
                                <a:latin typeface="Cambria Math" panose="02040503050406030204" pitchFamily="18" charset="0"/>
                              </a:rPr>
                              <m:t>1</m:t>
                            </m:r>
                          </m:sub>
                        </m:sSub>
                        <m:d>
                          <m:dPr>
                            <m:ctrlPr>
                              <a:rPr lang="zh-CN" altLang="en-US" sz="2800" i="1" dirty="0">
                                <a:solidFill>
                                  <a:srgbClr val="FF0000"/>
                                </a:solidFill>
                                <a:latin typeface="Cambria Math" panose="02040503050406030204" pitchFamily="18" charset="0"/>
                              </a:rPr>
                            </m:ctrlPr>
                          </m:dPr>
                          <m:e>
                            <m:sSup>
                              <m:sSupPr>
                                <m:ctrlPr>
                                  <a:rPr lang="zh-CN" altLang="en-US" sz="2800" i="1" dirty="0">
                                    <a:solidFill>
                                      <a:srgbClr val="FF0000"/>
                                    </a:solidFill>
                                    <a:latin typeface="Cambria Math" panose="02040503050406030204" pitchFamily="18" charset="0"/>
                                  </a:rPr>
                                </m:ctrlPr>
                              </m:sSupPr>
                              <m:e>
                                <m:r>
                                  <a:rPr lang="zh-CN" altLang="en-US" sz="2800" i="1" dirty="0">
                                    <a:solidFill>
                                      <a:srgbClr val="FF0000"/>
                                    </a:solidFill>
                                    <a:latin typeface="Cambria Math" panose="02040503050406030204" pitchFamily="18" charset="0"/>
                                  </a:rPr>
                                  <m:t>𝑥</m:t>
                                </m:r>
                              </m:e>
                              <m:sup>
                                <m:r>
                                  <a:rPr lang="zh-CN" altLang="en-US" sz="2800" i="1" dirty="0">
                                    <a:solidFill>
                                      <a:srgbClr val="FF0000"/>
                                    </a:solidFill>
                                    <a:latin typeface="Cambria Math" panose="02040503050406030204" pitchFamily="18" charset="0"/>
                                  </a:rPr>
                                  <m:t>𝑛</m:t>
                                </m:r>
                              </m:sup>
                            </m:sSup>
                          </m:e>
                        </m:d>
                        <m:r>
                          <a:rPr lang="zh-CN" altLang="en-US" sz="2800" dirty="0">
                            <a:solidFill>
                              <a:srgbClr val="FF0000"/>
                            </a:solidFill>
                            <a:latin typeface="Cambria Math" panose="02040503050406030204" pitchFamily="18" charset="0"/>
                          </a:rPr>
                          <m:t>≠</m:t>
                        </m:r>
                        <m:sSub>
                          <m:sSubPr>
                            <m:ctrlPr>
                              <a:rPr lang="zh-CN" altLang="en-US" sz="2800" i="1" dirty="0">
                                <a:solidFill>
                                  <a:srgbClr val="FF0000"/>
                                </a:solidFill>
                                <a:latin typeface="Cambria Math" panose="02040503050406030204" pitchFamily="18" charset="0"/>
                              </a:rPr>
                            </m:ctrlPr>
                          </m:sSubPr>
                          <m:e>
                            <m:acc>
                              <m:accPr>
                                <m:chr m:val="̂"/>
                                <m:ctrlPr>
                                  <a:rPr lang="zh-CN" altLang="en-US" sz="2800" i="1" dirty="0">
                                    <a:solidFill>
                                      <a:srgbClr val="FF0000"/>
                                    </a:solidFill>
                                    <a:latin typeface="Cambria Math" panose="02040503050406030204" pitchFamily="18" charset="0"/>
                                  </a:rPr>
                                </m:ctrlPr>
                              </m:accPr>
                              <m:e>
                                <m:r>
                                  <a:rPr lang="zh-CN" altLang="en-US" sz="2800" i="1" dirty="0">
                                    <a:solidFill>
                                      <a:srgbClr val="FF0000"/>
                                    </a:solidFill>
                                    <a:latin typeface="Cambria Math" panose="02040503050406030204" pitchFamily="18" charset="0"/>
                                  </a:rPr>
                                  <m:t>𝑦</m:t>
                                </m:r>
                              </m:e>
                            </m:acc>
                          </m:e>
                          <m:sub>
                            <m:r>
                              <a:rPr lang="zh-CN" altLang="en-US" sz="2800" i="1" dirty="0">
                                <a:solidFill>
                                  <a:srgbClr val="FF0000"/>
                                </a:solidFill>
                                <a:latin typeface="Cambria Math" panose="02040503050406030204" pitchFamily="18" charset="0"/>
                              </a:rPr>
                              <m:t>𝑛</m:t>
                            </m:r>
                          </m:sub>
                        </m:sSub>
                      </m:sub>
                      <m:sup/>
                      <m:e>
                        <m:sSubSup>
                          <m:sSubSupPr>
                            <m:ctrlPr>
                              <a:rPr lang="zh-CN" altLang="en-US" sz="2800" i="1" dirty="0">
                                <a:latin typeface="Cambria Math" panose="02040503050406030204" pitchFamily="18" charset="0"/>
                              </a:rPr>
                            </m:ctrlPr>
                          </m:sSubSupPr>
                          <m:e>
                            <m:r>
                              <a:rPr lang="zh-CN" altLang="en-US" sz="2800" i="1" dirty="0">
                                <a:latin typeface="Cambria Math" panose="02040503050406030204" pitchFamily="18" charset="0"/>
                              </a:rPr>
                              <m:t>𝑢</m:t>
                            </m:r>
                          </m:e>
                          <m:sub>
                            <m:r>
                              <a:rPr lang="en-US" altLang="zh-CN" sz="2800" b="0" i="0" dirty="0" smtClean="0">
                                <a:latin typeface="Cambria Math" panose="02040503050406030204" pitchFamily="18" charset="0"/>
                              </a:rPr>
                              <m:t>2</m:t>
                            </m:r>
                          </m:sub>
                          <m:sup>
                            <m:r>
                              <a:rPr lang="zh-CN" altLang="en-US" sz="2800" i="1" dirty="0">
                                <a:latin typeface="Cambria Math" panose="02040503050406030204" pitchFamily="18" charset="0"/>
                              </a:rPr>
                              <m:t>𝑛</m:t>
                            </m:r>
                          </m:sup>
                        </m:sSubSup>
                        <m:r>
                          <a:rPr lang="en-US" altLang="zh-CN" sz="2800" b="0" i="1" dirty="0" smtClean="0">
                            <a:latin typeface="Cambria Math" panose="02040503050406030204" pitchFamily="18" charset="0"/>
                          </a:rPr>
                          <m:t> </m:t>
                        </m:r>
                      </m:e>
                    </m:nary>
                  </m:oMath>
                </a14:m>
                <a:r>
                  <a:rPr lang="en-US" altLang="zh-CN" sz="2800" dirty="0">
                    <a:solidFill>
                      <a:schemeClr val="tx1"/>
                    </a:solidFill>
                  </a:rPr>
                  <a:t> + </a:t>
                </a:r>
                <a14:m>
                  <m:oMath xmlns:m="http://schemas.openxmlformats.org/officeDocument/2006/math">
                    <m:nary>
                      <m:naryPr>
                        <m:chr m:val="∑"/>
                        <m:limLoc m:val="undOvr"/>
                        <m:grow m:val="on"/>
                        <m:supHide m:val="on"/>
                        <m:ctrlPr>
                          <a:rPr lang="zh-CN" altLang="en-US" sz="2800" i="1" dirty="0">
                            <a:latin typeface="Cambria Math" panose="02040503050406030204" pitchFamily="18" charset="0"/>
                          </a:rPr>
                        </m:ctrlPr>
                      </m:naryPr>
                      <m:sub>
                        <m:sSub>
                          <m:sSubPr>
                            <m:ctrlPr>
                              <a:rPr lang="zh-CN" altLang="en-US" sz="2800" i="1" dirty="0" smtClean="0">
                                <a:solidFill>
                                  <a:schemeClr val="accent1">
                                    <a:lumMod val="60000"/>
                                    <a:lumOff val="40000"/>
                                  </a:schemeClr>
                                </a:solidFill>
                                <a:latin typeface="Cambria Math" panose="02040503050406030204" pitchFamily="18" charset="0"/>
                              </a:rPr>
                            </m:ctrlPr>
                          </m:sSubPr>
                          <m:e>
                            <m:r>
                              <a:rPr lang="zh-CN" altLang="en-US" sz="2800" i="1" dirty="0">
                                <a:solidFill>
                                  <a:schemeClr val="accent1">
                                    <a:lumMod val="60000"/>
                                    <a:lumOff val="40000"/>
                                  </a:schemeClr>
                                </a:solidFill>
                                <a:latin typeface="Cambria Math" panose="02040503050406030204" pitchFamily="18" charset="0"/>
                              </a:rPr>
                              <m:t>𝑓</m:t>
                            </m:r>
                          </m:e>
                          <m:sub>
                            <m:r>
                              <a:rPr lang="zh-CN" altLang="en-US" sz="2800" dirty="0">
                                <a:solidFill>
                                  <a:schemeClr val="accent1">
                                    <a:lumMod val="60000"/>
                                    <a:lumOff val="40000"/>
                                  </a:schemeClr>
                                </a:solidFill>
                                <a:latin typeface="Cambria Math" panose="02040503050406030204" pitchFamily="18" charset="0"/>
                              </a:rPr>
                              <m:t>1</m:t>
                            </m:r>
                          </m:sub>
                        </m:sSub>
                        <m:d>
                          <m:dPr>
                            <m:ctrlPr>
                              <a:rPr lang="zh-CN" altLang="en-US" sz="2800" i="1" dirty="0">
                                <a:solidFill>
                                  <a:schemeClr val="accent1">
                                    <a:lumMod val="60000"/>
                                    <a:lumOff val="40000"/>
                                  </a:schemeClr>
                                </a:solidFill>
                                <a:latin typeface="Cambria Math" panose="02040503050406030204" pitchFamily="18" charset="0"/>
                              </a:rPr>
                            </m:ctrlPr>
                          </m:dPr>
                          <m:e>
                            <m:sSup>
                              <m:sSupPr>
                                <m:ctrlPr>
                                  <a:rPr lang="zh-CN" altLang="en-US" sz="2800" i="1" dirty="0">
                                    <a:solidFill>
                                      <a:schemeClr val="accent1">
                                        <a:lumMod val="60000"/>
                                        <a:lumOff val="40000"/>
                                      </a:schemeClr>
                                    </a:solidFill>
                                    <a:latin typeface="Cambria Math" panose="02040503050406030204" pitchFamily="18" charset="0"/>
                                  </a:rPr>
                                </m:ctrlPr>
                              </m:sSupPr>
                              <m:e>
                                <m:r>
                                  <a:rPr lang="zh-CN" altLang="en-US" sz="2800" i="1" dirty="0">
                                    <a:solidFill>
                                      <a:schemeClr val="accent1">
                                        <a:lumMod val="60000"/>
                                        <a:lumOff val="40000"/>
                                      </a:schemeClr>
                                    </a:solidFill>
                                    <a:latin typeface="Cambria Math" panose="02040503050406030204" pitchFamily="18" charset="0"/>
                                  </a:rPr>
                                  <m:t>𝑥</m:t>
                                </m:r>
                              </m:e>
                              <m:sup>
                                <m:r>
                                  <a:rPr lang="zh-CN" altLang="en-US" sz="2800" i="1" dirty="0">
                                    <a:solidFill>
                                      <a:schemeClr val="accent1">
                                        <a:lumMod val="60000"/>
                                        <a:lumOff val="40000"/>
                                      </a:schemeClr>
                                    </a:solidFill>
                                    <a:latin typeface="Cambria Math" panose="02040503050406030204" pitchFamily="18" charset="0"/>
                                  </a:rPr>
                                  <m:t>𝑛</m:t>
                                </m:r>
                              </m:sup>
                            </m:sSup>
                          </m:e>
                        </m:d>
                        <m:r>
                          <a:rPr lang="en-US" altLang="zh-CN" sz="2800" b="0" i="0" dirty="0" smtClean="0">
                            <a:solidFill>
                              <a:schemeClr val="accent1">
                                <a:lumMod val="60000"/>
                                <a:lumOff val="40000"/>
                              </a:schemeClr>
                            </a:solidFill>
                            <a:latin typeface="Cambria Math" panose="02040503050406030204" pitchFamily="18" charset="0"/>
                          </a:rPr>
                          <m:t>=</m:t>
                        </m:r>
                        <m:sSub>
                          <m:sSubPr>
                            <m:ctrlPr>
                              <a:rPr lang="zh-CN" altLang="en-US" sz="2800" i="1" dirty="0">
                                <a:solidFill>
                                  <a:schemeClr val="accent1">
                                    <a:lumMod val="60000"/>
                                    <a:lumOff val="40000"/>
                                  </a:schemeClr>
                                </a:solidFill>
                                <a:latin typeface="Cambria Math" panose="02040503050406030204" pitchFamily="18" charset="0"/>
                              </a:rPr>
                            </m:ctrlPr>
                          </m:sSubPr>
                          <m:e>
                            <m:acc>
                              <m:accPr>
                                <m:chr m:val="̂"/>
                                <m:ctrlPr>
                                  <a:rPr lang="zh-CN" altLang="en-US" sz="2800" i="1" dirty="0" smtClean="0">
                                    <a:solidFill>
                                      <a:schemeClr val="accent1">
                                        <a:lumMod val="60000"/>
                                        <a:lumOff val="40000"/>
                                      </a:schemeClr>
                                    </a:solidFill>
                                    <a:latin typeface="Cambria Math" panose="02040503050406030204" pitchFamily="18" charset="0"/>
                                  </a:rPr>
                                </m:ctrlPr>
                              </m:accPr>
                              <m:e>
                                <m:r>
                                  <a:rPr lang="zh-CN" altLang="en-US" sz="2800" i="1" dirty="0">
                                    <a:solidFill>
                                      <a:schemeClr val="accent1">
                                        <a:lumMod val="60000"/>
                                        <a:lumOff val="40000"/>
                                      </a:schemeClr>
                                    </a:solidFill>
                                    <a:latin typeface="Cambria Math" panose="02040503050406030204" pitchFamily="18" charset="0"/>
                                  </a:rPr>
                                  <m:t>𝑦</m:t>
                                </m:r>
                              </m:e>
                            </m:acc>
                          </m:e>
                          <m:sub>
                            <m:r>
                              <a:rPr lang="zh-CN" altLang="en-US" sz="2800" i="1" dirty="0">
                                <a:solidFill>
                                  <a:schemeClr val="accent1">
                                    <a:lumMod val="60000"/>
                                    <a:lumOff val="40000"/>
                                  </a:schemeClr>
                                </a:solidFill>
                                <a:latin typeface="Cambria Math" panose="02040503050406030204" pitchFamily="18" charset="0"/>
                              </a:rPr>
                              <m:t>𝑛</m:t>
                            </m:r>
                          </m:sub>
                        </m:sSub>
                      </m:sub>
                      <m:sup/>
                      <m:e>
                        <m:sSubSup>
                          <m:sSubSupPr>
                            <m:ctrlPr>
                              <a:rPr lang="zh-CN" altLang="en-US" sz="2800" i="1" dirty="0">
                                <a:latin typeface="Cambria Math" panose="02040503050406030204" pitchFamily="18" charset="0"/>
                              </a:rPr>
                            </m:ctrlPr>
                          </m:sSubSupPr>
                          <m:e>
                            <m:r>
                              <a:rPr lang="zh-CN" altLang="en-US" sz="2800" i="1" dirty="0">
                                <a:latin typeface="Cambria Math" panose="02040503050406030204" pitchFamily="18" charset="0"/>
                              </a:rPr>
                              <m:t>𝑢</m:t>
                            </m:r>
                          </m:e>
                          <m:sub>
                            <m:r>
                              <a:rPr lang="en-US" altLang="zh-CN" sz="2800" dirty="0">
                                <a:latin typeface="Cambria Math" panose="02040503050406030204" pitchFamily="18" charset="0"/>
                              </a:rPr>
                              <m:t>2</m:t>
                            </m:r>
                          </m:sub>
                          <m:sup>
                            <m:r>
                              <a:rPr lang="zh-CN" altLang="en-US" sz="2800" i="1" dirty="0">
                                <a:latin typeface="Cambria Math" panose="02040503050406030204" pitchFamily="18" charset="0"/>
                              </a:rPr>
                              <m:t>𝑛</m:t>
                            </m:r>
                          </m:sup>
                        </m:sSubSup>
                        <m:r>
                          <a:rPr lang="en-US" altLang="zh-CN" sz="2800" i="1" dirty="0">
                            <a:latin typeface="Cambria Math" panose="02040503050406030204" pitchFamily="18" charset="0"/>
                          </a:rPr>
                          <m:t> </m:t>
                        </m:r>
                      </m:e>
                    </m:nary>
                    <m:r>
                      <a:rPr lang="en-US" altLang="zh-CN" sz="2800" i="1" dirty="0">
                        <a:latin typeface="Cambria Math" panose="02040503050406030204" pitchFamily="18" charset="0"/>
                      </a:rPr>
                      <m:t>=</m:t>
                    </m:r>
                    <m:nary>
                      <m:naryPr>
                        <m:chr m:val="∑"/>
                        <m:limLoc m:val="undOvr"/>
                        <m:grow m:val="on"/>
                        <m:supHide m:val="on"/>
                        <m:ctrlPr>
                          <a:rPr lang="zh-CN" altLang="en-US" sz="2800" i="1" dirty="0" smtClean="0">
                            <a:latin typeface="Cambria Math" panose="02040503050406030204" pitchFamily="18" charset="0"/>
                          </a:rPr>
                        </m:ctrlPr>
                      </m:naryPr>
                      <m:sub>
                        <m:sSub>
                          <m:sSubPr>
                            <m:ctrlPr>
                              <a:rPr lang="zh-CN" altLang="en-US" sz="2800" i="1" dirty="0" smtClean="0">
                                <a:solidFill>
                                  <a:srgbClr val="FF0000"/>
                                </a:solidFill>
                                <a:latin typeface="Cambria Math" panose="02040503050406030204" pitchFamily="18" charset="0"/>
                              </a:rPr>
                            </m:ctrlPr>
                          </m:sSubPr>
                          <m:e>
                            <m:r>
                              <a:rPr lang="zh-CN" altLang="en-US" sz="2800" i="1" dirty="0">
                                <a:solidFill>
                                  <a:srgbClr val="FF0000"/>
                                </a:solidFill>
                                <a:latin typeface="Cambria Math" panose="02040503050406030204" pitchFamily="18" charset="0"/>
                              </a:rPr>
                              <m:t>𝑓</m:t>
                            </m:r>
                          </m:e>
                          <m:sub>
                            <m:r>
                              <a:rPr lang="zh-CN" altLang="en-US" sz="2800" dirty="0">
                                <a:solidFill>
                                  <a:srgbClr val="FF0000"/>
                                </a:solidFill>
                                <a:latin typeface="Cambria Math" panose="02040503050406030204" pitchFamily="18" charset="0"/>
                              </a:rPr>
                              <m:t>1</m:t>
                            </m:r>
                          </m:sub>
                        </m:sSub>
                        <m:d>
                          <m:dPr>
                            <m:ctrlPr>
                              <a:rPr lang="zh-CN" altLang="en-US" sz="2800" i="1" dirty="0">
                                <a:solidFill>
                                  <a:srgbClr val="FF0000"/>
                                </a:solidFill>
                                <a:latin typeface="Cambria Math" panose="02040503050406030204" pitchFamily="18" charset="0"/>
                              </a:rPr>
                            </m:ctrlPr>
                          </m:dPr>
                          <m:e>
                            <m:sSup>
                              <m:sSupPr>
                                <m:ctrlPr>
                                  <a:rPr lang="zh-CN" altLang="en-US" sz="2800" i="1" dirty="0">
                                    <a:solidFill>
                                      <a:srgbClr val="FF0000"/>
                                    </a:solidFill>
                                    <a:latin typeface="Cambria Math" panose="02040503050406030204" pitchFamily="18" charset="0"/>
                                  </a:rPr>
                                </m:ctrlPr>
                              </m:sSupPr>
                              <m:e>
                                <m:r>
                                  <a:rPr lang="zh-CN" altLang="en-US" sz="2800" i="1" dirty="0">
                                    <a:solidFill>
                                      <a:srgbClr val="FF0000"/>
                                    </a:solidFill>
                                    <a:latin typeface="Cambria Math" panose="02040503050406030204" pitchFamily="18" charset="0"/>
                                  </a:rPr>
                                  <m:t>𝑥</m:t>
                                </m:r>
                              </m:e>
                              <m:sup>
                                <m:r>
                                  <a:rPr lang="zh-CN" altLang="en-US" sz="2800" i="1" dirty="0">
                                    <a:solidFill>
                                      <a:srgbClr val="FF0000"/>
                                    </a:solidFill>
                                    <a:latin typeface="Cambria Math" panose="02040503050406030204" pitchFamily="18" charset="0"/>
                                  </a:rPr>
                                  <m:t>𝑛</m:t>
                                </m:r>
                              </m:sup>
                            </m:sSup>
                          </m:e>
                        </m:d>
                        <m:r>
                          <a:rPr lang="zh-CN" altLang="en-US" sz="2800" dirty="0">
                            <a:solidFill>
                              <a:srgbClr val="FF0000"/>
                            </a:solidFill>
                            <a:latin typeface="Cambria Math" panose="02040503050406030204" pitchFamily="18" charset="0"/>
                          </a:rPr>
                          <m:t>≠</m:t>
                        </m:r>
                        <m:sSub>
                          <m:sSubPr>
                            <m:ctrlPr>
                              <a:rPr lang="zh-CN" altLang="en-US" sz="2800" i="1" dirty="0">
                                <a:solidFill>
                                  <a:srgbClr val="FF0000"/>
                                </a:solidFill>
                                <a:latin typeface="Cambria Math" panose="02040503050406030204" pitchFamily="18" charset="0"/>
                              </a:rPr>
                            </m:ctrlPr>
                          </m:sSubPr>
                          <m:e>
                            <m:acc>
                              <m:accPr>
                                <m:chr m:val="̂"/>
                                <m:ctrlPr>
                                  <a:rPr lang="zh-CN" altLang="en-US" sz="2800" i="1" dirty="0">
                                    <a:solidFill>
                                      <a:srgbClr val="FF0000"/>
                                    </a:solidFill>
                                    <a:latin typeface="Cambria Math" panose="02040503050406030204" pitchFamily="18" charset="0"/>
                                  </a:rPr>
                                </m:ctrlPr>
                              </m:accPr>
                              <m:e>
                                <m:r>
                                  <a:rPr lang="zh-CN" altLang="en-US" sz="2800" i="1" dirty="0">
                                    <a:solidFill>
                                      <a:srgbClr val="FF0000"/>
                                    </a:solidFill>
                                    <a:latin typeface="Cambria Math" panose="02040503050406030204" pitchFamily="18" charset="0"/>
                                  </a:rPr>
                                  <m:t>𝑦</m:t>
                                </m:r>
                              </m:e>
                            </m:acc>
                          </m:e>
                          <m:sub>
                            <m:r>
                              <a:rPr lang="zh-CN" altLang="en-US" sz="2800" i="1" dirty="0">
                                <a:solidFill>
                                  <a:srgbClr val="FF0000"/>
                                </a:solidFill>
                                <a:latin typeface="Cambria Math" panose="02040503050406030204" pitchFamily="18" charset="0"/>
                              </a:rPr>
                              <m:t>𝑛</m:t>
                            </m:r>
                          </m:sub>
                        </m:sSub>
                      </m:sub>
                      <m:sup/>
                      <m:e>
                        <m:sSubSup>
                          <m:sSubSupPr>
                            <m:ctrlPr>
                              <a:rPr lang="zh-CN" altLang="en-US" sz="2800" i="1" dirty="0">
                                <a:latin typeface="Cambria Math" panose="02040503050406030204" pitchFamily="18" charset="0"/>
                              </a:rPr>
                            </m:ctrlPr>
                          </m:sSubSupPr>
                          <m:e>
                            <m:r>
                              <a:rPr lang="zh-CN" altLang="en-US" sz="2800" i="1" dirty="0">
                                <a:latin typeface="Cambria Math" panose="02040503050406030204" pitchFamily="18" charset="0"/>
                              </a:rPr>
                              <m:t>𝑢</m:t>
                            </m:r>
                          </m:e>
                          <m:sub>
                            <m:r>
                              <a:rPr lang="zh-CN" altLang="en-US" sz="2800" dirty="0">
                                <a:latin typeface="Cambria Math" panose="02040503050406030204" pitchFamily="18" charset="0"/>
                              </a:rPr>
                              <m:t>1</m:t>
                            </m:r>
                          </m:sub>
                          <m:sup>
                            <m:r>
                              <a:rPr lang="zh-CN" altLang="en-US" sz="2800" i="1" dirty="0">
                                <a:latin typeface="Cambria Math" panose="02040503050406030204" pitchFamily="18" charset="0"/>
                              </a:rPr>
                              <m:t>𝑛</m:t>
                            </m:r>
                          </m:sup>
                        </m:sSubSup>
                        <m:sSub>
                          <m:sSubPr>
                            <m:ctrlPr>
                              <a:rPr lang="zh-CN" altLang="en-US" sz="2800" i="1" dirty="0">
                                <a:latin typeface="Cambria Math" panose="02040503050406030204" pitchFamily="18" charset="0"/>
                              </a:rPr>
                            </m:ctrlPr>
                          </m:sSubPr>
                          <m:e>
                            <m:r>
                              <a:rPr lang="zh-CN" altLang="en-US" sz="2800" i="1" dirty="0">
                                <a:latin typeface="Cambria Math" panose="02040503050406030204" pitchFamily="18" charset="0"/>
                              </a:rPr>
                              <m:t>𝑑</m:t>
                            </m:r>
                          </m:e>
                          <m:sub>
                            <m:r>
                              <a:rPr lang="zh-CN" altLang="en-US" sz="2800" dirty="0">
                                <a:latin typeface="Cambria Math" panose="02040503050406030204" pitchFamily="18" charset="0"/>
                              </a:rPr>
                              <m:t>1</m:t>
                            </m:r>
                          </m:sub>
                        </m:sSub>
                      </m:e>
                    </m:nary>
                  </m:oMath>
                </a14:m>
                <a:r>
                  <a:rPr lang="en-US" altLang="zh-CN" sz="2800" dirty="0">
                    <a:solidFill>
                      <a:schemeClr val="tx1"/>
                    </a:solidFill>
                  </a:rPr>
                  <a:t> + </a:t>
                </a:r>
                <a14:m>
                  <m:oMath xmlns:m="http://schemas.openxmlformats.org/officeDocument/2006/math">
                    <m:nary>
                      <m:naryPr>
                        <m:chr m:val="∑"/>
                        <m:limLoc m:val="undOvr"/>
                        <m:grow m:val="on"/>
                        <m:supHide m:val="on"/>
                        <m:ctrlPr>
                          <a:rPr lang="zh-CN" altLang="en-US" sz="2800" i="1" dirty="0">
                            <a:latin typeface="Cambria Math" panose="02040503050406030204" pitchFamily="18" charset="0"/>
                          </a:rPr>
                        </m:ctrlPr>
                      </m:naryPr>
                      <m:sub>
                        <m:sSub>
                          <m:sSubPr>
                            <m:ctrlPr>
                              <a:rPr lang="zh-CN" altLang="en-US" sz="2800" i="1" dirty="0" smtClean="0">
                                <a:solidFill>
                                  <a:schemeClr val="accent1">
                                    <a:lumMod val="60000"/>
                                    <a:lumOff val="40000"/>
                                  </a:schemeClr>
                                </a:solidFill>
                                <a:latin typeface="Cambria Math" panose="02040503050406030204" pitchFamily="18" charset="0"/>
                              </a:rPr>
                            </m:ctrlPr>
                          </m:sSubPr>
                          <m:e>
                            <m:r>
                              <a:rPr lang="zh-CN" altLang="en-US" sz="2800" i="1" dirty="0">
                                <a:solidFill>
                                  <a:schemeClr val="accent1">
                                    <a:lumMod val="60000"/>
                                    <a:lumOff val="40000"/>
                                  </a:schemeClr>
                                </a:solidFill>
                                <a:latin typeface="Cambria Math" panose="02040503050406030204" pitchFamily="18" charset="0"/>
                              </a:rPr>
                              <m:t>𝑓</m:t>
                            </m:r>
                          </m:e>
                          <m:sub>
                            <m:r>
                              <a:rPr lang="zh-CN" altLang="en-US" sz="2800" dirty="0">
                                <a:solidFill>
                                  <a:schemeClr val="accent1">
                                    <a:lumMod val="60000"/>
                                    <a:lumOff val="40000"/>
                                  </a:schemeClr>
                                </a:solidFill>
                                <a:latin typeface="Cambria Math" panose="02040503050406030204" pitchFamily="18" charset="0"/>
                              </a:rPr>
                              <m:t>1</m:t>
                            </m:r>
                          </m:sub>
                        </m:sSub>
                        <m:d>
                          <m:dPr>
                            <m:ctrlPr>
                              <a:rPr lang="zh-CN" altLang="en-US" sz="2800" i="1" dirty="0">
                                <a:solidFill>
                                  <a:schemeClr val="accent1">
                                    <a:lumMod val="60000"/>
                                    <a:lumOff val="40000"/>
                                  </a:schemeClr>
                                </a:solidFill>
                                <a:latin typeface="Cambria Math" panose="02040503050406030204" pitchFamily="18" charset="0"/>
                              </a:rPr>
                            </m:ctrlPr>
                          </m:dPr>
                          <m:e>
                            <m:sSup>
                              <m:sSupPr>
                                <m:ctrlPr>
                                  <a:rPr lang="zh-CN" altLang="en-US" sz="2800" i="1" dirty="0">
                                    <a:solidFill>
                                      <a:schemeClr val="accent1">
                                        <a:lumMod val="60000"/>
                                        <a:lumOff val="40000"/>
                                      </a:schemeClr>
                                    </a:solidFill>
                                    <a:latin typeface="Cambria Math" panose="02040503050406030204" pitchFamily="18" charset="0"/>
                                  </a:rPr>
                                </m:ctrlPr>
                              </m:sSupPr>
                              <m:e>
                                <m:r>
                                  <a:rPr lang="zh-CN" altLang="en-US" sz="2800" i="1" dirty="0">
                                    <a:solidFill>
                                      <a:schemeClr val="accent1">
                                        <a:lumMod val="60000"/>
                                        <a:lumOff val="40000"/>
                                      </a:schemeClr>
                                    </a:solidFill>
                                    <a:latin typeface="Cambria Math" panose="02040503050406030204" pitchFamily="18" charset="0"/>
                                  </a:rPr>
                                  <m:t>𝑥</m:t>
                                </m:r>
                              </m:e>
                              <m:sup>
                                <m:r>
                                  <a:rPr lang="zh-CN" altLang="en-US" sz="2800" i="1" dirty="0">
                                    <a:solidFill>
                                      <a:schemeClr val="accent1">
                                        <a:lumMod val="60000"/>
                                        <a:lumOff val="40000"/>
                                      </a:schemeClr>
                                    </a:solidFill>
                                    <a:latin typeface="Cambria Math" panose="02040503050406030204" pitchFamily="18" charset="0"/>
                                  </a:rPr>
                                  <m:t>𝑛</m:t>
                                </m:r>
                              </m:sup>
                            </m:sSup>
                          </m:e>
                        </m:d>
                        <m:r>
                          <a:rPr lang="en-US" altLang="zh-CN" sz="2800" b="0" i="0" dirty="0" smtClean="0">
                            <a:solidFill>
                              <a:schemeClr val="accent1">
                                <a:lumMod val="60000"/>
                                <a:lumOff val="40000"/>
                              </a:schemeClr>
                            </a:solidFill>
                            <a:latin typeface="Cambria Math" panose="02040503050406030204" pitchFamily="18" charset="0"/>
                          </a:rPr>
                          <m:t>=</m:t>
                        </m:r>
                        <m:sSub>
                          <m:sSubPr>
                            <m:ctrlPr>
                              <a:rPr lang="zh-CN" altLang="en-US" sz="2800" i="1" dirty="0">
                                <a:solidFill>
                                  <a:schemeClr val="accent1">
                                    <a:lumMod val="60000"/>
                                    <a:lumOff val="40000"/>
                                  </a:schemeClr>
                                </a:solidFill>
                                <a:latin typeface="Cambria Math" panose="02040503050406030204" pitchFamily="18" charset="0"/>
                              </a:rPr>
                            </m:ctrlPr>
                          </m:sSubPr>
                          <m:e>
                            <m:acc>
                              <m:accPr>
                                <m:chr m:val="̂"/>
                                <m:ctrlPr>
                                  <a:rPr lang="zh-CN" altLang="en-US" sz="2800" i="1" dirty="0" smtClean="0">
                                    <a:solidFill>
                                      <a:schemeClr val="accent1">
                                        <a:lumMod val="60000"/>
                                        <a:lumOff val="40000"/>
                                      </a:schemeClr>
                                    </a:solidFill>
                                    <a:latin typeface="Cambria Math" panose="02040503050406030204" pitchFamily="18" charset="0"/>
                                  </a:rPr>
                                </m:ctrlPr>
                              </m:accPr>
                              <m:e>
                                <m:r>
                                  <a:rPr lang="zh-CN" altLang="en-US" sz="2800" i="1" dirty="0">
                                    <a:solidFill>
                                      <a:schemeClr val="accent1">
                                        <a:lumMod val="60000"/>
                                        <a:lumOff val="40000"/>
                                      </a:schemeClr>
                                    </a:solidFill>
                                    <a:latin typeface="Cambria Math" panose="02040503050406030204" pitchFamily="18" charset="0"/>
                                  </a:rPr>
                                  <m:t>𝑦</m:t>
                                </m:r>
                              </m:e>
                            </m:acc>
                          </m:e>
                          <m:sub>
                            <m:r>
                              <a:rPr lang="zh-CN" altLang="en-US" sz="2800" i="1" dirty="0">
                                <a:solidFill>
                                  <a:schemeClr val="accent1">
                                    <a:lumMod val="60000"/>
                                    <a:lumOff val="40000"/>
                                  </a:schemeClr>
                                </a:solidFill>
                                <a:latin typeface="Cambria Math" panose="02040503050406030204" pitchFamily="18" charset="0"/>
                              </a:rPr>
                              <m:t>𝑛</m:t>
                            </m:r>
                          </m:sub>
                        </m:sSub>
                      </m:sub>
                      <m:sup/>
                      <m:e>
                        <m:sSubSup>
                          <m:sSubSupPr>
                            <m:ctrlPr>
                              <a:rPr lang="zh-CN" altLang="en-US" sz="2800" i="1" dirty="0">
                                <a:latin typeface="Cambria Math" panose="02040503050406030204" pitchFamily="18" charset="0"/>
                              </a:rPr>
                            </m:ctrlPr>
                          </m:sSubSupPr>
                          <m:e>
                            <m:r>
                              <a:rPr lang="zh-CN" altLang="en-US" sz="2800" i="1" dirty="0">
                                <a:latin typeface="Cambria Math" panose="02040503050406030204" pitchFamily="18" charset="0"/>
                              </a:rPr>
                              <m:t>𝑢</m:t>
                            </m:r>
                          </m:e>
                          <m:sub>
                            <m:r>
                              <a:rPr lang="zh-CN" altLang="en-US" sz="2800" dirty="0">
                                <a:latin typeface="Cambria Math" panose="02040503050406030204" pitchFamily="18" charset="0"/>
                              </a:rPr>
                              <m:t>1</m:t>
                            </m:r>
                          </m:sub>
                          <m:sup>
                            <m:r>
                              <a:rPr lang="zh-CN" altLang="en-US" sz="2800" i="1" dirty="0">
                                <a:latin typeface="Cambria Math" panose="02040503050406030204" pitchFamily="18" charset="0"/>
                              </a:rPr>
                              <m:t>𝑛</m:t>
                            </m:r>
                          </m:sup>
                        </m:sSubSup>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m:t>
                            </m:r>
                            <m:r>
                              <a:rPr lang="zh-CN" altLang="en-US" sz="2800" i="1" dirty="0">
                                <a:latin typeface="Cambria Math" panose="02040503050406030204" pitchFamily="18" charset="0"/>
                              </a:rPr>
                              <m:t>𝑑</m:t>
                            </m:r>
                          </m:e>
                          <m:sub>
                            <m:r>
                              <a:rPr lang="zh-CN" altLang="en-US" sz="2800" dirty="0">
                                <a:latin typeface="Cambria Math" panose="02040503050406030204" pitchFamily="18" charset="0"/>
                              </a:rPr>
                              <m:t>1</m:t>
                            </m:r>
                          </m:sub>
                        </m:sSub>
                      </m:e>
                    </m:nary>
                  </m:oMath>
                </a14:m>
                <a:endParaRPr lang="en-US" altLang="zh-CN" sz="2800" dirty="0">
                  <a:solidFill>
                    <a:schemeClr val="tx1"/>
                  </a:solidFill>
                </a:endParaRPr>
              </a:p>
            </p:txBody>
          </p:sp>
        </mc:Choice>
        <mc:Fallback xmlns="">
          <p:sp>
            <p:nvSpPr>
              <p:cNvPr id="9" name="文本框 8">
                <a:extLst>
                  <a:ext uri="{FF2B5EF4-FFF2-40B4-BE49-F238E27FC236}">
                    <a16:creationId xmlns:a16="http://schemas.microsoft.com/office/drawing/2014/main" id="{AD79AC33-1129-42A5-8587-948BBBDBD273}"/>
                  </a:ext>
                </a:extLst>
              </p:cNvPr>
              <p:cNvSpPr txBox="1">
                <a:spLocks noRot="1" noChangeAspect="1" noMove="1" noResize="1" noEditPoints="1" noAdjustHandles="1" noChangeArrowheads="1" noChangeShapeType="1" noTextEdit="1"/>
              </p:cNvSpPr>
              <p:nvPr/>
            </p:nvSpPr>
            <p:spPr>
              <a:xfrm>
                <a:off x="166092" y="4602044"/>
                <a:ext cx="12390719" cy="661784"/>
              </a:xfrm>
              <a:prstGeom prst="rect">
                <a:avLst/>
              </a:prstGeom>
              <a:blipFill>
                <a:blip r:embed="rId5"/>
                <a:stretch>
                  <a:fillRect l="-205" t="-137736" b="-18867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8ECC4C5-0787-4331-83E0-9B948857A7F0}"/>
                  </a:ext>
                </a:extLst>
              </p:cNvPr>
              <p:cNvSpPr/>
              <p:nvPr/>
            </p:nvSpPr>
            <p:spPr>
              <a:xfrm>
                <a:off x="5618136" y="2117251"/>
                <a:ext cx="5958165" cy="143335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nary>
                          <m:naryPr>
                            <m:chr m:val="∑"/>
                            <m:limLoc m:val="undOvr"/>
                            <m:grow m:val="on"/>
                            <m:supHide m:val="on"/>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naryPr>
                          <m:sub>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𝑓</m:t>
                                </m:r>
                              </m:e>
                              <m:sub>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1</m:t>
                                </m:r>
                              </m:sub>
                            </m:sSub>
                            <m:d>
                              <m:d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dPr>
                              <m:e>
                                <m:sSup>
                                  <m:sSup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p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𝑥</m:t>
                                    </m:r>
                                  </m:e>
                                  <m:sup>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p>
                                </m:sSup>
                              </m:e>
                            </m:d>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m:t>
                            </m:r>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acc>
                                  <m:accPr>
                                    <m:chr m:val="̂"/>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𝑦</m:t>
                                    </m:r>
                                  </m:e>
                                </m:acc>
                              </m:e>
                              <m:sub>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b>
                            </m:sSub>
                          </m:sub>
                          <m:sup/>
                          <m:e>
                            <m:sSubSup>
                              <m:sSubSup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𝑢</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up>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𝑛</m:t>
                                </m:r>
                              </m:sup>
                            </m:sSubSup>
                            <m:sSub>
                              <m:sSub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𝑑</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e>
                        </m:nary>
                        <m:r>
                          <m:rPr>
                            <m:nor/>
                          </m:rPr>
                          <a:rPr kumimoji="0" lang="en-US" altLang="zh-CN" sz="2800" b="0" i="0" u="none" strike="noStrike" kern="1200" cap="none" spc="0" normalizeH="0" baseline="0" noProof="0" dirty="0">
                            <a:ln>
                              <a:noFill/>
                            </a:ln>
                            <a:solidFill>
                              <a:prstClr val="black"/>
                            </a:solidFill>
                            <a:effectLst/>
                            <a:uLnTx/>
                            <a:uFillTx/>
                            <a:latin typeface="Segoe UI"/>
                            <a:ea typeface="微软雅黑"/>
                            <a:cs typeface="+mn-cs"/>
                          </a:rPr>
                          <m:t> + </m:t>
                        </m:r>
                        <m:nary>
                          <m:naryPr>
                            <m:chr m:val="∑"/>
                            <m:limLoc m:val="undOvr"/>
                            <m:grow m:val="on"/>
                            <m:supHide m:val="on"/>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naryPr>
                          <m:sub>
                            <m:sSub>
                              <m:sSub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𝑓</m:t>
                                </m:r>
                              </m:e>
                              <m:sub>
                                <m:r>
                                  <a:rPr kumimoji="0" lang="zh-CN" altLang="en-US" sz="2800" b="0" i="0"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1</m:t>
                                </m:r>
                              </m:sub>
                            </m:sSub>
                            <m:d>
                              <m:d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dPr>
                              <m:e>
                                <m:sSup>
                                  <m:sSup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sSupPr>
                                  <m:e>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𝑥</m:t>
                                    </m:r>
                                  </m:e>
                                  <m:sup>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𝑛</m:t>
                                    </m:r>
                                  </m:sup>
                                </m:sSup>
                              </m:e>
                            </m:d>
                            <m:r>
                              <a:rPr kumimoji="0" lang="en-US" altLang="zh-CN" sz="2800" b="0" i="0"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m:t>
                            </m:r>
                            <m:sSub>
                              <m:sSub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sSubPr>
                              <m:e>
                                <m:acc>
                                  <m:accPr>
                                    <m:chr m:val="̂"/>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𝑦</m:t>
                                    </m:r>
                                  </m:e>
                                </m:acc>
                              </m:e>
                              <m:sub>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𝑛</m:t>
                                </m:r>
                              </m:sub>
                            </m:sSub>
                          </m:sub>
                          <m:sup/>
                          <m:e>
                            <m:sSubSup>
                              <m:sSubSup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𝑢</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up>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𝑛</m:t>
                                </m:r>
                              </m:sup>
                            </m:sSubSup>
                            <m:sSub>
                              <m:sSub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𝑑</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e>
                        </m:nary>
                      </m:num>
                      <m:den>
                        <m:nary>
                          <m:naryPr>
                            <m:chr m:val="∑"/>
                            <m:limLoc m:val="undOvr"/>
                            <m:grow m:val="on"/>
                            <m:supHide m:val="on"/>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naryPr>
                          <m:sub>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𝑓</m:t>
                                </m:r>
                              </m:e>
                              <m:sub>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1</m:t>
                                </m:r>
                              </m:sub>
                            </m:sSub>
                            <m:d>
                              <m:d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dPr>
                              <m:e>
                                <m:sSup>
                                  <m:sSup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p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𝑥</m:t>
                                    </m:r>
                                  </m:e>
                                  <m:sup>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p>
                                </m:sSup>
                              </m:e>
                            </m:d>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m:t>
                            </m:r>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acc>
                                  <m:accPr>
                                    <m:chr m:val="̂"/>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𝑦</m:t>
                                    </m:r>
                                  </m:e>
                                </m:acc>
                              </m:e>
                              <m:sub>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b>
                            </m:sSub>
                          </m:sub>
                          <m:sup/>
                          <m:e>
                            <m:sSubSup>
                              <m:sSubSup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𝑢</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up>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𝑛</m:t>
                                </m:r>
                              </m:sup>
                            </m:sSubSup>
                            <m:sSub>
                              <m:sSub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𝑑</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e>
                        </m:nary>
                      </m:den>
                    </m:f>
                  </m:oMath>
                </a14:m>
                <a:r>
                  <a:rPr kumimoji="0" lang="en-US" altLang="zh-CN" sz="2800" b="0" i="0" u="none" strike="noStrike" kern="1200" cap="none" spc="0" normalizeH="0" baseline="0" noProof="0" dirty="0">
                    <a:ln>
                      <a:noFill/>
                    </a:ln>
                    <a:solidFill>
                      <a:prstClr val="black"/>
                    </a:solidFill>
                    <a:effectLst/>
                    <a:uLnTx/>
                    <a:uFillTx/>
                    <a:latin typeface="Segoe UI"/>
                    <a:ea typeface="微软雅黑"/>
                    <a:cs typeface="+mn-cs"/>
                  </a:rPr>
                  <a:t>=2</a:t>
                </a:r>
                <a:endParaRPr kumimoji="0" lang="zh-CN" altLang="en-US" sz="2800" b="0" i="0" u="none" strike="noStrike" kern="1200" cap="none" spc="0" normalizeH="0" baseline="0" noProof="0" dirty="0">
                  <a:ln>
                    <a:noFill/>
                  </a:ln>
                  <a:solidFill>
                    <a:prstClr val="black"/>
                  </a:solidFill>
                  <a:effectLst/>
                  <a:uLnTx/>
                  <a:uFillTx/>
                  <a:latin typeface="Segoe UI"/>
                  <a:ea typeface="微软雅黑"/>
                  <a:cs typeface="+mn-cs"/>
                </a:endParaRPr>
              </a:p>
            </p:txBody>
          </p:sp>
        </mc:Choice>
        <mc:Fallback xmlns="">
          <p:sp>
            <p:nvSpPr>
              <p:cNvPr id="5" name="矩形 4">
                <a:extLst>
                  <a:ext uri="{FF2B5EF4-FFF2-40B4-BE49-F238E27FC236}">
                    <a16:creationId xmlns:a16="http://schemas.microsoft.com/office/drawing/2014/main" id="{98ECC4C5-0787-4331-83E0-9B948857A7F0}"/>
                  </a:ext>
                </a:extLst>
              </p:cNvPr>
              <p:cNvSpPr>
                <a:spLocks noRot="1" noChangeAspect="1" noMove="1" noResize="1" noEditPoints="1" noAdjustHandles="1" noChangeArrowheads="1" noChangeShapeType="1" noTextEdit="1"/>
              </p:cNvSpPr>
              <p:nvPr/>
            </p:nvSpPr>
            <p:spPr>
              <a:xfrm>
                <a:off x="5618136" y="2117251"/>
                <a:ext cx="5958165" cy="1433351"/>
              </a:xfrm>
              <a:prstGeom prst="rect">
                <a:avLst/>
              </a:prstGeom>
              <a:blipFill>
                <a:blip r:embed="rId6"/>
                <a:stretch>
                  <a:fillRect l="-8298" t="-28070" b="-47368"/>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C7E36D9-D88D-4723-ACEE-AEBBDA2E293D}"/>
                  </a:ext>
                </a:extLst>
              </p:cNvPr>
              <p:cNvSpPr txBox="1"/>
              <p:nvPr/>
            </p:nvSpPr>
            <p:spPr>
              <a:xfrm>
                <a:off x="7768897" y="964404"/>
                <a:ext cx="4621822" cy="830997"/>
              </a:xfrm>
              <a:prstGeom prst="rect">
                <a:avLst/>
              </a:prstGeom>
              <a:noFill/>
            </p:spPr>
            <p:txBody>
              <a:bodyPr wrap="square">
                <a:spAutoFit/>
              </a:bodyPr>
              <a:lstStyle/>
              <a:p>
                <a:r>
                  <a:rPr lang="zh-CN" altLang="en-US" sz="2400" dirty="0"/>
                  <a:t>若</a:t>
                </a:r>
                <a14:m>
                  <m:oMath xmlns:m="http://schemas.openxmlformats.org/officeDocument/2006/math">
                    <m:sSub>
                      <m:sSubPr>
                        <m:ctrlPr>
                          <a:rPr lang="zh-CN" altLang="en-US" sz="2400" i="1" dirty="0" smtClean="0">
                            <a:latin typeface="Cambria Math" panose="02040503050406030204" pitchFamily="18" charset="0"/>
                          </a:rPr>
                        </m:ctrlPr>
                      </m:sSubPr>
                      <m:e>
                        <m:r>
                          <a:rPr lang="zh-CN" altLang="en-US" sz="2400" i="1" dirty="0">
                            <a:latin typeface="Cambria Math" panose="02040503050406030204" pitchFamily="18" charset="0"/>
                          </a:rPr>
                          <m:t>𝑓</m:t>
                        </m:r>
                      </m:e>
                      <m:sub>
                        <m:r>
                          <a:rPr lang="zh-CN" altLang="en-US" sz="2400" dirty="0">
                            <a:latin typeface="Cambria Math" panose="02040503050406030204" pitchFamily="18" charset="0"/>
                          </a:rPr>
                          <m:t>1</m:t>
                        </m:r>
                      </m:sub>
                    </m:sSub>
                    <m:d>
                      <m:dPr>
                        <m:ctrlPr>
                          <a:rPr lang="zh-CN" altLang="en-US" sz="2400" i="1" dirty="0">
                            <a:latin typeface="Cambria Math" panose="02040503050406030204" pitchFamily="18" charset="0"/>
                          </a:rPr>
                        </m:ctrlPr>
                      </m:dPr>
                      <m:e>
                        <m:sSup>
                          <m:sSupPr>
                            <m:ctrlPr>
                              <a:rPr lang="zh-CN" altLang="en-US" sz="2400" i="1" dirty="0">
                                <a:latin typeface="Cambria Math" panose="02040503050406030204" pitchFamily="18" charset="0"/>
                              </a:rPr>
                            </m:ctrlPr>
                          </m:sSupPr>
                          <m:e>
                            <m:r>
                              <a:rPr lang="zh-CN" altLang="en-US" sz="2400" i="1" dirty="0">
                                <a:latin typeface="Cambria Math" panose="02040503050406030204" pitchFamily="18" charset="0"/>
                              </a:rPr>
                              <m:t>𝑥</m:t>
                            </m:r>
                          </m:e>
                          <m:sup>
                            <m:r>
                              <a:rPr lang="zh-CN" altLang="en-US" sz="2400" i="1" dirty="0">
                                <a:latin typeface="Cambria Math" panose="02040503050406030204" pitchFamily="18" charset="0"/>
                              </a:rPr>
                              <m:t>𝑛</m:t>
                            </m:r>
                          </m:sup>
                        </m:sSup>
                      </m:e>
                    </m:d>
                    <m:r>
                      <a:rPr lang="zh-CN" altLang="en-US" sz="2400" dirty="0">
                        <a:latin typeface="Cambria Math" panose="02040503050406030204" pitchFamily="18" charset="0"/>
                      </a:rPr>
                      <m:t>≠</m:t>
                    </m:r>
                    <m:sSub>
                      <m:sSubPr>
                        <m:ctrlPr>
                          <a:rPr lang="zh-CN" altLang="en-US" sz="2400" i="1" dirty="0">
                            <a:latin typeface="Cambria Math" panose="02040503050406030204" pitchFamily="18" charset="0"/>
                          </a:rPr>
                        </m:ctrlPr>
                      </m:sSubPr>
                      <m:e>
                        <m:acc>
                          <m:accPr>
                            <m:chr m:val="̂"/>
                            <m:ctrlPr>
                              <a:rPr lang="zh-CN" altLang="en-US" sz="2400" i="1" dirty="0">
                                <a:latin typeface="Cambria Math" panose="02040503050406030204" pitchFamily="18" charset="0"/>
                              </a:rPr>
                            </m:ctrlPr>
                          </m:accPr>
                          <m:e>
                            <m:r>
                              <a:rPr lang="zh-CN" altLang="en-US" sz="2400" i="1" dirty="0">
                                <a:latin typeface="Cambria Math" panose="02040503050406030204" pitchFamily="18" charset="0"/>
                              </a:rPr>
                              <m:t>𝑦</m:t>
                            </m:r>
                          </m:e>
                        </m:acc>
                      </m:e>
                      <m:sub>
                        <m:r>
                          <a:rPr lang="zh-CN" altLang="en-US" sz="2400" i="1" dirty="0">
                            <a:latin typeface="Cambria Math" panose="02040503050406030204" pitchFamily="18" charset="0"/>
                          </a:rPr>
                          <m:t>𝑛</m:t>
                        </m:r>
                      </m:sub>
                    </m:sSub>
                  </m:oMath>
                </a14:m>
                <a:r>
                  <a:rPr lang="zh-CN" altLang="en-US" sz="2400" dirty="0"/>
                  <a:t>，则</a:t>
                </a:r>
                <a:r>
                  <a:rPr lang="zh-CN" altLang="en-US" sz="2400" dirty="0">
                    <a:solidFill>
                      <a:srgbClr val="836967"/>
                    </a:solidFill>
                  </a:rPr>
                  <a:t> </a:t>
                </a:r>
                <a14:m>
                  <m:oMath xmlns:m="http://schemas.openxmlformats.org/officeDocument/2006/math">
                    <m:sSubSup>
                      <m:sSubSupPr>
                        <m:ctrlPr>
                          <a:rPr lang="zh-CN" altLang="en-US" sz="2400" i="1" dirty="0">
                            <a:solidFill>
                              <a:srgbClr val="836967"/>
                            </a:solidFill>
                            <a:latin typeface="Cambria Math" panose="02040503050406030204" pitchFamily="18" charset="0"/>
                          </a:rPr>
                        </m:ctrlPr>
                      </m:sSubSupPr>
                      <m:e>
                        <m:r>
                          <a:rPr lang="zh-CN" altLang="en-US" sz="2400" i="1" dirty="0">
                            <a:latin typeface="Cambria Math" panose="02040503050406030204" pitchFamily="18" charset="0"/>
                          </a:rPr>
                          <m:t>𝑢</m:t>
                        </m:r>
                      </m:e>
                      <m:sub>
                        <m:r>
                          <a:rPr lang="en-US" altLang="zh-CN" sz="2400" dirty="0">
                            <a:latin typeface="Cambria Math" panose="02040503050406030204" pitchFamily="18" charset="0"/>
                          </a:rPr>
                          <m:t>2</m:t>
                        </m:r>
                      </m:sub>
                      <m:sup>
                        <m:r>
                          <a:rPr lang="zh-CN" altLang="en-US" sz="2400" i="1" dirty="0">
                            <a:latin typeface="Cambria Math" panose="02040503050406030204" pitchFamily="18" charset="0"/>
                          </a:rPr>
                          <m:t>𝑛</m:t>
                        </m:r>
                      </m:sup>
                    </m:sSubSup>
                    <m:r>
                      <a:rPr lang="en-US" altLang="zh-CN" sz="2400" b="0" i="0" dirty="0" smtClean="0">
                        <a:latin typeface="Cambria Math" panose="02040503050406030204" pitchFamily="18" charset="0"/>
                      </a:rPr>
                      <m:t>=</m:t>
                    </m:r>
                  </m:oMath>
                </a14:m>
                <a:r>
                  <a:rPr lang="zh-CN" altLang="en-US" sz="2400" dirty="0"/>
                  <a:t> </a:t>
                </a:r>
                <a14:m>
                  <m:oMath xmlns:m="http://schemas.openxmlformats.org/officeDocument/2006/math">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sSub>
                      <m:sSubPr>
                        <m:ctrlPr>
                          <a:rPr lang="zh-CN" altLang="en-US" sz="2400" i="1" dirty="0">
                            <a:latin typeface="Cambria Math" panose="02040503050406030204" pitchFamily="18" charset="0"/>
                          </a:rPr>
                        </m:ctrlPr>
                      </m:sSubPr>
                      <m:e>
                        <m:r>
                          <a:rPr lang="zh-CN" altLang="en-US" sz="2400" i="1" dirty="0">
                            <a:latin typeface="Cambria Math" panose="02040503050406030204" pitchFamily="18" charset="0"/>
                          </a:rPr>
                          <m:t>𝑑</m:t>
                        </m:r>
                      </m:e>
                      <m:sub>
                        <m:r>
                          <a:rPr lang="zh-CN" altLang="en-US" sz="2400" dirty="0">
                            <a:latin typeface="Cambria Math" panose="02040503050406030204" pitchFamily="18" charset="0"/>
                          </a:rPr>
                          <m:t>1</m:t>
                        </m:r>
                      </m:sub>
                    </m:sSub>
                  </m:oMath>
                </a14:m>
                <a:endParaRPr lang="en-US" altLang="zh-CN" sz="2400" dirty="0"/>
              </a:p>
              <a:p>
                <a:r>
                  <a:rPr lang="zh-CN" altLang="en-US" sz="2400" dirty="0">
                    <a:solidFill>
                      <a:schemeClr val="tx1"/>
                    </a:solidFill>
                  </a:rPr>
                  <a:t>若</a:t>
                </a:r>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zh-CN" altLang="en-US" sz="2400" i="1" dirty="0">
                            <a:solidFill>
                              <a:schemeClr val="tx1"/>
                            </a:solidFill>
                            <a:latin typeface="Cambria Math" panose="02040503050406030204" pitchFamily="18" charset="0"/>
                          </a:rPr>
                          <m:t>𝑓</m:t>
                        </m:r>
                      </m:e>
                      <m:sub>
                        <m:r>
                          <a:rPr lang="zh-CN" altLang="en-US" sz="2400" dirty="0">
                            <a:solidFill>
                              <a:schemeClr val="tx1"/>
                            </a:solidFill>
                            <a:latin typeface="Cambria Math" panose="02040503050406030204" pitchFamily="18" charset="0"/>
                          </a:rPr>
                          <m:t>1</m:t>
                        </m:r>
                      </m:sub>
                    </m:sSub>
                    <m:d>
                      <m:dPr>
                        <m:ctrlPr>
                          <a:rPr lang="zh-CN" altLang="en-US" sz="2400" i="1" dirty="0">
                            <a:solidFill>
                              <a:schemeClr val="tx1"/>
                            </a:solidFill>
                            <a:latin typeface="Cambria Math" panose="02040503050406030204" pitchFamily="18" charset="0"/>
                          </a:rPr>
                        </m:ctrlPr>
                      </m:dPr>
                      <m:e>
                        <m:sSup>
                          <m:sSupPr>
                            <m:ctrlPr>
                              <a:rPr lang="zh-CN" altLang="en-US" sz="2400" i="1" dirty="0">
                                <a:solidFill>
                                  <a:schemeClr val="tx1"/>
                                </a:solidFill>
                                <a:latin typeface="Cambria Math" panose="02040503050406030204" pitchFamily="18" charset="0"/>
                              </a:rPr>
                            </m:ctrlPr>
                          </m:sSupPr>
                          <m:e>
                            <m:r>
                              <a:rPr lang="zh-CN" altLang="en-US" sz="2400" i="1" dirty="0">
                                <a:solidFill>
                                  <a:schemeClr val="tx1"/>
                                </a:solidFill>
                                <a:latin typeface="Cambria Math" panose="02040503050406030204" pitchFamily="18" charset="0"/>
                              </a:rPr>
                              <m:t>𝑥</m:t>
                            </m:r>
                          </m:e>
                          <m:sup>
                            <m:r>
                              <a:rPr lang="zh-CN" altLang="en-US" sz="2400" i="1" dirty="0">
                                <a:solidFill>
                                  <a:schemeClr val="tx1"/>
                                </a:solidFill>
                                <a:latin typeface="Cambria Math" panose="02040503050406030204" pitchFamily="18" charset="0"/>
                              </a:rPr>
                              <m:t>𝑛</m:t>
                            </m:r>
                          </m:sup>
                        </m:sSup>
                      </m:e>
                    </m:d>
                    <m:r>
                      <a:rPr lang="en-US" altLang="zh-CN" sz="2400" b="0" i="0" dirty="0" smtClean="0">
                        <a:solidFill>
                          <a:schemeClr val="tx1"/>
                        </a:solidFill>
                        <a:latin typeface="Cambria Math" panose="02040503050406030204" pitchFamily="18" charset="0"/>
                      </a:rPr>
                      <m:t>=</m:t>
                    </m:r>
                    <m:sSub>
                      <m:sSubPr>
                        <m:ctrlPr>
                          <a:rPr lang="zh-CN" altLang="en-US" sz="2400" i="1" dirty="0">
                            <a:solidFill>
                              <a:schemeClr val="tx1"/>
                            </a:solidFill>
                            <a:latin typeface="Cambria Math" panose="02040503050406030204" pitchFamily="18" charset="0"/>
                          </a:rPr>
                        </m:ctrlPr>
                      </m:sSubPr>
                      <m:e>
                        <m:acc>
                          <m:accPr>
                            <m:chr m:val="̂"/>
                            <m:ctrlPr>
                              <a:rPr lang="zh-CN" altLang="en-US" sz="2400" i="1" dirty="0">
                                <a:solidFill>
                                  <a:schemeClr val="tx1"/>
                                </a:solidFill>
                                <a:latin typeface="Cambria Math" panose="02040503050406030204" pitchFamily="18" charset="0"/>
                              </a:rPr>
                            </m:ctrlPr>
                          </m:accPr>
                          <m:e>
                            <m:r>
                              <a:rPr lang="zh-CN" altLang="en-US" sz="2400" i="1" dirty="0">
                                <a:solidFill>
                                  <a:schemeClr val="tx1"/>
                                </a:solidFill>
                                <a:latin typeface="Cambria Math" panose="02040503050406030204" pitchFamily="18" charset="0"/>
                              </a:rPr>
                              <m:t>𝑦</m:t>
                            </m:r>
                          </m:e>
                        </m:acc>
                      </m:e>
                      <m:sub>
                        <m:r>
                          <a:rPr lang="zh-CN" altLang="en-US" sz="2400" i="1" dirty="0">
                            <a:solidFill>
                              <a:schemeClr val="tx1"/>
                            </a:solidFill>
                            <a:latin typeface="Cambria Math" panose="02040503050406030204" pitchFamily="18" charset="0"/>
                          </a:rPr>
                          <m:t>𝑛</m:t>
                        </m:r>
                      </m:sub>
                    </m:sSub>
                  </m:oMath>
                </a14:m>
                <a:r>
                  <a:rPr lang="zh-CN" altLang="en-US" sz="2400" dirty="0">
                    <a:solidFill>
                      <a:schemeClr val="tx1"/>
                    </a:solidFill>
                  </a:rPr>
                  <a:t>，</a:t>
                </a:r>
                <a:r>
                  <a:rPr lang="zh-CN" altLang="en-US" sz="2400" dirty="0"/>
                  <a:t>则</a:t>
                </a:r>
                <a:r>
                  <a:rPr lang="zh-CN" altLang="en-US" sz="2400" dirty="0">
                    <a:solidFill>
                      <a:srgbClr val="836967"/>
                    </a:solidFill>
                  </a:rPr>
                  <a:t> </a:t>
                </a:r>
                <a14:m>
                  <m:oMath xmlns:m="http://schemas.openxmlformats.org/officeDocument/2006/math">
                    <m:sSubSup>
                      <m:sSubSupPr>
                        <m:ctrlPr>
                          <a:rPr lang="zh-CN" altLang="en-US" sz="2400" i="1" dirty="0">
                            <a:solidFill>
                              <a:srgbClr val="836967"/>
                            </a:solidFill>
                            <a:latin typeface="Cambria Math" panose="02040503050406030204" pitchFamily="18" charset="0"/>
                          </a:rPr>
                        </m:ctrlPr>
                      </m:sSubSupPr>
                      <m:e>
                        <m:r>
                          <a:rPr lang="zh-CN" altLang="en-US" sz="2400" i="1" dirty="0">
                            <a:latin typeface="Cambria Math" panose="02040503050406030204" pitchFamily="18" charset="0"/>
                          </a:rPr>
                          <m:t>𝑢</m:t>
                        </m:r>
                      </m:e>
                      <m:sub>
                        <m:r>
                          <a:rPr lang="en-US" altLang="zh-CN" sz="2400" dirty="0">
                            <a:latin typeface="Cambria Math" panose="02040503050406030204" pitchFamily="18" charset="0"/>
                          </a:rPr>
                          <m:t>2</m:t>
                        </m:r>
                      </m:sub>
                      <m:sup>
                        <m:r>
                          <a:rPr lang="zh-CN" altLang="en-US" sz="2400" i="1" dirty="0">
                            <a:latin typeface="Cambria Math" panose="02040503050406030204" pitchFamily="18" charset="0"/>
                          </a:rPr>
                          <m:t>𝑛</m:t>
                        </m:r>
                      </m:sup>
                    </m:sSubSup>
                    <m:r>
                      <a:rPr lang="en-US" altLang="zh-CN" sz="2400" dirty="0">
                        <a:latin typeface="Cambria Math" panose="02040503050406030204" pitchFamily="18" charset="0"/>
                      </a:rPr>
                      <m:t>=</m:t>
                    </m:r>
                  </m:oMath>
                </a14:m>
                <a:r>
                  <a:rPr lang="zh-CN" altLang="en-US" sz="2400" dirty="0"/>
                  <a:t> </a:t>
                </a:r>
                <a14:m>
                  <m:oMath xmlns:m="http://schemas.openxmlformats.org/officeDocument/2006/math">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m:t>
                        </m:r>
                        <m:r>
                          <a:rPr lang="zh-CN" altLang="en-US" sz="2400" i="1" dirty="0">
                            <a:latin typeface="Cambria Math" panose="02040503050406030204" pitchFamily="18" charset="0"/>
                          </a:rPr>
                          <m:t>𝑑</m:t>
                        </m:r>
                      </m:e>
                      <m:sub>
                        <m:r>
                          <a:rPr lang="zh-CN" altLang="en-US" sz="2400" dirty="0">
                            <a:latin typeface="Cambria Math" panose="02040503050406030204" pitchFamily="18" charset="0"/>
                          </a:rPr>
                          <m:t>1</m:t>
                        </m:r>
                      </m:sub>
                    </m:sSub>
                  </m:oMath>
                </a14:m>
                <a:endParaRPr lang="zh-CN" altLang="en-US" sz="2400" dirty="0">
                  <a:solidFill>
                    <a:schemeClr val="tx1"/>
                  </a:solidFill>
                </a:endParaRPr>
              </a:p>
            </p:txBody>
          </p:sp>
        </mc:Choice>
        <mc:Fallback xmlns="">
          <p:sp>
            <p:nvSpPr>
              <p:cNvPr id="11" name="文本框 10">
                <a:extLst>
                  <a:ext uri="{FF2B5EF4-FFF2-40B4-BE49-F238E27FC236}">
                    <a16:creationId xmlns:a16="http://schemas.microsoft.com/office/drawing/2014/main" id="{DC7E36D9-D88D-4723-ACEE-AEBBDA2E293D}"/>
                  </a:ext>
                </a:extLst>
              </p:cNvPr>
              <p:cNvSpPr txBox="1">
                <a:spLocks noRot="1" noChangeAspect="1" noMove="1" noResize="1" noEditPoints="1" noAdjustHandles="1" noChangeArrowheads="1" noChangeShapeType="1" noTextEdit="1"/>
              </p:cNvSpPr>
              <p:nvPr/>
            </p:nvSpPr>
            <p:spPr>
              <a:xfrm>
                <a:off x="7768897" y="964404"/>
                <a:ext cx="4621822" cy="830997"/>
              </a:xfrm>
              <a:prstGeom prst="rect">
                <a:avLst/>
              </a:prstGeom>
              <a:blipFill>
                <a:blip r:embed="rId7"/>
                <a:stretch>
                  <a:fillRect l="-1976" t="-5839" b="-153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8">
                <a:extLst>
                  <a:ext uri="{FF2B5EF4-FFF2-40B4-BE49-F238E27FC236}">
                    <a16:creationId xmlns:a16="http://schemas.microsoft.com/office/drawing/2014/main" id="{AE4C312D-C319-399C-39CC-9ED0391370C5}"/>
                  </a:ext>
                </a:extLst>
              </p:cNvPr>
              <p:cNvSpPr txBox="1"/>
              <p:nvPr/>
            </p:nvSpPr>
            <p:spPr>
              <a:xfrm>
                <a:off x="917752" y="3751573"/>
                <a:ext cx="3380690" cy="1092671"/>
              </a:xfrm>
              <a:prstGeom prst="rect">
                <a:avLst/>
              </a:prstGeom>
              <a:noFill/>
            </p:spPr>
            <p:txBody>
              <a:bodyPr wrap="square">
                <a:spAutoFit/>
              </a:bodyPr>
              <a:lstStyle/>
              <a:p>
                <a14:m>
                  <m:oMath xmlns:m="http://schemas.openxmlformats.org/officeDocument/2006/math">
                    <m:r>
                      <a:rPr lang="en-US" altLang="zh-CN" sz="2800" i="1" dirty="0" smtClean="0">
                        <a:latin typeface="Cambria Math" panose="02040503050406030204" pitchFamily="18" charset="0"/>
                      </a:rPr>
                      <m:t>=</m:t>
                    </m:r>
                    <m:nary>
                      <m:naryPr>
                        <m:chr m:val="∑"/>
                        <m:limLoc m:val="undOvr"/>
                        <m:grow m:val="on"/>
                        <m:supHide m:val="on"/>
                        <m:ctrlPr>
                          <a:rPr lang="zh-CN" altLang="en-US" sz="2800" i="1" dirty="0" smtClean="0">
                            <a:solidFill>
                              <a:schemeClr val="tx1"/>
                            </a:solidFill>
                            <a:latin typeface="Cambria Math" panose="02040503050406030204" pitchFamily="18" charset="0"/>
                          </a:rPr>
                        </m:ctrlPr>
                      </m:naryPr>
                      <m:sub>
                        <m:sSub>
                          <m:sSubPr>
                            <m:ctrlPr>
                              <a:rPr lang="zh-CN" altLang="en-US" sz="2800" i="1" dirty="0" smtClean="0">
                                <a:solidFill>
                                  <a:srgbClr val="FF0000"/>
                                </a:solidFill>
                                <a:latin typeface="Cambria Math" panose="02040503050406030204" pitchFamily="18" charset="0"/>
                              </a:rPr>
                            </m:ctrlPr>
                          </m:sSubPr>
                          <m:e>
                            <m:r>
                              <a:rPr lang="zh-CN" altLang="en-US" sz="2800" i="1" dirty="0" smtClean="0">
                                <a:solidFill>
                                  <a:srgbClr val="FF0000"/>
                                </a:solidFill>
                                <a:latin typeface="Cambria Math" panose="02040503050406030204" pitchFamily="18" charset="0"/>
                              </a:rPr>
                              <m:t>𝑓</m:t>
                            </m:r>
                          </m:e>
                          <m:sub>
                            <m:r>
                              <a:rPr lang="zh-CN" altLang="en-US" sz="2800" i="0" dirty="0" smtClean="0">
                                <a:solidFill>
                                  <a:srgbClr val="FF0000"/>
                                </a:solidFill>
                                <a:latin typeface="Cambria Math" panose="02040503050406030204" pitchFamily="18" charset="0"/>
                              </a:rPr>
                              <m:t>1</m:t>
                            </m:r>
                          </m:sub>
                        </m:sSub>
                        <m:d>
                          <m:dPr>
                            <m:ctrlPr>
                              <a:rPr lang="zh-CN" altLang="en-US" sz="2800" i="1" dirty="0" smtClean="0">
                                <a:solidFill>
                                  <a:srgbClr val="FF0000"/>
                                </a:solidFill>
                                <a:latin typeface="Cambria Math" panose="02040503050406030204" pitchFamily="18" charset="0"/>
                              </a:rPr>
                            </m:ctrlPr>
                          </m:dPr>
                          <m:e>
                            <m:sSup>
                              <m:sSupPr>
                                <m:ctrlPr>
                                  <a:rPr lang="zh-CN" altLang="en-US" sz="2800" i="1" dirty="0" smtClean="0">
                                    <a:solidFill>
                                      <a:srgbClr val="FF0000"/>
                                    </a:solidFill>
                                    <a:latin typeface="Cambria Math" panose="02040503050406030204" pitchFamily="18" charset="0"/>
                                  </a:rPr>
                                </m:ctrlPr>
                              </m:sSupPr>
                              <m:e>
                                <m:r>
                                  <a:rPr lang="zh-CN" altLang="en-US" sz="2800" i="1" dirty="0" smtClean="0">
                                    <a:solidFill>
                                      <a:srgbClr val="FF0000"/>
                                    </a:solidFill>
                                    <a:latin typeface="Cambria Math" panose="02040503050406030204" pitchFamily="18" charset="0"/>
                                  </a:rPr>
                                  <m:t>𝑥</m:t>
                                </m:r>
                              </m:e>
                              <m:sup>
                                <m:r>
                                  <a:rPr lang="zh-CN" altLang="en-US" sz="2800" i="1" dirty="0" smtClean="0">
                                    <a:solidFill>
                                      <a:srgbClr val="FF0000"/>
                                    </a:solidFill>
                                    <a:latin typeface="Cambria Math" panose="02040503050406030204" pitchFamily="18" charset="0"/>
                                  </a:rPr>
                                  <m:t>𝑛</m:t>
                                </m:r>
                              </m:sup>
                            </m:sSup>
                          </m:e>
                        </m:d>
                        <m:r>
                          <a:rPr lang="zh-CN" altLang="en-US" sz="2800" i="0" dirty="0" smtClean="0">
                            <a:solidFill>
                              <a:srgbClr val="FF0000"/>
                            </a:solidFill>
                            <a:latin typeface="Cambria Math" panose="02040503050406030204" pitchFamily="18" charset="0"/>
                          </a:rPr>
                          <m:t>≠</m:t>
                        </m:r>
                        <m:sSub>
                          <m:sSubPr>
                            <m:ctrlPr>
                              <a:rPr lang="zh-CN" altLang="en-US" sz="2800" i="1" dirty="0" smtClean="0">
                                <a:solidFill>
                                  <a:srgbClr val="FF0000"/>
                                </a:solidFill>
                                <a:latin typeface="Cambria Math" panose="02040503050406030204" pitchFamily="18" charset="0"/>
                              </a:rPr>
                            </m:ctrlPr>
                          </m:sSubPr>
                          <m:e>
                            <m:acc>
                              <m:accPr>
                                <m:chr m:val="̂"/>
                                <m:ctrlPr>
                                  <a:rPr lang="zh-CN" altLang="en-US" sz="2800" i="1" dirty="0" smtClean="0">
                                    <a:solidFill>
                                      <a:srgbClr val="FF0000"/>
                                    </a:solidFill>
                                    <a:latin typeface="Cambria Math" panose="02040503050406030204" pitchFamily="18" charset="0"/>
                                  </a:rPr>
                                </m:ctrlPr>
                              </m:accPr>
                              <m:e>
                                <m:r>
                                  <a:rPr lang="zh-CN" altLang="en-US" sz="2800" i="1" dirty="0" smtClean="0">
                                    <a:solidFill>
                                      <a:srgbClr val="FF0000"/>
                                    </a:solidFill>
                                    <a:latin typeface="Cambria Math" panose="02040503050406030204" pitchFamily="18" charset="0"/>
                                  </a:rPr>
                                  <m:t>𝑦</m:t>
                                </m:r>
                              </m:e>
                            </m:acc>
                          </m:e>
                          <m:sub>
                            <m:r>
                              <a:rPr lang="zh-CN" altLang="en-US" sz="2800" i="1" dirty="0" smtClean="0">
                                <a:solidFill>
                                  <a:srgbClr val="FF0000"/>
                                </a:solidFill>
                                <a:latin typeface="Cambria Math" panose="02040503050406030204" pitchFamily="18" charset="0"/>
                              </a:rPr>
                              <m:t>𝑛</m:t>
                            </m:r>
                          </m:sub>
                        </m:sSub>
                      </m:sub>
                      <m:sup/>
                      <m:e>
                        <m:sSubSup>
                          <m:sSubSupPr>
                            <m:ctrlPr>
                              <a:rPr lang="zh-CN" altLang="en-US" sz="2800" i="1" dirty="0" smtClean="0">
                                <a:solidFill>
                                  <a:schemeClr val="tx1"/>
                                </a:solidFill>
                                <a:latin typeface="Cambria Math" panose="02040503050406030204" pitchFamily="18" charset="0"/>
                              </a:rPr>
                            </m:ctrlPr>
                          </m:sSubSupPr>
                          <m:e>
                            <m:r>
                              <a:rPr lang="zh-CN" altLang="en-US" sz="2800" i="1" dirty="0" smtClean="0">
                                <a:solidFill>
                                  <a:schemeClr val="tx1"/>
                                </a:solidFill>
                                <a:latin typeface="Cambria Math" panose="02040503050406030204" pitchFamily="18" charset="0"/>
                              </a:rPr>
                              <m:t>𝑢</m:t>
                            </m:r>
                          </m:e>
                          <m:sub>
                            <m:r>
                              <a:rPr lang="zh-CN" altLang="en-US" sz="2800" i="0" dirty="0" smtClean="0">
                                <a:solidFill>
                                  <a:schemeClr val="tx1"/>
                                </a:solidFill>
                                <a:latin typeface="Cambria Math" panose="02040503050406030204" pitchFamily="18" charset="0"/>
                              </a:rPr>
                              <m:t>1</m:t>
                            </m:r>
                          </m:sub>
                          <m:sup>
                            <m:r>
                              <a:rPr lang="zh-CN" altLang="en-US" sz="2800" i="1" dirty="0" smtClean="0">
                                <a:solidFill>
                                  <a:schemeClr val="tx1"/>
                                </a:solidFill>
                                <a:latin typeface="Cambria Math" panose="02040503050406030204" pitchFamily="18" charset="0"/>
                              </a:rPr>
                              <m:t>𝑛</m:t>
                            </m:r>
                          </m:sup>
                        </m:sSubSup>
                        <m:sSub>
                          <m:sSubPr>
                            <m:ctrlPr>
                              <a:rPr lang="zh-CN" altLang="en-US" sz="2800" i="1" dirty="0" smtClean="0">
                                <a:solidFill>
                                  <a:schemeClr val="tx1"/>
                                </a:solidFill>
                                <a:latin typeface="Cambria Math" panose="02040503050406030204" pitchFamily="18" charset="0"/>
                              </a:rPr>
                            </m:ctrlPr>
                          </m:sSubPr>
                          <m:e>
                            <m:r>
                              <a:rPr lang="zh-CN" altLang="en-US" sz="2800" i="1" dirty="0" smtClean="0">
                                <a:solidFill>
                                  <a:schemeClr val="tx1"/>
                                </a:solidFill>
                                <a:latin typeface="Cambria Math" panose="02040503050406030204" pitchFamily="18" charset="0"/>
                              </a:rPr>
                              <m:t>𝑑</m:t>
                            </m:r>
                          </m:e>
                          <m:sub>
                            <m:r>
                              <a:rPr lang="zh-CN" altLang="en-US" sz="2800" i="0" dirty="0" smtClean="0">
                                <a:solidFill>
                                  <a:schemeClr val="tx1"/>
                                </a:solidFill>
                                <a:latin typeface="Cambria Math" panose="02040503050406030204" pitchFamily="18" charset="0"/>
                              </a:rPr>
                              <m:t>1</m:t>
                            </m:r>
                          </m:sub>
                        </m:sSub>
                      </m:e>
                    </m:nary>
                  </m:oMath>
                </a14:m>
                <a:r>
                  <a:rPr lang="en-US" altLang="zh-CN" sz="2800" dirty="0">
                    <a:solidFill>
                      <a:schemeClr val="tx1"/>
                    </a:solidFill>
                  </a:rPr>
                  <a:t>    </a:t>
                </a:r>
              </a:p>
              <a:p>
                <a:endParaRPr lang="en-US" altLang="zh-CN" sz="2800" dirty="0">
                  <a:solidFill>
                    <a:schemeClr val="tx1"/>
                  </a:solidFill>
                </a:endParaRPr>
              </a:p>
            </p:txBody>
          </p:sp>
        </mc:Choice>
        <mc:Fallback xmlns="">
          <p:sp>
            <p:nvSpPr>
              <p:cNvPr id="3" name="文本框 8">
                <a:extLst>
                  <a:ext uri="{FF2B5EF4-FFF2-40B4-BE49-F238E27FC236}">
                    <a16:creationId xmlns:a16="http://schemas.microsoft.com/office/drawing/2014/main" id="{AE4C312D-C319-399C-39CC-9ED0391370C5}"/>
                  </a:ext>
                </a:extLst>
              </p:cNvPr>
              <p:cNvSpPr txBox="1">
                <a:spLocks noRot="1" noChangeAspect="1" noMove="1" noResize="1" noEditPoints="1" noAdjustHandles="1" noChangeArrowheads="1" noChangeShapeType="1" noTextEdit="1"/>
              </p:cNvSpPr>
              <p:nvPr/>
            </p:nvSpPr>
            <p:spPr>
              <a:xfrm>
                <a:off x="917752" y="3751573"/>
                <a:ext cx="3380690" cy="1092671"/>
              </a:xfrm>
              <a:prstGeom prst="rect">
                <a:avLst/>
              </a:prstGeom>
              <a:blipFill>
                <a:blip r:embed="rId8"/>
                <a:stretch>
                  <a:fillRect l="-10861" t="-83908" b="-75862"/>
                </a:stretch>
              </a:blipFill>
            </p:spPr>
            <p:txBody>
              <a:bodyPr/>
              <a:lstStyle/>
              <a:p>
                <a:r>
                  <a:rPr lang="en-CN">
                    <a:noFill/>
                  </a:rPr>
                  <a:t> </a:t>
                </a:r>
              </a:p>
            </p:txBody>
          </p:sp>
        </mc:Fallback>
      </mc:AlternateContent>
      <p:sp>
        <p:nvSpPr>
          <p:cNvPr id="7" name="Rectangle 6">
            <a:extLst>
              <a:ext uri="{FF2B5EF4-FFF2-40B4-BE49-F238E27FC236}">
                <a16:creationId xmlns:a16="http://schemas.microsoft.com/office/drawing/2014/main" id="{DE4631AF-81FF-4835-12C9-698BB902A5A7}"/>
              </a:ext>
            </a:extLst>
          </p:cNvPr>
          <p:cNvSpPr/>
          <p:nvPr/>
        </p:nvSpPr>
        <p:spPr>
          <a:xfrm>
            <a:off x="566962" y="2523608"/>
            <a:ext cx="3710070" cy="522635"/>
          </a:xfrm>
          <a:prstGeom prst="rect">
            <a:avLst/>
          </a:prstGeom>
          <a:noFill/>
          <a:ln w="793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3" name="Curved Connector 12">
            <a:extLst>
              <a:ext uri="{FF2B5EF4-FFF2-40B4-BE49-F238E27FC236}">
                <a16:creationId xmlns:a16="http://schemas.microsoft.com/office/drawing/2014/main" id="{A61C9E1B-8CFC-7AD5-3AF7-FA587CEB51C1}"/>
              </a:ext>
            </a:extLst>
          </p:cNvPr>
          <p:cNvCxnSpPr>
            <a:cxnSpLocks/>
          </p:cNvCxnSpPr>
          <p:nvPr/>
        </p:nvCxnSpPr>
        <p:spPr>
          <a:xfrm rot="10800000" flipH="1" flipV="1">
            <a:off x="537577" y="2621806"/>
            <a:ext cx="380174" cy="1472268"/>
          </a:xfrm>
          <a:prstGeom prst="curvedConnector4">
            <a:avLst>
              <a:gd name="adj1" fmla="val -60130"/>
              <a:gd name="adj2" fmla="val 101574"/>
            </a:avLst>
          </a:prstGeom>
          <a:ln w="666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46974" y="759901"/>
            <a:ext cx="2348720" cy="461665"/>
          </a:xfrm>
          <a:prstGeom prst="rect">
            <a:avLst/>
          </a:prstGeom>
        </p:spPr>
        <p:txBody>
          <a:bodyPr wrap="none">
            <a:spAutoFit/>
          </a:bodyPr>
          <a:lstStyle/>
          <a:p>
            <a:r>
              <a:rPr lang="en-US" altLang="zh-CN" sz="2400" b="1" dirty="0">
                <a:solidFill>
                  <a:srgbClr val="FF0000"/>
                </a:solidFill>
                <a:latin typeface="+mn-ea"/>
              </a:rPr>
              <a:t>d</a:t>
            </a:r>
            <a:r>
              <a:rPr lang="en-US" altLang="zh-CN" sz="2400" b="1" baseline="-25000" dirty="0">
                <a:solidFill>
                  <a:srgbClr val="FF0000"/>
                </a:solidFill>
                <a:latin typeface="+mn-ea"/>
              </a:rPr>
              <a:t>1</a:t>
            </a:r>
            <a:r>
              <a:rPr lang="zh-CN" altLang="en-US" sz="2400" b="1" dirty="0">
                <a:solidFill>
                  <a:srgbClr val="FF0000"/>
                </a:solidFill>
                <a:latin typeface="+mn-ea"/>
              </a:rPr>
              <a:t>的值是什么？</a:t>
            </a:r>
            <a:endParaRPr lang="en-US" altLang="zh-CN" sz="2400" b="1" dirty="0">
              <a:solidFill>
                <a:srgbClr val="FF0000"/>
              </a:solidFill>
              <a:latin typeface="+mn-ea"/>
            </a:endParaRPr>
          </a:p>
        </p:txBody>
      </p:sp>
      <p:sp>
        <p:nvSpPr>
          <p:cNvPr id="10" name="灯片编号占位符 9">
            <a:extLst>
              <a:ext uri="{FF2B5EF4-FFF2-40B4-BE49-F238E27FC236}">
                <a16:creationId xmlns:a16="http://schemas.microsoft.com/office/drawing/2014/main" id="{8454711E-D632-49BA-B467-894C2BC6BCA5}"/>
              </a:ext>
            </a:extLst>
          </p:cNvPr>
          <p:cNvSpPr>
            <a:spLocks noGrp="1"/>
          </p:cNvSpPr>
          <p:nvPr>
            <p:ph type="sldNum" sz="quarter" idx="14"/>
          </p:nvPr>
        </p:nvSpPr>
        <p:spPr/>
        <p:txBody>
          <a:bodyPr/>
          <a:lstStyle/>
          <a:p>
            <a:fld id="{AF69888C-E133-43D9-A638-B5C95925B91C}" type="slidenum">
              <a:rPr lang="zh-CN" altLang="en-US" smtClean="0"/>
              <a:t>32</a:t>
            </a:fld>
            <a:endParaRPr lang="zh-CN" altLang="en-US" dirty="0"/>
          </a:p>
        </p:txBody>
      </p:sp>
    </p:spTree>
    <p:extLst>
      <p:ext uri="{BB962C8B-B14F-4D97-AF65-F5344CB8AC3E}">
        <p14:creationId xmlns:p14="http://schemas.microsoft.com/office/powerpoint/2010/main" val="218806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par>
                                <p:cTn id="28" presetID="3" presetClass="entr" presetSubtype="1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fade">
                                      <p:cBhvr>
                                        <p:cTn id="35" dur="500"/>
                                        <p:tgtEl>
                                          <p:spTgt spid="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500"/>
                                        <p:tgtEl>
                                          <p:spTgt spid="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fade">
                                      <p:cBhvr>
                                        <p:cTn id="4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P spid="6" grpId="0"/>
      <p:bldP spid="5" grpId="0" animBg="1"/>
      <p:bldP spid="11" grpId="0"/>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文本框 11">
                <a:extLst>
                  <a:ext uri="{FF2B5EF4-FFF2-40B4-BE49-F238E27FC236}">
                    <a16:creationId xmlns:a16="http://schemas.microsoft.com/office/drawing/2014/main" id="{1D979027-1D0B-883F-F9C5-E76532EAFED8}"/>
                  </a:ext>
                </a:extLst>
              </p:cNvPr>
              <p:cNvSpPr txBox="1"/>
              <p:nvPr/>
            </p:nvSpPr>
            <p:spPr>
              <a:xfrm>
                <a:off x="6430297" y="3641276"/>
                <a:ext cx="5577218" cy="659668"/>
              </a:xfrm>
              <a:prstGeom prst="rect">
                <a:avLst/>
              </a:prstGeom>
              <a:noFill/>
            </p:spPr>
            <p:txBody>
              <a:bodyPr wrap="square">
                <a:spAutoFit/>
              </a:bodyPr>
              <a:lstStyle/>
              <a:p>
                <a14:m>
                  <m:oMath xmlns:m="http://schemas.openxmlformats.org/officeDocument/2006/math">
                    <m:f>
                      <m:fPr>
                        <m:ctrlPr>
                          <a:rPr lang="en-US" altLang="zh-CN" sz="2400" i="1" dirty="0" smtClean="0">
                            <a:latin typeface="Cambria Math" panose="02040503050406030204" pitchFamily="18" charset="0"/>
                          </a:rPr>
                        </m:ctrlPr>
                      </m:fPr>
                      <m:num>
                        <m:r>
                          <a:rPr lang="en-US" altLang="zh-CN" sz="2400" b="0" i="1" dirty="0" smtClean="0">
                            <a:latin typeface="Cambria Math" panose="02040503050406030204" pitchFamily="18" charset="0"/>
                          </a:rPr>
                          <m:t>1</m:t>
                        </m:r>
                      </m:num>
                      <m:den>
                        <m:sSub>
                          <m:sSubPr>
                            <m:ctrlPr>
                              <a:rPr lang="zh-CN" altLang="en-US" sz="2400" i="1" dirty="0">
                                <a:latin typeface="Cambria Math" panose="02040503050406030204" pitchFamily="18" charset="0"/>
                              </a:rPr>
                            </m:ctrlPr>
                          </m:sSubPr>
                          <m:e>
                            <m:r>
                              <a:rPr lang="zh-CN" altLang="en-US" sz="2400" i="1" dirty="0">
                                <a:latin typeface="Cambria Math" panose="02040503050406030204" pitchFamily="18" charset="0"/>
                              </a:rPr>
                              <m:t>𝑑</m:t>
                            </m:r>
                          </m:e>
                          <m:sub>
                            <m:r>
                              <a:rPr lang="zh-CN" altLang="en-US" sz="2400" dirty="0">
                                <a:latin typeface="Cambria Math" panose="02040503050406030204" pitchFamily="18" charset="0"/>
                              </a:rPr>
                              <m:t>1</m:t>
                            </m:r>
                          </m:sub>
                        </m:sSub>
                      </m:den>
                    </m:f>
                  </m:oMath>
                </a14:m>
                <a:r>
                  <a:rPr lang="zh-CN" altLang="en-US" sz="2400" dirty="0"/>
                  <a:t>  </a:t>
                </a:r>
                <a14:m>
                  <m:oMath xmlns:m="http://schemas.openxmlformats.org/officeDocument/2006/math">
                    <m:nary>
                      <m:naryPr>
                        <m:chr m:val="∑"/>
                        <m:limLoc m:val="undOvr"/>
                        <m:grow m:val="on"/>
                        <m:supHide m:val="on"/>
                        <m:ctrlPr>
                          <a:rPr lang="zh-CN" altLang="en-US" sz="2400" i="1" dirty="0">
                            <a:latin typeface="Cambria Math" panose="02040503050406030204" pitchFamily="18" charset="0"/>
                          </a:rPr>
                        </m:ctrlPr>
                      </m:naryPr>
                      <m:sub>
                        <m:sSub>
                          <m:sSubPr>
                            <m:ctrlPr>
                              <a:rPr lang="zh-CN" altLang="en-US" sz="2400" i="1" dirty="0">
                                <a:solidFill>
                                  <a:schemeClr val="accent1">
                                    <a:lumMod val="60000"/>
                                    <a:lumOff val="40000"/>
                                  </a:schemeClr>
                                </a:solidFill>
                                <a:latin typeface="Cambria Math" panose="02040503050406030204" pitchFamily="18" charset="0"/>
                              </a:rPr>
                            </m:ctrlPr>
                          </m:sSubPr>
                          <m:e>
                            <m:r>
                              <a:rPr lang="zh-CN" altLang="en-US" sz="2400" i="1" dirty="0">
                                <a:solidFill>
                                  <a:schemeClr val="accent1">
                                    <a:lumMod val="60000"/>
                                    <a:lumOff val="40000"/>
                                  </a:schemeClr>
                                </a:solidFill>
                                <a:latin typeface="Cambria Math" panose="02040503050406030204" pitchFamily="18" charset="0"/>
                              </a:rPr>
                              <m:t>𝑓</m:t>
                            </m:r>
                          </m:e>
                          <m:sub>
                            <m:r>
                              <a:rPr lang="zh-CN" altLang="en-US" sz="2400" dirty="0">
                                <a:solidFill>
                                  <a:schemeClr val="accent1">
                                    <a:lumMod val="60000"/>
                                    <a:lumOff val="40000"/>
                                  </a:schemeClr>
                                </a:solidFill>
                                <a:latin typeface="Cambria Math" panose="02040503050406030204" pitchFamily="18" charset="0"/>
                              </a:rPr>
                              <m:t>1</m:t>
                            </m:r>
                          </m:sub>
                        </m:sSub>
                        <m:d>
                          <m:dPr>
                            <m:ctrlPr>
                              <a:rPr lang="zh-CN" altLang="en-US" sz="2400" i="1" dirty="0">
                                <a:solidFill>
                                  <a:schemeClr val="accent1">
                                    <a:lumMod val="60000"/>
                                    <a:lumOff val="40000"/>
                                  </a:schemeClr>
                                </a:solidFill>
                                <a:latin typeface="Cambria Math" panose="02040503050406030204" pitchFamily="18" charset="0"/>
                              </a:rPr>
                            </m:ctrlPr>
                          </m:dPr>
                          <m:e>
                            <m:sSup>
                              <m:sSupPr>
                                <m:ctrlPr>
                                  <a:rPr lang="zh-CN" altLang="en-US" sz="2400" i="1" dirty="0">
                                    <a:solidFill>
                                      <a:schemeClr val="accent1">
                                        <a:lumMod val="60000"/>
                                        <a:lumOff val="40000"/>
                                      </a:schemeClr>
                                    </a:solidFill>
                                    <a:latin typeface="Cambria Math" panose="02040503050406030204" pitchFamily="18" charset="0"/>
                                  </a:rPr>
                                </m:ctrlPr>
                              </m:sSupPr>
                              <m:e>
                                <m:r>
                                  <a:rPr lang="zh-CN" altLang="en-US" sz="2400" i="1" dirty="0">
                                    <a:solidFill>
                                      <a:schemeClr val="accent1">
                                        <a:lumMod val="60000"/>
                                        <a:lumOff val="40000"/>
                                      </a:schemeClr>
                                    </a:solidFill>
                                    <a:latin typeface="Cambria Math" panose="02040503050406030204" pitchFamily="18" charset="0"/>
                                  </a:rPr>
                                  <m:t>𝑥</m:t>
                                </m:r>
                              </m:e>
                              <m:sup>
                                <m:r>
                                  <a:rPr lang="zh-CN" altLang="en-US" sz="2400" i="1" dirty="0">
                                    <a:solidFill>
                                      <a:schemeClr val="accent1">
                                        <a:lumMod val="60000"/>
                                        <a:lumOff val="40000"/>
                                      </a:schemeClr>
                                    </a:solidFill>
                                    <a:latin typeface="Cambria Math" panose="02040503050406030204" pitchFamily="18" charset="0"/>
                                  </a:rPr>
                                  <m:t>𝑛</m:t>
                                </m:r>
                              </m:sup>
                            </m:sSup>
                          </m:e>
                        </m:d>
                        <m:r>
                          <a:rPr lang="en-US" altLang="zh-CN" sz="2400" dirty="0">
                            <a:solidFill>
                              <a:schemeClr val="accent1">
                                <a:lumMod val="60000"/>
                                <a:lumOff val="40000"/>
                              </a:schemeClr>
                            </a:solidFill>
                            <a:latin typeface="Cambria Math" panose="02040503050406030204" pitchFamily="18" charset="0"/>
                          </a:rPr>
                          <m:t>=</m:t>
                        </m:r>
                        <m:sSup>
                          <m:sSupPr>
                            <m:ctrlPr>
                              <a:rPr lang="en-US" altLang="zh-CN" sz="2400" i="1" dirty="0">
                                <a:solidFill>
                                  <a:schemeClr val="accent1">
                                    <a:lumMod val="60000"/>
                                    <a:lumOff val="40000"/>
                                  </a:schemeClr>
                                </a:solidFill>
                                <a:latin typeface="Cambria Math" panose="02040503050406030204" pitchFamily="18" charset="0"/>
                              </a:rPr>
                            </m:ctrlPr>
                          </m:sSupPr>
                          <m:e>
                            <m:acc>
                              <m:accPr>
                                <m:chr m:val="̂"/>
                                <m:ctrlPr>
                                  <a:rPr lang="zh-CN" altLang="en-US" sz="2400" i="1" dirty="0">
                                    <a:solidFill>
                                      <a:schemeClr val="accent1">
                                        <a:lumMod val="60000"/>
                                        <a:lumOff val="40000"/>
                                      </a:schemeClr>
                                    </a:solidFill>
                                    <a:latin typeface="Cambria Math" panose="02040503050406030204" pitchFamily="18" charset="0"/>
                                  </a:rPr>
                                </m:ctrlPr>
                              </m:accPr>
                              <m:e>
                                <m:r>
                                  <a:rPr lang="zh-CN" altLang="en-US" sz="2400" i="1" dirty="0">
                                    <a:solidFill>
                                      <a:schemeClr val="accent1">
                                        <a:lumMod val="60000"/>
                                        <a:lumOff val="40000"/>
                                      </a:schemeClr>
                                    </a:solidFill>
                                    <a:latin typeface="Cambria Math" panose="02040503050406030204" pitchFamily="18" charset="0"/>
                                  </a:rPr>
                                  <m:t>𝑦</m:t>
                                </m:r>
                              </m:e>
                            </m:acc>
                          </m:e>
                          <m:sup>
                            <m:r>
                              <a:rPr lang="en-US" altLang="zh-CN" sz="2400" i="1" dirty="0">
                                <a:solidFill>
                                  <a:schemeClr val="accent1">
                                    <a:lumMod val="60000"/>
                                    <a:lumOff val="40000"/>
                                  </a:schemeClr>
                                </a:solidFill>
                                <a:latin typeface="Cambria Math" panose="02040503050406030204" pitchFamily="18" charset="0"/>
                              </a:rPr>
                              <m:t>𝑛</m:t>
                            </m:r>
                          </m:sup>
                        </m:sSup>
                      </m:sub>
                      <m:sup/>
                      <m:e>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e>
                    </m:nary>
                  </m:oMath>
                </a14:m>
                <a:r>
                  <a:rPr lang="en-US" altLang="zh-CN" sz="2400" dirty="0"/>
                  <a:t>=</a:t>
                </a:r>
                <a:r>
                  <a:rPr lang="zh-CN" altLang="en-US" sz="2400" dirty="0"/>
                  <a:t> </a:t>
                </a:r>
                <a14:m>
                  <m:oMath xmlns:m="http://schemas.openxmlformats.org/officeDocument/2006/math">
                    <m:sSub>
                      <m:sSubPr>
                        <m:ctrlPr>
                          <a:rPr lang="zh-CN" altLang="en-US" sz="2400" i="1" dirty="0">
                            <a:latin typeface="Cambria Math" panose="02040503050406030204" pitchFamily="18" charset="0"/>
                          </a:rPr>
                        </m:ctrlPr>
                      </m:sSubPr>
                      <m:e>
                        <m:r>
                          <a:rPr lang="zh-CN" altLang="en-US" sz="2400" i="1" dirty="0">
                            <a:latin typeface="Cambria Math" panose="02040503050406030204" pitchFamily="18" charset="0"/>
                          </a:rPr>
                          <m:t>𝑑</m:t>
                        </m:r>
                      </m:e>
                      <m:sub>
                        <m:r>
                          <a:rPr lang="zh-CN" altLang="en-US" sz="2400" dirty="0">
                            <a:latin typeface="Cambria Math" panose="02040503050406030204" pitchFamily="18" charset="0"/>
                          </a:rPr>
                          <m:t>1</m:t>
                        </m:r>
                      </m:sub>
                    </m:sSub>
                  </m:oMath>
                </a14:m>
                <a:r>
                  <a:rPr lang="zh-CN" altLang="en-US" sz="2400" dirty="0"/>
                  <a:t> </a:t>
                </a:r>
                <a14:m>
                  <m:oMath xmlns:m="http://schemas.openxmlformats.org/officeDocument/2006/math">
                    <m:nary>
                      <m:naryPr>
                        <m:chr m:val="∑"/>
                        <m:limLoc m:val="undOvr"/>
                        <m:grow m:val="on"/>
                        <m:supHide m:val="on"/>
                        <m:ctrlPr>
                          <a:rPr lang="zh-CN" altLang="en-US" sz="2400" i="1" dirty="0">
                            <a:latin typeface="Cambria Math" panose="02040503050406030204" pitchFamily="18" charset="0"/>
                          </a:rPr>
                        </m:ctrlPr>
                      </m:naryPr>
                      <m:sub>
                        <m:sSub>
                          <m:sSubPr>
                            <m:ctrlPr>
                              <a:rPr lang="zh-CN" altLang="en-US" sz="2400" i="1" dirty="0">
                                <a:solidFill>
                                  <a:srgbClr val="FF0000"/>
                                </a:solidFill>
                                <a:latin typeface="Cambria Math" panose="02040503050406030204" pitchFamily="18" charset="0"/>
                              </a:rPr>
                            </m:ctrlPr>
                          </m:sSubPr>
                          <m:e>
                            <m:r>
                              <a:rPr lang="zh-CN" altLang="en-US" sz="2400" i="1" dirty="0">
                                <a:solidFill>
                                  <a:srgbClr val="FF0000"/>
                                </a:solidFill>
                                <a:latin typeface="Cambria Math" panose="02040503050406030204" pitchFamily="18" charset="0"/>
                              </a:rPr>
                              <m:t>𝑓</m:t>
                            </m:r>
                          </m:e>
                          <m:sub>
                            <m:r>
                              <a:rPr lang="zh-CN" altLang="en-US" sz="2400" dirty="0">
                                <a:solidFill>
                                  <a:srgbClr val="FF0000"/>
                                </a:solidFill>
                                <a:latin typeface="Cambria Math" panose="02040503050406030204" pitchFamily="18" charset="0"/>
                              </a:rPr>
                              <m:t>1</m:t>
                            </m:r>
                          </m:sub>
                        </m:sSub>
                        <m:d>
                          <m:dPr>
                            <m:ctrlPr>
                              <a:rPr lang="zh-CN" altLang="en-US" sz="2400" i="1" dirty="0">
                                <a:solidFill>
                                  <a:srgbClr val="FF0000"/>
                                </a:solidFill>
                                <a:latin typeface="Cambria Math" panose="02040503050406030204" pitchFamily="18" charset="0"/>
                              </a:rPr>
                            </m:ctrlPr>
                          </m:dPr>
                          <m:e>
                            <m:sSup>
                              <m:sSupPr>
                                <m:ctrlPr>
                                  <a:rPr lang="zh-CN" altLang="en-US" sz="2400" i="1" dirty="0">
                                    <a:solidFill>
                                      <a:srgbClr val="FF0000"/>
                                    </a:solidFill>
                                    <a:latin typeface="Cambria Math" panose="02040503050406030204" pitchFamily="18" charset="0"/>
                                  </a:rPr>
                                </m:ctrlPr>
                              </m:sSupPr>
                              <m:e>
                                <m:r>
                                  <a:rPr lang="zh-CN" altLang="en-US" sz="2400" i="1" dirty="0">
                                    <a:solidFill>
                                      <a:srgbClr val="FF0000"/>
                                    </a:solidFill>
                                    <a:latin typeface="Cambria Math" panose="02040503050406030204" pitchFamily="18" charset="0"/>
                                  </a:rPr>
                                  <m:t>𝑥</m:t>
                                </m:r>
                              </m:e>
                              <m:sup>
                                <m:r>
                                  <a:rPr lang="zh-CN" altLang="en-US" sz="2400" i="1" dirty="0">
                                    <a:solidFill>
                                      <a:srgbClr val="FF0000"/>
                                    </a:solidFill>
                                    <a:latin typeface="Cambria Math" panose="02040503050406030204" pitchFamily="18" charset="0"/>
                                  </a:rPr>
                                  <m:t>𝑛</m:t>
                                </m:r>
                              </m:sup>
                            </m:sSup>
                          </m:e>
                        </m:d>
                        <m:r>
                          <a:rPr lang="zh-CN" altLang="en-US" sz="2400" dirty="0">
                            <a:solidFill>
                              <a:srgbClr val="FF0000"/>
                            </a:solidFill>
                            <a:latin typeface="Cambria Math" panose="02040503050406030204" pitchFamily="18" charset="0"/>
                          </a:rPr>
                          <m:t>≠</m:t>
                        </m:r>
                        <m:sSup>
                          <m:sSupPr>
                            <m:ctrlPr>
                              <a:rPr lang="en-US" altLang="zh-CN" sz="2400" i="1" dirty="0">
                                <a:solidFill>
                                  <a:srgbClr val="FF0000"/>
                                </a:solidFill>
                                <a:latin typeface="Cambria Math" panose="02040503050406030204" pitchFamily="18" charset="0"/>
                              </a:rPr>
                            </m:ctrlPr>
                          </m:sSupPr>
                          <m:e>
                            <m:acc>
                              <m:accPr>
                                <m:chr m:val="̂"/>
                                <m:ctrlPr>
                                  <a:rPr lang="zh-CN" altLang="en-US" sz="2400" i="1" dirty="0">
                                    <a:solidFill>
                                      <a:srgbClr val="FF0000"/>
                                    </a:solidFill>
                                    <a:latin typeface="Cambria Math" panose="02040503050406030204" pitchFamily="18" charset="0"/>
                                  </a:rPr>
                                </m:ctrlPr>
                              </m:accPr>
                              <m:e>
                                <m:r>
                                  <a:rPr lang="zh-CN" altLang="en-US" sz="2400" i="1" dirty="0">
                                    <a:solidFill>
                                      <a:srgbClr val="FF0000"/>
                                    </a:solidFill>
                                    <a:latin typeface="Cambria Math" panose="02040503050406030204" pitchFamily="18" charset="0"/>
                                  </a:rPr>
                                  <m:t>𝑦</m:t>
                                </m:r>
                              </m:e>
                            </m:acc>
                          </m:e>
                          <m:sup>
                            <m:r>
                              <a:rPr lang="en-US" altLang="zh-CN" sz="2400" i="1" dirty="0">
                                <a:solidFill>
                                  <a:srgbClr val="FF0000"/>
                                </a:solidFill>
                                <a:latin typeface="Cambria Math" panose="02040503050406030204" pitchFamily="18" charset="0"/>
                              </a:rPr>
                              <m:t>𝑛</m:t>
                            </m:r>
                          </m:sup>
                        </m:sSup>
                      </m:sub>
                      <m:sup/>
                      <m:e>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e>
                    </m:nary>
                  </m:oMath>
                </a14:m>
                <a:endParaRPr lang="zh-CN" altLang="en-US" sz="2400" dirty="0"/>
              </a:p>
            </p:txBody>
          </p:sp>
        </mc:Choice>
        <mc:Fallback xmlns="">
          <p:sp>
            <p:nvSpPr>
              <p:cNvPr id="24" name="文本框 11">
                <a:extLst>
                  <a:ext uri="{FF2B5EF4-FFF2-40B4-BE49-F238E27FC236}">
                    <a16:creationId xmlns:a16="http://schemas.microsoft.com/office/drawing/2014/main" id="{1D979027-1D0B-883F-F9C5-E76532EAFED8}"/>
                  </a:ext>
                </a:extLst>
              </p:cNvPr>
              <p:cNvSpPr txBox="1">
                <a:spLocks noRot="1" noChangeAspect="1" noMove="1" noResize="1" noEditPoints="1" noAdjustHandles="1" noChangeArrowheads="1" noChangeShapeType="1" noTextEdit="1"/>
              </p:cNvSpPr>
              <p:nvPr/>
            </p:nvSpPr>
            <p:spPr>
              <a:xfrm>
                <a:off x="6430297" y="3641276"/>
                <a:ext cx="5577218" cy="659668"/>
              </a:xfrm>
              <a:prstGeom prst="rect">
                <a:avLst/>
              </a:prstGeom>
              <a:blipFill>
                <a:blip r:embed="rId2"/>
                <a:stretch>
                  <a:fillRect l="-3182" t="-103774" b="-156604"/>
                </a:stretch>
              </a:blipFill>
            </p:spPr>
            <p:txBody>
              <a:bodyPr/>
              <a:lstStyle/>
              <a:p>
                <a:r>
                  <a:rPr lang="en-CN">
                    <a:noFill/>
                  </a:rPr>
                  <a:t> </a:t>
                </a:r>
              </a:p>
            </p:txBody>
          </p:sp>
        </mc:Fallback>
      </mc:AlternateContent>
      <p:sp>
        <p:nvSpPr>
          <p:cNvPr id="2" name="文本占位符 1">
            <a:extLst>
              <a:ext uri="{FF2B5EF4-FFF2-40B4-BE49-F238E27FC236}">
                <a16:creationId xmlns:a16="http://schemas.microsoft.com/office/drawing/2014/main" id="{C1CB9AF5-0E84-46B4-9556-AC9BFE68A35A}"/>
              </a:ext>
            </a:extLst>
          </p:cNvPr>
          <p:cNvSpPr>
            <a:spLocks noGrp="1"/>
          </p:cNvSpPr>
          <p:nvPr>
            <p:ph type="body" sz="quarter" idx="12"/>
          </p:nvPr>
        </p:nvSpPr>
        <p:spPr/>
        <p:txBody>
          <a:bodyPr/>
          <a:lstStyle/>
          <a:p>
            <a:pPr marL="0" indent="0">
              <a:buNone/>
            </a:pPr>
            <a:r>
              <a:rPr lang="zh-CN" altLang="en-US" dirty="0"/>
              <a:t>新权重下的训练数据</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51F7B86-57BA-43EC-9B64-70ABE8C16197}"/>
                  </a:ext>
                </a:extLst>
              </p:cNvPr>
              <p:cNvSpPr txBox="1"/>
              <p:nvPr/>
            </p:nvSpPr>
            <p:spPr>
              <a:xfrm>
                <a:off x="746974" y="1287378"/>
                <a:ext cx="4558951" cy="989502"/>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lang="zh-CN" altLang="en-US" sz="2800" i="1" dirty="0" smtClean="0">
                              <a:solidFill>
                                <a:schemeClr val="tx1"/>
                              </a:solidFill>
                              <a:latin typeface="Cambria Math" panose="02040503050406030204" pitchFamily="18" charset="0"/>
                            </a:rPr>
                          </m:ctrlPr>
                        </m:sSubPr>
                        <m:e>
                          <m:r>
                            <a:rPr lang="zh-CN" altLang="en-US" sz="2800" i="1" dirty="0" smtClean="0">
                              <a:solidFill>
                                <a:schemeClr val="tx1"/>
                              </a:solidFill>
                              <a:latin typeface="Cambria Math" panose="02040503050406030204" pitchFamily="18" charset="0"/>
                            </a:rPr>
                            <m:t>𝜀</m:t>
                          </m:r>
                        </m:e>
                        <m:sub>
                          <m:r>
                            <a:rPr lang="zh-CN" altLang="en-US" sz="2800" i="0" dirty="0" smtClean="0">
                              <a:solidFill>
                                <a:schemeClr val="tx1"/>
                              </a:solidFill>
                              <a:latin typeface="Cambria Math" panose="02040503050406030204" pitchFamily="18" charset="0"/>
                            </a:rPr>
                            <m:t>1</m:t>
                          </m:r>
                        </m:sub>
                      </m:sSub>
                      <m:r>
                        <a:rPr lang="zh-CN" altLang="en-US" sz="2800" i="0" dirty="0" smtClean="0">
                          <a:solidFill>
                            <a:schemeClr val="tx1"/>
                          </a:solidFill>
                          <a:latin typeface="Cambria Math" panose="02040503050406030204" pitchFamily="18" charset="0"/>
                        </a:rPr>
                        <m:t>=</m:t>
                      </m:r>
                      <m:f>
                        <m:fPr>
                          <m:ctrlPr>
                            <a:rPr lang="zh-CN" altLang="en-US" sz="2800" i="1" dirty="0" smtClean="0">
                              <a:solidFill>
                                <a:schemeClr val="tx1"/>
                              </a:solidFill>
                              <a:latin typeface="Cambria Math" panose="02040503050406030204" pitchFamily="18" charset="0"/>
                            </a:rPr>
                          </m:ctrlPr>
                        </m:fPr>
                        <m:num>
                          <m:nary>
                            <m:naryPr>
                              <m:chr m:val="∑"/>
                              <m:limLoc m:val="undOvr"/>
                              <m:grow m:val="on"/>
                              <m:supHide m:val="on"/>
                              <m:ctrlPr>
                                <a:rPr lang="zh-CN" altLang="en-US" sz="2800" i="1" dirty="0" smtClean="0">
                                  <a:solidFill>
                                    <a:schemeClr val="tx1"/>
                                  </a:solidFill>
                                  <a:latin typeface="Cambria Math" panose="02040503050406030204" pitchFamily="18" charset="0"/>
                                </a:rPr>
                              </m:ctrlPr>
                            </m:naryPr>
                            <m:sub>
                              <m:r>
                                <a:rPr lang="zh-CN" altLang="en-US" sz="2800" i="1" dirty="0" smtClean="0">
                                  <a:solidFill>
                                    <a:schemeClr val="tx1"/>
                                  </a:solidFill>
                                  <a:latin typeface="Cambria Math" panose="02040503050406030204" pitchFamily="18" charset="0"/>
                                </a:rPr>
                                <m:t>𝑛</m:t>
                              </m:r>
                            </m:sub>
                            <m:sup/>
                            <m:e>
                              <m:sSubSup>
                                <m:sSubSupPr>
                                  <m:ctrlPr>
                                    <a:rPr lang="zh-CN" altLang="en-US" sz="2800" i="1" dirty="0" smtClean="0">
                                      <a:solidFill>
                                        <a:schemeClr val="tx1"/>
                                      </a:solidFill>
                                      <a:latin typeface="Cambria Math" panose="02040503050406030204" pitchFamily="18" charset="0"/>
                                    </a:rPr>
                                  </m:ctrlPr>
                                </m:sSubSupPr>
                                <m:e>
                                  <m:r>
                                    <a:rPr lang="zh-CN" altLang="en-US" sz="2800" i="1" dirty="0" smtClean="0">
                                      <a:solidFill>
                                        <a:schemeClr val="tx1"/>
                                      </a:solidFill>
                                      <a:latin typeface="Cambria Math" panose="02040503050406030204" pitchFamily="18" charset="0"/>
                                    </a:rPr>
                                    <m:t>𝑢</m:t>
                                  </m:r>
                                </m:e>
                                <m:sub>
                                  <m:r>
                                    <a:rPr lang="zh-CN" altLang="en-US" sz="2800" i="0" dirty="0" smtClean="0">
                                      <a:solidFill>
                                        <a:schemeClr val="tx1"/>
                                      </a:solidFill>
                                      <a:latin typeface="Cambria Math" panose="02040503050406030204" pitchFamily="18" charset="0"/>
                                    </a:rPr>
                                    <m:t>1</m:t>
                                  </m:r>
                                </m:sub>
                                <m:sup>
                                  <m:r>
                                    <a:rPr lang="zh-CN" altLang="en-US" sz="2800" i="1" dirty="0" smtClean="0">
                                      <a:solidFill>
                                        <a:schemeClr val="tx1"/>
                                      </a:solidFill>
                                      <a:latin typeface="Cambria Math" panose="02040503050406030204" pitchFamily="18" charset="0"/>
                                    </a:rPr>
                                    <m:t>𝑛</m:t>
                                  </m:r>
                                </m:sup>
                              </m:sSubSup>
                              <m:r>
                                <a:rPr lang="zh-CN" altLang="en-US" sz="2800" i="1" dirty="0" smtClean="0">
                                  <a:solidFill>
                                    <a:schemeClr val="tx1"/>
                                  </a:solidFill>
                                  <a:latin typeface="Cambria Math" panose="02040503050406030204" pitchFamily="18" charset="0"/>
                                </a:rPr>
                                <m:t>𝛿</m:t>
                              </m:r>
                              <m:d>
                                <m:dPr>
                                  <m:ctrlPr>
                                    <a:rPr lang="zh-CN" altLang="en-US" sz="2800" i="1" dirty="0" smtClean="0">
                                      <a:solidFill>
                                        <a:schemeClr val="tx1"/>
                                      </a:solidFill>
                                      <a:latin typeface="Cambria Math" panose="02040503050406030204" pitchFamily="18" charset="0"/>
                                    </a:rPr>
                                  </m:ctrlPr>
                                </m:dPr>
                                <m:e>
                                  <m:sSub>
                                    <m:sSubPr>
                                      <m:ctrlPr>
                                        <a:rPr lang="zh-CN" altLang="en-US" sz="2800" i="1" dirty="0" smtClean="0">
                                          <a:solidFill>
                                            <a:schemeClr val="tx1"/>
                                          </a:solidFill>
                                          <a:latin typeface="Cambria Math" panose="02040503050406030204" pitchFamily="18" charset="0"/>
                                        </a:rPr>
                                      </m:ctrlPr>
                                    </m:sSubPr>
                                    <m:e>
                                      <m:r>
                                        <a:rPr lang="zh-CN" altLang="en-US" sz="2800" i="1" dirty="0" smtClean="0">
                                          <a:solidFill>
                                            <a:schemeClr val="tx1"/>
                                          </a:solidFill>
                                          <a:latin typeface="Cambria Math" panose="02040503050406030204" pitchFamily="18" charset="0"/>
                                        </a:rPr>
                                        <m:t>𝑓</m:t>
                                      </m:r>
                                    </m:e>
                                    <m:sub>
                                      <m:r>
                                        <a:rPr lang="zh-CN" altLang="en-US" sz="2800" i="0" dirty="0" smtClean="0">
                                          <a:solidFill>
                                            <a:schemeClr val="tx1"/>
                                          </a:solidFill>
                                          <a:latin typeface="Cambria Math" panose="02040503050406030204" pitchFamily="18" charset="0"/>
                                        </a:rPr>
                                        <m:t>1</m:t>
                                      </m:r>
                                    </m:sub>
                                  </m:sSub>
                                  <m:d>
                                    <m:dPr>
                                      <m:ctrlPr>
                                        <a:rPr lang="zh-CN" altLang="en-US" sz="2800" i="1" dirty="0" smtClean="0">
                                          <a:solidFill>
                                            <a:schemeClr val="tx1"/>
                                          </a:solidFill>
                                          <a:latin typeface="Cambria Math" panose="02040503050406030204" pitchFamily="18" charset="0"/>
                                        </a:rPr>
                                      </m:ctrlPr>
                                    </m:dPr>
                                    <m:e>
                                      <m:sSup>
                                        <m:sSupPr>
                                          <m:ctrlPr>
                                            <a:rPr lang="zh-CN" altLang="en-US" sz="2800" i="1" dirty="0" smtClean="0">
                                              <a:solidFill>
                                                <a:schemeClr val="tx1"/>
                                              </a:solidFill>
                                              <a:latin typeface="Cambria Math" panose="02040503050406030204" pitchFamily="18" charset="0"/>
                                            </a:rPr>
                                          </m:ctrlPr>
                                        </m:sSupPr>
                                        <m:e>
                                          <m:r>
                                            <a:rPr lang="zh-CN" altLang="en-US" sz="2800" i="1" dirty="0" smtClean="0">
                                              <a:solidFill>
                                                <a:schemeClr val="tx1"/>
                                              </a:solidFill>
                                              <a:latin typeface="Cambria Math" panose="02040503050406030204" pitchFamily="18" charset="0"/>
                                            </a:rPr>
                                            <m:t>𝑥</m:t>
                                          </m:r>
                                        </m:e>
                                        <m:sup>
                                          <m:r>
                                            <a:rPr lang="zh-CN" altLang="en-US" sz="2800" i="1" dirty="0" smtClean="0">
                                              <a:solidFill>
                                                <a:schemeClr val="tx1"/>
                                              </a:solidFill>
                                              <a:latin typeface="Cambria Math" panose="02040503050406030204" pitchFamily="18" charset="0"/>
                                            </a:rPr>
                                            <m:t>𝑛</m:t>
                                          </m:r>
                                        </m:sup>
                                      </m:sSup>
                                    </m:e>
                                  </m:d>
                                  <m:r>
                                    <a:rPr lang="zh-CN" altLang="en-US" sz="2800" i="0" dirty="0" smtClean="0">
                                      <a:solidFill>
                                        <a:schemeClr val="tx1"/>
                                      </a:solidFill>
                                      <a:latin typeface="Cambria Math" panose="02040503050406030204" pitchFamily="18" charset="0"/>
                                    </a:rPr>
                                    <m:t>≠</m:t>
                                  </m:r>
                                  <m:sSup>
                                    <m:sSupPr>
                                      <m:ctrlPr>
                                        <a:rPr lang="zh-CN" altLang="en-US" sz="2800" i="1" dirty="0" smtClean="0">
                                          <a:solidFill>
                                            <a:schemeClr val="tx1"/>
                                          </a:solidFill>
                                          <a:latin typeface="Cambria Math" panose="02040503050406030204" pitchFamily="18" charset="0"/>
                                        </a:rPr>
                                      </m:ctrlPr>
                                    </m:sSupPr>
                                    <m:e>
                                      <m:acc>
                                        <m:accPr>
                                          <m:chr m:val="̂"/>
                                          <m:ctrlPr>
                                            <a:rPr lang="zh-CN" altLang="en-US" sz="2800" i="1" dirty="0" smtClean="0">
                                              <a:solidFill>
                                                <a:schemeClr val="tx1"/>
                                              </a:solidFill>
                                              <a:latin typeface="Cambria Math" panose="02040503050406030204" pitchFamily="18" charset="0"/>
                                            </a:rPr>
                                          </m:ctrlPr>
                                        </m:accPr>
                                        <m:e>
                                          <m:r>
                                            <a:rPr lang="zh-CN" altLang="en-US" sz="2800" i="1" dirty="0" smtClean="0">
                                              <a:solidFill>
                                                <a:schemeClr val="tx1"/>
                                              </a:solidFill>
                                              <a:latin typeface="Cambria Math" panose="02040503050406030204" pitchFamily="18" charset="0"/>
                                            </a:rPr>
                                            <m:t>𝑦</m:t>
                                          </m:r>
                                        </m:e>
                                      </m:acc>
                                    </m:e>
                                    <m:sup>
                                      <m:r>
                                        <a:rPr lang="zh-CN" altLang="en-US" sz="2800" i="1" dirty="0" smtClean="0">
                                          <a:solidFill>
                                            <a:schemeClr val="tx1"/>
                                          </a:solidFill>
                                          <a:latin typeface="Cambria Math" panose="02040503050406030204" pitchFamily="18" charset="0"/>
                                        </a:rPr>
                                        <m:t>𝑛</m:t>
                                      </m:r>
                                    </m:sup>
                                  </m:sSup>
                                </m:e>
                              </m:d>
                            </m:e>
                          </m:nary>
                        </m:num>
                        <m:den>
                          <m:sSub>
                            <m:sSubPr>
                              <m:ctrlPr>
                                <a:rPr lang="zh-CN" altLang="en-US" sz="2800" i="1" dirty="0" smtClean="0">
                                  <a:solidFill>
                                    <a:schemeClr val="tx1"/>
                                  </a:solidFill>
                                  <a:latin typeface="Cambria Math" panose="02040503050406030204" pitchFamily="18" charset="0"/>
                                </a:rPr>
                              </m:ctrlPr>
                            </m:sSubPr>
                            <m:e>
                              <m:r>
                                <a:rPr lang="en-US" altLang="zh-CN" sz="2800" b="0" i="1" dirty="0" smtClean="0">
                                  <a:solidFill>
                                    <a:schemeClr val="tx1"/>
                                  </a:solidFill>
                                  <a:latin typeface="Cambria Math" panose="02040503050406030204" pitchFamily="18" charset="0"/>
                                </a:rPr>
                                <m:t>𝑍</m:t>
                              </m:r>
                            </m:e>
                            <m:sub>
                              <m:r>
                                <a:rPr lang="zh-CN" altLang="en-US" sz="2800" i="0" dirty="0" smtClean="0">
                                  <a:solidFill>
                                    <a:schemeClr val="tx1"/>
                                  </a:solidFill>
                                  <a:latin typeface="Cambria Math" panose="02040503050406030204" pitchFamily="18" charset="0"/>
                                </a:rPr>
                                <m:t>1</m:t>
                              </m:r>
                            </m:sub>
                          </m:sSub>
                        </m:den>
                      </m:f>
                    </m:oMath>
                  </m:oMathPara>
                </a14:m>
                <a:endParaRPr lang="zh-CN" altLang="en-US" sz="2800" dirty="0">
                  <a:solidFill>
                    <a:schemeClr val="tx1"/>
                  </a:solidFill>
                </a:endParaRPr>
              </a:p>
            </p:txBody>
          </p:sp>
        </mc:Choice>
        <mc:Fallback xmlns="">
          <p:sp>
            <p:nvSpPr>
              <p:cNvPr id="4" name="文本框 3">
                <a:extLst>
                  <a:ext uri="{FF2B5EF4-FFF2-40B4-BE49-F238E27FC236}">
                    <a16:creationId xmlns:a16="http://schemas.microsoft.com/office/drawing/2014/main" id="{B51F7B86-57BA-43EC-9B64-70ABE8C16197}"/>
                  </a:ext>
                </a:extLst>
              </p:cNvPr>
              <p:cNvSpPr txBox="1">
                <a:spLocks noRot="1" noChangeAspect="1" noMove="1" noResize="1" noEditPoints="1" noAdjustHandles="1" noChangeArrowheads="1" noChangeShapeType="1" noTextEdit="1"/>
              </p:cNvSpPr>
              <p:nvPr/>
            </p:nvSpPr>
            <p:spPr>
              <a:xfrm>
                <a:off x="746974" y="1287378"/>
                <a:ext cx="4558951" cy="989502"/>
              </a:xfrm>
              <a:prstGeom prst="rect">
                <a:avLst/>
              </a:prstGeom>
              <a:blipFill>
                <a:blip r:embed="rId3"/>
                <a:stretch>
                  <a:fillRect t="-96203" b="-8860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矩形: 圆角 11">
                <a:extLst>
                  <a:ext uri="{FF2B5EF4-FFF2-40B4-BE49-F238E27FC236}">
                    <a16:creationId xmlns:a16="http://schemas.microsoft.com/office/drawing/2014/main" id="{3DD97A9F-BCB0-4C44-94A1-BD3E3530FA64}"/>
                  </a:ext>
                </a:extLst>
              </p:cNvPr>
              <p:cNvSpPr/>
              <p:nvPr/>
            </p:nvSpPr>
            <p:spPr>
              <a:xfrm>
                <a:off x="5510186" y="-15841"/>
                <a:ext cx="2201518" cy="2072354"/>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zh-CN" altLang="en-US"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zh-CN" altLang="en-US" sz="2400" dirty="0">
                              <a:latin typeface="Cambria Math" panose="02040503050406030204" pitchFamily="18" charset="0"/>
                            </a:rPr>
                            <m:t>1</m:t>
                          </m:r>
                        </m:sub>
                      </m:sSub>
                      <m:r>
                        <a:rPr lang="zh-CN" altLang="en-US" sz="2400" i="0" dirty="0" smtClean="0">
                          <a:latin typeface="Cambria Math" panose="02040503050406030204" pitchFamily="18" charset="0"/>
                        </a:rPr>
                        <m:t>=</m:t>
                      </m:r>
                      <m:nary>
                        <m:naryPr>
                          <m:chr m:val="∑"/>
                          <m:limLoc m:val="undOvr"/>
                          <m:grow m:val="on"/>
                          <m:supHide m:val="on"/>
                          <m:ctrlPr>
                            <a:rPr lang="zh-CN" altLang="en-US" sz="2400" i="1" dirty="0" smtClean="0">
                              <a:latin typeface="Cambria Math" panose="02040503050406030204" pitchFamily="18" charset="0"/>
                            </a:rPr>
                          </m:ctrlPr>
                        </m:naryPr>
                        <m:sub>
                          <m:r>
                            <a:rPr lang="zh-CN" altLang="en-US" sz="2400" i="1" dirty="0" smtClean="0">
                              <a:latin typeface="Cambria Math" panose="02040503050406030204" pitchFamily="18" charset="0"/>
                            </a:rPr>
                            <m:t>𝑛</m:t>
                          </m:r>
                        </m:sub>
                        <m:sup/>
                        <m:e>
                          <m:sSubSup>
                            <m:sSubSupPr>
                              <m:ctrlPr>
                                <a:rPr lang="zh-CN" altLang="en-US" sz="2400" i="1" dirty="0" smtClean="0">
                                  <a:solidFill>
                                    <a:srgbClr val="836967"/>
                                  </a:solidFill>
                                  <a:latin typeface="Cambria Math" panose="02040503050406030204" pitchFamily="18" charset="0"/>
                                </a:rPr>
                              </m:ctrlPr>
                            </m:sSubSupPr>
                            <m:e>
                              <m:r>
                                <a:rPr lang="zh-CN" altLang="en-US" sz="2400" i="1" dirty="0" smtClean="0">
                                  <a:latin typeface="Cambria Math" panose="02040503050406030204" pitchFamily="18" charset="0"/>
                                </a:rPr>
                                <m:t>𝑢</m:t>
                              </m:r>
                            </m:e>
                            <m:sub>
                              <m:r>
                                <a:rPr lang="zh-CN" altLang="en-US" sz="2400" i="0" dirty="0" smtClean="0">
                                  <a:latin typeface="Cambria Math" panose="02040503050406030204" pitchFamily="18" charset="0"/>
                                </a:rPr>
                                <m:t>1</m:t>
                              </m:r>
                            </m:sub>
                            <m:sup>
                              <m:r>
                                <a:rPr lang="zh-CN" altLang="en-US" sz="2400" i="1" dirty="0" smtClean="0">
                                  <a:latin typeface="Cambria Math" panose="02040503050406030204" pitchFamily="18" charset="0"/>
                                </a:rPr>
                                <m:t>𝑛</m:t>
                              </m:r>
                            </m:sup>
                          </m:sSubSup>
                        </m:e>
                      </m:nary>
                    </m:oMath>
                  </m:oMathPara>
                </a14:m>
                <a:endParaRPr lang="en-US" altLang="zh-CN" sz="2400" dirty="0">
                  <a:latin typeface="+mn-ea"/>
                </a:endParaRPr>
              </a:p>
              <a:p>
                <a:pPr/>
                <a14:m>
                  <m:oMathPara xmlns:m="http://schemas.openxmlformats.org/officeDocument/2006/math">
                    <m:oMathParaPr>
                      <m:jc m:val="centerGroup"/>
                    </m:oMathParaPr>
                    <m:oMath xmlns:m="http://schemas.openxmlformats.org/officeDocument/2006/math">
                      <m:sSub>
                        <m:sSubPr>
                          <m:ctrlPr>
                            <a:rPr lang="zh-CN" altLang="en-US"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en-US" altLang="zh-CN" sz="2400" b="0" i="1" dirty="0" smtClean="0">
                              <a:latin typeface="Cambria Math" panose="02040503050406030204" pitchFamily="18" charset="0"/>
                            </a:rPr>
                            <m:t>2</m:t>
                          </m:r>
                        </m:sub>
                      </m:sSub>
                      <m:r>
                        <a:rPr lang="zh-CN" altLang="en-US" sz="2400" i="0" dirty="0" smtClean="0">
                          <a:latin typeface="Cambria Math" panose="02040503050406030204" pitchFamily="18" charset="0"/>
                        </a:rPr>
                        <m:t>=</m:t>
                      </m:r>
                      <m:nary>
                        <m:naryPr>
                          <m:chr m:val="∑"/>
                          <m:limLoc m:val="undOvr"/>
                          <m:grow m:val="on"/>
                          <m:supHide m:val="on"/>
                          <m:ctrlPr>
                            <a:rPr lang="zh-CN" altLang="en-US" sz="2400" i="1" dirty="0" smtClean="0">
                              <a:latin typeface="Cambria Math" panose="02040503050406030204" pitchFamily="18" charset="0"/>
                            </a:rPr>
                          </m:ctrlPr>
                        </m:naryPr>
                        <m:sub>
                          <m:r>
                            <a:rPr lang="zh-CN" altLang="en-US" sz="2400" i="1" dirty="0" smtClean="0">
                              <a:latin typeface="Cambria Math" panose="02040503050406030204" pitchFamily="18" charset="0"/>
                            </a:rPr>
                            <m:t>𝑛</m:t>
                          </m:r>
                        </m:sub>
                        <m:sup/>
                        <m:e>
                          <m:sSubSup>
                            <m:sSubSupPr>
                              <m:ctrlPr>
                                <a:rPr lang="zh-CN" altLang="en-US" sz="2400" i="1" dirty="0" smtClean="0">
                                  <a:solidFill>
                                    <a:srgbClr val="836967"/>
                                  </a:solidFill>
                                  <a:latin typeface="Cambria Math" panose="02040503050406030204" pitchFamily="18" charset="0"/>
                                </a:rPr>
                              </m:ctrlPr>
                            </m:sSubSupPr>
                            <m:e>
                              <m:r>
                                <a:rPr lang="zh-CN" altLang="en-US" sz="2400" i="1" dirty="0" smtClean="0">
                                  <a:latin typeface="Cambria Math" panose="02040503050406030204" pitchFamily="18" charset="0"/>
                                </a:rPr>
                                <m:t>𝑢</m:t>
                              </m:r>
                            </m:e>
                            <m:sub>
                              <m:r>
                                <a:rPr lang="en-US" altLang="zh-CN" sz="2400" b="0" i="0" dirty="0" smtClean="0">
                                  <a:latin typeface="Cambria Math" panose="02040503050406030204" pitchFamily="18" charset="0"/>
                                </a:rPr>
                                <m:t>2</m:t>
                              </m:r>
                            </m:sub>
                            <m:sup>
                              <m:r>
                                <a:rPr lang="zh-CN" altLang="en-US" sz="2400" i="1" dirty="0" smtClean="0">
                                  <a:latin typeface="Cambria Math" panose="02040503050406030204" pitchFamily="18" charset="0"/>
                                </a:rPr>
                                <m:t>𝑛</m:t>
                              </m:r>
                            </m:sup>
                          </m:sSubSup>
                        </m:e>
                      </m:nary>
                    </m:oMath>
                  </m:oMathPara>
                </a14:m>
                <a:endParaRPr lang="en-US" altLang="zh-CN" sz="2400" dirty="0">
                  <a:latin typeface="+mn-ea"/>
                </a:endParaRPr>
              </a:p>
            </p:txBody>
          </p:sp>
        </mc:Choice>
        <mc:Fallback xmlns="">
          <p:sp>
            <p:nvSpPr>
              <p:cNvPr id="12" name="矩形: 圆角 11">
                <a:extLst>
                  <a:ext uri="{FF2B5EF4-FFF2-40B4-BE49-F238E27FC236}">
                    <a16:creationId xmlns:a16="http://schemas.microsoft.com/office/drawing/2014/main" id="{3DD97A9F-BCB0-4C44-94A1-BD3E3530FA64}"/>
                  </a:ext>
                </a:extLst>
              </p:cNvPr>
              <p:cNvSpPr>
                <a:spLocks noRot="1" noChangeAspect="1" noMove="1" noResize="1" noEditPoints="1" noAdjustHandles="1" noChangeArrowheads="1" noChangeShapeType="1" noTextEdit="1"/>
              </p:cNvSpPr>
              <p:nvPr/>
            </p:nvSpPr>
            <p:spPr>
              <a:xfrm>
                <a:off x="5510186" y="-15841"/>
                <a:ext cx="2201518" cy="2072354"/>
              </a:xfrm>
              <a:prstGeom prst="roundRect">
                <a:avLst/>
              </a:prstGeom>
              <a:blipFill>
                <a:blip r:embed="rId4"/>
                <a:stretch>
                  <a:fillRect l="-5143" t="-56970" r="-1714" b="-81212"/>
                </a:stretch>
              </a:blip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8ECC4C5-0787-4331-83E0-9B948857A7F0}"/>
                  </a:ext>
                </a:extLst>
              </p:cNvPr>
              <p:cNvSpPr/>
              <p:nvPr/>
            </p:nvSpPr>
            <p:spPr>
              <a:xfrm>
                <a:off x="5618136" y="2117251"/>
                <a:ext cx="5958165" cy="143335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kumimoji="0" lang="en-US" altLang="zh-CN" sz="2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nary>
                          <m:naryPr>
                            <m:chr m:val="∑"/>
                            <m:limLoc m:val="undOvr"/>
                            <m:grow m:val="on"/>
                            <m:supHide m:val="on"/>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naryPr>
                          <m:sub>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𝑓</m:t>
                                </m:r>
                              </m:e>
                              <m:sub>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1</m:t>
                                </m:r>
                              </m:sub>
                            </m:sSub>
                            <m:d>
                              <m:d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dPr>
                              <m:e>
                                <m:sSup>
                                  <m:sSup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p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𝑥</m:t>
                                    </m:r>
                                  </m:e>
                                  <m:sup>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p>
                                </m:sSup>
                              </m:e>
                            </m:d>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m:t>
                            </m:r>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acc>
                                  <m:accPr>
                                    <m:chr m:val="̂"/>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𝑦</m:t>
                                    </m:r>
                                  </m:e>
                                </m:acc>
                              </m:e>
                              <m:sub>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b>
                            </m:sSub>
                          </m:sub>
                          <m:sup/>
                          <m:e>
                            <m:sSubSup>
                              <m:sSubSup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𝑢</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up>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𝑛</m:t>
                                </m:r>
                              </m:sup>
                            </m:sSubSup>
                            <m:sSub>
                              <m:sSub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𝑑</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e>
                        </m:nary>
                        <m:r>
                          <m:rPr>
                            <m:nor/>
                          </m:rPr>
                          <a:rPr kumimoji="0" lang="en-US" altLang="zh-CN" sz="2800" b="0" i="0" u="none" strike="noStrike" kern="1200" cap="none" spc="0" normalizeH="0" baseline="0" noProof="0" dirty="0">
                            <a:ln>
                              <a:noFill/>
                            </a:ln>
                            <a:solidFill>
                              <a:prstClr val="black"/>
                            </a:solidFill>
                            <a:effectLst/>
                            <a:uLnTx/>
                            <a:uFillTx/>
                            <a:latin typeface="Segoe UI"/>
                            <a:ea typeface="微软雅黑"/>
                            <a:cs typeface="+mn-cs"/>
                          </a:rPr>
                          <m:t> + </m:t>
                        </m:r>
                        <m:nary>
                          <m:naryPr>
                            <m:chr m:val="∑"/>
                            <m:limLoc m:val="undOvr"/>
                            <m:grow m:val="on"/>
                            <m:supHide m:val="on"/>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naryPr>
                          <m:sub>
                            <m:sSub>
                              <m:sSub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𝑓</m:t>
                                </m:r>
                              </m:e>
                              <m:sub>
                                <m:r>
                                  <a:rPr kumimoji="0" lang="zh-CN" altLang="en-US" sz="2800" b="0" i="0"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1</m:t>
                                </m:r>
                              </m:sub>
                            </m:sSub>
                            <m:d>
                              <m:d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dPr>
                              <m:e>
                                <m:sSup>
                                  <m:sSup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sSupPr>
                                  <m:e>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𝑥</m:t>
                                    </m:r>
                                  </m:e>
                                  <m:sup>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𝑛</m:t>
                                    </m:r>
                                  </m:sup>
                                </m:sSup>
                              </m:e>
                            </m:d>
                            <m:r>
                              <a:rPr kumimoji="0" lang="en-US" altLang="zh-CN" sz="2800" b="0" i="0"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m:t>
                            </m:r>
                            <m:sSub>
                              <m:sSubPr>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sSubPr>
                              <m:e>
                                <m:acc>
                                  <m:accPr>
                                    <m:chr m:val="̂"/>
                                    <m:ctrlP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𝑦</m:t>
                                    </m:r>
                                  </m:e>
                                </m:acc>
                              </m:e>
                              <m:sub>
                                <m:r>
                                  <a:rPr kumimoji="0" lang="zh-CN" altLang="en-US" sz="2800" b="0" i="1" u="none" strike="noStrike" kern="1200" cap="none" spc="0" normalizeH="0" baseline="0" noProof="0" dirty="0">
                                    <a:ln>
                                      <a:noFill/>
                                    </a:ln>
                                    <a:solidFill>
                                      <a:srgbClr val="006BCC">
                                        <a:lumMod val="60000"/>
                                        <a:lumOff val="40000"/>
                                      </a:srgbClr>
                                    </a:solidFill>
                                    <a:effectLst/>
                                    <a:uLnTx/>
                                    <a:uFillTx/>
                                    <a:latin typeface="Cambria Math" panose="02040503050406030204" pitchFamily="18" charset="0"/>
                                    <a:cs typeface="+mn-cs"/>
                                  </a:rPr>
                                  <m:t>𝑛</m:t>
                                </m:r>
                              </m:sub>
                            </m:sSub>
                          </m:sub>
                          <m:sup/>
                          <m:e>
                            <m:sSubSup>
                              <m:sSubSup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𝑢</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up>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𝑛</m:t>
                                </m:r>
                              </m:sup>
                            </m:sSubSup>
                            <m:sSub>
                              <m:sSub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𝑑</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e>
                        </m:nary>
                      </m:num>
                      <m:den>
                        <m:nary>
                          <m:naryPr>
                            <m:chr m:val="∑"/>
                            <m:limLoc m:val="undOvr"/>
                            <m:grow m:val="on"/>
                            <m:supHide m:val="on"/>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naryPr>
                          <m:sub>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𝑓</m:t>
                                </m:r>
                              </m:e>
                              <m:sub>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1</m:t>
                                </m:r>
                              </m:sub>
                            </m:sSub>
                            <m:d>
                              <m:d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dPr>
                              <m:e>
                                <m:sSup>
                                  <m:sSup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p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𝑥</m:t>
                                    </m:r>
                                  </m:e>
                                  <m:sup>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p>
                                </m:sSup>
                              </m:e>
                            </m:d>
                            <m:r>
                              <a:rPr kumimoji="0" lang="zh-CN" altLang="en-US" sz="2800" b="0" i="0" u="none" strike="noStrike" kern="1200" cap="none" spc="0" normalizeH="0" baseline="0" noProof="0" dirty="0">
                                <a:ln>
                                  <a:noFill/>
                                </a:ln>
                                <a:solidFill>
                                  <a:srgbClr val="FF0000"/>
                                </a:solidFill>
                                <a:effectLst/>
                                <a:uLnTx/>
                                <a:uFillTx/>
                                <a:latin typeface="Cambria Math" panose="02040503050406030204" pitchFamily="18" charset="0"/>
                                <a:cs typeface="+mn-cs"/>
                              </a:rPr>
                              <m:t>≠</m:t>
                            </m:r>
                            <m:sSub>
                              <m:sSubPr>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sSubPr>
                              <m:e>
                                <m:acc>
                                  <m:accPr>
                                    <m:chr m:val="̂"/>
                                    <m:ctrlP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ctrlPr>
                                  </m:accPr>
                                  <m:e>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𝑦</m:t>
                                    </m:r>
                                  </m:e>
                                </m:acc>
                              </m:e>
                              <m:sub>
                                <m:r>
                                  <a:rPr kumimoji="0" lang="zh-CN" altLang="en-US" sz="2800" b="0" i="1" u="none" strike="noStrike" kern="1200" cap="none" spc="0" normalizeH="0" baseline="0" noProof="0" dirty="0">
                                    <a:ln>
                                      <a:noFill/>
                                    </a:ln>
                                    <a:solidFill>
                                      <a:srgbClr val="FF0000"/>
                                    </a:solidFill>
                                    <a:effectLst/>
                                    <a:uLnTx/>
                                    <a:uFillTx/>
                                    <a:latin typeface="Cambria Math" panose="02040503050406030204" pitchFamily="18" charset="0"/>
                                    <a:cs typeface="+mn-cs"/>
                                  </a:rPr>
                                  <m:t>𝑛</m:t>
                                </m:r>
                              </m:sub>
                            </m:sSub>
                          </m:sub>
                          <m:sup/>
                          <m:e>
                            <m:sSubSup>
                              <m:sSubSup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𝑢</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up>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𝑛</m:t>
                                </m:r>
                              </m:sup>
                            </m:sSubSup>
                            <m:sSub>
                              <m:sSubPr>
                                <m:ctrlP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zh-CN" altLang="en-US" sz="2800" b="0" i="1" u="none" strike="noStrike" kern="1200" cap="none" spc="0" normalizeH="0" baseline="0" noProof="0" dirty="0">
                                    <a:ln>
                                      <a:noFill/>
                                    </a:ln>
                                    <a:solidFill>
                                      <a:prstClr val="black"/>
                                    </a:solidFill>
                                    <a:effectLst/>
                                    <a:uLnTx/>
                                    <a:uFillTx/>
                                    <a:latin typeface="Cambria Math" panose="02040503050406030204" pitchFamily="18" charset="0"/>
                                    <a:cs typeface="+mn-cs"/>
                                  </a:rPr>
                                  <m:t>𝑑</m:t>
                                </m:r>
                              </m:e>
                              <m:sub>
                                <m:r>
                                  <a:rPr kumimoji="0" lang="zh-CN" altLang="en-US" sz="2800" b="0" i="0" u="none" strike="noStrike" kern="1200" cap="none" spc="0" normalizeH="0" baseline="0" noProof="0" dirty="0">
                                    <a:ln>
                                      <a:noFill/>
                                    </a:ln>
                                    <a:solidFill>
                                      <a:prstClr val="black"/>
                                    </a:solidFill>
                                    <a:effectLst/>
                                    <a:uLnTx/>
                                    <a:uFillTx/>
                                    <a:latin typeface="Cambria Math" panose="02040503050406030204" pitchFamily="18" charset="0"/>
                                    <a:cs typeface="+mn-cs"/>
                                  </a:rPr>
                                  <m:t>1</m:t>
                                </m:r>
                              </m:sub>
                            </m:sSub>
                          </m:e>
                        </m:nary>
                      </m:den>
                    </m:f>
                  </m:oMath>
                </a14:m>
                <a:r>
                  <a:rPr kumimoji="0" lang="en-US" altLang="zh-CN" sz="2800" b="0" i="0" u="none" strike="noStrike" kern="1200" cap="none" spc="0" normalizeH="0" baseline="0" noProof="0" dirty="0">
                    <a:ln>
                      <a:noFill/>
                    </a:ln>
                    <a:solidFill>
                      <a:prstClr val="black"/>
                    </a:solidFill>
                    <a:effectLst/>
                    <a:uLnTx/>
                    <a:uFillTx/>
                    <a:latin typeface="Segoe UI"/>
                    <a:ea typeface="微软雅黑"/>
                    <a:cs typeface="+mn-cs"/>
                  </a:rPr>
                  <a:t>=2</a:t>
                </a:r>
                <a:endParaRPr kumimoji="0" lang="zh-CN" altLang="en-US" sz="2800" b="0" i="0" u="none" strike="noStrike" kern="1200" cap="none" spc="0" normalizeH="0" baseline="0" noProof="0" dirty="0">
                  <a:ln>
                    <a:noFill/>
                  </a:ln>
                  <a:solidFill>
                    <a:prstClr val="black"/>
                  </a:solidFill>
                  <a:effectLst/>
                  <a:uLnTx/>
                  <a:uFillTx/>
                  <a:latin typeface="Segoe UI"/>
                  <a:ea typeface="微软雅黑"/>
                  <a:cs typeface="+mn-cs"/>
                </a:endParaRPr>
              </a:p>
            </p:txBody>
          </p:sp>
        </mc:Choice>
        <mc:Fallback xmlns="">
          <p:sp>
            <p:nvSpPr>
              <p:cNvPr id="5" name="矩形 4">
                <a:extLst>
                  <a:ext uri="{FF2B5EF4-FFF2-40B4-BE49-F238E27FC236}">
                    <a16:creationId xmlns:a16="http://schemas.microsoft.com/office/drawing/2014/main" id="{98ECC4C5-0787-4331-83E0-9B948857A7F0}"/>
                  </a:ext>
                </a:extLst>
              </p:cNvPr>
              <p:cNvSpPr>
                <a:spLocks noRot="1" noChangeAspect="1" noMove="1" noResize="1" noEditPoints="1" noAdjustHandles="1" noChangeArrowheads="1" noChangeShapeType="1" noTextEdit="1"/>
              </p:cNvSpPr>
              <p:nvPr/>
            </p:nvSpPr>
            <p:spPr>
              <a:xfrm>
                <a:off x="5618136" y="2117251"/>
                <a:ext cx="5958165" cy="1433351"/>
              </a:xfrm>
              <a:prstGeom prst="rect">
                <a:avLst/>
              </a:prstGeom>
              <a:blipFill>
                <a:blip r:embed="rId5"/>
                <a:stretch>
                  <a:fillRect l="-8298" t="-28070" b="-47368"/>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C7E36D9-D88D-4723-ACEE-AEBBDA2E293D}"/>
                  </a:ext>
                </a:extLst>
              </p:cNvPr>
              <p:cNvSpPr txBox="1"/>
              <p:nvPr/>
            </p:nvSpPr>
            <p:spPr>
              <a:xfrm>
                <a:off x="7768897" y="964404"/>
                <a:ext cx="4621822" cy="830997"/>
              </a:xfrm>
              <a:prstGeom prst="rect">
                <a:avLst/>
              </a:prstGeom>
              <a:noFill/>
            </p:spPr>
            <p:txBody>
              <a:bodyPr wrap="square">
                <a:spAutoFit/>
              </a:bodyPr>
              <a:lstStyle/>
              <a:p>
                <a:r>
                  <a:rPr lang="zh-CN" altLang="en-US" sz="2400" dirty="0"/>
                  <a:t>若</a:t>
                </a:r>
                <a14:m>
                  <m:oMath xmlns:m="http://schemas.openxmlformats.org/officeDocument/2006/math">
                    <m:sSub>
                      <m:sSubPr>
                        <m:ctrlPr>
                          <a:rPr lang="zh-CN" altLang="en-US" sz="2400" i="1" dirty="0" smtClean="0">
                            <a:latin typeface="Cambria Math" panose="02040503050406030204" pitchFamily="18" charset="0"/>
                          </a:rPr>
                        </m:ctrlPr>
                      </m:sSubPr>
                      <m:e>
                        <m:r>
                          <a:rPr lang="zh-CN" altLang="en-US" sz="2400" i="1" dirty="0">
                            <a:latin typeface="Cambria Math" panose="02040503050406030204" pitchFamily="18" charset="0"/>
                          </a:rPr>
                          <m:t>𝑓</m:t>
                        </m:r>
                      </m:e>
                      <m:sub>
                        <m:r>
                          <a:rPr lang="zh-CN" altLang="en-US" sz="2400" dirty="0">
                            <a:latin typeface="Cambria Math" panose="02040503050406030204" pitchFamily="18" charset="0"/>
                          </a:rPr>
                          <m:t>1</m:t>
                        </m:r>
                      </m:sub>
                    </m:sSub>
                    <m:d>
                      <m:dPr>
                        <m:ctrlPr>
                          <a:rPr lang="zh-CN" altLang="en-US" sz="2400" i="1" dirty="0">
                            <a:latin typeface="Cambria Math" panose="02040503050406030204" pitchFamily="18" charset="0"/>
                          </a:rPr>
                        </m:ctrlPr>
                      </m:dPr>
                      <m:e>
                        <m:sSup>
                          <m:sSupPr>
                            <m:ctrlPr>
                              <a:rPr lang="zh-CN" altLang="en-US" sz="2400" i="1" dirty="0">
                                <a:latin typeface="Cambria Math" panose="02040503050406030204" pitchFamily="18" charset="0"/>
                              </a:rPr>
                            </m:ctrlPr>
                          </m:sSupPr>
                          <m:e>
                            <m:r>
                              <a:rPr lang="zh-CN" altLang="en-US" sz="2400" i="1" dirty="0">
                                <a:latin typeface="Cambria Math" panose="02040503050406030204" pitchFamily="18" charset="0"/>
                              </a:rPr>
                              <m:t>𝑥</m:t>
                            </m:r>
                          </m:e>
                          <m:sup>
                            <m:r>
                              <a:rPr lang="zh-CN" altLang="en-US" sz="2400" i="1" dirty="0">
                                <a:latin typeface="Cambria Math" panose="02040503050406030204" pitchFamily="18" charset="0"/>
                              </a:rPr>
                              <m:t>𝑛</m:t>
                            </m:r>
                          </m:sup>
                        </m:sSup>
                      </m:e>
                    </m:d>
                    <m:r>
                      <a:rPr lang="zh-CN" altLang="en-US" sz="2400" dirty="0">
                        <a:latin typeface="Cambria Math" panose="02040503050406030204" pitchFamily="18" charset="0"/>
                      </a:rPr>
                      <m:t>≠</m:t>
                    </m:r>
                    <m:sSub>
                      <m:sSubPr>
                        <m:ctrlPr>
                          <a:rPr lang="zh-CN" altLang="en-US" sz="2400" i="1" dirty="0">
                            <a:latin typeface="Cambria Math" panose="02040503050406030204" pitchFamily="18" charset="0"/>
                          </a:rPr>
                        </m:ctrlPr>
                      </m:sSubPr>
                      <m:e>
                        <m:acc>
                          <m:accPr>
                            <m:chr m:val="̂"/>
                            <m:ctrlPr>
                              <a:rPr lang="zh-CN" altLang="en-US" sz="2400" i="1" dirty="0">
                                <a:latin typeface="Cambria Math" panose="02040503050406030204" pitchFamily="18" charset="0"/>
                              </a:rPr>
                            </m:ctrlPr>
                          </m:accPr>
                          <m:e>
                            <m:r>
                              <a:rPr lang="zh-CN" altLang="en-US" sz="2400" i="1" dirty="0">
                                <a:latin typeface="Cambria Math" panose="02040503050406030204" pitchFamily="18" charset="0"/>
                              </a:rPr>
                              <m:t>𝑦</m:t>
                            </m:r>
                          </m:e>
                        </m:acc>
                      </m:e>
                      <m:sub>
                        <m:r>
                          <a:rPr lang="zh-CN" altLang="en-US" sz="2400" i="1" dirty="0">
                            <a:latin typeface="Cambria Math" panose="02040503050406030204" pitchFamily="18" charset="0"/>
                          </a:rPr>
                          <m:t>𝑛</m:t>
                        </m:r>
                      </m:sub>
                    </m:sSub>
                  </m:oMath>
                </a14:m>
                <a:r>
                  <a:rPr lang="zh-CN" altLang="en-US" sz="2400" dirty="0"/>
                  <a:t>，则</a:t>
                </a:r>
                <a:r>
                  <a:rPr lang="zh-CN" altLang="en-US" sz="2400" dirty="0">
                    <a:solidFill>
                      <a:srgbClr val="836967"/>
                    </a:solidFill>
                  </a:rPr>
                  <a:t> </a:t>
                </a:r>
                <a14:m>
                  <m:oMath xmlns:m="http://schemas.openxmlformats.org/officeDocument/2006/math">
                    <m:sSubSup>
                      <m:sSubSupPr>
                        <m:ctrlPr>
                          <a:rPr lang="zh-CN" altLang="en-US" sz="2400" i="1" dirty="0">
                            <a:solidFill>
                              <a:srgbClr val="836967"/>
                            </a:solidFill>
                            <a:latin typeface="Cambria Math" panose="02040503050406030204" pitchFamily="18" charset="0"/>
                          </a:rPr>
                        </m:ctrlPr>
                      </m:sSubSupPr>
                      <m:e>
                        <m:r>
                          <a:rPr lang="zh-CN" altLang="en-US" sz="2400" i="1" dirty="0">
                            <a:latin typeface="Cambria Math" panose="02040503050406030204" pitchFamily="18" charset="0"/>
                          </a:rPr>
                          <m:t>𝑢</m:t>
                        </m:r>
                      </m:e>
                      <m:sub>
                        <m:r>
                          <a:rPr lang="en-US" altLang="zh-CN" sz="2400" dirty="0">
                            <a:latin typeface="Cambria Math" panose="02040503050406030204" pitchFamily="18" charset="0"/>
                          </a:rPr>
                          <m:t>2</m:t>
                        </m:r>
                      </m:sub>
                      <m:sup>
                        <m:r>
                          <a:rPr lang="zh-CN" altLang="en-US" sz="2400" i="1" dirty="0">
                            <a:latin typeface="Cambria Math" panose="02040503050406030204" pitchFamily="18" charset="0"/>
                          </a:rPr>
                          <m:t>𝑛</m:t>
                        </m:r>
                      </m:sup>
                    </m:sSubSup>
                    <m:r>
                      <a:rPr lang="en-US" altLang="zh-CN" sz="2400" b="0" i="0" dirty="0" smtClean="0">
                        <a:latin typeface="Cambria Math" panose="02040503050406030204" pitchFamily="18" charset="0"/>
                      </a:rPr>
                      <m:t>=</m:t>
                    </m:r>
                  </m:oMath>
                </a14:m>
                <a:r>
                  <a:rPr lang="zh-CN" altLang="en-US" sz="2400" dirty="0"/>
                  <a:t> </a:t>
                </a:r>
                <a14:m>
                  <m:oMath xmlns:m="http://schemas.openxmlformats.org/officeDocument/2006/math">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sSub>
                      <m:sSubPr>
                        <m:ctrlPr>
                          <a:rPr lang="zh-CN" altLang="en-US" sz="2400" i="1" dirty="0">
                            <a:latin typeface="Cambria Math" panose="02040503050406030204" pitchFamily="18" charset="0"/>
                          </a:rPr>
                        </m:ctrlPr>
                      </m:sSubPr>
                      <m:e>
                        <m:r>
                          <a:rPr lang="zh-CN" altLang="en-US" sz="2400" i="1" dirty="0">
                            <a:latin typeface="Cambria Math" panose="02040503050406030204" pitchFamily="18" charset="0"/>
                          </a:rPr>
                          <m:t>𝑑</m:t>
                        </m:r>
                      </m:e>
                      <m:sub>
                        <m:r>
                          <a:rPr lang="zh-CN" altLang="en-US" sz="2400" dirty="0">
                            <a:latin typeface="Cambria Math" panose="02040503050406030204" pitchFamily="18" charset="0"/>
                          </a:rPr>
                          <m:t>1</m:t>
                        </m:r>
                      </m:sub>
                    </m:sSub>
                  </m:oMath>
                </a14:m>
                <a:endParaRPr lang="en-US" altLang="zh-CN" sz="2400" dirty="0"/>
              </a:p>
              <a:p>
                <a:r>
                  <a:rPr lang="zh-CN" altLang="en-US" sz="2400" dirty="0">
                    <a:solidFill>
                      <a:schemeClr val="tx1"/>
                    </a:solidFill>
                  </a:rPr>
                  <a:t>若</a:t>
                </a:r>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zh-CN" altLang="en-US" sz="2400" i="1" dirty="0">
                            <a:solidFill>
                              <a:schemeClr val="tx1"/>
                            </a:solidFill>
                            <a:latin typeface="Cambria Math" panose="02040503050406030204" pitchFamily="18" charset="0"/>
                          </a:rPr>
                          <m:t>𝑓</m:t>
                        </m:r>
                      </m:e>
                      <m:sub>
                        <m:r>
                          <a:rPr lang="zh-CN" altLang="en-US" sz="2400" dirty="0">
                            <a:solidFill>
                              <a:schemeClr val="tx1"/>
                            </a:solidFill>
                            <a:latin typeface="Cambria Math" panose="02040503050406030204" pitchFamily="18" charset="0"/>
                          </a:rPr>
                          <m:t>1</m:t>
                        </m:r>
                      </m:sub>
                    </m:sSub>
                    <m:d>
                      <m:dPr>
                        <m:ctrlPr>
                          <a:rPr lang="zh-CN" altLang="en-US" sz="2400" i="1" dirty="0">
                            <a:solidFill>
                              <a:schemeClr val="tx1"/>
                            </a:solidFill>
                            <a:latin typeface="Cambria Math" panose="02040503050406030204" pitchFamily="18" charset="0"/>
                          </a:rPr>
                        </m:ctrlPr>
                      </m:dPr>
                      <m:e>
                        <m:sSup>
                          <m:sSupPr>
                            <m:ctrlPr>
                              <a:rPr lang="zh-CN" altLang="en-US" sz="2400" i="1" dirty="0">
                                <a:solidFill>
                                  <a:schemeClr val="tx1"/>
                                </a:solidFill>
                                <a:latin typeface="Cambria Math" panose="02040503050406030204" pitchFamily="18" charset="0"/>
                              </a:rPr>
                            </m:ctrlPr>
                          </m:sSupPr>
                          <m:e>
                            <m:r>
                              <a:rPr lang="zh-CN" altLang="en-US" sz="2400" i="1" dirty="0">
                                <a:solidFill>
                                  <a:schemeClr val="tx1"/>
                                </a:solidFill>
                                <a:latin typeface="Cambria Math" panose="02040503050406030204" pitchFamily="18" charset="0"/>
                              </a:rPr>
                              <m:t>𝑥</m:t>
                            </m:r>
                          </m:e>
                          <m:sup>
                            <m:r>
                              <a:rPr lang="zh-CN" altLang="en-US" sz="2400" i="1" dirty="0">
                                <a:solidFill>
                                  <a:schemeClr val="tx1"/>
                                </a:solidFill>
                                <a:latin typeface="Cambria Math" panose="02040503050406030204" pitchFamily="18" charset="0"/>
                              </a:rPr>
                              <m:t>𝑛</m:t>
                            </m:r>
                          </m:sup>
                        </m:sSup>
                      </m:e>
                    </m:d>
                    <m:r>
                      <a:rPr lang="en-US" altLang="zh-CN" sz="2400" b="0" i="0" dirty="0" smtClean="0">
                        <a:solidFill>
                          <a:schemeClr val="tx1"/>
                        </a:solidFill>
                        <a:latin typeface="Cambria Math" panose="02040503050406030204" pitchFamily="18" charset="0"/>
                      </a:rPr>
                      <m:t>=</m:t>
                    </m:r>
                    <m:sSub>
                      <m:sSubPr>
                        <m:ctrlPr>
                          <a:rPr lang="zh-CN" altLang="en-US" sz="2400" i="1" dirty="0">
                            <a:solidFill>
                              <a:schemeClr val="tx1"/>
                            </a:solidFill>
                            <a:latin typeface="Cambria Math" panose="02040503050406030204" pitchFamily="18" charset="0"/>
                          </a:rPr>
                        </m:ctrlPr>
                      </m:sSubPr>
                      <m:e>
                        <m:acc>
                          <m:accPr>
                            <m:chr m:val="̂"/>
                            <m:ctrlPr>
                              <a:rPr lang="zh-CN" altLang="en-US" sz="2400" i="1" dirty="0">
                                <a:solidFill>
                                  <a:schemeClr val="tx1"/>
                                </a:solidFill>
                                <a:latin typeface="Cambria Math" panose="02040503050406030204" pitchFamily="18" charset="0"/>
                              </a:rPr>
                            </m:ctrlPr>
                          </m:accPr>
                          <m:e>
                            <m:r>
                              <a:rPr lang="zh-CN" altLang="en-US" sz="2400" i="1" dirty="0">
                                <a:solidFill>
                                  <a:schemeClr val="tx1"/>
                                </a:solidFill>
                                <a:latin typeface="Cambria Math" panose="02040503050406030204" pitchFamily="18" charset="0"/>
                              </a:rPr>
                              <m:t>𝑦</m:t>
                            </m:r>
                          </m:e>
                        </m:acc>
                      </m:e>
                      <m:sub>
                        <m:r>
                          <a:rPr lang="zh-CN" altLang="en-US" sz="2400" i="1" dirty="0">
                            <a:solidFill>
                              <a:schemeClr val="tx1"/>
                            </a:solidFill>
                            <a:latin typeface="Cambria Math" panose="02040503050406030204" pitchFamily="18" charset="0"/>
                          </a:rPr>
                          <m:t>𝑛</m:t>
                        </m:r>
                      </m:sub>
                    </m:sSub>
                  </m:oMath>
                </a14:m>
                <a:r>
                  <a:rPr lang="zh-CN" altLang="en-US" sz="2400" dirty="0">
                    <a:solidFill>
                      <a:schemeClr val="tx1"/>
                    </a:solidFill>
                  </a:rPr>
                  <a:t>，</a:t>
                </a:r>
                <a:r>
                  <a:rPr lang="zh-CN" altLang="en-US" sz="2400" dirty="0"/>
                  <a:t>则</a:t>
                </a:r>
                <a:r>
                  <a:rPr lang="zh-CN" altLang="en-US" sz="2400" dirty="0">
                    <a:solidFill>
                      <a:srgbClr val="836967"/>
                    </a:solidFill>
                  </a:rPr>
                  <a:t> </a:t>
                </a:r>
                <a14:m>
                  <m:oMath xmlns:m="http://schemas.openxmlformats.org/officeDocument/2006/math">
                    <m:sSubSup>
                      <m:sSubSupPr>
                        <m:ctrlPr>
                          <a:rPr lang="zh-CN" altLang="en-US" sz="2400" i="1" dirty="0">
                            <a:solidFill>
                              <a:srgbClr val="836967"/>
                            </a:solidFill>
                            <a:latin typeface="Cambria Math" panose="02040503050406030204" pitchFamily="18" charset="0"/>
                          </a:rPr>
                        </m:ctrlPr>
                      </m:sSubSupPr>
                      <m:e>
                        <m:r>
                          <a:rPr lang="zh-CN" altLang="en-US" sz="2400" i="1" dirty="0">
                            <a:latin typeface="Cambria Math" panose="02040503050406030204" pitchFamily="18" charset="0"/>
                          </a:rPr>
                          <m:t>𝑢</m:t>
                        </m:r>
                      </m:e>
                      <m:sub>
                        <m:r>
                          <a:rPr lang="en-US" altLang="zh-CN" sz="2400" dirty="0">
                            <a:latin typeface="Cambria Math" panose="02040503050406030204" pitchFamily="18" charset="0"/>
                          </a:rPr>
                          <m:t>2</m:t>
                        </m:r>
                      </m:sub>
                      <m:sup>
                        <m:r>
                          <a:rPr lang="zh-CN" altLang="en-US" sz="2400" i="1" dirty="0">
                            <a:latin typeface="Cambria Math" panose="02040503050406030204" pitchFamily="18" charset="0"/>
                          </a:rPr>
                          <m:t>𝑛</m:t>
                        </m:r>
                      </m:sup>
                    </m:sSubSup>
                    <m:r>
                      <a:rPr lang="en-US" altLang="zh-CN" sz="2400" dirty="0">
                        <a:latin typeface="Cambria Math" panose="02040503050406030204" pitchFamily="18" charset="0"/>
                      </a:rPr>
                      <m:t>=</m:t>
                    </m:r>
                  </m:oMath>
                </a14:m>
                <a:r>
                  <a:rPr lang="zh-CN" altLang="en-US" sz="2400" dirty="0"/>
                  <a:t> </a:t>
                </a:r>
                <a14:m>
                  <m:oMath xmlns:m="http://schemas.openxmlformats.org/officeDocument/2006/math">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sSub>
                      <m:sSubPr>
                        <m:ctrlPr>
                          <a:rPr lang="zh-CN" altLang="en-US" sz="2400" i="1" dirty="0">
                            <a:latin typeface="Cambria Math" panose="02040503050406030204" pitchFamily="18" charset="0"/>
                          </a:rPr>
                        </m:ctrlPr>
                      </m:sSubPr>
                      <m:e>
                        <m:r>
                          <a:rPr lang="en-US" altLang="zh-CN" sz="2400" b="0" i="1" dirty="0" smtClean="0">
                            <a:latin typeface="Cambria Math" panose="02040503050406030204" pitchFamily="18" charset="0"/>
                          </a:rPr>
                          <m:t>/</m:t>
                        </m:r>
                        <m:r>
                          <a:rPr lang="zh-CN" altLang="en-US" sz="2400" i="1" dirty="0">
                            <a:latin typeface="Cambria Math" panose="02040503050406030204" pitchFamily="18" charset="0"/>
                          </a:rPr>
                          <m:t>𝑑</m:t>
                        </m:r>
                      </m:e>
                      <m:sub>
                        <m:r>
                          <a:rPr lang="zh-CN" altLang="en-US" sz="2400" dirty="0">
                            <a:latin typeface="Cambria Math" panose="02040503050406030204" pitchFamily="18" charset="0"/>
                          </a:rPr>
                          <m:t>1</m:t>
                        </m:r>
                      </m:sub>
                    </m:sSub>
                  </m:oMath>
                </a14:m>
                <a:endParaRPr lang="zh-CN" altLang="en-US" sz="2400" dirty="0">
                  <a:solidFill>
                    <a:schemeClr val="tx1"/>
                  </a:solidFill>
                </a:endParaRPr>
              </a:p>
            </p:txBody>
          </p:sp>
        </mc:Choice>
        <mc:Fallback xmlns="">
          <p:sp>
            <p:nvSpPr>
              <p:cNvPr id="11" name="文本框 10">
                <a:extLst>
                  <a:ext uri="{FF2B5EF4-FFF2-40B4-BE49-F238E27FC236}">
                    <a16:creationId xmlns:a16="http://schemas.microsoft.com/office/drawing/2014/main" id="{DC7E36D9-D88D-4723-ACEE-AEBBDA2E293D}"/>
                  </a:ext>
                </a:extLst>
              </p:cNvPr>
              <p:cNvSpPr txBox="1">
                <a:spLocks noRot="1" noChangeAspect="1" noMove="1" noResize="1" noEditPoints="1" noAdjustHandles="1" noChangeArrowheads="1" noChangeShapeType="1" noTextEdit="1"/>
              </p:cNvSpPr>
              <p:nvPr/>
            </p:nvSpPr>
            <p:spPr>
              <a:xfrm>
                <a:off x="7768897" y="964404"/>
                <a:ext cx="4621822" cy="830997"/>
              </a:xfrm>
              <a:prstGeom prst="rect">
                <a:avLst/>
              </a:prstGeom>
              <a:blipFill>
                <a:blip r:embed="rId6"/>
                <a:stretch>
                  <a:fillRect l="-1918" t="-4478" b="-1641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文本框 9">
                <a:extLst>
                  <a:ext uri="{FF2B5EF4-FFF2-40B4-BE49-F238E27FC236}">
                    <a16:creationId xmlns:a16="http://schemas.microsoft.com/office/drawing/2014/main" id="{0FB5F9BF-0C80-7D7E-A9EA-D6F000B6C70D}"/>
                  </a:ext>
                </a:extLst>
              </p:cNvPr>
              <p:cNvSpPr txBox="1"/>
              <p:nvPr/>
            </p:nvSpPr>
            <p:spPr>
              <a:xfrm>
                <a:off x="998522" y="2508812"/>
                <a:ext cx="2879033" cy="920188"/>
              </a:xfrm>
              <a:prstGeom prst="rect">
                <a:avLst/>
              </a:prstGeom>
              <a:noFill/>
            </p:spPr>
            <p:txBody>
              <a:bodyPr wrap="square" lIns="0" tIns="0" rIns="0" bIns="0" rtlCol="0">
                <a:spAutoFit/>
              </a:bodyPr>
              <a:lstStyle/>
              <a:p>
                <a14:m>
                  <m:oMath xmlns:m="http://schemas.openxmlformats.org/officeDocument/2006/math">
                    <m:f>
                      <m:fPr>
                        <m:ctrlPr>
                          <a:rPr lang="en-US" altLang="zh-CN" sz="2800" i="1" smtClean="0">
                            <a:latin typeface="Cambria Math" panose="02040503050406030204" pitchFamily="18" charset="0"/>
                          </a:rPr>
                        </m:ctrlPr>
                      </m:fPr>
                      <m:num>
                        <m:nary>
                          <m:naryPr>
                            <m:chr m:val="∑"/>
                            <m:limLoc m:val="undOvr"/>
                            <m:grow m:val="on"/>
                            <m:supHide m:val="on"/>
                            <m:ctrlPr>
                              <a:rPr lang="zh-CN" altLang="en-US" sz="2800" i="1" dirty="0">
                                <a:latin typeface="Cambria Math" panose="02040503050406030204" pitchFamily="18" charset="0"/>
                              </a:rPr>
                            </m:ctrlPr>
                          </m:naryPr>
                          <m:sub>
                            <m:sSub>
                              <m:sSubPr>
                                <m:ctrlPr>
                                  <a:rPr lang="zh-CN" altLang="en-US" sz="2800" i="1" dirty="0">
                                    <a:solidFill>
                                      <a:srgbClr val="FF0000"/>
                                    </a:solidFill>
                                    <a:latin typeface="Cambria Math" panose="02040503050406030204" pitchFamily="18" charset="0"/>
                                  </a:rPr>
                                </m:ctrlPr>
                              </m:sSubPr>
                              <m:e>
                                <m:r>
                                  <a:rPr lang="zh-CN" altLang="en-US" sz="2800" i="1" dirty="0">
                                    <a:solidFill>
                                      <a:srgbClr val="FF0000"/>
                                    </a:solidFill>
                                    <a:latin typeface="Cambria Math" panose="02040503050406030204" pitchFamily="18" charset="0"/>
                                  </a:rPr>
                                  <m:t>𝑓</m:t>
                                </m:r>
                              </m:e>
                              <m:sub>
                                <m:r>
                                  <a:rPr lang="zh-CN" altLang="en-US" sz="2800" dirty="0">
                                    <a:solidFill>
                                      <a:srgbClr val="FF0000"/>
                                    </a:solidFill>
                                    <a:latin typeface="Cambria Math" panose="02040503050406030204" pitchFamily="18" charset="0"/>
                                  </a:rPr>
                                  <m:t>1</m:t>
                                </m:r>
                              </m:sub>
                            </m:sSub>
                            <m:d>
                              <m:dPr>
                                <m:ctrlPr>
                                  <a:rPr lang="zh-CN" altLang="en-US" sz="2800" i="1" dirty="0">
                                    <a:solidFill>
                                      <a:srgbClr val="FF0000"/>
                                    </a:solidFill>
                                    <a:latin typeface="Cambria Math" panose="02040503050406030204" pitchFamily="18" charset="0"/>
                                  </a:rPr>
                                </m:ctrlPr>
                              </m:dPr>
                              <m:e>
                                <m:sSup>
                                  <m:sSupPr>
                                    <m:ctrlPr>
                                      <a:rPr lang="zh-CN" altLang="en-US" sz="2800" i="1" dirty="0">
                                        <a:solidFill>
                                          <a:srgbClr val="FF0000"/>
                                        </a:solidFill>
                                        <a:latin typeface="Cambria Math" panose="02040503050406030204" pitchFamily="18" charset="0"/>
                                      </a:rPr>
                                    </m:ctrlPr>
                                  </m:sSupPr>
                                  <m:e>
                                    <m:r>
                                      <a:rPr lang="zh-CN" altLang="en-US" sz="2800" i="1" dirty="0">
                                        <a:solidFill>
                                          <a:srgbClr val="FF0000"/>
                                        </a:solidFill>
                                        <a:latin typeface="Cambria Math" panose="02040503050406030204" pitchFamily="18" charset="0"/>
                                      </a:rPr>
                                      <m:t>𝑥</m:t>
                                    </m:r>
                                  </m:e>
                                  <m:sup>
                                    <m:r>
                                      <a:rPr lang="zh-CN" altLang="en-US" sz="2800" i="1" dirty="0">
                                        <a:solidFill>
                                          <a:srgbClr val="FF0000"/>
                                        </a:solidFill>
                                        <a:latin typeface="Cambria Math" panose="02040503050406030204" pitchFamily="18" charset="0"/>
                                      </a:rPr>
                                      <m:t>𝑛</m:t>
                                    </m:r>
                                  </m:sup>
                                </m:sSup>
                              </m:e>
                            </m:d>
                            <m:r>
                              <a:rPr lang="zh-CN" altLang="en-US" sz="2800" dirty="0">
                                <a:solidFill>
                                  <a:srgbClr val="FF0000"/>
                                </a:solidFill>
                                <a:latin typeface="Cambria Math" panose="02040503050406030204" pitchFamily="18" charset="0"/>
                              </a:rPr>
                              <m:t>≠</m:t>
                            </m:r>
                            <m:sSup>
                              <m:sSupPr>
                                <m:ctrlPr>
                                  <a:rPr lang="en-US" altLang="zh-CN" sz="2800" i="1" dirty="0">
                                    <a:solidFill>
                                      <a:srgbClr val="FF0000"/>
                                    </a:solidFill>
                                    <a:latin typeface="Cambria Math" panose="02040503050406030204" pitchFamily="18" charset="0"/>
                                  </a:rPr>
                                </m:ctrlPr>
                              </m:sSupPr>
                              <m:e>
                                <m:acc>
                                  <m:accPr>
                                    <m:chr m:val="̂"/>
                                    <m:ctrlPr>
                                      <a:rPr lang="zh-CN" altLang="en-US" sz="2800" i="1" dirty="0">
                                        <a:solidFill>
                                          <a:srgbClr val="FF0000"/>
                                        </a:solidFill>
                                        <a:latin typeface="Cambria Math" panose="02040503050406030204" pitchFamily="18" charset="0"/>
                                      </a:rPr>
                                    </m:ctrlPr>
                                  </m:accPr>
                                  <m:e>
                                    <m:r>
                                      <a:rPr lang="zh-CN" altLang="en-US" sz="2800" i="1" dirty="0">
                                        <a:solidFill>
                                          <a:srgbClr val="FF0000"/>
                                        </a:solidFill>
                                        <a:latin typeface="Cambria Math" panose="02040503050406030204" pitchFamily="18" charset="0"/>
                                      </a:rPr>
                                      <m:t>𝑦</m:t>
                                    </m:r>
                                  </m:e>
                                </m:acc>
                              </m:e>
                              <m:sup>
                                <m:r>
                                  <a:rPr lang="en-US" altLang="zh-CN" sz="2800" i="1" dirty="0">
                                    <a:solidFill>
                                      <a:srgbClr val="FF0000"/>
                                    </a:solidFill>
                                    <a:latin typeface="Cambria Math" panose="02040503050406030204" pitchFamily="18" charset="0"/>
                                  </a:rPr>
                                  <m:t>𝑛</m:t>
                                </m:r>
                              </m:sup>
                            </m:sSup>
                          </m:sub>
                          <m:sup/>
                          <m:e>
                            <m:sSubSup>
                              <m:sSubSupPr>
                                <m:ctrlPr>
                                  <a:rPr lang="zh-CN" altLang="en-US" sz="2800" i="1" dirty="0">
                                    <a:latin typeface="Cambria Math" panose="02040503050406030204" pitchFamily="18" charset="0"/>
                                  </a:rPr>
                                </m:ctrlPr>
                              </m:sSubSupPr>
                              <m:e>
                                <m:r>
                                  <a:rPr lang="zh-CN" altLang="en-US" sz="2800" i="1" dirty="0">
                                    <a:latin typeface="Cambria Math" panose="02040503050406030204" pitchFamily="18" charset="0"/>
                                  </a:rPr>
                                  <m:t>𝑢</m:t>
                                </m:r>
                              </m:e>
                              <m:sub>
                                <m:r>
                                  <a:rPr lang="zh-CN" altLang="en-US" sz="2800" dirty="0">
                                    <a:latin typeface="Cambria Math" panose="02040503050406030204" pitchFamily="18" charset="0"/>
                                  </a:rPr>
                                  <m:t>1</m:t>
                                </m:r>
                              </m:sub>
                              <m:sup>
                                <m:r>
                                  <a:rPr lang="zh-CN" altLang="en-US" sz="2800" i="1" dirty="0">
                                    <a:latin typeface="Cambria Math" panose="02040503050406030204" pitchFamily="18" charset="0"/>
                                  </a:rPr>
                                  <m:t>𝑛</m:t>
                                </m:r>
                              </m:sup>
                            </m:sSubSup>
                            <m:sSub>
                              <m:sSubPr>
                                <m:ctrlPr>
                                  <a:rPr lang="zh-CN" altLang="en-US" sz="2800" i="1" dirty="0">
                                    <a:latin typeface="Cambria Math" panose="02040503050406030204" pitchFamily="18" charset="0"/>
                                  </a:rPr>
                                </m:ctrlPr>
                              </m:sSubPr>
                              <m:e>
                                <m:r>
                                  <a:rPr lang="zh-CN" altLang="en-US" sz="2800" i="1" dirty="0">
                                    <a:latin typeface="Cambria Math" panose="02040503050406030204" pitchFamily="18" charset="0"/>
                                  </a:rPr>
                                  <m:t>𝑑</m:t>
                                </m:r>
                              </m:e>
                              <m:sub>
                                <m:r>
                                  <a:rPr lang="zh-CN" altLang="en-US" sz="2800" dirty="0">
                                    <a:latin typeface="Cambria Math" panose="02040503050406030204" pitchFamily="18" charset="0"/>
                                  </a:rPr>
                                  <m:t>1</m:t>
                                </m:r>
                              </m:sub>
                            </m:sSub>
                          </m:e>
                        </m:nary>
                      </m:num>
                      <m:den>
                        <m:nary>
                          <m:naryPr>
                            <m:chr m:val="∑"/>
                            <m:limLoc m:val="undOvr"/>
                            <m:grow m:val="on"/>
                            <m:supHide m:val="on"/>
                            <m:ctrlPr>
                              <a:rPr lang="zh-CN" altLang="en-US" sz="2800" i="1" dirty="0">
                                <a:latin typeface="Cambria Math" panose="02040503050406030204" pitchFamily="18" charset="0"/>
                              </a:rPr>
                            </m:ctrlPr>
                          </m:naryPr>
                          <m:sub>
                            <m:sSub>
                              <m:sSubPr>
                                <m:ctrlPr>
                                  <a:rPr lang="zh-CN" altLang="en-US" sz="2800" i="1" dirty="0">
                                    <a:solidFill>
                                      <a:schemeClr val="accent1">
                                        <a:lumMod val="60000"/>
                                        <a:lumOff val="40000"/>
                                      </a:schemeClr>
                                    </a:solidFill>
                                    <a:latin typeface="Cambria Math" panose="02040503050406030204" pitchFamily="18" charset="0"/>
                                  </a:rPr>
                                </m:ctrlPr>
                              </m:sSubPr>
                              <m:e>
                                <m:r>
                                  <a:rPr lang="zh-CN" altLang="en-US" sz="2800" i="1" dirty="0">
                                    <a:solidFill>
                                      <a:schemeClr val="accent1">
                                        <a:lumMod val="60000"/>
                                        <a:lumOff val="40000"/>
                                      </a:schemeClr>
                                    </a:solidFill>
                                    <a:latin typeface="Cambria Math" panose="02040503050406030204" pitchFamily="18" charset="0"/>
                                  </a:rPr>
                                  <m:t>𝑓</m:t>
                                </m:r>
                              </m:e>
                              <m:sub>
                                <m:r>
                                  <a:rPr lang="zh-CN" altLang="en-US" sz="2800" dirty="0">
                                    <a:solidFill>
                                      <a:schemeClr val="accent1">
                                        <a:lumMod val="60000"/>
                                        <a:lumOff val="40000"/>
                                      </a:schemeClr>
                                    </a:solidFill>
                                    <a:latin typeface="Cambria Math" panose="02040503050406030204" pitchFamily="18" charset="0"/>
                                  </a:rPr>
                                  <m:t>1</m:t>
                                </m:r>
                              </m:sub>
                            </m:sSub>
                            <m:d>
                              <m:dPr>
                                <m:ctrlPr>
                                  <a:rPr lang="zh-CN" altLang="en-US" sz="2800" i="1" dirty="0">
                                    <a:solidFill>
                                      <a:schemeClr val="accent1">
                                        <a:lumMod val="60000"/>
                                        <a:lumOff val="40000"/>
                                      </a:schemeClr>
                                    </a:solidFill>
                                    <a:latin typeface="Cambria Math" panose="02040503050406030204" pitchFamily="18" charset="0"/>
                                  </a:rPr>
                                </m:ctrlPr>
                              </m:dPr>
                              <m:e>
                                <m:sSup>
                                  <m:sSupPr>
                                    <m:ctrlPr>
                                      <a:rPr lang="zh-CN" altLang="en-US" sz="2800" i="1" dirty="0">
                                        <a:solidFill>
                                          <a:schemeClr val="accent1">
                                            <a:lumMod val="60000"/>
                                            <a:lumOff val="40000"/>
                                          </a:schemeClr>
                                        </a:solidFill>
                                        <a:latin typeface="Cambria Math" panose="02040503050406030204" pitchFamily="18" charset="0"/>
                                      </a:rPr>
                                    </m:ctrlPr>
                                  </m:sSupPr>
                                  <m:e>
                                    <m:r>
                                      <a:rPr lang="zh-CN" altLang="en-US" sz="2800" i="1" dirty="0">
                                        <a:solidFill>
                                          <a:schemeClr val="accent1">
                                            <a:lumMod val="60000"/>
                                            <a:lumOff val="40000"/>
                                          </a:schemeClr>
                                        </a:solidFill>
                                        <a:latin typeface="Cambria Math" panose="02040503050406030204" pitchFamily="18" charset="0"/>
                                      </a:rPr>
                                      <m:t>𝑥</m:t>
                                    </m:r>
                                  </m:e>
                                  <m:sup>
                                    <m:r>
                                      <a:rPr lang="zh-CN" altLang="en-US" sz="2800" i="1" dirty="0">
                                        <a:solidFill>
                                          <a:schemeClr val="accent1">
                                            <a:lumMod val="60000"/>
                                            <a:lumOff val="40000"/>
                                          </a:schemeClr>
                                        </a:solidFill>
                                        <a:latin typeface="Cambria Math" panose="02040503050406030204" pitchFamily="18" charset="0"/>
                                      </a:rPr>
                                      <m:t>𝑛</m:t>
                                    </m:r>
                                  </m:sup>
                                </m:sSup>
                              </m:e>
                            </m:d>
                            <m:r>
                              <a:rPr lang="en-US" altLang="zh-CN" sz="2800" dirty="0">
                                <a:solidFill>
                                  <a:schemeClr val="accent1">
                                    <a:lumMod val="60000"/>
                                    <a:lumOff val="40000"/>
                                  </a:schemeClr>
                                </a:solidFill>
                                <a:latin typeface="Cambria Math" panose="02040503050406030204" pitchFamily="18" charset="0"/>
                              </a:rPr>
                              <m:t>=</m:t>
                            </m:r>
                            <m:sSup>
                              <m:sSupPr>
                                <m:ctrlPr>
                                  <a:rPr lang="en-US" altLang="zh-CN" sz="2800" i="1" dirty="0">
                                    <a:solidFill>
                                      <a:schemeClr val="accent1">
                                        <a:lumMod val="60000"/>
                                        <a:lumOff val="40000"/>
                                      </a:schemeClr>
                                    </a:solidFill>
                                    <a:latin typeface="Cambria Math" panose="02040503050406030204" pitchFamily="18" charset="0"/>
                                  </a:rPr>
                                </m:ctrlPr>
                              </m:sSupPr>
                              <m:e>
                                <m:acc>
                                  <m:accPr>
                                    <m:chr m:val="̂"/>
                                    <m:ctrlPr>
                                      <a:rPr lang="zh-CN" altLang="en-US" sz="2800" i="1" dirty="0">
                                        <a:solidFill>
                                          <a:schemeClr val="accent1">
                                            <a:lumMod val="60000"/>
                                            <a:lumOff val="40000"/>
                                          </a:schemeClr>
                                        </a:solidFill>
                                        <a:latin typeface="Cambria Math" panose="02040503050406030204" pitchFamily="18" charset="0"/>
                                      </a:rPr>
                                    </m:ctrlPr>
                                  </m:accPr>
                                  <m:e>
                                    <m:r>
                                      <a:rPr lang="zh-CN" altLang="en-US" sz="2800" i="1" dirty="0">
                                        <a:solidFill>
                                          <a:schemeClr val="accent1">
                                            <a:lumMod val="60000"/>
                                            <a:lumOff val="40000"/>
                                          </a:schemeClr>
                                        </a:solidFill>
                                        <a:latin typeface="Cambria Math" panose="02040503050406030204" pitchFamily="18" charset="0"/>
                                      </a:rPr>
                                      <m:t>𝑦</m:t>
                                    </m:r>
                                  </m:e>
                                </m:acc>
                              </m:e>
                              <m:sup>
                                <m:r>
                                  <a:rPr lang="en-US" altLang="zh-CN" sz="2800" i="1" dirty="0">
                                    <a:solidFill>
                                      <a:schemeClr val="accent1">
                                        <a:lumMod val="60000"/>
                                        <a:lumOff val="40000"/>
                                      </a:schemeClr>
                                    </a:solidFill>
                                    <a:latin typeface="Cambria Math" panose="02040503050406030204" pitchFamily="18" charset="0"/>
                                  </a:rPr>
                                  <m:t>𝑛</m:t>
                                </m:r>
                              </m:sup>
                            </m:sSup>
                          </m:sub>
                          <m:sup/>
                          <m:e>
                            <m:sSubSup>
                              <m:sSubSupPr>
                                <m:ctrlPr>
                                  <a:rPr lang="zh-CN" altLang="en-US" sz="2800" i="1" dirty="0">
                                    <a:latin typeface="Cambria Math" panose="02040503050406030204" pitchFamily="18" charset="0"/>
                                  </a:rPr>
                                </m:ctrlPr>
                              </m:sSubSupPr>
                              <m:e>
                                <m:r>
                                  <a:rPr lang="zh-CN" altLang="en-US" sz="2800" i="1" dirty="0">
                                    <a:latin typeface="Cambria Math" panose="02040503050406030204" pitchFamily="18" charset="0"/>
                                  </a:rPr>
                                  <m:t>𝑢</m:t>
                                </m:r>
                              </m:e>
                              <m:sub>
                                <m:r>
                                  <a:rPr lang="zh-CN" altLang="en-US" sz="2800" dirty="0">
                                    <a:latin typeface="Cambria Math" panose="02040503050406030204" pitchFamily="18" charset="0"/>
                                  </a:rPr>
                                  <m:t>1</m:t>
                                </m:r>
                              </m:sub>
                              <m:sup>
                                <m:r>
                                  <a:rPr lang="zh-CN" altLang="en-US" sz="2800" i="1" dirty="0">
                                    <a:latin typeface="Cambria Math" panose="02040503050406030204" pitchFamily="18" charset="0"/>
                                  </a:rPr>
                                  <m:t>𝑛</m:t>
                                </m:r>
                              </m:sup>
                            </m:sSubSup>
                            <m:sSub>
                              <m:sSubPr>
                                <m:ctrlPr>
                                  <a:rPr lang="zh-CN" altLang="en-US" sz="2800" i="1" dirty="0">
                                    <a:latin typeface="Cambria Math" panose="02040503050406030204" pitchFamily="18" charset="0"/>
                                  </a:rPr>
                                </m:ctrlPr>
                              </m:sSubPr>
                              <m:e>
                                <m:r>
                                  <a:rPr lang="en-US" altLang="zh-CN" sz="2800" i="1" dirty="0">
                                    <a:latin typeface="Cambria Math" panose="02040503050406030204" pitchFamily="18" charset="0"/>
                                  </a:rPr>
                                  <m:t>/</m:t>
                                </m:r>
                                <m:r>
                                  <a:rPr lang="zh-CN" altLang="en-US" sz="2800" i="1" dirty="0">
                                    <a:latin typeface="Cambria Math" panose="02040503050406030204" pitchFamily="18" charset="0"/>
                                  </a:rPr>
                                  <m:t>𝑑</m:t>
                                </m:r>
                              </m:e>
                              <m:sub>
                                <m:r>
                                  <a:rPr lang="zh-CN" altLang="en-US" sz="2800" dirty="0">
                                    <a:latin typeface="Cambria Math" panose="02040503050406030204" pitchFamily="18" charset="0"/>
                                  </a:rPr>
                                  <m:t>1</m:t>
                                </m:r>
                              </m:sub>
                            </m:sSub>
                          </m:e>
                        </m:nary>
                      </m:den>
                    </m:f>
                  </m:oMath>
                </a14:m>
                <a:r>
                  <a:rPr lang="en-US" altLang="zh-CN" sz="2800" dirty="0">
                    <a:latin typeface="+mn-ea"/>
                  </a:rPr>
                  <a:t>=1</a:t>
                </a:r>
                <a:endParaRPr lang="zh-CN" altLang="en-US" sz="2800" dirty="0">
                  <a:latin typeface="+mn-ea"/>
                </a:endParaRPr>
              </a:p>
            </p:txBody>
          </p:sp>
        </mc:Choice>
        <mc:Fallback xmlns="">
          <p:sp>
            <p:nvSpPr>
              <p:cNvPr id="8" name="文本框 9">
                <a:extLst>
                  <a:ext uri="{FF2B5EF4-FFF2-40B4-BE49-F238E27FC236}">
                    <a16:creationId xmlns:a16="http://schemas.microsoft.com/office/drawing/2014/main" id="{0FB5F9BF-0C80-7D7E-A9EA-D6F000B6C70D}"/>
                  </a:ext>
                </a:extLst>
              </p:cNvPr>
              <p:cNvSpPr txBox="1">
                <a:spLocks noRot="1" noChangeAspect="1" noMove="1" noResize="1" noEditPoints="1" noAdjustHandles="1" noChangeArrowheads="1" noChangeShapeType="1" noTextEdit="1"/>
              </p:cNvSpPr>
              <p:nvPr/>
            </p:nvSpPr>
            <p:spPr>
              <a:xfrm>
                <a:off x="998522" y="2508812"/>
                <a:ext cx="2879033" cy="920188"/>
              </a:xfrm>
              <a:prstGeom prst="rect">
                <a:avLst/>
              </a:prstGeom>
              <a:blipFill>
                <a:blip r:embed="rId7"/>
                <a:stretch>
                  <a:fillRect l="-20175" t="-71622" r="-4825" b="-98649"/>
                </a:stretch>
              </a:blipFill>
            </p:spPr>
            <p:txBody>
              <a:bodyPr/>
              <a:lstStyle/>
              <a:p>
                <a:r>
                  <a:rPr lang="en-CN">
                    <a:noFill/>
                  </a:rPr>
                  <a:t> </a:t>
                </a:r>
              </a:p>
            </p:txBody>
          </p:sp>
        </mc:Fallback>
      </mc:AlternateContent>
      <p:sp>
        <p:nvSpPr>
          <p:cNvPr id="14" name="Right Arrow 13">
            <a:extLst>
              <a:ext uri="{FF2B5EF4-FFF2-40B4-BE49-F238E27FC236}">
                <a16:creationId xmlns:a16="http://schemas.microsoft.com/office/drawing/2014/main" id="{55EF718F-DAEC-E8E0-083A-1B3C473A8C5D}"/>
              </a:ext>
            </a:extLst>
          </p:cNvPr>
          <p:cNvSpPr/>
          <p:nvPr/>
        </p:nvSpPr>
        <p:spPr>
          <a:xfrm rot="10800000">
            <a:off x="4189766" y="2665481"/>
            <a:ext cx="814957" cy="41295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5" name="矩形 17">
            <a:extLst>
              <a:ext uri="{FF2B5EF4-FFF2-40B4-BE49-F238E27FC236}">
                <a16:creationId xmlns:a16="http://schemas.microsoft.com/office/drawing/2014/main" id="{B9AD61ED-4CE6-5498-F968-99F73C69ECED}"/>
              </a:ext>
            </a:extLst>
          </p:cNvPr>
          <p:cNvSpPr/>
          <p:nvPr/>
        </p:nvSpPr>
        <p:spPr>
          <a:xfrm>
            <a:off x="6898805" y="3686312"/>
            <a:ext cx="1966910" cy="61463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sz="2400"/>
          </a:p>
        </p:txBody>
      </p:sp>
      <p:sp>
        <p:nvSpPr>
          <p:cNvPr id="26" name="矩形 18">
            <a:extLst>
              <a:ext uri="{FF2B5EF4-FFF2-40B4-BE49-F238E27FC236}">
                <a16:creationId xmlns:a16="http://schemas.microsoft.com/office/drawing/2014/main" id="{0D0A2119-F507-142C-4C6A-A9D578B00BB8}"/>
              </a:ext>
            </a:extLst>
          </p:cNvPr>
          <p:cNvSpPr/>
          <p:nvPr/>
        </p:nvSpPr>
        <p:spPr>
          <a:xfrm>
            <a:off x="9403918" y="3682221"/>
            <a:ext cx="2146397" cy="6146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mc:AlternateContent xmlns:mc="http://schemas.openxmlformats.org/markup-compatibility/2006" xmlns:a14="http://schemas.microsoft.com/office/drawing/2010/main">
        <mc:Choice Requires="a14">
          <p:sp>
            <p:nvSpPr>
              <p:cNvPr id="27" name="文本框 20">
                <a:extLst>
                  <a:ext uri="{FF2B5EF4-FFF2-40B4-BE49-F238E27FC236}">
                    <a16:creationId xmlns:a16="http://schemas.microsoft.com/office/drawing/2014/main" id="{57BAD9FE-4E6E-2026-A4B1-6819E88C028C}"/>
                  </a:ext>
                </a:extLst>
              </p:cNvPr>
              <p:cNvSpPr txBox="1"/>
              <p:nvPr/>
            </p:nvSpPr>
            <p:spPr>
              <a:xfrm>
                <a:off x="7305369" y="4390110"/>
                <a:ext cx="146155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𝑍</m:t>
                          </m:r>
                        </m:e>
                        <m:sub>
                          <m:r>
                            <a:rPr lang="en-US" altLang="zh-CN" sz="2400" b="0" i="1" smtClean="0">
                              <a:latin typeface="Cambria Math" panose="02040503050406030204" pitchFamily="18" charset="0"/>
                            </a:rPr>
                            <m:t>1</m:t>
                          </m:r>
                        </m:sub>
                      </m:sSub>
                      <m:d>
                        <m:dPr>
                          <m:ctrlPr>
                            <a:rPr lang="en-US" altLang="zh-CN" sz="2400" i="1" smtClean="0">
                              <a:latin typeface="Cambria Math" panose="02040503050406030204" pitchFamily="18" charset="0"/>
                            </a:rPr>
                          </m:ctrlPr>
                        </m:dPr>
                        <m:e>
                          <m:r>
                            <a:rPr lang="en-US" altLang="zh-CN" sz="2400" b="0" i="1" smtClean="0">
                              <a:latin typeface="Cambria Math" panose="02040503050406030204" pitchFamily="18" charset="0"/>
                            </a:rPr>
                            <m:t>1−</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b="0" i="1" smtClean="0">
                                  <a:latin typeface="Cambria Math" panose="02040503050406030204" pitchFamily="18" charset="0"/>
                                </a:rPr>
                                <m:t>1</m:t>
                              </m:r>
                            </m:sub>
                          </m:sSub>
                        </m:e>
                      </m:d>
                    </m:oMath>
                  </m:oMathPara>
                </a14:m>
                <a:endParaRPr lang="zh-CN" altLang="en-US" sz="2400" dirty="0">
                  <a:latin typeface="+mn-ea"/>
                </a:endParaRPr>
              </a:p>
            </p:txBody>
          </p:sp>
        </mc:Choice>
        <mc:Fallback xmlns="">
          <p:sp>
            <p:nvSpPr>
              <p:cNvPr id="27" name="文本框 20">
                <a:extLst>
                  <a:ext uri="{FF2B5EF4-FFF2-40B4-BE49-F238E27FC236}">
                    <a16:creationId xmlns:a16="http://schemas.microsoft.com/office/drawing/2014/main" id="{57BAD9FE-4E6E-2026-A4B1-6819E88C028C}"/>
                  </a:ext>
                </a:extLst>
              </p:cNvPr>
              <p:cNvSpPr txBox="1">
                <a:spLocks noRot="1" noChangeAspect="1" noMove="1" noResize="1" noEditPoints="1" noAdjustHandles="1" noChangeArrowheads="1" noChangeShapeType="1" noTextEdit="1"/>
              </p:cNvSpPr>
              <p:nvPr/>
            </p:nvSpPr>
            <p:spPr>
              <a:xfrm>
                <a:off x="7305369" y="4390110"/>
                <a:ext cx="1461554" cy="369332"/>
              </a:xfrm>
              <a:prstGeom prst="rect">
                <a:avLst/>
              </a:prstGeom>
              <a:blipFill>
                <a:blip r:embed="rId8"/>
                <a:stretch>
                  <a:fillRect l="-3448"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文本框 21">
                <a:extLst>
                  <a:ext uri="{FF2B5EF4-FFF2-40B4-BE49-F238E27FC236}">
                    <a16:creationId xmlns:a16="http://schemas.microsoft.com/office/drawing/2014/main" id="{615EB3EF-4F34-A971-3A2A-2FE62F2D4DB2}"/>
                  </a:ext>
                </a:extLst>
              </p:cNvPr>
              <p:cNvSpPr txBox="1"/>
              <p:nvPr/>
            </p:nvSpPr>
            <p:spPr>
              <a:xfrm>
                <a:off x="10154844" y="4363083"/>
                <a:ext cx="67012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𝑍</m:t>
                          </m:r>
                        </m:e>
                        <m:sub>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1</m:t>
                          </m:r>
                        </m:sub>
                      </m:sSub>
                    </m:oMath>
                  </m:oMathPara>
                </a14:m>
                <a:endParaRPr lang="zh-CN" altLang="en-US" sz="2400" dirty="0">
                  <a:latin typeface="+mn-ea"/>
                </a:endParaRPr>
              </a:p>
            </p:txBody>
          </p:sp>
        </mc:Choice>
        <mc:Fallback xmlns="">
          <p:sp>
            <p:nvSpPr>
              <p:cNvPr id="28" name="文本框 21">
                <a:extLst>
                  <a:ext uri="{FF2B5EF4-FFF2-40B4-BE49-F238E27FC236}">
                    <a16:creationId xmlns:a16="http://schemas.microsoft.com/office/drawing/2014/main" id="{615EB3EF-4F34-A971-3A2A-2FE62F2D4DB2}"/>
                  </a:ext>
                </a:extLst>
              </p:cNvPr>
              <p:cNvSpPr txBox="1">
                <a:spLocks noRot="1" noChangeAspect="1" noMove="1" noResize="1" noEditPoints="1" noAdjustHandles="1" noChangeArrowheads="1" noChangeShapeType="1" noTextEdit="1"/>
              </p:cNvSpPr>
              <p:nvPr/>
            </p:nvSpPr>
            <p:spPr>
              <a:xfrm>
                <a:off x="10154844" y="4363083"/>
                <a:ext cx="670120" cy="369332"/>
              </a:xfrm>
              <a:prstGeom prst="rect">
                <a:avLst/>
              </a:prstGeom>
              <a:blipFill>
                <a:blip r:embed="rId9"/>
                <a:stretch>
                  <a:fillRect l="-7407" r="-1852" b="-1666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D74DB71-B257-F0B2-9916-8DC7280F9FDB}"/>
                  </a:ext>
                </a:extLst>
              </p:cNvPr>
              <p:cNvSpPr txBox="1"/>
              <p:nvPr/>
            </p:nvSpPr>
            <p:spPr>
              <a:xfrm>
                <a:off x="361254" y="4045935"/>
                <a:ext cx="5256882" cy="578556"/>
              </a:xfrm>
              <a:prstGeom prst="rect">
                <a:avLst/>
              </a:prstGeom>
              <a:noFill/>
            </p:spPr>
            <p:txBody>
              <a:bodyPr wrap="square">
                <a:spAutoFit/>
              </a:bodyPr>
              <a:lstStyle/>
              <a:p>
                <a14:m>
                  <m:oMath xmlns:m="http://schemas.openxmlformats.org/officeDocument/2006/math">
                    <m:nary>
                      <m:naryPr>
                        <m:chr m:val="∑"/>
                        <m:limLoc m:val="undOvr"/>
                        <m:grow m:val="on"/>
                        <m:supHide m:val="on"/>
                        <m:ctrlPr>
                          <a:rPr lang="zh-CN" altLang="en-US" sz="2400" i="1" dirty="0">
                            <a:solidFill>
                              <a:prstClr val="black"/>
                            </a:solidFill>
                            <a:latin typeface="Cambria Math" panose="02040503050406030204" pitchFamily="18" charset="0"/>
                          </a:rPr>
                        </m:ctrlPr>
                      </m:naryPr>
                      <m:sub>
                        <m:sSub>
                          <m:sSubPr>
                            <m:ctrlPr>
                              <a:rPr lang="zh-CN" altLang="en-US" sz="2400" i="1" dirty="0">
                                <a:solidFill>
                                  <a:srgbClr val="006BCC">
                                    <a:lumMod val="60000"/>
                                    <a:lumOff val="40000"/>
                                  </a:srgbClr>
                                </a:solidFill>
                                <a:latin typeface="Cambria Math" panose="02040503050406030204" pitchFamily="18" charset="0"/>
                              </a:rPr>
                            </m:ctrlPr>
                          </m:sSubPr>
                          <m:e>
                            <m:r>
                              <a:rPr lang="zh-CN" altLang="en-US" sz="2400" i="1" dirty="0">
                                <a:solidFill>
                                  <a:srgbClr val="006BCC">
                                    <a:lumMod val="60000"/>
                                    <a:lumOff val="40000"/>
                                  </a:srgbClr>
                                </a:solidFill>
                                <a:latin typeface="Cambria Math" panose="02040503050406030204" pitchFamily="18" charset="0"/>
                              </a:rPr>
                              <m:t>𝑓</m:t>
                            </m:r>
                          </m:e>
                          <m:sub>
                            <m:r>
                              <a:rPr lang="zh-CN" altLang="en-US" sz="2400" dirty="0">
                                <a:solidFill>
                                  <a:srgbClr val="006BCC">
                                    <a:lumMod val="60000"/>
                                    <a:lumOff val="40000"/>
                                  </a:srgbClr>
                                </a:solidFill>
                                <a:latin typeface="Cambria Math" panose="02040503050406030204" pitchFamily="18" charset="0"/>
                              </a:rPr>
                              <m:t>1</m:t>
                            </m:r>
                          </m:sub>
                        </m:sSub>
                        <m:d>
                          <m:dPr>
                            <m:ctrlPr>
                              <a:rPr lang="zh-CN" altLang="en-US" sz="2400" i="1" dirty="0">
                                <a:solidFill>
                                  <a:srgbClr val="006BCC">
                                    <a:lumMod val="60000"/>
                                    <a:lumOff val="40000"/>
                                  </a:srgbClr>
                                </a:solidFill>
                                <a:latin typeface="Cambria Math" panose="02040503050406030204" pitchFamily="18" charset="0"/>
                              </a:rPr>
                            </m:ctrlPr>
                          </m:dPr>
                          <m:e>
                            <m:sSup>
                              <m:sSupPr>
                                <m:ctrlPr>
                                  <a:rPr lang="zh-CN" altLang="en-US" sz="2400" i="1" dirty="0">
                                    <a:solidFill>
                                      <a:srgbClr val="006BCC">
                                        <a:lumMod val="60000"/>
                                        <a:lumOff val="40000"/>
                                      </a:srgbClr>
                                    </a:solidFill>
                                    <a:latin typeface="Cambria Math" panose="02040503050406030204" pitchFamily="18" charset="0"/>
                                  </a:rPr>
                                </m:ctrlPr>
                              </m:sSupPr>
                              <m:e>
                                <m:r>
                                  <a:rPr lang="zh-CN" altLang="en-US" sz="2400" i="1" dirty="0">
                                    <a:solidFill>
                                      <a:srgbClr val="006BCC">
                                        <a:lumMod val="60000"/>
                                        <a:lumOff val="40000"/>
                                      </a:srgbClr>
                                    </a:solidFill>
                                    <a:latin typeface="Cambria Math" panose="02040503050406030204" pitchFamily="18" charset="0"/>
                                  </a:rPr>
                                  <m:t>𝑥</m:t>
                                </m:r>
                              </m:e>
                              <m:sup>
                                <m:r>
                                  <a:rPr lang="zh-CN" altLang="en-US" sz="2400" i="1" dirty="0">
                                    <a:solidFill>
                                      <a:srgbClr val="006BCC">
                                        <a:lumMod val="60000"/>
                                        <a:lumOff val="40000"/>
                                      </a:srgbClr>
                                    </a:solidFill>
                                    <a:latin typeface="Cambria Math" panose="02040503050406030204" pitchFamily="18" charset="0"/>
                                  </a:rPr>
                                  <m:t>𝑛</m:t>
                                </m:r>
                              </m:sup>
                            </m:sSup>
                          </m:e>
                        </m:d>
                        <m:r>
                          <a:rPr lang="en-US" altLang="zh-CN" sz="2400" dirty="0">
                            <a:solidFill>
                              <a:srgbClr val="006BCC">
                                <a:lumMod val="60000"/>
                                <a:lumOff val="40000"/>
                              </a:srgbClr>
                            </a:solidFill>
                            <a:latin typeface="Cambria Math" panose="02040503050406030204" pitchFamily="18" charset="0"/>
                          </a:rPr>
                          <m:t>=</m:t>
                        </m:r>
                        <m:sSup>
                          <m:sSupPr>
                            <m:ctrlPr>
                              <a:rPr lang="en-US" altLang="zh-CN" sz="2400" i="1" dirty="0">
                                <a:solidFill>
                                  <a:srgbClr val="006BCC">
                                    <a:lumMod val="60000"/>
                                    <a:lumOff val="40000"/>
                                  </a:srgbClr>
                                </a:solidFill>
                                <a:latin typeface="Cambria Math" panose="02040503050406030204" pitchFamily="18" charset="0"/>
                              </a:rPr>
                            </m:ctrlPr>
                          </m:sSupPr>
                          <m:e>
                            <m:acc>
                              <m:accPr>
                                <m:chr m:val="̂"/>
                                <m:ctrlPr>
                                  <a:rPr lang="zh-CN" altLang="en-US" sz="2400" i="1" dirty="0">
                                    <a:solidFill>
                                      <a:srgbClr val="006BCC">
                                        <a:lumMod val="60000"/>
                                        <a:lumOff val="40000"/>
                                      </a:srgbClr>
                                    </a:solidFill>
                                    <a:latin typeface="Cambria Math" panose="02040503050406030204" pitchFamily="18" charset="0"/>
                                  </a:rPr>
                                </m:ctrlPr>
                              </m:accPr>
                              <m:e>
                                <m:r>
                                  <a:rPr lang="zh-CN" altLang="en-US" sz="2400" i="1" dirty="0">
                                    <a:solidFill>
                                      <a:srgbClr val="006BCC">
                                        <a:lumMod val="60000"/>
                                        <a:lumOff val="40000"/>
                                      </a:srgbClr>
                                    </a:solidFill>
                                    <a:latin typeface="Cambria Math" panose="02040503050406030204" pitchFamily="18" charset="0"/>
                                  </a:rPr>
                                  <m:t>𝑦</m:t>
                                </m:r>
                              </m:e>
                            </m:acc>
                          </m:e>
                          <m:sup>
                            <m:r>
                              <a:rPr lang="en-US" altLang="zh-CN" sz="2400" i="1" dirty="0">
                                <a:solidFill>
                                  <a:srgbClr val="006BCC">
                                    <a:lumMod val="60000"/>
                                    <a:lumOff val="40000"/>
                                  </a:srgbClr>
                                </a:solidFill>
                                <a:latin typeface="Cambria Math" panose="02040503050406030204" pitchFamily="18" charset="0"/>
                              </a:rPr>
                              <m:t>𝑛</m:t>
                            </m:r>
                          </m:sup>
                        </m:sSup>
                      </m:sub>
                      <m:sup/>
                      <m:e>
                        <m:sSubSup>
                          <m:sSubSupPr>
                            <m:ctrlPr>
                              <a:rPr lang="zh-CN" altLang="en-US" sz="2400" i="1" dirty="0">
                                <a:solidFill>
                                  <a:prstClr val="black"/>
                                </a:solidFill>
                                <a:latin typeface="Cambria Math" panose="02040503050406030204" pitchFamily="18" charset="0"/>
                              </a:rPr>
                            </m:ctrlPr>
                          </m:sSubSupPr>
                          <m:e>
                            <m:r>
                              <a:rPr lang="zh-CN" altLang="en-US" sz="2400" i="1" dirty="0">
                                <a:solidFill>
                                  <a:prstClr val="black"/>
                                </a:solidFill>
                                <a:latin typeface="Cambria Math" panose="02040503050406030204" pitchFamily="18" charset="0"/>
                              </a:rPr>
                              <m:t>𝑢</m:t>
                            </m:r>
                          </m:e>
                          <m:sub>
                            <m:r>
                              <a:rPr lang="zh-CN" altLang="en-US" sz="2400" dirty="0">
                                <a:solidFill>
                                  <a:prstClr val="black"/>
                                </a:solidFill>
                                <a:latin typeface="Cambria Math" panose="02040503050406030204" pitchFamily="18" charset="0"/>
                              </a:rPr>
                              <m:t>1</m:t>
                            </m:r>
                          </m:sub>
                          <m:sup>
                            <m:r>
                              <a:rPr lang="zh-CN" altLang="en-US" sz="2400" i="1" dirty="0">
                                <a:solidFill>
                                  <a:prstClr val="black"/>
                                </a:solidFill>
                                <a:latin typeface="Cambria Math" panose="02040503050406030204" pitchFamily="18" charset="0"/>
                              </a:rPr>
                              <m:t>𝑛</m:t>
                            </m:r>
                          </m:sup>
                        </m:sSubSup>
                        <m:sSub>
                          <m:sSubPr>
                            <m:ctrlPr>
                              <a:rPr lang="zh-CN" altLang="en-US" sz="2400" i="1" dirty="0">
                                <a:solidFill>
                                  <a:prstClr val="black"/>
                                </a:solidFill>
                                <a:latin typeface="Cambria Math" panose="02040503050406030204" pitchFamily="18" charset="0"/>
                              </a:rPr>
                            </m:ctrlPr>
                          </m:sSubPr>
                          <m:e>
                            <m:r>
                              <a:rPr lang="en-US" altLang="zh-CN" sz="2400" i="1" dirty="0">
                                <a:solidFill>
                                  <a:prstClr val="black"/>
                                </a:solidFill>
                                <a:latin typeface="Cambria Math" panose="02040503050406030204" pitchFamily="18" charset="0"/>
                              </a:rPr>
                              <m:t>/</m:t>
                            </m:r>
                            <m:r>
                              <a:rPr lang="zh-CN" altLang="en-US" sz="2400" i="1" dirty="0">
                                <a:solidFill>
                                  <a:prstClr val="black"/>
                                </a:solidFill>
                                <a:latin typeface="Cambria Math" panose="02040503050406030204" pitchFamily="18" charset="0"/>
                              </a:rPr>
                              <m:t>𝑑</m:t>
                            </m:r>
                          </m:e>
                          <m:sub>
                            <m:r>
                              <a:rPr lang="zh-CN" altLang="en-US" sz="2400" dirty="0">
                                <a:solidFill>
                                  <a:prstClr val="black"/>
                                </a:solidFill>
                                <a:latin typeface="Cambria Math" panose="02040503050406030204" pitchFamily="18" charset="0"/>
                              </a:rPr>
                              <m:t>1</m:t>
                            </m:r>
                          </m:sub>
                        </m:sSub>
                      </m:e>
                    </m:nary>
                  </m:oMath>
                </a14:m>
                <a:r>
                  <a:rPr lang="en-US" altLang="zh-CN" sz="2400" dirty="0">
                    <a:solidFill>
                      <a:prstClr val="black"/>
                    </a:solidFill>
                  </a:rPr>
                  <a:t>=</a:t>
                </a:r>
                <a:r>
                  <a:rPr lang="zh-CN" altLang="en-US" sz="2400" dirty="0">
                    <a:solidFill>
                      <a:prstClr val="black"/>
                    </a:solidFill>
                  </a:rPr>
                  <a:t> </a:t>
                </a:r>
                <a14:m>
                  <m:oMath xmlns:m="http://schemas.openxmlformats.org/officeDocument/2006/math">
                    <m:nary>
                      <m:naryPr>
                        <m:chr m:val="∑"/>
                        <m:limLoc m:val="undOvr"/>
                        <m:grow m:val="on"/>
                        <m:supHide m:val="on"/>
                        <m:ctrlPr>
                          <a:rPr lang="zh-CN" altLang="en-US" sz="2400" i="1" dirty="0">
                            <a:solidFill>
                              <a:prstClr val="black"/>
                            </a:solidFill>
                            <a:latin typeface="Cambria Math" panose="02040503050406030204" pitchFamily="18" charset="0"/>
                          </a:rPr>
                        </m:ctrlPr>
                      </m:naryPr>
                      <m:sub>
                        <m:sSub>
                          <m:sSubPr>
                            <m:ctrlPr>
                              <a:rPr lang="zh-CN" altLang="en-US" sz="2400" i="1" dirty="0">
                                <a:solidFill>
                                  <a:srgbClr val="FF0000"/>
                                </a:solidFill>
                                <a:latin typeface="Cambria Math" panose="02040503050406030204" pitchFamily="18" charset="0"/>
                              </a:rPr>
                            </m:ctrlPr>
                          </m:sSubPr>
                          <m:e>
                            <m:r>
                              <a:rPr lang="zh-CN" altLang="en-US" sz="2400" i="1" dirty="0">
                                <a:solidFill>
                                  <a:srgbClr val="FF0000"/>
                                </a:solidFill>
                                <a:latin typeface="Cambria Math" panose="02040503050406030204" pitchFamily="18" charset="0"/>
                              </a:rPr>
                              <m:t>𝑓</m:t>
                            </m:r>
                          </m:e>
                          <m:sub>
                            <m:r>
                              <a:rPr lang="zh-CN" altLang="en-US" sz="2400" dirty="0">
                                <a:solidFill>
                                  <a:srgbClr val="FF0000"/>
                                </a:solidFill>
                                <a:latin typeface="Cambria Math" panose="02040503050406030204" pitchFamily="18" charset="0"/>
                              </a:rPr>
                              <m:t>1</m:t>
                            </m:r>
                          </m:sub>
                        </m:sSub>
                        <m:d>
                          <m:dPr>
                            <m:ctrlPr>
                              <a:rPr lang="zh-CN" altLang="en-US" sz="2400" i="1" dirty="0">
                                <a:solidFill>
                                  <a:srgbClr val="FF0000"/>
                                </a:solidFill>
                                <a:latin typeface="Cambria Math" panose="02040503050406030204" pitchFamily="18" charset="0"/>
                              </a:rPr>
                            </m:ctrlPr>
                          </m:dPr>
                          <m:e>
                            <m:sSup>
                              <m:sSupPr>
                                <m:ctrlPr>
                                  <a:rPr lang="zh-CN" altLang="en-US" sz="2400" i="1" dirty="0">
                                    <a:solidFill>
                                      <a:srgbClr val="FF0000"/>
                                    </a:solidFill>
                                    <a:latin typeface="Cambria Math" panose="02040503050406030204" pitchFamily="18" charset="0"/>
                                  </a:rPr>
                                </m:ctrlPr>
                              </m:sSupPr>
                              <m:e>
                                <m:r>
                                  <a:rPr lang="zh-CN" altLang="en-US" sz="2400" i="1" dirty="0">
                                    <a:solidFill>
                                      <a:srgbClr val="FF0000"/>
                                    </a:solidFill>
                                    <a:latin typeface="Cambria Math" panose="02040503050406030204" pitchFamily="18" charset="0"/>
                                  </a:rPr>
                                  <m:t>𝑥</m:t>
                                </m:r>
                              </m:e>
                              <m:sup>
                                <m:r>
                                  <a:rPr lang="zh-CN" altLang="en-US" sz="2400" i="1" dirty="0">
                                    <a:solidFill>
                                      <a:srgbClr val="FF0000"/>
                                    </a:solidFill>
                                    <a:latin typeface="Cambria Math" panose="02040503050406030204" pitchFamily="18" charset="0"/>
                                  </a:rPr>
                                  <m:t>𝑛</m:t>
                                </m:r>
                              </m:sup>
                            </m:sSup>
                          </m:e>
                        </m:d>
                        <m:r>
                          <a:rPr lang="zh-CN" altLang="en-US" sz="2400" dirty="0">
                            <a:solidFill>
                              <a:srgbClr val="FF0000"/>
                            </a:solidFill>
                            <a:latin typeface="Cambria Math" panose="02040503050406030204" pitchFamily="18" charset="0"/>
                          </a:rPr>
                          <m:t>≠</m:t>
                        </m:r>
                        <m:sSup>
                          <m:sSupPr>
                            <m:ctrlPr>
                              <a:rPr lang="en-US" altLang="zh-CN" sz="2400" i="1" dirty="0">
                                <a:solidFill>
                                  <a:srgbClr val="FF0000"/>
                                </a:solidFill>
                                <a:latin typeface="Cambria Math" panose="02040503050406030204" pitchFamily="18" charset="0"/>
                              </a:rPr>
                            </m:ctrlPr>
                          </m:sSupPr>
                          <m:e>
                            <m:acc>
                              <m:accPr>
                                <m:chr m:val="̂"/>
                                <m:ctrlPr>
                                  <a:rPr lang="zh-CN" altLang="en-US" sz="2400" i="1" dirty="0">
                                    <a:solidFill>
                                      <a:srgbClr val="FF0000"/>
                                    </a:solidFill>
                                    <a:latin typeface="Cambria Math" panose="02040503050406030204" pitchFamily="18" charset="0"/>
                                  </a:rPr>
                                </m:ctrlPr>
                              </m:accPr>
                              <m:e>
                                <m:r>
                                  <a:rPr lang="zh-CN" altLang="en-US" sz="2400" i="1" dirty="0">
                                    <a:solidFill>
                                      <a:srgbClr val="FF0000"/>
                                    </a:solidFill>
                                    <a:latin typeface="Cambria Math" panose="02040503050406030204" pitchFamily="18" charset="0"/>
                                  </a:rPr>
                                  <m:t>𝑦</m:t>
                                </m:r>
                              </m:e>
                            </m:acc>
                          </m:e>
                          <m:sup>
                            <m:r>
                              <a:rPr lang="en-US" altLang="zh-CN" sz="2400" i="1" dirty="0">
                                <a:solidFill>
                                  <a:srgbClr val="FF0000"/>
                                </a:solidFill>
                                <a:latin typeface="Cambria Math" panose="02040503050406030204" pitchFamily="18" charset="0"/>
                              </a:rPr>
                              <m:t>𝑛</m:t>
                            </m:r>
                          </m:sup>
                        </m:sSup>
                      </m:sub>
                      <m:sup/>
                      <m:e>
                        <m:sSubSup>
                          <m:sSubSupPr>
                            <m:ctrlPr>
                              <a:rPr lang="zh-CN" altLang="en-US" sz="2400" i="1" dirty="0">
                                <a:solidFill>
                                  <a:prstClr val="black"/>
                                </a:solidFill>
                                <a:latin typeface="Cambria Math" panose="02040503050406030204" pitchFamily="18" charset="0"/>
                              </a:rPr>
                            </m:ctrlPr>
                          </m:sSubSupPr>
                          <m:e>
                            <m:r>
                              <a:rPr lang="zh-CN" altLang="en-US" sz="2400" i="1" dirty="0">
                                <a:solidFill>
                                  <a:prstClr val="black"/>
                                </a:solidFill>
                                <a:latin typeface="Cambria Math" panose="02040503050406030204" pitchFamily="18" charset="0"/>
                              </a:rPr>
                              <m:t>𝑢</m:t>
                            </m:r>
                          </m:e>
                          <m:sub>
                            <m:r>
                              <a:rPr lang="zh-CN" altLang="en-US" sz="2400" dirty="0">
                                <a:solidFill>
                                  <a:prstClr val="black"/>
                                </a:solidFill>
                                <a:latin typeface="Cambria Math" panose="02040503050406030204" pitchFamily="18" charset="0"/>
                              </a:rPr>
                              <m:t>1</m:t>
                            </m:r>
                          </m:sub>
                          <m:sup>
                            <m:r>
                              <a:rPr lang="zh-CN" altLang="en-US" sz="2400" i="1" dirty="0">
                                <a:solidFill>
                                  <a:prstClr val="black"/>
                                </a:solidFill>
                                <a:latin typeface="Cambria Math" panose="02040503050406030204" pitchFamily="18" charset="0"/>
                              </a:rPr>
                              <m:t>𝑛</m:t>
                            </m:r>
                          </m:sup>
                        </m:sSubSup>
                        <m:sSub>
                          <m:sSubPr>
                            <m:ctrlPr>
                              <a:rPr lang="zh-CN" altLang="en-US" sz="2400" i="1" dirty="0">
                                <a:solidFill>
                                  <a:prstClr val="black"/>
                                </a:solidFill>
                                <a:latin typeface="Cambria Math" panose="02040503050406030204" pitchFamily="18" charset="0"/>
                              </a:rPr>
                            </m:ctrlPr>
                          </m:sSubPr>
                          <m:e>
                            <m:r>
                              <a:rPr lang="zh-CN" altLang="en-US" sz="2400" i="1" dirty="0">
                                <a:solidFill>
                                  <a:prstClr val="black"/>
                                </a:solidFill>
                                <a:latin typeface="Cambria Math" panose="02040503050406030204" pitchFamily="18" charset="0"/>
                              </a:rPr>
                              <m:t>𝑑</m:t>
                            </m:r>
                          </m:e>
                          <m:sub>
                            <m:r>
                              <a:rPr lang="zh-CN" altLang="en-US" sz="2400" dirty="0">
                                <a:solidFill>
                                  <a:prstClr val="black"/>
                                </a:solidFill>
                                <a:latin typeface="Cambria Math" panose="02040503050406030204" pitchFamily="18" charset="0"/>
                              </a:rPr>
                              <m:t>1</m:t>
                            </m:r>
                          </m:sub>
                        </m:sSub>
                      </m:e>
                    </m:nary>
                  </m:oMath>
                </a14:m>
                <a:endParaRPr lang="en-CN" dirty="0"/>
              </a:p>
            </p:txBody>
          </p:sp>
        </mc:Choice>
        <mc:Fallback xmlns="">
          <p:sp>
            <p:nvSpPr>
              <p:cNvPr id="29" name="TextBox 28">
                <a:extLst>
                  <a:ext uri="{FF2B5EF4-FFF2-40B4-BE49-F238E27FC236}">
                    <a16:creationId xmlns:a16="http://schemas.microsoft.com/office/drawing/2014/main" id="{DD74DB71-B257-F0B2-9916-8DC7280F9FDB}"/>
                  </a:ext>
                </a:extLst>
              </p:cNvPr>
              <p:cNvSpPr txBox="1">
                <a:spLocks noRot="1" noChangeAspect="1" noMove="1" noResize="1" noEditPoints="1" noAdjustHandles="1" noChangeArrowheads="1" noChangeShapeType="1" noTextEdit="1"/>
              </p:cNvSpPr>
              <p:nvPr/>
            </p:nvSpPr>
            <p:spPr>
              <a:xfrm>
                <a:off x="361254" y="4045935"/>
                <a:ext cx="5256882" cy="578556"/>
              </a:xfrm>
              <a:prstGeom prst="rect">
                <a:avLst/>
              </a:prstGeom>
              <a:blipFill>
                <a:blip r:embed="rId10"/>
                <a:stretch>
                  <a:fillRect l="-11325" t="-127660" b="-17872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0" name="文本框 13">
                <a:extLst>
                  <a:ext uri="{FF2B5EF4-FFF2-40B4-BE49-F238E27FC236}">
                    <a16:creationId xmlns:a16="http://schemas.microsoft.com/office/drawing/2014/main" id="{6FDD09F6-60F5-4B15-5067-DE2F8BE31D12}"/>
                  </a:ext>
                </a:extLst>
              </p:cNvPr>
              <p:cNvSpPr txBox="1"/>
              <p:nvPr/>
            </p:nvSpPr>
            <p:spPr>
              <a:xfrm>
                <a:off x="-78840" y="5286362"/>
                <a:ext cx="3956395" cy="9842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zh-CN" altLang="en-US" sz="2400" i="1" dirty="0">
                              <a:latin typeface="Cambria Math" panose="02040503050406030204" pitchFamily="18" charset="0"/>
                            </a:rPr>
                            <m:t>错误</m:t>
                          </m:r>
                          <m:r>
                            <a:rPr lang="zh-CN" altLang="en-US" sz="2400" i="1" dirty="0" smtClean="0">
                              <a:latin typeface="Cambria Math" panose="02040503050406030204" pitchFamily="18" charset="0"/>
                            </a:rPr>
                            <m:t>率</m:t>
                          </m:r>
                          <m:r>
                            <a:rPr lang="zh-CN" altLang="en-US" sz="2400" i="1" dirty="0">
                              <a:latin typeface="Cambria Math" panose="02040503050406030204" pitchFamily="18" charset="0"/>
                            </a:rPr>
                            <m:t>：</m:t>
                          </m:r>
                          <m:r>
                            <a:rPr lang="zh-CN" altLang="en-US" sz="2400" i="1" dirty="0" smtClean="0">
                              <a:solidFill>
                                <a:schemeClr val="tx1"/>
                              </a:solidFill>
                              <a:latin typeface="Cambria Math" panose="02040503050406030204" pitchFamily="18" charset="0"/>
                            </a:rPr>
                            <m:t>𝜀</m:t>
                          </m:r>
                        </m:e>
                        <m:sub>
                          <m:r>
                            <a:rPr lang="zh-CN" altLang="en-US" sz="2400" i="0" dirty="0" smtClean="0">
                              <a:solidFill>
                                <a:schemeClr val="tx1"/>
                              </a:solidFill>
                              <a:latin typeface="Cambria Math" panose="02040503050406030204" pitchFamily="18" charset="0"/>
                            </a:rPr>
                            <m:t>1</m:t>
                          </m:r>
                        </m:sub>
                      </m:sSub>
                      <m:r>
                        <a:rPr lang="zh-CN" altLang="en-US" sz="2400" i="0" dirty="0" smtClean="0">
                          <a:solidFill>
                            <a:schemeClr val="tx1"/>
                          </a:solidFill>
                          <a:latin typeface="Cambria Math" panose="02040503050406030204" pitchFamily="18" charset="0"/>
                        </a:rPr>
                        <m:t>=</m:t>
                      </m:r>
                      <m:f>
                        <m:fPr>
                          <m:ctrlPr>
                            <a:rPr lang="zh-CN" altLang="en-US" sz="2400" i="1" dirty="0" smtClean="0">
                              <a:solidFill>
                                <a:schemeClr val="tx1"/>
                              </a:solidFill>
                              <a:latin typeface="Cambria Math" panose="02040503050406030204" pitchFamily="18" charset="0"/>
                            </a:rPr>
                          </m:ctrlPr>
                        </m:fPr>
                        <m:num>
                          <m:nary>
                            <m:naryPr>
                              <m:chr m:val="∑"/>
                              <m:limLoc m:val="undOvr"/>
                              <m:grow m:val="on"/>
                              <m:supHide m:val="on"/>
                              <m:ctrlPr>
                                <a:rPr lang="zh-CN" altLang="en-US" sz="2400" i="1" dirty="0">
                                  <a:latin typeface="Cambria Math" panose="02040503050406030204" pitchFamily="18" charset="0"/>
                                </a:rPr>
                              </m:ctrlPr>
                            </m:naryPr>
                            <m:sub>
                              <m:sSub>
                                <m:sSubPr>
                                  <m:ctrlPr>
                                    <a:rPr lang="zh-CN" altLang="en-US" sz="2400" i="1" dirty="0">
                                      <a:solidFill>
                                        <a:srgbClr val="FF0000"/>
                                      </a:solidFill>
                                      <a:latin typeface="Cambria Math" panose="02040503050406030204" pitchFamily="18" charset="0"/>
                                    </a:rPr>
                                  </m:ctrlPr>
                                </m:sSubPr>
                                <m:e>
                                  <m:r>
                                    <a:rPr lang="zh-CN" altLang="en-US" sz="2400" i="1" dirty="0">
                                      <a:solidFill>
                                        <a:srgbClr val="FF0000"/>
                                      </a:solidFill>
                                      <a:latin typeface="Cambria Math" panose="02040503050406030204" pitchFamily="18" charset="0"/>
                                    </a:rPr>
                                    <m:t>𝑓</m:t>
                                  </m:r>
                                </m:e>
                                <m:sub>
                                  <m:r>
                                    <a:rPr lang="zh-CN" altLang="en-US" sz="2400" dirty="0">
                                      <a:solidFill>
                                        <a:srgbClr val="FF0000"/>
                                      </a:solidFill>
                                      <a:latin typeface="Cambria Math" panose="02040503050406030204" pitchFamily="18" charset="0"/>
                                    </a:rPr>
                                    <m:t>1</m:t>
                                  </m:r>
                                </m:sub>
                              </m:sSub>
                              <m:d>
                                <m:dPr>
                                  <m:ctrlPr>
                                    <a:rPr lang="zh-CN" altLang="en-US" sz="2400" i="1" dirty="0">
                                      <a:solidFill>
                                        <a:srgbClr val="FF0000"/>
                                      </a:solidFill>
                                      <a:latin typeface="Cambria Math" panose="02040503050406030204" pitchFamily="18" charset="0"/>
                                    </a:rPr>
                                  </m:ctrlPr>
                                </m:dPr>
                                <m:e>
                                  <m:sSup>
                                    <m:sSupPr>
                                      <m:ctrlPr>
                                        <a:rPr lang="zh-CN" altLang="en-US" sz="2400" i="1" dirty="0">
                                          <a:solidFill>
                                            <a:srgbClr val="FF0000"/>
                                          </a:solidFill>
                                          <a:latin typeface="Cambria Math" panose="02040503050406030204" pitchFamily="18" charset="0"/>
                                        </a:rPr>
                                      </m:ctrlPr>
                                    </m:sSupPr>
                                    <m:e>
                                      <m:r>
                                        <a:rPr lang="zh-CN" altLang="en-US" sz="2400" i="1" dirty="0">
                                          <a:solidFill>
                                            <a:srgbClr val="FF0000"/>
                                          </a:solidFill>
                                          <a:latin typeface="Cambria Math" panose="02040503050406030204" pitchFamily="18" charset="0"/>
                                        </a:rPr>
                                        <m:t>𝑥</m:t>
                                      </m:r>
                                    </m:e>
                                    <m:sup>
                                      <m:r>
                                        <a:rPr lang="zh-CN" altLang="en-US" sz="2400" i="1" dirty="0">
                                          <a:solidFill>
                                            <a:srgbClr val="FF0000"/>
                                          </a:solidFill>
                                          <a:latin typeface="Cambria Math" panose="02040503050406030204" pitchFamily="18" charset="0"/>
                                        </a:rPr>
                                        <m:t>𝑛</m:t>
                                      </m:r>
                                    </m:sup>
                                  </m:sSup>
                                </m:e>
                              </m:d>
                              <m:r>
                                <a:rPr lang="zh-CN" altLang="en-US" sz="2400" dirty="0">
                                  <a:solidFill>
                                    <a:srgbClr val="FF0000"/>
                                  </a:solidFill>
                                  <a:latin typeface="Cambria Math" panose="02040503050406030204" pitchFamily="18" charset="0"/>
                                </a:rPr>
                                <m:t>≠</m:t>
                              </m:r>
                              <m:sSup>
                                <m:sSupPr>
                                  <m:ctrlPr>
                                    <a:rPr lang="en-US" altLang="zh-CN" sz="2400" i="1" dirty="0">
                                      <a:solidFill>
                                        <a:srgbClr val="FF0000"/>
                                      </a:solidFill>
                                      <a:latin typeface="Cambria Math" panose="02040503050406030204" pitchFamily="18" charset="0"/>
                                    </a:rPr>
                                  </m:ctrlPr>
                                </m:sSupPr>
                                <m:e>
                                  <m:acc>
                                    <m:accPr>
                                      <m:chr m:val="̂"/>
                                      <m:ctrlPr>
                                        <a:rPr lang="zh-CN" altLang="en-US" sz="2400" i="1" dirty="0">
                                          <a:solidFill>
                                            <a:srgbClr val="FF0000"/>
                                          </a:solidFill>
                                          <a:latin typeface="Cambria Math" panose="02040503050406030204" pitchFamily="18" charset="0"/>
                                        </a:rPr>
                                      </m:ctrlPr>
                                    </m:accPr>
                                    <m:e>
                                      <m:r>
                                        <a:rPr lang="zh-CN" altLang="en-US" sz="2400" i="1" dirty="0">
                                          <a:solidFill>
                                            <a:srgbClr val="FF0000"/>
                                          </a:solidFill>
                                          <a:latin typeface="Cambria Math" panose="02040503050406030204" pitchFamily="18" charset="0"/>
                                        </a:rPr>
                                        <m:t>𝑦</m:t>
                                      </m:r>
                                    </m:e>
                                  </m:acc>
                                </m:e>
                                <m:sup>
                                  <m:r>
                                    <a:rPr lang="en-US" altLang="zh-CN" sz="2400" i="1" dirty="0">
                                      <a:solidFill>
                                        <a:srgbClr val="FF0000"/>
                                      </a:solidFill>
                                      <a:latin typeface="Cambria Math" panose="02040503050406030204" pitchFamily="18" charset="0"/>
                                    </a:rPr>
                                    <m:t>𝑛</m:t>
                                  </m:r>
                                </m:sup>
                              </m:sSup>
                            </m:sub>
                            <m:sup/>
                            <m:e>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e>
                          </m:nary>
                        </m:num>
                        <m:den>
                          <m:sSub>
                            <m:sSubPr>
                              <m:ctrlPr>
                                <a:rPr lang="zh-CN" altLang="en-US" sz="240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𝑍</m:t>
                              </m:r>
                            </m:e>
                            <m:sub>
                              <m:r>
                                <a:rPr lang="zh-CN" altLang="en-US" sz="2400" i="0" dirty="0" smtClean="0">
                                  <a:solidFill>
                                    <a:schemeClr val="tx1"/>
                                  </a:solidFill>
                                  <a:latin typeface="Cambria Math" panose="02040503050406030204" pitchFamily="18" charset="0"/>
                                </a:rPr>
                                <m:t>1</m:t>
                              </m:r>
                            </m:sub>
                          </m:sSub>
                        </m:den>
                      </m:f>
                    </m:oMath>
                  </m:oMathPara>
                </a14:m>
                <a:endParaRPr lang="zh-CN" altLang="en-US" sz="2400" dirty="0"/>
              </a:p>
            </p:txBody>
          </p:sp>
        </mc:Choice>
        <mc:Fallback xmlns="">
          <p:sp>
            <p:nvSpPr>
              <p:cNvPr id="30" name="文本框 13">
                <a:extLst>
                  <a:ext uri="{FF2B5EF4-FFF2-40B4-BE49-F238E27FC236}">
                    <a16:creationId xmlns:a16="http://schemas.microsoft.com/office/drawing/2014/main" id="{6FDD09F6-60F5-4B15-5067-DE2F8BE31D12}"/>
                  </a:ext>
                </a:extLst>
              </p:cNvPr>
              <p:cNvSpPr txBox="1">
                <a:spLocks noRot="1" noChangeAspect="1" noMove="1" noResize="1" noEditPoints="1" noAdjustHandles="1" noChangeArrowheads="1" noChangeShapeType="1" noTextEdit="1"/>
              </p:cNvSpPr>
              <p:nvPr/>
            </p:nvSpPr>
            <p:spPr>
              <a:xfrm>
                <a:off x="-78840" y="5286362"/>
                <a:ext cx="3956395" cy="984244"/>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15">
                <a:extLst>
                  <a:ext uri="{FF2B5EF4-FFF2-40B4-BE49-F238E27FC236}">
                    <a16:creationId xmlns:a16="http://schemas.microsoft.com/office/drawing/2014/main" id="{693F4CAE-0E8D-2833-D1D8-5CC7DB3CC9F4}"/>
                  </a:ext>
                </a:extLst>
              </p:cNvPr>
              <p:cNvSpPr txBox="1"/>
              <p:nvPr/>
            </p:nvSpPr>
            <p:spPr>
              <a:xfrm>
                <a:off x="3877555" y="5554107"/>
                <a:ext cx="3595962" cy="578556"/>
              </a:xfrm>
              <a:prstGeom prst="rect">
                <a:avLst/>
              </a:prstGeom>
              <a:noFill/>
            </p:spPr>
            <p:txBody>
              <a:bodyPr wrap="square">
                <a:spAutoFit/>
              </a:bodyPr>
              <a:lstStyle/>
              <a:p>
                <a:r>
                  <a:rPr lang="zh-CN" altLang="en-US" sz="2400" dirty="0">
                    <a:solidFill>
                      <a:schemeClr val="tx1"/>
                    </a:solidFill>
                  </a:rPr>
                  <a:t>则</a:t>
                </a:r>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𝑍</m:t>
                            </m:r>
                          </m:e>
                          <m:sub>
                            <m:r>
                              <a:rPr lang="zh-CN" altLang="en-US" sz="2400" dirty="0">
                                <a:latin typeface="Cambria Math" panose="02040503050406030204" pitchFamily="18" charset="0"/>
                              </a:rPr>
                              <m:t>1</m:t>
                            </m:r>
                          </m:sub>
                        </m:sSub>
                        <m:r>
                          <a:rPr lang="zh-CN" altLang="en-US" sz="2400" i="1" dirty="0" smtClean="0">
                            <a:solidFill>
                              <a:schemeClr val="tx1"/>
                            </a:solidFill>
                            <a:latin typeface="Cambria Math" panose="02040503050406030204" pitchFamily="18" charset="0"/>
                          </a:rPr>
                          <m:t>𝜀</m:t>
                        </m:r>
                      </m:e>
                      <m:sub>
                        <m:r>
                          <a:rPr lang="zh-CN" altLang="en-US" sz="2400" i="0" dirty="0" smtClean="0">
                            <a:solidFill>
                              <a:schemeClr val="tx1"/>
                            </a:solidFill>
                            <a:latin typeface="Cambria Math" panose="02040503050406030204" pitchFamily="18" charset="0"/>
                          </a:rPr>
                          <m:t>1</m:t>
                        </m:r>
                      </m:sub>
                    </m:sSub>
                    <m:r>
                      <a:rPr lang="zh-CN" altLang="en-US" sz="2400" i="0" dirty="0" smtClean="0">
                        <a:solidFill>
                          <a:schemeClr val="tx1"/>
                        </a:solidFill>
                        <a:latin typeface="Cambria Math" panose="02040503050406030204" pitchFamily="18" charset="0"/>
                      </a:rPr>
                      <m:t>=</m:t>
                    </m:r>
                  </m:oMath>
                </a14:m>
                <a:r>
                  <a:rPr lang="zh-CN" altLang="en-US" sz="2400" dirty="0"/>
                  <a:t> </a:t>
                </a:r>
                <a14:m>
                  <m:oMath xmlns:m="http://schemas.openxmlformats.org/officeDocument/2006/math">
                    <m:nary>
                      <m:naryPr>
                        <m:chr m:val="∑"/>
                        <m:limLoc m:val="undOvr"/>
                        <m:grow m:val="on"/>
                        <m:supHide m:val="on"/>
                        <m:ctrlPr>
                          <a:rPr lang="zh-CN" altLang="en-US" sz="2400" i="1" dirty="0">
                            <a:latin typeface="Cambria Math" panose="02040503050406030204" pitchFamily="18" charset="0"/>
                          </a:rPr>
                        </m:ctrlPr>
                      </m:naryPr>
                      <m:sub>
                        <m:sSub>
                          <m:sSubPr>
                            <m:ctrlPr>
                              <a:rPr lang="zh-CN" altLang="en-US" sz="2400" i="1" dirty="0">
                                <a:solidFill>
                                  <a:srgbClr val="FF0000"/>
                                </a:solidFill>
                                <a:latin typeface="Cambria Math" panose="02040503050406030204" pitchFamily="18" charset="0"/>
                              </a:rPr>
                            </m:ctrlPr>
                          </m:sSubPr>
                          <m:e>
                            <m:r>
                              <a:rPr lang="zh-CN" altLang="en-US" sz="2400" i="1" dirty="0">
                                <a:solidFill>
                                  <a:srgbClr val="FF0000"/>
                                </a:solidFill>
                                <a:latin typeface="Cambria Math" panose="02040503050406030204" pitchFamily="18" charset="0"/>
                              </a:rPr>
                              <m:t>𝑓</m:t>
                            </m:r>
                          </m:e>
                          <m:sub>
                            <m:r>
                              <a:rPr lang="zh-CN" altLang="en-US" sz="2400" dirty="0">
                                <a:solidFill>
                                  <a:srgbClr val="FF0000"/>
                                </a:solidFill>
                                <a:latin typeface="Cambria Math" panose="02040503050406030204" pitchFamily="18" charset="0"/>
                              </a:rPr>
                              <m:t>1</m:t>
                            </m:r>
                          </m:sub>
                        </m:sSub>
                        <m:d>
                          <m:dPr>
                            <m:ctrlPr>
                              <a:rPr lang="zh-CN" altLang="en-US" sz="2400" i="1" dirty="0">
                                <a:solidFill>
                                  <a:srgbClr val="FF0000"/>
                                </a:solidFill>
                                <a:latin typeface="Cambria Math" panose="02040503050406030204" pitchFamily="18" charset="0"/>
                              </a:rPr>
                            </m:ctrlPr>
                          </m:dPr>
                          <m:e>
                            <m:sSup>
                              <m:sSupPr>
                                <m:ctrlPr>
                                  <a:rPr lang="zh-CN" altLang="en-US" sz="2400" i="1" dirty="0">
                                    <a:solidFill>
                                      <a:srgbClr val="FF0000"/>
                                    </a:solidFill>
                                    <a:latin typeface="Cambria Math" panose="02040503050406030204" pitchFamily="18" charset="0"/>
                                  </a:rPr>
                                </m:ctrlPr>
                              </m:sSupPr>
                              <m:e>
                                <m:r>
                                  <a:rPr lang="zh-CN" altLang="en-US" sz="2400" i="1" dirty="0">
                                    <a:solidFill>
                                      <a:srgbClr val="FF0000"/>
                                    </a:solidFill>
                                    <a:latin typeface="Cambria Math" panose="02040503050406030204" pitchFamily="18" charset="0"/>
                                  </a:rPr>
                                  <m:t>𝑥</m:t>
                                </m:r>
                              </m:e>
                              <m:sup>
                                <m:r>
                                  <a:rPr lang="zh-CN" altLang="en-US" sz="2400" i="1" dirty="0">
                                    <a:solidFill>
                                      <a:srgbClr val="FF0000"/>
                                    </a:solidFill>
                                    <a:latin typeface="Cambria Math" panose="02040503050406030204" pitchFamily="18" charset="0"/>
                                  </a:rPr>
                                  <m:t>𝑛</m:t>
                                </m:r>
                              </m:sup>
                            </m:sSup>
                          </m:e>
                        </m:d>
                        <m:r>
                          <a:rPr lang="zh-CN" altLang="en-US" sz="2400" dirty="0">
                            <a:solidFill>
                              <a:srgbClr val="FF0000"/>
                            </a:solidFill>
                            <a:latin typeface="Cambria Math" panose="02040503050406030204" pitchFamily="18" charset="0"/>
                          </a:rPr>
                          <m:t>≠</m:t>
                        </m:r>
                        <m:sSup>
                          <m:sSupPr>
                            <m:ctrlPr>
                              <a:rPr lang="en-US" altLang="zh-CN" sz="2400" i="1" dirty="0">
                                <a:solidFill>
                                  <a:srgbClr val="FF0000"/>
                                </a:solidFill>
                                <a:latin typeface="Cambria Math" panose="02040503050406030204" pitchFamily="18" charset="0"/>
                              </a:rPr>
                            </m:ctrlPr>
                          </m:sSupPr>
                          <m:e>
                            <m:acc>
                              <m:accPr>
                                <m:chr m:val="̂"/>
                                <m:ctrlPr>
                                  <a:rPr lang="zh-CN" altLang="en-US" sz="2400" i="1" dirty="0">
                                    <a:solidFill>
                                      <a:srgbClr val="FF0000"/>
                                    </a:solidFill>
                                    <a:latin typeface="Cambria Math" panose="02040503050406030204" pitchFamily="18" charset="0"/>
                                  </a:rPr>
                                </m:ctrlPr>
                              </m:accPr>
                              <m:e>
                                <m:r>
                                  <a:rPr lang="zh-CN" altLang="en-US" sz="2400" i="1" dirty="0">
                                    <a:solidFill>
                                      <a:srgbClr val="FF0000"/>
                                    </a:solidFill>
                                    <a:latin typeface="Cambria Math" panose="02040503050406030204" pitchFamily="18" charset="0"/>
                                  </a:rPr>
                                  <m:t>𝑦</m:t>
                                </m:r>
                              </m:e>
                            </m:acc>
                          </m:e>
                          <m:sup>
                            <m:r>
                              <a:rPr lang="en-US" altLang="zh-CN" sz="2400" i="1" dirty="0">
                                <a:solidFill>
                                  <a:srgbClr val="FF0000"/>
                                </a:solidFill>
                                <a:latin typeface="Cambria Math" panose="02040503050406030204" pitchFamily="18" charset="0"/>
                              </a:rPr>
                              <m:t>𝑛</m:t>
                            </m:r>
                          </m:sup>
                        </m:sSup>
                      </m:sub>
                      <m:sup/>
                      <m:e>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a:rPr lang="zh-CN" altLang="en-US" sz="2400" dirty="0">
                                <a:latin typeface="Cambria Math" panose="02040503050406030204" pitchFamily="18" charset="0"/>
                              </a:rPr>
                              <m:t>1</m:t>
                            </m:r>
                          </m:sub>
                          <m:sup>
                            <m:r>
                              <a:rPr lang="zh-CN" altLang="en-US" sz="2400" i="1" dirty="0">
                                <a:latin typeface="Cambria Math" panose="02040503050406030204" pitchFamily="18" charset="0"/>
                              </a:rPr>
                              <m:t>𝑛</m:t>
                            </m:r>
                          </m:sup>
                        </m:sSubSup>
                      </m:e>
                    </m:nary>
                  </m:oMath>
                </a14:m>
                <a:endParaRPr lang="zh-CN" altLang="en-US" sz="2400" dirty="0"/>
              </a:p>
            </p:txBody>
          </p:sp>
        </mc:Choice>
        <mc:Fallback xmlns="">
          <p:sp>
            <p:nvSpPr>
              <p:cNvPr id="31" name="文本框 15">
                <a:extLst>
                  <a:ext uri="{FF2B5EF4-FFF2-40B4-BE49-F238E27FC236}">
                    <a16:creationId xmlns:a16="http://schemas.microsoft.com/office/drawing/2014/main" id="{693F4CAE-0E8D-2833-D1D8-5CC7DB3CC9F4}"/>
                  </a:ext>
                </a:extLst>
              </p:cNvPr>
              <p:cNvSpPr txBox="1">
                <a:spLocks noRot="1" noChangeAspect="1" noMove="1" noResize="1" noEditPoints="1" noAdjustHandles="1" noChangeArrowheads="1" noChangeShapeType="1" noTextEdit="1"/>
              </p:cNvSpPr>
              <p:nvPr/>
            </p:nvSpPr>
            <p:spPr>
              <a:xfrm>
                <a:off x="3877555" y="5554107"/>
                <a:ext cx="3595962" cy="578556"/>
              </a:xfrm>
              <a:prstGeom prst="rect">
                <a:avLst/>
              </a:prstGeom>
              <a:blipFill>
                <a:blip r:embed="rId12"/>
                <a:stretch>
                  <a:fillRect l="-2542" t="-132632" b="-1810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字方塊 10">
                <a:extLst>
                  <a:ext uri="{FF2B5EF4-FFF2-40B4-BE49-F238E27FC236}">
                    <a16:creationId xmlns:a16="http://schemas.microsoft.com/office/drawing/2014/main" id="{5A922015-5096-D668-DA14-E264FA72DFA5}"/>
                  </a:ext>
                </a:extLst>
              </p:cNvPr>
              <p:cNvSpPr txBox="1"/>
              <p:nvPr/>
            </p:nvSpPr>
            <p:spPr>
              <a:xfrm>
                <a:off x="7430292" y="5610853"/>
                <a:ext cx="4120023" cy="521810"/>
              </a:xfrm>
              <a:prstGeom prst="rect">
                <a:avLst/>
              </a:prstGeom>
              <a:solidFill>
                <a:schemeClr val="accent4">
                  <a:lumMod val="40000"/>
                  <a:lumOff val="60000"/>
                </a:schemeClr>
              </a:solid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rPr>
                          </m:ctrlPr>
                        </m:sSubPr>
                        <m:e>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rPr>
                            <m:t>𝑑</m:t>
                          </m:r>
                        </m:e>
                        <m:sub>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rPr>
                            <m:t>1</m:t>
                          </m:r>
                        </m:sub>
                      </m:sSub>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rPr>
                        <m:t>=</m:t>
                      </m:r>
                      <m:rad>
                        <m:radPr>
                          <m:degHide m:val="on"/>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rPr>
                          </m:ctrlPr>
                        </m:radPr>
                        <m:deg/>
                        <m:e>
                          <m:f>
                            <m:fPr>
                              <m:type m:val="lin"/>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rPr>
                              </m:ctrlPr>
                            </m:fPr>
                            <m:num>
                              <m:d>
                                <m:dPr>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rPr>
                                  </m:ctrlPr>
                                </m:dPr>
                                <m:e>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rPr>
                                    <m:t>1−</m:t>
                                  </m:r>
                                  <m:sSub>
                                    <m:sSubPr>
                                      <m:ctrlP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rPr>
                                        <m:t>𝜀</m:t>
                                      </m:r>
                                    </m:e>
                                    <m:sub>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rPr>
                                        <m:t>1</m:t>
                                      </m:r>
                                    </m:sub>
                                  </m:sSub>
                                </m:e>
                              </m:d>
                            </m:num>
                            <m:den>
                              <m:sSub>
                                <m:sSubPr>
                                  <m:ctrlP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rPr>
                                    <m:t>𝜀</m:t>
                                  </m:r>
                                </m:e>
                                <m:sub>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rPr>
                                    <m:t>1</m:t>
                                  </m:r>
                                </m:sub>
                              </m:sSub>
                            </m:den>
                          </m:f>
                        </m:e>
                      </m:rad>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rPr>
                        <m:t>&gt;1</m:t>
                      </m:r>
                    </m:oMath>
                  </m:oMathPara>
                </a14:m>
                <a:endParaRPr kumimoji="0" lang="zh-TW" altLang="en-US" sz="2800" b="0" i="0" u="none" strike="noStrike" kern="1200" cap="none" spc="0" normalizeH="0" baseline="0" noProof="0" dirty="0">
                  <a:ln>
                    <a:noFill/>
                  </a:ln>
                  <a:solidFill>
                    <a:prstClr val="black"/>
                  </a:solidFill>
                  <a:effectLst/>
                  <a:uLnTx/>
                  <a:uFillTx/>
                  <a:latin typeface="Arial" charset="0"/>
                  <a:ea typeface="新細明體"/>
                </a:endParaRPr>
              </a:p>
            </p:txBody>
          </p:sp>
        </mc:Choice>
        <mc:Fallback xmlns="">
          <p:sp>
            <p:nvSpPr>
              <p:cNvPr id="32" name="文字方塊 10">
                <a:extLst>
                  <a:ext uri="{FF2B5EF4-FFF2-40B4-BE49-F238E27FC236}">
                    <a16:creationId xmlns:a16="http://schemas.microsoft.com/office/drawing/2014/main" id="{5A922015-5096-D668-DA14-E264FA72DFA5}"/>
                  </a:ext>
                </a:extLst>
              </p:cNvPr>
              <p:cNvSpPr txBox="1">
                <a:spLocks noRot="1" noChangeAspect="1" noMove="1" noResize="1" noEditPoints="1" noAdjustHandles="1" noChangeArrowheads="1" noChangeShapeType="1" noTextEdit="1"/>
              </p:cNvSpPr>
              <p:nvPr/>
            </p:nvSpPr>
            <p:spPr>
              <a:xfrm>
                <a:off x="7430292" y="5610853"/>
                <a:ext cx="4120023" cy="521810"/>
              </a:xfrm>
              <a:prstGeom prst="rect">
                <a:avLst/>
              </a:prstGeom>
              <a:blipFill>
                <a:blip r:embed="rId13"/>
                <a:stretch>
                  <a:fillRect t="-119048" b="-20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3" name="文本框 22">
                <a:extLst>
                  <a:ext uri="{FF2B5EF4-FFF2-40B4-BE49-F238E27FC236}">
                    <a16:creationId xmlns:a16="http://schemas.microsoft.com/office/drawing/2014/main" id="{9761567F-90EA-245B-DB87-B96C4CF5F14E}"/>
                  </a:ext>
                </a:extLst>
              </p:cNvPr>
              <p:cNvSpPr txBox="1"/>
              <p:nvPr/>
            </p:nvSpPr>
            <p:spPr>
              <a:xfrm>
                <a:off x="8017836" y="5105812"/>
                <a:ext cx="3595964" cy="369332"/>
              </a:xfrm>
              <a:prstGeom prst="rect">
                <a:avLst/>
              </a:prstGeom>
              <a:noFill/>
            </p:spPr>
            <p:txBody>
              <a:bodyPr wrap="square" lIns="0" tIns="0" rIns="0" bIns="0" rtlCol="0">
                <a:spAutoFit/>
              </a:bodyPr>
              <a:lstStyle/>
              <a:p>
                <a14:m>
                  <m:oMath xmlns:m="http://schemas.openxmlformats.org/officeDocument/2006/math">
                    <m:f>
                      <m:fPr>
                        <m:type m:val="lin"/>
                        <m:ctrlPr>
                          <a:rPr lang="en-US" altLang="zh-TW" sz="2400" i="1" smtClean="0">
                            <a:solidFill>
                              <a:prstClr val="black"/>
                            </a:solidFill>
                            <a:latin typeface="Cambria Math" panose="02040503050406030204" pitchFamily="18" charset="0"/>
                            <a:ea typeface="Cambria Math" panose="02040503050406030204" pitchFamily="18" charset="0"/>
                          </a:rPr>
                        </m:ctrlPr>
                      </m:fPr>
                      <m:num>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𝑍</m:t>
                            </m:r>
                          </m:e>
                          <m:sub>
                            <m:r>
                              <a:rPr lang="en-US" altLang="zh-CN" sz="2400" i="1">
                                <a:latin typeface="Cambria Math" panose="02040503050406030204" pitchFamily="18" charset="0"/>
                              </a:rPr>
                              <m:t>1</m:t>
                            </m:r>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1−</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1</m:t>
                                </m:r>
                              </m:sub>
                            </m:sSub>
                          </m:e>
                        </m:d>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i="1">
                                <a:latin typeface="Cambria Math" panose="02040503050406030204" pitchFamily="18" charset="0"/>
                              </a:rPr>
                              <m:t>1</m:t>
                            </m:r>
                          </m:sub>
                        </m:sSub>
                      </m:den>
                    </m:f>
                  </m:oMath>
                </a14:m>
                <a:r>
                  <a:rPr lang="en-US" altLang="zh-CN" sz="2400" dirty="0">
                    <a:latin typeface="+mn-ea"/>
                  </a:rPr>
                  <a:t> =</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𝑍</m:t>
                        </m:r>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𝜀</m:t>
                        </m:r>
                      </m:e>
                      <m:sub>
                        <m:r>
                          <a:rPr lang="en-US" altLang="zh-CN" sz="2400" i="1">
                            <a:latin typeface="Cambria Math" panose="02040503050406030204" pitchFamily="18" charset="0"/>
                          </a:rPr>
                          <m:t>1</m:t>
                        </m:r>
                      </m:sub>
                    </m:sSub>
                  </m:oMath>
                </a14:m>
                <a:r>
                  <a:rPr lang="en-US" altLang="zh-TW" sz="2400" dirty="0">
                    <a:solidFill>
                      <a:prstClr val="black"/>
                    </a:solidFill>
                    <a:ea typeface="Cambria Math" panose="02040503050406030204" pitchFamily="18" charset="0"/>
                  </a:rPr>
                  <a:t> </a:t>
                </a:r>
                <a14:m>
                  <m:oMath xmlns:m="http://schemas.openxmlformats.org/officeDocument/2006/math">
                    <m:sSub>
                      <m:sSubPr>
                        <m:ctrlPr>
                          <a:rPr lang="en-US" altLang="zh-TW" sz="2400" i="1">
                            <a:solidFill>
                              <a:prstClr val="black"/>
                            </a:solidFill>
                            <a:latin typeface="Cambria Math" panose="02040503050406030204" pitchFamily="18" charset="0"/>
                            <a:ea typeface="Cambria Math" panose="02040503050406030204" pitchFamily="18" charset="0"/>
                          </a:rPr>
                        </m:ctrlPr>
                      </m:sSubPr>
                      <m:e>
                        <m:r>
                          <a:rPr lang="en-US" altLang="zh-TW" sz="2400" i="1">
                            <a:solidFill>
                              <a:prstClr val="black"/>
                            </a:solidFill>
                            <a:latin typeface="Cambria Math" panose="02040503050406030204" pitchFamily="18" charset="0"/>
                            <a:ea typeface="Cambria Math" panose="02040503050406030204" pitchFamily="18" charset="0"/>
                          </a:rPr>
                          <m:t>𝑑</m:t>
                        </m:r>
                      </m:e>
                      <m:sub>
                        <m:r>
                          <a:rPr lang="en-US" altLang="zh-TW" sz="2400" i="1">
                            <a:solidFill>
                              <a:prstClr val="black"/>
                            </a:solidFill>
                            <a:latin typeface="Cambria Math" panose="02040503050406030204" pitchFamily="18" charset="0"/>
                            <a:ea typeface="Cambria Math" panose="02040503050406030204" pitchFamily="18" charset="0"/>
                          </a:rPr>
                          <m:t>1</m:t>
                        </m:r>
                      </m:sub>
                    </m:sSub>
                  </m:oMath>
                </a14:m>
                <a:endParaRPr lang="zh-CN" altLang="en-US" sz="2400" dirty="0">
                  <a:latin typeface="+mn-ea"/>
                </a:endParaRPr>
              </a:p>
            </p:txBody>
          </p:sp>
        </mc:Choice>
        <mc:Fallback xmlns="">
          <p:sp>
            <p:nvSpPr>
              <p:cNvPr id="33" name="文本框 22">
                <a:extLst>
                  <a:ext uri="{FF2B5EF4-FFF2-40B4-BE49-F238E27FC236}">
                    <a16:creationId xmlns:a16="http://schemas.microsoft.com/office/drawing/2014/main" id="{9761567F-90EA-245B-DB87-B96C4CF5F14E}"/>
                  </a:ext>
                </a:extLst>
              </p:cNvPr>
              <p:cNvSpPr txBox="1">
                <a:spLocks noRot="1" noChangeAspect="1" noMove="1" noResize="1" noEditPoints="1" noAdjustHandles="1" noChangeArrowheads="1" noChangeShapeType="1" noTextEdit="1"/>
              </p:cNvSpPr>
              <p:nvPr/>
            </p:nvSpPr>
            <p:spPr>
              <a:xfrm>
                <a:off x="8017836" y="5105812"/>
                <a:ext cx="3595964" cy="369332"/>
              </a:xfrm>
              <a:prstGeom prst="rect">
                <a:avLst/>
              </a:prstGeom>
              <a:blipFill>
                <a:blip r:embed="rId14"/>
                <a:stretch>
                  <a:fillRect l="-2817" t="-170000" b="-250000"/>
                </a:stretch>
              </a:blipFill>
            </p:spPr>
            <p:txBody>
              <a:bodyPr/>
              <a:lstStyle/>
              <a:p>
                <a:r>
                  <a:rPr lang="en-CN">
                    <a:noFill/>
                  </a:rPr>
                  <a:t> </a:t>
                </a:r>
              </a:p>
            </p:txBody>
          </p:sp>
        </mc:Fallback>
      </mc:AlternateContent>
      <p:sp>
        <p:nvSpPr>
          <p:cNvPr id="34" name="Right Arrow 33">
            <a:extLst>
              <a:ext uri="{FF2B5EF4-FFF2-40B4-BE49-F238E27FC236}">
                <a16:creationId xmlns:a16="http://schemas.microsoft.com/office/drawing/2014/main" id="{EBAEB378-332B-4DE9-32BF-3A2216EFDB5C}"/>
              </a:ext>
            </a:extLst>
          </p:cNvPr>
          <p:cNvSpPr/>
          <p:nvPr/>
        </p:nvSpPr>
        <p:spPr>
          <a:xfrm rot="5400000">
            <a:off x="2207054" y="3567824"/>
            <a:ext cx="459257" cy="4156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ight Arrow 34">
            <a:extLst>
              <a:ext uri="{FF2B5EF4-FFF2-40B4-BE49-F238E27FC236}">
                <a16:creationId xmlns:a16="http://schemas.microsoft.com/office/drawing/2014/main" id="{FF527C12-F674-A22A-FC37-666AC32E7637}"/>
              </a:ext>
            </a:extLst>
          </p:cNvPr>
          <p:cNvSpPr/>
          <p:nvPr/>
        </p:nvSpPr>
        <p:spPr>
          <a:xfrm>
            <a:off x="5484786" y="4200226"/>
            <a:ext cx="601858" cy="36933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矩形 20"/>
          <p:cNvSpPr/>
          <p:nvPr/>
        </p:nvSpPr>
        <p:spPr>
          <a:xfrm>
            <a:off x="746974" y="759901"/>
            <a:ext cx="2348720" cy="461665"/>
          </a:xfrm>
          <a:prstGeom prst="rect">
            <a:avLst/>
          </a:prstGeom>
        </p:spPr>
        <p:txBody>
          <a:bodyPr wrap="none">
            <a:spAutoFit/>
          </a:bodyPr>
          <a:lstStyle/>
          <a:p>
            <a:r>
              <a:rPr lang="en-US" altLang="zh-CN" sz="2400" b="1" dirty="0">
                <a:solidFill>
                  <a:srgbClr val="FF0000"/>
                </a:solidFill>
                <a:latin typeface="+mn-ea"/>
              </a:rPr>
              <a:t>d</a:t>
            </a:r>
            <a:r>
              <a:rPr lang="en-US" altLang="zh-CN" sz="2400" b="1" baseline="-25000" dirty="0">
                <a:solidFill>
                  <a:srgbClr val="FF0000"/>
                </a:solidFill>
                <a:latin typeface="+mn-ea"/>
              </a:rPr>
              <a:t>1</a:t>
            </a:r>
            <a:r>
              <a:rPr lang="zh-CN" altLang="en-US" sz="2400" b="1" dirty="0">
                <a:solidFill>
                  <a:srgbClr val="FF0000"/>
                </a:solidFill>
                <a:latin typeface="+mn-ea"/>
              </a:rPr>
              <a:t>的值是什么？</a:t>
            </a:r>
            <a:endParaRPr lang="en-US" altLang="zh-CN" sz="2400" b="1" dirty="0">
              <a:solidFill>
                <a:srgbClr val="FF0000"/>
              </a:solidFill>
              <a:latin typeface="+mn-ea"/>
            </a:endParaRPr>
          </a:p>
        </p:txBody>
      </p:sp>
      <p:sp>
        <p:nvSpPr>
          <p:cNvPr id="3" name="灯片编号占位符 2">
            <a:extLst>
              <a:ext uri="{FF2B5EF4-FFF2-40B4-BE49-F238E27FC236}">
                <a16:creationId xmlns:a16="http://schemas.microsoft.com/office/drawing/2014/main" id="{9CD41C12-B52F-4DA6-8F9F-87EC57EBB6CF}"/>
              </a:ext>
            </a:extLst>
          </p:cNvPr>
          <p:cNvSpPr>
            <a:spLocks noGrp="1"/>
          </p:cNvSpPr>
          <p:nvPr>
            <p:ph type="sldNum" sz="quarter" idx="14"/>
          </p:nvPr>
        </p:nvSpPr>
        <p:spPr/>
        <p:txBody>
          <a:bodyPr/>
          <a:lstStyle/>
          <a:p>
            <a:fld id="{AF69888C-E133-43D9-A638-B5C95925B91C}" type="slidenum">
              <a:rPr lang="zh-CN" altLang="en-US" smtClean="0"/>
              <a:t>33</a:t>
            </a:fld>
            <a:endParaRPr lang="zh-CN" altLang="en-US" dirty="0"/>
          </a:p>
        </p:txBody>
      </p:sp>
    </p:spTree>
    <p:extLst>
      <p:ext uri="{BB962C8B-B14F-4D97-AF65-F5344CB8AC3E}">
        <p14:creationId xmlns:p14="http://schemas.microsoft.com/office/powerpoint/2010/main" val="226428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blinds(horizontal)">
                                      <p:cBhvr>
                                        <p:cTn id="20" dur="500"/>
                                        <p:tgtEl>
                                          <p:spTgt spid="2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xEl>
                                              <p:pRg st="0" end="0"/>
                                            </p:txEl>
                                          </p:spTgt>
                                        </p:tgtEl>
                                        <p:attrNameLst>
                                          <p:attrName>style.visibility</p:attrName>
                                        </p:attrNameLst>
                                      </p:cBhvr>
                                      <p:to>
                                        <p:strVal val="visible"/>
                                      </p:to>
                                    </p:set>
                                    <p:animEffect transition="in" filter="fade">
                                      <p:cBhvr>
                                        <p:cTn id="29" dur="500"/>
                                        <p:tgtEl>
                                          <p:spTgt spid="24">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7">
                                            <p:txEl>
                                              <p:pRg st="0" end="0"/>
                                            </p:txEl>
                                          </p:spTgt>
                                        </p:tgtEl>
                                        <p:attrNameLst>
                                          <p:attrName>style.visibility</p:attrName>
                                        </p:attrNameLst>
                                      </p:cBhvr>
                                      <p:to>
                                        <p:strVal val="visible"/>
                                      </p:to>
                                    </p:set>
                                    <p:animEffect transition="in" filter="fade">
                                      <p:cBhvr>
                                        <p:cTn id="49" dur="500"/>
                                        <p:tgtEl>
                                          <p:spTgt spid="27">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8">
                                            <p:txEl>
                                              <p:pRg st="0" end="0"/>
                                            </p:txEl>
                                          </p:spTgt>
                                        </p:tgtEl>
                                        <p:attrNameLst>
                                          <p:attrName>style.visibility</p:attrName>
                                        </p:attrNameLst>
                                      </p:cBhvr>
                                      <p:to>
                                        <p:strVal val="visible"/>
                                      </p:to>
                                    </p:set>
                                    <p:animEffect transition="in" filter="fade">
                                      <p:cBhvr>
                                        <p:cTn id="59" dur="500"/>
                                        <p:tgtEl>
                                          <p:spTgt spid="28">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animBg="1"/>
      <p:bldP spid="25" grpId="0" animBg="1"/>
      <p:bldP spid="26" grpId="0" animBg="1"/>
      <p:bldP spid="29" grpId="0"/>
      <p:bldP spid="30" grpId="0"/>
      <p:bldP spid="31" grpId="0"/>
      <p:bldP spid="32" grpId="0" animBg="1"/>
      <p:bldP spid="33" grpId="0"/>
      <p:bldP spid="34" grpId="0" animBg="1"/>
      <p:bldP spid="3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20BE577-0D28-B044-70EF-4C3B53FE6412}"/>
              </a:ext>
            </a:extLst>
          </p:cNvPr>
          <p:cNvSpPr>
            <a:spLocks noGrp="1"/>
          </p:cNvSpPr>
          <p:nvPr>
            <p:ph type="body" sz="quarter" idx="12"/>
          </p:nvPr>
        </p:nvSpPr>
        <p:spPr/>
        <p:txBody>
          <a:bodyPr/>
          <a:lstStyle/>
          <a:p>
            <a:pPr marL="0" indent="0">
              <a:buNone/>
            </a:pPr>
            <a:r>
              <a:rPr lang="en-US" altLang="zh-CN" dirty="0"/>
              <a:t>AdaBoost</a:t>
            </a:r>
            <a:r>
              <a:rPr lang="zh-CN" altLang="en-US" dirty="0"/>
              <a:t>算法</a:t>
            </a:r>
          </a:p>
        </p:txBody>
      </p:sp>
      <p:sp>
        <p:nvSpPr>
          <p:cNvPr id="3" name="文本框 2">
            <a:extLst>
              <a:ext uri="{FF2B5EF4-FFF2-40B4-BE49-F238E27FC236}">
                <a16:creationId xmlns:a16="http://schemas.microsoft.com/office/drawing/2014/main" id="{E2851AAC-3CF0-DE53-B26C-3EF7278C23C2}"/>
              </a:ext>
            </a:extLst>
          </p:cNvPr>
          <p:cNvSpPr txBox="1"/>
          <p:nvPr/>
        </p:nvSpPr>
        <p:spPr>
          <a:xfrm>
            <a:off x="757990" y="969488"/>
            <a:ext cx="10491536" cy="461665"/>
          </a:xfrm>
          <a:prstGeom prst="rect">
            <a:avLst/>
          </a:prstGeom>
          <a:noFill/>
        </p:spPr>
        <p:txBody>
          <a:bodyPr wrap="square" rtlCol="0">
            <a:spAutoFit/>
          </a:bodyPr>
          <a:lstStyle/>
          <a:p>
            <a:pPr marL="342900" indent="-342900" algn="l">
              <a:buFont typeface="Wingdings" pitchFamily="2" charset="2"/>
              <a:buChar char="Ø"/>
            </a:pPr>
            <a:r>
              <a:rPr lang="zh-CN" altLang="en-US" sz="2400" dirty="0">
                <a:latin typeface="+mn-ea"/>
              </a:rPr>
              <a:t>给定如下训练数据：</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60C69F8-8964-60E7-97BB-163188401873}"/>
                  </a:ext>
                </a:extLst>
              </p:cNvPr>
              <p:cNvSpPr txBox="1"/>
              <p:nvPr/>
            </p:nvSpPr>
            <p:spPr>
              <a:xfrm flipH="1">
                <a:off x="942474" y="2111432"/>
                <a:ext cx="8536806" cy="3790910"/>
              </a:xfrm>
              <a:prstGeom prst="rect">
                <a:avLst/>
              </a:prstGeom>
              <a:noFill/>
            </p:spPr>
            <p:txBody>
              <a:bodyPr wrap="square" rtlCol="0">
                <a:spAutoFit/>
              </a:bodyPr>
              <a:lstStyle/>
              <a:p>
                <a:r>
                  <a:rPr lang="en-US" altLang="zh-CN" sz="2400" dirty="0">
                    <a:latin typeface="+mn-ea"/>
                  </a:rPr>
                  <a:t>    </a:t>
                </a:r>
                <a:r>
                  <a:rPr lang="zh-CN" altLang="en-US" sz="2400" dirty="0">
                    <a:latin typeface="+mn-ea"/>
                  </a:rPr>
                  <a:t>    </a:t>
                </a:r>
                <a14:m>
                  <m:oMath xmlns:m="http://schemas.openxmlformats.org/officeDocument/2006/math">
                    <m:acc>
                      <m:accPr>
                        <m:chr m:val="̂"/>
                        <m:ctrlPr>
                          <a:rPr lang="zh-CN" altLang="en-US" sz="2400" i="1" smtClean="0">
                            <a:solidFill>
                              <a:srgbClr val="836967"/>
                            </a:solidFill>
                            <a:latin typeface="Cambria Math" panose="02040503050406030204" pitchFamily="18" charset="0"/>
                          </a:rPr>
                        </m:ctrlPr>
                      </m:accPr>
                      <m:e>
                        <m:r>
                          <a:rPr lang="zh-CN" altLang="en-US" sz="2400" i="1" smtClean="0">
                            <a:latin typeface="Cambria Math" panose="02040503050406030204" pitchFamily="18" charset="0"/>
                          </a:rPr>
                          <m:t>𝑦</m:t>
                        </m:r>
                      </m:e>
                    </m:acc>
                    <m:r>
                      <a:rPr lang="zh-CN" altLang="en-US" sz="2400" i="1" smtClean="0">
                        <a:latin typeface="Cambria Math" panose="02040503050406030204" pitchFamily="18" charset="0"/>
                      </a:rPr>
                      <m:t>=±1</m:t>
                    </m:r>
                  </m:oMath>
                </a14:m>
                <a:r>
                  <a:rPr lang="zh-CN" altLang="en-US" sz="2400" dirty="0">
                    <a:latin typeface="+mn-ea"/>
                  </a:rPr>
                  <a:t>（二分类），</a:t>
                </a:r>
                <a:r>
                  <a:rPr lang="en-US" altLang="zh-CN" sz="2400" dirty="0"/>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b="0" i="1" smtClean="0">
                            <a:latin typeface="Cambria Math" panose="02040503050406030204" pitchFamily="18" charset="0"/>
                          </a:rPr>
                          <m:t>1</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=1</a:t>
                </a:r>
                <a:r>
                  <a:rPr lang="zh-CN" altLang="en-US" sz="2400" dirty="0">
                    <a:latin typeface="+mn-ea"/>
                  </a:rPr>
                  <a:t>（相等权重）</a:t>
                </a:r>
                <a:endParaRPr lang="en-US" altLang="zh-CN" sz="2400" dirty="0">
                  <a:latin typeface="+mn-ea"/>
                </a:endParaRPr>
              </a:p>
              <a:p>
                <a:pPr algn="l"/>
                <a:endParaRPr lang="en-US" altLang="zh-CN" sz="2400" dirty="0">
                  <a:latin typeface="+mn-ea"/>
                </a:endParaRPr>
              </a:p>
              <a:p>
                <a:pPr algn="l"/>
                <a:r>
                  <a:rPr lang="en-US" altLang="zh-CN" sz="2400" dirty="0">
                    <a:latin typeface="+mn-ea"/>
                  </a:rPr>
                  <a:t>•</a:t>
                </a:r>
                <a:r>
                  <a:rPr lang="zh-CN" altLang="en-US" sz="2400" dirty="0">
                    <a:latin typeface="+mn-ea"/>
                  </a:rPr>
                  <a:t>对于</a:t>
                </a:r>
                <a:r>
                  <a:rPr lang="en-US" altLang="zh-CN" sz="2400" dirty="0">
                    <a:latin typeface="+mn-ea"/>
                  </a:rPr>
                  <a:t>t=1,…,T:</a:t>
                </a:r>
              </a:p>
              <a:p>
                <a:r>
                  <a:rPr lang="en-US" altLang="zh-CN" sz="2400" dirty="0">
                    <a:latin typeface="+mn-ea"/>
                  </a:rPr>
                  <a:t>   •</a:t>
                </a:r>
                <a:r>
                  <a:rPr lang="zh-CN" altLang="en-US" sz="2400" dirty="0">
                    <a:latin typeface="+mn-ea"/>
                  </a:rPr>
                  <a:t>用权重</a:t>
                </a:r>
                <a:r>
                  <a:rPr lang="en-US" altLang="zh-CN" sz="2400" dirty="0">
                    <a:latin typeface="+mn-ea"/>
                  </a:rPr>
                  <a:t>{</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b="0" i="1" smtClean="0">
                            <a:latin typeface="Cambria Math" panose="02040503050406030204" pitchFamily="18" charset="0"/>
                          </a:rPr>
                          <m:t>𝑡</m:t>
                        </m:r>
                      </m:sub>
                      <m:sup>
                        <m:r>
                          <a:rPr lang="en-US" altLang="zh-CN" sz="2400" b="0" i="1" smtClean="0">
                            <a:latin typeface="Cambria Math" panose="02040503050406030204" pitchFamily="18" charset="0"/>
                          </a:rPr>
                          <m:t>1</m:t>
                        </m:r>
                      </m:sup>
                    </m:sSubSup>
                  </m:oMath>
                </a14:m>
                <a:r>
                  <a:rPr lang="en-US" altLang="zh-CN" sz="2400" dirty="0">
                    <a:latin typeface="+mn-ea"/>
                  </a:rPr>
                  <a:t>,..,</a:t>
                </a:r>
                <a:r>
                  <a:rPr lang="en-US" altLang="zh-CN" sz="2400" dirty="0"/>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𝑡</m:t>
                        </m:r>
                      </m:sub>
                      <m:sup>
                        <m:r>
                          <a:rPr lang="en-US" altLang="zh-CN" sz="2400" i="1">
                            <a:latin typeface="Cambria Math" panose="02040503050406030204" pitchFamily="18" charset="0"/>
                          </a:rPr>
                          <m:t>𝑁</m:t>
                        </m:r>
                      </m:sup>
                    </m:sSubSup>
                  </m:oMath>
                </a14:m>
                <a:r>
                  <a:rPr lang="en-US" altLang="zh-CN" sz="2400" dirty="0">
                    <a:latin typeface="+mn-ea"/>
                  </a:rPr>
                  <a:t>}</a:t>
                </a:r>
                <a:r>
                  <a:rPr lang="zh-CN" altLang="en-US" sz="2400" dirty="0">
                    <a:latin typeface="+mn-ea"/>
                  </a:rPr>
                  <a:t>来</a:t>
                </a:r>
                <a:r>
                  <a:rPr lang="zh-CN" altLang="en-US" sz="2400" dirty="0">
                    <a:solidFill>
                      <a:srgbClr val="FF0000"/>
                    </a:solidFill>
                    <a:latin typeface="+mn-ea"/>
                  </a:rPr>
                  <a:t>训练弱分类器</a:t>
                </a:r>
                <a14:m>
                  <m:oMath xmlns:m="http://schemas.openxmlformats.org/officeDocument/2006/math">
                    <m:sSub>
                      <m:sSubPr>
                        <m:ctrlPr>
                          <a:rPr lang="en-US" altLang="zh-CN" sz="2400" i="1" dirty="0">
                            <a:solidFill>
                              <a:srgbClr val="FF0000"/>
                            </a:solidFill>
                            <a:latin typeface="Cambria Math" panose="02040503050406030204" pitchFamily="18" charset="0"/>
                          </a:rPr>
                        </m:ctrlPr>
                      </m:sSubPr>
                      <m:e>
                        <m:r>
                          <a:rPr lang="en-US" altLang="zh-CN" sz="2400" i="1" dirty="0">
                            <a:solidFill>
                              <a:srgbClr val="FF0000"/>
                            </a:solidFill>
                            <a:latin typeface="Cambria Math" panose="02040503050406030204" pitchFamily="18" charset="0"/>
                          </a:rPr>
                          <m:t>𝑓</m:t>
                        </m:r>
                      </m:e>
                      <m:sub>
                        <m:r>
                          <a:rPr lang="en-US" altLang="zh-CN" sz="2400" i="1" dirty="0">
                            <a:solidFill>
                              <a:srgbClr val="FF0000"/>
                            </a:solidFill>
                            <a:latin typeface="Cambria Math" panose="02040503050406030204" pitchFamily="18" charset="0"/>
                          </a:rPr>
                          <m:t>𝑡</m:t>
                        </m:r>
                      </m:sub>
                    </m:sSub>
                    <m:r>
                      <a:rPr lang="en-US" altLang="zh-CN" sz="2400" i="1" dirty="0">
                        <a:solidFill>
                          <a:srgbClr val="FF0000"/>
                        </a:solidFill>
                        <a:latin typeface="Cambria Math" panose="02040503050406030204" pitchFamily="18" charset="0"/>
                      </a:rPr>
                      <m:t>(</m:t>
                    </m:r>
                    <m:r>
                      <a:rPr lang="en-US" altLang="zh-CN" sz="2400" i="1" dirty="0">
                        <a:solidFill>
                          <a:srgbClr val="FF0000"/>
                        </a:solidFill>
                        <a:latin typeface="Cambria Math" panose="02040503050406030204" pitchFamily="18" charset="0"/>
                      </a:rPr>
                      <m:t>𝑥</m:t>
                    </m:r>
                    <m:r>
                      <a:rPr lang="en-US" altLang="zh-CN" sz="2400" i="1" dirty="0">
                        <a:solidFill>
                          <a:srgbClr val="FF0000"/>
                        </a:solidFill>
                        <a:latin typeface="Cambria Math" panose="02040503050406030204" pitchFamily="18" charset="0"/>
                      </a:rPr>
                      <m:t>)</m:t>
                    </m:r>
                  </m:oMath>
                </a14:m>
                <a:endParaRPr lang="en-US" altLang="zh-CN" sz="2400" dirty="0">
                  <a:solidFill>
                    <a:srgbClr val="FF0000"/>
                  </a:solidFill>
                  <a:latin typeface="+mn-ea"/>
                </a:endParaRPr>
              </a:p>
              <a:p>
                <a:r>
                  <a:rPr lang="en-US" altLang="zh-CN" sz="2400" dirty="0">
                    <a:latin typeface="+mn-ea"/>
                  </a:rPr>
                  <a:t>   •</a:t>
                </a:r>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ea typeface="Cambria Math" panose="02040503050406030204" pitchFamily="18" charset="0"/>
                          </a:rPr>
                          <m:t>𝜀</m:t>
                        </m:r>
                      </m:e>
                      <m:sub>
                        <m:r>
                          <a:rPr lang="en-US" altLang="zh-CN" sz="2400" i="1" dirty="0">
                            <a:latin typeface="Cambria Math" panose="02040503050406030204" pitchFamily="18" charset="0"/>
                          </a:rPr>
                          <m:t>𝑡</m:t>
                        </m:r>
                      </m:sub>
                    </m:sSub>
                  </m:oMath>
                </a14:m>
                <a:r>
                  <a:rPr lang="zh-CN" altLang="en-US" sz="2400" dirty="0">
                    <a:latin typeface="+mn-ea"/>
                  </a:rPr>
                  <a:t>为</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𝑓</m:t>
                        </m:r>
                      </m:e>
                      <m:sub>
                        <m:r>
                          <a:rPr lang="en-US" altLang="zh-CN" sz="2400" i="1" dirty="0">
                            <a:latin typeface="Cambria Math" panose="02040503050406030204" pitchFamily="18" charset="0"/>
                          </a:rPr>
                          <m:t>𝑡</m:t>
                        </m:r>
                      </m:sub>
                    </m:sSub>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oMath>
                </a14:m>
                <a:r>
                  <a:rPr lang="zh-CN" altLang="en-US" sz="2400" dirty="0">
                    <a:latin typeface="+mn-ea"/>
                  </a:rPr>
                  <a:t>在权重</a:t>
                </a:r>
                <a:r>
                  <a:rPr lang="en-US" altLang="zh-CN" sz="2400" dirty="0">
                    <a:latin typeface="+mn-ea"/>
                  </a:rPr>
                  <a:t>{</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b="0" i="1" smtClean="0">
                            <a:latin typeface="Cambria Math" panose="02040503050406030204" pitchFamily="18" charset="0"/>
                          </a:rPr>
                          <m:t>𝑡</m:t>
                        </m:r>
                      </m:sub>
                      <m:sup>
                        <m:r>
                          <a:rPr lang="en-US" altLang="zh-CN" sz="2400" b="0" i="1" smtClean="0">
                            <a:latin typeface="Cambria Math" panose="02040503050406030204" pitchFamily="18" charset="0"/>
                          </a:rPr>
                          <m:t>1</m:t>
                        </m:r>
                      </m:sup>
                    </m:sSubSup>
                  </m:oMath>
                </a14:m>
                <a:r>
                  <a:rPr lang="en-US" altLang="zh-CN" sz="2400" dirty="0">
                    <a:latin typeface="+mn-ea"/>
                  </a:rPr>
                  <a:t>,..,</a:t>
                </a:r>
                <a:r>
                  <a:rPr lang="en-US" altLang="zh-CN" sz="2400" dirty="0"/>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𝑡</m:t>
                        </m:r>
                      </m:sub>
                      <m:sup>
                        <m:r>
                          <a:rPr lang="en-US" altLang="zh-CN" sz="2400" i="1">
                            <a:latin typeface="Cambria Math" panose="02040503050406030204" pitchFamily="18" charset="0"/>
                          </a:rPr>
                          <m:t>𝑁</m:t>
                        </m:r>
                      </m:sup>
                    </m:sSubSup>
                  </m:oMath>
                </a14:m>
                <a:r>
                  <a:rPr lang="en-US" altLang="zh-CN" sz="2400" dirty="0">
                    <a:latin typeface="+mn-ea"/>
                  </a:rPr>
                  <a:t>}</a:t>
                </a:r>
                <a:r>
                  <a:rPr lang="zh-CN" altLang="en-US" sz="2400" dirty="0">
                    <a:latin typeface="+mn-ea"/>
                  </a:rPr>
                  <a:t>上训练的错误率</a:t>
                </a:r>
                <a:endParaRPr lang="en-US" altLang="zh-CN" sz="2400" dirty="0">
                  <a:latin typeface="+mn-ea"/>
                </a:endParaRPr>
              </a:p>
              <a:p>
                <a:r>
                  <a:rPr lang="en-US" altLang="zh-CN" sz="2400" dirty="0">
                    <a:latin typeface="+mn-ea"/>
                  </a:rPr>
                  <a:t>   •</a:t>
                </a:r>
                <a:r>
                  <a:rPr lang="zh-CN" altLang="en-US" sz="2400" dirty="0">
                    <a:latin typeface="+mn-ea"/>
                  </a:rPr>
                  <a:t>对于</a:t>
                </a:r>
                <a14:m>
                  <m:oMath xmlns:m="http://schemas.openxmlformats.org/officeDocument/2006/math">
                    <m:r>
                      <a:rPr lang="en-US" altLang="zh-CN" sz="2400" i="1" dirty="0" smtClean="0">
                        <a:latin typeface="Cambria Math" panose="02040503050406030204" pitchFamily="18" charset="0"/>
                      </a:rPr>
                      <m:t>𝑛</m:t>
                    </m:r>
                    <m:r>
                      <a:rPr lang="en-US" altLang="zh-CN" sz="2400" i="1" dirty="0" smtClean="0">
                        <a:latin typeface="Cambria Math" panose="02040503050406030204" pitchFamily="18" charset="0"/>
                      </a:rPr>
                      <m:t>=1,…,</m:t>
                    </m:r>
                    <m:r>
                      <a:rPr lang="en-US" altLang="zh-CN" sz="2400" i="1" dirty="0" smtClean="0">
                        <a:latin typeface="Cambria Math" panose="02040503050406030204" pitchFamily="18" charset="0"/>
                      </a:rPr>
                      <m:t>𝑁</m:t>
                    </m:r>
                  </m:oMath>
                </a14:m>
                <a:r>
                  <a:rPr lang="en-US" altLang="zh-CN" sz="2400" dirty="0">
                    <a:latin typeface="+mn-ea"/>
                  </a:rPr>
                  <a:t>:</a:t>
                </a:r>
              </a:p>
              <a:p>
                <a:r>
                  <a:rPr lang="en-US" altLang="zh-CN" sz="2400" dirty="0">
                    <a:latin typeface="+mn-ea"/>
                  </a:rPr>
                  <a:t>      •</a:t>
                </a:r>
                <a:r>
                  <a:rPr lang="zh-CN" altLang="en-US" sz="2400" dirty="0">
                    <a:latin typeface="+mn-ea"/>
                  </a:rPr>
                  <a:t>如果</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𝑥</m:t>
                        </m:r>
                      </m:e>
                      <m:sub>
                        <m:r>
                          <a:rPr lang="en-US" altLang="zh-CN" sz="2400" b="0" i="1" dirty="0" smtClean="0">
                            <a:latin typeface="Cambria Math" panose="02040503050406030204" pitchFamily="18" charset="0"/>
                          </a:rPr>
                          <m:t>𝑛</m:t>
                        </m:r>
                      </m:sub>
                    </m:sSub>
                  </m:oMath>
                </a14:m>
                <a:r>
                  <a:rPr lang="zh-CN" altLang="en-US" sz="2400" dirty="0">
                    <a:latin typeface="+mn-ea"/>
                  </a:rPr>
                  <a:t>被</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𝑓</m:t>
                        </m:r>
                      </m:e>
                      <m:sub>
                        <m:r>
                          <a:rPr lang="en-US" altLang="zh-CN" sz="2400" i="1" dirty="0">
                            <a:latin typeface="Cambria Math" panose="02040503050406030204" pitchFamily="18" charset="0"/>
                          </a:rPr>
                          <m:t>𝑡</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m:t>
                    </m:r>
                  </m:oMath>
                </a14:m>
                <a:r>
                  <a:rPr lang="zh-CN" altLang="en-US" sz="2400" dirty="0">
                    <a:latin typeface="+mn-ea"/>
                  </a:rPr>
                  <a:t>错误分类：</a:t>
                </a:r>
                <a:r>
                  <a:rPr lang="en-US" altLang="zh-CN" sz="2400" dirty="0">
                    <a:latin typeface="+mn-ea"/>
                  </a:rPr>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 </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b="0" i="1" smtClean="0">
                            <a:latin typeface="Cambria Math" panose="02040503050406030204" pitchFamily="18" charset="0"/>
                          </a:rPr>
                          <m:t>𝑡</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*d</a:t>
                </a:r>
                <a:r>
                  <a:rPr lang="en-US" altLang="zh-CN" sz="2400" baseline="-25000" dirty="0">
                    <a:latin typeface="+mn-ea"/>
                  </a:rPr>
                  <a:t>t</a:t>
                </a:r>
                <a:r>
                  <a:rPr lang="en-US" altLang="zh-CN" sz="2400" dirty="0">
                    <a:latin typeface="+mn-ea"/>
                  </a:rPr>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𝑡</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*exp(α</a:t>
                </a:r>
                <a:r>
                  <a:rPr lang="en-US" altLang="zh-CN" sz="2400" baseline="-25000" dirty="0">
                    <a:latin typeface="+mn-ea"/>
                  </a:rPr>
                  <a:t>t</a:t>
                </a:r>
                <a:r>
                  <a:rPr lang="en-US" altLang="zh-CN" sz="2400" dirty="0">
                    <a:latin typeface="+mn-ea"/>
                  </a:rPr>
                  <a:t>)</a:t>
                </a:r>
                <a:endParaRPr lang="zh-CN" altLang="en-US" sz="2400" dirty="0">
                  <a:latin typeface="+mn-ea"/>
                </a:endParaRPr>
              </a:p>
              <a:p>
                <a:r>
                  <a:rPr lang="en-US" altLang="zh-CN" sz="2400" dirty="0">
                    <a:latin typeface="+mn-ea"/>
                  </a:rPr>
                  <a:t>      • Else:</a:t>
                </a:r>
              </a:p>
              <a:p>
                <a:r>
                  <a:rPr lang="en-US" altLang="zh-CN" sz="2400" dirty="0">
                    <a:latin typeface="+mn-ea"/>
                  </a:rPr>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 </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b="0" i="1" smtClean="0">
                            <a:latin typeface="Cambria Math" panose="02040503050406030204" pitchFamily="18" charset="0"/>
                          </a:rPr>
                          <m:t>𝑡</m:t>
                        </m:r>
                      </m:sub>
                      <m:sup>
                        <m:r>
                          <a:rPr lang="en-US" altLang="zh-CN" sz="2400" i="1">
                            <a:latin typeface="Cambria Math" panose="02040503050406030204" pitchFamily="18" charset="0"/>
                          </a:rPr>
                          <m:t>𝑛</m:t>
                        </m:r>
                      </m:sup>
                    </m:sSubSup>
                    <m:r>
                      <a:rPr lang="en-US" altLang="zh-CN" sz="2400" i="1">
                        <a:latin typeface="Cambria Math" panose="02040503050406030204" pitchFamily="18" charset="0"/>
                      </a:rPr>
                      <m:t> </m:t>
                    </m:r>
                  </m:oMath>
                </a14:m>
                <a:r>
                  <a:rPr lang="en-US" altLang="zh-CN" sz="2400" dirty="0">
                    <a:latin typeface="+mn-ea"/>
                  </a:rPr>
                  <a:t>/d</a:t>
                </a:r>
                <a:r>
                  <a:rPr lang="en-US" altLang="zh-CN" sz="2400" baseline="-25000" dirty="0">
                    <a:latin typeface="+mn-ea"/>
                  </a:rPr>
                  <a:t>t</a:t>
                </a:r>
                <a:r>
                  <a:rPr lang="en-US" altLang="zh-CN" sz="2400" dirty="0">
                    <a:latin typeface="+mn-ea"/>
                  </a:rPr>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𝑡</m:t>
                        </m:r>
                      </m:sub>
                      <m:sup>
                        <m:r>
                          <a:rPr lang="en-US" altLang="zh-CN" sz="2400" i="1">
                            <a:latin typeface="Cambria Math" panose="02040503050406030204" pitchFamily="18" charset="0"/>
                          </a:rPr>
                          <m:t>𝑛</m:t>
                        </m:r>
                      </m:sup>
                    </m:sSubSup>
                  </m:oMath>
                </a14:m>
                <a:r>
                  <a:rPr lang="en-US" altLang="zh-CN" sz="2400" baseline="-25000" dirty="0">
                    <a:latin typeface="+mn-ea"/>
                  </a:rPr>
                  <a:t> </a:t>
                </a:r>
                <a:r>
                  <a:rPr lang="en-US" altLang="zh-CN" sz="2400" dirty="0">
                    <a:latin typeface="+mn-ea"/>
                  </a:rPr>
                  <a:t>*exp(-α</a:t>
                </a:r>
                <a:r>
                  <a:rPr lang="en-US" altLang="zh-CN" sz="2400" baseline="-25000" dirty="0">
                    <a:latin typeface="+mn-ea"/>
                  </a:rPr>
                  <a:t>t</a:t>
                </a:r>
                <a:r>
                  <a:rPr lang="en-US" altLang="zh-CN" sz="2400" dirty="0">
                    <a:latin typeface="+mn-ea"/>
                  </a:rPr>
                  <a:t>)</a:t>
                </a:r>
                <a:endParaRPr lang="zh-CN" altLang="en-US" sz="2400" dirty="0">
                  <a:latin typeface="+mn-ea"/>
                </a:endParaRPr>
              </a:p>
              <a:p>
                <a:r>
                  <a:rPr lang="en-US" altLang="zh-CN" sz="2400" dirty="0">
                    <a:latin typeface="+mn-ea"/>
                  </a:rPr>
                  <a:t>       	</a:t>
                </a:r>
              </a:p>
            </p:txBody>
          </p:sp>
        </mc:Choice>
        <mc:Fallback xmlns="">
          <p:sp>
            <p:nvSpPr>
              <p:cNvPr id="6" name="文本框 5">
                <a:extLst>
                  <a:ext uri="{FF2B5EF4-FFF2-40B4-BE49-F238E27FC236}">
                    <a16:creationId xmlns:a16="http://schemas.microsoft.com/office/drawing/2014/main" id="{D60C69F8-8964-60E7-97BB-163188401873}"/>
                  </a:ext>
                </a:extLst>
              </p:cNvPr>
              <p:cNvSpPr txBox="1">
                <a:spLocks noRot="1" noChangeAspect="1" noMove="1" noResize="1" noEditPoints="1" noAdjustHandles="1" noChangeArrowheads="1" noChangeShapeType="1" noTextEdit="1"/>
              </p:cNvSpPr>
              <p:nvPr/>
            </p:nvSpPr>
            <p:spPr>
              <a:xfrm flipH="1">
                <a:off x="942474" y="2111432"/>
                <a:ext cx="8536806" cy="3790910"/>
              </a:xfrm>
              <a:prstGeom prst="rect">
                <a:avLst/>
              </a:prstGeom>
              <a:blipFill>
                <a:blip r:embed="rId2"/>
                <a:stretch>
                  <a:fillRect l="-1189" t="-133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字方塊 10">
                <a:extLst>
                  <a:ext uri="{FF2B5EF4-FFF2-40B4-BE49-F238E27FC236}">
                    <a16:creationId xmlns:a16="http://schemas.microsoft.com/office/drawing/2014/main" id="{A95403E8-75D3-42A0-82D6-AD4DD055D8EA}"/>
                  </a:ext>
                </a:extLst>
              </p:cNvPr>
              <p:cNvSpPr txBox="1"/>
              <p:nvPr/>
            </p:nvSpPr>
            <p:spPr>
              <a:xfrm>
                <a:off x="8966569" y="4896105"/>
                <a:ext cx="2891048" cy="521810"/>
              </a:xfrm>
              <a:prstGeom prst="rect">
                <a:avLst/>
              </a:prstGeom>
              <a:solidFill>
                <a:schemeClr val="accent4">
                  <a:lumMod val="20000"/>
                  <a:lumOff val="80000"/>
                </a:schemeClr>
              </a:solid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𝑑</m:t>
                          </m:r>
                        </m:e>
                        <m:sub>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𝑡</m:t>
                          </m:r>
                        </m:sub>
                      </m:sSub>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ad>
                        <m:radPr>
                          <m:degHide m:val="on"/>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radPr>
                        <m:deg/>
                        <m:e>
                          <m:f>
                            <m:fPr>
                              <m:type m:val="lin"/>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d>
                                <m:dPr>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t>1−</m:t>
                                  </m:r>
                                  <m:sSub>
                                    <m:sSubPr>
                                      <m:ctrlP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𝜀</m:t>
                                      </m:r>
                                    </m:e>
                                    <m:sub>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b>
                                  </m:sSub>
                                </m:e>
                              </m:d>
                            </m:num>
                            <m:den>
                              <m:sSub>
                                <m:sSubPr>
                                  <m:ctrlP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𝜀</m:t>
                                  </m:r>
                                </m:e>
                                <m:sub>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b>
                              </m:sSub>
                            </m:den>
                          </m:f>
                        </m:e>
                      </m:rad>
                    </m:oMath>
                  </m:oMathPara>
                </a14:m>
                <a:endParaRPr kumimoji="0" lang="zh-TW" altLang="en-US" sz="2800" b="0" i="0" u="none" strike="noStrike" kern="1200" cap="none" spc="0" normalizeH="0" baseline="0" noProof="0" dirty="0">
                  <a:ln>
                    <a:noFill/>
                  </a:ln>
                  <a:solidFill>
                    <a:srgbClr val="FF0000"/>
                  </a:solidFill>
                  <a:effectLst/>
                  <a:uLnTx/>
                  <a:uFillTx/>
                  <a:latin typeface="Arial" charset="0"/>
                  <a:ea typeface="新細明體"/>
                  <a:cs typeface="+mn-cs"/>
                </a:endParaRPr>
              </a:p>
            </p:txBody>
          </p:sp>
        </mc:Choice>
        <mc:Fallback xmlns="">
          <p:sp>
            <p:nvSpPr>
              <p:cNvPr id="7" name="文字方塊 10">
                <a:extLst>
                  <a:ext uri="{FF2B5EF4-FFF2-40B4-BE49-F238E27FC236}">
                    <a16:creationId xmlns:a16="http://schemas.microsoft.com/office/drawing/2014/main" id="{A95403E8-75D3-42A0-82D6-AD4DD055D8EA}"/>
                  </a:ext>
                </a:extLst>
              </p:cNvPr>
              <p:cNvSpPr txBox="1">
                <a:spLocks noRot="1" noChangeAspect="1" noMove="1" noResize="1" noEditPoints="1" noAdjustHandles="1" noChangeArrowheads="1" noChangeShapeType="1" noTextEdit="1"/>
              </p:cNvSpPr>
              <p:nvPr/>
            </p:nvSpPr>
            <p:spPr>
              <a:xfrm>
                <a:off x="8966569" y="4896105"/>
                <a:ext cx="2891048" cy="521810"/>
              </a:xfrm>
              <a:prstGeom prst="rect">
                <a:avLst/>
              </a:prstGeom>
              <a:blipFill>
                <a:blip r:embed="rId3"/>
                <a:stretch>
                  <a:fillRect l="-2632" t="-119048" r="-3070" b="-200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文字方塊 11">
                <a:extLst>
                  <a:ext uri="{FF2B5EF4-FFF2-40B4-BE49-F238E27FC236}">
                    <a16:creationId xmlns:a16="http://schemas.microsoft.com/office/drawing/2014/main" id="{19AB94BF-46AB-4A71-8C90-66E336DC8971}"/>
                  </a:ext>
                </a:extLst>
              </p:cNvPr>
              <p:cNvSpPr txBox="1"/>
              <p:nvPr/>
            </p:nvSpPr>
            <p:spPr>
              <a:xfrm>
                <a:off x="8660487" y="5499852"/>
                <a:ext cx="3197130" cy="521810"/>
              </a:xfrm>
              <a:prstGeom prst="rect">
                <a:avLst/>
              </a:prstGeom>
              <a:solidFill>
                <a:schemeClr val="accent4">
                  <a:lumMod val="20000"/>
                  <a:lumOff val="80000"/>
                </a:schemeClr>
              </a:solidFill>
            </p:spPr>
            <p:txBody>
              <a:bodyPr wrap="squar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𝛼</m:t>
                          </m:r>
                        </m:e>
                        <m:sub>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𝑡</m:t>
                          </m:r>
                        </m:sub>
                      </m:sSub>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𝑙𝑛</m:t>
                      </m:r>
                      <m:rad>
                        <m:radPr>
                          <m:degHide m:val="on"/>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radPr>
                        <m:deg/>
                        <m:e>
                          <m:f>
                            <m:fPr>
                              <m:type m:val="lin"/>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fPr>
                            <m:num>
                              <m:d>
                                <m:dPr>
                                  <m:ctrlPr>
                                    <a:rPr kumimoji="0" lang="en-US" altLang="zh-TW"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dPr>
                                <m:e>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t>1−</m:t>
                                  </m:r>
                                  <m:sSub>
                                    <m:sSubPr>
                                      <m:ctrlP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𝜀</m:t>
                                      </m:r>
                                    </m:e>
                                    <m:sub>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b>
                                  </m:sSub>
                                </m:e>
                              </m:d>
                            </m:num>
                            <m:den>
                              <m:sSub>
                                <m:sSubPr>
                                  <m:ctrlP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zh-TW" alt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𝜀</m:t>
                                  </m:r>
                                </m:e>
                                <m:sub>
                                  <m:r>
                                    <a:rPr kumimoji="0" lang="en-US" altLang="zh-TW" sz="2800" b="0" i="1" u="none" strike="noStrike" kern="1200" cap="none" spc="0" normalizeH="0" baseline="0" noProof="0">
                                      <a:ln>
                                        <a:noFill/>
                                      </a:ln>
                                      <a:solidFill>
                                        <a:srgbClr val="FF0000"/>
                                      </a:solidFill>
                                      <a:effectLst/>
                                      <a:uLnTx/>
                                      <a:uFillTx/>
                                      <a:latin typeface="Cambria Math" panose="02040503050406030204" pitchFamily="18" charset="0"/>
                                      <a:cs typeface="+mn-cs"/>
                                    </a:rPr>
                                    <m:t>𝑡</m:t>
                                  </m:r>
                                </m:sub>
                              </m:sSub>
                            </m:den>
                          </m:f>
                        </m:e>
                      </m:rad>
                    </m:oMath>
                  </m:oMathPara>
                </a14:m>
                <a:endParaRPr kumimoji="0" lang="zh-TW" altLang="en-US" sz="2800" b="0" i="0" u="none" strike="noStrike" kern="1200" cap="none" spc="0" normalizeH="0" baseline="0" noProof="0" dirty="0">
                  <a:ln>
                    <a:noFill/>
                  </a:ln>
                  <a:solidFill>
                    <a:srgbClr val="FF0000"/>
                  </a:solidFill>
                  <a:effectLst/>
                  <a:uLnTx/>
                  <a:uFillTx/>
                  <a:latin typeface="Arial" charset="0"/>
                  <a:ea typeface="新細明體"/>
                  <a:cs typeface="+mn-cs"/>
                </a:endParaRPr>
              </a:p>
            </p:txBody>
          </p:sp>
        </mc:Choice>
        <mc:Fallback xmlns="">
          <p:sp>
            <p:nvSpPr>
              <p:cNvPr id="9" name="文字方塊 11">
                <a:extLst>
                  <a:ext uri="{FF2B5EF4-FFF2-40B4-BE49-F238E27FC236}">
                    <a16:creationId xmlns:a16="http://schemas.microsoft.com/office/drawing/2014/main" id="{19AB94BF-46AB-4A71-8C90-66E336DC8971}"/>
                  </a:ext>
                </a:extLst>
              </p:cNvPr>
              <p:cNvSpPr txBox="1">
                <a:spLocks noRot="1" noChangeAspect="1" noMove="1" noResize="1" noEditPoints="1" noAdjustHandles="1" noChangeArrowheads="1" noChangeShapeType="1" noTextEdit="1"/>
              </p:cNvSpPr>
              <p:nvPr/>
            </p:nvSpPr>
            <p:spPr>
              <a:xfrm>
                <a:off x="8660487" y="5499852"/>
                <a:ext cx="3197130" cy="521810"/>
              </a:xfrm>
              <a:prstGeom prst="rect">
                <a:avLst/>
              </a:prstGeom>
              <a:blipFill>
                <a:blip r:embed="rId4"/>
                <a:stretch>
                  <a:fillRect l="-1190" t="-116279" r="-3175" b="-195349"/>
                </a:stretch>
              </a:blipFill>
            </p:spPr>
            <p:txBody>
              <a:bodyPr/>
              <a:lstStyle/>
              <a:p>
                <a:r>
                  <a:rPr lang="en-CN">
                    <a:noFill/>
                  </a:rPr>
                  <a:t> </a:t>
                </a:r>
              </a:p>
            </p:txBody>
          </p:sp>
        </mc:Fallback>
      </mc:AlternateContent>
      <p:pic>
        <p:nvPicPr>
          <p:cNvPr id="8" name="Picture 7">
            <a:extLst>
              <a:ext uri="{FF2B5EF4-FFF2-40B4-BE49-F238E27FC236}">
                <a16:creationId xmlns:a16="http://schemas.microsoft.com/office/drawing/2014/main" id="{7BBBCFBE-2BBD-7D5C-B9C4-B5073664657C}"/>
              </a:ext>
            </a:extLst>
          </p:cNvPr>
          <p:cNvPicPr>
            <a:picLocks noChangeAspect="1"/>
          </p:cNvPicPr>
          <p:nvPr/>
        </p:nvPicPr>
        <p:blipFill>
          <a:blip r:embed="rId5"/>
          <a:stretch>
            <a:fillRect/>
          </a:stretch>
        </p:blipFill>
        <p:spPr>
          <a:xfrm>
            <a:off x="1251485" y="1550261"/>
            <a:ext cx="7272632" cy="44185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8EF230C-CE6E-5C2C-A7A9-AFF232B5DB57}"/>
                  </a:ext>
                </a:extLst>
              </p:cNvPr>
              <p:cNvSpPr txBox="1"/>
              <p:nvPr/>
            </p:nvSpPr>
            <p:spPr>
              <a:xfrm>
                <a:off x="2425659" y="5738775"/>
                <a:ext cx="6098458" cy="523220"/>
              </a:xfrm>
              <a:prstGeom prst="rect">
                <a:avLst/>
              </a:prstGeom>
              <a:noFill/>
            </p:spPr>
            <p:txBody>
              <a:bodyPr wrap="square">
                <a:spAutoFit/>
              </a:bodyPr>
              <a:lstStyle/>
              <a:p>
                <a14:m>
                  <m:oMath xmlns:m="http://schemas.openxmlformats.org/officeDocument/2006/math">
                    <m:sSubSup>
                      <m:sSubSupPr>
                        <m:ctrlPr>
                          <a:rPr lang="en-US" altLang="zh-CN" sz="2800" i="1" smtClean="0">
                            <a:solidFill>
                              <a:srgbClr val="FF0000"/>
                            </a:solidFill>
                            <a:latin typeface="Cambria Math" panose="02040503050406030204" pitchFamily="18" charset="0"/>
                          </a:rPr>
                        </m:ctrlPr>
                      </m:sSubSupPr>
                      <m:e>
                        <m:r>
                          <a:rPr lang="en-US" altLang="zh-CN" sz="2800" i="1">
                            <a:solidFill>
                              <a:srgbClr val="FF0000"/>
                            </a:solidFill>
                            <a:latin typeface="Cambria Math" panose="02040503050406030204" pitchFamily="18" charset="0"/>
                          </a:rPr>
                          <m:t>𝑢</m:t>
                        </m:r>
                      </m:e>
                      <m:sub>
                        <m:r>
                          <a:rPr lang="en-US" altLang="zh-CN" sz="2800" i="1">
                            <a:solidFill>
                              <a:srgbClr val="FF0000"/>
                            </a:solidFill>
                            <a:latin typeface="Cambria Math" panose="02040503050406030204" pitchFamily="18" charset="0"/>
                          </a:rPr>
                          <m:t>𝑡</m:t>
                        </m:r>
                        <m:r>
                          <a:rPr lang="en-US" altLang="zh-CN" sz="2800" i="1">
                            <a:solidFill>
                              <a:srgbClr val="FF0000"/>
                            </a:solidFill>
                            <a:latin typeface="Cambria Math" panose="02040503050406030204" pitchFamily="18" charset="0"/>
                          </a:rPr>
                          <m:t>+1</m:t>
                        </m:r>
                      </m:sub>
                      <m:sup>
                        <m:r>
                          <a:rPr lang="en-US" altLang="zh-CN" sz="2800" i="1">
                            <a:solidFill>
                              <a:srgbClr val="FF0000"/>
                            </a:solidFill>
                            <a:latin typeface="Cambria Math" panose="02040503050406030204" pitchFamily="18" charset="0"/>
                          </a:rPr>
                          <m:t>𝑛</m:t>
                        </m:r>
                      </m:sup>
                    </m:sSubSup>
                    <m:r>
                      <a:rPr lang="en-US" altLang="zh-CN" sz="2800" i="1">
                        <a:solidFill>
                          <a:srgbClr val="FF0000"/>
                        </a:solidFill>
                        <a:latin typeface="Cambria Math" panose="02040503050406030204" pitchFamily="18" charset="0"/>
                      </a:rPr>
                      <m:t> </m:t>
                    </m:r>
                  </m:oMath>
                </a14:m>
                <a:r>
                  <a:rPr lang="zh-CN" altLang="si-LK" sz="2800" dirty="0">
                    <a:solidFill>
                      <a:srgbClr val="FF0000"/>
                    </a:solidFill>
                    <a:latin typeface="微软雅黑"/>
                  </a:rPr>
                  <a:t>← </a:t>
                </a:r>
                <a14:m>
                  <m:oMath xmlns:m="http://schemas.openxmlformats.org/officeDocument/2006/math">
                    <m:sSubSup>
                      <m:sSubSupPr>
                        <m:ctrlPr>
                          <a:rPr lang="en-US" altLang="zh-CN" sz="2800" i="1">
                            <a:solidFill>
                              <a:srgbClr val="FF0000"/>
                            </a:solidFill>
                            <a:latin typeface="Cambria Math" panose="02040503050406030204" pitchFamily="18" charset="0"/>
                          </a:rPr>
                        </m:ctrlPr>
                      </m:sSubSupPr>
                      <m:e>
                        <m:r>
                          <a:rPr lang="en-US" altLang="zh-CN" sz="2800" i="1">
                            <a:solidFill>
                              <a:srgbClr val="FF0000"/>
                            </a:solidFill>
                            <a:latin typeface="Cambria Math" panose="02040503050406030204" pitchFamily="18" charset="0"/>
                          </a:rPr>
                          <m:t>𝑢</m:t>
                        </m:r>
                      </m:e>
                      <m:sub>
                        <m:r>
                          <a:rPr lang="en-US" altLang="zh-CN" sz="2800" i="1">
                            <a:solidFill>
                              <a:srgbClr val="FF0000"/>
                            </a:solidFill>
                            <a:latin typeface="Cambria Math" panose="02040503050406030204" pitchFamily="18" charset="0"/>
                          </a:rPr>
                          <m:t>𝑡</m:t>
                        </m:r>
                      </m:sub>
                      <m:sup>
                        <m:r>
                          <a:rPr lang="en-US" altLang="zh-CN" sz="2800" i="1">
                            <a:solidFill>
                              <a:srgbClr val="FF0000"/>
                            </a:solidFill>
                            <a:latin typeface="Cambria Math" panose="02040503050406030204" pitchFamily="18" charset="0"/>
                          </a:rPr>
                          <m:t>𝑛</m:t>
                        </m:r>
                      </m:sup>
                    </m:sSubSup>
                    <m:r>
                      <a:rPr lang="en-US" altLang="zh-CN" sz="2800" i="1">
                        <a:solidFill>
                          <a:srgbClr val="FF0000"/>
                        </a:solidFill>
                        <a:latin typeface="Cambria Math" panose="02040503050406030204" pitchFamily="18" charset="0"/>
                      </a:rPr>
                      <m:t> </m:t>
                    </m:r>
                  </m:oMath>
                </a14:m>
                <a:r>
                  <a:rPr lang="si-LK" altLang="zh-CN" sz="2800" dirty="0">
                    <a:solidFill>
                      <a:srgbClr val="FF0000"/>
                    </a:solidFill>
                    <a:latin typeface="微软雅黑"/>
                  </a:rPr>
                  <a:t>× </a:t>
                </a:r>
                <a:r>
                  <a:rPr lang="en-US" altLang="zh-CN" sz="2800" dirty="0">
                    <a:solidFill>
                      <a:srgbClr val="FF0000"/>
                    </a:solidFill>
                    <a:latin typeface="微软雅黑"/>
                  </a:rPr>
                  <a:t>exp( </a:t>
                </a:r>
                <a14:m>
                  <m:oMath xmlns:m="http://schemas.openxmlformats.org/officeDocument/2006/math">
                    <m:r>
                      <a:rPr lang="en-US" altLang="zh-CN" sz="2800" b="0" i="1" dirty="0" smtClean="0">
                        <a:solidFill>
                          <a:srgbClr val="FF0000"/>
                        </a:solidFill>
                        <a:latin typeface="Cambria Math" panose="02040503050406030204" pitchFamily="18" charset="0"/>
                      </a:rPr>
                      <m:t>−</m:t>
                    </m:r>
                    <m:sSup>
                      <m:sSupPr>
                        <m:ctrlPr>
                          <a:rPr lang="en-US" altLang="zh-CN" sz="2800" b="0" i="1" dirty="0" smtClean="0">
                            <a:solidFill>
                              <a:srgbClr val="FF0000"/>
                            </a:solidFill>
                            <a:latin typeface="Cambria Math" panose="02040503050406030204" pitchFamily="18" charset="0"/>
                          </a:rPr>
                        </m:ctrlPr>
                      </m:sSupPr>
                      <m:e>
                        <m:acc>
                          <m:accPr>
                            <m:chr m:val="̂"/>
                            <m:ctrlPr>
                              <a:rPr lang="en-US" altLang="zh-CN" sz="2800" b="0" i="1" dirty="0" smtClean="0">
                                <a:solidFill>
                                  <a:srgbClr val="FF0000"/>
                                </a:solidFill>
                                <a:latin typeface="Cambria Math" panose="02040503050406030204" pitchFamily="18" charset="0"/>
                              </a:rPr>
                            </m:ctrlPr>
                          </m:accPr>
                          <m:e>
                            <m:r>
                              <a:rPr lang="en-US" altLang="zh-CN" sz="2800" b="0" i="1" dirty="0" smtClean="0">
                                <a:solidFill>
                                  <a:srgbClr val="FF0000"/>
                                </a:solidFill>
                                <a:latin typeface="Cambria Math" panose="02040503050406030204" pitchFamily="18" charset="0"/>
                              </a:rPr>
                              <m:t>𝑦</m:t>
                            </m:r>
                          </m:e>
                        </m:acc>
                      </m:e>
                      <m:sup>
                        <m:r>
                          <a:rPr lang="en-US" altLang="zh-CN" sz="2800" b="0" i="1" dirty="0" smtClean="0">
                            <a:solidFill>
                              <a:srgbClr val="FF0000"/>
                            </a:solidFill>
                            <a:latin typeface="Cambria Math" panose="02040503050406030204" pitchFamily="18" charset="0"/>
                          </a:rPr>
                          <m:t>𝑛</m:t>
                        </m:r>
                      </m:sup>
                    </m:sSup>
                    <m:sSub>
                      <m:sSubPr>
                        <m:ctrlPr>
                          <a:rPr lang="en-US" altLang="zh-CN" sz="2800" b="0" i="1" dirty="0" smtClean="0">
                            <a:solidFill>
                              <a:srgbClr val="FF0000"/>
                            </a:solidFill>
                            <a:latin typeface="Cambria Math" panose="02040503050406030204" pitchFamily="18" charset="0"/>
                          </a:rPr>
                        </m:ctrlPr>
                      </m:sSubPr>
                      <m:e>
                        <m:r>
                          <a:rPr lang="en-US" altLang="zh-CN" sz="2800" b="0" i="1" dirty="0" smtClean="0">
                            <a:solidFill>
                              <a:srgbClr val="FF0000"/>
                            </a:solidFill>
                            <a:latin typeface="Cambria Math" panose="02040503050406030204" pitchFamily="18" charset="0"/>
                          </a:rPr>
                          <m:t>𝑓</m:t>
                        </m:r>
                      </m:e>
                      <m:sub>
                        <m:r>
                          <a:rPr lang="en-US" altLang="zh-CN" sz="2800" b="0" i="1" dirty="0" smtClean="0">
                            <a:solidFill>
                              <a:srgbClr val="FF0000"/>
                            </a:solidFill>
                            <a:latin typeface="Cambria Math" panose="02040503050406030204" pitchFamily="18" charset="0"/>
                          </a:rPr>
                          <m:t>𝑡</m:t>
                        </m:r>
                      </m:sub>
                    </m:sSub>
                    <m:r>
                      <a:rPr lang="en-US" altLang="zh-CN" sz="2800" b="0" i="1" dirty="0" smtClean="0">
                        <a:solidFill>
                          <a:srgbClr val="FF0000"/>
                        </a:solidFill>
                        <a:latin typeface="Cambria Math" panose="02040503050406030204" pitchFamily="18" charset="0"/>
                      </a:rPr>
                      <m:t>(</m:t>
                    </m:r>
                    <m:sSup>
                      <m:sSupPr>
                        <m:ctrlPr>
                          <a:rPr lang="en-US" altLang="zh-CN" sz="2800" b="0" i="1" dirty="0" smtClean="0">
                            <a:solidFill>
                              <a:srgbClr val="FF0000"/>
                            </a:solidFill>
                            <a:latin typeface="Cambria Math" panose="02040503050406030204" pitchFamily="18" charset="0"/>
                          </a:rPr>
                        </m:ctrlPr>
                      </m:sSupPr>
                      <m:e>
                        <m:r>
                          <a:rPr lang="en-US" altLang="zh-CN" sz="2800" b="0" i="1" dirty="0" smtClean="0">
                            <a:solidFill>
                              <a:srgbClr val="FF0000"/>
                            </a:solidFill>
                            <a:latin typeface="Cambria Math" panose="02040503050406030204" pitchFamily="18" charset="0"/>
                          </a:rPr>
                          <m:t>𝑥</m:t>
                        </m:r>
                      </m:e>
                      <m:sup>
                        <m:r>
                          <a:rPr lang="en-US" altLang="zh-CN" sz="2800" b="0" i="1" dirty="0" smtClean="0">
                            <a:solidFill>
                              <a:srgbClr val="FF0000"/>
                            </a:solidFill>
                            <a:latin typeface="Cambria Math" panose="02040503050406030204" pitchFamily="18" charset="0"/>
                          </a:rPr>
                          <m:t>𝑛</m:t>
                        </m:r>
                      </m:sup>
                    </m:sSup>
                    <m:r>
                      <a:rPr lang="en-US" altLang="zh-CN" sz="2800" b="0" i="1" dirty="0" smtClean="0">
                        <a:solidFill>
                          <a:srgbClr val="FF0000"/>
                        </a:solidFill>
                        <a:latin typeface="Cambria Math" panose="02040503050406030204" pitchFamily="18" charset="0"/>
                      </a:rPr>
                      <m:t>)</m:t>
                    </m:r>
                  </m:oMath>
                </a14:m>
                <a:r>
                  <a:rPr lang="en-US" altLang="zh-CN" sz="2800" dirty="0">
                    <a:solidFill>
                      <a:srgbClr val="FF0000"/>
                    </a:solidFill>
                    <a:latin typeface="微软雅黑"/>
                  </a:rPr>
                  <a:t> α</a:t>
                </a:r>
                <a:r>
                  <a:rPr lang="en-US" altLang="zh-CN" sz="2800" baseline="-25000" dirty="0">
                    <a:solidFill>
                      <a:srgbClr val="FF0000"/>
                    </a:solidFill>
                    <a:latin typeface="微软雅黑"/>
                  </a:rPr>
                  <a:t>t</a:t>
                </a:r>
                <a:r>
                  <a:rPr lang="en-US" altLang="zh-CN" sz="2800" dirty="0">
                    <a:solidFill>
                      <a:srgbClr val="FF0000"/>
                    </a:solidFill>
                    <a:latin typeface="微软雅黑"/>
                  </a:rPr>
                  <a:t>)</a:t>
                </a:r>
                <a:endParaRPr lang="en-CN" sz="2800" dirty="0">
                  <a:solidFill>
                    <a:srgbClr val="FF0000"/>
                  </a:solidFill>
                </a:endParaRPr>
              </a:p>
            </p:txBody>
          </p:sp>
        </mc:Choice>
        <mc:Fallback xmlns="">
          <p:sp>
            <p:nvSpPr>
              <p:cNvPr id="11" name="TextBox 10">
                <a:extLst>
                  <a:ext uri="{FF2B5EF4-FFF2-40B4-BE49-F238E27FC236}">
                    <a16:creationId xmlns:a16="http://schemas.microsoft.com/office/drawing/2014/main" id="{E8EF230C-CE6E-5C2C-A7A9-AFF232B5DB57}"/>
                  </a:ext>
                </a:extLst>
              </p:cNvPr>
              <p:cNvSpPr txBox="1">
                <a:spLocks noRot="1" noChangeAspect="1" noMove="1" noResize="1" noEditPoints="1" noAdjustHandles="1" noChangeArrowheads="1" noChangeShapeType="1" noTextEdit="1"/>
              </p:cNvSpPr>
              <p:nvPr/>
            </p:nvSpPr>
            <p:spPr>
              <a:xfrm>
                <a:off x="2425659" y="5738775"/>
                <a:ext cx="6098458" cy="523220"/>
              </a:xfrm>
              <a:prstGeom prst="rect">
                <a:avLst/>
              </a:prstGeom>
              <a:blipFill>
                <a:blip r:embed="rId6"/>
                <a:stretch>
                  <a:fillRect t="-11905" b="-33333"/>
                </a:stretch>
              </a:blipFill>
            </p:spPr>
            <p:txBody>
              <a:bodyPr/>
              <a:lstStyle/>
              <a:p>
                <a:r>
                  <a:rPr lang="en-CN">
                    <a:noFill/>
                  </a:rPr>
                  <a:t> </a:t>
                </a:r>
              </a:p>
            </p:txBody>
          </p:sp>
        </mc:Fallback>
      </mc:AlternateContent>
      <p:sp>
        <p:nvSpPr>
          <p:cNvPr id="4" name="灯片编号占位符 3">
            <a:extLst>
              <a:ext uri="{FF2B5EF4-FFF2-40B4-BE49-F238E27FC236}">
                <a16:creationId xmlns:a16="http://schemas.microsoft.com/office/drawing/2014/main" id="{2BA2F2BE-77B0-4F30-8749-7153D55D069E}"/>
              </a:ext>
            </a:extLst>
          </p:cNvPr>
          <p:cNvSpPr>
            <a:spLocks noGrp="1"/>
          </p:cNvSpPr>
          <p:nvPr>
            <p:ph type="sldNum" sz="quarter" idx="14"/>
          </p:nvPr>
        </p:nvSpPr>
        <p:spPr/>
        <p:txBody>
          <a:bodyPr/>
          <a:lstStyle/>
          <a:p>
            <a:fld id="{AF69888C-E133-43D9-A638-B5C95925B91C}" type="slidenum">
              <a:rPr lang="zh-CN" altLang="en-US" smtClean="0"/>
              <a:t>34</a:t>
            </a:fld>
            <a:endParaRPr lang="zh-CN" altLang="en-US" dirty="0"/>
          </a:p>
        </p:txBody>
      </p:sp>
    </p:spTree>
    <p:extLst>
      <p:ext uri="{BB962C8B-B14F-4D97-AF65-F5344CB8AC3E}">
        <p14:creationId xmlns:p14="http://schemas.microsoft.com/office/powerpoint/2010/main" val="366610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fade">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fade">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fade">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fade">
                                      <p:cBhvr>
                                        <p:cTn id="52" dur="500"/>
                                        <p:tgtEl>
                                          <p:spTgt spid="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20"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wedge">
                                      <p:cBhvr>
                                        <p:cTn id="6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9" grpId="0" animBg="1"/>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
            <a:extLst>
              <a:ext uri="{FF2B5EF4-FFF2-40B4-BE49-F238E27FC236}">
                <a16:creationId xmlns:a16="http://schemas.microsoft.com/office/drawing/2014/main" id="{96FFCF65-9E46-58EC-A71E-0B2C1E0CB4CB}"/>
              </a:ext>
            </a:extLst>
          </p:cNvPr>
          <p:cNvSpPr>
            <a:spLocks noGrp="1"/>
          </p:cNvSpPr>
          <p:nvPr>
            <p:ph type="body" sz="quarter" idx="12"/>
          </p:nvPr>
        </p:nvSpPr>
        <p:spPr>
          <a:xfrm>
            <a:off x="566738" y="265113"/>
            <a:ext cx="4837112" cy="427037"/>
          </a:xfrm>
        </p:spPr>
        <p:txBody>
          <a:bodyPr/>
          <a:lstStyle/>
          <a:p>
            <a:pPr marL="0" indent="0">
              <a:buNone/>
            </a:pPr>
            <a:r>
              <a:rPr lang="en-US" altLang="zh-CN" dirty="0"/>
              <a:t>AdaBoost</a:t>
            </a:r>
            <a:r>
              <a:rPr lang="zh-CN" altLang="en-US" dirty="0"/>
              <a:t>算法</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D4792E4-7FE3-F3AC-DB2D-8153E668B682}"/>
                  </a:ext>
                </a:extLst>
              </p:cNvPr>
              <p:cNvSpPr txBox="1"/>
              <p:nvPr/>
            </p:nvSpPr>
            <p:spPr>
              <a:xfrm>
                <a:off x="402810" y="988575"/>
                <a:ext cx="8903422" cy="2677656"/>
              </a:xfrm>
              <a:prstGeom prst="rect">
                <a:avLst/>
              </a:prstGeom>
              <a:noFill/>
            </p:spPr>
            <p:txBody>
              <a:bodyPr wrap="square" rtlCol="0">
                <a:spAutoFit/>
              </a:bodyPr>
              <a:lstStyle/>
              <a:p>
                <a:pPr marL="342900" indent="-342900">
                  <a:buFont typeface="Wingdings" pitchFamily="2" charset="2"/>
                  <a:buChar char="Ø"/>
                </a:pPr>
                <a:r>
                  <a:rPr lang="zh-CN" altLang="en-US" sz="2400" dirty="0">
                    <a:latin typeface="+mn-ea"/>
                  </a:rPr>
                  <a:t>根据上述算法得到一组函数</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𝑓</m:t>
                        </m:r>
                      </m:e>
                      <m:sub>
                        <m:r>
                          <a:rPr lang="en-US" altLang="zh-CN" sz="2400" b="0" i="1" dirty="0" smtClean="0">
                            <a:latin typeface="Cambria Math" panose="02040503050406030204" pitchFamily="18" charset="0"/>
                          </a:rPr>
                          <m:t>1</m:t>
                        </m:r>
                      </m:sub>
                    </m:sSub>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𝑓</m:t>
                        </m:r>
                      </m:e>
                      <m:sub>
                        <m:r>
                          <a:rPr lang="en-US" altLang="zh-CN" sz="2400" b="0" i="1" dirty="0" smtClean="0">
                            <a:latin typeface="Cambria Math" panose="02040503050406030204" pitchFamily="18" charset="0"/>
                          </a:rPr>
                          <m:t>𝑡</m:t>
                        </m:r>
                      </m:sub>
                    </m:sSub>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𝑓</m:t>
                        </m:r>
                      </m:e>
                      <m:sub>
                        <m:r>
                          <a:rPr lang="en-US" altLang="zh-CN" sz="2400" b="0" i="1" dirty="0" smtClean="0">
                            <a:latin typeface="Cambria Math" panose="02040503050406030204" pitchFamily="18" charset="0"/>
                          </a:rPr>
                          <m:t>𝑇</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m:t>
                    </m:r>
                  </m:oMath>
                </a14:m>
                <a:endParaRPr lang="en-US" altLang="zh-CN" sz="2400" dirty="0">
                  <a:latin typeface="+mn-ea"/>
                </a:endParaRPr>
              </a:p>
              <a:p>
                <a:pPr algn="l"/>
                <a:endParaRPr lang="en-US" altLang="zh-CN" sz="2400" dirty="0">
                  <a:latin typeface="+mn-ea"/>
                </a:endParaRPr>
              </a:p>
              <a:p>
                <a:pPr marL="342900" indent="-342900" algn="l">
                  <a:buFont typeface="Wingdings" pitchFamily="2" charset="2"/>
                  <a:buChar char="Ø"/>
                </a:pPr>
                <a:r>
                  <a:rPr lang="zh-CN" altLang="en-US" sz="2400" dirty="0">
                    <a:latin typeface="+mn-ea"/>
                  </a:rPr>
                  <a:t>如何整合他们？</a:t>
                </a:r>
                <a:endParaRPr lang="en-US" altLang="zh-CN" sz="2400" dirty="0">
                  <a:latin typeface="+mn-ea"/>
                </a:endParaRPr>
              </a:p>
              <a:p>
                <a:pPr marL="342900" indent="-342900" algn="l">
                  <a:buFont typeface="Wingdings" pitchFamily="2" charset="2"/>
                  <a:buChar char="Ø"/>
                </a:pPr>
                <a:endParaRPr lang="en-US" altLang="zh-CN" sz="2400" dirty="0">
                  <a:latin typeface="+mn-ea"/>
                </a:endParaRPr>
              </a:p>
              <a:p>
                <a:pPr algn="l"/>
                <a:r>
                  <a:rPr lang="en-US" altLang="zh-CN" sz="2400" dirty="0">
                    <a:latin typeface="+mn-ea"/>
                  </a:rPr>
                  <a:t>	•</a:t>
                </a:r>
                <a:r>
                  <a:rPr lang="zh-CN" altLang="en-US" sz="2400" dirty="0">
                    <a:latin typeface="+mn-ea"/>
                  </a:rPr>
                  <a:t>统一的权重</a:t>
                </a:r>
                <a:r>
                  <a:rPr lang="en-US" altLang="zh-CN" sz="2400" dirty="0">
                    <a:latin typeface="+mn-ea"/>
                  </a:rPr>
                  <a:t>:</a:t>
                </a:r>
              </a:p>
              <a:p>
                <a:pPr algn="l"/>
                <a:endParaRPr lang="en-US" altLang="zh-CN" sz="2400" dirty="0">
                  <a:latin typeface="+mn-ea"/>
                </a:endParaRPr>
              </a:p>
              <a:p>
                <a:pPr algn="l"/>
                <a:r>
                  <a:rPr lang="en-US" altLang="zh-CN" sz="2400" dirty="0">
                    <a:latin typeface="+mn-ea"/>
                  </a:rPr>
                  <a:t>	•</a:t>
                </a:r>
                <a:r>
                  <a:rPr lang="zh-CN" altLang="en-US" sz="2400" dirty="0">
                    <a:latin typeface="+mn-ea"/>
                  </a:rPr>
                  <a:t>不统一的权重</a:t>
                </a:r>
                <a:r>
                  <a:rPr lang="en-US" altLang="zh-CN" sz="2400" dirty="0">
                    <a:latin typeface="+mn-ea"/>
                  </a:rPr>
                  <a:t>:</a:t>
                </a:r>
              </a:p>
            </p:txBody>
          </p:sp>
        </mc:Choice>
        <mc:Fallback xmlns="">
          <p:sp>
            <p:nvSpPr>
              <p:cNvPr id="4" name="文本框 3">
                <a:extLst>
                  <a:ext uri="{FF2B5EF4-FFF2-40B4-BE49-F238E27FC236}">
                    <a16:creationId xmlns:a16="http://schemas.microsoft.com/office/drawing/2014/main" id="{ED4792E4-7FE3-F3AC-DB2D-8153E668B682}"/>
                  </a:ext>
                </a:extLst>
              </p:cNvPr>
              <p:cNvSpPr txBox="1">
                <a:spLocks noRot="1" noChangeAspect="1" noMove="1" noResize="1" noEditPoints="1" noAdjustHandles="1" noChangeArrowheads="1" noChangeShapeType="1" noTextEdit="1"/>
              </p:cNvSpPr>
              <p:nvPr/>
            </p:nvSpPr>
            <p:spPr>
              <a:xfrm>
                <a:off x="402810" y="988575"/>
                <a:ext cx="8903422" cy="2677656"/>
              </a:xfrm>
              <a:prstGeom prst="rect">
                <a:avLst/>
              </a:prstGeom>
              <a:blipFill>
                <a:blip r:embed="rId3"/>
                <a:stretch>
                  <a:fillRect l="-997" t="-1887" b="-471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8267083-ED7D-6FD3-37A3-945FDF264AC2}"/>
                  </a:ext>
                </a:extLst>
              </p:cNvPr>
              <p:cNvSpPr txBox="1"/>
              <p:nvPr/>
            </p:nvSpPr>
            <p:spPr>
              <a:xfrm>
                <a:off x="8572627" y="1124398"/>
                <a:ext cx="2646878" cy="830997"/>
              </a:xfrm>
              <a:prstGeom prst="rect">
                <a:avLst/>
              </a:prstGeom>
              <a:noFill/>
            </p:spPr>
            <p:txBody>
              <a:bodyPr wrap="none" rtlCol="0">
                <a:spAutoFit/>
              </a:bodyPr>
              <a:lstStyle/>
              <a:p>
                <a:pPr algn="l"/>
                <a:r>
                  <a:rPr lang="zh-CN" altLang="en-US" sz="2400" dirty="0">
                    <a:latin typeface="+mn-ea"/>
                  </a:rPr>
                  <a:t>误差</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ea typeface="Cambria Math" panose="02040503050406030204" pitchFamily="18" charset="0"/>
                          </a:rPr>
                          <m:t>𝜀</m:t>
                        </m:r>
                      </m:e>
                      <m:sub>
                        <m:r>
                          <a:rPr lang="en-US" altLang="zh-CN" sz="2400" b="0" i="1" dirty="0" smtClean="0">
                            <a:latin typeface="Cambria Math" panose="02040503050406030204" pitchFamily="18" charset="0"/>
                          </a:rPr>
                          <m:t>𝑡</m:t>
                        </m:r>
                      </m:sub>
                    </m:sSub>
                  </m:oMath>
                </a14:m>
                <a:r>
                  <a:rPr lang="zh-CN" altLang="en-US" sz="2400" dirty="0">
                    <a:latin typeface="+mn-ea"/>
                  </a:rPr>
                  <a:t>越小</a:t>
                </a:r>
                <a:r>
                  <a:rPr lang="en-US" altLang="zh-CN" sz="2400" dirty="0">
                    <a:latin typeface="+mn-ea"/>
                  </a:rPr>
                  <a:t>,</a:t>
                </a:r>
              </a:p>
              <a:p>
                <a:pPr algn="l"/>
                <a:r>
                  <a:rPr lang="zh-CN" altLang="en-US" sz="2400" dirty="0">
                    <a:latin typeface="+mn-ea"/>
                  </a:rPr>
                  <a:t>最终投票权重越大</a:t>
                </a:r>
              </a:p>
            </p:txBody>
          </p:sp>
        </mc:Choice>
        <mc:Fallback xmlns="">
          <p:sp>
            <p:nvSpPr>
              <p:cNvPr id="9" name="文本框 8">
                <a:extLst>
                  <a:ext uri="{FF2B5EF4-FFF2-40B4-BE49-F238E27FC236}">
                    <a16:creationId xmlns:a16="http://schemas.microsoft.com/office/drawing/2014/main" id="{F8267083-ED7D-6FD3-37A3-945FDF264AC2}"/>
                  </a:ext>
                </a:extLst>
              </p:cNvPr>
              <p:cNvSpPr txBox="1">
                <a:spLocks noRot="1" noChangeAspect="1" noMove="1" noResize="1" noEditPoints="1" noAdjustHandles="1" noChangeArrowheads="1" noChangeShapeType="1" noTextEdit="1"/>
              </p:cNvSpPr>
              <p:nvPr/>
            </p:nvSpPr>
            <p:spPr>
              <a:xfrm>
                <a:off x="8572627" y="1124398"/>
                <a:ext cx="2646878" cy="830997"/>
              </a:xfrm>
              <a:prstGeom prst="rect">
                <a:avLst/>
              </a:prstGeom>
              <a:blipFill>
                <a:blip r:embed="rId4"/>
                <a:stretch>
                  <a:fillRect l="-3333" t="-5970" r="-2381" b="-14925"/>
                </a:stretch>
              </a:blipFill>
            </p:spPr>
            <p:txBody>
              <a:bodyPr/>
              <a:lstStyle/>
              <a:p>
                <a:r>
                  <a:rPr lang="en-CN">
                    <a:noFill/>
                  </a:rPr>
                  <a:t> </a:t>
                </a:r>
              </a:p>
            </p:txBody>
          </p:sp>
        </mc:Fallback>
      </mc:AlternateContent>
      <p:pic>
        <p:nvPicPr>
          <p:cNvPr id="5" name="图片 4">
            <a:extLst>
              <a:ext uri="{FF2B5EF4-FFF2-40B4-BE49-F238E27FC236}">
                <a16:creationId xmlns:a16="http://schemas.microsoft.com/office/drawing/2014/main" id="{BA0884EE-921A-42FE-BAFA-748C8BBE0B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7635" y="2367591"/>
            <a:ext cx="4661140" cy="565179"/>
          </a:xfrm>
          <a:prstGeom prst="rect">
            <a:avLst/>
          </a:prstGeom>
        </p:spPr>
      </p:pic>
      <p:pic>
        <p:nvPicPr>
          <p:cNvPr id="10" name="图片 9">
            <a:extLst>
              <a:ext uri="{FF2B5EF4-FFF2-40B4-BE49-F238E27FC236}">
                <a16:creationId xmlns:a16="http://schemas.microsoft.com/office/drawing/2014/main" id="{9D8317D0-48F6-4855-92EE-A85A8ECCD4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19372" y="3142885"/>
            <a:ext cx="4953255" cy="514376"/>
          </a:xfrm>
          <a:prstGeom prst="rect">
            <a:avLst/>
          </a:prstGeom>
        </p:spPr>
      </p:pic>
      <p:pic>
        <p:nvPicPr>
          <p:cNvPr id="13" name="图片 12">
            <a:extLst>
              <a:ext uri="{FF2B5EF4-FFF2-40B4-BE49-F238E27FC236}">
                <a16:creationId xmlns:a16="http://schemas.microsoft.com/office/drawing/2014/main" id="{BB5AAA8F-B7F8-42E5-B3C5-FB5B94E1BD7C}"/>
              </a:ext>
            </a:extLst>
          </p:cNvPr>
          <p:cNvPicPr>
            <a:picLocks noChangeAspect="1"/>
          </p:cNvPicPr>
          <p:nvPr/>
        </p:nvPicPr>
        <p:blipFill>
          <a:blip r:embed="rId7"/>
          <a:stretch>
            <a:fillRect/>
          </a:stretch>
        </p:blipFill>
        <p:spPr>
          <a:xfrm>
            <a:off x="698222" y="4274914"/>
            <a:ext cx="3403683" cy="735364"/>
          </a:xfrm>
          <a:prstGeom prst="rect">
            <a:avLst/>
          </a:prstGeom>
        </p:spPr>
      </p:pic>
      <p:pic>
        <p:nvPicPr>
          <p:cNvPr id="19" name="图片 18">
            <a:extLst>
              <a:ext uri="{FF2B5EF4-FFF2-40B4-BE49-F238E27FC236}">
                <a16:creationId xmlns:a16="http://schemas.microsoft.com/office/drawing/2014/main" id="{FFA523AA-9130-4F37-A41E-366D70028891}"/>
              </a:ext>
            </a:extLst>
          </p:cNvPr>
          <p:cNvPicPr>
            <a:picLocks noChangeAspect="1"/>
          </p:cNvPicPr>
          <p:nvPr/>
        </p:nvPicPr>
        <p:blipFill>
          <a:blip r:embed="rId8"/>
          <a:stretch>
            <a:fillRect/>
          </a:stretch>
        </p:blipFill>
        <p:spPr>
          <a:xfrm>
            <a:off x="698222" y="5260249"/>
            <a:ext cx="4832390" cy="735364"/>
          </a:xfrm>
          <a:prstGeom prst="rect">
            <a:avLst/>
          </a:prstGeom>
        </p:spPr>
      </p:pic>
      <p:grpSp>
        <p:nvGrpSpPr>
          <p:cNvPr id="24" name="组合 23">
            <a:extLst>
              <a:ext uri="{FF2B5EF4-FFF2-40B4-BE49-F238E27FC236}">
                <a16:creationId xmlns:a16="http://schemas.microsoft.com/office/drawing/2014/main" id="{9C319853-A739-421A-B0A1-44AB8DE8E071}"/>
              </a:ext>
            </a:extLst>
          </p:cNvPr>
          <p:cNvGrpSpPr/>
          <p:nvPr/>
        </p:nvGrpSpPr>
        <p:grpSpPr>
          <a:xfrm>
            <a:off x="6568236" y="4454422"/>
            <a:ext cx="1772959" cy="1257328"/>
            <a:chOff x="5915820" y="4340134"/>
            <a:chExt cx="1900273" cy="1257328"/>
          </a:xfrm>
        </p:grpSpPr>
        <p:pic>
          <p:nvPicPr>
            <p:cNvPr id="15" name="图片 14">
              <a:extLst>
                <a:ext uri="{FF2B5EF4-FFF2-40B4-BE49-F238E27FC236}">
                  <a16:creationId xmlns:a16="http://schemas.microsoft.com/office/drawing/2014/main" id="{F157B212-73B4-4C9D-A4BD-C88FD654625F}"/>
                </a:ext>
              </a:extLst>
            </p:cNvPr>
            <p:cNvPicPr>
              <a:picLocks noChangeAspect="1"/>
            </p:cNvPicPr>
            <p:nvPr/>
          </p:nvPicPr>
          <p:blipFill>
            <a:blip r:embed="rId9"/>
            <a:stretch>
              <a:fillRect/>
            </a:stretch>
          </p:blipFill>
          <p:spPr>
            <a:xfrm>
              <a:off x="5915820" y="4340134"/>
              <a:ext cx="1700464" cy="758316"/>
            </a:xfrm>
            <a:prstGeom prst="rect">
              <a:avLst/>
            </a:prstGeom>
          </p:spPr>
        </p:pic>
        <p:pic>
          <p:nvPicPr>
            <p:cNvPr id="21" name="图片 20">
              <a:extLst>
                <a:ext uri="{FF2B5EF4-FFF2-40B4-BE49-F238E27FC236}">
                  <a16:creationId xmlns:a16="http://schemas.microsoft.com/office/drawing/2014/main" id="{9D9CFEB6-1854-450B-A30F-2B0299E934A2}"/>
                </a:ext>
              </a:extLst>
            </p:cNvPr>
            <p:cNvPicPr>
              <a:picLocks noChangeAspect="1"/>
            </p:cNvPicPr>
            <p:nvPr/>
          </p:nvPicPr>
          <p:blipFill>
            <a:blip r:embed="rId10"/>
            <a:stretch>
              <a:fillRect/>
            </a:stretch>
          </p:blipFill>
          <p:spPr>
            <a:xfrm>
              <a:off x="5915820" y="5005067"/>
              <a:ext cx="1900273" cy="592395"/>
            </a:xfrm>
            <a:prstGeom prst="rect">
              <a:avLst/>
            </a:prstGeom>
          </p:spPr>
        </p:pic>
      </p:grpSp>
      <p:grpSp>
        <p:nvGrpSpPr>
          <p:cNvPr id="25" name="组合 24">
            <a:extLst>
              <a:ext uri="{FF2B5EF4-FFF2-40B4-BE49-F238E27FC236}">
                <a16:creationId xmlns:a16="http://schemas.microsoft.com/office/drawing/2014/main" id="{01D1454A-6E18-41A3-8EE5-3F1F6E3EF5B7}"/>
              </a:ext>
            </a:extLst>
          </p:cNvPr>
          <p:cNvGrpSpPr/>
          <p:nvPr/>
        </p:nvGrpSpPr>
        <p:grpSpPr>
          <a:xfrm>
            <a:off x="9009586" y="4434748"/>
            <a:ext cx="1772959" cy="1327759"/>
            <a:chOff x="8237677" y="4269703"/>
            <a:chExt cx="2107909" cy="1571044"/>
          </a:xfrm>
        </p:grpSpPr>
        <p:pic>
          <p:nvPicPr>
            <p:cNvPr id="17" name="图片 16">
              <a:extLst>
                <a:ext uri="{FF2B5EF4-FFF2-40B4-BE49-F238E27FC236}">
                  <a16:creationId xmlns:a16="http://schemas.microsoft.com/office/drawing/2014/main" id="{37F5A460-416B-463B-B53A-E319396B92BC}"/>
                </a:ext>
              </a:extLst>
            </p:cNvPr>
            <p:cNvPicPr>
              <a:picLocks noChangeAspect="1"/>
            </p:cNvPicPr>
            <p:nvPr/>
          </p:nvPicPr>
          <p:blipFill>
            <a:blip r:embed="rId11"/>
            <a:stretch>
              <a:fillRect/>
            </a:stretch>
          </p:blipFill>
          <p:spPr>
            <a:xfrm>
              <a:off x="8237677" y="4269703"/>
              <a:ext cx="1832755" cy="735364"/>
            </a:xfrm>
            <a:prstGeom prst="rect">
              <a:avLst/>
            </a:prstGeom>
          </p:spPr>
        </p:pic>
        <p:pic>
          <p:nvPicPr>
            <p:cNvPr id="23" name="图片 22">
              <a:extLst>
                <a:ext uri="{FF2B5EF4-FFF2-40B4-BE49-F238E27FC236}">
                  <a16:creationId xmlns:a16="http://schemas.microsoft.com/office/drawing/2014/main" id="{7074E308-768D-4350-BE71-D0B03AD3ACF1}"/>
                </a:ext>
              </a:extLst>
            </p:cNvPr>
            <p:cNvPicPr>
              <a:picLocks noChangeAspect="1"/>
            </p:cNvPicPr>
            <p:nvPr/>
          </p:nvPicPr>
          <p:blipFill>
            <a:blip r:embed="rId12"/>
            <a:stretch>
              <a:fillRect/>
            </a:stretch>
          </p:blipFill>
          <p:spPr>
            <a:xfrm>
              <a:off x="8237677" y="5005067"/>
              <a:ext cx="2107909" cy="835680"/>
            </a:xfrm>
            <a:prstGeom prst="rect">
              <a:avLst/>
            </a:prstGeom>
          </p:spPr>
        </p:pic>
      </p:grpSp>
      <p:sp>
        <p:nvSpPr>
          <p:cNvPr id="2" name="灯片编号占位符 1">
            <a:extLst>
              <a:ext uri="{FF2B5EF4-FFF2-40B4-BE49-F238E27FC236}">
                <a16:creationId xmlns:a16="http://schemas.microsoft.com/office/drawing/2014/main" id="{C3DFA469-C439-4138-BA41-E9A2F60F1F9D}"/>
              </a:ext>
            </a:extLst>
          </p:cNvPr>
          <p:cNvSpPr>
            <a:spLocks noGrp="1"/>
          </p:cNvSpPr>
          <p:nvPr>
            <p:ph type="sldNum" sz="quarter" idx="14"/>
          </p:nvPr>
        </p:nvSpPr>
        <p:spPr/>
        <p:txBody>
          <a:bodyPr/>
          <a:lstStyle/>
          <a:p>
            <a:fld id="{AF69888C-E133-43D9-A638-B5C95925B91C}" type="slidenum">
              <a:rPr lang="zh-CN" altLang="en-US" smtClean="0"/>
              <a:t>35</a:t>
            </a:fld>
            <a:endParaRPr lang="zh-CN" altLang="en-US" dirty="0"/>
          </a:p>
        </p:txBody>
      </p:sp>
    </p:spTree>
    <p:extLst>
      <p:ext uri="{BB962C8B-B14F-4D97-AF65-F5344CB8AC3E}">
        <p14:creationId xmlns:p14="http://schemas.microsoft.com/office/powerpoint/2010/main" val="357095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5F65D61-16E2-8F82-9E44-8DB1C2296BC4}"/>
              </a:ext>
            </a:extLst>
          </p:cNvPr>
          <p:cNvSpPr>
            <a:spLocks noGrp="1"/>
          </p:cNvSpPr>
          <p:nvPr>
            <p:ph type="body" sz="quarter" idx="12"/>
          </p:nvPr>
        </p:nvSpPr>
        <p:spPr/>
        <p:txBody>
          <a:bodyPr/>
          <a:lstStyle/>
          <a:p>
            <a:pPr marL="0" indent="0">
              <a:buNone/>
            </a:pPr>
            <a:r>
              <a:rPr lang="en-US" altLang="zh-CN" sz="3200" dirty="0"/>
              <a:t>AdaBoost</a:t>
            </a:r>
            <a:r>
              <a:rPr lang="zh-CN" altLang="en-US" sz="3200" dirty="0"/>
              <a:t>计算实例</a:t>
            </a:r>
          </a:p>
        </p:txBody>
      </p:sp>
      <p:sp>
        <p:nvSpPr>
          <p:cNvPr id="3" name="文本框 2">
            <a:extLst>
              <a:ext uri="{FF2B5EF4-FFF2-40B4-BE49-F238E27FC236}">
                <a16:creationId xmlns:a16="http://schemas.microsoft.com/office/drawing/2014/main" id="{5D0E6FF6-7F0B-F010-8549-5A2A36F18CB4}"/>
              </a:ext>
            </a:extLst>
          </p:cNvPr>
          <p:cNvSpPr txBox="1"/>
          <p:nvPr/>
        </p:nvSpPr>
        <p:spPr>
          <a:xfrm>
            <a:off x="2457857" y="1240847"/>
            <a:ext cx="1055097" cy="830997"/>
          </a:xfrm>
          <a:prstGeom prst="rect">
            <a:avLst/>
          </a:prstGeom>
          <a:noFill/>
        </p:spPr>
        <p:txBody>
          <a:bodyPr wrap="none" rtlCol="0">
            <a:spAutoFit/>
          </a:bodyPr>
          <a:lstStyle/>
          <a:p>
            <a:pPr algn="l"/>
            <a:endParaRPr lang="en-US" altLang="zh-CN" sz="2400" dirty="0">
              <a:latin typeface="+mn-ea"/>
            </a:endParaRPr>
          </a:p>
          <a:p>
            <a:pPr marL="342900" indent="-342900" algn="l">
              <a:buFont typeface="Wingdings" panose="05000000000000000000" pitchFamily="2" charset="2"/>
              <a:buChar char="l"/>
            </a:pPr>
            <a:r>
              <a:rPr lang="en-US" altLang="zh-CN" sz="2400" dirty="0">
                <a:latin typeface="+mn-ea"/>
              </a:rPr>
              <a:t>t=1</a:t>
            </a:r>
            <a:endParaRPr lang="zh-CN" altLang="en-US" sz="2400" dirty="0">
              <a:latin typeface="+mn-ea"/>
            </a:endParaRPr>
          </a:p>
        </p:txBody>
      </p:sp>
      <p:sp>
        <p:nvSpPr>
          <p:cNvPr id="59" name="矩形 58">
            <a:extLst>
              <a:ext uri="{FF2B5EF4-FFF2-40B4-BE49-F238E27FC236}">
                <a16:creationId xmlns:a16="http://schemas.microsoft.com/office/drawing/2014/main" id="{5649127A-0051-4BA9-AAA9-CF4894708F19}"/>
              </a:ext>
            </a:extLst>
          </p:cNvPr>
          <p:cNvSpPr/>
          <p:nvPr/>
        </p:nvSpPr>
        <p:spPr>
          <a:xfrm>
            <a:off x="3473545" y="2293166"/>
            <a:ext cx="2081178" cy="3084196"/>
          </a:xfrm>
          <a:prstGeom prst="rect">
            <a:avLst/>
          </a:prstGeom>
          <a:solidFill>
            <a:srgbClr val="FFE9EA"/>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60" name="矩形 59">
            <a:extLst>
              <a:ext uri="{FF2B5EF4-FFF2-40B4-BE49-F238E27FC236}">
                <a16:creationId xmlns:a16="http://schemas.microsoft.com/office/drawing/2014/main" id="{CA8AD682-9B5A-4A67-8109-5CF831DFFE47}"/>
              </a:ext>
            </a:extLst>
          </p:cNvPr>
          <p:cNvSpPr/>
          <p:nvPr/>
        </p:nvSpPr>
        <p:spPr>
          <a:xfrm>
            <a:off x="2494724" y="2276872"/>
            <a:ext cx="948409" cy="30841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61" name="文字方塊 4">
            <a:extLst>
              <a:ext uri="{FF2B5EF4-FFF2-40B4-BE49-F238E27FC236}">
                <a16:creationId xmlns:a16="http://schemas.microsoft.com/office/drawing/2014/main" id="{AD1D2ABF-1DB6-4D5C-9250-897D33600518}"/>
              </a:ext>
            </a:extLst>
          </p:cNvPr>
          <p:cNvSpPr txBox="1"/>
          <p:nvPr/>
        </p:nvSpPr>
        <p:spPr>
          <a:xfrm>
            <a:off x="4151094" y="248474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2" name="文字方塊 5">
            <a:extLst>
              <a:ext uri="{FF2B5EF4-FFF2-40B4-BE49-F238E27FC236}">
                <a16:creationId xmlns:a16="http://schemas.microsoft.com/office/drawing/2014/main" id="{E87E2FF3-3B31-4187-B8E4-B6C2C3240635}"/>
              </a:ext>
            </a:extLst>
          </p:cNvPr>
          <p:cNvSpPr txBox="1"/>
          <p:nvPr/>
        </p:nvSpPr>
        <p:spPr>
          <a:xfrm>
            <a:off x="4610227" y="300796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3" name="文字方塊 6">
            <a:extLst>
              <a:ext uri="{FF2B5EF4-FFF2-40B4-BE49-F238E27FC236}">
                <a16:creationId xmlns:a16="http://schemas.microsoft.com/office/drawing/2014/main" id="{50433915-6651-48E5-A607-9C10A0F4EB86}"/>
              </a:ext>
            </a:extLst>
          </p:cNvPr>
          <p:cNvSpPr txBox="1"/>
          <p:nvPr/>
        </p:nvSpPr>
        <p:spPr>
          <a:xfrm>
            <a:off x="3526979" y="274635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4" name="文字方塊 7">
            <a:extLst>
              <a:ext uri="{FF2B5EF4-FFF2-40B4-BE49-F238E27FC236}">
                <a16:creationId xmlns:a16="http://schemas.microsoft.com/office/drawing/2014/main" id="{69F0B93E-72FB-46A4-80C1-C89B0F804F60}"/>
              </a:ext>
            </a:extLst>
          </p:cNvPr>
          <p:cNvSpPr txBox="1"/>
          <p:nvPr/>
        </p:nvSpPr>
        <p:spPr>
          <a:xfrm>
            <a:off x="2849463" y="353118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5" name="文字方塊 8">
            <a:extLst>
              <a:ext uri="{FF2B5EF4-FFF2-40B4-BE49-F238E27FC236}">
                <a16:creationId xmlns:a16="http://schemas.microsoft.com/office/drawing/2014/main" id="{68F46F51-6C05-4770-91D3-4F83759054DD}"/>
              </a:ext>
            </a:extLst>
          </p:cNvPr>
          <p:cNvSpPr txBox="1"/>
          <p:nvPr/>
        </p:nvSpPr>
        <p:spPr>
          <a:xfrm>
            <a:off x="2922033" y="4296323"/>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6" name="文字方塊 9">
            <a:extLst>
              <a:ext uri="{FF2B5EF4-FFF2-40B4-BE49-F238E27FC236}">
                <a16:creationId xmlns:a16="http://schemas.microsoft.com/office/drawing/2014/main" id="{9F12FD9A-8CC3-4643-82B8-D1C8F165BFD5}"/>
              </a:ext>
            </a:extLst>
          </p:cNvPr>
          <p:cNvSpPr txBox="1"/>
          <p:nvPr/>
        </p:nvSpPr>
        <p:spPr>
          <a:xfrm>
            <a:off x="3555338" y="3482374"/>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7" name="文字方塊 10">
            <a:extLst>
              <a:ext uri="{FF2B5EF4-FFF2-40B4-BE49-F238E27FC236}">
                <a16:creationId xmlns:a16="http://schemas.microsoft.com/office/drawing/2014/main" id="{DEAFD89D-9B62-400D-8152-4E336F74D22D}"/>
              </a:ext>
            </a:extLst>
          </p:cNvPr>
          <p:cNvSpPr txBox="1"/>
          <p:nvPr/>
        </p:nvSpPr>
        <p:spPr>
          <a:xfrm>
            <a:off x="3661866" y="4562428"/>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8" name="文字方塊 11">
            <a:extLst>
              <a:ext uri="{FF2B5EF4-FFF2-40B4-BE49-F238E27FC236}">
                <a16:creationId xmlns:a16="http://schemas.microsoft.com/office/drawing/2014/main" id="{4B2E306E-BCCC-468C-BD32-BC8F0BF81DE5}"/>
              </a:ext>
            </a:extLst>
          </p:cNvPr>
          <p:cNvSpPr txBox="1"/>
          <p:nvPr/>
        </p:nvSpPr>
        <p:spPr>
          <a:xfrm>
            <a:off x="4206665" y="353118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69" name="文字方塊 12">
            <a:extLst>
              <a:ext uri="{FF2B5EF4-FFF2-40B4-BE49-F238E27FC236}">
                <a16:creationId xmlns:a16="http://schemas.microsoft.com/office/drawing/2014/main" id="{1AA12B7F-4C19-4AB3-ACBF-5E1E0A06A382}"/>
              </a:ext>
            </a:extLst>
          </p:cNvPr>
          <p:cNvSpPr txBox="1"/>
          <p:nvPr/>
        </p:nvSpPr>
        <p:spPr>
          <a:xfrm>
            <a:off x="5025817" y="2714341"/>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70" name="文字方塊 13">
            <a:extLst>
              <a:ext uri="{FF2B5EF4-FFF2-40B4-BE49-F238E27FC236}">
                <a16:creationId xmlns:a16="http://schemas.microsoft.com/office/drawing/2014/main" id="{8DB0DABF-D160-4E5D-85E9-0B1F810EE8C7}"/>
              </a:ext>
            </a:extLst>
          </p:cNvPr>
          <p:cNvSpPr txBox="1"/>
          <p:nvPr/>
        </p:nvSpPr>
        <p:spPr>
          <a:xfrm>
            <a:off x="5025816" y="4296323"/>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71" name="矩形 70">
            <a:extLst>
              <a:ext uri="{FF2B5EF4-FFF2-40B4-BE49-F238E27FC236}">
                <a16:creationId xmlns:a16="http://schemas.microsoft.com/office/drawing/2014/main" id="{16155673-A87F-4BBC-8B0B-79EDFE161621}"/>
              </a:ext>
            </a:extLst>
          </p:cNvPr>
          <p:cNvSpPr/>
          <p:nvPr/>
        </p:nvSpPr>
        <p:spPr>
          <a:xfrm>
            <a:off x="2494723" y="2301068"/>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72" name="文字方塊 15">
            <a:extLst>
              <a:ext uri="{FF2B5EF4-FFF2-40B4-BE49-F238E27FC236}">
                <a16:creationId xmlns:a16="http://schemas.microsoft.com/office/drawing/2014/main" id="{92D2216B-01BB-4A36-A3FF-99D6CD79A03E}"/>
              </a:ext>
            </a:extLst>
          </p:cNvPr>
          <p:cNvSpPr txBox="1"/>
          <p:nvPr/>
        </p:nvSpPr>
        <p:spPr>
          <a:xfrm>
            <a:off x="3184122" y="2810034"/>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3" name="文字方塊 16">
            <a:extLst>
              <a:ext uri="{FF2B5EF4-FFF2-40B4-BE49-F238E27FC236}">
                <a16:creationId xmlns:a16="http://schemas.microsoft.com/office/drawing/2014/main" id="{99D11B3F-EEA2-493B-AD2C-7CA4457BCABB}"/>
              </a:ext>
            </a:extLst>
          </p:cNvPr>
          <p:cNvSpPr txBox="1"/>
          <p:nvPr/>
        </p:nvSpPr>
        <p:spPr>
          <a:xfrm>
            <a:off x="3799759" y="2511734"/>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4" name="文字方塊 17">
            <a:extLst>
              <a:ext uri="{FF2B5EF4-FFF2-40B4-BE49-F238E27FC236}">
                <a16:creationId xmlns:a16="http://schemas.microsoft.com/office/drawing/2014/main" id="{97C48BCD-2570-4C0D-A7DE-263496BD7485}"/>
              </a:ext>
            </a:extLst>
          </p:cNvPr>
          <p:cNvSpPr txBox="1"/>
          <p:nvPr/>
        </p:nvSpPr>
        <p:spPr>
          <a:xfrm>
            <a:off x="4267178" y="3014338"/>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5" name="文字方塊 18">
            <a:extLst>
              <a:ext uri="{FF2B5EF4-FFF2-40B4-BE49-F238E27FC236}">
                <a16:creationId xmlns:a16="http://schemas.microsoft.com/office/drawing/2014/main" id="{0E4BC5A2-8868-45D7-9985-345FF997EED4}"/>
              </a:ext>
            </a:extLst>
          </p:cNvPr>
          <p:cNvSpPr txBox="1"/>
          <p:nvPr/>
        </p:nvSpPr>
        <p:spPr>
          <a:xfrm>
            <a:off x="4695319" y="2675315"/>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6" name="文字方塊 19">
            <a:extLst>
              <a:ext uri="{FF2B5EF4-FFF2-40B4-BE49-F238E27FC236}">
                <a16:creationId xmlns:a16="http://schemas.microsoft.com/office/drawing/2014/main" id="{AEAD49F6-F0C4-4DEE-944B-81851BF7FE91}"/>
              </a:ext>
            </a:extLst>
          </p:cNvPr>
          <p:cNvSpPr txBox="1"/>
          <p:nvPr/>
        </p:nvSpPr>
        <p:spPr>
          <a:xfrm>
            <a:off x="2513430" y="3553179"/>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7" name="文字方塊 20">
            <a:extLst>
              <a:ext uri="{FF2B5EF4-FFF2-40B4-BE49-F238E27FC236}">
                <a16:creationId xmlns:a16="http://schemas.microsoft.com/office/drawing/2014/main" id="{8A56D15F-26FB-4189-AACF-C70B4F604046}"/>
              </a:ext>
            </a:extLst>
          </p:cNvPr>
          <p:cNvSpPr txBox="1"/>
          <p:nvPr/>
        </p:nvSpPr>
        <p:spPr>
          <a:xfrm>
            <a:off x="2579098" y="4350157"/>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8" name="文字方塊 21">
            <a:extLst>
              <a:ext uri="{FF2B5EF4-FFF2-40B4-BE49-F238E27FC236}">
                <a16:creationId xmlns:a16="http://schemas.microsoft.com/office/drawing/2014/main" id="{F2ECFBB7-DF15-42F7-BD7F-FC7654F7E2A3}"/>
              </a:ext>
            </a:extLst>
          </p:cNvPr>
          <p:cNvSpPr txBox="1"/>
          <p:nvPr/>
        </p:nvSpPr>
        <p:spPr>
          <a:xfrm>
            <a:off x="3370563" y="4617920"/>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79" name="文字方塊 22">
            <a:extLst>
              <a:ext uri="{FF2B5EF4-FFF2-40B4-BE49-F238E27FC236}">
                <a16:creationId xmlns:a16="http://schemas.microsoft.com/office/drawing/2014/main" id="{7B3720D5-B819-451E-9249-D6D60FA33F9D}"/>
              </a:ext>
            </a:extLst>
          </p:cNvPr>
          <p:cNvSpPr txBox="1"/>
          <p:nvPr/>
        </p:nvSpPr>
        <p:spPr>
          <a:xfrm>
            <a:off x="4700635" y="4327101"/>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80" name="文字方塊 23">
            <a:extLst>
              <a:ext uri="{FF2B5EF4-FFF2-40B4-BE49-F238E27FC236}">
                <a16:creationId xmlns:a16="http://schemas.microsoft.com/office/drawing/2014/main" id="{0ADAD09C-F8D2-454F-81B0-68F30B51BCE2}"/>
              </a:ext>
            </a:extLst>
          </p:cNvPr>
          <p:cNvSpPr txBox="1"/>
          <p:nvPr/>
        </p:nvSpPr>
        <p:spPr>
          <a:xfrm>
            <a:off x="3996060" y="3768390"/>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81" name="文字方塊 24">
            <a:extLst>
              <a:ext uri="{FF2B5EF4-FFF2-40B4-BE49-F238E27FC236}">
                <a16:creationId xmlns:a16="http://schemas.microsoft.com/office/drawing/2014/main" id="{030FA933-19B2-47F0-8D48-359B1AC61E88}"/>
              </a:ext>
            </a:extLst>
          </p:cNvPr>
          <p:cNvSpPr txBox="1"/>
          <p:nvPr/>
        </p:nvSpPr>
        <p:spPr>
          <a:xfrm>
            <a:off x="3333723" y="3714343"/>
            <a:ext cx="683273"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1.0</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cxnSp>
        <p:nvCxnSpPr>
          <p:cNvPr id="82" name="直線接點 49">
            <a:extLst>
              <a:ext uri="{FF2B5EF4-FFF2-40B4-BE49-F238E27FC236}">
                <a16:creationId xmlns:a16="http://schemas.microsoft.com/office/drawing/2014/main" id="{264D1F8C-122A-4CEC-868B-D005A494411E}"/>
              </a:ext>
            </a:extLst>
          </p:cNvPr>
          <p:cNvCxnSpPr/>
          <p:nvPr/>
        </p:nvCxnSpPr>
        <p:spPr>
          <a:xfrm>
            <a:off x="3443132" y="2276872"/>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文字方塊 50">
                <a:extLst>
                  <a:ext uri="{FF2B5EF4-FFF2-40B4-BE49-F238E27FC236}">
                    <a16:creationId xmlns:a16="http://schemas.microsoft.com/office/drawing/2014/main" id="{174AC88E-8915-44D7-8FD9-B94918B679F5}"/>
                  </a:ext>
                </a:extLst>
              </p:cNvPr>
              <p:cNvSpPr txBox="1"/>
              <p:nvPr/>
            </p:nvSpPr>
            <p:spPr>
              <a:xfrm>
                <a:off x="2970985" y="5425937"/>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h</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83" name="文字方塊 50">
                <a:extLst>
                  <a:ext uri="{FF2B5EF4-FFF2-40B4-BE49-F238E27FC236}">
                    <a16:creationId xmlns:a16="http://schemas.microsoft.com/office/drawing/2014/main" id="{174AC88E-8915-44D7-8FD9-B94918B679F5}"/>
                  </a:ext>
                </a:extLst>
              </p:cNvPr>
              <p:cNvSpPr txBox="1">
                <a:spLocks noRot="1" noChangeAspect="1" noMove="1" noResize="1" noEditPoints="1" noAdjustHandles="1" noChangeArrowheads="1" noChangeShapeType="1" noTextEdit="1"/>
              </p:cNvSpPr>
              <p:nvPr/>
            </p:nvSpPr>
            <p:spPr>
              <a:xfrm>
                <a:off x="2970985" y="5425937"/>
                <a:ext cx="944294" cy="461665"/>
              </a:xfrm>
              <a:prstGeom prst="rect">
                <a:avLst/>
              </a:prstGeom>
              <a:blipFill>
                <a:blip r:embed="rId2"/>
                <a:stretch>
                  <a:fillRect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文字方塊 53">
                <a:extLst>
                  <a:ext uri="{FF2B5EF4-FFF2-40B4-BE49-F238E27FC236}">
                    <a16:creationId xmlns:a16="http://schemas.microsoft.com/office/drawing/2014/main" id="{704B2122-F4C5-4BA3-9896-FFA8374B4632}"/>
                  </a:ext>
                </a:extLst>
              </p:cNvPr>
              <p:cNvSpPr txBox="1"/>
              <p:nvPr/>
            </p:nvSpPr>
            <p:spPr>
              <a:xfrm>
                <a:off x="5646183" y="4145058"/>
                <a:ext cx="151579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=0.30</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84" name="文字方塊 53">
                <a:extLst>
                  <a:ext uri="{FF2B5EF4-FFF2-40B4-BE49-F238E27FC236}">
                    <a16:creationId xmlns:a16="http://schemas.microsoft.com/office/drawing/2014/main" id="{704B2122-F4C5-4BA3-9896-FFA8374B4632}"/>
                  </a:ext>
                </a:extLst>
              </p:cNvPr>
              <p:cNvSpPr txBox="1">
                <a:spLocks noRot="1" noChangeAspect="1" noMove="1" noResize="1" noEditPoints="1" noAdjustHandles="1" noChangeArrowheads="1" noChangeShapeType="1" noTextEdit="1"/>
              </p:cNvSpPr>
              <p:nvPr/>
            </p:nvSpPr>
            <p:spPr>
              <a:xfrm>
                <a:off x="5646183" y="4145058"/>
                <a:ext cx="1515798" cy="461665"/>
              </a:xfrm>
              <a:prstGeom prst="rect">
                <a:avLst/>
              </a:prstGeom>
              <a:blipFill>
                <a:blip r:embed="rId3"/>
                <a:stretch>
                  <a:fillRect/>
                </a:stretch>
              </a:blipFill>
            </p:spPr>
            <p:txBody>
              <a:bodyPr/>
              <a:lstStyle/>
              <a:p>
                <a:r>
                  <a:rPr lang="zh-CN" altLang="en-US">
                    <a:noFill/>
                  </a:rPr>
                  <a:t> </a:t>
                </a:r>
              </a:p>
            </p:txBody>
          </p:sp>
        </mc:Fallback>
      </mc:AlternateContent>
      <p:sp>
        <p:nvSpPr>
          <p:cNvPr id="85" name="箭號: 向右 54">
            <a:extLst>
              <a:ext uri="{FF2B5EF4-FFF2-40B4-BE49-F238E27FC236}">
                <a16:creationId xmlns:a16="http://schemas.microsoft.com/office/drawing/2014/main" id="{128B849F-C462-415A-A2DC-F7D2C6263E1F}"/>
              </a:ext>
            </a:extLst>
          </p:cNvPr>
          <p:cNvSpPr/>
          <p:nvPr/>
        </p:nvSpPr>
        <p:spPr>
          <a:xfrm>
            <a:off x="5811135" y="3482374"/>
            <a:ext cx="1160221" cy="625526"/>
          </a:xfrm>
          <a:prstGeom prst="rightArrow">
            <a:avLst/>
          </a:prstGeom>
          <a:solidFill>
            <a:srgbClr val="0070C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86" name="文字方塊 55">
                <a:extLst>
                  <a:ext uri="{FF2B5EF4-FFF2-40B4-BE49-F238E27FC236}">
                    <a16:creationId xmlns:a16="http://schemas.microsoft.com/office/drawing/2014/main" id="{EF21655B-7145-4747-9DC7-BB5ED3F9A937}"/>
                  </a:ext>
                </a:extLst>
              </p:cNvPr>
              <p:cNvSpPr txBox="1"/>
              <p:nvPr/>
            </p:nvSpPr>
            <p:spPr>
              <a:xfrm>
                <a:off x="5639097" y="4674687"/>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=1.53</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86" name="文字方塊 55">
                <a:extLst>
                  <a:ext uri="{FF2B5EF4-FFF2-40B4-BE49-F238E27FC236}">
                    <a16:creationId xmlns:a16="http://schemas.microsoft.com/office/drawing/2014/main" id="{EF21655B-7145-4747-9DC7-BB5ED3F9A937}"/>
                  </a:ext>
                </a:extLst>
              </p:cNvPr>
              <p:cNvSpPr txBox="1">
                <a:spLocks noRot="1" noChangeAspect="1" noMove="1" noResize="1" noEditPoints="1" noAdjustHandles="1" noChangeArrowheads="1" noChangeShapeType="1" noTextEdit="1"/>
              </p:cNvSpPr>
              <p:nvPr/>
            </p:nvSpPr>
            <p:spPr>
              <a:xfrm>
                <a:off x="5639097" y="4674687"/>
                <a:ext cx="1490501" cy="461665"/>
              </a:xfrm>
              <a:prstGeom prst="rect">
                <a:avLst/>
              </a:prstGeom>
              <a:blipFill>
                <a:blip r:embed="rId4"/>
                <a:stretch>
                  <a:fillRect r="-8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文字方塊 56">
                <a:extLst>
                  <a:ext uri="{FF2B5EF4-FFF2-40B4-BE49-F238E27FC236}">
                    <a16:creationId xmlns:a16="http://schemas.microsoft.com/office/drawing/2014/main" id="{79A384E0-6BEC-4A8D-B9D7-27340379DC4E}"/>
                  </a:ext>
                </a:extLst>
              </p:cNvPr>
              <p:cNvSpPr txBox="1"/>
              <p:nvPr/>
            </p:nvSpPr>
            <p:spPr>
              <a:xfrm>
                <a:off x="5646184" y="516916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87" name="文字方塊 56">
                <a:extLst>
                  <a:ext uri="{FF2B5EF4-FFF2-40B4-BE49-F238E27FC236}">
                    <a16:creationId xmlns:a16="http://schemas.microsoft.com/office/drawing/2014/main" id="{79A384E0-6BEC-4A8D-B9D7-27340379DC4E}"/>
                  </a:ext>
                </a:extLst>
              </p:cNvPr>
              <p:cNvSpPr txBox="1">
                <a:spLocks noRot="1" noChangeAspect="1" noMove="1" noResize="1" noEditPoints="1" noAdjustHandles="1" noChangeArrowheads="1" noChangeShapeType="1" noTextEdit="1"/>
              </p:cNvSpPr>
              <p:nvPr/>
            </p:nvSpPr>
            <p:spPr>
              <a:xfrm>
                <a:off x="5646184" y="5169164"/>
                <a:ext cx="1490501" cy="461665"/>
              </a:xfrm>
              <a:prstGeom prst="rect">
                <a:avLst/>
              </a:prstGeom>
              <a:blipFill>
                <a:blip r:embed="rId5"/>
                <a:stretch>
                  <a:fillRect r="-408"/>
                </a:stretch>
              </a:blipFill>
            </p:spPr>
            <p:txBody>
              <a:bodyPr/>
              <a:lstStyle/>
              <a:p>
                <a:r>
                  <a:rPr lang="zh-CN" altLang="en-US">
                    <a:noFill/>
                  </a:rPr>
                  <a:t> </a:t>
                </a:r>
              </a:p>
            </p:txBody>
          </p:sp>
        </mc:Fallback>
      </mc:AlternateContent>
      <p:sp>
        <p:nvSpPr>
          <p:cNvPr id="88" name="文字方塊 59">
            <a:extLst>
              <a:ext uri="{FF2B5EF4-FFF2-40B4-BE49-F238E27FC236}">
                <a16:creationId xmlns:a16="http://schemas.microsoft.com/office/drawing/2014/main" id="{0C83E505-A01B-4CFB-BB7F-BCFC0DC6047F}"/>
              </a:ext>
            </a:extLst>
          </p:cNvPr>
          <p:cNvSpPr txBox="1"/>
          <p:nvPr/>
        </p:nvSpPr>
        <p:spPr>
          <a:xfrm>
            <a:off x="8916351" y="2384488"/>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89" name="文字方塊 62">
            <a:extLst>
              <a:ext uri="{FF2B5EF4-FFF2-40B4-BE49-F238E27FC236}">
                <a16:creationId xmlns:a16="http://schemas.microsoft.com/office/drawing/2014/main" id="{597A64F4-7B96-4DF9-8ADD-AF669F107AF3}"/>
              </a:ext>
            </a:extLst>
          </p:cNvPr>
          <p:cNvSpPr txBox="1"/>
          <p:nvPr/>
        </p:nvSpPr>
        <p:spPr>
          <a:xfrm>
            <a:off x="7597861" y="3607481"/>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90" name="文字方塊 63">
            <a:extLst>
              <a:ext uri="{FF2B5EF4-FFF2-40B4-BE49-F238E27FC236}">
                <a16:creationId xmlns:a16="http://schemas.microsoft.com/office/drawing/2014/main" id="{48E4B9A0-F96B-486C-8600-36B5B806DB91}"/>
              </a:ext>
            </a:extLst>
          </p:cNvPr>
          <p:cNvSpPr txBox="1"/>
          <p:nvPr/>
        </p:nvSpPr>
        <p:spPr>
          <a:xfrm>
            <a:off x="7619638" y="4399782"/>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91" name="文字方塊 64">
            <a:extLst>
              <a:ext uri="{FF2B5EF4-FFF2-40B4-BE49-F238E27FC236}">
                <a16:creationId xmlns:a16="http://schemas.microsoft.com/office/drawing/2014/main" id="{7118A235-43A8-443F-8193-A29BFBC5AB2A}"/>
              </a:ext>
            </a:extLst>
          </p:cNvPr>
          <p:cNvSpPr txBox="1"/>
          <p:nvPr/>
        </p:nvSpPr>
        <p:spPr>
          <a:xfrm>
            <a:off x="8235876" y="3542428"/>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92" name="文字方塊 65">
            <a:extLst>
              <a:ext uri="{FF2B5EF4-FFF2-40B4-BE49-F238E27FC236}">
                <a16:creationId xmlns:a16="http://schemas.microsoft.com/office/drawing/2014/main" id="{67FD927E-5C1D-4D39-B26E-1EF8D89EC4E3}"/>
              </a:ext>
            </a:extLst>
          </p:cNvPr>
          <p:cNvSpPr txBox="1"/>
          <p:nvPr/>
        </p:nvSpPr>
        <p:spPr>
          <a:xfrm>
            <a:off x="8400877" y="4651810"/>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93" name="文字方塊 66">
            <a:extLst>
              <a:ext uri="{FF2B5EF4-FFF2-40B4-BE49-F238E27FC236}">
                <a16:creationId xmlns:a16="http://schemas.microsoft.com/office/drawing/2014/main" id="{A1B29441-7AEA-44CB-B23D-498794E85B77}"/>
              </a:ext>
            </a:extLst>
          </p:cNvPr>
          <p:cNvSpPr txBox="1"/>
          <p:nvPr/>
        </p:nvSpPr>
        <p:spPr>
          <a:xfrm>
            <a:off x="8931567" y="3591892"/>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94" name="文字方塊 67">
            <a:extLst>
              <a:ext uri="{FF2B5EF4-FFF2-40B4-BE49-F238E27FC236}">
                <a16:creationId xmlns:a16="http://schemas.microsoft.com/office/drawing/2014/main" id="{18ECF355-08B5-487C-8FAC-83E5FAF92CA0}"/>
              </a:ext>
            </a:extLst>
          </p:cNvPr>
          <p:cNvSpPr txBox="1"/>
          <p:nvPr/>
        </p:nvSpPr>
        <p:spPr>
          <a:xfrm>
            <a:off x="9735503" y="2730635"/>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95" name="文字方塊 68">
            <a:extLst>
              <a:ext uri="{FF2B5EF4-FFF2-40B4-BE49-F238E27FC236}">
                <a16:creationId xmlns:a16="http://schemas.microsoft.com/office/drawing/2014/main" id="{68F98FC0-04C9-46BA-B1E2-B104DB0B6576}"/>
              </a:ext>
            </a:extLst>
          </p:cNvPr>
          <p:cNvSpPr txBox="1"/>
          <p:nvPr/>
        </p:nvSpPr>
        <p:spPr>
          <a:xfrm>
            <a:off x="9723059" y="4373266"/>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96" name="矩形 95">
            <a:extLst>
              <a:ext uri="{FF2B5EF4-FFF2-40B4-BE49-F238E27FC236}">
                <a16:creationId xmlns:a16="http://schemas.microsoft.com/office/drawing/2014/main" id="{9861A685-0820-4A69-AFE2-148654341551}"/>
              </a:ext>
            </a:extLst>
          </p:cNvPr>
          <p:cNvSpPr/>
          <p:nvPr/>
        </p:nvSpPr>
        <p:spPr>
          <a:xfrm>
            <a:off x="7204409" y="2317362"/>
            <a:ext cx="3060000" cy="306000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97" name="文字方塊 70">
            <a:extLst>
              <a:ext uri="{FF2B5EF4-FFF2-40B4-BE49-F238E27FC236}">
                <a16:creationId xmlns:a16="http://schemas.microsoft.com/office/drawing/2014/main" id="{52D001F4-39D4-4F99-8DD0-B43F6DB7272A}"/>
              </a:ext>
            </a:extLst>
          </p:cNvPr>
          <p:cNvSpPr txBox="1"/>
          <p:nvPr/>
        </p:nvSpPr>
        <p:spPr>
          <a:xfrm>
            <a:off x="7692440" y="2826328"/>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98" name="文字方塊 71">
            <a:extLst>
              <a:ext uri="{FF2B5EF4-FFF2-40B4-BE49-F238E27FC236}">
                <a16:creationId xmlns:a16="http://schemas.microsoft.com/office/drawing/2014/main" id="{8EBA58AD-B9EE-4BD2-A370-A9D95687E8EC}"/>
              </a:ext>
            </a:extLst>
          </p:cNvPr>
          <p:cNvSpPr txBox="1"/>
          <p:nvPr/>
        </p:nvSpPr>
        <p:spPr>
          <a:xfrm>
            <a:off x="8436519" y="2528028"/>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99" name="文字方塊 72">
            <a:extLst>
              <a:ext uri="{FF2B5EF4-FFF2-40B4-BE49-F238E27FC236}">
                <a16:creationId xmlns:a16="http://schemas.microsoft.com/office/drawing/2014/main" id="{FA795B35-34D0-4010-97CC-3E564C5803E0}"/>
              </a:ext>
            </a:extLst>
          </p:cNvPr>
          <p:cNvSpPr txBox="1"/>
          <p:nvPr/>
        </p:nvSpPr>
        <p:spPr>
          <a:xfrm>
            <a:off x="8836092" y="3030632"/>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0" name="文字方塊 73">
            <a:extLst>
              <a:ext uri="{FF2B5EF4-FFF2-40B4-BE49-F238E27FC236}">
                <a16:creationId xmlns:a16="http://schemas.microsoft.com/office/drawing/2014/main" id="{5384C3B5-E76A-4AC3-B4F9-46DAF549FE96}"/>
              </a:ext>
            </a:extLst>
          </p:cNvPr>
          <p:cNvSpPr txBox="1"/>
          <p:nvPr/>
        </p:nvSpPr>
        <p:spPr>
          <a:xfrm>
            <a:off x="9267530" y="2691609"/>
            <a:ext cx="820748"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1" name="文字方塊 74">
            <a:extLst>
              <a:ext uri="{FF2B5EF4-FFF2-40B4-BE49-F238E27FC236}">
                <a16:creationId xmlns:a16="http://schemas.microsoft.com/office/drawing/2014/main" id="{CC049730-A9A4-4A7D-B85B-BDCA6FCB4BD5}"/>
              </a:ext>
            </a:extLst>
          </p:cNvPr>
          <p:cNvSpPr txBox="1"/>
          <p:nvPr/>
        </p:nvSpPr>
        <p:spPr>
          <a:xfrm>
            <a:off x="7161982" y="3569473"/>
            <a:ext cx="7444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2" name="文字方塊 75">
            <a:extLst>
              <a:ext uri="{FF2B5EF4-FFF2-40B4-BE49-F238E27FC236}">
                <a16:creationId xmlns:a16="http://schemas.microsoft.com/office/drawing/2014/main" id="{3FC52E73-B003-428C-9D04-D8B9582F0E2D}"/>
              </a:ext>
            </a:extLst>
          </p:cNvPr>
          <p:cNvSpPr txBox="1"/>
          <p:nvPr/>
        </p:nvSpPr>
        <p:spPr>
          <a:xfrm>
            <a:off x="7129598" y="4366451"/>
            <a:ext cx="84245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3" name="文字方塊 76">
            <a:extLst>
              <a:ext uri="{FF2B5EF4-FFF2-40B4-BE49-F238E27FC236}">
                <a16:creationId xmlns:a16="http://schemas.microsoft.com/office/drawing/2014/main" id="{2A0BF7CE-A5E5-4067-AC5C-0591788003B0}"/>
              </a:ext>
            </a:extLst>
          </p:cNvPr>
          <p:cNvSpPr txBox="1"/>
          <p:nvPr/>
        </p:nvSpPr>
        <p:spPr>
          <a:xfrm>
            <a:off x="7972057" y="4634214"/>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4" name="文字方塊 77">
            <a:extLst>
              <a:ext uri="{FF2B5EF4-FFF2-40B4-BE49-F238E27FC236}">
                <a16:creationId xmlns:a16="http://schemas.microsoft.com/office/drawing/2014/main" id="{3F1FC81C-AA47-4A53-83E3-1898F2383272}"/>
              </a:ext>
            </a:extLst>
          </p:cNvPr>
          <p:cNvSpPr txBox="1"/>
          <p:nvPr/>
        </p:nvSpPr>
        <p:spPr>
          <a:xfrm>
            <a:off x="9286462" y="4343395"/>
            <a:ext cx="80713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5" name="文字方塊 78">
            <a:extLst>
              <a:ext uri="{FF2B5EF4-FFF2-40B4-BE49-F238E27FC236}">
                <a16:creationId xmlns:a16="http://schemas.microsoft.com/office/drawing/2014/main" id="{EC0E2AEB-BA8B-407E-BF62-7227A18A77B0}"/>
              </a:ext>
            </a:extLst>
          </p:cNvPr>
          <p:cNvSpPr txBox="1"/>
          <p:nvPr/>
        </p:nvSpPr>
        <p:spPr>
          <a:xfrm>
            <a:off x="8705746" y="3784684"/>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6" name="文字方塊 79">
            <a:extLst>
              <a:ext uri="{FF2B5EF4-FFF2-40B4-BE49-F238E27FC236}">
                <a16:creationId xmlns:a16="http://schemas.microsoft.com/office/drawing/2014/main" id="{57A7D8E8-1C81-4CFA-A149-4AC6012CCE99}"/>
              </a:ext>
            </a:extLst>
          </p:cNvPr>
          <p:cNvSpPr txBox="1"/>
          <p:nvPr/>
        </p:nvSpPr>
        <p:spPr>
          <a:xfrm>
            <a:off x="8043409" y="3730637"/>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07" name="橢圓 82">
            <a:extLst>
              <a:ext uri="{FF2B5EF4-FFF2-40B4-BE49-F238E27FC236}">
                <a16:creationId xmlns:a16="http://schemas.microsoft.com/office/drawing/2014/main" id="{FF4BC9FE-30C0-4E1B-BAFD-D52C5AAF39FA}"/>
              </a:ext>
            </a:extLst>
          </p:cNvPr>
          <p:cNvSpPr/>
          <p:nvPr/>
        </p:nvSpPr>
        <p:spPr>
          <a:xfrm>
            <a:off x="3351274" y="2775435"/>
            <a:ext cx="628650" cy="493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08" name="橢圓 83">
            <a:extLst>
              <a:ext uri="{FF2B5EF4-FFF2-40B4-BE49-F238E27FC236}">
                <a16:creationId xmlns:a16="http://schemas.microsoft.com/office/drawing/2014/main" id="{6191B557-89DE-45C3-AC16-058E08C4489A}"/>
              </a:ext>
            </a:extLst>
          </p:cNvPr>
          <p:cNvSpPr/>
          <p:nvPr/>
        </p:nvSpPr>
        <p:spPr>
          <a:xfrm>
            <a:off x="3967291" y="2478346"/>
            <a:ext cx="628650" cy="493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09" name="橢圓 84">
            <a:extLst>
              <a:ext uri="{FF2B5EF4-FFF2-40B4-BE49-F238E27FC236}">
                <a16:creationId xmlns:a16="http://schemas.microsoft.com/office/drawing/2014/main" id="{962084F0-B73D-4925-9804-058F60D8252D}"/>
              </a:ext>
            </a:extLst>
          </p:cNvPr>
          <p:cNvSpPr/>
          <p:nvPr/>
        </p:nvSpPr>
        <p:spPr>
          <a:xfrm>
            <a:off x="4366792" y="3023039"/>
            <a:ext cx="699742" cy="493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10" name="文字方塊 85">
            <a:extLst>
              <a:ext uri="{FF2B5EF4-FFF2-40B4-BE49-F238E27FC236}">
                <a16:creationId xmlns:a16="http://schemas.microsoft.com/office/drawing/2014/main" id="{CD6151D8-114A-4122-93DB-3404FAABD51B}"/>
              </a:ext>
            </a:extLst>
          </p:cNvPr>
          <p:cNvSpPr txBox="1"/>
          <p:nvPr/>
        </p:nvSpPr>
        <p:spPr>
          <a:xfrm>
            <a:off x="9358876" y="2885017"/>
            <a:ext cx="624115" cy="738664"/>
          </a:xfrm>
          <a:prstGeom prst="rect">
            <a:avLst/>
          </a:prstGeom>
          <a:noFill/>
        </p:spPr>
        <p:txBody>
          <a:bodyPr wrap="square" rtlCol="0">
            <a:spAutoFit/>
          </a:bodyPr>
          <a:lstStyle/>
          <a:p>
            <a:pPr lvl="0" algn="ctr" defTabSz="457200">
              <a:defRPr/>
            </a:pPr>
            <a:r>
              <a:rPr lang="en-US" altLang="zh-TW" sz="4200" dirty="0">
                <a:solidFill>
                  <a:srgbClr val="0000FF"/>
                </a:solidFill>
                <a:latin typeface="Calibri" panose="020F0502020204030204"/>
                <a:ea typeface="新細明體"/>
              </a:rPr>
              <a:t>+</a:t>
            </a:r>
            <a:endParaRPr lang="zh-TW" altLang="en-US" sz="4200" dirty="0">
              <a:solidFill>
                <a:srgbClr val="0000FF"/>
              </a:solidFill>
              <a:latin typeface="Calibri" panose="020F0502020204030204"/>
              <a:ea typeface="新細明體"/>
            </a:endParaRPr>
          </a:p>
        </p:txBody>
      </p:sp>
      <p:sp>
        <p:nvSpPr>
          <p:cNvPr id="111" name="文字方塊 86">
            <a:extLst>
              <a:ext uri="{FF2B5EF4-FFF2-40B4-BE49-F238E27FC236}">
                <a16:creationId xmlns:a16="http://schemas.microsoft.com/office/drawing/2014/main" id="{F879D4D8-6450-4A1C-81BA-243119D96D4A}"/>
              </a:ext>
            </a:extLst>
          </p:cNvPr>
          <p:cNvSpPr txBox="1"/>
          <p:nvPr/>
        </p:nvSpPr>
        <p:spPr>
          <a:xfrm>
            <a:off x="8235876" y="2659877"/>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12" name="文字方塊 46">
            <a:extLst>
              <a:ext uri="{FF2B5EF4-FFF2-40B4-BE49-F238E27FC236}">
                <a16:creationId xmlns:a16="http://schemas.microsoft.com/office/drawing/2014/main" id="{B3A20F16-7266-4250-82B7-6B6CFE9ABEF3}"/>
              </a:ext>
            </a:extLst>
          </p:cNvPr>
          <p:cNvSpPr txBox="1"/>
          <p:nvPr/>
        </p:nvSpPr>
        <p:spPr>
          <a:xfrm>
            <a:off x="5554723" y="784598"/>
            <a:ext cx="49246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T=3, weak classifier = decision stump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 name="TextBox 4">
            <a:extLst>
              <a:ext uri="{FF2B5EF4-FFF2-40B4-BE49-F238E27FC236}">
                <a16:creationId xmlns:a16="http://schemas.microsoft.com/office/drawing/2014/main" id="{E80B4906-4075-ADBB-3E35-7498DA1CA6CA}"/>
              </a:ext>
            </a:extLst>
          </p:cNvPr>
          <p:cNvSpPr txBox="1"/>
          <p:nvPr/>
        </p:nvSpPr>
        <p:spPr>
          <a:xfrm>
            <a:off x="662970" y="1061597"/>
            <a:ext cx="6098458" cy="523220"/>
          </a:xfrm>
          <a:prstGeom prst="rect">
            <a:avLst/>
          </a:prstGeom>
          <a:noFill/>
        </p:spPr>
        <p:txBody>
          <a:bodyPr wrap="square">
            <a:spAutoFit/>
          </a:bodyPr>
          <a:lstStyle/>
          <a:p>
            <a:pPr marL="285750" indent="-285750">
              <a:buFont typeface="Wingdings" pitchFamily="2" charset="2"/>
              <a:buChar char="Ø"/>
            </a:pPr>
            <a:r>
              <a:rPr lang="zh-CN" altLang="en-US" sz="2800" dirty="0">
                <a:latin typeface="+mn-ea"/>
              </a:rPr>
              <a:t>例</a:t>
            </a:r>
            <a:endParaRPr lang="en-CN" sz="2800" dirty="0"/>
          </a:p>
        </p:txBody>
      </p:sp>
      <p:sp>
        <p:nvSpPr>
          <p:cNvPr id="4" name="灯片编号占位符 3">
            <a:extLst>
              <a:ext uri="{FF2B5EF4-FFF2-40B4-BE49-F238E27FC236}">
                <a16:creationId xmlns:a16="http://schemas.microsoft.com/office/drawing/2014/main" id="{7F8E15F9-948A-4BB3-9926-9DFA586C3799}"/>
              </a:ext>
            </a:extLst>
          </p:cNvPr>
          <p:cNvSpPr>
            <a:spLocks noGrp="1"/>
          </p:cNvSpPr>
          <p:nvPr>
            <p:ph type="sldNum" sz="quarter" idx="14"/>
          </p:nvPr>
        </p:nvSpPr>
        <p:spPr/>
        <p:txBody>
          <a:bodyPr/>
          <a:lstStyle/>
          <a:p>
            <a:fld id="{AF69888C-E133-43D9-A638-B5C95925B91C}" type="slidenum">
              <a:rPr lang="zh-CN" altLang="en-US" smtClean="0"/>
              <a:t>36</a:t>
            </a:fld>
            <a:endParaRPr lang="zh-CN" altLang="en-US" dirty="0"/>
          </a:p>
        </p:txBody>
      </p:sp>
    </p:spTree>
    <p:extLst>
      <p:ext uri="{BB962C8B-B14F-4D97-AF65-F5344CB8AC3E}">
        <p14:creationId xmlns:p14="http://schemas.microsoft.com/office/powerpoint/2010/main" val="181567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72" grpId="0"/>
      <p:bldP spid="73" grpId="0"/>
      <p:bldP spid="74" grpId="0"/>
      <p:bldP spid="75" grpId="0"/>
      <p:bldP spid="76" grpId="0"/>
      <p:bldP spid="77" grpId="0"/>
      <p:bldP spid="78" grpId="0"/>
      <p:bldP spid="79" grpId="0"/>
      <p:bldP spid="80" grpId="0"/>
      <p:bldP spid="81" grpId="0"/>
      <p:bldP spid="83" grpId="0"/>
      <p:bldP spid="84" grpId="0"/>
      <p:bldP spid="85" grpId="0" animBg="1"/>
      <p:bldP spid="86" grpId="0"/>
      <p:bldP spid="87" grpId="0"/>
      <p:bldP spid="88" grpId="0"/>
      <p:bldP spid="89" grpId="0"/>
      <p:bldP spid="90" grpId="0"/>
      <p:bldP spid="91" grpId="0"/>
      <p:bldP spid="92" grpId="0"/>
      <p:bldP spid="93" grpId="0"/>
      <p:bldP spid="94" grpId="0"/>
      <p:bldP spid="95" grpId="0"/>
      <p:bldP spid="96" grpId="0" animBg="1"/>
      <p:bldP spid="97" grpId="0"/>
      <p:bldP spid="98" grpId="0"/>
      <p:bldP spid="99" grpId="0"/>
      <p:bldP spid="100" grpId="0"/>
      <p:bldP spid="101" grpId="0"/>
      <p:bldP spid="102" grpId="0"/>
      <p:bldP spid="103" grpId="0"/>
      <p:bldP spid="104" grpId="0"/>
      <p:bldP spid="105" grpId="0"/>
      <p:bldP spid="106" grpId="0"/>
      <p:bldP spid="107" grpId="0" animBg="1"/>
      <p:bldP spid="108" grpId="0" animBg="1"/>
      <p:bldP spid="109" grpId="0" animBg="1"/>
      <p:bldP spid="110" grpId="0"/>
      <p:bldP spid="1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DD53211-728F-459E-AD94-4CF7CFE5FB88}"/>
              </a:ext>
            </a:extLst>
          </p:cNvPr>
          <p:cNvSpPr/>
          <p:nvPr/>
        </p:nvSpPr>
        <p:spPr>
          <a:xfrm>
            <a:off x="4633469" y="2847063"/>
            <a:ext cx="374931" cy="3084196"/>
          </a:xfrm>
          <a:prstGeom prst="rect">
            <a:avLst/>
          </a:prstGeom>
          <a:solidFill>
            <a:srgbClr val="FFE9EA"/>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7" name="矩形 6">
            <a:extLst>
              <a:ext uri="{FF2B5EF4-FFF2-40B4-BE49-F238E27FC236}">
                <a16:creationId xmlns:a16="http://schemas.microsoft.com/office/drawing/2014/main" id="{16FA97A8-A3D5-4C51-9001-02E420BEF060}"/>
              </a:ext>
            </a:extLst>
          </p:cNvPr>
          <p:cNvSpPr/>
          <p:nvPr/>
        </p:nvSpPr>
        <p:spPr>
          <a:xfrm>
            <a:off x="1958839" y="2840162"/>
            <a:ext cx="2634333" cy="308419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9" name="內容版面配置區 2">
            <a:extLst>
              <a:ext uri="{FF2B5EF4-FFF2-40B4-BE49-F238E27FC236}">
                <a16:creationId xmlns:a16="http://schemas.microsoft.com/office/drawing/2014/main" id="{39C84825-8BB8-4560-BD01-36466DE11068}"/>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a:t>t=2</a:t>
            </a:r>
            <a:endParaRPr lang="zh-TW" altLang="en-US"/>
          </a:p>
          <a:p>
            <a:endParaRPr lang="zh-TW" altLang="en-US" dirty="0"/>
          </a:p>
        </p:txBody>
      </p:sp>
      <p:sp>
        <p:nvSpPr>
          <p:cNvPr id="10" name="文字方塊 3">
            <a:extLst>
              <a:ext uri="{FF2B5EF4-FFF2-40B4-BE49-F238E27FC236}">
                <a16:creationId xmlns:a16="http://schemas.microsoft.com/office/drawing/2014/main" id="{B85B96D7-D0E8-4E63-8C78-E8902517842F}"/>
              </a:ext>
            </a:extLst>
          </p:cNvPr>
          <p:cNvSpPr txBox="1"/>
          <p:nvPr/>
        </p:nvSpPr>
        <p:spPr>
          <a:xfrm>
            <a:off x="4633469" y="754173"/>
            <a:ext cx="7062002"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T=3, weak classifier = decision stump</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rPr>
              <a:t> （</a:t>
            </a:r>
            <a:r>
              <a:rPr kumimoji="0" lang="zh-CN" altLang="en-US" sz="2400" b="0" i="0" u="none" strike="noStrike" kern="1200" cap="none" spc="0" normalizeH="0" baseline="0" noProof="0" dirty="0">
                <a:ln>
                  <a:noFill/>
                </a:ln>
                <a:solidFill>
                  <a:prstClr val="black"/>
                </a:solidFill>
                <a:effectLst/>
                <a:uLnTx/>
                <a:uFillTx/>
                <a:latin typeface="+mn-ea"/>
                <a:cs typeface="+mn-cs"/>
              </a:rPr>
              <a:t>决策树桩</a:t>
            </a:r>
            <a:r>
              <a:rPr kumimoji="0" lang="zh-CN"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1" name="文字方塊 4">
            <a:extLst>
              <a:ext uri="{FF2B5EF4-FFF2-40B4-BE49-F238E27FC236}">
                <a16:creationId xmlns:a16="http://schemas.microsoft.com/office/drawing/2014/main" id="{9604ACE0-4DB3-452B-8B11-B1B7A8823EE1}"/>
              </a:ext>
            </a:extLst>
          </p:cNvPr>
          <p:cNvSpPr txBox="1"/>
          <p:nvPr/>
        </p:nvSpPr>
        <p:spPr>
          <a:xfrm>
            <a:off x="3672421" y="2938385"/>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2" name="文字方塊 5">
            <a:extLst>
              <a:ext uri="{FF2B5EF4-FFF2-40B4-BE49-F238E27FC236}">
                <a16:creationId xmlns:a16="http://schemas.microsoft.com/office/drawing/2014/main" id="{50A125B9-3BDF-4528-B84C-D165CFBA9BCE}"/>
              </a:ext>
            </a:extLst>
          </p:cNvPr>
          <p:cNvSpPr txBox="1"/>
          <p:nvPr/>
        </p:nvSpPr>
        <p:spPr>
          <a:xfrm>
            <a:off x="2353931" y="4161378"/>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3" name="文字方塊 6">
            <a:extLst>
              <a:ext uri="{FF2B5EF4-FFF2-40B4-BE49-F238E27FC236}">
                <a16:creationId xmlns:a16="http://schemas.microsoft.com/office/drawing/2014/main" id="{D1DE0600-1DDB-4C19-BE2D-71EA9C262E13}"/>
              </a:ext>
            </a:extLst>
          </p:cNvPr>
          <p:cNvSpPr txBox="1"/>
          <p:nvPr/>
        </p:nvSpPr>
        <p:spPr>
          <a:xfrm>
            <a:off x="2375708" y="4953679"/>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4" name="文字方塊 7">
            <a:extLst>
              <a:ext uri="{FF2B5EF4-FFF2-40B4-BE49-F238E27FC236}">
                <a16:creationId xmlns:a16="http://schemas.microsoft.com/office/drawing/2014/main" id="{88F52975-53B4-4A0B-A02F-024D07B259A5}"/>
              </a:ext>
            </a:extLst>
          </p:cNvPr>
          <p:cNvSpPr txBox="1"/>
          <p:nvPr/>
        </p:nvSpPr>
        <p:spPr>
          <a:xfrm>
            <a:off x="2991946" y="4096325"/>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5" name="文字方塊 8">
            <a:extLst>
              <a:ext uri="{FF2B5EF4-FFF2-40B4-BE49-F238E27FC236}">
                <a16:creationId xmlns:a16="http://schemas.microsoft.com/office/drawing/2014/main" id="{9255F7CE-2AB4-43B9-9A8E-C0334C251F58}"/>
              </a:ext>
            </a:extLst>
          </p:cNvPr>
          <p:cNvSpPr txBox="1"/>
          <p:nvPr/>
        </p:nvSpPr>
        <p:spPr>
          <a:xfrm>
            <a:off x="3156947" y="5205707"/>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6" name="文字方塊 9">
            <a:extLst>
              <a:ext uri="{FF2B5EF4-FFF2-40B4-BE49-F238E27FC236}">
                <a16:creationId xmlns:a16="http://schemas.microsoft.com/office/drawing/2014/main" id="{1B19B16A-DE15-4B2D-8028-37AE7E2D9A7C}"/>
              </a:ext>
            </a:extLst>
          </p:cNvPr>
          <p:cNvSpPr txBox="1"/>
          <p:nvPr/>
        </p:nvSpPr>
        <p:spPr>
          <a:xfrm>
            <a:off x="3687637" y="4145789"/>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7" name="文字方塊 10">
            <a:extLst>
              <a:ext uri="{FF2B5EF4-FFF2-40B4-BE49-F238E27FC236}">
                <a16:creationId xmlns:a16="http://schemas.microsoft.com/office/drawing/2014/main" id="{3BA617D1-C738-45AA-A175-51CC2E8D39D5}"/>
              </a:ext>
            </a:extLst>
          </p:cNvPr>
          <p:cNvSpPr txBox="1"/>
          <p:nvPr/>
        </p:nvSpPr>
        <p:spPr>
          <a:xfrm>
            <a:off x="4491573" y="3284532"/>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8" name="文字方塊 11">
            <a:extLst>
              <a:ext uri="{FF2B5EF4-FFF2-40B4-BE49-F238E27FC236}">
                <a16:creationId xmlns:a16="http://schemas.microsoft.com/office/drawing/2014/main" id="{27ABD267-7CBE-4025-81D9-035F7E4A6002}"/>
              </a:ext>
            </a:extLst>
          </p:cNvPr>
          <p:cNvSpPr txBox="1"/>
          <p:nvPr/>
        </p:nvSpPr>
        <p:spPr>
          <a:xfrm>
            <a:off x="4479129" y="4927163"/>
            <a:ext cx="624115"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19" name="矩形 18">
            <a:extLst>
              <a:ext uri="{FF2B5EF4-FFF2-40B4-BE49-F238E27FC236}">
                <a16:creationId xmlns:a16="http://schemas.microsoft.com/office/drawing/2014/main" id="{95CE1660-31AF-438F-B9A5-D4769D7C8799}"/>
              </a:ext>
            </a:extLst>
          </p:cNvPr>
          <p:cNvSpPr/>
          <p:nvPr/>
        </p:nvSpPr>
        <p:spPr>
          <a:xfrm>
            <a:off x="1960479" y="2871259"/>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0" name="文字方塊 13">
            <a:extLst>
              <a:ext uri="{FF2B5EF4-FFF2-40B4-BE49-F238E27FC236}">
                <a16:creationId xmlns:a16="http://schemas.microsoft.com/office/drawing/2014/main" id="{141873A1-0D3D-4359-91E7-C232DE26D394}"/>
              </a:ext>
            </a:extLst>
          </p:cNvPr>
          <p:cNvSpPr txBox="1"/>
          <p:nvPr/>
        </p:nvSpPr>
        <p:spPr>
          <a:xfrm>
            <a:off x="2448510" y="3380225"/>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1" name="文字方塊 14">
            <a:extLst>
              <a:ext uri="{FF2B5EF4-FFF2-40B4-BE49-F238E27FC236}">
                <a16:creationId xmlns:a16="http://schemas.microsoft.com/office/drawing/2014/main" id="{D9CEAD58-1ED0-42A0-8202-C54EEF589B26}"/>
              </a:ext>
            </a:extLst>
          </p:cNvPr>
          <p:cNvSpPr txBox="1"/>
          <p:nvPr/>
        </p:nvSpPr>
        <p:spPr>
          <a:xfrm>
            <a:off x="3192589" y="3081925"/>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2" name="文字方塊 15">
            <a:extLst>
              <a:ext uri="{FF2B5EF4-FFF2-40B4-BE49-F238E27FC236}">
                <a16:creationId xmlns:a16="http://schemas.microsoft.com/office/drawing/2014/main" id="{5A15570E-B6A0-4AE5-8CCA-D1A872051DCF}"/>
              </a:ext>
            </a:extLst>
          </p:cNvPr>
          <p:cNvSpPr txBox="1"/>
          <p:nvPr/>
        </p:nvSpPr>
        <p:spPr>
          <a:xfrm>
            <a:off x="3592162" y="3584529"/>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1.53</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3" name="文字方塊 16">
            <a:extLst>
              <a:ext uri="{FF2B5EF4-FFF2-40B4-BE49-F238E27FC236}">
                <a16:creationId xmlns:a16="http://schemas.microsoft.com/office/drawing/2014/main" id="{52D18584-8CB2-4256-BA32-D140B1A011D7}"/>
              </a:ext>
            </a:extLst>
          </p:cNvPr>
          <p:cNvSpPr txBox="1"/>
          <p:nvPr/>
        </p:nvSpPr>
        <p:spPr>
          <a:xfrm>
            <a:off x="4023600" y="3245506"/>
            <a:ext cx="820748"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4" name="文字方塊 17">
            <a:extLst>
              <a:ext uri="{FF2B5EF4-FFF2-40B4-BE49-F238E27FC236}">
                <a16:creationId xmlns:a16="http://schemas.microsoft.com/office/drawing/2014/main" id="{D3E8CB04-0932-4766-8D04-7943C0BCFA80}"/>
              </a:ext>
            </a:extLst>
          </p:cNvPr>
          <p:cNvSpPr txBox="1"/>
          <p:nvPr/>
        </p:nvSpPr>
        <p:spPr>
          <a:xfrm>
            <a:off x="1918052" y="4123370"/>
            <a:ext cx="7444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5" name="文字方塊 18">
            <a:extLst>
              <a:ext uri="{FF2B5EF4-FFF2-40B4-BE49-F238E27FC236}">
                <a16:creationId xmlns:a16="http://schemas.microsoft.com/office/drawing/2014/main" id="{9193F25D-FEE9-4984-83D5-75999F0301DC}"/>
              </a:ext>
            </a:extLst>
          </p:cNvPr>
          <p:cNvSpPr txBox="1"/>
          <p:nvPr/>
        </p:nvSpPr>
        <p:spPr>
          <a:xfrm>
            <a:off x="1885668" y="4920348"/>
            <a:ext cx="84245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6" name="文字方塊 19">
            <a:extLst>
              <a:ext uri="{FF2B5EF4-FFF2-40B4-BE49-F238E27FC236}">
                <a16:creationId xmlns:a16="http://schemas.microsoft.com/office/drawing/2014/main" id="{D1B6728E-6EF8-4A49-BC3D-53B8BA661116}"/>
              </a:ext>
            </a:extLst>
          </p:cNvPr>
          <p:cNvSpPr txBox="1"/>
          <p:nvPr/>
        </p:nvSpPr>
        <p:spPr>
          <a:xfrm>
            <a:off x="2728127" y="5188111"/>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7" name="文字方塊 20">
            <a:extLst>
              <a:ext uri="{FF2B5EF4-FFF2-40B4-BE49-F238E27FC236}">
                <a16:creationId xmlns:a16="http://schemas.microsoft.com/office/drawing/2014/main" id="{42110F4D-38F7-4097-B1CC-38FA66AFC6F8}"/>
              </a:ext>
            </a:extLst>
          </p:cNvPr>
          <p:cNvSpPr txBox="1"/>
          <p:nvPr/>
        </p:nvSpPr>
        <p:spPr>
          <a:xfrm>
            <a:off x="4042532" y="4897292"/>
            <a:ext cx="807132"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8" name="文字方塊 21">
            <a:extLst>
              <a:ext uri="{FF2B5EF4-FFF2-40B4-BE49-F238E27FC236}">
                <a16:creationId xmlns:a16="http://schemas.microsoft.com/office/drawing/2014/main" id="{83B44F29-4D88-4210-83BF-8C6D3654FF89}"/>
              </a:ext>
            </a:extLst>
          </p:cNvPr>
          <p:cNvSpPr txBox="1"/>
          <p:nvPr/>
        </p:nvSpPr>
        <p:spPr>
          <a:xfrm>
            <a:off x="3461816" y="4338581"/>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9" name="文字方塊 22">
            <a:extLst>
              <a:ext uri="{FF2B5EF4-FFF2-40B4-BE49-F238E27FC236}">
                <a16:creationId xmlns:a16="http://schemas.microsoft.com/office/drawing/2014/main" id="{7F150DBB-27E5-447E-93BB-1E5E0A2A7981}"/>
              </a:ext>
            </a:extLst>
          </p:cNvPr>
          <p:cNvSpPr txBox="1"/>
          <p:nvPr/>
        </p:nvSpPr>
        <p:spPr>
          <a:xfrm>
            <a:off x="2799479" y="4284534"/>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0.65</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0" name="文字方塊 23">
            <a:extLst>
              <a:ext uri="{FF2B5EF4-FFF2-40B4-BE49-F238E27FC236}">
                <a16:creationId xmlns:a16="http://schemas.microsoft.com/office/drawing/2014/main" id="{09BCD7B5-8241-4283-97E1-A81D63B7357F}"/>
              </a:ext>
            </a:extLst>
          </p:cNvPr>
          <p:cNvSpPr txBox="1"/>
          <p:nvPr/>
        </p:nvSpPr>
        <p:spPr>
          <a:xfrm>
            <a:off x="4114946" y="3438914"/>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31" name="文字方塊 24">
            <a:extLst>
              <a:ext uri="{FF2B5EF4-FFF2-40B4-BE49-F238E27FC236}">
                <a16:creationId xmlns:a16="http://schemas.microsoft.com/office/drawing/2014/main" id="{78166EF6-F1E8-4AE5-8EAF-DAF78422FA92}"/>
              </a:ext>
            </a:extLst>
          </p:cNvPr>
          <p:cNvSpPr txBox="1"/>
          <p:nvPr/>
        </p:nvSpPr>
        <p:spPr>
          <a:xfrm>
            <a:off x="2991946" y="3213774"/>
            <a:ext cx="624115"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4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4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cxnSp>
        <p:nvCxnSpPr>
          <p:cNvPr id="32" name="直線接點 27">
            <a:extLst>
              <a:ext uri="{FF2B5EF4-FFF2-40B4-BE49-F238E27FC236}">
                <a16:creationId xmlns:a16="http://schemas.microsoft.com/office/drawing/2014/main" id="{3CC07469-0017-43BA-B803-8571E6AA11D9}"/>
              </a:ext>
            </a:extLst>
          </p:cNvPr>
          <p:cNvCxnSpPr/>
          <p:nvPr/>
        </p:nvCxnSpPr>
        <p:spPr>
          <a:xfrm>
            <a:off x="4593171" y="2847063"/>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字方塊 28">
                <a:extLst>
                  <a:ext uri="{FF2B5EF4-FFF2-40B4-BE49-F238E27FC236}">
                    <a16:creationId xmlns:a16="http://schemas.microsoft.com/office/drawing/2014/main" id="{99592B37-F2A2-445F-AE6B-E51EB66B9268}"/>
                  </a:ext>
                </a:extLst>
              </p:cNvPr>
              <p:cNvSpPr txBox="1"/>
              <p:nvPr/>
            </p:nvSpPr>
            <p:spPr>
              <a:xfrm>
                <a:off x="4158950" y="5834110"/>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3" name="文字方塊 28">
                <a:extLst>
                  <a:ext uri="{FF2B5EF4-FFF2-40B4-BE49-F238E27FC236}">
                    <a16:creationId xmlns:a16="http://schemas.microsoft.com/office/drawing/2014/main" id="{99592B37-F2A2-445F-AE6B-E51EB66B9268}"/>
                  </a:ext>
                </a:extLst>
              </p:cNvPr>
              <p:cNvSpPr txBox="1">
                <a:spLocks noRot="1" noChangeAspect="1" noMove="1" noResize="1" noEditPoints="1" noAdjustHandles="1" noChangeArrowheads="1" noChangeShapeType="1" noTextEdit="1"/>
              </p:cNvSpPr>
              <p:nvPr/>
            </p:nvSpPr>
            <p:spPr>
              <a:xfrm>
                <a:off x="4158950" y="5834110"/>
                <a:ext cx="944294" cy="461665"/>
              </a:xfrm>
              <a:prstGeom prst="rect">
                <a:avLst/>
              </a:prstGeom>
              <a:blipFill>
                <a:blip r:embed="rId2"/>
                <a:stretch>
                  <a:fillRect l="-1333" b="-1891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4" name="文字方塊 29">
                <a:extLst>
                  <a:ext uri="{FF2B5EF4-FFF2-40B4-BE49-F238E27FC236}">
                    <a16:creationId xmlns:a16="http://schemas.microsoft.com/office/drawing/2014/main" id="{CB8B00F2-123D-457A-9D7C-38A8EF471B12}"/>
                  </a:ext>
                </a:extLst>
              </p:cNvPr>
              <p:cNvSpPr txBox="1"/>
              <p:nvPr/>
            </p:nvSpPr>
            <p:spPr>
              <a:xfrm>
                <a:off x="5082325" y="4582841"/>
                <a:ext cx="155268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=0.21</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4" name="文字方塊 29">
                <a:extLst>
                  <a:ext uri="{FF2B5EF4-FFF2-40B4-BE49-F238E27FC236}">
                    <a16:creationId xmlns:a16="http://schemas.microsoft.com/office/drawing/2014/main" id="{CB8B00F2-123D-457A-9D7C-38A8EF471B12}"/>
                  </a:ext>
                </a:extLst>
              </p:cNvPr>
              <p:cNvSpPr txBox="1">
                <a:spLocks noRot="1" noChangeAspect="1" noMove="1" noResize="1" noEditPoints="1" noAdjustHandles="1" noChangeArrowheads="1" noChangeShapeType="1" noTextEdit="1"/>
              </p:cNvSpPr>
              <p:nvPr/>
            </p:nvSpPr>
            <p:spPr>
              <a:xfrm>
                <a:off x="5082325" y="4582841"/>
                <a:ext cx="1552687" cy="461665"/>
              </a:xfrm>
              <a:prstGeom prst="rect">
                <a:avLst/>
              </a:prstGeom>
              <a:blipFill>
                <a:blip r:embed="rId3"/>
                <a:stretch>
                  <a:fillRect/>
                </a:stretch>
              </a:blipFill>
            </p:spPr>
            <p:txBody>
              <a:bodyPr/>
              <a:lstStyle/>
              <a:p>
                <a:r>
                  <a:rPr lang="en-CN">
                    <a:noFill/>
                  </a:rPr>
                  <a:t> </a:t>
                </a:r>
              </a:p>
            </p:txBody>
          </p:sp>
        </mc:Fallback>
      </mc:AlternateContent>
      <p:sp>
        <p:nvSpPr>
          <p:cNvPr id="35" name="箭號: 向右 30">
            <a:extLst>
              <a:ext uri="{FF2B5EF4-FFF2-40B4-BE49-F238E27FC236}">
                <a16:creationId xmlns:a16="http://schemas.microsoft.com/office/drawing/2014/main" id="{8CAA6CAA-E681-4379-97BE-D766B1D09410}"/>
              </a:ext>
            </a:extLst>
          </p:cNvPr>
          <p:cNvSpPr/>
          <p:nvPr/>
        </p:nvSpPr>
        <p:spPr>
          <a:xfrm>
            <a:off x="5261791" y="3920157"/>
            <a:ext cx="1160221" cy="625526"/>
          </a:xfrm>
          <a:prstGeom prst="rightArrow">
            <a:avLst/>
          </a:prstGeom>
          <a:solidFill>
            <a:schemeClr val="accent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36" name="文字方塊 31">
                <a:extLst>
                  <a:ext uri="{FF2B5EF4-FFF2-40B4-BE49-F238E27FC236}">
                    <a16:creationId xmlns:a16="http://schemas.microsoft.com/office/drawing/2014/main" id="{D6D904E0-20A1-4731-A80A-8321F4D54194}"/>
                  </a:ext>
                </a:extLst>
              </p:cNvPr>
              <p:cNvSpPr txBox="1"/>
              <p:nvPr/>
            </p:nvSpPr>
            <p:spPr>
              <a:xfrm>
                <a:off x="5089753" y="5112470"/>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=1.94</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6" name="文字方塊 31">
                <a:extLst>
                  <a:ext uri="{FF2B5EF4-FFF2-40B4-BE49-F238E27FC236}">
                    <a16:creationId xmlns:a16="http://schemas.microsoft.com/office/drawing/2014/main" id="{D6D904E0-20A1-4731-A80A-8321F4D54194}"/>
                  </a:ext>
                </a:extLst>
              </p:cNvPr>
              <p:cNvSpPr txBox="1">
                <a:spLocks noRot="1" noChangeAspect="1" noMove="1" noResize="1" noEditPoints="1" noAdjustHandles="1" noChangeArrowheads="1" noChangeShapeType="1" noTextEdit="1"/>
              </p:cNvSpPr>
              <p:nvPr/>
            </p:nvSpPr>
            <p:spPr>
              <a:xfrm>
                <a:off x="5089753" y="5112470"/>
                <a:ext cx="1490501" cy="461665"/>
              </a:xfrm>
              <a:prstGeom prst="rect">
                <a:avLst/>
              </a:prstGeom>
              <a:blipFill>
                <a:blip r:embed="rId4"/>
                <a:stretch>
                  <a:fillRect b="-27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7" name="文字方塊 32">
                <a:extLst>
                  <a:ext uri="{FF2B5EF4-FFF2-40B4-BE49-F238E27FC236}">
                    <a16:creationId xmlns:a16="http://schemas.microsoft.com/office/drawing/2014/main" id="{5B619A84-0E34-47D2-9BCE-F993FF8224CF}"/>
                  </a:ext>
                </a:extLst>
              </p:cNvPr>
              <p:cNvSpPr txBox="1"/>
              <p:nvPr/>
            </p:nvSpPr>
            <p:spPr>
              <a:xfrm>
                <a:off x="5096840" y="5606947"/>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=0.66</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7" name="文字方塊 32">
                <a:extLst>
                  <a:ext uri="{FF2B5EF4-FFF2-40B4-BE49-F238E27FC236}">
                    <a16:creationId xmlns:a16="http://schemas.microsoft.com/office/drawing/2014/main" id="{5B619A84-0E34-47D2-9BCE-F993FF8224CF}"/>
                  </a:ext>
                </a:extLst>
              </p:cNvPr>
              <p:cNvSpPr txBox="1">
                <a:spLocks noRot="1" noChangeAspect="1" noMove="1" noResize="1" noEditPoints="1" noAdjustHandles="1" noChangeArrowheads="1" noChangeShapeType="1" noTextEdit="1"/>
              </p:cNvSpPr>
              <p:nvPr/>
            </p:nvSpPr>
            <p:spPr>
              <a:xfrm>
                <a:off x="5096840" y="5606947"/>
                <a:ext cx="1490501" cy="461665"/>
              </a:xfrm>
              <a:prstGeom prst="rect">
                <a:avLst/>
              </a:prstGeom>
              <a:blipFill>
                <a:blip r:embed="rId5"/>
                <a:stretch>
                  <a:fillRect/>
                </a:stretch>
              </a:blipFill>
            </p:spPr>
            <p:txBody>
              <a:bodyPr/>
              <a:lstStyle/>
              <a:p>
                <a:r>
                  <a:rPr lang="en-CN">
                    <a:noFill/>
                  </a:rPr>
                  <a:t> </a:t>
                </a:r>
              </a:p>
            </p:txBody>
          </p:sp>
        </mc:Fallback>
      </mc:AlternateContent>
      <p:sp>
        <p:nvSpPr>
          <p:cNvPr id="38" name="橢圓 33">
            <a:extLst>
              <a:ext uri="{FF2B5EF4-FFF2-40B4-BE49-F238E27FC236}">
                <a16:creationId xmlns:a16="http://schemas.microsoft.com/office/drawing/2014/main" id="{4CEE6D77-37E3-4867-8AAD-0F7332153B2E}"/>
              </a:ext>
            </a:extLst>
          </p:cNvPr>
          <p:cNvSpPr/>
          <p:nvPr/>
        </p:nvSpPr>
        <p:spPr>
          <a:xfrm>
            <a:off x="2816971" y="4363007"/>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39" name="橢圓 34">
            <a:extLst>
              <a:ext uri="{FF2B5EF4-FFF2-40B4-BE49-F238E27FC236}">
                <a16:creationId xmlns:a16="http://schemas.microsoft.com/office/drawing/2014/main" id="{D7EFF3EF-58D8-4C2A-9901-B38D2C650BEA}"/>
              </a:ext>
            </a:extLst>
          </p:cNvPr>
          <p:cNvSpPr/>
          <p:nvPr/>
        </p:nvSpPr>
        <p:spPr>
          <a:xfrm>
            <a:off x="3565271" y="4398838"/>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0" name="橢圓 35">
            <a:extLst>
              <a:ext uri="{FF2B5EF4-FFF2-40B4-BE49-F238E27FC236}">
                <a16:creationId xmlns:a16="http://schemas.microsoft.com/office/drawing/2014/main" id="{7609F80E-9F73-42D3-A7E9-5C73184FB89C}"/>
              </a:ext>
            </a:extLst>
          </p:cNvPr>
          <p:cNvSpPr/>
          <p:nvPr/>
        </p:nvSpPr>
        <p:spPr>
          <a:xfrm>
            <a:off x="2787096" y="5231268"/>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1" name="文字方塊 36">
            <a:extLst>
              <a:ext uri="{FF2B5EF4-FFF2-40B4-BE49-F238E27FC236}">
                <a16:creationId xmlns:a16="http://schemas.microsoft.com/office/drawing/2014/main" id="{6460BC2A-A038-420D-98F9-B30C2964BD50}"/>
              </a:ext>
            </a:extLst>
          </p:cNvPr>
          <p:cNvSpPr txBox="1"/>
          <p:nvPr/>
        </p:nvSpPr>
        <p:spPr>
          <a:xfrm>
            <a:off x="8309811" y="3025738"/>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42" name="文字方塊 37">
            <a:extLst>
              <a:ext uri="{FF2B5EF4-FFF2-40B4-BE49-F238E27FC236}">
                <a16:creationId xmlns:a16="http://schemas.microsoft.com/office/drawing/2014/main" id="{238BF0CE-43CB-4E33-89D9-537655851D58}"/>
              </a:ext>
            </a:extLst>
          </p:cNvPr>
          <p:cNvSpPr txBox="1"/>
          <p:nvPr/>
        </p:nvSpPr>
        <p:spPr>
          <a:xfrm>
            <a:off x="6961433" y="4117835"/>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43" name="文字方塊 38">
            <a:extLst>
              <a:ext uri="{FF2B5EF4-FFF2-40B4-BE49-F238E27FC236}">
                <a16:creationId xmlns:a16="http://schemas.microsoft.com/office/drawing/2014/main" id="{28AD786C-F7EC-447F-8744-9D7323B92037}"/>
              </a:ext>
            </a:extLst>
          </p:cNvPr>
          <p:cNvSpPr txBox="1"/>
          <p:nvPr/>
        </p:nvSpPr>
        <p:spPr>
          <a:xfrm>
            <a:off x="6983210" y="4910136"/>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44" name="文字方塊 39">
            <a:extLst>
              <a:ext uri="{FF2B5EF4-FFF2-40B4-BE49-F238E27FC236}">
                <a16:creationId xmlns:a16="http://schemas.microsoft.com/office/drawing/2014/main" id="{7BB3E595-CE07-4B13-B154-2B0640F774C0}"/>
              </a:ext>
            </a:extLst>
          </p:cNvPr>
          <p:cNvSpPr txBox="1"/>
          <p:nvPr/>
        </p:nvSpPr>
        <p:spPr>
          <a:xfrm>
            <a:off x="7744588" y="3952998"/>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5" name="文字方塊 40">
            <a:extLst>
              <a:ext uri="{FF2B5EF4-FFF2-40B4-BE49-F238E27FC236}">
                <a16:creationId xmlns:a16="http://schemas.microsoft.com/office/drawing/2014/main" id="{59ABDADB-163F-4310-A163-DB0FBB8898C5}"/>
              </a:ext>
            </a:extLst>
          </p:cNvPr>
          <p:cNvSpPr txBox="1"/>
          <p:nvPr/>
        </p:nvSpPr>
        <p:spPr>
          <a:xfrm>
            <a:off x="7909589" y="5062380"/>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6" name="文字方塊 41">
            <a:extLst>
              <a:ext uri="{FF2B5EF4-FFF2-40B4-BE49-F238E27FC236}">
                <a16:creationId xmlns:a16="http://schemas.microsoft.com/office/drawing/2014/main" id="{E8E8F771-55F7-497C-9EA2-AC974182E53A}"/>
              </a:ext>
            </a:extLst>
          </p:cNvPr>
          <p:cNvSpPr txBox="1"/>
          <p:nvPr/>
        </p:nvSpPr>
        <p:spPr>
          <a:xfrm>
            <a:off x="8440279" y="4002462"/>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7" name="文字方塊 42">
            <a:extLst>
              <a:ext uri="{FF2B5EF4-FFF2-40B4-BE49-F238E27FC236}">
                <a16:creationId xmlns:a16="http://schemas.microsoft.com/office/drawing/2014/main" id="{EB964D01-1050-4E4F-A6CC-657EDBB8D176}"/>
              </a:ext>
            </a:extLst>
          </p:cNvPr>
          <p:cNvSpPr txBox="1"/>
          <p:nvPr/>
        </p:nvSpPr>
        <p:spPr>
          <a:xfrm>
            <a:off x="9128103" y="3255503"/>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8" name="文字方塊 43">
            <a:extLst>
              <a:ext uri="{FF2B5EF4-FFF2-40B4-BE49-F238E27FC236}">
                <a16:creationId xmlns:a16="http://schemas.microsoft.com/office/drawing/2014/main" id="{F5558D4E-16D1-4C14-A9FF-57EA1947114C}"/>
              </a:ext>
            </a:extLst>
          </p:cNvPr>
          <p:cNvSpPr txBox="1"/>
          <p:nvPr/>
        </p:nvSpPr>
        <p:spPr>
          <a:xfrm>
            <a:off x="9115659" y="4898134"/>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49" name="矩形 48">
            <a:extLst>
              <a:ext uri="{FF2B5EF4-FFF2-40B4-BE49-F238E27FC236}">
                <a16:creationId xmlns:a16="http://schemas.microsoft.com/office/drawing/2014/main" id="{4DD519CF-C1E6-4321-A431-BA951D32C3FC}"/>
              </a:ext>
            </a:extLst>
          </p:cNvPr>
          <p:cNvSpPr/>
          <p:nvPr/>
        </p:nvSpPr>
        <p:spPr>
          <a:xfrm>
            <a:off x="6655065" y="2827715"/>
            <a:ext cx="3060000" cy="306000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50" name="文字方塊 45">
            <a:extLst>
              <a:ext uri="{FF2B5EF4-FFF2-40B4-BE49-F238E27FC236}">
                <a16:creationId xmlns:a16="http://schemas.microsoft.com/office/drawing/2014/main" id="{F802821C-1112-427B-A71B-610A690A8206}"/>
              </a:ext>
            </a:extLst>
          </p:cNvPr>
          <p:cNvSpPr txBox="1"/>
          <p:nvPr/>
        </p:nvSpPr>
        <p:spPr>
          <a:xfrm>
            <a:off x="7143096" y="3336681"/>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1" name="文字方塊 46">
            <a:extLst>
              <a:ext uri="{FF2B5EF4-FFF2-40B4-BE49-F238E27FC236}">
                <a16:creationId xmlns:a16="http://schemas.microsoft.com/office/drawing/2014/main" id="{CAC513AF-A572-437E-9F6C-EB2BBCB4BBA6}"/>
              </a:ext>
            </a:extLst>
          </p:cNvPr>
          <p:cNvSpPr txBox="1"/>
          <p:nvPr/>
        </p:nvSpPr>
        <p:spPr>
          <a:xfrm>
            <a:off x="7887175" y="3038381"/>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2" name="文字方塊 47">
            <a:extLst>
              <a:ext uri="{FF2B5EF4-FFF2-40B4-BE49-F238E27FC236}">
                <a16:creationId xmlns:a16="http://schemas.microsoft.com/office/drawing/2014/main" id="{4B59CCB8-B91E-4530-998D-7867F047D8F3}"/>
              </a:ext>
            </a:extLst>
          </p:cNvPr>
          <p:cNvSpPr txBox="1"/>
          <p:nvPr/>
        </p:nvSpPr>
        <p:spPr>
          <a:xfrm>
            <a:off x="8286748" y="3540985"/>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3" name="文字方塊 48">
            <a:extLst>
              <a:ext uri="{FF2B5EF4-FFF2-40B4-BE49-F238E27FC236}">
                <a16:creationId xmlns:a16="http://schemas.microsoft.com/office/drawing/2014/main" id="{658AC387-7574-4D14-A460-9531B7B6F0F7}"/>
              </a:ext>
            </a:extLst>
          </p:cNvPr>
          <p:cNvSpPr txBox="1"/>
          <p:nvPr/>
        </p:nvSpPr>
        <p:spPr>
          <a:xfrm>
            <a:off x="8747995" y="3229651"/>
            <a:ext cx="820748"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4" name="文字方塊 49">
            <a:extLst>
              <a:ext uri="{FF2B5EF4-FFF2-40B4-BE49-F238E27FC236}">
                <a16:creationId xmlns:a16="http://schemas.microsoft.com/office/drawing/2014/main" id="{41866E5C-3962-4A71-962C-83DC83ACE71E}"/>
              </a:ext>
            </a:extLst>
          </p:cNvPr>
          <p:cNvSpPr txBox="1"/>
          <p:nvPr/>
        </p:nvSpPr>
        <p:spPr>
          <a:xfrm>
            <a:off x="6612638" y="4079825"/>
            <a:ext cx="74440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5" name="文字方塊 50">
            <a:extLst>
              <a:ext uri="{FF2B5EF4-FFF2-40B4-BE49-F238E27FC236}">
                <a16:creationId xmlns:a16="http://schemas.microsoft.com/office/drawing/2014/main" id="{A559B702-426D-434E-9030-59C01AA01459}"/>
              </a:ext>
            </a:extLst>
          </p:cNvPr>
          <p:cNvSpPr txBox="1"/>
          <p:nvPr/>
        </p:nvSpPr>
        <p:spPr>
          <a:xfrm>
            <a:off x="6580254" y="4876803"/>
            <a:ext cx="842459"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6" name="文字方塊 51">
            <a:extLst>
              <a:ext uri="{FF2B5EF4-FFF2-40B4-BE49-F238E27FC236}">
                <a16:creationId xmlns:a16="http://schemas.microsoft.com/office/drawing/2014/main" id="{71AA6015-C201-4474-AE45-3111D5F3D390}"/>
              </a:ext>
            </a:extLst>
          </p:cNvPr>
          <p:cNvSpPr txBox="1"/>
          <p:nvPr/>
        </p:nvSpPr>
        <p:spPr>
          <a:xfrm>
            <a:off x="7422713" y="5144567"/>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7" name="文字方塊 52">
            <a:extLst>
              <a:ext uri="{FF2B5EF4-FFF2-40B4-BE49-F238E27FC236}">
                <a16:creationId xmlns:a16="http://schemas.microsoft.com/office/drawing/2014/main" id="{342A63A7-C90A-4935-A491-2612AE0436DE}"/>
              </a:ext>
            </a:extLst>
          </p:cNvPr>
          <p:cNvSpPr txBox="1"/>
          <p:nvPr/>
        </p:nvSpPr>
        <p:spPr>
          <a:xfrm>
            <a:off x="8737118" y="4853747"/>
            <a:ext cx="807132"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8" name="文字方塊 53">
            <a:extLst>
              <a:ext uri="{FF2B5EF4-FFF2-40B4-BE49-F238E27FC236}">
                <a16:creationId xmlns:a16="http://schemas.microsoft.com/office/drawing/2014/main" id="{6E0C9BB7-BB5C-4E57-9DF7-E1ED6F824BA2}"/>
              </a:ext>
            </a:extLst>
          </p:cNvPr>
          <p:cNvSpPr txBox="1"/>
          <p:nvPr/>
        </p:nvSpPr>
        <p:spPr>
          <a:xfrm>
            <a:off x="8156402" y="4295037"/>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59" name="文字方塊 54">
            <a:extLst>
              <a:ext uri="{FF2B5EF4-FFF2-40B4-BE49-F238E27FC236}">
                <a16:creationId xmlns:a16="http://schemas.microsoft.com/office/drawing/2014/main" id="{E9B677C4-D637-43D0-B84D-377367214096}"/>
              </a:ext>
            </a:extLst>
          </p:cNvPr>
          <p:cNvSpPr txBox="1"/>
          <p:nvPr/>
        </p:nvSpPr>
        <p:spPr>
          <a:xfrm>
            <a:off x="7494065" y="4240990"/>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60" name="文字方塊 55">
            <a:extLst>
              <a:ext uri="{FF2B5EF4-FFF2-40B4-BE49-F238E27FC236}">
                <a16:creationId xmlns:a16="http://schemas.microsoft.com/office/drawing/2014/main" id="{678D4940-73D5-4B0A-9D44-BC7AA1D389D6}"/>
              </a:ext>
            </a:extLst>
          </p:cNvPr>
          <p:cNvSpPr txBox="1"/>
          <p:nvPr/>
        </p:nvSpPr>
        <p:spPr>
          <a:xfrm>
            <a:off x="8752336" y="3526267"/>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61" name="文字方塊 56">
            <a:extLst>
              <a:ext uri="{FF2B5EF4-FFF2-40B4-BE49-F238E27FC236}">
                <a16:creationId xmlns:a16="http://schemas.microsoft.com/office/drawing/2014/main" id="{EBEEA781-C11A-4B9E-A713-E4D4ADED4DDF}"/>
              </a:ext>
            </a:extLst>
          </p:cNvPr>
          <p:cNvSpPr txBox="1"/>
          <p:nvPr/>
        </p:nvSpPr>
        <p:spPr>
          <a:xfrm>
            <a:off x="7629336" y="3301127"/>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62" name="文字方塊 57">
                <a:extLst>
                  <a:ext uri="{FF2B5EF4-FFF2-40B4-BE49-F238E27FC236}">
                    <a16:creationId xmlns:a16="http://schemas.microsoft.com/office/drawing/2014/main" id="{9FCBB8EC-AB34-43AC-A4CA-B7F112723CAA}"/>
                  </a:ext>
                </a:extLst>
              </p:cNvPr>
              <p:cNvSpPr txBox="1"/>
              <p:nvPr/>
            </p:nvSpPr>
            <p:spPr>
              <a:xfrm>
                <a:off x="3338479" y="204033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62" name="文字方塊 57">
                <a:extLst>
                  <a:ext uri="{FF2B5EF4-FFF2-40B4-BE49-F238E27FC236}">
                    <a16:creationId xmlns:a16="http://schemas.microsoft.com/office/drawing/2014/main" id="{9FCBB8EC-AB34-43AC-A4CA-B7F112723CAA}"/>
                  </a:ext>
                </a:extLst>
              </p:cNvPr>
              <p:cNvSpPr txBox="1">
                <a:spLocks noRot="1" noChangeAspect="1" noMove="1" noResize="1" noEditPoints="1" noAdjustHandles="1" noChangeArrowheads="1" noChangeShapeType="1" noTextEdit="1"/>
              </p:cNvSpPr>
              <p:nvPr/>
            </p:nvSpPr>
            <p:spPr>
              <a:xfrm>
                <a:off x="3338479" y="2040334"/>
                <a:ext cx="1490501" cy="461665"/>
              </a:xfrm>
              <a:prstGeom prst="rect">
                <a:avLst/>
              </a:prstGeom>
              <a:blipFill>
                <a:blip r:embed="rId7"/>
                <a:stretch>
                  <a:fillRect r="-410"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字方塊 58">
                <a:extLst>
                  <a:ext uri="{FF2B5EF4-FFF2-40B4-BE49-F238E27FC236}">
                    <a16:creationId xmlns:a16="http://schemas.microsoft.com/office/drawing/2014/main" id="{5370B04C-0812-4ED9-8A06-FD3F0947FE61}"/>
                  </a:ext>
                </a:extLst>
              </p:cNvPr>
              <p:cNvSpPr txBox="1"/>
              <p:nvPr/>
            </p:nvSpPr>
            <p:spPr>
              <a:xfrm>
                <a:off x="3901585" y="1459857"/>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63" name="文字方塊 58">
                <a:extLst>
                  <a:ext uri="{FF2B5EF4-FFF2-40B4-BE49-F238E27FC236}">
                    <a16:creationId xmlns:a16="http://schemas.microsoft.com/office/drawing/2014/main" id="{5370B04C-0812-4ED9-8A06-FD3F0947FE61}"/>
                  </a:ext>
                </a:extLst>
              </p:cNvPr>
              <p:cNvSpPr txBox="1">
                <a:spLocks noRot="1" noChangeAspect="1" noMove="1" noResize="1" noEditPoints="1" noAdjustHandles="1" noChangeArrowheads="1" noChangeShapeType="1" noTextEdit="1"/>
              </p:cNvSpPr>
              <p:nvPr/>
            </p:nvSpPr>
            <p:spPr>
              <a:xfrm>
                <a:off x="3901585" y="1459857"/>
                <a:ext cx="944294" cy="461665"/>
              </a:xfrm>
              <a:prstGeom prst="rect">
                <a:avLst/>
              </a:prstGeom>
              <a:blipFill>
                <a:blip r:embed="rId8"/>
                <a:stretch>
                  <a:fillRect l="-5333" t="-7895" r="-9333" b="-28947"/>
                </a:stretch>
              </a:blipFill>
            </p:spPr>
            <p:txBody>
              <a:bodyPr/>
              <a:lstStyle/>
              <a:p>
                <a:r>
                  <a:rPr lang="en-CN">
                    <a:noFill/>
                  </a:rPr>
                  <a:t> </a:t>
                </a:r>
              </a:p>
            </p:txBody>
          </p:sp>
        </mc:Fallback>
      </mc:AlternateContent>
      <p:pic>
        <p:nvPicPr>
          <p:cNvPr id="64" name="圖片 59">
            <a:extLst>
              <a:ext uri="{FF2B5EF4-FFF2-40B4-BE49-F238E27FC236}">
                <a16:creationId xmlns:a16="http://schemas.microsoft.com/office/drawing/2014/main" id="{75ED4CAB-46E7-483B-B371-05078C238473}"/>
              </a:ext>
            </a:extLst>
          </p:cNvPr>
          <p:cNvPicPr>
            <a:picLocks noChangeAspect="1"/>
          </p:cNvPicPr>
          <p:nvPr/>
        </p:nvPicPr>
        <p:blipFill>
          <a:blip r:embed="rId9"/>
          <a:stretch>
            <a:fillRect/>
          </a:stretch>
        </p:blipFill>
        <p:spPr>
          <a:xfrm>
            <a:off x="4990322" y="1409267"/>
            <a:ext cx="1250206" cy="1250206"/>
          </a:xfrm>
          <a:prstGeom prst="rect">
            <a:avLst/>
          </a:prstGeom>
        </p:spPr>
      </p:pic>
      <p:sp>
        <p:nvSpPr>
          <p:cNvPr id="5" name="文本占位符 1">
            <a:extLst>
              <a:ext uri="{FF2B5EF4-FFF2-40B4-BE49-F238E27FC236}">
                <a16:creationId xmlns:a16="http://schemas.microsoft.com/office/drawing/2014/main" id="{945D0FB8-0EC0-851D-4296-180E04C4ECC9}"/>
              </a:ext>
            </a:extLst>
          </p:cNvPr>
          <p:cNvSpPr>
            <a:spLocks noGrp="1"/>
          </p:cNvSpPr>
          <p:nvPr>
            <p:ph type="body" sz="quarter" idx="12"/>
          </p:nvPr>
        </p:nvSpPr>
        <p:spPr>
          <a:xfrm>
            <a:off x="566962" y="265803"/>
            <a:ext cx="4836888" cy="426497"/>
          </a:xfrm>
        </p:spPr>
        <p:txBody>
          <a:bodyPr/>
          <a:lstStyle/>
          <a:p>
            <a:pPr marL="0" indent="0">
              <a:buNone/>
            </a:pPr>
            <a:r>
              <a:rPr lang="en-US" altLang="zh-CN" sz="3200" dirty="0"/>
              <a:t>AdaBoost</a:t>
            </a:r>
            <a:r>
              <a:rPr lang="zh-CN" altLang="en-US" sz="3200" dirty="0"/>
              <a:t>计算实例</a:t>
            </a:r>
          </a:p>
        </p:txBody>
      </p:sp>
      <p:sp>
        <p:nvSpPr>
          <p:cNvPr id="8" name="TextBox 7">
            <a:extLst>
              <a:ext uri="{FF2B5EF4-FFF2-40B4-BE49-F238E27FC236}">
                <a16:creationId xmlns:a16="http://schemas.microsoft.com/office/drawing/2014/main" id="{4C762D4D-C6C2-96DF-2A81-1AB00D4A51E2}"/>
              </a:ext>
            </a:extLst>
          </p:cNvPr>
          <p:cNvSpPr txBox="1"/>
          <p:nvPr/>
        </p:nvSpPr>
        <p:spPr>
          <a:xfrm>
            <a:off x="662970" y="1061597"/>
            <a:ext cx="6098458" cy="523220"/>
          </a:xfrm>
          <a:prstGeom prst="rect">
            <a:avLst/>
          </a:prstGeom>
          <a:noFill/>
        </p:spPr>
        <p:txBody>
          <a:bodyPr wrap="square">
            <a:spAutoFit/>
          </a:bodyPr>
          <a:lstStyle/>
          <a:p>
            <a:pPr marL="285750" indent="-285750">
              <a:buFont typeface="Wingdings" pitchFamily="2" charset="2"/>
              <a:buChar char="Ø"/>
            </a:pPr>
            <a:r>
              <a:rPr lang="zh-CN" altLang="en-US" sz="2800" dirty="0">
                <a:latin typeface="+mn-ea"/>
              </a:rPr>
              <a:t>例</a:t>
            </a:r>
            <a:endParaRPr lang="en-CN" sz="2800" dirty="0"/>
          </a:p>
        </p:txBody>
      </p:sp>
      <p:sp>
        <p:nvSpPr>
          <p:cNvPr id="2" name="灯片编号占位符 1">
            <a:extLst>
              <a:ext uri="{FF2B5EF4-FFF2-40B4-BE49-F238E27FC236}">
                <a16:creationId xmlns:a16="http://schemas.microsoft.com/office/drawing/2014/main" id="{71B6F354-AD85-4F5C-AC2A-ADA73DE4994D}"/>
              </a:ext>
            </a:extLst>
          </p:cNvPr>
          <p:cNvSpPr>
            <a:spLocks noGrp="1"/>
          </p:cNvSpPr>
          <p:nvPr>
            <p:ph type="sldNum" sz="quarter" idx="14"/>
          </p:nvPr>
        </p:nvSpPr>
        <p:spPr/>
        <p:txBody>
          <a:bodyPr/>
          <a:lstStyle/>
          <a:p>
            <a:fld id="{AF69888C-E133-43D9-A638-B5C95925B91C}" type="slidenum">
              <a:rPr lang="zh-CN" altLang="en-US" smtClean="0"/>
              <a:t>37</a:t>
            </a:fld>
            <a:endParaRPr lang="zh-CN" altLang="en-US" dirty="0"/>
          </a:p>
        </p:txBody>
      </p:sp>
    </p:spTree>
    <p:extLst>
      <p:ext uri="{BB962C8B-B14F-4D97-AF65-F5344CB8AC3E}">
        <p14:creationId xmlns:p14="http://schemas.microsoft.com/office/powerpoint/2010/main" val="399236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3" grpId="0"/>
      <p:bldP spid="34" grpId="0"/>
      <p:bldP spid="35" grpId="0" animBg="1"/>
      <p:bldP spid="36" grpId="0"/>
      <p:bldP spid="37" grpId="0"/>
      <p:bldP spid="38" grpId="0" animBg="1"/>
      <p:bldP spid="39" grpId="0" animBg="1"/>
      <p:bldP spid="40" grpId="0" animBg="1"/>
      <p:bldP spid="41" grpId="0"/>
      <p:bldP spid="42" grpId="0"/>
      <p:bldP spid="43" grpId="0"/>
      <p:bldP spid="44" grpId="0"/>
      <p:bldP spid="45" grpId="0"/>
      <p:bldP spid="46" grpId="0"/>
      <p:bldP spid="47" grpId="0"/>
      <p:bldP spid="48" grpId="0"/>
      <p:bldP spid="49" grpId="0" animBg="1"/>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936D7AF-C618-4A19-BFBE-9A0B24868489}"/>
              </a:ext>
            </a:extLst>
          </p:cNvPr>
          <p:cNvSpPr/>
          <p:nvPr/>
        </p:nvSpPr>
        <p:spPr>
          <a:xfrm>
            <a:off x="2425040" y="4166423"/>
            <a:ext cx="3034542" cy="1899784"/>
          </a:xfrm>
          <a:prstGeom prst="rect">
            <a:avLst/>
          </a:prstGeom>
          <a:solidFill>
            <a:srgbClr val="FFE9EA"/>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8" name="矩形 7">
            <a:extLst>
              <a:ext uri="{FF2B5EF4-FFF2-40B4-BE49-F238E27FC236}">
                <a16:creationId xmlns:a16="http://schemas.microsoft.com/office/drawing/2014/main" id="{C0E55B57-786F-4135-A40D-5F54274FDA58}"/>
              </a:ext>
            </a:extLst>
          </p:cNvPr>
          <p:cNvSpPr/>
          <p:nvPr/>
        </p:nvSpPr>
        <p:spPr>
          <a:xfrm>
            <a:off x="2411100" y="3031227"/>
            <a:ext cx="3048483" cy="10901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0" name="內容版面配置區 2">
            <a:extLst>
              <a:ext uri="{FF2B5EF4-FFF2-40B4-BE49-F238E27FC236}">
                <a16:creationId xmlns:a16="http://schemas.microsoft.com/office/drawing/2014/main" id="{9E250BBE-42A1-4EE8-BE7E-9A030FC7282E}"/>
              </a:ext>
            </a:extLst>
          </p:cNvPr>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a:t>t=3</a:t>
            </a:r>
            <a:endParaRPr lang="zh-TW" altLang="en-US"/>
          </a:p>
          <a:p>
            <a:endParaRPr lang="zh-TW" altLang="en-US" dirty="0"/>
          </a:p>
        </p:txBody>
      </p:sp>
      <mc:AlternateContent xmlns:mc="http://schemas.openxmlformats.org/markup-compatibility/2006" xmlns:a14="http://schemas.microsoft.com/office/drawing/2010/main">
        <mc:Choice Requires="a14">
          <p:sp>
            <p:nvSpPr>
              <p:cNvPr id="11" name="文字方塊 3">
                <a:extLst>
                  <a:ext uri="{FF2B5EF4-FFF2-40B4-BE49-F238E27FC236}">
                    <a16:creationId xmlns:a16="http://schemas.microsoft.com/office/drawing/2014/main" id="{85035113-E527-43EA-A095-4A10B16E9826}"/>
                  </a:ext>
                </a:extLst>
              </p:cNvPr>
              <p:cNvSpPr txBox="1"/>
              <p:nvPr/>
            </p:nvSpPr>
            <p:spPr>
              <a:xfrm>
                <a:off x="3201733" y="214239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1" name="文字方塊 3">
                <a:extLst>
                  <a:ext uri="{FF2B5EF4-FFF2-40B4-BE49-F238E27FC236}">
                    <a16:creationId xmlns:a16="http://schemas.microsoft.com/office/drawing/2014/main" id="{85035113-E527-43EA-A095-4A10B16E9826}"/>
                  </a:ext>
                </a:extLst>
              </p:cNvPr>
              <p:cNvSpPr txBox="1">
                <a:spLocks noRot="1" noChangeAspect="1" noMove="1" noResize="1" noEditPoints="1" noAdjustHandles="1" noChangeArrowheads="1" noChangeShapeType="1" noTextEdit="1"/>
              </p:cNvSpPr>
              <p:nvPr/>
            </p:nvSpPr>
            <p:spPr>
              <a:xfrm>
                <a:off x="3201733" y="2142394"/>
                <a:ext cx="1490501" cy="461665"/>
              </a:xfrm>
              <a:prstGeom prst="rect">
                <a:avLst/>
              </a:prstGeom>
              <a:blipFill>
                <a:blip r:embed="rId3"/>
                <a:stretch>
                  <a:fillRect r="-408"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字方塊 4">
                <a:extLst>
                  <a:ext uri="{FF2B5EF4-FFF2-40B4-BE49-F238E27FC236}">
                    <a16:creationId xmlns:a16="http://schemas.microsoft.com/office/drawing/2014/main" id="{CB12FFB6-646F-4352-85EC-D0CC24EE2A7E}"/>
                  </a:ext>
                </a:extLst>
              </p:cNvPr>
              <p:cNvSpPr txBox="1"/>
              <p:nvPr/>
            </p:nvSpPr>
            <p:spPr>
              <a:xfrm>
                <a:off x="3764839" y="1561917"/>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2" name="文字方塊 4">
                <a:extLst>
                  <a:ext uri="{FF2B5EF4-FFF2-40B4-BE49-F238E27FC236}">
                    <a16:creationId xmlns:a16="http://schemas.microsoft.com/office/drawing/2014/main" id="{CB12FFB6-646F-4352-85EC-D0CC24EE2A7E}"/>
                  </a:ext>
                </a:extLst>
              </p:cNvPr>
              <p:cNvSpPr txBox="1">
                <a:spLocks noRot="1" noChangeAspect="1" noMove="1" noResize="1" noEditPoints="1" noAdjustHandles="1" noChangeArrowheads="1" noChangeShapeType="1" noTextEdit="1"/>
              </p:cNvSpPr>
              <p:nvPr/>
            </p:nvSpPr>
            <p:spPr>
              <a:xfrm>
                <a:off x="3764839" y="1561917"/>
                <a:ext cx="944294" cy="461665"/>
              </a:xfrm>
              <a:prstGeom prst="rect">
                <a:avLst/>
              </a:prstGeom>
              <a:blipFill>
                <a:blip r:embed="rId4"/>
                <a:stretch>
                  <a:fillRect l="-5333" t="-5263" r="-10667" b="-28947"/>
                </a:stretch>
              </a:blipFill>
            </p:spPr>
            <p:txBody>
              <a:bodyPr/>
              <a:lstStyle/>
              <a:p>
                <a:r>
                  <a:rPr lang="en-CN">
                    <a:noFill/>
                  </a:rPr>
                  <a:t> </a:t>
                </a:r>
              </a:p>
            </p:txBody>
          </p:sp>
        </mc:Fallback>
      </mc:AlternateContent>
      <p:pic>
        <p:nvPicPr>
          <p:cNvPr id="13" name="圖片 5">
            <a:extLst>
              <a:ext uri="{FF2B5EF4-FFF2-40B4-BE49-F238E27FC236}">
                <a16:creationId xmlns:a16="http://schemas.microsoft.com/office/drawing/2014/main" id="{8827E08D-9124-45FA-A3B0-2A1EDCC538EF}"/>
              </a:ext>
            </a:extLst>
          </p:cNvPr>
          <p:cNvPicPr>
            <a:picLocks noChangeAspect="1"/>
          </p:cNvPicPr>
          <p:nvPr/>
        </p:nvPicPr>
        <p:blipFill>
          <a:blip r:embed="rId4"/>
          <a:stretch>
            <a:fillRect/>
          </a:stretch>
        </p:blipFill>
        <p:spPr>
          <a:xfrm>
            <a:off x="4674161" y="1485919"/>
            <a:ext cx="1250206" cy="1250206"/>
          </a:xfrm>
          <a:prstGeom prst="rect">
            <a:avLst/>
          </a:prstGeom>
        </p:spPr>
      </p:pic>
      <p:sp>
        <p:nvSpPr>
          <p:cNvPr id="14" name="文字方塊 6">
            <a:extLst>
              <a:ext uri="{FF2B5EF4-FFF2-40B4-BE49-F238E27FC236}">
                <a16:creationId xmlns:a16="http://schemas.microsoft.com/office/drawing/2014/main" id="{63E8D9DF-CC3C-4B09-A226-210856DDA223}"/>
              </a:ext>
            </a:extLst>
          </p:cNvPr>
          <p:cNvSpPr txBox="1"/>
          <p:nvPr/>
        </p:nvSpPr>
        <p:spPr>
          <a:xfrm>
            <a:off x="5665031" y="754173"/>
            <a:ext cx="492460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T=3, weak classifier = decision stump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15" name="文字方塊 7">
                <a:extLst>
                  <a:ext uri="{FF2B5EF4-FFF2-40B4-BE49-F238E27FC236}">
                    <a16:creationId xmlns:a16="http://schemas.microsoft.com/office/drawing/2014/main" id="{D0CFCA0F-207F-4D90-9101-B06D29BE1A27}"/>
                  </a:ext>
                </a:extLst>
              </p:cNvPr>
              <p:cNvSpPr txBox="1"/>
              <p:nvPr/>
            </p:nvSpPr>
            <p:spPr>
              <a:xfrm>
                <a:off x="6164663" y="2110871"/>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=0.66</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5" name="文字方塊 7">
                <a:extLst>
                  <a:ext uri="{FF2B5EF4-FFF2-40B4-BE49-F238E27FC236}">
                    <a16:creationId xmlns:a16="http://schemas.microsoft.com/office/drawing/2014/main" id="{D0CFCA0F-207F-4D90-9101-B06D29BE1A27}"/>
                  </a:ext>
                </a:extLst>
              </p:cNvPr>
              <p:cNvSpPr txBox="1">
                <a:spLocks noRot="1" noChangeAspect="1" noMove="1" noResize="1" noEditPoints="1" noAdjustHandles="1" noChangeArrowheads="1" noChangeShapeType="1" noTextEdit="1"/>
              </p:cNvSpPr>
              <p:nvPr/>
            </p:nvSpPr>
            <p:spPr>
              <a:xfrm>
                <a:off x="6164663" y="2110871"/>
                <a:ext cx="1490501" cy="461665"/>
              </a:xfrm>
              <a:prstGeom prst="rect">
                <a:avLst/>
              </a:prstGeom>
              <a:blipFill>
                <a:blip r:embed="rId6"/>
                <a:stretch>
                  <a:fillRect r="-816"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字方塊 8">
                <a:extLst>
                  <a:ext uri="{FF2B5EF4-FFF2-40B4-BE49-F238E27FC236}">
                    <a16:creationId xmlns:a16="http://schemas.microsoft.com/office/drawing/2014/main" id="{A4628DB4-FB03-43B4-A347-D4C98067A22A}"/>
                  </a:ext>
                </a:extLst>
              </p:cNvPr>
              <p:cNvSpPr txBox="1"/>
              <p:nvPr/>
            </p:nvSpPr>
            <p:spPr>
              <a:xfrm>
                <a:off x="6590360" y="1530393"/>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6" name="文字方塊 8">
                <a:extLst>
                  <a:ext uri="{FF2B5EF4-FFF2-40B4-BE49-F238E27FC236}">
                    <a16:creationId xmlns:a16="http://schemas.microsoft.com/office/drawing/2014/main" id="{A4628DB4-FB03-43B4-A347-D4C98067A22A}"/>
                  </a:ext>
                </a:extLst>
              </p:cNvPr>
              <p:cNvSpPr txBox="1">
                <a:spLocks noRot="1" noChangeAspect="1" noMove="1" noResize="1" noEditPoints="1" noAdjustHandles="1" noChangeArrowheads="1" noChangeShapeType="1" noTextEdit="1"/>
              </p:cNvSpPr>
              <p:nvPr/>
            </p:nvSpPr>
            <p:spPr>
              <a:xfrm>
                <a:off x="6590360" y="1530393"/>
                <a:ext cx="944294" cy="461665"/>
              </a:xfrm>
              <a:prstGeom prst="rect">
                <a:avLst/>
              </a:prstGeom>
              <a:blipFill>
                <a:blip r:embed="rId7"/>
                <a:stretch>
                  <a:fillRect l="-3947" t="-8108" r="-18421" b="-29730"/>
                </a:stretch>
              </a:blipFill>
            </p:spPr>
            <p:txBody>
              <a:bodyPr/>
              <a:lstStyle/>
              <a:p>
                <a:r>
                  <a:rPr lang="en-CN">
                    <a:noFill/>
                  </a:rPr>
                  <a:t> </a:t>
                </a:r>
              </a:p>
            </p:txBody>
          </p:sp>
        </mc:Fallback>
      </mc:AlternateContent>
      <p:pic>
        <p:nvPicPr>
          <p:cNvPr id="17" name="圖片 9">
            <a:extLst>
              <a:ext uri="{FF2B5EF4-FFF2-40B4-BE49-F238E27FC236}">
                <a16:creationId xmlns:a16="http://schemas.microsoft.com/office/drawing/2014/main" id="{5E87ECAC-8CBC-4061-81AE-40DDF8D760EF}"/>
              </a:ext>
            </a:extLst>
          </p:cNvPr>
          <p:cNvPicPr>
            <a:picLocks noChangeAspect="1"/>
          </p:cNvPicPr>
          <p:nvPr/>
        </p:nvPicPr>
        <p:blipFill>
          <a:blip r:embed="rId8"/>
          <a:stretch>
            <a:fillRect/>
          </a:stretch>
        </p:blipFill>
        <p:spPr>
          <a:xfrm>
            <a:off x="7655164" y="1454397"/>
            <a:ext cx="1281728" cy="1281728"/>
          </a:xfrm>
          <a:prstGeom prst="rect">
            <a:avLst/>
          </a:prstGeom>
        </p:spPr>
      </p:pic>
      <p:sp>
        <p:nvSpPr>
          <p:cNvPr id="18" name="文字方塊 10">
            <a:extLst>
              <a:ext uri="{FF2B5EF4-FFF2-40B4-BE49-F238E27FC236}">
                <a16:creationId xmlns:a16="http://schemas.microsoft.com/office/drawing/2014/main" id="{24E7601D-8218-4781-B6AE-236E6531B8AB}"/>
              </a:ext>
            </a:extLst>
          </p:cNvPr>
          <p:cNvSpPr txBox="1"/>
          <p:nvPr/>
        </p:nvSpPr>
        <p:spPr>
          <a:xfrm>
            <a:off x="4070894" y="3204230"/>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19" name="文字方塊 11">
            <a:extLst>
              <a:ext uri="{FF2B5EF4-FFF2-40B4-BE49-F238E27FC236}">
                <a16:creationId xmlns:a16="http://schemas.microsoft.com/office/drawing/2014/main" id="{472D11F4-EDEB-4E3A-9067-1C3713639CDD}"/>
              </a:ext>
            </a:extLst>
          </p:cNvPr>
          <p:cNvSpPr txBox="1"/>
          <p:nvPr/>
        </p:nvSpPr>
        <p:spPr>
          <a:xfrm>
            <a:off x="2722516" y="4296327"/>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0" name="文字方塊 12">
            <a:extLst>
              <a:ext uri="{FF2B5EF4-FFF2-40B4-BE49-F238E27FC236}">
                <a16:creationId xmlns:a16="http://schemas.microsoft.com/office/drawing/2014/main" id="{D234B459-7F6A-40E7-85F1-6CB62FDE54FD}"/>
              </a:ext>
            </a:extLst>
          </p:cNvPr>
          <p:cNvSpPr txBox="1"/>
          <p:nvPr/>
        </p:nvSpPr>
        <p:spPr>
          <a:xfrm>
            <a:off x="2744293" y="5088628"/>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1" name="文字方塊 13">
            <a:extLst>
              <a:ext uri="{FF2B5EF4-FFF2-40B4-BE49-F238E27FC236}">
                <a16:creationId xmlns:a16="http://schemas.microsoft.com/office/drawing/2014/main" id="{E8571B47-9FEB-4DB1-8AD4-3EC1AAE7092C}"/>
              </a:ext>
            </a:extLst>
          </p:cNvPr>
          <p:cNvSpPr txBox="1"/>
          <p:nvPr/>
        </p:nvSpPr>
        <p:spPr>
          <a:xfrm>
            <a:off x="3505671" y="4131490"/>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2" name="文字方塊 14">
            <a:extLst>
              <a:ext uri="{FF2B5EF4-FFF2-40B4-BE49-F238E27FC236}">
                <a16:creationId xmlns:a16="http://schemas.microsoft.com/office/drawing/2014/main" id="{E04F131E-EF32-4F64-9E20-5B4C55E32984}"/>
              </a:ext>
            </a:extLst>
          </p:cNvPr>
          <p:cNvSpPr txBox="1"/>
          <p:nvPr/>
        </p:nvSpPr>
        <p:spPr>
          <a:xfrm>
            <a:off x="3670672" y="5240872"/>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3" name="文字方塊 15">
            <a:extLst>
              <a:ext uri="{FF2B5EF4-FFF2-40B4-BE49-F238E27FC236}">
                <a16:creationId xmlns:a16="http://schemas.microsoft.com/office/drawing/2014/main" id="{4B5056C6-6A16-498C-86E3-976579156E22}"/>
              </a:ext>
            </a:extLst>
          </p:cNvPr>
          <p:cNvSpPr txBox="1"/>
          <p:nvPr/>
        </p:nvSpPr>
        <p:spPr>
          <a:xfrm>
            <a:off x="4201362" y="4180954"/>
            <a:ext cx="624115" cy="64633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36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36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4" name="文字方塊 16">
            <a:extLst>
              <a:ext uri="{FF2B5EF4-FFF2-40B4-BE49-F238E27FC236}">
                <a16:creationId xmlns:a16="http://schemas.microsoft.com/office/drawing/2014/main" id="{41A0A5FF-7AEA-4D6B-ABD8-E5AF73ED706F}"/>
              </a:ext>
            </a:extLst>
          </p:cNvPr>
          <p:cNvSpPr txBox="1"/>
          <p:nvPr/>
        </p:nvSpPr>
        <p:spPr>
          <a:xfrm>
            <a:off x="4889186" y="3433995"/>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5" name="文字方塊 17">
            <a:extLst>
              <a:ext uri="{FF2B5EF4-FFF2-40B4-BE49-F238E27FC236}">
                <a16:creationId xmlns:a16="http://schemas.microsoft.com/office/drawing/2014/main" id="{410B56B7-06E4-4E9A-838C-09898642C457}"/>
              </a:ext>
            </a:extLst>
          </p:cNvPr>
          <p:cNvSpPr txBox="1"/>
          <p:nvPr/>
        </p:nvSpPr>
        <p:spPr>
          <a:xfrm>
            <a:off x="4876742" y="5076626"/>
            <a:ext cx="624115"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12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6" name="矩形 25">
            <a:extLst>
              <a:ext uri="{FF2B5EF4-FFF2-40B4-BE49-F238E27FC236}">
                <a16:creationId xmlns:a16="http://schemas.microsoft.com/office/drawing/2014/main" id="{44E5F00A-C427-468D-9BC2-04AF48C27ABE}"/>
              </a:ext>
            </a:extLst>
          </p:cNvPr>
          <p:cNvSpPr/>
          <p:nvPr/>
        </p:nvSpPr>
        <p:spPr>
          <a:xfrm>
            <a:off x="2416148" y="3006207"/>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7" name="文字方塊 19">
            <a:extLst>
              <a:ext uri="{FF2B5EF4-FFF2-40B4-BE49-F238E27FC236}">
                <a16:creationId xmlns:a16="http://schemas.microsoft.com/office/drawing/2014/main" id="{90F76931-8788-4CE9-8A52-97B7AA888DD2}"/>
              </a:ext>
            </a:extLst>
          </p:cNvPr>
          <p:cNvSpPr txBox="1"/>
          <p:nvPr/>
        </p:nvSpPr>
        <p:spPr>
          <a:xfrm>
            <a:off x="2904179" y="3515173"/>
            <a:ext cx="884641"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8" name="文字方塊 20">
            <a:extLst>
              <a:ext uri="{FF2B5EF4-FFF2-40B4-BE49-F238E27FC236}">
                <a16:creationId xmlns:a16="http://schemas.microsoft.com/office/drawing/2014/main" id="{F6330A5E-3EDD-4F0A-84FA-42753457C9EE}"/>
              </a:ext>
            </a:extLst>
          </p:cNvPr>
          <p:cNvSpPr txBox="1"/>
          <p:nvPr/>
        </p:nvSpPr>
        <p:spPr>
          <a:xfrm>
            <a:off x="3648258" y="3216873"/>
            <a:ext cx="75619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29" name="文字方塊 21">
            <a:extLst>
              <a:ext uri="{FF2B5EF4-FFF2-40B4-BE49-F238E27FC236}">
                <a16:creationId xmlns:a16="http://schemas.microsoft.com/office/drawing/2014/main" id="{DB6C39B3-587A-4E4F-9D16-3E2329C9149E}"/>
              </a:ext>
            </a:extLst>
          </p:cNvPr>
          <p:cNvSpPr txBox="1"/>
          <p:nvPr/>
        </p:nvSpPr>
        <p:spPr>
          <a:xfrm>
            <a:off x="4047831" y="3719477"/>
            <a:ext cx="82404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0.78</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0" name="文字方塊 22">
            <a:extLst>
              <a:ext uri="{FF2B5EF4-FFF2-40B4-BE49-F238E27FC236}">
                <a16:creationId xmlns:a16="http://schemas.microsoft.com/office/drawing/2014/main" id="{78B5AF3A-30EA-4BBA-967D-F273D77953FA}"/>
              </a:ext>
            </a:extLst>
          </p:cNvPr>
          <p:cNvSpPr txBox="1"/>
          <p:nvPr/>
        </p:nvSpPr>
        <p:spPr>
          <a:xfrm>
            <a:off x="4509078" y="3408143"/>
            <a:ext cx="820748"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1" name="文字方塊 23">
            <a:extLst>
              <a:ext uri="{FF2B5EF4-FFF2-40B4-BE49-F238E27FC236}">
                <a16:creationId xmlns:a16="http://schemas.microsoft.com/office/drawing/2014/main" id="{4BD03F77-A616-4775-AE52-240C42F10BBE}"/>
              </a:ext>
            </a:extLst>
          </p:cNvPr>
          <p:cNvSpPr txBox="1"/>
          <p:nvPr/>
        </p:nvSpPr>
        <p:spPr>
          <a:xfrm>
            <a:off x="2373721" y="4258317"/>
            <a:ext cx="744407"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2" name="文字方塊 24">
            <a:extLst>
              <a:ext uri="{FF2B5EF4-FFF2-40B4-BE49-F238E27FC236}">
                <a16:creationId xmlns:a16="http://schemas.microsoft.com/office/drawing/2014/main" id="{C3AEC148-0094-41E0-92E9-0B86565BC1FE}"/>
              </a:ext>
            </a:extLst>
          </p:cNvPr>
          <p:cNvSpPr txBox="1"/>
          <p:nvPr/>
        </p:nvSpPr>
        <p:spPr>
          <a:xfrm>
            <a:off x="2341337" y="5055295"/>
            <a:ext cx="842459"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3" name="文字方塊 25">
            <a:extLst>
              <a:ext uri="{FF2B5EF4-FFF2-40B4-BE49-F238E27FC236}">
                <a16:creationId xmlns:a16="http://schemas.microsoft.com/office/drawing/2014/main" id="{502FB283-847C-43C8-A197-10A6DAC69893}"/>
              </a:ext>
            </a:extLst>
          </p:cNvPr>
          <p:cNvSpPr txBox="1"/>
          <p:nvPr/>
        </p:nvSpPr>
        <p:spPr>
          <a:xfrm>
            <a:off x="3183796" y="5323059"/>
            <a:ext cx="79146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4" name="文字方塊 26">
            <a:extLst>
              <a:ext uri="{FF2B5EF4-FFF2-40B4-BE49-F238E27FC236}">
                <a16:creationId xmlns:a16="http://schemas.microsoft.com/office/drawing/2014/main" id="{DDABFA9C-264D-4BDE-A195-0D47896D3452}"/>
              </a:ext>
            </a:extLst>
          </p:cNvPr>
          <p:cNvSpPr txBox="1"/>
          <p:nvPr/>
        </p:nvSpPr>
        <p:spPr>
          <a:xfrm>
            <a:off x="4498201" y="5032239"/>
            <a:ext cx="807132"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Calibri" panose="020F0502020204030204"/>
                <a:ea typeface="新細明體"/>
                <a:cs typeface="+mn-cs"/>
              </a:rPr>
              <a:t>0.33</a:t>
            </a:r>
            <a:endParaRPr kumimoji="0" lang="zh-TW" altLang="en-US" sz="1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5" name="文字方塊 27">
            <a:extLst>
              <a:ext uri="{FF2B5EF4-FFF2-40B4-BE49-F238E27FC236}">
                <a16:creationId xmlns:a16="http://schemas.microsoft.com/office/drawing/2014/main" id="{8C6D62E8-099E-48EE-96A9-1243996B4CEC}"/>
              </a:ext>
            </a:extLst>
          </p:cNvPr>
          <p:cNvSpPr txBox="1"/>
          <p:nvPr/>
        </p:nvSpPr>
        <p:spPr>
          <a:xfrm>
            <a:off x="3917485" y="4473529"/>
            <a:ext cx="820789"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6" name="文字方塊 28">
            <a:extLst>
              <a:ext uri="{FF2B5EF4-FFF2-40B4-BE49-F238E27FC236}">
                <a16:creationId xmlns:a16="http://schemas.microsoft.com/office/drawing/2014/main" id="{AB75947A-183F-4AC8-912B-F8252AF24208}"/>
              </a:ext>
            </a:extLst>
          </p:cNvPr>
          <p:cNvSpPr txBox="1"/>
          <p:nvPr/>
        </p:nvSpPr>
        <p:spPr>
          <a:xfrm>
            <a:off x="3255148" y="4419482"/>
            <a:ext cx="734907"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1.26</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37" name="文字方塊 29">
            <a:extLst>
              <a:ext uri="{FF2B5EF4-FFF2-40B4-BE49-F238E27FC236}">
                <a16:creationId xmlns:a16="http://schemas.microsoft.com/office/drawing/2014/main" id="{7381EB37-40F6-4DC5-AD5E-98E442D5EB61}"/>
              </a:ext>
            </a:extLst>
          </p:cNvPr>
          <p:cNvSpPr txBox="1"/>
          <p:nvPr/>
        </p:nvSpPr>
        <p:spPr>
          <a:xfrm>
            <a:off x="4513419" y="3704759"/>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38" name="文字方塊 30">
            <a:extLst>
              <a:ext uri="{FF2B5EF4-FFF2-40B4-BE49-F238E27FC236}">
                <a16:creationId xmlns:a16="http://schemas.microsoft.com/office/drawing/2014/main" id="{44191A19-5C18-4949-92E0-6DBE6D8CCE4C}"/>
              </a:ext>
            </a:extLst>
          </p:cNvPr>
          <p:cNvSpPr txBox="1"/>
          <p:nvPr/>
        </p:nvSpPr>
        <p:spPr>
          <a:xfrm>
            <a:off x="3390419" y="3479619"/>
            <a:ext cx="624115"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39" name="文字方塊 31">
                <a:extLst>
                  <a:ext uri="{FF2B5EF4-FFF2-40B4-BE49-F238E27FC236}">
                    <a16:creationId xmlns:a16="http://schemas.microsoft.com/office/drawing/2014/main" id="{313B18AE-F9B3-48AE-B3C9-6E0415A47712}"/>
                  </a:ext>
                </a:extLst>
              </p:cNvPr>
              <p:cNvSpPr txBox="1"/>
              <p:nvPr/>
            </p:nvSpPr>
            <p:spPr>
              <a:xfrm>
                <a:off x="5555382" y="4497452"/>
                <a:ext cx="155268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𝜀</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=0.13</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39" name="文字方塊 31">
                <a:extLst>
                  <a:ext uri="{FF2B5EF4-FFF2-40B4-BE49-F238E27FC236}">
                    <a16:creationId xmlns:a16="http://schemas.microsoft.com/office/drawing/2014/main" id="{313B18AE-F9B3-48AE-B3C9-6E0415A47712}"/>
                  </a:ext>
                </a:extLst>
              </p:cNvPr>
              <p:cNvSpPr txBox="1">
                <a:spLocks noRot="1" noChangeAspect="1" noMove="1" noResize="1" noEditPoints="1" noAdjustHandles="1" noChangeArrowheads="1" noChangeShapeType="1" noTextEdit="1"/>
              </p:cNvSpPr>
              <p:nvPr/>
            </p:nvSpPr>
            <p:spPr>
              <a:xfrm>
                <a:off x="5555382" y="4497452"/>
                <a:ext cx="1552687" cy="46166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字方塊 33">
                <a:extLst>
                  <a:ext uri="{FF2B5EF4-FFF2-40B4-BE49-F238E27FC236}">
                    <a16:creationId xmlns:a16="http://schemas.microsoft.com/office/drawing/2014/main" id="{917C52C0-3ED4-4C6C-AC5A-D677EF42E72D}"/>
                  </a:ext>
                </a:extLst>
              </p:cNvPr>
              <p:cNvSpPr txBox="1"/>
              <p:nvPr/>
            </p:nvSpPr>
            <p:spPr>
              <a:xfrm>
                <a:off x="5562810" y="5027081"/>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𝑑</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=2.59</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0" name="文字方塊 33">
                <a:extLst>
                  <a:ext uri="{FF2B5EF4-FFF2-40B4-BE49-F238E27FC236}">
                    <a16:creationId xmlns:a16="http://schemas.microsoft.com/office/drawing/2014/main" id="{917C52C0-3ED4-4C6C-AC5A-D677EF42E72D}"/>
                  </a:ext>
                </a:extLst>
              </p:cNvPr>
              <p:cNvSpPr txBox="1">
                <a:spLocks noRot="1" noChangeAspect="1" noMove="1" noResize="1" noEditPoints="1" noAdjustHandles="1" noChangeArrowheads="1" noChangeShapeType="1" noTextEdit="1"/>
              </p:cNvSpPr>
              <p:nvPr/>
            </p:nvSpPr>
            <p:spPr>
              <a:xfrm>
                <a:off x="5562810" y="5027081"/>
                <a:ext cx="1490501" cy="461665"/>
              </a:xfrm>
              <a:prstGeom prst="rect">
                <a:avLst/>
              </a:prstGeom>
              <a:blipFill>
                <a:blip r:embed="rId10"/>
                <a:stretch>
                  <a:fillRect l="-410" r="-820" b="-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字方塊 34">
                <a:extLst>
                  <a:ext uri="{FF2B5EF4-FFF2-40B4-BE49-F238E27FC236}">
                    <a16:creationId xmlns:a16="http://schemas.microsoft.com/office/drawing/2014/main" id="{924A0B7E-AC84-4A64-A626-382022BA642E}"/>
                  </a:ext>
                </a:extLst>
              </p:cNvPr>
              <p:cNvSpPr txBox="1"/>
              <p:nvPr/>
            </p:nvSpPr>
            <p:spPr>
              <a:xfrm>
                <a:off x="5569897" y="5521558"/>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=0.95</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1" name="文字方塊 34">
                <a:extLst>
                  <a:ext uri="{FF2B5EF4-FFF2-40B4-BE49-F238E27FC236}">
                    <a16:creationId xmlns:a16="http://schemas.microsoft.com/office/drawing/2014/main" id="{924A0B7E-AC84-4A64-A626-382022BA642E}"/>
                  </a:ext>
                </a:extLst>
              </p:cNvPr>
              <p:cNvSpPr txBox="1">
                <a:spLocks noRot="1" noChangeAspect="1" noMove="1" noResize="1" noEditPoints="1" noAdjustHandles="1" noChangeArrowheads="1" noChangeShapeType="1" noTextEdit="1"/>
              </p:cNvSpPr>
              <p:nvPr/>
            </p:nvSpPr>
            <p:spPr>
              <a:xfrm>
                <a:off x="5569897" y="5521558"/>
                <a:ext cx="1490501" cy="461665"/>
              </a:xfrm>
              <a:prstGeom prst="rect">
                <a:avLst/>
              </a:prstGeom>
              <a:blipFill>
                <a:blip r:embed="rId11"/>
                <a:stretch>
                  <a:fillRect r="-1230" b="-1333"/>
                </a:stretch>
              </a:blipFill>
            </p:spPr>
            <p:txBody>
              <a:bodyPr/>
              <a:lstStyle/>
              <a:p>
                <a:r>
                  <a:rPr lang="zh-CN" altLang="en-US">
                    <a:noFill/>
                  </a:rPr>
                  <a:t> </a:t>
                </a:r>
              </a:p>
            </p:txBody>
          </p:sp>
        </mc:Fallback>
      </mc:AlternateContent>
      <p:cxnSp>
        <p:nvCxnSpPr>
          <p:cNvPr id="42" name="直線接點 35">
            <a:extLst>
              <a:ext uri="{FF2B5EF4-FFF2-40B4-BE49-F238E27FC236}">
                <a16:creationId xmlns:a16="http://schemas.microsoft.com/office/drawing/2014/main" id="{308B9A39-DF45-4174-AF9B-DF2E84BA76D3}"/>
              </a:ext>
            </a:extLst>
          </p:cNvPr>
          <p:cNvCxnSpPr/>
          <p:nvPr/>
        </p:nvCxnSpPr>
        <p:spPr>
          <a:xfrm rot="5400000">
            <a:off x="3917484" y="2594008"/>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橢圓 38">
            <a:extLst>
              <a:ext uri="{FF2B5EF4-FFF2-40B4-BE49-F238E27FC236}">
                <a16:creationId xmlns:a16="http://schemas.microsoft.com/office/drawing/2014/main" id="{A2A13ED3-A103-44C4-89AA-B7D477A86E14}"/>
              </a:ext>
            </a:extLst>
          </p:cNvPr>
          <p:cNvSpPr/>
          <p:nvPr/>
        </p:nvSpPr>
        <p:spPr>
          <a:xfrm>
            <a:off x="2492205" y="4226123"/>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4" name="橢圓 39">
            <a:extLst>
              <a:ext uri="{FF2B5EF4-FFF2-40B4-BE49-F238E27FC236}">
                <a16:creationId xmlns:a16="http://schemas.microsoft.com/office/drawing/2014/main" id="{C2A18ABF-0513-4191-821D-36EB614E8A2B}"/>
              </a:ext>
            </a:extLst>
          </p:cNvPr>
          <p:cNvSpPr/>
          <p:nvPr/>
        </p:nvSpPr>
        <p:spPr>
          <a:xfrm>
            <a:off x="4694198" y="3402291"/>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45" name="橢圓 40">
            <a:extLst>
              <a:ext uri="{FF2B5EF4-FFF2-40B4-BE49-F238E27FC236}">
                <a16:creationId xmlns:a16="http://schemas.microsoft.com/office/drawing/2014/main" id="{A4B1F742-DD1C-4B44-9C6B-C9757C3AFAC9}"/>
              </a:ext>
            </a:extLst>
          </p:cNvPr>
          <p:cNvSpPr/>
          <p:nvPr/>
        </p:nvSpPr>
        <p:spPr>
          <a:xfrm>
            <a:off x="2492205" y="5020789"/>
            <a:ext cx="628650" cy="3751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46" name="文字方塊 41">
                <a:extLst>
                  <a:ext uri="{FF2B5EF4-FFF2-40B4-BE49-F238E27FC236}">
                    <a16:creationId xmlns:a16="http://schemas.microsoft.com/office/drawing/2014/main" id="{255CDF0B-B524-49C9-8B75-282C13AC71C5}"/>
                  </a:ext>
                </a:extLst>
              </p:cNvPr>
              <p:cNvSpPr txBox="1"/>
              <p:nvPr/>
            </p:nvSpPr>
            <p:spPr>
              <a:xfrm>
                <a:off x="1514725" y="3885599"/>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6" name="文字方塊 41">
                <a:extLst>
                  <a:ext uri="{FF2B5EF4-FFF2-40B4-BE49-F238E27FC236}">
                    <a16:creationId xmlns:a16="http://schemas.microsoft.com/office/drawing/2014/main" id="{255CDF0B-B524-49C9-8B75-282C13AC71C5}"/>
                  </a:ext>
                </a:extLst>
              </p:cNvPr>
              <p:cNvSpPr txBox="1">
                <a:spLocks noRot="1" noChangeAspect="1" noMove="1" noResize="1" noEditPoints="1" noAdjustHandles="1" noChangeArrowheads="1" noChangeShapeType="1" noTextEdit="1"/>
              </p:cNvSpPr>
              <p:nvPr/>
            </p:nvSpPr>
            <p:spPr>
              <a:xfrm>
                <a:off x="1514725" y="3885599"/>
                <a:ext cx="944294" cy="461665"/>
              </a:xfrm>
              <a:prstGeom prst="rect">
                <a:avLst/>
              </a:prstGeom>
              <a:blipFill>
                <a:blip r:embed="rId12"/>
                <a:stretch>
                  <a:fillRect l="-1333" b="-1578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7" name="文字方塊 43">
                <a:extLst>
                  <a:ext uri="{FF2B5EF4-FFF2-40B4-BE49-F238E27FC236}">
                    <a16:creationId xmlns:a16="http://schemas.microsoft.com/office/drawing/2014/main" id="{DB881563-86A8-4BBA-B7E1-A5F75CEBBDD5}"/>
                  </a:ext>
                </a:extLst>
              </p:cNvPr>
              <p:cNvSpPr txBox="1"/>
              <p:nvPr/>
            </p:nvSpPr>
            <p:spPr>
              <a:xfrm>
                <a:off x="7359169" y="3848274"/>
                <a:ext cx="149050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𝛼</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=0.95</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7" name="文字方塊 43">
                <a:extLst>
                  <a:ext uri="{FF2B5EF4-FFF2-40B4-BE49-F238E27FC236}">
                    <a16:creationId xmlns:a16="http://schemas.microsoft.com/office/drawing/2014/main" id="{DB881563-86A8-4BBA-B7E1-A5F75CEBBDD5}"/>
                  </a:ext>
                </a:extLst>
              </p:cNvPr>
              <p:cNvSpPr txBox="1">
                <a:spLocks noRot="1" noChangeAspect="1" noMove="1" noResize="1" noEditPoints="1" noAdjustHandles="1" noChangeArrowheads="1" noChangeShapeType="1" noTextEdit="1"/>
              </p:cNvSpPr>
              <p:nvPr/>
            </p:nvSpPr>
            <p:spPr>
              <a:xfrm>
                <a:off x="7359169" y="3848274"/>
                <a:ext cx="1490501" cy="461665"/>
              </a:xfrm>
              <a:prstGeom prst="rect">
                <a:avLst/>
              </a:prstGeom>
              <a:blipFill>
                <a:blip r:embed="rId13"/>
                <a:stretch>
                  <a:fillRect r="-1224"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44">
                <a:extLst>
                  <a:ext uri="{FF2B5EF4-FFF2-40B4-BE49-F238E27FC236}">
                    <a16:creationId xmlns:a16="http://schemas.microsoft.com/office/drawing/2014/main" id="{44D6ECCA-8794-4233-9299-219EEA72D2E8}"/>
                  </a:ext>
                </a:extLst>
              </p:cNvPr>
              <p:cNvSpPr txBox="1"/>
              <p:nvPr/>
            </p:nvSpPr>
            <p:spPr>
              <a:xfrm>
                <a:off x="7784866" y="3267796"/>
                <a:ext cx="9442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e>
                      <m:sub>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sub>
                    </m:sSub>
                    <m:d>
                      <m:dPr>
                        <m:ctrlP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𝑥</m:t>
                        </m:r>
                      </m:e>
                    </m:d>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48" name="文字方塊 44">
                <a:extLst>
                  <a:ext uri="{FF2B5EF4-FFF2-40B4-BE49-F238E27FC236}">
                    <a16:creationId xmlns:a16="http://schemas.microsoft.com/office/drawing/2014/main" id="{44D6ECCA-8794-4233-9299-219EEA72D2E8}"/>
                  </a:ext>
                </a:extLst>
              </p:cNvPr>
              <p:cNvSpPr txBox="1">
                <a:spLocks noRot="1" noChangeAspect="1" noMove="1" noResize="1" noEditPoints="1" noAdjustHandles="1" noChangeArrowheads="1" noChangeShapeType="1" noTextEdit="1"/>
              </p:cNvSpPr>
              <p:nvPr/>
            </p:nvSpPr>
            <p:spPr>
              <a:xfrm>
                <a:off x="7784866" y="3267796"/>
                <a:ext cx="944294" cy="461665"/>
              </a:xfrm>
              <a:prstGeom prst="rect">
                <a:avLst/>
              </a:prstGeom>
              <a:blipFill>
                <a:blip r:embed="rId14"/>
                <a:stretch>
                  <a:fillRect l="-3947" t="-8108" r="-18421" b="-29730"/>
                </a:stretch>
              </a:blipFill>
            </p:spPr>
            <p:txBody>
              <a:bodyPr/>
              <a:lstStyle/>
              <a:p>
                <a:r>
                  <a:rPr lang="en-CN">
                    <a:noFill/>
                  </a:rPr>
                  <a:t> </a:t>
                </a:r>
              </a:p>
            </p:txBody>
          </p:sp>
        </mc:Fallback>
      </mc:AlternateContent>
      <p:pic>
        <p:nvPicPr>
          <p:cNvPr id="49" name="圖片 46">
            <a:extLst>
              <a:ext uri="{FF2B5EF4-FFF2-40B4-BE49-F238E27FC236}">
                <a16:creationId xmlns:a16="http://schemas.microsoft.com/office/drawing/2014/main" id="{E9071741-908B-47E9-9A69-A0E07F8FE7A6}"/>
              </a:ext>
            </a:extLst>
          </p:cNvPr>
          <p:cNvPicPr>
            <a:picLocks noChangeAspect="1"/>
          </p:cNvPicPr>
          <p:nvPr/>
        </p:nvPicPr>
        <p:blipFill>
          <a:blip r:embed="rId15"/>
          <a:stretch>
            <a:fillRect/>
          </a:stretch>
        </p:blipFill>
        <p:spPr>
          <a:xfrm>
            <a:off x="8999033" y="3152865"/>
            <a:ext cx="1298156" cy="1290118"/>
          </a:xfrm>
          <a:prstGeom prst="rect">
            <a:avLst/>
          </a:prstGeom>
        </p:spPr>
      </p:pic>
      <p:sp>
        <p:nvSpPr>
          <p:cNvPr id="54" name="文本框 53">
            <a:extLst>
              <a:ext uri="{FF2B5EF4-FFF2-40B4-BE49-F238E27FC236}">
                <a16:creationId xmlns:a16="http://schemas.microsoft.com/office/drawing/2014/main" id="{9D1D8BF3-6713-4A07-84A1-D55B38258265}"/>
              </a:ext>
            </a:extLst>
          </p:cNvPr>
          <p:cNvSpPr txBox="1"/>
          <p:nvPr/>
        </p:nvSpPr>
        <p:spPr>
          <a:xfrm>
            <a:off x="9117411" y="280331"/>
            <a:ext cx="2723823" cy="369332"/>
          </a:xfrm>
          <a:prstGeom prst="rect">
            <a:avLst/>
          </a:prstGeom>
          <a:noFill/>
        </p:spPr>
        <p:txBody>
          <a:bodyPr wrap="none" rtlCol="0">
            <a:spAutoFit/>
          </a:bodyPr>
          <a:lstStyle/>
          <a:p>
            <a:r>
              <a:rPr lang="zh-CN" altLang="en-US" dirty="0">
                <a:solidFill>
                  <a:srgbClr val="FF0000"/>
                </a:solidFill>
              </a:rPr>
              <a:t>采用标准的权值更新规则</a:t>
            </a:r>
          </a:p>
        </p:txBody>
      </p:sp>
      <p:sp>
        <p:nvSpPr>
          <p:cNvPr id="5" name="文本占位符 1">
            <a:extLst>
              <a:ext uri="{FF2B5EF4-FFF2-40B4-BE49-F238E27FC236}">
                <a16:creationId xmlns:a16="http://schemas.microsoft.com/office/drawing/2014/main" id="{E9F8AF6D-004B-BED2-A540-38E5BCDEF583}"/>
              </a:ext>
            </a:extLst>
          </p:cNvPr>
          <p:cNvSpPr>
            <a:spLocks noGrp="1"/>
          </p:cNvSpPr>
          <p:nvPr>
            <p:ph type="body" sz="quarter" idx="12"/>
          </p:nvPr>
        </p:nvSpPr>
        <p:spPr>
          <a:xfrm>
            <a:off x="566962" y="265803"/>
            <a:ext cx="4836888" cy="426497"/>
          </a:xfrm>
        </p:spPr>
        <p:txBody>
          <a:bodyPr/>
          <a:lstStyle/>
          <a:p>
            <a:pPr marL="0" indent="0">
              <a:buNone/>
            </a:pPr>
            <a:r>
              <a:rPr lang="en-US" altLang="zh-CN" sz="3200" dirty="0"/>
              <a:t>AdaBoost</a:t>
            </a:r>
            <a:r>
              <a:rPr lang="zh-CN" altLang="en-US" sz="3200" dirty="0"/>
              <a:t>计算实例</a:t>
            </a:r>
          </a:p>
        </p:txBody>
      </p:sp>
      <p:sp>
        <p:nvSpPr>
          <p:cNvPr id="6" name="TextBox 5">
            <a:extLst>
              <a:ext uri="{FF2B5EF4-FFF2-40B4-BE49-F238E27FC236}">
                <a16:creationId xmlns:a16="http://schemas.microsoft.com/office/drawing/2014/main" id="{A58BBD75-D3E6-4CED-2E17-641B40DF5C07}"/>
              </a:ext>
            </a:extLst>
          </p:cNvPr>
          <p:cNvSpPr txBox="1"/>
          <p:nvPr/>
        </p:nvSpPr>
        <p:spPr>
          <a:xfrm>
            <a:off x="662970" y="1061597"/>
            <a:ext cx="6098458" cy="523220"/>
          </a:xfrm>
          <a:prstGeom prst="rect">
            <a:avLst/>
          </a:prstGeom>
          <a:noFill/>
        </p:spPr>
        <p:txBody>
          <a:bodyPr wrap="square">
            <a:spAutoFit/>
          </a:bodyPr>
          <a:lstStyle/>
          <a:p>
            <a:pPr marL="285750" indent="-285750">
              <a:buFont typeface="Wingdings" pitchFamily="2" charset="2"/>
              <a:buChar char="Ø"/>
            </a:pPr>
            <a:r>
              <a:rPr lang="zh-CN" altLang="en-US" sz="2800" dirty="0">
                <a:latin typeface="+mn-ea"/>
              </a:rPr>
              <a:t>例</a:t>
            </a:r>
            <a:endParaRPr lang="en-CN" sz="2800" dirty="0"/>
          </a:p>
        </p:txBody>
      </p:sp>
      <p:sp>
        <p:nvSpPr>
          <p:cNvPr id="2" name="灯片编号占位符 1">
            <a:extLst>
              <a:ext uri="{FF2B5EF4-FFF2-40B4-BE49-F238E27FC236}">
                <a16:creationId xmlns:a16="http://schemas.microsoft.com/office/drawing/2014/main" id="{F36D327C-0768-4957-A55C-7B8F1D9DDABB}"/>
              </a:ext>
            </a:extLst>
          </p:cNvPr>
          <p:cNvSpPr>
            <a:spLocks noGrp="1"/>
          </p:cNvSpPr>
          <p:nvPr>
            <p:ph type="sldNum" sz="quarter" idx="14"/>
          </p:nvPr>
        </p:nvSpPr>
        <p:spPr/>
        <p:txBody>
          <a:bodyPr/>
          <a:lstStyle/>
          <a:p>
            <a:fld id="{AF69888C-E133-43D9-A638-B5C95925B91C}" type="slidenum">
              <a:rPr lang="zh-CN" altLang="en-US" smtClean="0"/>
              <a:t>38</a:t>
            </a:fld>
            <a:endParaRPr lang="zh-CN" altLang="en-US" dirty="0"/>
          </a:p>
        </p:txBody>
      </p:sp>
    </p:spTree>
    <p:extLst>
      <p:ext uri="{BB962C8B-B14F-4D97-AF65-F5344CB8AC3E}">
        <p14:creationId xmlns:p14="http://schemas.microsoft.com/office/powerpoint/2010/main" val="442502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5" grpId="0"/>
      <p:bldP spid="16" grpId="0"/>
      <p:bldP spid="39" grpId="0"/>
      <p:bldP spid="40" grpId="0"/>
      <p:bldP spid="41" grpId="0"/>
      <p:bldP spid="43" grpId="0" animBg="1"/>
      <p:bldP spid="44" grpId="0" animBg="1"/>
      <p:bldP spid="45" grpId="0" animBg="1"/>
      <p:bldP spid="46" grpId="0"/>
      <p:bldP spid="47" grpId="0"/>
      <p:bldP spid="4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1EBD056-4356-4842-961D-EE16F329770A}"/>
              </a:ext>
            </a:extLst>
          </p:cNvPr>
          <p:cNvSpPr/>
          <p:nvPr/>
        </p:nvSpPr>
        <p:spPr>
          <a:xfrm>
            <a:off x="1770686" y="2941018"/>
            <a:ext cx="898789" cy="12002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8" name="矩形 7">
            <a:extLst>
              <a:ext uri="{FF2B5EF4-FFF2-40B4-BE49-F238E27FC236}">
                <a16:creationId xmlns:a16="http://schemas.microsoft.com/office/drawing/2014/main" id="{9C0A7BC4-0683-4864-80F8-7D6F8D6515D1}"/>
              </a:ext>
            </a:extLst>
          </p:cNvPr>
          <p:cNvSpPr/>
          <p:nvPr/>
        </p:nvSpPr>
        <p:spPr>
          <a:xfrm>
            <a:off x="2752608" y="4206557"/>
            <a:ext cx="1615522" cy="1788750"/>
          </a:xfrm>
          <a:prstGeom prst="rect">
            <a:avLst/>
          </a:prstGeom>
          <a:solidFill>
            <a:srgbClr val="FFE9EA"/>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9" name="矩形 8">
            <a:extLst>
              <a:ext uri="{FF2B5EF4-FFF2-40B4-BE49-F238E27FC236}">
                <a16:creationId xmlns:a16="http://schemas.microsoft.com/office/drawing/2014/main" id="{20E1A5D0-EAFB-4148-9975-80AE1C9E86C4}"/>
              </a:ext>
            </a:extLst>
          </p:cNvPr>
          <p:cNvSpPr/>
          <p:nvPr/>
        </p:nvSpPr>
        <p:spPr>
          <a:xfrm>
            <a:off x="4456539" y="4165425"/>
            <a:ext cx="380944" cy="1817783"/>
          </a:xfrm>
          <a:prstGeom prst="rect">
            <a:avLst/>
          </a:prstGeom>
          <a:solidFill>
            <a:srgbClr val="FFE9EA"/>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10" name="矩形 9">
            <a:extLst>
              <a:ext uri="{FF2B5EF4-FFF2-40B4-BE49-F238E27FC236}">
                <a16:creationId xmlns:a16="http://schemas.microsoft.com/office/drawing/2014/main" id="{71905D64-FB37-4274-BDA7-3DB7F1DC956E}"/>
              </a:ext>
            </a:extLst>
          </p:cNvPr>
          <p:cNvSpPr/>
          <p:nvPr/>
        </p:nvSpPr>
        <p:spPr>
          <a:xfrm>
            <a:off x="2736792" y="2921325"/>
            <a:ext cx="1626585" cy="12002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11" name="內容版面配置區 2">
                <a:extLst>
                  <a:ext uri="{FF2B5EF4-FFF2-40B4-BE49-F238E27FC236}">
                    <a16:creationId xmlns:a16="http://schemas.microsoft.com/office/drawing/2014/main" id="{75185F4D-1222-4FF0-86C0-AFCAECE7F8AE}"/>
                  </a:ext>
                </a:extLst>
              </p:cNvPr>
              <p:cNvSpPr txBox="1">
                <a:spLocks/>
              </p:cNvSpPr>
              <p:nvPr/>
            </p:nvSpPr>
            <p:spPr>
              <a:xfrm>
                <a:off x="1809485" y="793168"/>
                <a:ext cx="7994108" cy="61452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最终的分类器</a:t>
                </a:r>
                <a:r>
                  <a:rPr lang="en-US" altLang="zh-TW" dirty="0"/>
                  <a:t>: </a:t>
                </a:r>
                <a14:m>
                  <m:oMath xmlns:m="http://schemas.openxmlformats.org/officeDocument/2006/math">
                    <m:r>
                      <a:rPr lang="en-US" altLang="zh-TW" i="1">
                        <a:latin typeface="Cambria Math" panose="02040503050406030204" pitchFamily="18" charset="0"/>
                      </a:rPr>
                      <m:t>𝐻</m:t>
                    </m:r>
                    <m:d>
                      <m:dPr>
                        <m:ctrlPr>
                          <a:rPr lang="en-US" altLang="zh-TW" i="1">
                            <a:latin typeface="Cambria Math" panose="02040503050406030204" pitchFamily="18" charset="0"/>
                          </a:rPr>
                        </m:ctrlPr>
                      </m:dPr>
                      <m:e>
                        <m:r>
                          <a:rPr lang="en-US" altLang="zh-TW" i="1">
                            <a:latin typeface="Cambria Math" panose="02040503050406030204" pitchFamily="18" charset="0"/>
                          </a:rPr>
                          <m:t>𝑥</m:t>
                        </m:r>
                      </m:e>
                    </m:d>
                    <m:r>
                      <a:rPr lang="en-US" altLang="zh-TW" i="1">
                        <a:latin typeface="Cambria Math" panose="02040503050406030204" pitchFamily="18" charset="0"/>
                      </a:rPr>
                      <m:t>=</m:t>
                    </m:r>
                    <m:r>
                      <a:rPr lang="en-US" altLang="zh-TW" i="1">
                        <a:latin typeface="Cambria Math" panose="02040503050406030204" pitchFamily="18" charset="0"/>
                      </a:rPr>
                      <m:t>𝑠𝑖𝑔𝑛</m:t>
                    </m:r>
                    <m:d>
                      <m:dPr>
                        <m:ctrlPr>
                          <a:rPr lang="en-US" altLang="zh-TW" i="1">
                            <a:latin typeface="Cambria Math" panose="02040503050406030204" pitchFamily="18" charset="0"/>
                          </a:rPr>
                        </m:ctrlPr>
                      </m:dPr>
                      <m:e>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𝑡</m:t>
                            </m:r>
                            <m:r>
                              <a:rPr lang="en-US" altLang="zh-TW" i="1">
                                <a:latin typeface="Cambria Math" panose="02040503050406030204" pitchFamily="18" charset="0"/>
                              </a:rPr>
                              <m:t>=1</m:t>
                            </m:r>
                          </m:sub>
                          <m:sup>
                            <m:r>
                              <a:rPr lang="en-US" altLang="zh-TW" i="1">
                                <a:latin typeface="Cambria Math" panose="02040503050406030204" pitchFamily="18" charset="0"/>
                              </a:rPr>
                              <m:t>𝑇</m:t>
                            </m:r>
                          </m:sup>
                          <m:e>
                            <m:sSub>
                              <m:sSubPr>
                                <m:ctrlPr>
                                  <a:rPr lang="en-US" altLang="zh-TW" i="1">
                                    <a:latin typeface="Cambria Math" panose="02040503050406030204" pitchFamily="18" charset="0"/>
                                  </a:rPr>
                                </m:ctrlPr>
                              </m:sSubPr>
                              <m:e>
                                <m:r>
                                  <a:rPr lang="zh-TW" altLang="en-US" i="1">
                                    <a:latin typeface="Cambria Math" panose="02040503050406030204" pitchFamily="18" charset="0"/>
                                  </a:rPr>
                                  <m:t>𝛼</m:t>
                                </m:r>
                              </m:e>
                              <m:sub>
                                <m:r>
                                  <a:rPr lang="en-US" altLang="zh-TW" i="1">
                                    <a:latin typeface="Cambria Math" panose="02040503050406030204" pitchFamily="18" charset="0"/>
                                  </a:rPr>
                                  <m:t>𝑡</m:t>
                                </m:r>
                              </m:sub>
                            </m:sSub>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𝑓</m:t>
                                </m:r>
                              </m:e>
                              <m:sub>
                                <m:r>
                                  <a:rPr lang="en-US" altLang="zh-TW" i="1">
                                    <a:latin typeface="Cambria Math" panose="02040503050406030204" pitchFamily="18" charset="0"/>
                                  </a:rPr>
                                  <m:t>𝑡</m:t>
                                </m:r>
                              </m:sub>
                            </m:sSub>
                            <m:d>
                              <m:dPr>
                                <m:ctrlPr>
                                  <a:rPr lang="en-US" altLang="zh-TW" i="1">
                                    <a:latin typeface="Cambria Math" panose="02040503050406030204" pitchFamily="18" charset="0"/>
                                  </a:rPr>
                                </m:ctrlPr>
                              </m:dPr>
                              <m:e>
                                <m:r>
                                  <a:rPr lang="en-US" altLang="zh-TW" i="1">
                                    <a:latin typeface="Cambria Math" panose="02040503050406030204" pitchFamily="18" charset="0"/>
                                  </a:rPr>
                                  <m:t>𝑥</m:t>
                                </m:r>
                              </m:e>
                            </m:d>
                          </m:e>
                        </m:nary>
                      </m:e>
                    </m:d>
                  </m:oMath>
                </a14:m>
                <a:endParaRPr lang="zh-TW" altLang="en-US" dirty="0"/>
              </a:p>
            </p:txBody>
          </p:sp>
        </mc:Choice>
        <mc:Fallback xmlns="">
          <p:sp>
            <p:nvSpPr>
              <p:cNvPr id="11" name="內容版面配置區 2">
                <a:extLst>
                  <a:ext uri="{FF2B5EF4-FFF2-40B4-BE49-F238E27FC236}">
                    <a16:creationId xmlns:a16="http://schemas.microsoft.com/office/drawing/2014/main" id="{75185F4D-1222-4FF0-86C0-AFCAECE7F8AE}"/>
                  </a:ext>
                </a:extLst>
              </p:cNvPr>
              <p:cNvSpPr txBox="1">
                <a:spLocks noRot="1" noChangeAspect="1" noMove="1" noResize="1" noEditPoints="1" noAdjustHandles="1" noChangeArrowheads="1" noChangeShapeType="1" noTextEdit="1"/>
              </p:cNvSpPr>
              <p:nvPr/>
            </p:nvSpPr>
            <p:spPr>
              <a:xfrm>
                <a:off x="1809485" y="793168"/>
                <a:ext cx="7994108" cy="614529"/>
              </a:xfrm>
              <a:prstGeom prst="rect">
                <a:avLst/>
              </a:prstGeom>
              <a:blipFill>
                <a:blip r:embed="rId2"/>
                <a:stretch>
                  <a:fillRect l="-1429" t="-114286" b="-14489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文字方塊 3">
                <a:extLst>
                  <a:ext uri="{FF2B5EF4-FFF2-40B4-BE49-F238E27FC236}">
                    <a16:creationId xmlns:a16="http://schemas.microsoft.com/office/drawing/2014/main" id="{9DD4927D-BF9B-4E0D-9965-97D468079123}"/>
                  </a:ext>
                </a:extLst>
              </p:cNvPr>
              <p:cNvSpPr txBox="1"/>
              <p:nvPr/>
            </p:nvSpPr>
            <p:spPr>
              <a:xfrm>
                <a:off x="2694542" y="1779748"/>
                <a:ext cx="86582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0.42</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2" name="文字方塊 3">
                <a:extLst>
                  <a:ext uri="{FF2B5EF4-FFF2-40B4-BE49-F238E27FC236}">
                    <a16:creationId xmlns:a16="http://schemas.microsoft.com/office/drawing/2014/main" id="{9DD4927D-BF9B-4E0D-9965-97D468079123}"/>
                  </a:ext>
                </a:extLst>
              </p:cNvPr>
              <p:cNvSpPr txBox="1">
                <a:spLocks noRot="1" noChangeAspect="1" noMove="1" noResize="1" noEditPoints="1" noAdjustHandles="1" noChangeArrowheads="1" noChangeShapeType="1" noTextEdit="1"/>
              </p:cNvSpPr>
              <p:nvPr/>
            </p:nvSpPr>
            <p:spPr>
              <a:xfrm>
                <a:off x="2694542" y="1779748"/>
                <a:ext cx="865827" cy="461665"/>
              </a:xfrm>
              <a:prstGeom prst="rect">
                <a:avLst/>
              </a:prstGeom>
              <a:blipFill>
                <a:blip r:embed="rId3"/>
                <a:stretch>
                  <a:fillRect/>
                </a:stretch>
              </a:blipFill>
            </p:spPr>
            <p:txBody>
              <a:bodyPr/>
              <a:lstStyle/>
              <a:p>
                <a:r>
                  <a:rPr lang="zh-CN" altLang="en-US">
                    <a:noFill/>
                  </a:rPr>
                  <a:t> </a:t>
                </a:r>
              </a:p>
            </p:txBody>
          </p:sp>
        </mc:Fallback>
      </mc:AlternateContent>
      <p:pic>
        <p:nvPicPr>
          <p:cNvPr id="13" name="圖片 4">
            <a:extLst>
              <a:ext uri="{FF2B5EF4-FFF2-40B4-BE49-F238E27FC236}">
                <a16:creationId xmlns:a16="http://schemas.microsoft.com/office/drawing/2014/main" id="{F93A149A-41CB-467E-AD83-BA5F4A1C74F1}"/>
              </a:ext>
            </a:extLst>
          </p:cNvPr>
          <p:cNvPicPr>
            <a:picLocks noChangeAspect="1"/>
          </p:cNvPicPr>
          <p:nvPr/>
        </p:nvPicPr>
        <p:blipFill>
          <a:blip r:embed="rId4"/>
          <a:stretch>
            <a:fillRect/>
          </a:stretch>
        </p:blipFill>
        <p:spPr>
          <a:xfrm>
            <a:off x="3560369" y="1401238"/>
            <a:ext cx="1250206" cy="1250206"/>
          </a:xfrm>
          <a:prstGeom prst="rect">
            <a:avLst/>
          </a:prstGeom>
        </p:spPr>
      </p:pic>
      <mc:AlternateContent xmlns:mc="http://schemas.openxmlformats.org/markup-compatibility/2006" xmlns:a14="http://schemas.microsoft.com/office/drawing/2010/main">
        <mc:Choice Requires="a14">
          <p:sp>
            <p:nvSpPr>
              <p:cNvPr id="14" name="文字方塊 5">
                <a:extLst>
                  <a:ext uri="{FF2B5EF4-FFF2-40B4-BE49-F238E27FC236}">
                    <a16:creationId xmlns:a16="http://schemas.microsoft.com/office/drawing/2014/main" id="{4E6F99C5-4E65-4EDC-ABCE-5DB9307858F1}"/>
                  </a:ext>
                </a:extLst>
              </p:cNvPr>
              <p:cNvSpPr txBox="1"/>
              <p:nvPr/>
            </p:nvSpPr>
            <p:spPr>
              <a:xfrm>
                <a:off x="5195452" y="1779747"/>
                <a:ext cx="78768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0.66</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4" name="文字方塊 5">
                <a:extLst>
                  <a:ext uri="{FF2B5EF4-FFF2-40B4-BE49-F238E27FC236}">
                    <a16:creationId xmlns:a16="http://schemas.microsoft.com/office/drawing/2014/main" id="{4E6F99C5-4E65-4EDC-ABCE-5DB9307858F1}"/>
                  </a:ext>
                </a:extLst>
              </p:cNvPr>
              <p:cNvSpPr txBox="1">
                <a:spLocks noRot="1" noChangeAspect="1" noMove="1" noResize="1" noEditPoints="1" noAdjustHandles="1" noChangeArrowheads="1" noChangeShapeType="1" noTextEdit="1"/>
              </p:cNvSpPr>
              <p:nvPr/>
            </p:nvSpPr>
            <p:spPr>
              <a:xfrm>
                <a:off x="5195452" y="1779747"/>
                <a:ext cx="787681" cy="461665"/>
              </a:xfrm>
              <a:prstGeom prst="rect">
                <a:avLst/>
              </a:prstGeom>
              <a:blipFill>
                <a:blip r:embed="rId5"/>
                <a:stretch>
                  <a:fillRect r="-7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字方塊 7">
                <a:extLst>
                  <a:ext uri="{FF2B5EF4-FFF2-40B4-BE49-F238E27FC236}">
                    <a16:creationId xmlns:a16="http://schemas.microsoft.com/office/drawing/2014/main" id="{96DD6521-CC99-4619-993A-64307B2F80AD}"/>
                  </a:ext>
                </a:extLst>
              </p:cNvPr>
              <p:cNvSpPr txBox="1"/>
              <p:nvPr/>
            </p:nvSpPr>
            <p:spPr>
              <a:xfrm>
                <a:off x="7668585" y="1779747"/>
                <a:ext cx="768832"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0.95</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5" name="文字方塊 7">
                <a:extLst>
                  <a:ext uri="{FF2B5EF4-FFF2-40B4-BE49-F238E27FC236}">
                    <a16:creationId xmlns:a16="http://schemas.microsoft.com/office/drawing/2014/main" id="{96DD6521-CC99-4619-993A-64307B2F80AD}"/>
                  </a:ext>
                </a:extLst>
              </p:cNvPr>
              <p:cNvSpPr txBox="1">
                <a:spLocks noRot="1" noChangeAspect="1" noMove="1" noResize="1" noEditPoints="1" noAdjustHandles="1" noChangeArrowheads="1" noChangeShapeType="1" noTextEdit="1"/>
              </p:cNvSpPr>
              <p:nvPr/>
            </p:nvSpPr>
            <p:spPr>
              <a:xfrm>
                <a:off x="7668585" y="1779747"/>
                <a:ext cx="768832" cy="461665"/>
              </a:xfrm>
              <a:prstGeom prst="rect">
                <a:avLst/>
              </a:prstGeom>
              <a:blipFill>
                <a:blip r:embed="rId6"/>
                <a:stretch>
                  <a:fillRect l="-794" r="-2381"/>
                </a:stretch>
              </a:blipFill>
            </p:spPr>
            <p:txBody>
              <a:bodyPr/>
              <a:lstStyle/>
              <a:p>
                <a:r>
                  <a:rPr lang="zh-CN" altLang="en-US">
                    <a:noFill/>
                  </a:rPr>
                  <a:t> </a:t>
                </a:r>
              </a:p>
            </p:txBody>
          </p:sp>
        </mc:Fallback>
      </mc:AlternateContent>
      <p:sp>
        <p:nvSpPr>
          <p:cNvPr id="16" name="文字方塊 9">
            <a:extLst>
              <a:ext uri="{FF2B5EF4-FFF2-40B4-BE49-F238E27FC236}">
                <a16:creationId xmlns:a16="http://schemas.microsoft.com/office/drawing/2014/main" id="{8A14FF6D-5024-431D-AE70-8E5F28E9D4C8}"/>
              </a:ext>
            </a:extLst>
          </p:cNvPr>
          <p:cNvSpPr txBox="1"/>
          <p:nvPr/>
        </p:nvSpPr>
        <p:spPr>
          <a:xfrm>
            <a:off x="4714500" y="1744775"/>
            <a:ext cx="72153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p:sp>
        <p:nvSpPr>
          <p:cNvPr id="17" name="文字方塊 10">
            <a:extLst>
              <a:ext uri="{FF2B5EF4-FFF2-40B4-BE49-F238E27FC236}">
                <a16:creationId xmlns:a16="http://schemas.microsoft.com/office/drawing/2014/main" id="{6B5A8D76-20DC-4F86-B791-66FF092641E0}"/>
              </a:ext>
            </a:extLst>
          </p:cNvPr>
          <p:cNvSpPr txBox="1"/>
          <p:nvPr/>
        </p:nvSpPr>
        <p:spPr>
          <a:xfrm>
            <a:off x="7155690" y="1752960"/>
            <a:ext cx="72153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AlternateContent xmlns:mc="http://schemas.openxmlformats.org/markup-compatibility/2006" xmlns:a14="http://schemas.microsoft.com/office/drawing/2010/main">
        <mc:Choice Requires="a14">
          <p:sp>
            <p:nvSpPr>
              <p:cNvPr id="18" name="文字方塊 11">
                <a:extLst>
                  <a:ext uri="{FF2B5EF4-FFF2-40B4-BE49-F238E27FC236}">
                    <a16:creationId xmlns:a16="http://schemas.microsoft.com/office/drawing/2014/main" id="{D6FE125E-63CD-4A5E-AB2B-78403A8E5B90}"/>
                  </a:ext>
                </a:extLst>
              </p:cNvPr>
              <p:cNvSpPr txBox="1"/>
              <p:nvPr/>
            </p:nvSpPr>
            <p:spPr>
              <a:xfrm>
                <a:off x="1809485" y="1779747"/>
                <a:ext cx="942309"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𝑠𝑖𝑔𝑛</m:t>
                      </m:r>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8" name="文字方塊 11">
                <a:extLst>
                  <a:ext uri="{FF2B5EF4-FFF2-40B4-BE49-F238E27FC236}">
                    <a16:creationId xmlns:a16="http://schemas.microsoft.com/office/drawing/2014/main" id="{D6FE125E-63CD-4A5E-AB2B-78403A8E5B90}"/>
                  </a:ext>
                </a:extLst>
              </p:cNvPr>
              <p:cNvSpPr txBox="1">
                <a:spLocks noRot="1" noChangeAspect="1" noMove="1" noResize="1" noEditPoints="1" noAdjustHandles="1" noChangeArrowheads="1" noChangeShapeType="1" noTextEdit="1"/>
              </p:cNvSpPr>
              <p:nvPr/>
            </p:nvSpPr>
            <p:spPr>
              <a:xfrm>
                <a:off x="1809485" y="1779747"/>
                <a:ext cx="942309"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字方塊 12">
                <a:extLst>
                  <a:ext uri="{FF2B5EF4-FFF2-40B4-BE49-F238E27FC236}">
                    <a16:creationId xmlns:a16="http://schemas.microsoft.com/office/drawing/2014/main" id="{D95F1E9E-58CB-45B6-8AE2-CDD8F8809304}"/>
                  </a:ext>
                </a:extLst>
              </p:cNvPr>
              <p:cNvSpPr txBox="1"/>
              <p:nvPr/>
            </p:nvSpPr>
            <p:spPr>
              <a:xfrm>
                <a:off x="9803593" y="1752961"/>
                <a:ext cx="230832"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a:cs typeface="+mn-cs"/>
                </a:endParaRPr>
              </a:p>
            </p:txBody>
          </p:sp>
        </mc:Choice>
        <mc:Fallback xmlns="">
          <p:sp>
            <p:nvSpPr>
              <p:cNvPr id="19" name="文字方塊 12">
                <a:extLst>
                  <a:ext uri="{FF2B5EF4-FFF2-40B4-BE49-F238E27FC236}">
                    <a16:creationId xmlns:a16="http://schemas.microsoft.com/office/drawing/2014/main" id="{D95F1E9E-58CB-45B6-8AE2-CDD8F8809304}"/>
                  </a:ext>
                </a:extLst>
              </p:cNvPr>
              <p:cNvSpPr txBox="1">
                <a:spLocks noRot="1" noChangeAspect="1" noMove="1" noResize="1" noEditPoints="1" noAdjustHandles="1" noChangeArrowheads="1" noChangeShapeType="1" noTextEdit="1"/>
              </p:cNvSpPr>
              <p:nvPr/>
            </p:nvSpPr>
            <p:spPr>
              <a:xfrm>
                <a:off x="9803593" y="1752961"/>
                <a:ext cx="230832" cy="430887"/>
              </a:xfrm>
              <a:prstGeom prst="rect">
                <a:avLst/>
              </a:prstGeom>
              <a:blipFill>
                <a:blip r:embed="rId8"/>
                <a:stretch>
                  <a:fillRect/>
                </a:stretch>
              </a:blipFill>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E6049787-96EE-40D0-8E5F-CECAF1E61990}"/>
              </a:ext>
            </a:extLst>
          </p:cNvPr>
          <p:cNvSpPr/>
          <p:nvPr/>
        </p:nvSpPr>
        <p:spPr>
          <a:xfrm>
            <a:off x="4445136" y="2941018"/>
            <a:ext cx="380944" cy="1178607"/>
          </a:xfrm>
          <a:prstGeom prst="rect">
            <a:avLst/>
          </a:prstGeom>
          <a:solidFill>
            <a:srgbClr val="FFE9EA"/>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sp>
        <p:nvSpPr>
          <p:cNvPr id="21" name="矩形 20">
            <a:extLst>
              <a:ext uri="{FF2B5EF4-FFF2-40B4-BE49-F238E27FC236}">
                <a16:creationId xmlns:a16="http://schemas.microsoft.com/office/drawing/2014/main" id="{7E5D2C45-A8D5-423F-8CB9-16A7B416FB09}"/>
              </a:ext>
            </a:extLst>
          </p:cNvPr>
          <p:cNvSpPr/>
          <p:nvPr/>
        </p:nvSpPr>
        <p:spPr>
          <a:xfrm>
            <a:off x="1770686" y="4202139"/>
            <a:ext cx="948409" cy="178106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a:cs typeface="+mn-cs"/>
            </a:endParaRPr>
          </a:p>
        </p:txBody>
      </p:sp>
      <p:sp>
        <p:nvSpPr>
          <p:cNvPr id="22" name="文字方塊 15">
            <a:extLst>
              <a:ext uri="{FF2B5EF4-FFF2-40B4-BE49-F238E27FC236}">
                <a16:creationId xmlns:a16="http://schemas.microsoft.com/office/drawing/2014/main" id="{A2991DAD-E0A5-4889-AFA3-E725B04BC5BC}"/>
              </a:ext>
            </a:extLst>
          </p:cNvPr>
          <p:cNvSpPr txBox="1"/>
          <p:nvPr/>
        </p:nvSpPr>
        <p:spPr>
          <a:xfrm>
            <a:off x="3427056" y="310688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3" name="文字方塊 16">
            <a:extLst>
              <a:ext uri="{FF2B5EF4-FFF2-40B4-BE49-F238E27FC236}">
                <a16:creationId xmlns:a16="http://schemas.microsoft.com/office/drawing/2014/main" id="{4787258E-0F34-4BAC-9EA6-E531CE6C347F}"/>
              </a:ext>
            </a:extLst>
          </p:cNvPr>
          <p:cNvSpPr txBox="1"/>
          <p:nvPr/>
        </p:nvSpPr>
        <p:spPr>
          <a:xfrm>
            <a:off x="3886189" y="363010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4" name="文字方塊 17">
            <a:extLst>
              <a:ext uri="{FF2B5EF4-FFF2-40B4-BE49-F238E27FC236}">
                <a16:creationId xmlns:a16="http://schemas.microsoft.com/office/drawing/2014/main" id="{65260E8F-5F75-40DE-A652-A4FC5B68F301}"/>
              </a:ext>
            </a:extLst>
          </p:cNvPr>
          <p:cNvSpPr txBox="1"/>
          <p:nvPr/>
        </p:nvSpPr>
        <p:spPr>
          <a:xfrm>
            <a:off x="2802941" y="336849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5" name="文字方塊 18">
            <a:extLst>
              <a:ext uri="{FF2B5EF4-FFF2-40B4-BE49-F238E27FC236}">
                <a16:creationId xmlns:a16="http://schemas.microsoft.com/office/drawing/2014/main" id="{460DEF74-1D34-4CDD-9A8F-36EEF483CC1B}"/>
              </a:ext>
            </a:extLst>
          </p:cNvPr>
          <p:cNvSpPr txBox="1"/>
          <p:nvPr/>
        </p:nvSpPr>
        <p:spPr>
          <a:xfrm>
            <a:off x="2125425" y="415332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6" name="文字方塊 19">
            <a:extLst>
              <a:ext uri="{FF2B5EF4-FFF2-40B4-BE49-F238E27FC236}">
                <a16:creationId xmlns:a16="http://schemas.microsoft.com/office/drawing/2014/main" id="{CE69CEE5-9A63-4BC3-B3AB-E667D8BDD6FD}"/>
              </a:ext>
            </a:extLst>
          </p:cNvPr>
          <p:cNvSpPr txBox="1"/>
          <p:nvPr/>
        </p:nvSpPr>
        <p:spPr>
          <a:xfrm>
            <a:off x="2197995" y="4918463"/>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0000FF"/>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0000FF"/>
              </a:solidFill>
              <a:effectLst/>
              <a:uLnTx/>
              <a:uFillTx/>
              <a:latin typeface="Calibri" panose="020F0502020204030204"/>
              <a:ea typeface="新細明體"/>
              <a:cs typeface="+mn-cs"/>
            </a:endParaRPr>
          </a:p>
        </p:txBody>
      </p:sp>
      <p:sp>
        <p:nvSpPr>
          <p:cNvPr id="27" name="文字方塊 20">
            <a:extLst>
              <a:ext uri="{FF2B5EF4-FFF2-40B4-BE49-F238E27FC236}">
                <a16:creationId xmlns:a16="http://schemas.microsoft.com/office/drawing/2014/main" id="{9186D664-FDC6-4F44-9054-02FCB219A805}"/>
              </a:ext>
            </a:extLst>
          </p:cNvPr>
          <p:cNvSpPr txBox="1"/>
          <p:nvPr/>
        </p:nvSpPr>
        <p:spPr>
          <a:xfrm>
            <a:off x="2831300" y="4104514"/>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8" name="文字方塊 21">
            <a:extLst>
              <a:ext uri="{FF2B5EF4-FFF2-40B4-BE49-F238E27FC236}">
                <a16:creationId xmlns:a16="http://schemas.microsoft.com/office/drawing/2014/main" id="{C5F8C6C8-7232-4EB8-9178-61FB93F9178D}"/>
              </a:ext>
            </a:extLst>
          </p:cNvPr>
          <p:cNvSpPr txBox="1"/>
          <p:nvPr/>
        </p:nvSpPr>
        <p:spPr>
          <a:xfrm>
            <a:off x="2937828" y="5184568"/>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29" name="文字方塊 22">
            <a:extLst>
              <a:ext uri="{FF2B5EF4-FFF2-40B4-BE49-F238E27FC236}">
                <a16:creationId xmlns:a16="http://schemas.microsoft.com/office/drawing/2014/main" id="{89554F2D-9533-47D3-B615-A4671DE6D244}"/>
              </a:ext>
            </a:extLst>
          </p:cNvPr>
          <p:cNvSpPr txBox="1"/>
          <p:nvPr/>
        </p:nvSpPr>
        <p:spPr>
          <a:xfrm>
            <a:off x="3482627" y="4153326"/>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30" name="文字方塊 23">
            <a:extLst>
              <a:ext uri="{FF2B5EF4-FFF2-40B4-BE49-F238E27FC236}">
                <a16:creationId xmlns:a16="http://schemas.microsoft.com/office/drawing/2014/main" id="{0200CD7A-3B8E-4144-8008-A88DBDB3395C}"/>
              </a:ext>
            </a:extLst>
          </p:cNvPr>
          <p:cNvSpPr txBox="1"/>
          <p:nvPr/>
        </p:nvSpPr>
        <p:spPr>
          <a:xfrm>
            <a:off x="4301779" y="3336481"/>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31" name="文字方塊 24">
            <a:extLst>
              <a:ext uri="{FF2B5EF4-FFF2-40B4-BE49-F238E27FC236}">
                <a16:creationId xmlns:a16="http://schemas.microsoft.com/office/drawing/2014/main" id="{40D98B65-E3FC-4A54-A41B-23C4E281E2E2}"/>
              </a:ext>
            </a:extLst>
          </p:cNvPr>
          <p:cNvSpPr txBox="1"/>
          <p:nvPr/>
        </p:nvSpPr>
        <p:spPr>
          <a:xfrm>
            <a:off x="4301778" y="4918463"/>
            <a:ext cx="62411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srgbClr val="FF0000"/>
                </a:solidFill>
                <a:effectLst/>
                <a:uLnTx/>
                <a:uFillTx/>
                <a:latin typeface="Calibri" panose="020F0502020204030204"/>
                <a:ea typeface="新細明體"/>
                <a:cs typeface="+mn-cs"/>
              </a:rPr>
              <a:t>-</a:t>
            </a:r>
            <a:endParaRPr kumimoji="0" lang="zh-TW" altLang="en-US" sz="2800" b="0" i="0" u="none" strike="noStrike" kern="1200" cap="none" spc="0" normalizeH="0" baseline="0" noProof="0" dirty="0">
              <a:ln>
                <a:noFill/>
              </a:ln>
              <a:solidFill>
                <a:srgbClr val="FF0000"/>
              </a:solidFill>
              <a:effectLst/>
              <a:uLnTx/>
              <a:uFillTx/>
              <a:latin typeface="Calibri" panose="020F0502020204030204"/>
              <a:ea typeface="新細明體"/>
              <a:cs typeface="+mn-cs"/>
            </a:endParaRPr>
          </a:p>
        </p:txBody>
      </p:sp>
      <p:sp>
        <p:nvSpPr>
          <p:cNvPr id="32" name="矩形 31">
            <a:extLst>
              <a:ext uri="{FF2B5EF4-FFF2-40B4-BE49-F238E27FC236}">
                <a16:creationId xmlns:a16="http://schemas.microsoft.com/office/drawing/2014/main" id="{E575C1FD-660C-47D5-97FC-9CCAC9074E05}"/>
              </a:ext>
            </a:extLst>
          </p:cNvPr>
          <p:cNvSpPr/>
          <p:nvPr/>
        </p:nvSpPr>
        <p:spPr>
          <a:xfrm>
            <a:off x="1770685" y="2923208"/>
            <a:ext cx="3060000" cy="30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a:cs typeface="+mn-cs"/>
            </a:endParaRPr>
          </a:p>
        </p:txBody>
      </p:sp>
      <p:cxnSp>
        <p:nvCxnSpPr>
          <p:cNvPr id="33" name="直線接點 36">
            <a:extLst>
              <a:ext uri="{FF2B5EF4-FFF2-40B4-BE49-F238E27FC236}">
                <a16:creationId xmlns:a16="http://schemas.microsoft.com/office/drawing/2014/main" id="{CBB76F76-00C7-4EEC-A446-BEF527F268F9}"/>
              </a:ext>
            </a:extLst>
          </p:cNvPr>
          <p:cNvCxnSpPr/>
          <p:nvPr/>
        </p:nvCxnSpPr>
        <p:spPr>
          <a:xfrm>
            <a:off x="2719094" y="2899012"/>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40">
            <a:extLst>
              <a:ext uri="{FF2B5EF4-FFF2-40B4-BE49-F238E27FC236}">
                <a16:creationId xmlns:a16="http://schemas.microsoft.com/office/drawing/2014/main" id="{EC065B72-A8E4-44DA-9F48-32B46AE27580}"/>
              </a:ext>
            </a:extLst>
          </p:cNvPr>
          <p:cNvCxnSpPr/>
          <p:nvPr/>
        </p:nvCxnSpPr>
        <p:spPr>
          <a:xfrm>
            <a:off x="4412997" y="2923208"/>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接點 41">
            <a:extLst>
              <a:ext uri="{FF2B5EF4-FFF2-40B4-BE49-F238E27FC236}">
                <a16:creationId xmlns:a16="http://schemas.microsoft.com/office/drawing/2014/main" id="{994B95F5-928E-447D-A0C1-167F6E682BF3}"/>
              </a:ext>
            </a:extLst>
          </p:cNvPr>
          <p:cNvCxnSpPr/>
          <p:nvPr/>
        </p:nvCxnSpPr>
        <p:spPr>
          <a:xfrm rot="5400000">
            <a:off x="3332518" y="2623326"/>
            <a:ext cx="0" cy="308419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圖片 9">
            <a:extLst>
              <a:ext uri="{FF2B5EF4-FFF2-40B4-BE49-F238E27FC236}">
                <a16:creationId xmlns:a16="http://schemas.microsoft.com/office/drawing/2014/main" id="{B3CFCB54-0772-40F8-97CC-6D1B6769A6C1}"/>
              </a:ext>
            </a:extLst>
          </p:cNvPr>
          <p:cNvPicPr>
            <a:picLocks noChangeAspect="1"/>
          </p:cNvPicPr>
          <p:nvPr/>
        </p:nvPicPr>
        <p:blipFill>
          <a:blip r:embed="rId9"/>
          <a:stretch>
            <a:fillRect/>
          </a:stretch>
        </p:blipFill>
        <p:spPr>
          <a:xfrm>
            <a:off x="5964705" y="1386606"/>
            <a:ext cx="1281728" cy="1281728"/>
          </a:xfrm>
          <a:prstGeom prst="rect">
            <a:avLst/>
          </a:prstGeom>
        </p:spPr>
      </p:pic>
      <p:pic>
        <p:nvPicPr>
          <p:cNvPr id="37" name="圖片 46">
            <a:extLst>
              <a:ext uri="{FF2B5EF4-FFF2-40B4-BE49-F238E27FC236}">
                <a16:creationId xmlns:a16="http://schemas.microsoft.com/office/drawing/2014/main" id="{53F6BE75-6292-4A30-9249-35D76B33AD21}"/>
              </a:ext>
            </a:extLst>
          </p:cNvPr>
          <p:cNvPicPr>
            <a:picLocks noChangeAspect="1"/>
          </p:cNvPicPr>
          <p:nvPr/>
        </p:nvPicPr>
        <p:blipFill>
          <a:blip r:embed="rId10"/>
          <a:stretch>
            <a:fillRect/>
          </a:stretch>
        </p:blipFill>
        <p:spPr>
          <a:xfrm>
            <a:off x="8437417" y="1323344"/>
            <a:ext cx="1298156" cy="1290118"/>
          </a:xfrm>
          <a:prstGeom prst="rect">
            <a:avLst/>
          </a:prstGeom>
        </p:spPr>
      </p:pic>
      <p:sp>
        <p:nvSpPr>
          <p:cNvPr id="5" name="文本占位符 1">
            <a:extLst>
              <a:ext uri="{FF2B5EF4-FFF2-40B4-BE49-F238E27FC236}">
                <a16:creationId xmlns:a16="http://schemas.microsoft.com/office/drawing/2014/main" id="{7E90B2C5-CE68-3844-CBFA-63BB1A540DE3}"/>
              </a:ext>
            </a:extLst>
          </p:cNvPr>
          <p:cNvSpPr>
            <a:spLocks noGrp="1"/>
          </p:cNvSpPr>
          <p:nvPr>
            <p:ph type="body" sz="quarter" idx="12"/>
          </p:nvPr>
        </p:nvSpPr>
        <p:spPr>
          <a:xfrm>
            <a:off x="566962" y="265803"/>
            <a:ext cx="4836888" cy="426497"/>
          </a:xfrm>
        </p:spPr>
        <p:txBody>
          <a:bodyPr/>
          <a:lstStyle/>
          <a:p>
            <a:pPr marL="0" indent="0">
              <a:buNone/>
            </a:pPr>
            <a:r>
              <a:rPr lang="en-US" altLang="zh-CN" sz="3200" dirty="0"/>
              <a:t>AdaBoost</a:t>
            </a:r>
            <a:r>
              <a:rPr lang="zh-CN" altLang="en-US" sz="3200" dirty="0"/>
              <a:t>计算实例</a:t>
            </a:r>
          </a:p>
        </p:txBody>
      </p:sp>
      <p:sp>
        <p:nvSpPr>
          <p:cNvPr id="38" name="TextBox 37">
            <a:extLst>
              <a:ext uri="{FF2B5EF4-FFF2-40B4-BE49-F238E27FC236}">
                <a16:creationId xmlns:a16="http://schemas.microsoft.com/office/drawing/2014/main" id="{9DBE0551-D679-EAE8-0A0F-F3C203B713F7}"/>
              </a:ext>
            </a:extLst>
          </p:cNvPr>
          <p:cNvSpPr txBox="1"/>
          <p:nvPr/>
        </p:nvSpPr>
        <p:spPr>
          <a:xfrm>
            <a:off x="161061" y="827883"/>
            <a:ext cx="6098458" cy="523220"/>
          </a:xfrm>
          <a:prstGeom prst="rect">
            <a:avLst/>
          </a:prstGeom>
          <a:noFill/>
        </p:spPr>
        <p:txBody>
          <a:bodyPr wrap="square">
            <a:spAutoFit/>
          </a:bodyPr>
          <a:lstStyle/>
          <a:p>
            <a:pPr marL="285750" indent="-285750">
              <a:buFont typeface="Wingdings" pitchFamily="2" charset="2"/>
              <a:buChar char="Ø"/>
            </a:pPr>
            <a:r>
              <a:rPr lang="zh-CN" altLang="en-US" sz="2800" dirty="0">
                <a:latin typeface="+mn-ea"/>
              </a:rPr>
              <a:t>例</a:t>
            </a:r>
            <a:endParaRPr lang="en-CN" sz="2800" dirty="0"/>
          </a:p>
        </p:txBody>
      </p:sp>
      <p:sp>
        <p:nvSpPr>
          <p:cNvPr id="2" name="灯片编号占位符 1">
            <a:extLst>
              <a:ext uri="{FF2B5EF4-FFF2-40B4-BE49-F238E27FC236}">
                <a16:creationId xmlns:a16="http://schemas.microsoft.com/office/drawing/2014/main" id="{0A44DF2E-DC24-4142-B39A-121A13D333B6}"/>
              </a:ext>
            </a:extLst>
          </p:cNvPr>
          <p:cNvSpPr>
            <a:spLocks noGrp="1"/>
          </p:cNvSpPr>
          <p:nvPr>
            <p:ph type="sldNum" sz="quarter" idx="14"/>
          </p:nvPr>
        </p:nvSpPr>
        <p:spPr/>
        <p:txBody>
          <a:bodyPr/>
          <a:lstStyle/>
          <a:p>
            <a:fld id="{AF69888C-E133-43D9-A638-B5C95925B91C}" type="slidenum">
              <a:rPr lang="zh-CN" altLang="en-US" smtClean="0"/>
              <a:t>39</a:t>
            </a:fld>
            <a:endParaRPr lang="zh-CN" altLang="en-US" dirty="0"/>
          </a:p>
        </p:txBody>
      </p:sp>
      <p:sp>
        <p:nvSpPr>
          <p:cNvPr id="40" name="文本框 39">
            <a:extLst>
              <a:ext uri="{FF2B5EF4-FFF2-40B4-BE49-F238E27FC236}">
                <a16:creationId xmlns:a16="http://schemas.microsoft.com/office/drawing/2014/main" id="{CA1C41C7-FEAA-6342-94BC-BDDD7ABFA7EA}"/>
              </a:ext>
            </a:extLst>
          </p:cNvPr>
          <p:cNvSpPr txBox="1"/>
          <p:nvPr/>
        </p:nvSpPr>
        <p:spPr>
          <a:xfrm>
            <a:off x="5823024" y="3484583"/>
            <a:ext cx="5906490" cy="1200329"/>
          </a:xfrm>
          <a:prstGeom prst="rect">
            <a:avLst/>
          </a:prstGeom>
          <a:noFill/>
        </p:spPr>
        <p:txBody>
          <a:bodyPr wrap="square">
            <a:spAutoFit/>
          </a:bodyPr>
          <a:lstStyle/>
          <a:p>
            <a:pPr marL="342900" indent="-342900">
              <a:buFont typeface="Arial" panose="020B0604020202020204" pitchFamily="34" charset="0"/>
              <a:buChar char="•"/>
            </a:pPr>
            <a:r>
              <a:rPr lang="zh-CN" altLang="en-US" sz="2400" dirty="0"/>
              <a:t>为什么长期叠加弱分类器后，误差一定变得越来越小？</a:t>
            </a:r>
            <a:endParaRPr lang="en-US" altLang="zh-CN" sz="2400" dirty="0"/>
          </a:p>
          <a:p>
            <a:pPr marL="342900" indent="-342900">
              <a:buFont typeface="Arial" panose="020B0604020202020204" pitchFamily="34" charset="0"/>
              <a:buChar char="•"/>
            </a:pPr>
            <a:r>
              <a:rPr lang="en" altLang="zh-CN" sz="2400" dirty="0"/>
              <a:t>AdaBoost </a:t>
            </a:r>
            <a:r>
              <a:rPr lang="zh-CN" altLang="en-US" sz="2400" dirty="0"/>
              <a:t>的强大是否有数学保证？</a:t>
            </a:r>
            <a:endParaRPr lang="zh-CN" altLang="en" sz="2400" dirty="0"/>
          </a:p>
        </p:txBody>
      </p:sp>
      <p:sp>
        <p:nvSpPr>
          <p:cNvPr id="41" name="文本框 40">
            <a:extLst>
              <a:ext uri="{FF2B5EF4-FFF2-40B4-BE49-F238E27FC236}">
                <a16:creationId xmlns:a16="http://schemas.microsoft.com/office/drawing/2014/main" id="{4B9C82F0-D458-474E-9E9C-6151E219B8BE}"/>
              </a:ext>
            </a:extLst>
          </p:cNvPr>
          <p:cNvSpPr txBox="1"/>
          <p:nvPr/>
        </p:nvSpPr>
        <p:spPr>
          <a:xfrm>
            <a:off x="5806539" y="4918463"/>
            <a:ext cx="6096000" cy="830997"/>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prstClr val="black"/>
              </a:solidFill>
              <a:effectLst/>
              <a:uLnTx/>
              <a:uFillTx/>
              <a:latin typeface="Segoe UI"/>
              <a:ea typeface="微软雅黑"/>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prstClr val="black"/>
                </a:solidFill>
                <a:effectLst/>
                <a:uLnTx/>
                <a:uFillTx/>
                <a:latin typeface="Segoe UI"/>
                <a:ea typeface="微软雅黑"/>
                <a:cs typeface="+mn-cs"/>
              </a:rPr>
              <a:t>这需要理解 </a:t>
            </a:r>
            <a:r>
              <a:rPr kumimoji="0" lang="en" altLang="zh-CN" sz="2400" b="0" i="0" u="none" strike="noStrike" kern="1200" cap="none" spc="0" normalizeH="0" baseline="0" noProof="0" dirty="0">
                <a:ln>
                  <a:noFill/>
                </a:ln>
                <a:solidFill>
                  <a:prstClr val="black"/>
                </a:solidFill>
                <a:effectLst/>
                <a:uLnTx/>
                <a:uFillTx/>
                <a:latin typeface="Segoe UI"/>
                <a:ea typeface="微软雅黑"/>
                <a:cs typeface="+mn-cs"/>
              </a:rPr>
              <a:t>AdaBoost </a:t>
            </a:r>
            <a:r>
              <a:rPr kumimoji="0" lang="zh-CN" altLang="en-US" sz="2400" b="0" i="0" u="none" strike="noStrike" kern="1200" cap="none" spc="0" normalizeH="0" baseline="0" noProof="0" dirty="0">
                <a:ln>
                  <a:noFill/>
                </a:ln>
                <a:solidFill>
                  <a:prstClr val="black"/>
                </a:solidFill>
                <a:effectLst/>
                <a:uLnTx/>
                <a:uFillTx/>
                <a:latin typeface="Segoe UI"/>
                <a:ea typeface="微软雅黑"/>
                <a:cs typeface="+mn-cs"/>
              </a:rPr>
              <a:t>的误差界</a:t>
            </a:r>
            <a:r>
              <a:rPr kumimoji="0" lang="zh-CN" altLang="en" sz="2400" b="0" i="0" u="none" strike="noStrike" kern="1200" cap="none" spc="0" normalizeH="0" baseline="0" noProof="0" dirty="0">
                <a:ln>
                  <a:noFill/>
                </a:ln>
                <a:solidFill>
                  <a:prstClr val="black"/>
                </a:solidFill>
                <a:effectLst/>
                <a:uLnTx/>
                <a:uFillTx/>
                <a:latin typeface="Segoe UI"/>
                <a:ea typeface="微软雅黑"/>
                <a:cs typeface="+mn-cs"/>
              </a:rPr>
              <a:t>。</a:t>
            </a:r>
          </a:p>
        </p:txBody>
      </p:sp>
    </p:spTree>
    <p:extLst>
      <p:ext uri="{BB962C8B-B14F-4D97-AF65-F5344CB8AC3E}">
        <p14:creationId xmlns:p14="http://schemas.microsoft.com/office/powerpoint/2010/main" val="371015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checkerboard(across)">
                                      <p:cBhvr>
                                        <p:cTn id="4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8" grpId="0"/>
      <p:bldP spid="19" grpId="0"/>
      <p:bldP spid="20" grpId="0" animBg="1"/>
      <p:bldP spid="21" grpId="0" animBg="1"/>
      <p:bldP spid="40" grpId="0"/>
      <p:bldP spid="4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CA9CE1B-1E2D-47C2-86EB-177A0AA08983}"/>
                  </a:ext>
                </a:extLst>
              </p:cNvPr>
              <p:cNvSpPr txBox="1"/>
              <p:nvPr/>
            </p:nvSpPr>
            <p:spPr>
              <a:xfrm>
                <a:off x="935670" y="1425061"/>
                <a:ext cx="7352923" cy="468013"/>
              </a:xfrm>
              <a:prstGeom prst="rect">
                <a:avLst/>
              </a:prstGeom>
              <a:noFill/>
            </p:spPr>
            <p:txBody>
              <a:bodyPr wrap="square" rtlCol="0">
                <a:spAutoFit/>
              </a:bodyPr>
              <a:lstStyle/>
              <a:p>
                <a:pPr marL="342900" indent="-342900">
                  <a:buFont typeface="Wingdings" pitchFamily="2" charset="2"/>
                  <a:buChar char="ü"/>
                </a:pPr>
                <a:r>
                  <a:rPr lang="zh-CN" altLang="en-US" sz="2400" dirty="0">
                    <a:latin typeface="+mn-ea"/>
                  </a:rPr>
                  <a:t>最终的分类器：</a:t>
                </a:r>
                <a:r>
                  <a:rPr lang="en-US" altLang="zh-TW" sz="2400" dirty="0"/>
                  <a:t> </a:t>
                </a:r>
                <a14:m>
                  <m:oMath xmlns:m="http://schemas.openxmlformats.org/officeDocument/2006/math">
                    <m:r>
                      <a:rPr lang="en-US" altLang="zh-TW" sz="2400" i="1">
                        <a:latin typeface="Cambria Math" panose="02040503050406030204" pitchFamily="18" charset="0"/>
                      </a:rPr>
                      <m:t>𝐻</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r>
                      <a:rPr lang="en-US" altLang="zh-TW" sz="2400" i="1">
                        <a:latin typeface="Cambria Math" panose="02040503050406030204" pitchFamily="18" charset="0"/>
                      </a:rPr>
                      <m:t>=</m:t>
                    </m:r>
                    <m:r>
                      <a:rPr lang="en-US" altLang="zh-TW" sz="2400" i="1">
                        <a:latin typeface="Cambria Math" panose="02040503050406030204" pitchFamily="18" charset="0"/>
                      </a:rPr>
                      <m:t>𝑠𝑖𝑔𝑛</m:t>
                    </m:r>
                    <m:d>
                      <m:dPr>
                        <m:ctrlPr>
                          <a:rPr lang="en-US" altLang="zh-TW" sz="2400" i="1">
                            <a:latin typeface="Cambria Math" panose="02040503050406030204" pitchFamily="18" charset="0"/>
                          </a:rPr>
                        </m:ctrlPr>
                      </m:dPr>
                      <m:e>
                        <m:nary>
                          <m:naryPr>
                            <m:chr m:val="∑"/>
                            <m:ctrlPr>
                              <a:rPr lang="en-US" altLang="zh-TW" sz="2400" i="1">
                                <a:latin typeface="Cambria Math" panose="02040503050406030204" pitchFamily="18" charset="0"/>
                              </a:rPr>
                            </m:ctrlPr>
                          </m:naryPr>
                          <m:sub>
                            <m:r>
                              <m:rPr>
                                <m:brk m:alnAt="23"/>
                              </m:rPr>
                              <a:rPr lang="en-US" altLang="zh-TW" sz="2400" i="1">
                                <a:latin typeface="Cambria Math" panose="02040503050406030204" pitchFamily="18" charset="0"/>
                              </a:rPr>
                              <m:t>𝑡</m:t>
                            </m:r>
                            <m:r>
                              <a:rPr lang="en-US" altLang="zh-TW" sz="2400" i="1">
                                <a:latin typeface="Cambria Math" panose="02040503050406030204" pitchFamily="18" charset="0"/>
                              </a:rPr>
                              <m:t>=1</m:t>
                            </m:r>
                          </m:sub>
                          <m:sup>
                            <m:r>
                              <a:rPr lang="en-US" altLang="zh-TW" sz="2400" i="1">
                                <a:latin typeface="Cambria Math" panose="02040503050406030204" pitchFamily="18" charset="0"/>
                              </a:rPr>
                              <m:t>𝑇</m:t>
                            </m:r>
                          </m:sup>
                          <m:e>
                            <m:sSub>
                              <m:sSubPr>
                                <m:ctrlPr>
                                  <a:rPr lang="en-US" altLang="zh-TW" sz="2400" i="1">
                                    <a:latin typeface="Cambria Math" panose="02040503050406030204" pitchFamily="18" charset="0"/>
                                  </a:rPr>
                                </m:ctrlPr>
                              </m:sSubPr>
                              <m:e>
                                <m:r>
                                  <a:rPr lang="zh-TW" altLang="en-US" sz="2400" i="1">
                                    <a:latin typeface="Cambria Math" panose="02040503050406030204" pitchFamily="18" charset="0"/>
                                  </a:rPr>
                                  <m:t>𝛼</m:t>
                                </m:r>
                              </m:e>
                              <m:sub>
                                <m:r>
                                  <a:rPr lang="en-US" altLang="zh-TW" sz="2400" i="1">
                                    <a:latin typeface="Cambria Math" panose="02040503050406030204" pitchFamily="18" charset="0"/>
                                  </a:rPr>
                                  <m:t>𝑡</m:t>
                                </m:r>
                              </m:sub>
                            </m:sSub>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i="1">
                                    <a:latin typeface="Cambria Math" panose="02040503050406030204" pitchFamily="18" charset="0"/>
                                  </a:rPr>
                                  <m:t>𝑡</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e>
                        </m:nary>
                      </m:e>
                    </m:d>
                  </m:oMath>
                </a14:m>
                <a:endParaRPr lang="zh-CN" altLang="en-US" sz="2400" dirty="0">
                  <a:latin typeface="+mn-ea"/>
                </a:endParaRPr>
              </a:p>
            </p:txBody>
          </p:sp>
        </mc:Choice>
        <mc:Fallback xmlns="">
          <p:sp>
            <p:nvSpPr>
              <p:cNvPr id="3" name="文本框 2">
                <a:extLst>
                  <a:ext uri="{FF2B5EF4-FFF2-40B4-BE49-F238E27FC236}">
                    <a16:creationId xmlns:a16="http://schemas.microsoft.com/office/drawing/2014/main" id="{2CA9CE1B-1E2D-47C2-86EB-177A0AA08983}"/>
                  </a:ext>
                </a:extLst>
              </p:cNvPr>
              <p:cNvSpPr txBox="1">
                <a:spLocks noRot="1" noChangeAspect="1" noMove="1" noResize="1" noEditPoints="1" noAdjustHandles="1" noChangeArrowheads="1" noChangeShapeType="1" noTextEdit="1"/>
              </p:cNvSpPr>
              <p:nvPr/>
            </p:nvSpPr>
            <p:spPr>
              <a:xfrm>
                <a:off x="935670" y="1425061"/>
                <a:ext cx="7352923" cy="468013"/>
              </a:xfrm>
              <a:prstGeom prst="rect">
                <a:avLst/>
              </a:prstGeom>
              <a:blipFill>
                <a:blip r:embed="rId3"/>
                <a:stretch>
                  <a:fillRect l="-1034" t="-121053" b="-189474"/>
                </a:stretch>
              </a:blipFill>
            </p:spPr>
            <p:txBody>
              <a:bodyPr/>
              <a:lstStyle/>
              <a:p>
                <a:r>
                  <a:rPr lang="en-CN">
                    <a:noFill/>
                  </a:rPr>
                  <a:t> </a:t>
                </a:r>
              </a:p>
            </p:txBody>
          </p:sp>
        </mc:Fallback>
      </mc:AlternateContent>
      <p:sp>
        <p:nvSpPr>
          <p:cNvPr id="8" name="文本框 7">
            <a:extLst>
              <a:ext uri="{FF2B5EF4-FFF2-40B4-BE49-F238E27FC236}">
                <a16:creationId xmlns:a16="http://schemas.microsoft.com/office/drawing/2014/main" id="{B4B1E6AD-74F6-4BE5-B741-E95F584BC045}"/>
              </a:ext>
            </a:extLst>
          </p:cNvPr>
          <p:cNvSpPr txBox="1"/>
          <p:nvPr/>
        </p:nvSpPr>
        <p:spPr>
          <a:xfrm>
            <a:off x="935670" y="2530078"/>
            <a:ext cx="2993127" cy="461665"/>
          </a:xfrm>
          <a:prstGeom prst="rect">
            <a:avLst/>
          </a:prstGeom>
          <a:noFill/>
        </p:spPr>
        <p:txBody>
          <a:bodyPr wrap="none" rtlCol="0">
            <a:spAutoFit/>
          </a:bodyPr>
          <a:lstStyle/>
          <a:p>
            <a:pPr marL="342900" indent="-342900" algn="l">
              <a:buFont typeface="Wingdings" pitchFamily="2" charset="2"/>
              <a:buChar char="ü"/>
            </a:pPr>
            <a:r>
              <a:rPr lang="zh-CN" altLang="en-US" sz="2400" dirty="0">
                <a:latin typeface="+mn-ea"/>
              </a:rPr>
              <a:t>训练数据错误率：</a:t>
            </a:r>
          </a:p>
        </p:txBody>
      </p:sp>
      <p:pic>
        <p:nvPicPr>
          <p:cNvPr id="10" name="图片 9">
            <a:extLst>
              <a:ext uri="{FF2B5EF4-FFF2-40B4-BE49-F238E27FC236}">
                <a16:creationId xmlns:a16="http://schemas.microsoft.com/office/drawing/2014/main" id="{3644A8EB-D956-4767-BD5A-F277D750D484}"/>
              </a:ext>
            </a:extLst>
          </p:cNvPr>
          <p:cNvPicPr>
            <a:picLocks noChangeAspect="1"/>
          </p:cNvPicPr>
          <p:nvPr/>
        </p:nvPicPr>
        <p:blipFill rotWithShape="1">
          <a:blip r:embed="rId4"/>
          <a:srcRect l="2777"/>
          <a:stretch/>
        </p:blipFill>
        <p:spPr>
          <a:xfrm>
            <a:off x="1355236" y="3053114"/>
            <a:ext cx="3482272" cy="1045635"/>
          </a:xfrm>
          <a:prstGeom prst="rect">
            <a:avLst/>
          </a:prstGeom>
        </p:spPr>
      </p:pic>
      <p:pic>
        <p:nvPicPr>
          <p:cNvPr id="12" name="图片 11">
            <a:extLst>
              <a:ext uri="{FF2B5EF4-FFF2-40B4-BE49-F238E27FC236}">
                <a16:creationId xmlns:a16="http://schemas.microsoft.com/office/drawing/2014/main" id="{FAFFE9AE-6DAA-474F-B40D-1904902CE19F}"/>
              </a:ext>
            </a:extLst>
          </p:cNvPr>
          <p:cNvPicPr>
            <a:picLocks noChangeAspect="1"/>
          </p:cNvPicPr>
          <p:nvPr/>
        </p:nvPicPr>
        <p:blipFill>
          <a:blip r:embed="rId5"/>
          <a:stretch>
            <a:fillRect/>
          </a:stretch>
        </p:blipFill>
        <p:spPr>
          <a:xfrm>
            <a:off x="1355236" y="4115244"/>
            <a:ext cx="3564401" cy="1114959"/>
          </a:xfrm>
          <a:prstGeom prst="rect">
            <a:avLst/>
          </a:prstGeom>
        </p:spPr>
      </p:pic>
      <p:pic>
        <p:nvPicPr>
          <p:cNvPr id="14" name="图片 13">
            <a:extLst>
              <a:ext uri="{FF2B5EF4-FFF2-40B4-BE49-F238E27FC236}">
                <a16:creationId xmlns:a16="http://schemas.microsoft.com/office/drawing/2014/main" id="{82AB8610-A7C1-4642-96FF-21CDB8B7F1CA}"/>
              </a:ext>
            </a:extLst>
          </p:cNvPr>
          <p:cNvPicPr>
            <a:picLocks noChangeAspect="1"/>
          </p:cNvPicPr>
          <p:nvPr/>
        </p:nvPicPr>
        <p:blipFill>
          <a:blip r:embed="rId6"/>
          <a:stretch>
            <a:fillRect/>
          </a:stretch>
        </p:blipFill>
        <p:spPr>
          <a:xfrm>
            <a:off x="1355236" y="5193869"/>
            <a:ext cx="3622707" cy="1085117"/>
          </a:xfrm>
          <a:prstGeom prst="rect">
            <a:avLst/>
          </a:prstGeom>
        </p:spPr>
      </p:pic>
      <p:pic>
        <p:nvPicPr>
          <p:cNvPr id="16" name="图片 15">
            <a:extLst>
              <a:ext uri="{FF2B5EF4-FFF2-40B4-BE49-F238E27FC236}">
                <a16:creationId xmlns:a16="http://schemas.microsoft.com/office/drawing/2014/main" id="{AC40543B-240F-4D20-807F-4F81EEA8A306}"/>
              </a:ext>
            </a:extLst>
          </p:cNvPr>
          <p:cNvPicPr>
            <a:picLocks noChangeAspect="1"/>
          </p:cNvPicPr>
          <p:nvPr/>
        </p:nvPicPr>
        <p:blipFill>
          <a:blip r:embed="rId7"/>
          <a:stretch>
            <a:fillRect/>
          </a:stretch>
        </p:blipFill>
        <p:spPr>
          <a:xfrm>
            <a:off x="6269420" y="2668501"/>
            <a:ext cx="4567344" cy="3572385"/>
          </a:xfrm>
          <a:prstGeom prst="rect">
            <a:avLst/>
          </a:prstGeom>
        </p:spPr>
      </p:pic>
      <p:pic>
        <p:nvPicPr>
          <p:cNvPr id="18" name="图片 17">
            <a:extLst>
              <a:ext uri="{FF2B5EF4-FFF2-40B4-BE49-F238E27FC236}">
                <a16:creationId xmlns:a16="http://schemas.microsoft.com/office/drawing/2014/main" id="{295B87C9-D64E-45AD-B925-71F9514C66F7}"/>
              </a:ext>
            </a:extLst>
          </p:cNvPr>
          <p:cNvPicPr>
            <a:picLocks noChangeAspect="1"/>
          </p:cNvPicPr>
          <p:nvPr/>
        </p:nvPicPr>
        <p:blipFill>
          <a:blip r:embed="rId8"/>
          <a:stretch>
            <a:fillRect/>
          </a:stretch>
        </p:blipFill>
        <p:spPr>
          <a:xfrm>
            <a:off x="7568244" y="6272611"/>
            <a:ext cx="1969696" cy="592196"/>
          </a:xfrm>
          <a:prstGeom prst="rect">
            <a:avLst/>
          </a:prstGeom>
        </p:spPr>
      </p:pic>
      <p:sp>
        <p:nvSpPr>
          <p:cNvPr id="9" name="文本占位符 1">
            <a:extLst>
              <a:ext uri="{FF2B5EF4-FFF2-40B4-BE49-F238E27FC236}">
                <a16:creationId xmlns:a16="http://schemas.microsoft.com/office/drawing/2014/main" id="{33B0CD81-2A61-0781-766E-D96647C7451B}"/>
              </a:ext>
            </a:extLst>
          </p:cNvPr>
          <p:cNvSpPr>
            <a:spLocks noGrp="1"/>
          </p:cNvSpPr>
          <p:nvPr>
            <p:ph type="body" sz="quarter" idx="12"/>
          </p:nvPr>
        </p:nvSpPr>
        <p:spPr>
          <a:xfrm>
            <a:off x="566962" y="265803"/>
            <a:ext cx="5529038" cy="426497"/>
          </a:xfrm>
        </p:spPr>
        <p:txBody>
          <a:bodyPr/>
          <a:lstStyle/>
          <a:p>
            <a:pPr marL="0" indent="0">
              <a:buNone/>
            </a:pPr>
            <a:r>
              <a:rPr lang="en-US" altLang="zh-CN" sz="3200" dirty="0"/>
              <a:t>AdaBoost</a:t>
            </a:r>
            <a:r>
              <a:rPr lang="zh-CN" altLang="en-US" sz="3200" spc="300" dirty="0"/>
              <a:t>的误差界分析</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796E885-1A19-7602-C8C5-41D67E19018A}"/>
                  </a:ext>
                </a:extLst>
              </p:cNvPr>
              <p:cNvSpPr txBox="1"/>
              <p:nvPr/>
            </p:nvSpPr>
            <p:spPr>
              <a:xfrm>
                <a:off x="566961" y="828886"/>
                <a:ext cx="10155115" cy="523220"/>
              </a:xfrm>
              <a:prstGeom prst="rect">
                <a:avLst/>
              </a:prstGeom>
              <a:noFill/>
            </p:spPr>
            <p:txBody>
              <a:bodyPr wrap="square">
                <a:spAutoFit/>
              </a:bodyPr>
              <a:lstStyle/>
              <a:p>
                <a:pPr marL="285750" indent="-285750">
                  <a:buFont typeface="Wingdings" pitchFamily="2" charset="2"/>
                  <a:buChar char="Ø"/>
                </a:pPr>
                <a:r>
                  <a:rPr lang="en-US" sz="2800" dirty="0">
                    <a:latin typeface="+mn-ea"/>
                  </a:rPr>
                  <a:t> </a:t>
                </a:r>
                <a:r>
                  <a:rPr lang="en-US" sz="2800" dirty="0" err="1">
                    <a:latin typeface="+mn-ea"/>
                  </a:rPr>
                  <a:t>随着基学习器个数</a:t>
                </a:r>
                <a14:m>
                  <m:oMath xmlns:m="http://schemas.openxmlformats.org/officeDocument/2006/math">
                    <m:r>
                      <a:rPr lang="en-US" sz="2800" b="0" i="1" smtClean="0">
                        <a:latin typeface="Cambria Math" panose="02040503050406030204" pitchFamily="18" charset="0"/>
                      </a:rPr>
                      <m:t>𝑇</m:t>
                    </m:r>
                  </m:oMath>
                </a14:m>
                <a:r>
                  <a:rPr lang="en-US" sz="2800" dirty="0" err="1">
                    <a:latin typeface="+mn-ea"/>
                  </a:rPr>
                  <a:t>的增加</a:t>
                </a:r>
                <a:r>
                  <a:rPr lang="zh-CN" altLang="en-US" sz="2800" dirty="0">
                    <a:latin typeface="+mn-ea"/>
                  </a:rPr>
                  <a:t>，</a:t>
                </a:r>
                <a:r>
                  <a:rPr lang="en-US" sz="2800" dirty="0" err="1">
                    <a:latin typeface="+mn-ea"/>
                  </a:rPr>
                  <a:t>最终分类器的训练误差越来越小</a:t>
                </a:r>
                <a:endParaRPr lang="en-CN" sz="2800" dirty="0"/>
              </a:p>
            </p:txBody>
          </p:sp>
        </mc:Choice>
        <mc:Fallback xmlns="">
          <p:sp>
            <p:nvSpPr>
              <p:cNvPr id="11" name="TextBox 10">
                <a:extLst>
                  <a:ext uri="{FF2B5EF4-FFF2-40B4-BE49-F238E27FC236}">
                    <a16:creationId xmlns:a16="http://schemas.microsoft.com/office/drawing/2014/main" id="{7796E885-1A19-7602-C8C5-41D67E19018A}"/>
                  </a:ext>
                </a:extLst>
              </p:cNvPr>
              <p:cNvSpPr txBox="1">
                <a:spLocks noRot="1" noChangeAspect="1" noMove="1" noResize="1" noEditPoints="1" noAdjustHandles="1" noChangeArrowheads="1" noChangeShapeType="1" noTextEdit="1"/>
              </p:cNvSpPr>
              <p:nvPr/>
            </p:nvSpPr>
            <p:spPr>
              <a:xfrm>
                <a:off x="566961" y="828886"/>
                <a:ext cx="10155115" cy="523220"/>
              </a:xfrm>
              <a:prstGeom prst="rect">
                <a:avLst/>
              </a:prstGeom>
              <a:blipFill>
                <a:blip r:embed="rId9"/>
                <a:stretch>
                  <a:fillRect l="-999" t="-11905" r="-125" b="-33333"/>
                </a:stretch>
              </a:blipFill>
            </p:spPr>
            <p:txBody>
              <a:bodyPr/>
              <a:lstStyle/>
              <a:p>
                <a:r>
                  <a:rPr lang="en-CN">
                    <a:noFill/>
                  </a:rPr>
                  <a:t> </a:t>
                </a:r>
              </a:p>
            </p:txBody>
          </p:sp>
        </mc:Fallback>
      </mc:AlternateContent>
      <p:cxnSp>
        <p:nvCxnSpPr>
          <p:cNvPr id="23" name="Straight Connector 22">
            <a:extLst>
              <a:ext uri="{FF2B5EF4-FFF2-40B4-BE49-F238E27FC236}">
                <a16:creationId xmlns:a16="http://schemas.microsoft.com/office/drawing/2014/main" id="{3BE35430-A106-13FA-EAD6-D403562FA4FE}"/>
              </a:ext>
            </a:extLst>
          </p:cNvPr>
          <p:cNvCxnSpPr>
            <a:cxnSpLocks/>
          </p:cNvCxnSpPr>
          <p:nvPr/>
        </p:nvCxnSpPr>
        <p:spPr>
          <a:xfrm flipV="1">
            <a:off x="5403850" y="1893074"/>
            <a:ext cx="1616382" cy="16979"/>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F5290B7-9C6B-5DC9-1912-47DDBADDB24A}"/>
                  </a:ext>
                </a:extLst>
              </p:cNvPr>
              <p:cNvSpPr txBox="1"/>
              <p:nvPr/>
            </p:nvSpPr>
            <p:spPr>
              <a:xfrm>
                <a:off x="7287587" y="1631464"/>
                <a:ext cx="71161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rPr>
                        <m:t>𝑔</m:t>
                      </m:r>
                      <m:d>
                        <m:dPr>
                          <m:ctrlPr>
                            <a:rPr lang="en-US" altLang="zh-TW" sz="2800" i="1">
                              <a:latin typeface="Cambria Math" panose="02040503050406030204" pitchFamily="18" charset="0"/>
                            </a:rPr>
                          </m:ctrlPr>
                        </m:dPr>
                        <m:e>
                          <m:r>
                            <a:rPr lang="en-US" altLang="zh-TW" sz="2800" i="1">
                              <a:latin typeface="Cambria Math" panose="02040503050406030204" pitchFamily="18" charset="0"/>
                            </a:rPr>
                            <m:t>𝑥</m:t>
                          </m:r>
                        </m:e>
                      </m:d>
                    </m:oMath>
                  </m:oMathPara>
                </a14:m>
                <a:endParaRPr lang="en-CN" sz="2800" dirty="0"/>
              </a:p>
            </p:txBody>
          </p:sp>
        </mc:Choice>
        <mc:Fallback xmlns="">
          <p:sp>
            <p:nvSpPr>
              <p:cNvPr id="26" name="TextBox 25">
                <a:extLst>
                  <a:ext uri="{FF2B5EF4-FFF2-40B4-BE49-F238E27FC236}">
                    <a16:creationId xmlns:a16="http://schemas.microsoft.com/office/drawing/2014/main" id="{BF5290B7-9C6B-5DC9-1912-47DDBADDB24A}"/>
                  </a:ext>
                </a:extLst>
              </p:cNvPr>
              <p:cNvSpPr txBox="1">
                <a:spLocks noRot="1" noChangeAspect="1" noMove="1" noResize="1" noEditPoints="1" noAdjustHandles="1" noChangeArrowheads="1" noChangeShapeType="1" noTextEdit="1"/>
              </p:cNvSpPr>
              <p:nvPr/>
            </p:nvSpPr>
            <p:spPr>
              <a:xfrm>
                <a:off x="7287587" y="1631464"/>
                <a:ext cx="711610" cy="523220"/>
              </a:xfrm>
              <a:prstGeom prst="rect">
                <a:avLst/>
              </a:prstGeom>
              <a:blipFill>
                <a:blip r:embed="rId10"/>
                <a:stretch>
                  <a:fillRect l="-3509" r="-10526" b="-1190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C8C70FD-6BE1-7F74-AAFB-F4ED34D09887}"/>
                  </a:ext>
                </a:extLst>
              </p:cNvPr>
              <p:cNvSpPr txBox="1"/>
              <p:nvPr/>
            </p:nvSpPr>
            <p:spPr>
              <a:xfrm>
                <a:off x="1350855" y="1902711"/>
                <a:ext cx="3482273" cy="465064"/>
              </a:xfrm>
              <a:prstGeom prst="rect">
                <a:avLst/>
              </a:prstGeom>
              <a:noFill/>
            </p:spPr>
            <p:txBody>
              <a:bodyPr wrap="square">
                <a:spAutoFit/>
              </a:bodyPr>
              <a:lstStyle/>
              <a:p>
                <a:pPr marL="342900" indent="-342900">
                  <a:buFont typeface="Wingdings" pitchFamily="2" charset="2"/>
                  <a:buChar char="§"/>
                </a:pPr>
                <a14:m>
                  <m:oMath xmlns:m="http://schemas.openxmlformats.org/officeDocument/2006/math">
                    <m:sSub>
                      <m:sSubPr>
                        <m:ctrlPr>
                          <a:rPr lang="en-US" altLang="zh-TW" sz="2000" i="1" smtClean="0">
                            <a:solidFill>
                              <a:prstClr val="black"/>
                            </a:solidFill>
                            <a:latin typeface="Cambria Math" panose="02040503050406030204" pitchFamily="18" charset="0"/>
                          </a:rPr>
                        </m:ctrlPr>
                      </m:sSubPr>
                      <m:e>
                        <m:r>
                          <a:rPr lang="en-US" altLang="zh-TW" sz="2000" b="0" i="1" smtClean="0">
                            <a:solidFill>
                              <a:prstClr val="black"/>
                            </a:solidFill>
                            <a:latin typeface="Cambria Math" panose="02040503050406030204" pitchFamily="18" charset="0"/>
                          </a:rPr>
                          <m:t>  </m:t>
                        </m:r>
                        <m:r>
                          <a:rPr lang="zh-TW" altLang="en-US" sz="2000" b="0" i="1">
                            <a:solidFill>
                              <a:prstClr val="black"/>
                            </a:solidFill>
                            <a:latin typeface="Cambria Math" panose="02040503050406030204" pitchFamily="18" charset="0"/>
                          </a:rPr>
                          <m:t>𝛼</m:t>
                        </m:r>
                      </m:e>
                      <m:sub>
                        <m:r>
                          <a:rPr lang="en-US" altLang="zh-TW" sz="2000" b="0" i="1">
                            <a:solidFill>
                              <a:prstClr val="black"/>
                            </a:solidFill>
                            <a:latin typeface="Cambria Math" panose="02040503050406030204" pitchFamily="18" charset="0"/>
                          </a:rPr>
                          <m:t>𝑡</m:t>
                        </m:r>
                      </m:sub>
                    </m:sSub>
                    <m:r>
                      <a:rPr lang="en-US" altLang="zh-TW" sz="2000" b="0" i="1">
                        <a:solidFill>
                          <a:prstClr val="black"/>
                        </a:solidFill>
                        <a:latin typeface="Cambria Math" panose="02040503050406030204" pitchFamily="18" charset="0"/>
                      </a:rPr>
                      <m:t>=</m:t>
                    </m:r>
                    <m:r>
                      <a:rPr lang="en-US" altLang="zh-TW" sz="2000" b="0" i="1">
                        <a:solidFill>
                          <a:prstClr val="black"/>
                        </a:solidFill>
                        <a:latin typeface="Cambria Math" panose="02040503050406030204" pitchFamily="18" charset="0"/>
                      </a:rPr>
                      <m:t>𝑙𝑛</m:t>
                    </m:r>
                    <m:rad>
                      <m:radPr>
                        <m:degHide m:val="on"/>
                        <m:ctrlPr>
                          <a:rPr lang="en-US" altLang="zh-TW" sz="2000" i="1">
                            <a:solidFill>
                              <a:prstClr val="black"/>
                            </a:solidFill>
                            <a:latin typeface="Cambria Math" panose="02040503050406030204" pitchFamily="18" charset="0"/>
                          </a:rPr>
                        </m:ctrlPr>
                      </m:radPr>
                      <m:deg/>
                      <m:e>
                        <m:f>
                          <m:fPr>
                            <m:type m:val="lin"/>
                            <m:ctrlPr>
                              <a:rPr lang="en-US" altLang="zh-TW" sz="2000" i="1">
                                <a:solidFill>
                                  <a:prstClr val="black"/>
                                </a:solidFill>
                                <a:latin typeface="Cambria Math" panose="02040503050406030204" pitchFamily="18" charset="0"/>
                              </a:rPr>
                            </m:ctrlPr>
                          </m:fPr>
                          <m:num>
                            <m:d>
                              <m:dPr>
                                <m:ctrlPr>
                                  <a:rPr lang="en-US" altLang="zh-TW" sz="2000" i="1">
                                    <a:solidFill>
                                      <a:prstClr val="black"/>
                                    </a:solidFill>
                                    <a:latin typeface="Cambria Math" panose="02040503050406030204" pitchFamily="18" charset="0"/>
                                  </a:rPr>
                                </m:ctrlPr>
                              </m:dPr>
                              <m:e>
                                <m:r>
                                  <a:rPr lang="en-US" altLang="zh-TW" sz="2000" b="0" i="1">
                                    <a:solidFill>
                                      <a:prstClr val="black"/>
                                    </a:solidFill>
                                    <a:latin typeface="Cambria Math" panose="02040503050406030204" pitchFamily="18" charset="0"/>
                                  </a:rPr>
                                  <m:t>1−</m:t>
                                </m:r>
                                <m:sSub>
                                  <m:sSubPr>
                                    <m:ctrlPr>
                                      <a:rPr lang="en-US" altLang="zh-TW" sz="2000" i="1">
                                        <a:solidFill>
                                          <a:prstClr val="black"/>
                                        </a:solidFill>
                                        <a:latin typeface="Cambria Math" panose="02040503050406030204" pitchFamily="18" charset="0"/>
                                      </a:rPr>
                                    </m:ctrlPr>
                                  </m:sSubPr>
                                  <m:e>
                                    <m:r>
                                      <a:rPr lang="zh-TW" altLang="en-US" sz="2000" b="0" i="1">
                                        <a:solidFill>
                                          <a:prstClr val="black"/>
                                        </a:solidFill>
                                        <a:latin typeface="Cambria Math" panose="02040503050406030204" pitchFamily="18" charset="0"/>
                                      </a:rPr>
                                      <m:t>𝜀</m:t>
                                    </m:r>
                                  </m:e>
                                  <m:sub>
                                    <m:r>
                                      <a:rPr lang="en-US" altLang="zh-TW" sz="2000" b="0" i="1">
                                        <a:solidFill>
                                          <a:prstClr val="black"/>
                                        </a:solidFill>
                                        <a:latin typeface="Cambria Math" panose="02040503050406030204" pitchFamily="18" charset="0"/>
                                      </a:rPr>
                                      <m:t>𝑡</m:t>
                                    </m:r>
                                  </m:sub>
                                </m:sSub>
                              </m:e>
                            </m:d>
                          </m:num>
                          <m:den>
                            <m:sSub>
                              <m:sSubPr>
                                <m:ctrlPr>
                                  <a:rPr lang="en-US" altLang="zh-TW" sz="2000" i="1">
                                    <a:solidFill>
                                      <a:prstClr val="black"/>
                                    </a:solidFill>
                                    <a:latin typeface="Cambria Math" panose="02040503050406030204" pitchFamily="18" charset="0"/>
                                  </a:rPr>
                                </m:ctrlPr>
                              </m:sSubPr>
                              <m:e>
                                <m:r>
                                  <a:rPr lang="zh-TW" altLang="en-US" sz="2000" b="0" i="1">
                                    <a:solidFill>
                                      <a:prstClr val="black"/>
                                    </a:solidFill>
                                    <a:latin typeface="Cambria Math" panose="02040503050406030204" pitchFamily="18" charset="0"/>
                                  </a:rPr>
                                  <m:t>𝜀</m:t>
                                </m:r>
                              </m:e>
                              <m:sub>
                                <m:r>
                                  <a:rPr lang="en-US" altLang="zh-TW" sz="2000" b="0" i="1">
                                    <a:solidFill>
                                      <a:prstClr val="black"/>
                                    </a:solidFill>
                                    <a:latin typeface="Cambria Math" panose="02040503050406030204" pitchFamily="18" charset="0"/>
                                  </a:rPr>
                                  <m:t>𝑡</m:t>
                                </m:r>
                              </m:sub>
                            </m:sSub>
                          </m:den>
                        </m:f>
                      </m:e>
                    </m:rad>
                  </m:oMath>
                </a14:m>
                <a:endParaRPr lang="en-CN" sz="2000" dirty="0"/>
              </a:p>
            </p:txBody>
          </p:sp>
        </mc:Choice>
        <mc:Fallback xmlns="">
          <p:sp>
            <p:nvSpPr>
              <p:cNvPr id="28" name="TextBox 27">
                <a:extLst>
                  <a:ext uri="{FF2B5EF4-FFF2-40B4-BE49-F238E27FC236}">
                    <a16:creationId xmlns:a16="http://schemas.microsoft.com/office/drawing/2014/main" id="{6C8C70FD-6BE1-7F74-AAFB-F4ED34D09887}"/>
                  </a:ext>
                </a:extLst>
              </p:cNvPr>
              <p:cNvSpPr txBox="1">
                <a:spLocks noRot="1" noChangeAspect="1" noMove="1" noResize="1" noEditPoints="1" noAdjustHandles="1" noChangeArrowheads="1" noChangeShapeType="1" noTextEdit="1"/>
              </p:cNvSpPr>
              <p:nvPr/>
            </p:nvSpPr>
            <p:spPr>
              <a:xfrm>
                <a:off x="1350855" y="1902711"/>
                <a:ext cx="3482273" cy="465064"/>
              </a:xfrm>
              <a:prstGeom prst="rect">
                <a:avLst/>
              </a:prstGeom>
              <a:blipFill>
                <a:blip r:embed="rId11"/>
                <a:stretch>
                  <a:fillRect l="-1455" t="-86842" b="-147368"/>
                </a:stretch>
              </a:blipFill>
            </p:spPr>
            <p:txBody>
              <a:bodyPr/>
              <a:lstStyle/>
              <a:p>
                <a:r>
                  <a:rPr lang="en-CN">
                    <a:noFill/>
                  </a:rPr>
                  <a:t> </a:t>
                </a:r>
              </a:p>
            </p:txBody>
          </p:sp>
        </mc:Fallback>
      </mc:AlternateContent>
      <p:sp>
        <p:nvSpPr>
          <p:cNvPr id="2" name="灯片编号占位符 1">
            <a:extLst>
              <a:ext uri="{FF2B5EF4-FFF2-40B4-BE49-F238E27FC236}">
                <a16:creationId xmlns:a16="http://schemas.microsoft.com/office/drawing/2014/main" id="{A182BFA5-A366-45AE-A2DB-A44ABA224B85}"/>
              </a:ext>
            </a:extLst>
          </p:cNvPr>
          <p:cNvSpPr>
            <a:spLocks noGrp="1"/>
          </p:cNvSpPr>
          <p:nvPr>
            <p:ph type="sldNum" sz="quarter" idx="14"/>
          </p:nvPr>
        </p:nvSpPr>
        <p:spPr/>
        <p:txBody>
          <a:bodyPr/>
          <a:lstStyle/>
          <a:p>
            <a:fld id="{AF69888C-E133-43D9-A638-B5C95925B91C}" type="slidenum">
              <a:rPr lang="zh-CN" altLang="en-US" smtClean="0"/>
              <a:t>40</a:t>
            </a:fld>
            <a:endParaRPr lang="zh-CN" altLang="en-US" dirty="0"/>
          </a:p>
        </p:txBody>
      </p:sp>
      <p:sp>
        <p:nvSpPr>
          <p:cNvPr id="15" name="文本框 14">
            <a:extLst>
              <a:ext uri="{FF2B5EF4-FFF2-40B4-BE49-F238E27FC236}">
                <a16:creationId xmlns:a16="http://schemas.microsoft.com/office/drawing/2014/main" id="{D05976E5-85A7-5D44-8375-FA00173D4CEC}"/>
              </a:ext>
            </a:extLst>
          </p:cNvPr>
          <p:cNvSpPr txBox="1"/>
          <p:nvPr/>
        </p:nvSpPr>
        <p:spPr>
          <a:xfrm>
            <a:off x="9234362" y="2914915"/>
            <a:ext cx="2743200" cy="1200329"/>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prstClr val="black"/>
              </a:solidFill>
              <a:effectLst/>
              <a:uLnTx/>
              <a:uFillTx/>
              <a:latin typeface="Segoe UI"/>
              <a:ea typeface="微软雅黑"/>
              <a:cs typeface="+mn-cs"/>
            </a:endParaRPr>
          </a:p>
          <a:p>
            <a:pPr marL="342900" lvl="0" indent="-342900">
              <a:buFont typeface="Arial" panose="020B0604020202020204" pitchFamily="34" charset="0"/>
              <a:buChar char="•"/>
              <a:defRPr/>
            </a:pPr>
            <a:r>
              <a:rPr lang="zh-CN" altLang="en-US" sz="2400" dirty="0"/>
              <a:t>指数损失可导，便于优化</a:t>
            </a:r>
            <a:endParaRPr lang="en-US" altLang="zh-CN" sz="2400" dirty="0"/>
          </a:p>
        </p:txBody>
      </p:sp>
    </p:spTree>
    <p:extLst>
      <p:ext uri="{BB962C8B-B14F-4D97-AF65-F5344CB8AC3E}">
        <p14:creationId xmlns:p14="http://schemas.microsoft.com/office/powerpoint/2010/main" val="290463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blinds(horizontal)">
                                      <p:cBhvr>
                                        <p:cTn id="20" dur="5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checkerboard(across)">
                                      <p:cBhvr>
                                        <p:cTn id="5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6" grpId="0"/>
      <p:bldP spid="28" grpId="0"/>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EBAA3C6-7B0A-DEE7-1BB6-DA307C5665B9}"/>
              </a:ext>
            </a:extLst>
          </p:cNvPr>
          <p:cNvSpPr txBox="1"/>
          <p:nvPr/>
        </p:nvSpPr>
        <p:spPr>
          <a:xfrm>
            <a:off x="646304" y="956327"/>
            <a:ext cx="2685351" cy="461665"/>
          </a:xfrm>
          <a:prstGeom prst="rect">
            <a:avLst/>
          </a:prstGeom>
          <a:noFill/>
        </p:spPr>
        <p:txBody>
          <a:bodyPr wrap="none" rtlCol="0">
            <a:spAutoFit/>
          </a:bodyPr>
          <a:lstStyle/>
          <a:p>
            <a:pPr marL="342900" indent="-342900" algn="l">
              <a:buFont typeface="Wingdings" pitchFamily="2" charset="2"/>
              <a:buChar char="Ø"/>
            </a:pPr>
            <a:r>
              <a:rPr lang="zh-CN" altLang="en-US" sz="2400" dirty="0">
                <a:latin typeface="+mn-ea"/>
              </a:rPr>
              <a:t>训练数据错误率</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81D819C-995B-7E11-78D4-9B47A57357CF}"/>
                  </a:ext>
                </a:extLst>
              </p:cNvPr>
              <p:cNvSpPr txBox="1"/>
              <p:nvPr/>
            </p:nvSpPr>
            <p:spPr>
              <a:xfrm>
                <a:off x="687919" y="2041801"/>
                <a:ext cx="5768060" cy="830997"/>
              </a:xfrm>
              <a:prstGeom prst="rect">
                <a:avLst/>
              </a:prstGeom>
              <a:noFill/>
            </p:spPr>
            <p:txBody>
              <a:bodyPr wrap="square" rtlCol="0">
                <a:spAutoFit/>
              </a:bodyPr>
              <a:lstStyle/>
              <a:p>
                <a:pPr marL="342900" indent="-342900">
                  <a:buFont typeface="Wingdings" panose="05000000000000000000" pitchFamily="2" charset="2"/>
                  <a:buChar char="Ø"/>
                </a:pP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𝑍</m:t>
                        </m:r>
                      </m:e>
                      <m:sub>
                        <m:r>
                          <a:rPr lang="en-US" altLang="zh-CN" sz="2400" b="0" i="1" dirty="0" smtClean="0">
                            <a:latin typeface="Cambria Math" panose="02040503050406030204" pitchFamily="18" charset="0"/>
                          </a:rPr>
                          <m:t>𝑡</m:t>
                        </m:r>
                      </m:sub>
                    </m:sSub>
                  </m:oMath>
                </a14:m>
                <a:r>
                  <a:rPr lang="zh-CN" altLang="en-US" sz="2400" dirty="0">
                    <a:latin typeface="+mn-ea"/>
                  </a:rPr>
                  <a:t>：训练</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𝑓</m:t>
                        </m:r>
                      </m:e>
                      <m:sub>
                        <m:r>
                          <a:rPr lang="en-US" altLang="zh-CN" sz="2400" i="1" dirty="0">
                            <a:latin typeface="Cambria Math" panose="02040503050406030204" pitchFamily="18" charset="0"/>
                          </a:rPr>
                          <m:t>𝑡</m:t>
                        </m:r>
                      </m:sub>
                    </m:sSub>
                  </m:oMath>
                </a14:m>
                <a:r>
                  <a:rPr lang="zh-CN" altLang="en-US" sz="2400" dirty="0">
                    <a:latin typeface="+mn-ea"/>
                  </a:rPr>
                  <a:t>的训练数据权重的总和，即：</a:t>
                </a:r>
                <a:endParaRPr lang="en-US" altLang="zh-CN" sz="2400" dirty="0">
                  <a:latin typeface="+mn-ea"/>
                </a:endParaRPr>
              </a:p>
              <a:p>
                <a:pPr marL="342900" indent="-342900" algn="l">
                  <a:buFont typeface="Wingdings" panose="05000000000000000000" pitchFamily="2" charset="2"/>
                  <a:buChar char="Ø"/>
                </a:pPr>
                <a:endParaRPr lang="zh-CN" altLang="en-US" sz="2400" dirty="0">
                  <a:latin typeface="+mn-ea"/>
                </a:endParaRPr>
              </a:p>
            </p:txBody>
          </p:sp>
        </mc:Choice>
        <mc:Fallback xmlns="">
          <p:sp>
            <p:nvSpPr>
              <p:cNvPr id="9" name="文本框 8">
                <a:extLst>
                  <a:ext uri="{FF2B5EF4-FFF2-40B4-BE49-F238E27FC236}">
                    <a16:creationId xmlns:a16="http://schemas.microsoft.com/office/drawing/2014/main" id="{F81D819C-995B-7E11-78D4-9B47A57357CF}"/>
                  </a:ext>
                </a:extLst>
              </p:cNvPr>
              <p:cNvSpPr txBox="1">
                <a:spLocks noRot="1" noChangeAspect="1" noMove="1" noResize="1" noEditPoints="1" noAdjustHandles="1" noChangeArrowheads="1" noChangeShapeType="1" noTextEdit="1"/>
              </p:cNvSpPr>
              <p:nvPr/>
            </p:nvSpPr>
            <p:spPr>
              <a:xfrm>
                <a:off x="687919" y="2041801"/>
                <a:ext cx="5768060" cy="830997"/>
              </a:xfrm>
              <a:prstGeom prst="rect">
                <a:avLst/>
              </a:prstGeom>
              <a:blipFill>
                <a:blip r:embed="rId2"/>
                <a:stretch>
                  <a:fillRect l="-1538" t="-5970" r="-681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2B1D849-C7A3-4A0E-BF5E-EC429E7FBF58}"/>
                  </a:ext>
                </a:extLst>
              </p:cNvPr>
              <p:cNvSpPr txBox="1"/>
              <p:nvPr/>
            </p:nvSpPr>
            <p:spPr>
              <a:xfrm>
                <a:off x="3166119" y="782347"/>
                <a:ext cx="5245370" cy="8962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f>
                        <m:fPr>
                          <m:ctrlPr>
                            <a:rPr lang="zh-CN" altLang="en-US" sz="2400" i="1" smtClean="0">
                              <a:solidFill>
                                <a:srgbClr val="836967"/>
                              </a:solidFill>
                              <a:latin typeface="Cambria Math" panose="02040503050406030204" pitchFamily="18" charset="0"/>
                            </a:rPr>
                          </m:ctrlPr>
                        </m:fPr>
                        <m:num>
                          <m:r>
                            <a:rPr lang="zh-CN" altLang="en-US" sz="2400" i="1" smtClean="0">
                              <a:latin typeface="Cambria Math" panose="02040503050406030204" pitchFamily="18" charset="0"/>
                            </a:rPr>
                            <m:t>1</m:t>
                          </m:r>
                        </m:num>
                        <m:den>
                          <m:r>
                            <a:rPr lang="zh-CN" altLang="en-US" sz="2400" i="1" smtClean="0">
                              <a:latin typeface="Cambria Math" panose="02040503050406030204" pitchFamily="18" charset="0"/>
                            </a:rPr>
                            <m:t>𝑁</m:t>
                          </m:r>
                        </m:den>
                      </m:f>
                      <m:nary>
                        <m:naryPr>
                          <m:chr m:val="∑"/>
                          <m:limLoc m:val="undOvr"/>
                          <m:grow m:val="on"/>
                          <m:supHide m:val="on"/>
                          <m:ctrlPr>
                            <a:rPr lang="zh-CN" altLang="en-US" sz="2400" i="1" smtClean="0">
                              <a:latin typeface="Cambria Math" panose="02040503050406030204" pitchFamily="18" charset="0"/>
                            </a:rPr>
                          </m:ctrlPr>
                        </m:naryPr>
                        <m:sub>
                          <m:r>
                            <a:rPr lang="zh-CN" altLang="en-US" sz="2400" i="1" smtClean="0">
                              <a:latin typeface="Cambria Math" panose="02040503050406030204" pitchFamily="18" charset="0"/>
                            </a:rPr>
                            <m:t>𝑛</m:t>
                          </m:r>
                        </m:sub>
                        <m:sup/>
                        <m:e>
                          <m:r>
                            <m:rPr>
                              <m:sty m:val="p"/>
                            </m:rPr>
                            <a:rPr lang="en-US" altLang="zh-CN" sz="2400" b="0" i="0" smtClean="0">
                              <a:latin typeface="Cambria Math" panose="02040503050406030204" pitchFamily="18" charset="0"/>
                            </a:rPr>
                            <m:t>exp</m:t>
                          </m:r>
                          <m:r>
                            <a:rPr lang="en-US" altLang="zh-CN" sz="2400" b="0" i="1" smtClean="0">
                              <a:latin typeface="Cambria Math" panose="02040503050406030204" pitchFamily="18" charset="0"/>
                            </a:rPr>
                            <m:t>⁡(</m:t>
                          </m:r>
                          <m:r>
                            <a:rPr lang="zh-CN" altLang="en-US" sz="2400" i="1">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𝑦</m:t>
                                  </m:r>
                                </m:e>
                              </m:acc>
                            </m:e>
                            <m:sup>
                              <m:r>
                                <a:rPr lang="zh-CN" altLang="en-US" sz="2400" i="1">
                                  <a:latin typeface="Cambria Math" panose="02040503050406030204" pitchFamily="18" charset="0"/>
                                </a:rPr>
                                <m:t>𝑛</m:t>
                              </m:r>
                            </m:sup>
                          </m:sSup>
                          <m:r>
                            <a:rPr lang="zh-CN" altLang="en-US" sz="2400" i="1">
                              <a:latin typeface="Cambria Math" panose="02040503050406030204" pitchFamily="18" charset="0"/>
                            </a:rPr>
                            <m:t>𝑔</m:t>
                          </m:r>
                          <m:d>
                            <m:dPr>
                              <m:ctrlPr>
                                <a:rPr lang="zh-CN" altLang="en-US" sz="2400" i="1">
                                  <a:solidFill>
                                    <a:srgbClr val="836967"/>
                                  </a:solidFill>
                                  <a:latin typeface="Cambria Math" panose="02040503050406030204" pitchFamily="18" charset="0"/>
                                </a:rPr>
                              </m:ctrlPr>
                            </m:dPr>
                            <m:e>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1">
                                      <a:latin typeface="Cambria Math" panose="02040503050406030204" pitchFamily="18" charset="0"/>
                                    </a:rPr>
                                    <m:t>𝑛</m:t>
                                  </m:r>
                                </m:sup>
                              </m:sSup>
                            </m:e>
                          </m:d>
                          <m:r>
                            <a:rPr lang="en-US" altLang="zh-CN" sz="2400" b="0" i="1" smtClean="0">
                              <a:latin typeface="Cambria Math" panose="02040503050406030204" pitchFamily="18" charset="0"/>
                            </a:rPr>
                            <m:t>)</m:t>
                          </m:r>
                          <m:r>
                            <a:rPr lang="zh-CN" altLang="en-US" sz="2400" i="1" smtClean="0">
                              <a:solidFill>
                                <a:srgbClr val="836967"/>
                              </a:solidFill>
                              <a:latin typeface="Cambria Math" panose="02040503050406030204" pitchFamily="18" charset="0"/>
                            </a:rPr>
                            <m:t> </m:t>
                          </m:r>
                        </m:e>
                      </m:nary>
                      <m:r>
                        <a:rPr lang="zh-CN" altLang="en-US" sz="2400" i="1" smtClean="0">
                          <a:latin typeface="Cambria Math" panose="02040503050406030204" pitchFamily="18" charset="0"/>
                        </a:rPr>
                        <m:t>=</m:t>
                      </m:r>
                      <m:f>
                        <m:fPr>
                          <m:ctrlPr>
                            <a:rPr lang="zh-CN" altLang="en-US" sz="2400" i="1" smtClean="0">
                              <a:solidFill>
                                <a:srgbClr val="FF0000"/>
                              </a:solidFill>
                              <a:latin typeface="Cambria Math" panose="02040503050406030204" pitchFamily="18" charset="0"/>
                            </a:rPr>
                          </m:ctrlPr>
                        </m:fPr>
                        <m:num>
                          <m:r>
                            <a:rPr lang="zh-CN" altLang="en-US" sz="2400" i="1" smtClean="0">
                              <a:solidFill>
                                <a:srgbClr val="FF0000"/>
                              </a:solidFill>
                              <a:latin typeface="Cambria Math" panose="02040503050406030204" pitchFamily="18" charset="0"/>
                            </a:rPr>
                            <m:t>1</m:t>
                          </m:r>
                        </m:num>
                        <m:den>
                          <m:r>
                            <a:rPr lang="zh-CN" altLang="en-US" sz="2400" i="1" smtClean="0">
                              <a:solidFill>
                                <a:srgbClr val="FF0000"/>
                              </a:solidFill>
                              <a:latin typeface="Cambria Math" panose="02040503050406030204" pitchFamily="18" charset="0"/>
                            </a:rPr>
                            <m:t>𝑁</m:t>
                          </m:r>
                        </m:den>
                      </m:f>
                      <m:sSub>
                        <m:sSubPr>
                          <m:ctrlPr>
                            <a:rPr lang="zh-CN" altLang="en-US" sz="2400" i="1" smtClean="0">
                              <a:solidFill>
                                <a:srgbClr val="FF0000"/>
                              </a:solidFill>
                              <a:latin typeface="Cambria Math" panose="02040503050406030204" pitchFamily="18" charset="0"/>
                            </a:rPr>
                          </m:ctrlPr>
                        </m:sSubPr>
                        <m:e>
                          <m:r>
                            <a:rPr lang="zh-CN" altLang="en-US" sz="2400" i="1" smtClean="0">
                              <a:solidFill>
                                <a:srgbClr val="FF0000"/>
                              </a:solidFill>
                              <a:latin typeface="Cambria Math" panose="02040503050406030204" pitchFamily="18" charset="0"/>
                            </a:rPr>
                            <m:t>𝑍</m:t>
                          </m:r>
                        </m:e>
                        <m:sub>
                          <m:r>
                            <a:rPr lang="zh-CN" altLang="en-US" sz="2400" i="1" smtClean="0">
                              <a:solidFill>
                                <a:srgbClr val="FF0000"/>
                              </a:solidFill>
                              <a:latin typeface="Cambria Math" panose="02040503050406030204" pitchFamily="18" charset="0"/>
                            </a:rPr>
                            <m:t>𝑇</m:t>
                          </m:r>
                          <m:r>
                            <a:rPr lang="zh-CN" altLang="en-US" sz="2400" i="1" smtClean="0">
                              <a:solidFill>
                                <a:srgbClr val="FF0000"/>
                              </a:solidFill>
                              <a:latin typeface="Cambria Math" panose="02040503050406030204" pitchFamily="18" charset="0"/>
                            </a:rPr>
                            <m:t>+1</m:t>
                          </m:r>
                        </m:sub>
                      </m:sSub>
                    </m:oMath>
                  </m:oMathPara>
                </a14:m>
                <a:endParaRPr lang="zh-CN" altLang="en-US" sz="2400" dirty="0">
                  <a:latin typeface="+mn-ea"/>
                </a:endParaRPr>
              </a:p>
            </p:txBody>
          </p:sp>
        </mc:Choice>
        <mc:Fallback xmlns="">
          <p:sp>
            <p:nvSpPr>
              <p:cNvPr id="2" name="文本框 1">
                <a:extLst>
                  <a:ext uri="{FF2B5EF4-FFF2-40B4-BE49-F238E27FC236}">
                    <a16:creationId xmlns:a16="http://schemas.microsoft.com/office/drawing/2014/main" id="{B2B1D849-C7A3-4A0E-BF5E-EC429E7FBF58}"/>
                  </a:ext>
                </a:extLst>
              </p:cNvPr>
              <p:cNvSpPr txBox="1">
                <a:spLocks noRot="1" noChangeAspect="1" noMove="1" noResize="1" noEditPoints="1" noAdjustHandles="1" noChangeArrowheads="1" noChangeShapeType="1" noTextEdit="1"/>
              </p:cNvSpPr>
              <p:nvPr/>
            </p:nvSpPr>
            <p:spPr>
              <a:xfrm>
                <a:off x="3166119" y="782347"/>
                <a:ext cx="5245370" cy="896207"/>
              </a:xfrm>
              <a:prstGeom prst="rect">
                <a:avLst/>
              </a:prstGeom>
              <a:blipFill>
                <a:blip r:embed="rId3"/>
                <a:stretch>
                  <a:fillRect l="-3865" t="-149296" b="-205634"/>
                </a:stretch>
              </a:blipFill>
            </p:spPr>
            <p:txBody>
              <a:bodyPr/>
              <a:lstStyle/>
              <a:p>
                <a:r>
                  <a:rPr lang="en-CN">
                    <a:noFill/>
                  </a:rPr>
                  <a:t> </a:t>
                </a:r>
              </a:p>
            </p:txBody>
          </p:sp>
        </mc:Fallback>
      </mc:AlternateContent>
      <p:pic>
        <p:nvPicPr>
          <p:cNvPr id="8" name="图片 7">
            <a:extLst>
              <a:ext uri="{FF2B5EF4-FFF2-40B4-BE49-F238E27FC236}">
                <a16:creationId xmlns:a16="http://schemas.microsoft.com/office/drawing/2014/main" id="{741C7469-EE2A-469E-B476-99B825ED7D8C}"/>
              </a:ext>
            </a:extLst>
          </p:cNvPr>
          <p:cNvPicPr>
            <a:picLocks noChangeAspect="1"/>
          </p:cNvPicPr>
          <p:nvPr/>
        </p:nvPicPr>
        <p:blipFill>
          <a:blip r:embed="rId4"/>
          <a:stretch>
            <a:fillRect/>
          </a:stretch>
        </p:blipFill>
        <p:spPr>
          <a:xfrm>
            <a:off x="9384183" y="64223"/>
            <a:ext cx="2744097" cy="1673118"/>
          </a:xfrm>
          <a:prstGeom prst="rect">
            <a:avLst/>
          </a:prstGeom>
        </p:spPr>
      </p:pic>
      <p:pic>
        <p:nvPicPr>
          <p:cNvPr id="12" name="图片 11">
            <a:extLst>
              <a:ext uri="{FF2B5EF4-FFF2-40B4-BE49-F238E27FC236}">
                <a16:creationId xmlns:a16="http://schemas.microsoft.com/office/drawing/2014/main" id="{D53279AA-C351-4241-9995-FA5941A746C9}"/>
              </a:ext>
            </a:extLst>
          </p:cNvPr>
          <p:cNvPicPr>
            <a:picLocks noChangeAspect="1"/>
          </p:cNvPicPr>
          <p:nvPr/>
        </p:nvPicPr>
        <p:blipFill>
          <a:blip r:embed="rId5"/>
          <a:stretch>
            <a:fillRect/>
          </a:stretch>
        </p:blipFill>
        <p:spPr>
          <a:xfrm>
            <a:off x="6848626" y="1860922"/>
            <a:ext cx="2351586" cy="965830"/>
          </a:xfrm>
          <a:prstGeom prst="rect">
            <a:avLst/>
          </a:prstGeom>
        </p:spPr>
      </p:pic>
      <p:pic>
        <p:nvPicPr>
          <p:cNvPr id="15" name="图片 14">
            <a:extLst>
              <a:ext uri="{FF2B5EF4-FFF2-40B4-BE49-F238E27FC236}">
                <a16:creationId xmlns:a16="http://schemas.microsoft.com/office/drawing/2014/main" id="{5048F738-FE24-4C15-9FE3-6607BC07BA3F}"/>
              </a:ext>
            </a:extLst>
          </p:cNvPr>
          <p:cNvPicPr>
            <a:picLocks noChangeAspect="1"/>
          </p:cNvPicPr>
          <p:nvPr/>
        </p:nvPicPr>
        <p:blipFill>
          <a:blip r:embed="rId6"/>
          <a:stretch>
            <a:fillRect/>
          </a:stretch>
        </p:blipFill>
        <p:spPr>
          <a:xfrm>
            <a:off x="919159" y="3228412"/>
            <a:ext cx="5245370" cy="1365320"/>
          </a:xfrm>
          <a:prstGeom prst="rect">
            <a:avLst/>
          </a:prstGeom>
        </p:spPr>
      </p:pic>
      <p:sp>
        <p:nvSpPr>
          <p:cNvPr id="17" name="右大括号 16">
            <a:extLst>
              <a:ext uri="{FF2B5EF4-FFF2-40B4-BE49-F238E27FC236}">
                <a16:creationId xmlns:a16="http://schemas.microsoft.com/office/drawing/2014/main" id="{7E6C6DB5-503B-4998-96E2-89B5394FB286}"/>
              </a:ext>
            </a:extLst>
          </p:cNvPr>
          <p:cNvSpPr/>
          <p:nvPr/>
        </p:nvSpPr>
        <p:spPr>
          <a:xfrm>
            <a:off x="6283717" y="3228412"/>
            <a:ext cx="481264" cy="136532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dirty="0"/>
          </a:p>
        </p:txBody>
      </p:sp>
      <p:pic>
        <p:nvPicPr>
          <p:cNvPr id="19" name="图片 18">
            <a:extLst>
              <a:ext uri="{FF2B5EF4-FFF2-40B4-BE49-F238E27FC236}">
                <a16:creationId xmlns:a16="http://schemas.microsoft.com/office/drawing/2014/main" id="{BFB6CC22-BEAA-417A-A84D-D934BD6A6765}"/>
              </a:ext>
            </a:extLst>
          </p:cNvPr>
          <p:cNvPicPr>
            <a:picLocks noChangeAspect="1"/>
          </p:cNvPicPr>
          <p:nvPr/>
        </p:nvPicPr>
        <p:blipFill>
          <a:blip r:embed="rId7"/>
          <a:stretch>
            <a:fillRect/>
          </a:stretch>
        </p:blipFill>
        <p:spPr>
          <a:xfrm>
            <a:off x="7104907" y="3228412"/>
            <a:ext cx="4300253" cy="1308544"/>
          </a:xfrm>
          <a:prstGeom prst="rect">
            <a:avLst/>
          </a:prstGeom>
        </p:spPr>
      </p:pic>
      <p:pic>
        <p:nvPicPr>
          <p:cNvPr id="21" name="图片 20">
            <a:extLst>
              <a:ext uri="{FF2B5EF4-FFF2-40B4-BE49-F238E27FC236}">
                <a16:creationId xmlns:a16="http://schemas.microsoft.com/office/drawing/2014/main" id="{A26AF1CE-17A4-4383-968F-8546BD18DFC0}"/>
              </a:ext>
            </a:extLst>
          </p:cNvPr>
          <p:cNvPicPr>
            <a:picLocks noChangeAspect="1"/>
          </p:cNvPicPr>
          <p:nvPr/>
        </p:nvPicPr>
        <p:blipFill rotWithShape="1">
          <a:blip r:embed="rId8"/>
          <a:srcRect t="3124" b="1913"/>
          <a:stretch/>
        </p:blipFill>
        <p:spPr>
          <a:xfrm>
            <a:off x="1494246" y="4956982"/>
            <a:ext cx="5207120" cy="1180646"/>
          </a:xfrm>
          <a:prstGeom prst="rect">
            <a:avLst/>
          </a:prstGeom>
        </p:spPr>
      </p:pic>
      <p:grpSp>
        <p:nvGrpSpPr>
          <p:cNvPr id="6" name="Group 5">
            <a:extLst>
              <a:ext uri="{FF2B5EF4-FFF2-40B4-BE49-F238E27FC236}">
                <a16:creationId xmlns:a16="http://schemas.microsoft.com/office/drawing/2014/main" id="{7E41EB83-1401-21F9-7790-52A134C3E7A6}"/>
              </a:ext>
            </a:extLst>
          </p:cNvPr>
          <p:cNvGrpSpPr/>
          <p:nvPr/>
        </p:nvGrpSpPr>
        <p:grpSpPr>
          <a:xfrm>
            <a:off x="6701366" y="4881466"/>
            <a:ext cx="4056052" cy="1320111"/>
            <a:chOff x="6701366" y="4881466"/>
            <a:chExt cx="4056052" cy="1320111"/>
          </a:xfrm>
        </p:grpSpPr>
        <p:pic>
          <p:nvPicPr>
            <p:cNvPr id="23" name="图片 22">
              <a:extLst>
                <a:ext uri="{FF2B5EF4-FFF2-40B4-BE49-F238E27FC236}">
                  <a16:creationId xmlns:a16="http://schemas.microsoft.com/office/drawing/2014/main" id="{0490C3EA-15EC-4635-AEC3-F3EEA5CA3384}"/>
                </a:ext>
              </a:extLst>
            </p:cNvPr>
            <p:cNvPicPr>
              <a:picLocks noChangeAspect="1"/>
            </p:cNvPicPr>
            <p:nvPr/>
          </p:nvPicPr>
          <p:blipFill>
            <a:blip r:embed="rId9"/>
            <a:stretch>
              <a:fillRect/>
            </a:stretch>
          </p:blipFill>
          <p:spPr>
            <a:xfrm>
              <a:off x="6701366" y="4893033"/>
              <a:ext cx="4056052" cy="1308544"/>
            </a:xfrm>
            <a:prstGeom prst="rect">
              <a:avLst/>
            </a:prstGeom>
          </p:spPr>
        </p:pic>
        <p:pic>
          <p:nvPicPr>
            <p:cNvPr id="5" name="Picture 4">
              <a:extLst>
                <a:ext uri="{FF2B5EF4-FFF2-40B4-BE49-F238E27FC236}">
                  <a16:creationId xmlns:a16="http://schemas.microsoft.com/office/drawing/2014/main" id="{1357C963-9686-C4F8-37BB-C65C44692BA4}"/>
                </a:ext>
              </a:extLst>
            </p:cNvPr>
            <p:cNvPicPr>
              <a:picLocks noChangeAspect="1"/>
            </p:cNvPicPr>
            <p:nvPr/>
          </p:nvPicPr>
          <p:blipFill>
            <a:blip r:embed="rId10"/>
            <a:stretch>
              <a:fillRect/>
            </a:stretch>
          </p:blipFill>
          <p:spPr>
            <a:xfrm>
              <a:off x="9255033" y="4881466"/>
              <a:ext cx="774140" cy="224750"/>
            </a:xfrm>
            <a:prstGeom prst="rect">
              <a:avLst/>
            </a:prstGeom>
          </p:spPr>
        </p:pic>
      </p:grpSp>
      <p:pic>
        <p:nvPicPr>
          <p:cNvPr id="25" name="图片 24">
            <a:extLst>
              <a:ext uri="{FF2B5EF4-FFF2-40B4-BE49-F238E27FC236}">
                <a16:creationId xmlns:a16="http://schemas.microsoft.com/office/drawing/2014/main" id="{65416CCC-F907-4351-9598-495CFBC5CEA2}"/>
              </a:ext>
            </a:extLst>
          </p:cNvPr>
          <p:cNvPicPr>
            <a:picLocks noChangeAspect="1"/>
          </p:cNvPicPr>
          <p:nvPr/>
        </p:nvPicPr>
        <p:blipFill>
          <a:blip r:embed="rId11"/>
          <a:stretch>
            <a:fillRect/>
          </a:stretch>
        </p:blipFill>
        <p:spPr>
          <a:xfrm>
            <a:off x="9384183" y="4593732"/>
            <a:ext cx="774141" cy="464484"/>
          </a:xfrm>
          <a:prstGeom prst="rect">
            <a:avLst/>
          </a:prstGeom>
        </p:spPr>
      </p:pic>
      <p:sp>
        <p:nvSpPr>
          <p:cNvPr id="7" name="灯片编号占位符 6">
            <a:extLst>
              <a:ext uri="{FF2B5EF4-FFF2-40B4-BE49-F238E27FC236}">
                <a16:creationId xmlns:a16="http://schemas.microsoft.com/office/drawing/2014/main" id="{59709A34-F372-48FD-84FC-03F960312CB4}"/>
              </a:ext>
            </a:extLst>
          </p:cNvPr>
          <p:cNvSpPr>
            <a:spLocks noGrp="1"/>
          </p:cNvSpPr>
          <p:nvPr>
            <p:ph type="sldNum" sz="quarter" idx="14"/>
          </p:nvPr>
        </p:nvSpPr>
        <p:spPr/>
        <p:txBody>
          <a:bodyPr/>
          <a:lstStyle/>
          <a:p>
            <a:fld id="{AF69888C-E133-43D9-A638-B5C95925B91C}" type="slidenum">
              <a:rPr lang="zh-CN" altLang="en-US" smtClean="0"/>
              <a:t>41</a:t>
            </a:fld>
            <a:endParaRPr lang="zh-CN" altLang="en-US" dirty="0"/>
          </a:p>
        </p:txBody>
      </p:sp>
      <p:sp>
        <p:nvSpPr>
          <p:cNvPr id="10" name="矩形 9">
            <a:extLst>
              <a:ext uri="{FF2B5EF4-FFF2-40B4-BE49-F238E27FC236}">
                <a16:creationId xmlns:a16="http://schemas.microsoft.com/office/drawing/2014/main" id="{2790FEB7-ED6E-4896-9CEE-548259EA906D}"/>
              </a:ext>
            </a:extLst>
          </p:cNvPr>
          <p:cNvSpPr/>
          <p:nvPr/>
        </p:nvSpPr>
        <p:spPr>
          <a:xfrm>
            <a:off x="919159" y="2634329"/>
            <a:ext cx="987053" cy="461665"/>
          </a:xfrm>
          <a:prstGeom prst="rect">
            <a:avLst/>
          </a:prstGeom>
        </p:spPr>
        <p:txBody>
          <a:bodyPr wrap="square">
            <a:spAutoFit/>
          </a:bodyPr>
          <a:lstStyle/>
          <a:p>
            <a:r>
              <a:rPr lang="zh-CN" altLang="en-US" sz="2400" b="1" dirty="0">
                <a:solidFill>
                  <a:srgbClr val="FF0000"/>
                </a:solidFill>
                <a:latin typeface="+mn-ea"/>
              </a:rPr>
              <a:t>证明：</a:t>
            </a:r>
            <a:endParaRPr lang="zh-CN" altLang="en-US" sz="2400" b="1" dirty="0">
              <a:solidFill>
                <a:srgbClr val="FF0000"/>
              </a:solidFill>
            </a:endParaRPr>
          </a:p>
        </p:txBody>
      </p:sp>
      <p:sp>
        <p:nvSpPr>
          <p:cNvPr id="22" name="文本占位符 1">
            <a:extLst>
              <a:ext uri="{FF2B5EF4-FFF2-40B4-BE49-F238E27FC236}">
                <a16:creationId xmlns:a16="http://schemas.microsoft.com/office/drawing/2014/main" id="{AC1E3650-E7C7-2947-9FC5-DDFF35237465}"/>
              </a:ext>
            </a:extLst>
          </p:cNvPr>
          <p:cNvSpPr>
            <a:spLocks noGrp="1"/>
          </p:cNvSpPr>
          <p:nvPr>
            <p:ph type="body" sz="quarter" idx="12"/>
          </p:nvPr>
        </p:nvSpPr>
        <p:spPr>
          <a:xfrm>
            <a:off x="566962" y="265803"/>
            <a:ext cx="5529038" cy="426497"/>
          </a:xfrm>
        </p:spPr>
        <p:txBody>
          <a:bodyPr/>
          <a:lstStyle/>
          <a:p>
            <a:pPr marL="0" indent="0">
              <a:buNone/>
            </a:pPr>
            <a:r>
              <a:rPr lang="en-US" altLang="zh-CN" sz="3200" dirty="0"/>
              <a:t>AdaBoost</a:t>
            </a:r>
            <a:r>
              <a:rPr lang="zh-CN" altLang="en-US" sz="3200" spc="300" dirty="0"/>
              <a:t>的误差界分析</a:t>
            </a:r>
          </a:p>
        </p:txBody>
      </p:sp>
    </p:spTree>
    <p:extLst>
      <p:ext uri="{BB962C8B-B14F-4D97-AF65-F5344CB8AC3E}">
        <p14:creationId xmlns:p14="http://schemas.microsoft.com/office/powerpoint/2010/main" val="3239971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blinds(horizontal)">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7" grpId="0" animBg="1"/>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C972B8D-3CD3-45BB-AD0C-B83D5B50312A}"/>
                  </a:ext>
                </a:extLst>
              </p:cNvPr>
              <p:cNvSpPr txBox="1"/>
              <p:nvPr/>
            </p:nvSpPr>
            <p:spPr>
              <a:xfrm>
                <a:off x="1019093" y="2145747"/>
                <a:ext cx="8283744" cy="2371803"/>
              </a:xfrm>
              <a:prstGeom prst="rect">
                <a:avLst/>
              </a:prstGeom>
              <a:noFill/>
            </p:spPr>
            <p:txBody>
              <a:bodyPr wrap="square" lIns="0" tIns="0" rIns="0" bIns="0" rtlCol="0">
                <a:spAutoFit/>
              </a:bodyPr>
              <a:lstStyle/>
              <a:p>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𝑍</m:t>
                        </m:r>
                      </m:e>
                      <m:sub>
                        <m:r>
                          <a:rPr lang="en-US" altLang="zh-CN" sz="2400" b="0" i="1" smtClean="0">
                            <a:solidFill>
                              <a:schemeClr val="tx1"/>
                            </a:solidFill>
                            <a:latin typeface="Cambria Math" panose="02040503050406030204" pitchFamily="18" charset="0"/>
                          </a:rPr>
                          <m:t>1</m:t>
                        </m:r>
                      </m:sub>
                    </m:sSub>
                    <m:r>
                      <a:rPr lang="en-US" altLang="zh-CN" sz="2400" i="1" smtClean="0">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ea typeface="Cambria Math" panose="02040503050406030204" pitchFamily="18" charset="0"/>
                      </a:rPr>
                      <m:t>𝑁</m:t>
                    </m:r>
                  </m:oMath>
                </a14:m>
                <a:r>
                  <a:rPr lang="zh-CN" altLang="en-US" sz="2400" dirty="0">
                    <a:solidFill>
                      <a:schemeClr val="tx1"/>
                    </a:solidFill>
                    <a:latin typeface="+mn-ea"/>
                  </a:rPr>
                  <a:t> （</a:t>
                </a:r>
                <a:r>
                  <a:rPr lang="zh-CN" altLang="en-CN" sz="2400" dirty="0">
                    <a:solidFill>
                      <a:schemeClr val="tx1"/>
                    </a:solidFill>
                    <a:latin typeface="+mn-ea"/>
                  </a:rPr>
                  <a:t>初</a:t>
                </a:r>
                <a:r>
                  <a:rPr lang="zh-CN" altLang="en-US" sz="2400" dirty="0">
                    <a:solidFill>
                      <a:schemeClr val="tx1"/>
                    </a:solidFill>
                    <a:latin typeface="+mn-ea"/>
                  </a:rPr>
                  <a:t>始</a:t>
                </a:r>
                <a:r>
                  <a:rPr lang="zh-CN" altLang="en-CN" sz="2400" dirty="0">
                    <a:solidFill>
                      <a:schemeClr val="tx1"/>
                    </a:solidFill>
                    <a:latin typeface="+mn-ea"/>
                  </a:rPr>
                  <a:t>权重</a:t>
                </a:r>
                <a:r>
                  <a:rPr lang="zh-CN" altLang="en-US" sz="2400" dirty="0">
                    <a:solidFill>
                      <a:schemeClr val="tx1"/>
                    </a:solidFill>
                    <a:latin typeface="+mn-ea"/>
                  </a:rPr>
                  <a:t>都相同</a:t>
                </a:r>
                <a:r>
                  <a:rPr lang="en-US" altLang="zh-CN" sz="2400" dirty="0">
                    <a:solidFill>
                      <a:schemeClr val="tx1"/>
                    </a:solidFill>
                    <a:latin typeface="+mn-ea"/>
                  </a:rPr>
                  <a:t>=1</a:t>
                </a:r>
                <a:r>
                  <a:rPr lang="zh-CN" altLang="en-US" sz="2400" dirty="0">
                    <a:solidFill>
                      <a:schemeClr val="tx1"/>
                    </a:solidFill>
                    <a:latin typeface="+mn-ea"/>
                  </a:rPr>
                  <a:t>）</a:t>
                </a:r>
                <a:endParaRPr lang="en-US" altLang="zh-CN" sz="2400" dirty="0">
                  <a:solidFill>
                    <a:schemeClr val="tx1"/>
                  </a:solidFill>
                  <a:latin typeface="+mn-ea"/>
                </a:endParaRPr>
              </a:p>
              <a:p>
                <a:pPr/>
                <a14:m>
                  <m:oMathPara xmlns:m="http://schemas.openxmlformats.org/officeDocument/2006/math">
                    <m:oMathParaPr>
                      <m:jc m:val="left"/>
                    </m:oMathParaPr>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𝑍</m:t>
                          </m:r>
                        </m:e>
                        <m:sub>
                          <m:r>
                            <a:rPr lang="zh-CN" altLang="en-US" sz="2400" i="1" dirty="0" smtClean="0">
                              <a:solidFill>
                                <a:schemeClr val="tx1"/>
                              </a:solidFill>
                              <a:latin typeface="Cambria Math" panose="02040503050406030204" pitchFamily="18" charset="0"/>
                            </a:rPr>
                            <m:t>𝑡</m:t>
                          </m:r>
                          <m:r>
                            <a:rPr lang="en-US" altLang="zh-CN" sz="2400" b="0" i="1" dirty="0" smtClean="0">
                              <a:solidFill>
                                <a:schemeClr val="tx1"/>
                              </a:solidFill>
                              <a:latin typeface="Cambria Math" panose="02040503050406030204" pitchFamily="18" charset="0"/>
                            </a:rPr>
                            <m:t>+1</m:t>
                          </m:r>
                        </m:sub>
                      </m:sSub>
                      <m:r>
                        <a:rPr lang="zh-CN" altLang="en-US" sz="2400" i="0" dirty="0" smtClean="0">
                          <a:solidFill>
                            <a:schemeClr val="tx1"/>
                          </a:solidFill>
                          <a:latin typeface="Cambria Math" panose="02040503050406030204" pitchFamily="18" charset="0"/>
                        </a:rPr>
                        <m:t>=</m:t>
                      </m:r>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𝑍</m:t>
                          </m:r>
                        </m:e>
                        <m:sub>
                          <m:r>
                            <a:rPr lang="zh-CN" altLang="en-US" sz="2400" i="1" dirty="0" smtClean="0">
                              <a:solidFill>
                                <a:schemeClr val="tx1"/>
                              </a:solidFill>
                              <a:latin typeface="Cambria Math" panose="02040503050406030204" pitchFamily="18" charset="0"/>
                            </a:rPr>
                            <m:t>𝑡</m:t>
                          </m:r>
                        </m:sub>
                      </m:sSub>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𝜀</m:t>
                          </m:r>
                        </m:e>
                        <m:sub>
                          <m:r>
                            <a:rPr lang="zh-CN" altLang="en-US" sz="2400" i="1" dirty="0" smtClean="0">
                              <a:solidFill>
                                <a:schemeClr val="tx1"/>
                              </a:solidFill>
                              <a:latin typeface="Cambria Math" panose="02040503050406030204" pitchFamily="18" charset="0"/>
                            </a:rPr>
                            <m:t>𝑡</m:t>
                          </m:r>
                        </m:sub>
                      </m:sSub>
                      <m:sSup>
                        <m:sSupPr>
                          <m:ctrlPr>
                            <a:rPr lang="zh-CN" altLang="en-US" sz="2400" i="1" dirty="0" smtClean="0">
                              <a:solidFill>
                                <a:schemeClr val="tx1"/>
                              </a:solidFill>
                              <a:latin typeface="Cambria Math" panose="02040503050406030204" pitchFamily="18" charset="0"/>
                            </a:rPr>
                          </m:ctrlPr>
                        </m:sSupPr>
                        <m:e>
                          <m:r>
                            <a:rPr lang="zh-CN" altLang="en-US" sz="2400" i="0" dirty="0" smtClean="0">
                              <a:solidFill>
                                <a:schemeClr val="tx1"/>
                              </a:solidFill>
                              <a:latin typeface="Cambria Math" panose="02040503050406030204" pitchFamily="18" charset="0"/>
                            </a:rPr>
                            <m:t>ⅇ</m:t>
                          </m:r>
                        </m:e>
                        <m:sup>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𝛼</m:t>
                              </m:r>
                            </m:e>
                            <m:sub>
                              <m:r>
                                <a:rPr lang="zh-CN" altLang="en-US" sz="2400" i="1" dirty="0" smtClean="0">
                                  <a:solidFill>
                                    <a:schemeClr val="tx1"/>
                                  </a:solidFill>
                                  <a:latin typeface="Cambria Math" panose="02040503050406030204" pitchFamily="18" charset="0"/>
                                </a:rPr>
                                <m:t>𝑡</m:t>
                              </m:r>
                            </m:sub>
                          </m:sSub>
                        </m:sup>
                      </m:sSup>
                      <m:r>
                        <a:rPr lang="zh-CN" altLang="en-US" sz="2400" i="0" dirty="0" smtClean="0">
                          <a:solidFill>
                            <a:schemeClr val="tx1"/>
                          </a:solidFill>
                          <a:latin typeface="Cambria Math" panose="02040503050406030204" pitchFamily="18" charset="0"/>
                        </a:rPr>
                        <m:t>+</m:t>
                      </m:r>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𝑍</m:t>
                          </m:r>
                        </m:e>
                        <m:sub>
                          <m:r>
                            <a:rPr lang="zh-CN" altLang="en-US" sz="2400" i="1" dirty="0" smtClean="0">
                              <a:solidFill>
                                <a:schemeClr val="tx1"/>
                              </a:solidFill>
                              <a:latin typeface="Cambria Math" panose="02040503050406030204" pitchFamily="18" charset="0"/>
                            </a:rPr>
                            <m:t>𝑡</m:t>
                          </m:r>
                        </m:sub>
                      </m:sSub>
                      <m:d>
                        <m:dPr>
                          <m:ctrlPr>
                            <a:rPr lang="zh-CN" altLang="en-US" sz="2400" i="1" dirty="0" smtClean="0">
                              <a:solidFill>
                                <a:schemeClr val="tx1"/>
                              </a:solidFill>
                              <a:latin typeface="Cambria Math" panose="02040503050406030204" pitchFamily="18" charset="0"/>
                            </a:rPr>
                          </m:ctrlPr>
                        </m:dPr>
                        <m:e>
                          <m:r>
                            <a:rPr lang="zh-CN" altLang="en-US" sz="2400" i="0" dirty="0" smtClean="0">
                              <a:solidFill>
                                <a:schemeClr val="tx1"/>
                              </a:solidFill>
                              <a:latin typeface="Cambria Math" panose="02040503050406030204" pitchFamily="18" charset="0"/>
                            </a:rPr>
                            <m:t>1−</m:t>
                          </m:r>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𝜀</m:t>
                              </m:r>
                            </m:e>
                            <m:sub>
                              <m:r>
                                <a:rPr lang="zh-CN" altLang="en-US" sz="2400" i="1" dirty="0" smtClean="0">
                                  <a:solidFill>
                                    <a:schemeClr val="tx1"/>
                                  </a:solidFill>
                                  <a:latin typeface="Cambria Math" panose="02040503050406030204" pitchFamily="18" charset="0"/>
                                </a:rPr>
                                <m:t>𝑡</m:t>
                              </m:r>
                            </m:sub>
                          </m:sSub>
                        </m:e>
                      </m:d>
                      <m:sSup>
                        <m:sSupPr>
                          <m:ctrlPr>
                            <a:rPr lang="zh-CN" altLang="en-US" sz="2400" i="1" dirty="0" smtClean="0">
                              <a:solidFill>
                                <a:schemeClr val="tx1"/>
                              </a:solidFill>
                              <a:latin typeface="Cambria Math" panose="02040503050406030204" pitchFamily="18" charset="0"/>
                            </a:rPr>
                          </m:ctrlPr>
                        </m:sSupPr>
                        <m:e>
                          <m:r>
                            <a:rPr lang="zh-CN" altLang="en-US" sz="2400" i="0" dirty="0" smtClean="0">
                              <a:solidFill>
                                <a:schemeClr val="tx1"/>
                              </a:solidFill>
                              <a:latin typeface="Cambria Math" panose="02040503050406030204" pitchFamily="18" charset="0"/>
                            </a:rPr>
                            <m:t>ⅇ</m:t>
                          </m:r>
                        </m:e>
                        <m:sup>
                          <m:r>
                            <a:rPr lang="zh-CN" altLang="en-US" sz="2400" i="0" dirty="0" smtClean="0">
                              <a:solidFill>
                                <a:schemeClr val="tx1"/>
                              </a:solidFill>
                              <a:latin typeface="Cambria Math" panose="02040503050406030204" pitchFamily="18" charset="0"/>
                            </a:rPr>
                            <m:t>−</m:t>
                          </m:r>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𝛼</m:t>
                              </m:r>
                            </m:e>
                            <m:sub>
                              <m:r>
                                <a:rPr lang="zh-CN" altLang="en-US" sz="2400" i="1" dirty="0" smtClean="0">
                                  <a:solidFill>
                                    <a:schemeClr val="tx1"/>
                                  </a:solidFill>
                                  <a:latin typeface="Cambria Math" panose="02040503050406030204" pitchFamily="18" charset="0"/>
                                </a:rPr>
                                <m:t>𝑡</m:t>
                              </m:r>
                            </m:sub>
                          </m:sSub>
                        </m:sup>
                      </m:sSup>
                    </m:oMath>
                  </m:oMathPara>
                </a14:m>
                <a:endParaRPr lang="en-US" altLang="zh-CN" sz="2400" i="1" dirty="0">
                  <a:solidFill>
                    <a:schemeClr val="tx1"/>
                  </a:solidFill>
                  <a:latin typeface="Cambria Math" panose="02040503050406030204" pitchFamily="18" charset="0"/>
                </a:endParaRPr>
              </a:p>
              <a:p>
                <a:endParaRPr lang="en-US" altLang="zh-CN" sz="2400" i="1" dirty="0">
                  <a:solidFill>
                    <a:schemeClr val="tx1"/>
                  </a:solidFill>
                  <a:latin typeface="Cambria Math" panose="02040503050406030204" pitchFamily="18" charset="0"/>
                </a:endParaRPr>
              </a:p>
              <a:p>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en-US" altLang="zh-CN" sz="2400" i="1" dirty="0" smtClean="0">
                            <a:solidFill>
                              <a:schemeClr val="tx1"/>
                            </a:solidFill>
                            <a:latin typeface="Cambria Math" panose="02040503050406030204" pitchFamily="18" charset="0"/>
                            <a:ea typeface="Cambria Math" panose="02040503050406030204" pitchFamily="18" charset="0"/>
                          </a:rPr>
                          <m:t>=</m:t>
                        </m:r>
                        <m:r>
                          <a:rPr lang="zh-CN" altLang="en-US" sz="2400" i="1" dirty="0" smtClean="0">
                            <a:solidFill>
                              <a:schemeClr val="tx1"/>
                            </a:solidFill>
                            <a:latin typeface="Cambria Math" panose="02040503050406030204" pitchFamily="18" charset="0"/>
                          </a:rPr>
                          <m:t>𝑍</m:t>
                        </m:r>
                      </m:e>
                      <m:sub>
                        <m:r>
                          <a:rPr lang="zh-CN" altLang="en-US" sz="2400" i="1" dirty="0" smtClean="0">
                            <a:solidFill>
                              <a:schemeClr val="tx1"/>
                            </a:solidFill>
                            <a:latin typeface="Cambria Math" panose="02040503050406030204" pitchFamily="18" charset="0"/>
                          </a:rPr>
                          <m:t>𝑡</m:t>
                        </m:r>
                      </m:sub>
                    </m:sSub>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𝜀</m:t>
                        </m:r>
                      </m:e>
                      <m:sub>
                        <m:r>
                          <a:rPr lang="zh-CN" altLang="en-US" sz="2400" i="1" dirty="0" smtClean="0">
                            <a:solidFill>
                              <a:schemeClr val="tx1"/>
                            </a:solidFill>
                            <a:latin typeface="Cambria Math" panose="02040503050406030204" pitchFamily="18" charset="0"/>
                          </a:rPr>
                          <m:t>𝑡</m:t>
                        </m:r>
                      </m:sub>
                    </m:sSub>
                    <m:rad>
                      <m:radPr>
                        <m:degHide m:val="on"/>
                        <m:ctrlPr>
                          <a:rPr lang="zh-CN" altLang="en-US" sz="2400" i="1" dirty="0" smtClean="0">
                            <a:solidFill>
                              <a:schemeClr val="tx1"/>
                            </a:solidFill>
                            <a:latin typeface="Cambria Math" panose="02040503050406030204" pitchFamily="18" charset="0"/>
                          </a:rPr>
                        </m:ctrlPr>
                      </m:radPr>
                      <m:deg/>
                      <m:e>
                        <m:f>
                          <m:fPr>
                            <m:type m:val="lin"/>
                            <m:ctrlPr>
                              <a:rPr lang="zh-CN" altLang="en-US" sz="2400" i="1" dirty="0" smtClean="0">
                                <a:solidFill>
                                  <a:schemeClr val="tx1"/>
                                </a:solidFill>
                                <a:latin typeface="Cambria Math" panose="02040503050406030204" pitchFamily="18" charset="0"/>
                              </a:rPr>
                            </m:ctrlPr>
                          </m:fPr>
                          <m:num>
                            <m:d>
                              <m:dPr>
                                <m:ctrlPr>
                                  <a:rPr lang="zh-CN" altLang="en-US" sz="2400" i="1" dirty="0" smtClean="0">
                                    <a:solidFill>
                                      <a:schemeClr val="tx1"/>
                                    </a:solidFill>
                                    <a:latin typeface="Cambria Math" panose="02040503050406030204" pitchFamily="18" charset="0"/>
                                  </a:rPr>
                                </m:ctrlPr>
                              </m:dPr>
                              <m:e>
                                <m:r>
                                  <a:rPr lang="zh-CN" altLang="en-US" sz="2400" i="0" dirty="0" smtClean="0">
                                    <a:solidFill>
                                      <a:schemeClr val="tx1"/>
                                    </a:solidFill>
                                    <a:latin typeface="Cambria Math" panose="02040503050406030204" pitchFamily="18" charset="0"/>
                                  </a:rPr>
                                  <m:t>1−</m:t>
                                </m:r>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𝜀</m:t>
                                    </m:r>
                                  </m:e>
                                  <m:sub>
                                    <m:r>
                                      <a:rPr lang="zh-CN" altLang="en-US" sz="2400" i="1" dirty="0" smtClean="0">
                                        <a:solidFill>
                                          <a:schemeClr val="tx1"/>
                                        </a:solidFill>
                                        <a:latin typeface="Cambria Math" panose="02040503050406030204" pitchFamily="18" charset="0"/>
                                      </a:rPr>
                                      <m:t>𝑡</m:t>
                                    </m:r>
                                  </m:sub>
                                </m:sSub>
                              </m:e>
                            </m:d>
                          </m:num>
                          <m:den>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𝜀</m:t>
                                </m:r>
                              </m:e>
                              <m:sub>
                                <m:r>
                                  <a:rPr lang="zh-CN" altLang="en-US" sz="2400" i="1" dirty="0" smtClean="0">
                                    <a:solidFill>
                                      <a:schemeClr val="tx1"/>
                                    </a:solidFill>
                                    <a:latin typeface="Cambria Math" panose="02040503050406030204" pitchFamily="18" charset="0"/>
                                  </a:rPr>
                                  <m:t>𝑡</m:t>
                                </m:r>
                              </m:sub>
                            </m:sSub>
                          </m:den>
                        </m:f>
                      </m:e>
                    </m:rad>
                  </m:oMath>
                </a14:m>
                <a:r>
                  <a:rPr lang="zh-CN" altLang="en-US" sz="2400" dirty="0">
                    <a:solidFill>
                      <a:schemeClr val="tx1"/>
                    </a:solidFill>
                  </a:rPr>
                  <a:t> </a:t>
                </a:r>
                <a14:m>
                  <m:oMath xmlns:m="http://schemas.openxmlformats.org/officeDocument/2006/math">
                    <m:sSub>
                      <m:sSubPr>
                        <m:ctrlPr>
                          <a:rPr lang="zh-CN" altLang="en-US" sz="2400" i="1" dirty="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m:t>
                        </m:r>
                        <m:r>
                          <a:rPr lang="zh-CN" altLang="en-US" sz="2400" i="1" dirty="0">
                            <a:solidFill>
                              <a:schemeClr val="tx1"/>
                            </a:solidFill>
                            <a:latin typeface="Cambria Math" panose="02040503050406030204" pitchFamily="18" charset="0"/>
                          </a:rPr>
                          <m:t>𝑍</m:t>
                        </m:r>
                      </m:e>
                      <m:sub>
                        <m:r>
                          <a:rPr lang="zh-CN" altLang="en-US" sz="2400" i="1" dirty="0">
                            <a:solidFill>
                              <a:schemeClr val="tx1"/>
                            </a:solidFill>
                            <a:latin typeface="Cambria Math" panose="02040503050406030204" pitchFamily="18" charset="0"/>
                          </a:rPr>
                          <m:t>𝑡</m:t>
                        </m:r>
                      </m:sub>
                    </m:sSub>
                    <m:d>
                      <m:dPr>
                        <m:ctrlPr>
                          <a:rPr lang="zh-CN" altLang="en-US" sz="2400" i="1" dirty="0">
                            <a:solidFill>
                              <a:schemeClr val="tx1"/>
                            </a:solidFill>
                            <a:latin typeface="Cambria Math" panose="02040503050406030204" pitchFamily="18" charset="0"/>
                          </a:rPr>
                        </m:ctrlPr>
                      </m:dPr>
                      <m:e>
                        <m:r>
                          <a:rPr lang="zh-CN" altLang="en-US" sz="2400" dirty="0">
                            <a:solidFill>
                              <a:schemeClr val="tx1"/>
                            </a:solidFill>
                            <a:latin typeface="Cambria Math" panose="02040503050406030204" pitchFamily="18" charset="0"/>
                          </a:rPr>
                          <m:t>1−</m:t>
                        </m:r>
                        <m:sSub>
                          <m:sSubPr>
                            <m:ctrlPr>
                              <a:rPr lang="zh-CN" altLang="en-US" sz="2400" i="1" dirty="0">
                                <a:solidFill>
                                  <a:schemeClr val="tx1"/>
                                </a:solidFill>
                                <a:latin typeface="Cambria Math" panose="02040503050406030204" pitchFamily="18" charset="0"/>
                              </a:rPr>
                            </m:ctrlPr>
                          </m:sSubPr>
                          <m:e>
                            <m:r>
                              <a:rPr lang="zh-CN" altLang="en-US" sz="2400" i="1" dirty="0">
                                <a:solidFill>
                                  <a:schemeClr val="tx1"/>
                                </a:solidFill>
                                <a:latin typeface="Cambria Math" panose="02040503050406030204" pitchFamily="18" charset="0"/>
                              </a:rPr>
                              <m:t>𝜀</m:t>
                            </m:r>
                          </m:e>
                          <m:sub>
                            <m:r>
                              <a:rPr lang="zh-CN" altLang="en-US" sz="2400" i="1" dirty="0">
                                <a:solidFill>
                                  <a:schemeClr val="tx1"/>
                                </a:solidFill>
                                <a:latin typeface="Cambria Math" panose="02040503050406030204" pitchFamily="18" charset="0"/>
                              </a:rPr>
                              <m:t>𝑡</m:t>
                            </m:r>
                          </m:sub>
                        </m:sSub>
                      </m:e>
                    </m:d>
                    <m:rad>
                      <m:radPr>
                        <m:degHide m:val="on"/>
                        <m:ctrlPr>
                          <a:rPr lang="zh-CN" altLang="en-US" sz="2400" i="1" dirty="0">
                            <a:solidFill>
                              <a:schemeClr val="tx1"/>
                            </a:solidFill>
                            <a:latin typeface="Cambria Math" panose="02040503050406030204" pitchFamily="18" charset="0"/>
                          </a:rPr>
                        </m:ctrlPr>
                      </m:radPr>
                      <m:deg/>
                      <m:e>
                        <m:f>
                          <m:fPr>
                            <m:type m:val="lin"/>
                            <m:ctrlPr>
                              <a:rPr lang="zh-CN" altLang="en-US" sz="2400" i="1" dirty="0">
                                <a:solidFill>
                                  <a:schemeClr val="tx1"/>
                                </a:solidFill>
                                <a:latin typeface="Cambria Math" panose="02040503050406030204" pitchFamily="18" charset="0"/>
                              </a:rPr>
                            </m:ctrlPr>
                          </m:fPr>
                          <m:num>
                            <m:sSub>
                              <m:sSubPr>
                                <m:ctrlPr>
                                  <a:rPr lang="zh-CN" altLang="en-US" sz="2400" i="1" dirty="0">
                                    <a:solidFill>
                                      <a:schemeClr val="tx1"/>
                                    </a:solidFill>
                                    <a:latin typeface="Cambria Math" panose="02040503050406030204" pitchFamily="18" charset="0"/>
                                  </a:rPr>
                                </m:ctrlPr>
                              </m:sSubPr>
                              <m:e>
                                <m:r>
                                  <a:rPr lang="zh-CN" altLang="en-US" sz="2400" i="1" dirty="0">
                                    <a:solidFill>
                                      <a:schemeClr val="tx1"/>
                                    </a:solidFill>
                                    <a:latin typeface="Cambria Math" panose="02040503050406030204" pitchFamily="18" charset="0"/>
                                  </a:rPr>
                                  <m:t>𝜀</m:t>
                                </m:r>
                              </m:e>
                              <m:sub>
                                <m:r>
                                  <a:rPr lang="zh-CN" altLang="en-US" sz="2400" i="1" dirty="0">
                                    <a:solidFill>
                                      <a:schemeClr val="tx1"/>
                                    </a:solidFill>
                                    <a:latin typeface="Cambria Math" panose="02040503050406030204" pitchFamily="18" charset="0"/>
                                  </a:rPr>
                                  <m:t>𝑡</m:t>
                                </m:r>
                              </m:sub>
                            </m:sSub>
                          </m:num>
                          <m:den>
                            <m:d>
                              <m:dPr>
                                <m:ctrlPr>
                                  <a:rPr lang="zh-CN" altLang="en-US" sz="2400" i="1" dirty="0">
                                    <a:solidFill>
                                      <a:schemeClr val="tx1"/>
                                    </a:solidFill>
                                    <a:latin typeface="Cambria Math" panose="02040503050406030204" pitchFamily="18" charset="0"/>
                                  </a:rPr>
                                </m:ctrlPr>
                              </m:dPr>
                              <m:e>
                                <m:r>
                                  <a:rPr lang="zh-CN" altLang="en-US" sz="2400" dirty="0">
                                    <a:solidFill>
                                      <a:schemeClr val="tx1"/>
                                    </a:solidFill>
                                    <a:latin typeface="Cambria Math" panose="02040503050406030204" pitchFamily="18" charset="0"/>
                                  </a:rPr>
                                  <m:t>1−</m:t>
                                </m:r>
                                <m:sSub>
                                  <m:sSubPr>
                                    <m:ctrlPr>
                                      <a:rPr lang="zh-CN" altLang="en-US" sz="2400" i="1" dirty="0">
                                        <a:solidFill>
                                          <a:schemeClr val="tx1"/>
                                        </a:solidFill>
                                        <a:latin typeface="Cambria Math" panose="02040503050406030204" pitchFamily="18" charset="0"/>
                                      </a:rPr>
                                    </m:ctrlPr>
                                  </m:sSubPr>
                                  <m:e>
                                    <m:r>
                                      <a:rPr lang="zh-CN" altLang="en-US" sz="2400" i="1" dirty="0">
                                        <a:solidFill>
                                          <a:schemeClr val="tx1"/>
                                        </a:solidFill>
                                        <a:latin typeface="Cambria Math" panose="02040503050406030204" pitchFamily="18" charset="0"/>
                                      </a:rPr>
                                      <m:t>𝜀</m:t>
                                    </m:r>
                                  </m:e>
                                  <m:sub>
                                    <m:r>
                                      <a:rPr lang="zh-CN" altLang="en-US" sz="2400" i="1" dirty="0">
                                        <a:solidFill>
                                          <a:schemeClr val="tx1"/>
                                        </a:solidFill>
                                        <a:latin typeface="Cambria Math" panose="02040503050406030204" pitchFamily="18" charset="0"/>
                                      </a:rPr>
                                      <m:t>𝑡</m:t>
                                    </m:r>
                                  </m:sub>
                                </m:sSub>
                              </m:e>
                            </m:d>
                          </m:den>
                        </m:f>
                      </m:e>
                    </m:rad>
                  </m:oMath>
                </a14:m>
                <a:endParaRPr lang="en-US" altLang="zh-CN" sz="2400" dirty="0">
                  <a:solidFill>
                    <a:schemeClr val="tx1"/>
                  </a:solidFill>
                  <a:latin typeface="+mn-ea"/>
                </a:endParaRPr>
              </a:p>
              <a:p>
                <a:endParaRPr lang="en-US" altLang="zh-CN" sz="2400" dirty="0">
                  <a:solidFill>
                    <a:schemeClr val="tx1"/>
                  </a:solidFill>
                  <a:latin typeface="+mn-ea"/>
                </a:endParaRPr>
              </a:p>
              <a:p>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en-US" altLang="zh-CN" sz="2400" i="1" dirty="0" smtClean="0">
                            <a:solidFill>
                              <a:schemeClr val="tx1"/>
                            </a:solidFill>
                            <a:latin typeface="Cambria Math" panose="02040503050406030204" pitchFamily="18" charset="0"/>
                            <a:ea typeface="Cambria Math" panose="02040503050406030204" pitchFamily="18" charset="0"/>
                          </a:rPr>
                          <m:t>=</m:t>
                        </m:r>
                        <m:r>
                          <a:rPr lang="zh-CN" altLang="en-US" sz="2400" i="1" dirty="0" smtClean="0">
                            <a:solidFill>
                              <a:schemeClr val="tx1"/>
                            </a:solidFill>
                            <a:latin typeface="Cambria Math" panose="02040503050406030204" pitchFamily="18" charset="0"/>
                          </a:rPr>
                          <m:t>𝑍</m:t>
                        </m:r>
                      </m:e>
                      <m:sub>
                        <m:r>
                          <a:rPr lang="zh-CN" altLang="en-US" sz="2400" i="1" dirty="0" smtClean="0">
                            <a:solidFill>
                              <a:schemeClr val="tx1"/>
                            </a:solidFill>
                            <a:latin typeface="Cambria Math" panose="02040503050406030204" pitchFamily="18" charset="0"/>
                          </a:rPr>
                          <m:t>𝑡</m:t>
                        </m:r>
                      </m:sub>
                    </m:sSub>
                  </m:oMath>
                </a14:m>
                <a:r>
                  <a:rPr lang="zh-CN" altLang="en-US" sz="2400" dirty="0">
                    <a:solidFill>
                      <a:schemeClr val="tx1"/>
                    </a:solidFill>
                    <a:latin typeface="+mn-ea"/>
                  </a:rPr>
                  <a:t> </a:t>
                </a:r>
                <a14:m>
                  <m:oMath xmlns:m="http://schemas.openxmlformats.org/officeDocument/2006/math">
                    <m:r>
                      <a:rPr lang="en-US" altLang="zh-CN" sz="2400" i="1" dirty="0" smtClean="0">
                        <a:solidFill>
                          <a:schemeClr val="tx1"/>
                        </a:solidFill>
                        <a:latin typeface="Cambria Math" panose="02040503050406030204" pitchFamily="18" charset="0"/>
                        <a:ea typeface="Cambria Math" panose="02040503050406030204" pitchFamily="18" charset="0"/>
                      </a:rPr>
                      <m:t>×</m:t>
                    </m:r>
                    <m:r>
                      <a:rPr lang="en-US" altLang="zh-CN" sz="2400" b="0" i="1" dirty="0" smtClean="0">
                        <a:solidFill>
                          <a:schemeClr val="tx1"/>
                        </a:solidFill>
                        <a:latin typeface="Cambria Math" panose="02040503050406030204" pitchFamily="18" charset="0"/>
                        <a:ea typeface="Cambria Math" panose="02040503050406030204" pitchFamily="18" charset="0"/>
                      </a:rPr>
                      <m:t>2</m:t>
                    </m:r>
                  </m:oMath>
                </a14:m>
                <a:r>
                  <a:rPr lang="zh-CN" altLang="en-US" sz="2400" dirty="0"/>
                  <a:t> </a:t>
                </a:r>
                <a14:m>
                  <m:oMath xmlns:m="http://schemas.openxmlformats.org/officeDocument/2006/math">
                    <m:rad>
                      <m:radPr>
                        <m:degHide m:val="on"/>
                        <m:ctrlPr>
                          <a:rPr lang="zh-CN" altLang="en-US" sz="2400" i="1" dirty="0">
                            <a:latin typeface="Cambria Math" panose="02040503050406030204" pitchFamily="18" charset="0"/>
                          </a:rPr>
                        </m:ctrlPr>
                      </m:radPr>
                      <m:deg/>
                      <m:e>
                        <m:d>
                          <m:dPr>
                            <m:ctrlPr>
                              <a:rPr lang="zh-CN" altLang="en-US" sz="2400" i="1" dirty="0">
                                <a:latin typeface="Cambria Math" panose="02040503050406030204" pitchFamily="18" charset="0"/>
                              </a:rPr>
                            </m:ctrlPr>
                          </m:dPr>
                          <m:e>
                            <m:r>
                              <a:rPr lang="zh-CN" altLang="en-US" sz="2400" dirty="0">
                                <a:latin typeface="Cambria Math" panose="02040503050406030204" pitchFamily="18" charset="0"/>
                              </a:rPr>
                              <m:t>1−</m:t>
                            </m:r>
                            <m:sSub>
                              <m:sSubPr>
                                <m:ctrlPr>
                                  <a:rPr lang="zh-CN" altLang="en-US" sz="2400" i="1" dirty="0">
                                    <a:latin typeface="Cambria Math" panose="02040503050406030204" pitchFamily="18" charset="0"/>
                                  </a:rPr>
                                </m:ctrlPr>
                              </m:sSubPr>
                              <m:e>
                                <m:r>
                                  <a:rPr lang="zh-CN" altLang="en-US" sz="2400" i="1" dirty="0">
                                    <a:latin typeface="Cambria Math" panose="02040503050406030204" pitchFamily="18" charset="0"/>
                                  </a:rPr>
                                  <m:t>𝜀</m:t>
                                </m:r>
                              </m:e>
                              <m:sub>
                                <m:r>
                                  <a:rPr lang="zh-CN" altLang="en-US" sz="2400" i="1" dirty="0">
                                    <a:latin typeface="Cambria Math" panose="02040503050406030204" pitchFamily="18" charset="0"/>
                                  </a:rPr>
                                  <m:t>𝑡</m:t>
                                </m:r>
                              </m:sub>
                            </m:sSub>
                          </m:e>
                        </m:d>
                        <m:sSub>
                          <m:sSubPr>
                            <m:ctrlPr>
                              <a:rPr lang="zh-CN" altLang="en-US" sz="2400" i="1" dirty="0">
                                <a:latin typeface="Cambria Math" panose="02040503050406030204" pitchFamily="18" charset="0"/>
                              </a:rPr>
                            </m:ctrlPr>
                          </m:sSubPr>
                          <m:e>
                            <m:r>
                              <a:rPr lang="zh-CN" altLang="en-US" sz="2400" i="1" dirty="0">
                                <a:latin typeface="Cambria Math" panose="02040503050406030204" pitchFamily="18" charset="0"/>
                              </a:rPr>
                              <m:t>𝜀</m:t>
                            </m:r>
                          </m:e>
                          <m:sub>
                            <m:r>
                              <a:rPr lang="zh-CN" altLang="en-US" sz="2400" i="1" dirty="0">
                                <a:latin typeface="Cambria Math" panose="02040503050406030204" pitchFamily="18" charset="0"/>
                              </a:rPr>
                              <m:t>𝑡</m:t>
                            </m:r>
                          </m:sub>
                        </m:sSub>
                      </m:e>
                    </m:rad>
                  </m:oMath>
                </a14:m>
                <a:endParaRPr lang="zh-CN" altLang="en-US" sz="2400" dirty="0">
                  <a:solidFill>
                    <a:schemeClr val="tx1"/>
                  </a:solidFill>
                  <a:latin typeface="+mn-ea"/>
                </a:endParaRPr>
              </a:p>
            </p:txBody>
          </p:sp>
        </mc:Choice>
        <mc:Fallback xmlns="">
          <p:sp>
            <p:nvSpPr>
              <p:cNvPr id="15" name="文本框 14">
                <a:extLst>
                  <a:ext uri="{FF2B5EF4-FFF2-40B4-BE49-F238E27FC236}">
                    <a16:creationId xmlns:a16="http://schemas.microsoft.com/office/drawing/2014/main" id="{9C972B8D-3CD3-45BB-AD0C-B83D5B50312A}"/>
                  </a:ext>
                </a:extLst>
              </p:cNvPr>
              <p:cNvSpPr txBox="1">
                <a:spLocks noRot="1" noChangeAspect="1" noMove="1" noResize="1" noEditPoints="1" noAdjustHandles="1" noChangeArrowheads="1" noChangeShapeType="1" noTextEdit="1"/>
              </p:cNvSpPr>
              <p:nvPr/>
            </p:nvSpPr>
            <p:spPr>
              <a:xfrm>
                <a:off x="1019093" y="2145747"/>
                <a:ext cx="8283744" cy="2371803"/>
              </a:xfrm>
              <a:prstGeom prst="rect">
                <a:avLst/>
              </a:prstGeom>
              <a:blipFill>
                <a:blip r:embed="rId2"/>
                <a:stretch>
                  <a:fillRect l="-1251" t="-4113"/>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43213417-F2C1-4AF8-AFF3-3F2E92922E05}"/>
              </a:ext>
            </a:extLst>
          </p:cNvPr>
          <p:cNvPicPr>
            <a:picLocks noChangeAspect="1"/>
          </p:cNvPicPr>
          <p:nvPr/>
        </p:nvPicPr>
        <p:blipFill>
          <a:blip r:embed="rId3"/>
          <a:stretch>
            <a:fillRect/>
          </a:stretch>
        </p:blipFill>
        <p:spPr>
          <a:xfrm>
            <a:off x="7330720" y="3810279"/>
            <a:ext cx="4263189" cy="1274009"/>
          </a:xfrm>
          <a:prstGeom prst="rect">
            <a:avLst/>
          </a:prstGeom>
        </p:spPr>
      </p:pic>
      <p:sp>
        <p:nvSpPr>
          <p:cNvPr id="20" name="文本框 19">
            <a:extLst>
              <a:ext uri="{FF2B5EF4-FFF2-40B4-BE49-F238E27FC236}">
                <a16:creationId xmlns:a16="http://schemas.microsoft.com/office/drawing/2014/main" id="{72029FD4-4406-45A6-88D4-9069E851E782}"/>
              </a:ext>
            </a:extLst>
          </p:cNvPr>
          <p:cNvSpPr txBox="1"/>
          <p:nvPr/>
        </p:nvSpPr>
        <p:spPr>
          <a:xfrm>
            <a:off x="566962" y="5419581"/>
            <a:ext cx="2963723" cy="461665"/>
          </a:xfrm>
          <a:prstGeom prst="rect">
            <a:avLst/>
          </a:prstGeom>
          <a:noFill/>
        </p:spPr>
        <p:txBody>
          <a:bodyPr wrap="square">
            <a:spAutoFit/>
          </a:bodyPr>
          <a:lstStyle/>
          <a:p>
            <a:pPr marL="342900" indent="-342900" algn="l">
              <a:buFont typeface="Wingdings" pitchFamily="2" charset="2"/>
              <a:buChar char="§"/>
            </a:pPr>
            <a:r>
              <a:rPr lang="zh-CN" altLang="en-US" sz="2400" dirty="0">
                <a:latin typeface="+mn-ea"/>
              </a:rPr>
              <a:t>训练数据错误率</a:t>
            </a: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810CE36-E2AE-4EB3-9EA3-71CF1B37E01C}"/>
                  </a:ext>
                </a:extLst>
              </p:cNvPr>
              <p:cNvSpPr txBox="1"/>
              <p:nvPr/>
            </p:nvSpPr>
            <p:spPr>
              <a:xfrm>
                <a:off x="3066430" y="5074050"/>
                <a:ext cx="3052011" cy="1038426"/>
              </a:xfrm>
              <a:prstGeom prst="rect">
                <a:avLst/>
              </a:prstGeom>
              <a:noFill/>
            </p:spPr>
            <p:txBody>
              <a:bodyPr wrap="square" lIns="0" tIns="0" rIns="0" bIns="0" rtlCol="0">
                <a:spAutoFit/>
              </a:bodyPr>
              <a:lstStyle/>
              <a:p>
                <a:pPr algn="l"/>
                <a14:m>
                  <m:oMathPara xmlns:m="http://schemas.openxmlformats.org/officeDocument/2006/math">
                    <m:oMathParaPr>
                      <m:jc m:val="centerGroup"/>
                    </m:oMathParaPr>
                    <m:oMath xmlns:m="http://schemas.openxmlformats.org/officeDocument/2006/math">
                      <m:r>
                        <a:rPr lang="zh-CN" altLang="en-US" sz="2400" i="1" smtClean="0">
                          <a:solidFill>
                            <a:schemeClr val="tx1"/>
                          </a:solidFill>
                          <a:latin typeface="Cambria Math" panose="02040503050406030204" pitchFamily="18" charset="0"/>
                        </a:rPr>
                        <m:t>≤</m:t>
                      </m:r>
                      <m:nary>
                        <m:naryPr>
                          <m:chr m:val="∏"/>
                          <m:limLoc m:val="undOvr"/>
                          <m:grow m:val="on"/>
                          <m:ctrlPr>
                            <a:rPr lang="zh-CN" altLang="en-US" sz="2400" i="1" smtClean="0">
                              <a:solidFill>
                                <a:schemeClr val="tx1"/>
                              </a:solidFill>
                              <a:latin typeface="Cambria Math" panose="02040503050406030204" pitchFamily="18" charset="0"/>
                            </a:rPr>
                          </m:ctrlPr>
                        </m:naryPr>
                        <m:sub>
                          <m:r>
                            <a:rPr lang="zh-CN" altLang="en-US" sz="2400" i="1" smtClean="0">
                              <a:solidFill>
                                <a:schemeClr val="tx1"/>
                              </a:solidFill>
                              <a:latin typeface="Cambria Math" panose="02040503050406030204" pitchFamily="18" charset="0"/>
                            </a:rPr>
                            <m:t>𝑡</m:t>
                          </m:r>
                          <m:r>
                            <a:rPr lang="zh-CN" altLang="en-US" sz="2400" i="1" smtClean="0">
                              <a:solidFill>
                                <a:schemeClr val="tx1"/>
                              </a:solidFill>
                              <a:latin typeface="Cambria Math" panose="02040503050406030204" pitchFamily="18" charset="0"/>
                            </a:rPr>
                            <m:t>=1</m:t>
                          </m:r>
                        </m:sub>
                        <m:sup>
                          <m:r>
                            <a:rPr lang="zh-CN" altLang="en-US" sz="2400" i="1" smtClean="0">
                              <a:solidFill>
                                <a:schemeClr val="tx1"/>
                              </a:solidFill>
                              <a:latin typeface="Cambria Math" panose="02040503050406030204" pitchFamily="18" charset="0"/>
                            </a:rPr>
                            <m:t>𝑇</m:t>
                          </m:r>
                        </m:sup>
                        <m:e>
                          <m:r>
                            <a:rPr lang="zh-CN" altLang="en-US" sz="2400" i="1" smtClean="0">
                              <a:solidFill>
                                <a:schemeClr val="tx1"/>
                              </a:solidFill>
                              <a:latin typeface="Cambria Math" panose="02040503050406030204" pitchFamily="18" charset="0"/>
                            </a:rPr>
                            <m:t>2</m:t>
                          </m:r>
                          <m:rad>
                            <m:radPr>
                              <m:degHide m:val="on"/>
                              <m:ctrlPr>
                                <a:rPr lang="zh-CN" altLang="en-US" sz="2400" i="1" smtClean="0">
                                  <a:solidFill>
                                    <a:schemeClr val="tx1"/>
                                  </a:solidFill>
                                  <a:latin typeface="Cambria Math" panose="02040503050406030204" pitchFamily="18" charset="0"/>
                                </a:rPr>
                              </m:ctrlPr>
                            </m:radPr>
                            <m:deg/>
                            <m:e>
                              <m:sSub>
                                <m:sSubPr>
                                  <m:ctrlPr>
                                    <a:rPr lang="zh-CN" altLang="en-US"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zh-CN" altLang="en-US" sz="2400" i="1" smtClean="0">
                                      <a:solidFill>
                                        <a:schemeClr val="tx1"/>
                                      </a:solidFill>
                                      <a:latin typeface="Cambria Math" panose="02040503050406030204" pitchFamily="18" charset="0"/>
                                    </a:rPr>
                                    <m:t>𝑡</m:t>
                                  </m:r>
                                </m:sub>
                              </m:sSub>
                              <m:d>
                                <m:dPr>
                                  <m:ctrlPr>
                                    <a:rPr lang="zh-CN" altLang="en-US" sz="2400" i="1" smtClean="0">
                                      <a:solidFill>
                                        <a:schemeClr val="tx1"/>
                                      </a:solidFill>
                                      <a:latin typeface="Cambria Math" panose="02040503050406030204" pitchFamily="18" charset="0"/>
                                    </a:rPr>
                                  </m:ctrlPr>
                                </m:dPr>
                                <m:e>
                                  <m:r>
                                    <a:rPr lang="zh-CN" altLang="en-US" sz="2400" i="1" smtClean="0">
                                      <a:solidFill>
                                        <a:schemeClr val="tx1"/>
                                      </a:solidFill>
                                      <a:latin typeface="Cambria Math" panose="02040503050406030204" pitchFamily="18" charset="0"/>
                                    </a:rPr>
                                    <m:t>1−</m:t>
                                  </m:r>
                                  <m:sSub>
                                    <m:sSubPr>
                                      <m:ctrlPr>
                                        <a:rPr lang="zh-CN" altLang="en-US"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𝜀</m:t>
                                      </m:r>
                                    </m:e>
                                    <m:sub>
                                      <m:r>
                                        <a:rPr lang="zh-CN" altLang="en-US" sz="2400" i="1" smtClean="0">
                                          <a:solidFill>
                                            <a:schemeClr val="tx1"/>
                                          </a:solidFill>
                                          <a:latin typeface="Cambria Math" panose="02040503050406030204" pitchFamily="18" charset="0"/>
                                        </a:rPr>
                                        <m:t>𝑡</m:t>
                                      </m:r>
                                    </m:sub>
                                  </m:sSub>
                                </m:e>
                              </m:d>
                            </m:e>
                          </m:rad>
                        </m:e>
                      </m:nary>
                    </m:oMath>
                  </m:oMathPara>
                </a14:m>
                <a:endParaRPr lang="zh-CN" altLang="en-US" sz="2400" dirty="0">
                  <a:solidFill>
                    <a:schemeClr val="tx1"/>
                  </a:solidFill>
                  <a:latin typeface="+mn-ea"/>
                </a:endParaRPr>
              </a:p>
            </p:txBody>
          </p:sp>
        </mc:Choice>
        <mc:Fallback xmlns="">
          <p:sp>
            <p:nvSpPr>
              <p:cNvPr id="21" name="文本框 20">
                <a:extLst>
                  <a:ext uri="{FF2B5EF4-FFF2-40B4-BE49-F238E27FC236}">
                    <a16:creationId xmlns:a16="http://schemas.microsoft.com/office/drawing/2014/main" id="{8810CE36-E2AE-4EB3-9EA3-71CF1B37E01C}"/>
                  </a:ext>
                </a:extLst>
              </p:cNvPr>
              <p:cNvSpPr txBox="1">
                <a:spLocks noRot="1" noChangeAspect="1" noMove="1" noResize="1" noEditPoints="1" noAdjustHandles="1" noChangeArrowheads="1" noChangeShapeType="1" noTextEdit="1"/>
              </p:cNvSpPr>
              <p:nvPr/>
            </p:nvSpPr>
            <p:spPr>
              <a:xfrm>
                <a:off x="3066430" y="5074050"/>
                <a:ext cx="3052011" cy="1038426"/>
              </a:xfrm>
              <a:prstGeom prst="rect">
                <a:avLst/>
              </a:prstGeom>
              <a:blipFill>
                <a:blip r:embed="rId4"/>
                <a:stretch>
                  <a:fillRect l="-19087" t="-114458" b="-174699"/>
                </a:stretch>
              </a:blipFill>
            </p:spPr>
            <p:txBody>
              <a:bodyPr/>
              <a:lstStyle/>
              <a:p>
                <a:r>
                  <a:rPr lang="en-CN">
                    <a:noFill/>
                  </a:rPr>
                  <a:t> </a:t>
                </a:r>
              </a:p>
            </p:txBody>
          </p:sp>
        </mc:Fallback>
      </mc:AlternateContent>
      <p:sp>
        <p:nvSpPr>
          <p:cNvPr id="3" name="文本框 2">
            <a:extLst>
              <a:ext uri="{FF2B5EF4-FFF2-40B4-BE49-F238E27FC236}">
                <a16:creationId xmlns:a16="http://schemas.microsoft.com/office/drawing/2014/main" id="{EB183039-340C-D566-9FD6-F9FCD40688A1}"/>
              </a:ext>
            </a:extLst>
          </p:cNvPr>
          <p:cNvSpPr txBox="1"/>
          <p:nvPr/>
        </p:nvSpPr>
        <p:spPr>
          <a:xfrm>
            <a:off x="646304" y="956327"/>
            <a:ext cx="2685351" cy="461665"/>
          </a:xfrm>
          <a:prstGeom prst="rect">
            <a:avLst/>
          </a:prstGeom>
          <a:noFill/>
        </p:spPr>
        <p:txBody>
          <a:bodyPr wrap="none" rtlCol="0">
            <a:spAutoFit/>
          </a:bodyPr>
          <a:lstStyle/>
          <a:p>
            <a:pPr marL="342900" indent="-342900" algn="l">
              <a:buFont typeface="Wingdings" pitchFamily="2" charset="2"/>
              <a:buChar char="Ø"/>
            </a:pPr>
            <a:r>
              <a:rPr lang="zh-CN" altLang="en-US" sz="2400" dirty="0">
                <a:latin typeface="+mn-ea"/>
              </a:rPr>
              <a:t>训练数据错误率</a:t>
            </a:r>
          </a:p>
        </p:txBody>
      </p:sp>
      <mc:AlternateContent xmlns:mc="http://schemas.openxmlformats.org/markup-compatibility/2006" xmlns:a14="http://schemas.microsoft.com/office/drawing/2010/main">
        <mc:Choice Requires="a14">
          <p:sp>
            <p:nvSpPr>
              <p:cNvPr id="4" name="文本框 1">
                <a:extLst>
                  <a:ext uri="{FF2B5EF4-FFF2-40B4-BE49-F238E27FC236}">
                    <a16:creationId xmlns:a16="http://schemas.microsoft.com/office/drawing/2014/main" id="{109250DE-2E9A-8642-D55E-0CC977E16876}"/>
                  </a:ext>
                </a:extLst>
              </p:cNvPr>
              <p:cNvSpPr txBox="1"/>
              <p:nvPr/>
            </p:nvSpPr>
            <p:spPr>
              <a:xfrm>
                <a:off x="3166119" y="782347"/>
                <a:ext cx="5245370" cy="8962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f>
                        <m:fPr>
                          <m:ctrlPr>
                            <a:rPr lang="zh-CN" altLang="en-US" sz="2400" i="1" smtClean="0">
                              <a:solidFill>
                                <a:srgbClr val="836967"/>
                              </a:solidFill>
                              <a:latin typeface="Cambria Math" panose="02040503050406030204" pitchFamily="18" charset="0"/>
                            </a:rPr>
                          </m:ctrlPr>
                        </m:fPr>
                        <m:num>
                          <m:r>
                            <a:rPr lang="zh-CN" altLang="en-US" sz="2400" i="1" smtClean="0">
                              <a:latin typeface="Cambria Math" panose="02040503050406030204" pitchFamily="18" charset="0"/>
                            </a:rPr>
                            <m:t>1</m:t>
                          </m:r>
                        </m:num>
                        <m:den>
                          <m:r>
                            <a:rPr lang="zh-CN" altLang="en-US" sz="2400" i="1" smtClean="0">
                              <a:latin typeface="Cambria Math" panose="02040503050406030204" pitchFamily="18" charset="0"/>
                            </a:rPr>
                            <m:t>𝑁</m:t>
                          </m:r>
                        </m:den>
                      </m:f>
                      <m:nary>
                        <m:naryPr>
                          <m:chr m:val="∑"/>
                          <m:limLoc m:val="undOvr"/>
                          <m:grow m:val="on"/>
                          <m:supHide m:val="on"/>
                          <m:ctrlPr>
                            <a:rPr lang="zh-CN" altLang="en-US" sz="2400" i="1" smtClean="0">
                              <a:latin typeface="Cambria Math" panose="02040503050406030204" pitchFamily="18" charset="0"/>
                            </a:rPr>
                          </m:ctrlPr>
                        </m:naryPr>
                        <m:sub>
                          <m:r>
                            <a:rPr lang="zh-CN" altLang="en-US" sz="2400" i="1" smtClean="0">
                              <a:latin typeface="Cambria Math" panose="02040503050406030204" pitchFamily="18" charset="0"/>
                            </a:rPr>
                            <m:t>𝑛</m:t>
                          </m:r>
                        </m:sub>
                        <m:sup/>
                        <m:e>
                          <m:r>
                            <m:rPr>
                              <m:sty m:val="p"/>
                            </m:rPr>
                            <a:rPr lang="en-US" altLang="zh-CN" sz="2400" b="0" i="0" smtClean="0">
                              <a:latin typeface="Cambria Math" panose="02040503050406030204" pitchFamily="18" charset="0"/>
                            </a:rPr>
                            <m:t>exp</m:t>
                          </m:r>
                          <m:r>
                            <a:rPr lang="en-US" altLang="zh-CN" sz="2400" b="0" i="1" smtClean="0">
                              <a:latin typeface="Cambria Math" panose="02040503050406030204" pitchFamily="18" charset="0"/>
                            </a:rPr>
                            <m:t>⁡(</m:t>
                          </m:r>
                          <m:r>
                            <a:rPr lang="zh-CN" altLang="en-US" sz="2400" i="1">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acc>
                                <m:accPr>
                                  <m:chr m:val="̂"/>
                                  <m:ctrlPr>
                                    <a:rPr lang="zh-CN" altLang="en-US" sz="2400" i="1">
                                      <a:solidFill>
                                        <a:srgbClr val="836967"/>
                                      </a:solidFill>
                                      <a:latin typeface="Cambria Math" panose="02040503050406030204" pitchFamily="18" charset="0"/>
                                    </a:rPr>
                                  </m:ctrlPr>
                                </m:accPr>
                                <m:e>
                                  <m:r>
                                    <a:rPr lang="zh-CN" altLang="en-US" sz="2400" i="1">
                                      <a:latin typeface="Cambria Math" panose="02040503050406030204" pitchFamily="18" charset="0"/>
                                    </a:rPr>
                                    <m:t>𝑦</m:t>
                                  </m:r>
                                </m:e>
                              </m:acc>
                            </m:e>
                            <m:sup>
                              <m:r>
                                <a:rPr lang="zh-CN" altLang="en-US" sz="2400" i="1">
                                  <a:latin typeface="Cambria Math" panose="02040503050406030204" pitchFamily="18" charset="0"/>
                                </a:rPr>
                                <m:t>𝑛</m:t>
                              </m:r>
                            </m:sup>
                          </m:sSup>
                          <m:r>
                            <a:rPr lang="zh-CN" altLang="en-US" sz="2400" i="1">
                              <a:latin typeface="Cambria Math" panose="02040503050406030204" pitchFamily="18" charset="0"/>
                            </a:rPr>
                            <m:t>𝑔</m:t>
                          </m:r>
                          <m:d>
                            <m:dPr>
                              <m:ctrlPr>
                                <a:rPr lang="zh-CN" altLang="en-US" sz="2400" i="1">
                                  <a:solidFill>
                                    <a:srgbClr val="836967"/>
                                  </a:solidFill>
                                  <a:latin typeface="Cambria Math" panose="02040503050406030204" pitchFamily="18" charset="0"/>
                                </a:rPr>
                              </m:ctrlPr>
                            </m:dPr>
                            <m:e>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i="1">
                                      <a:latin typeface="Cambria Math" panose="02040503050406030204" pitchFamily="18" charset="0"/>
                                    </a:rPr>
                                    <m:t>𝑛</m:t>
                                  </m:r>
                                </m:sup>
                              </m:sSup>
                            </m:e>
                          </m:d>
                          <m:r>
                            <a:rPr lang="en-US" altLang="zh-CN" sz="2400" b="0" i="1" smtClean="0">
                              <a:latin typeface="Cambria Math" panose="02040503050406030204" pitchFamily="18" charset="0"/>
                            </a:rPr>
                            <m:t>)</m:t>
                          </m:r>
                          <m:r>
                            <a:rPr lang="zh-CN" altLang="en-US" sz="2400" i="1" smtClean="0">
                              <a:solidFill>
                                <a:srgbClr val="836967"/>
                              </a:solidFill>
                              <a:latin typeface="Cambria Math" panose="02040503050406030204" pitchFamily="18" charset="0"/>
                            </a:rPr>
                            <m:t> </m:t>
                          </m:r>
                        </m:e>
                      </m:nary>
                      <m:r>
                        <a:rPr lang="zh-CN" altLang="en-US" sz="2400" i="1" smtClean="0">
                          <a:latin typeface="Cambria Math" panose="02040503050406030204" pitchFamily="18" charset="0"/>
                        </a:rPr>
                        <m:t>=</m:t>
                      </m:r>
                      <m:f>
                        <m:fPr>
                          <m:ctrlPr>
                            <a:rPr lang="zh-CN" altLang="en-US" sz="2400" i="1" smtClean="0">
                              <a:solidFill>
                                <a:srgbClr val="FF0000"/>
                              </a:solidFill>
                              <a:latin typeface="Cambria Math" panose="02040503050406030204" pitchFamily="18" charset="0"/>
                            </a:rPr>
                          </m:ctrlPr>
                        </m:fPr>
                        <m:num>
                          <m:r>
                            <a:rPr lang="zh-CN" altLang="en-US" sz="2400" i="1" smtClean="0">
                              <a:solidFill>
                                <a:srgbClr val="FF0000"/>
                              </a:solidFill>
                              <a:latin typeface="Cambria Math" panose="02040503050406030204" pitchFamily="18" charset="0"/>
                            </a:rPr>
                            <m:t>1</m:t>
                          </m:r>
                        </m:num>
                        <m:den>
                          <m:r>
                            <a:rPr lang="zh-CN" altLang="en-US" sz="2400" i="1" smtClean="0">
                              <a:solidFill>
                                <a:srgbClr val="FF0000"/>
                              </a:solidFill>
                              <a:latin typeface="Cambria Math" panose="02040503050406030204" pitchFamily="18" charset="0"/>
                            </a:rPr>
                            <m:t>𝑁</m:t>
                          </m:r>
                        </m:den>
                      </m:f>
                      <m:sSub>
                        <m:sSubPr>
                          <m:ctrlPr>
                            <a:rPr lang="zh-CN" altLang="en-US" sz="2400" i="1" smtClean="0">
                              <a:solidFill>
                                <a:srgbClr val="FF0000"/>
                              </a:solidFill>
                              <a:latin typeface="Cambria Math" panose="02040503050406030204" pitchFamily="18" charset="0"/>
                            </a:rPr>
                          </m:ctrlPr>
                        </m:sSubPr>
                        <m:e>
                          <m:r>
                            <a:rPr lang="zh-CN" altLang="en-US" sz="2400" i="1" smtClean="0">
                              <a:solidFill>
                                <a:srgbClr val="FF0000"/>
                              </a:solidFill>
                              <a:latin typeface="Cambria Math" panose="02040503050406030204" pitchFamily="18" charset="0"/>
                            </a:rPr>
                            <m:t>𝑍</m:t>
                          </m:r>
                        </m:e>
                        <m:sub>
                          <m:r>
                            <a:rPr lang="zh-CN" altLang="en-US" sz="2400" i="1" smtClean="0">
                              <a:solidFill>
                                <a:srgbClr val="FF0000"/>
                              </a:solidFill>
                              <a:latin typeface="Cambria Math" panose="02040503050406030204" pitchFamily="18" charset="0"/>
                            </a:rPr>
                            <m:t>𝑇</m:t>
                          </m:r>
                          <m:r>
                            <a:rPr lang="zh-CN" altLang="en-US" sz="2400" i="1" smtClean="0">
                              <a:solidFill>
                                <a:srgbClr val="FF0000"/>
                              </a:solidFill>
                              <a:latin typeface="Cambria Math" panose="02040503050406030204" pitchFamily="18" charset="0"/>
                            </a:rPr>
                            <m:t>+1</m:t>
                          </m:r>
                        </m:sub>
                      </m:sSub>
                    </m:oMath>
                  </m:oMathPara>
                </a14:m>
                <a:endParaRPr lang="zh-CN" altLang="en-US" sz="2400" dirty="0">
                  <a:latin typeface="+mn-ea"/>
                </a:endParaRPr>
              </a:p>
            </p:txBody>
          </p:sp>
        </mc:Choice>
        <mc:Fallback xmlns="">
          <p:sp>
            <p:nvSpPr>
              <p:cNvPr id="4" name="文本框 1">
                <a:extLst>
                  <a:ext uri="{FF2B5EF4-FFF2-40B4-BE49-F238E27FC236}">
                    <a16:creationId xmlns:a16="http://schemas.microsoft.com/office/drawing/2014/main" id="{109250DE-2E9A-8642-D55E-0CC977E16876}"/>
                  </a:ext>
                </a:extLst>
              </p:cNvPr>
              <p:cNvSpPr txBox="1">
                <a:spLocks noRot="1" noChangeAspect="1" noMove="1" noResize="1" noEditPoints="1" noAdjustHandles="1" noChangeArrowheads="1" noChangeShapeType="1" noTextEdit="1"/>
              </p:cNvSpPr>
              <p:nvPr/>
            </p:nvSpPr>
            <p:spPr>
              <a:xfrm>
                <a:off x="3166119" y="782347"/>
                <a:ext cx="5245370" cy="896207"/>
              </a:xfrm>
              <a:prstGeom prst="rect">
                <a:avLst/>
              </a:prstGeom>
              <a:blipFill>
                <a:blip r:embed="rId5"/>
                <a:stretch>
                  <a:fillRect l="-3865" t="-149296" b="-205634"/>
                </a:stretch>
              </a:blipFill>
            </p:spPr>
            <p:txBody>
              <a:bodyPr/>
              <a:lstStyle/>
              <a:p>
                <a:r>
                  <a:rPr lang="en-CN">
                    <a:noFill/>
                  </a:rPr>
                  <a:t> </a:t>
                </a:r>
              </a:p>
            </p:txBody>
          </p:sp>
        </mc:Fallback>
      </mc:AlternateContent>
      <p:pic>
        <p:nvPicPr>
          <p:cNvPr id="5" name="图片 7">
            <a:extLst>
              <a:ext uri="{FF2B5EF4-FFF2-40B4-BE49-F238E27FC236}">
                <a16:creationId xmlns:a16="http://schemas.microsoft.com/office/drawing/2014/main" id="{3B2CCA58-79EC-1303-A8CB-32667F900CDC}"/>
              </a:ext>
            </a:extLst>
          </p:cNvPr>
          <p:cNvPicPr>
            <a:picLocks noChangeAspect="1"/>
          </p:cNvPicPr>
          <p:nvPr/>
        </p:nvPicPr>
        <p:blipFill>
          <a:blip r:embed="rId6"/>
          <a:stretch>
            <a:fillRect/>
          </a:stretch>
        </p:blipFill>
        <p:spPr>
          <a:xfrm>
            <a:off x="9384183" y="64223"/>
            <a:ext cx="2744097" cy="1673118"/>
          </a:xfrm>
          <a:prstGeom prst="rect">
            <a:avLst/>
          </a:prstGeom>
        </p:spPr>
      </p:pic>
      <mc:AlternateContent xmlns:mc="http://schemas.openxmlformats.org/markup-compatibility/2006" xmlns:a14="http://schemas.microsoft.com/office/drawing/2010/main">
        <mc:Choice Requires="a14">
          <p:sp>
            <p:nvSpPr>
              <p:cNvPr id="6" name="文本框 15">
                <a:extLst>
                  <a:ext uri="{FF2B5EF4-FFF2-40B4-BE49-F238E27FC236}">
                    <a16:creationId xmlns:a16="http://schemas.microsoft.com/office/drawing/2014/main" id="{07EC191D-65A7-26A1-4814-43FDEDD47510}"/>
                  </a:ext>
                </a:extLst>
              </p:cNvPr>
              <p:cNvSpPr txBox="1"/>
              <p:nvPr/>
            </p:nvSpPr>
            <p:spPr>
              <a:xfrm>
                <a:off x="7495599" y="1849471"/>
                <a:ext cx="3595962" cy="593111"/>
              </a:xfrm>
              <a:prstGeom prst="rect">
                <a:avLst/>
              </a:prstGeom>
              <a:noFill/>
            </p:spPr>
            <p:txBody>
              <a:bodyPr wrap="square">
                <a:spAutoFit/>
              </a:bodyPr>
              <a:lstStyle/>
              <a:p>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𝑍</m:t>
                            </m:r>
                          </m:e>
                          <m:sub>
                            <m:r>
                              <a:rPr lang="en-US" altLang="zh-CN" sz="2400" b="0" i="1" dirty="0" smtClean="0">
                                <a:latin typeface="Cambria Math" panose="02040503050406030204" pitchFamily="18" charset="0"/>
                              </a:rPr>
                              <m:t>𝑡</m:t>
                            </m:r>
                          </m:sub>
                        </m:sSub>
                        <m:r>
                          <a:rPr lang="zh-CN" altLang="en-US" sz="2400" i="1" dirty="0" smtClean="0">
                            <a:solidFill>
                              <a:schemeClr val="tx1"/>
                            </a:solidFill>
                            <a:latin typeface="Cambria Math" panose="02040503050406030204" pitchFamily="18" charset="0"/>
                          </a:rPr>
                          <m:t>𝜀</m:t>
                        </m:r>
                      </m:e>
                      <m:sub>
                        <m:r>
                          <m:rPr>
                            <m:sty m:val="p"/>
                          </m:rPr>
                          <a:rPr lang="en-US" altLang="zh-CN" sz="2400" b="0" i="0" dirty="0" smtClean="0">
                            <a:solidFill>
                              <a:schemeClr val="tx1"/>
                            </a:solidFill>
                            <a:latin typeface="Cambria Math" panose="02040503050406030204" pitchFamily="18" charset="0"/>
                          </a:rPr>
                          <m:t>t</m:t>
                        </m:r>
                      </m:sub>
                    </m:sSub>
                    <m:r>
                      <a:rPr lang="zh-CN" altLang="en-US" sz="2400" i="0" dirty="0" smtClean="0">
                        <a:solidFill>
                          <a:schemeClr val="tx1"/>
                        </a:solidFill>
                        <a:latin typeface="Cambria Math" panose="02040503050406030204" pitchFamily="18" charset="0"/>
                      </a:rPr>
                      <m:t>=</m:t>
                    </m:r>
                  </m:oMath>
                </a14:m>
                <a:r>
                  <a:rPr lang="zh-CN" altLang="en-US" sz="2400" dirty="0"/>
                  <a:t> </a:t>
                </a:r>
                <a14:m>
                  <m:oMath xmlns:m="http://schemas.openxmlformats.org/officeDocument/2006/math">
                    <m:nary>
                      <m:naryPr>
                        <m:chr m:val="∑"/>
                        <m:limLoc m:val="undOvr"/>
                        <m:grow m:val="on"/>
                        <m:supHide m:val="on"/>
                        <m:ctrlPr>
                          <a:rPr lang="zh-CN" altLang="en-US" sz="2400" i="1" dirty="0">
                            <a:latin typeface="Cambria Math" panose="02040503050406030204" pitchFamily="18" charset="0"/>
                          </a:rPr>
                        </m:ctrlPr>
                      </m:naryPr>
                      <m:sub>
                        <m:sSub>
                          <m:sSubPr>
                            <m:ctrlPr>
                              <a:rPr lang="zh-CN" altLang="en-US" sz="2400" i="1" dirty="0">
                                <a:solidFill>
                                  <a:srgbClr val="FF0000"/>
                                </a:solidFill>
                                <a:latin typeface="Cambria Math" panose="02040503050406030204" pitchFamily="18" charset="0"/>
                              </a:rPr>
                            </m:ctrlPr>
                          </m:sSubPr>
                          <m:e>
                            <m:r>
                              <a:rPr lang="zh-CN" altLang="en-US" sz="2400" i="1" dirty="0">
                                <a:solidFill>
                                  <a:srgbClr val="FF0000"/>
                                </a:solidFill>
                                <a:latin typeface="Cambria Math" panose="02040503050406030204" pitchFamily="18" charset="0"/>
                              </a:rPr>
                              <m:t>𝑓</m:t>
                            </m:r>
                          </m:e>
                          <m:sub>
                            <m:r>
                              <m:rPr>
                                <m:sty m:val="p"/>
                              </m:rPr>
                              <a:rPr lang="en-US" altLang="zh-CN" sz="2400" b="0" i="0" dirty="0" smtClean="0">
                                <a:solidFill>
                                  <a:srgbClr val="FF0000"/>
                                </a:solidFill>
                                <a:latin typeface="Cambria Math" panose="02040503050406030204" pitchFamily="18" charset="0"/>
                              </a:rPr>
                              <m:t>t</m:t>
                            </m:r>
                          </m:sub>
                        </m:sSub>
                        <m:d>
                          <m:dPr>
                            <m:ctrlPr>
                              <a:rPr lang="zh-CN" altLang="en-US" sz="2400" i="1" dirty="0">
                                <a:solidFill>
                                  <a:srgbClr val="FF0000"/>
                                </a:solidFill>
                                <a:latin typeface="Cambria Math" panose="02040503050406030204" pitchFamily="18" charset="0"/>
                              </a:rPr>
                            </m:ctrlPr>
                          </m:dPr>
                          <m:e>
                            <m:sSup>
                              <m:sSupPr>
                                <m:ctrlPr>
                                  <a:rPr lang="zh-CN" altLang="en-US" sz="2400" i="1" dirty="0">
                                    <a:solidFill>
                                      <a:srgbClr val="FF0000"/>
                                    </a:solidFill>
                                    <a:latin typeface="Cambria Math" panose="02040503050406030204" pitchFamily="18" charset="0"/>
                                  </a:rPr>
                                </m:ctrlPr>
                              </m:sSupPr>
                              <m:e>
                                <m:r>
                                  <a:rPr lang="zh-CN" altLang="en-US" sz="2400" i="1" dirty="0">
                                    <a:solidFill>
                                      <a:srgbClr val="FF0000"/>
                                    </a:solidFill>
                                    <a:latin typeface="Cambria Math" panose="02040503050406030204" pitchFamily="18" charset="0"/>
                                  </a:rPr>
                                  <m:t>𝑥</m:t>
                                </m:r>
                              </m:e>
                              <m:sup>
                                <m:r>
                                  <a:rPr lang="zh-CN" altLang="en-US" sz="2400" i="1" dirty="0">
                                    <a:solidFill>
                                      <a:srgbClr val="FF0000"/>
                                    </a:solidFill>
                                    <a:latin typeface="Cambria Math" panose="02040503050406030204" pitchFamily="18" charset="0"/>
                                  </a:rPr>
                                  <m:t>𝑛</m:t>
                                </m:r>
                              </m:sup>
                            </m:sSup>
                          </m:e>
                        </m:d>
                        <m:r>
                          <a:rPr lang="zh-CN" altLang="en-US" sz="2400" dirty="0">
                            <a:solidFill>
                              <a:srgbClr val="FF0000"/>
                            </a:solidFill>
                            <a:latin typeface="Cambria Math" panose="02040503050406030204" pitchFamily="18" charset="0"/>
                          </a:rPr>
                          <m:t>≠</m:t>
                        </m:r>
                        <m:sSup>
                          <m:sSupPr>
                            <m:ctrlPr>
                              <a:rPr lang="en-US" altLang="zh-CN" sz="2400" i="1" dirty="0">
                                <a:solidFill>
                                  <a:srgbClr val="FF0000"/>
                                </a:solidFill>
                                <a:latin typeface="Cambria Math" panose="02040503050406030204" pitchFamily="18" charset="0"/>
                              </a:rPr>
                            </m:ctrlPr>
                          </m:sSupPr>
                          <m:e>
                            <m:acc>
                              <m:accPr>
                                <m:chr m:val="̂"/>
                                <m:ctrlPr>
                                  <a:rPr lang="zh-CN" altLang="en-US" sz="2400" i="1" dirty="0">
                                    <a:solidFill>
                                      <a:srgbClr val="FF0000"/>
                                    </a:solidFill>
                                    <a:latin typeface="Cambria Math" panose="02040503050406030204" pitchFamily="18" charset="0"/>
                                  </a:rPr>
                                </m:ctrlPr>
                              </m:accPr>
                              <m:e>
                                <m:r>
                                  <a:rPr lang="zh-CN" altLang="en-US" sz="2400" i="1" dirty="0">
                                    <a:solidFill>
                                      <a:srgbClr val="FF0000"/>
                                    </a:solidFill>
                                    <a:latin typeface="Cambria Math" panose="02040503050406030204" pitchFamily="18" charset="0"/>
                                  </a:rPr>
                                  <m:t>𝑦</m:t>
                                </m:r>
                              </m:e>
                            </m:acc>
                          </m:e>
                          <m:sup>
                            <m:r>
                              <a:rPr lang="en-US" altLang="zh-CN" sz="2400" i="1" dirty="0">
                                <a:solidFill>
                                  <a:srgbClr val="FF0000"/>
                                </a:solidFill>
                                <a:latin typeface="Cambria Math" panose="02040503050406030204" pitchFamily="18" charset="0"/>
                              </a:rPr>
                              <m:t>𝑛</m:t>
                            </m:r>
                          </m:sup>
                        </m:sSup>
                      </m:sub>
                      <m:sup/>
                      <m:e>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m:rPr>
                                <m:sty m:val="p"/>
                              </m:rPr>
                              <a:rPr lang="en-US" altLang="zh-CN" sz="2400" b="0" i="0" dirty="0" smtClean="0">
                                <a:latin typeface="Cambria Math" panose="02040503050406030204" pitchFamily="18" charset="0"/>
                              </a:rPr>
                              <m:t>t</m:t>
                            </m:r>
                          </m:sub>
                          <m:sup>
                            <m:r>
                              <a:rPr lang="zh-CN" altLang="en-US" sz="2400" i="1" dirty="0">
                                <a:latin typeface="Cambria Math" panose="02040503050406030204" pitchFamily="18" charset="0"/>
                              </a:rPr>
                              <m:t>𝑛</m:t>
                            </m:r>
                          </m:sup>
                        </m:sSubSup>
                      </m:e>
                    </m:nary>
                  </m:oMath>
                </a14:m>
                <a:endParaRPr lang="zh-CN" altLang="en-US" sz="2400" dirty="0"/>
              </a:p>
            </p:txBody>
          </p:sp>
        </mc:Choice>
        <mc:Fallback xmlns="">
          <p:sp>
            <p:nvSpPr>
              <p:cNvPr id="6" name="文本框 15">
                <a:extLst>
                  <a:ext uri="{FF2B5EF4-FFF2-40B4-BE49-F238E27FC236}">
                    <a16:creationId xmlns:a16="http://schemas.microsoft.com/office/drawing/2014/main" id="{07EC191D-65A7-26A1-4814-43FDEDD47510}"/>
                  </a:ext>
                </a:extLst>
              </p:cNvPr>
              <p:cNvSpPr txBox="1">
                <a:spLocks noRot="1" noChangeAspect="1" noMove="1" noResize="1" noEditPoints="1" noAdjustHandles="1" noChangeArrowheads="1" noChangeShapeType="1" noTextEdit="1"/>
              </p:cNvSpPr>
              <p:nvPr/>
            </p:nvSpPr>
            <p:spPr>
              <a:xfrm>
                <a:off x="7495599" y="1849471"/>
                <a:ext cx="3595962" cy="593111"/>
              </a:xfrm>
              <a:prstGeom prst="rect">
                <a:avLst/>
              </a:prstGeom>
              <a:blipFill>
                <a:blip r:embed="rId7"/>
                <a:stretch>
                  <a:fillRect l="-704" t="-125000" b="-17291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本框 15">
                <a:extLst>
                  <a:ext uri="{FF2B5EF4-FFF2-40B4-BE49-F238E27FC236}">
                    <a16:creationId xmlns:a16="http://schemas.microsoft.com/office/drawing/2014/main" id="{EE519348-C72B-C19B-1C5C-41B7672A8751}"/>
                  </a:ext>
                </a:extLst>
              </p:cNvPr>
              <p:cNvSpPr txBox="1"/>
              <p:nvPr/>
            </p:nvSpPr>
            <p:spPr>
              <a:xfrm>
                <a:off x="7466872" y="2476057"/>
                <a:ext cx="4661407" cy="580480"/>
              </a:xfrm>
              <a:prstGeom prst="rect">
                <a:avLst/>
              </a:prstGeom>
              <a:noFill/>
            </p:spPr>
            <p:txBody>
              <a:bodyPr wrap="square">
                <a:spAutoFit/>
              </a:bodyPr>
              <a:lstStyle/>
              <a:p>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sSub>
                          <m:sSubPr>
                            <m:ctrlPr>
                              <a:rPr lang="zh-CN" altLang="en-US" sz="2400" i="1" dirty="0">
                                <a:latin typeface="Cambria Math" panose="02040503050406030204" pitchFamily="18" charset="0"/>
                              </a:rPr>
                            </m:ctrlPr>
                          </m:sSubPr>
                          <m:e>
                            <m:r>
                              <a:rPr lang="en-US" altLang="zh-CN" sz="2400" i="1" dirty="0">
                                <a:latin typeface="Cambria Math" panose="02040503050406030204" pitchFamily="18" charset="0"/>
                              </a:rPr>
                              <m:t>𝑍</m:t>
                            </m:r>
                          </m:e>
                          <m:sub>
                            <m:r>
                              <a:rPr lang="en-US" altLang="zh-CN" sz="2400" b="0" i="1" dirty="0" smtClean="0">
                                <a:latin typeface="Cambria Math" panose="02040503050406030204" pitchFamily="18" charset="0"/>
                              </a:rPr>
                              <m:t>𝑡</m:t>
                            </m:r>
                          </m:sub>
                        </m:sSub>
                        <m:r>
                          <a:rPr lang="en-US" altLang="zh-CN" sz="2400" b="0" i="1" dirty="0" smtClean="0">
                            <a:latin typeface="Cambria Math" panose="02040503050406030204" pitchFamily="18" charset="0"/>
                          </a:rPr>
                          <m:t>(1−</m:t>
                        </m:r>
                        <m:r>
                          <a:rPr lang="zh-CN" altLang="en-US" sz="2400" i="1" dirty="0" smtClean="0">
                            <a:solidFill>
                              <a:schemeClr val="tx1"/>
                            </a:solidFill>
                            <a:latin typeface="Cambria Math" panose="02040503050406030204" pitchFamily="18" charset="0"/>
                          </a:rPr>
                          <m:t>𝜀</m:t>
                        </m:r>
                      </m:e>
                      <m:sub>
                        <m:r>
                          <m:rPr>
                            <m:sty m:val="p"/>
                          </m:rPr>
                          <a:rPr lang="en-US" altLang="zh-CN" sz="2400" b="0" i="0" dirty="0" smtClean="0">
                            <a:solidFill>
                              <a:schemeClr val="tx1"/>
                            </a:solidFill>
                            <a:latin typeface="Cambria Math" panose="02040503050406030204" pitchFamily="18" charset="0"/>
                          </a:rPr>
                          <m:t>t</m:t>
                        </m:r>
                      </m:sub>
                    </m:sSub>
                    <m:r>
                      <a:rPr lang="en-US" altLang="zh-CN" sz="2400" b="0" i="1" dirty="0" smtClean="0">
                        <a:solidFill>
                          <a:schemeClr val="tx1"/>
                        </a:solidFill>
                        <a:latin typeface="Cambria Math" panose="02040503050406030204" pitchFamily="18" charset="0"/>
                      </a:rPr>
                      <m:t>)</m:t>
                    </m:r>
                    <m:r>
                      <a:rPr lang="zh-CN" altLang="en-US" sz="2400" i="0" dirty="0" smtClean="0">
                        <a:solidFill>
                          <a:schemeClr val="tx1"/>
                        </a:solidFill>
                        <a:latin typeface="Cambria Math" panose="02040503050406030204" pitchFamily="18" charset="0"/>
                      </a:rPr>
                      <m:t>=</m:t>
                    </m:r>
                  </m:oMath>
                </a14:m>
                <a:r>
                  <a:rPr lang="zh-CN" altLang="en-US" sz="2400" dirty="0"/>
                  <a:t> </a:t>
                </a:r>
                <a14:m>
                  <m:oMath xmlns:m="http://schemas.openxmlformats.org/officeDocument/2006/math">
                    <m:nary>
                      <m:naryPr>
                        <m:chr m:val="∑"/>
                        <m:limLoc m:val="undOvr"/>
                        <m:grow m:val="on"/>
                        <m:supHide m:val="on"/>
                        <m:ctrlPr>
                          <a:rPr lang="zh-CN" altLang="en-US" sz="2400" i="1" dirty="0">
                            <a:latin typeface="Cambria Math" panose="02040503050406030204" pitchFamily="18" charset="0"/>
                          </a:rPr>
                        </m:ctrlPr>
                      </m:naryPr>
                      <m:sub>
                        <m:sSub>
                          <m:sSubPr>
                            <m:ctrlPr>
                              <a:rPr lang="zh-CN" altLang="en-US" sz="2400" i="1" dirty="0" smtClean="0">
                                <a:solidFill>
                                  <a:schemeClr val="accent1"/>
                                </a:solidFill>
                                <a:latin typeface="Cambria Math" panose="02040503050406030204" pitchFamily="18" charset="0"/>
                              </a:rPr>
                            </m:ctrlPr>
                          </m:sSubPr>
                          <m:e>
                            <m:r>
                              <a:rPr lang="zh-CN" altLang="en-US" sz="2400" i="1" dirty="0">
                                <a:solidFill>
                                  <a:schemeClr val="accent1"/>
                                </a:solidFill>
                                <a:latin typeface="Cambria Math" panose="02040503050406030204" pitchFamily="18" charset="0"/>
                              </a:rPr>
                              <m:t>𝑓</m:t>
                            </m:r>
                          </m:e>
                          <m:sub>
                            <m:r>
                              <m:rPr>
                                <m:sty m:val="p"/>
                              </m:rPr>
                              <a:rPr lang="en-US" altLang="zh-CN" sz="2400" b="0" i="0" dirty="0" smtClean="0">
                                <a:solidFill>
                                  <a:schemeClr val="accent1"/>
                                </a:solidFill>
                                <a:latin typeface="Cambria Math" panose="02040503050406030204" pitchFamily="18" charset="0"/>
                              </a:rPr>
                              <m:t>t</m:t>
                            </m:r>
                          </m:sub>
                        </m:sSub>
                        <m:d>
                          <m:dPr>
                            <m:ctrlPr>
                              <a:rPr lang="zh-CN" altLang="en-US" sz="2400" i="1" dirty="0">
                                <a:solidFill>
                                  <a:schemeClr val="accent1"/>
                                </a:solidFill>
                                <a:latin typeface="Cambria Math" panose="02040503050406030204" pitchFamily="18" charset="0"/>
                              </a:rPr>
                            </m:ctrlPr>
                          </m:dPr>
                          <m:e>
                            <m:sSup>
                              <m:sSupPr>
                                <m:ctrlPr>
                                  <a:rPr lang="zh-CN" altLang="en-US" sz="2400" i="1" dirty="0">
                                    <a:solidFill>
                                      <a:schemeClr val="accent1"/>
                                    </a:solidFill>
                                    <a:latin typeface="Cambria Math" panose="02040503050406030204" pitchFamily="18" charset="0"/>
                                  </a:rPr>
                                </m:ctrlPr>
                              </m:sSupPr>
                              <m:e>
                                <m:r>
                                  <a:rPr lang="zh-CN" altLang="en-US" sz="2400" i="1" dirty="0">
                                    <a:solidFill>
                                      <a:schemeClr val="accent1"/>
                                    </a:solidFill>
                                    <a:latin typeface="Cambria Math" panose="02040503050406030204" pitchFamily="18" charset="0"/>
                                  </a:rPr>
                                  <m:t>𝑥</m:t>
                                </m:r>
                              </m:e>
                              <m:sup>
                                <m:r>
                                  <a:rPr lang="zh-CN" altLang="en-US" sz="2400" i="1" dirty="0">
                                    <a:solidFill>
                                      <a:schemeClr val="accent1"/>
                                    </a:solidFill>
                                    <a:latin typeface="Cambria Math" panose="02040503050406030204" pitchFamily="18" charset="0"/>
                                  </a:rPr>
                                  <m:t>𝑛</m:t>
                                </m:r>
                              </m:sup>
                            </m:sSup>
                          </m:e>
                        </m:d>
                        <m:r>
                          <a:rPr lang="en-US" altLang="zh-CN" sz="2400" b="0" i="0" dirty="0" smtClean="0">
                            <a:solidFill>
                              <a:schemeClr val="accent1"/>
                            </a:solidFill>
                            <a:latin typeface="Cambria Math" panose="02040503050406030204" pitchFamily="18" charset="0"/>
                          </a:rPr>
                          <m:t>=</m:t>
                        </m:r>
                        <m:sSup>
                          <m:sSupPr>
                            <m:ctrlPr>
                              <a:rPr lang="en-US" altLang="zh-CN" sz="2400" i="1" dirty="0">
                                <a:solidFill>
                                  <a:schemeClr val="accent1"/>
                                </a:solidFill>
                                <a:latin typeface="Cambria Math" panose="02040503050406030204" pitchFamily="18" charset="0"/>
                              </a:rPr>
                            </m:ctrlPr>
                          </m:sSupPr>
                          <m:e>
                            <m:acc>
                              <m:accPr>
                                <m:chr m:val="̂"/>
                                <m:ctrlPr>
                                  <a:rPr lang="zh-CN" altLang="en-US" sz="2400" i="1" dirty="0">
                                    <a:solidFill>
                                      <a:schemeClr val="accent1"/>
                                    </a:solidFill>
                                    <a:latin typeface="Cambria Math" panose="02040503050406030204" pitchFamily="18" charset="0"/>
                                  </a:rPr>
                                </m:ctrlPr>
                              </m:accPr>
                              <m:e>
                                <m:r>
                                  <a:rPr lang="zh-CN" altLang="en-US" sz="2400" i="1" dirty="0">
                                    <a:solidFill>
                                      <a:schemeClr val="accent1"/>
                                    </a:solidFill>
                                    <a:latin typeface="Cambria Math" panose="02040503050406030204" pitchFamily="18" charset="0"/>
                                  </a:rPr>
                                  <m:t>𝑦</m:t>
                                </m:r>
                              </m:e>
                            </m:acc>
                          </m:e>
                          <m:sup>
                            <m:r>
                              <a:rPr lang="en-US" altLang="zh-CN" sz="2400" i="1" dirty="0">
                                <a:solidFill>
                                  <a:schemeClr val="accent1"/>
                                </a:solidFill>
                                <a:latin typeface="Cambria Math" panose="02040503050406030204" pitchFamily="18" charset="0"/>
                              </a:rPr>
                              <m:t>𝑛</m:t>
                            </m:r>
                          </m:sup>
                        </m:sSup>
                      </m:sub>
                      <m:sup/>
                      <m:e>
                        <m:sSubSup>
                          <m:sSubSupPr>
                            <m:ctrlPr>
                              <a:rPr lang="zh-CN" altLang="en-US" sz="2400" i="1" dirty="0">
                                <a:latin typeface="Cambria Math" panose="02040503050406030204" pitchFamily="18" charset="0"/>
                              </a:rPr>
                            </m:ctrlPr>
                          </m:sSubSupPr>
                          <m:e>
                            <m:r>
                              <a:rPr lang="zh-CN" altLang="en-US" sz="2400" i="1" dirty="0">
                                <a:latin typeface="Cambria Math" panose="02040503050406030204" pitchFamily="18" charset="0"/>
                              </a:rPr>
                              <m:t>𝑢</m:t>
                            </m:r>
                          </m:e>
                          <m:sub>
                            <m:r>
                              <m:rPr>
                                <m:sty m:val="p"/>
                              </m:rPr>
                              <a:rPr lang="en-US" altLang="zh-CN" sz="2400" b="0" i="0" dirty="0" smtClean="0">
                                <a:latin typeface="Cambria Math" panose="02040503050406030204" pitchFamily="18" charset="0"/>
                              </a:rPr>
                              <m:t>t</m:t>
                            </m:r>
                          </m:sub>
                          <m:sup>
                            <m:r>
                              <a:rPr lang="zh-CN" altLang="en-US" sz="2400" i="1" dirty="0">
                                <a:latin typeface="Cambria Math" panose="02040503050406030204" pitchFamily="18" charset="0"/>
                              </a:rPr>
                              <m:t>𝑛</m:t>
                            </m:r>
                          </m:sup>
                        </m:sSubSup>
                      </m:e>
                    </m:nary>
                  </m:oMath>
                </a14:m>
                <a:endParaRPr lang="zh-CN" altLang="en-US" sz="2400" dirty="0"/>
              </a:p>
            </p:txBody>
          </p:sp>
        </mc:Choice>
        <mc:Fallback xmlns="">
          <p:sp>
            <p:nvSpPr>
              <p:cNvPr id="7" name="文本框 15">
                <a:extLst>
                  <a:ext uri="{FF2B5EF4-FFF2-40B4-BE49-F238E27FC236}">
                    <a16:creationId xmlns:a16="http://schemas.microsoft.com/office/drawing/2014/main" id="{EE519348-C72B-C19B-1C5C-41B7672A8751}"/>
                  </a:ext>
                </a:extLst>
              </p:cNvPr>
              <p:cNvSpPr txBox="1">
                <a:spLocks noRot="1" noChangeAspect="1" noMove="1" noResize="1" noEditPoints="1" noAdjustHandles="1" noChangeArrowheads="1" noChangeShapeType="1" noTextEdit="1"/>
              </p:cNvSpPr>
              <p:nvPr/>
            </p:nvSpPr>
            <p:spPr>
              <a:xfrm>
                <a:off x="7466872" y="2476057"/>
                <a:ext cx="4661407" cy="580480"/>
              </a:xfrm>
              <a:prstGeom prst="rect">
                <a:avLst/>
              </a:prstGeom>
              <a:blipFill>
                <a:blip r:embed="rId8"/>
                <a:stretch>
                  <a:fillRect l="-272" t="-125532" b="-178723"/>
                </a:stretch>
              </a:blipFill>
            </p:spPr>
            <p:txBody>
              <a:bodyPr/>
              <a:lstStyle/>
              <a:p>
                <a:r>
                  <a:rPr lang="en-CN">
                    <a:noFill/>
                  </a:rPr>
                  <a:t> </a:t>
                </a:r>
              </a:p>
            </p:txBody>
          </p:sp>
        </mc:Fallback>
      </mc:AlternateContent>
      <p:sp>
        <p:nvSpPr>
          <p:cNvPr id="8" name="矩形 21">
            <a:extLst>
              <a:ext uri="{FF2B5EF4-FFF2-40B4-BE49-F238E27FC236}">
                <a16:creationId xmlns:a16="http://schemas.microsoft.com/office/drawing/2014/main" id="{AA229960-55C9-7B26-FEE1-54404C866AE0}"/>
              </a:ext>
            </a:extLst>
          </p:cNvPr>
          <p:cNvSpPr/>
          <p:nvPr/>
        </p:nvSpPr>
        <p:spPr>
          <a:xfrm>
            <a:off x="6118441" y="5256266"/>
            <a:ext cx="2440933" cy="1356749"/>
          </a:xfrm>
          <a:prstGeom prst="rect">
            <a:avLst/>
          </a:prstGeom>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solidFill>
                  <a:schemeClr val="bg1"/>
                </a:solidFill>
              </a:rPr>
              <a:t>随着</a:t>
            </a:r>
            <a:r>
              <a:rPr lang="en-US" altLang="zh-CN" sz="2400" dirty="0">
                <a:solidFill>
                  <a:schemeClr val="bg1"/>
                </a:solidFill>
              </a:rPr>
              <a:t>T</a:t>
            </a:r>
            <a:r>
              <a:rPr lang="zh-CN" altLang="en-US" sz="2400" dirty="0">
                <a:solidFill>
                  <a:schemeClr val="bg1"/>
                </a:solidFill>
              </a:rPr>
              <a:t>的增加，变得越来越小</a:t>
            </a:r>
          </a:p>
        </p:txBody>
      </p:sp>
      <p:sp>
        <p:nvSpPr>
          <p:cNvPr id="9" name="灯片编号占位符 8">
            <a:extLst>
              <a:ext uri="{FF2B5EF4-FFF2-40B4-BE49-F238E27FC236}">
                <a16:creationId xmlns:a16="http://schemas.microsoft.com/office/drawing/2014/main" id="{859C6B70-7A5C-4C81-86AB-39FC5393687B}"/>
              </a:ext>
            </a:extLst>
          </p:cNvPr>
          <p:cNvSpPr>
            <a:spLocks noGrp="1"/>
          </p:cNvSpPr>
          <p:nvPr>
            <p:ph type="sldNum" sz="quarter" idx="14"/>
          </p:nvPr>
        </p:nvSpPr>
        <p:spPr/>
        <p:txBody>
          <a:bodyPr/>
          <a:lstStyle/>
          <a:p>
            <a:fld id="{AF69888C-E133-43D9-A638-B5C95925B91C}" type="slidenum">
              <a:rPr lang="zh-CN" altLang="en-US" smtClean="0"/>
              <a:t>42</a:t>
            </a:fld>
            <a:endParaRPr lang="zh-CN" altLang="en-US" dirty="0"/>
          </a:p>
        </p:txBody>
      </p:sp>
      <p:sp>
        <p:nvSpPr>
          <p:cNvPr id="16" name="文本占位符 1">
            <a:extLst>
              <a:ext uri="{FF2B5EF4-FFF2-40B4-BE49-F238E27FC236}">
                <a16:creationId xmlns:a16="http://schemas.microsoft.com/office/drawing/2014/main" id="{D16EB227-E60F-CC4D-BBBC-EEAED125D0AC}"/>
              </a:ext>
            </a:extLst>
          </p:cNvPr>
          <p:cNvSpPr>
            <a:spLocks noGrp="1"/>
          </p:cNvSpPr>
          <p:nvPr>
            <p:ph type="body" sz="quarter" idx="12"/>
          </p:nvPr>
        </p:nvSpPr>
        <p:spPr>
          <a:xfrm>
            <a:off x="566962" y="265803"/>
            <a:ext cx="5529038" cy="426497"/>
          </a:xfrm>
        </p:spPr>
        <p:txBody>
          <a:bodyPr/>
          <a:lstStyle/>
          <a:p>
            <a:pPr marL="0" indent="0">
              <a:buNone/>
            </a:pPr>
            <a:r>
              <a:rPr lang="en-US" altLang="zh-CN" sz="3200" dirty="0"/>
              <a:t>AdaBoost</a:t>
            </a:r>
            <a:r>
              <a:rPr lang="zh-CN" altLang="en-US" sz="3200" spc="300" dirty="0"/>
              <a:t>的误差界分析</a:t>
            </a:r>
          </a:p>
        </p:txBody>
      </p:sp>
    </p:spTree>
    <p:extLst>
      <p:ext uri="{BB962C8B-B14F-4D97-AF65-F5344CB8AC3E}">
        <p14:creationId xmlns:p14="http://schemas.microsoft.com/office/powerpoint/2010/main" val="245953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5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fade">
                                      <p:cBhvr>
                                        <p:cTn id="27" dur="500"/>
                                        <p:tgtEl>
                                          <p:spTgt spid="1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xEl>
                                              <p:pRg st="5" end="5"/>
                                            </p:txEl>
                                          </p:spTgt>
                                        </p:tgtEl>
                                        <p:attrNameLst>
                                          <p:attrName>style.visibility</p:attrName>
                                        </p:attrNameLst>
                                      </p:cBhvr>
                                      <p:to>
                                        <p:strVal val="visible"/>
                                      </p:to>
                                    </p:set>
                                    <p:animEffect transition="in" filter="fade">
                                      <p:cBhvr>
                                        <p:cTn id="32" dur="500"/>
                                        <p:tgtEl>
                                          <p:spTgt spid="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6" grpId="0"/>
      <p:bldP spid="7" grpId="0"/>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F0E6B66-4153-3219-C138-8CE2639DFE4C}"/>
              </a:ext>
            </a:extLst>
          </p:cNvPr>
          <p:cNvSpPr>
            <a:spLocks noGrp="1"/>
          </p:cNvSpPr>
          <p:nvPr>
            <p:ph type="body" sz="quarter" idx="12"/>
          </p:nvPr>
        </p:nvSpPr>
        <p:spPr/>
        <p:txBody>
          <a:bodyPr/>
          <a:lstStyle/>
          <a:p>
            <a:pPr marL="0" indent="0">
              <a:buNone/>
            </a:pPr>
            <a:r>
              <a:rPr lang="zh-CN" altLang="en-US" dirty="0"/>
              <a:t>实验：关于</a:t>
            </a:r>
            <a:r>
              <a:rPr lang="en-US" altLang="zh-CN" dirty="0" err="1"/>
              <a:t>Miku</a:t>
            </a:r>
            <a:r>
              <a:rPr lang="zh-CN" altLang="en-US" dirty="0"/>
              <a:t>的函数</a:t>
            </a:r>
          </a:p>
        </p:txBody>
      </p:sp>
      <p:sp>
        <p:nvSpPr>
          <p:cNvPr id="5" name="文本框 4">
            <a:extLst>
              <a:ext uri="{FF2B5EF4-FFF2-40B4-BE49-F238E27FC236}">
                <a16:creationId xmlns:a16="http://schemas.microsoft.com/office/drawing/2014/main" id="{AF04E2BE-B433-F69E-561A-9557C116DE6D}"/>
              </a:ext>
            </a:extLst>
          </p:cNvPr>
          <p:cNvSpPr txBox="1"/>
          <p:nvPr/>
        </p:nvSpPr>
        <p:spPr>
          <a:xfrm>
            <a:off x="566962" y="4205000"/>
            <a:ext cx="3616731" cy="1200329"/>
          </a:xfrm>
          <a:prstGeom prst="rect">
            <a:avLst/>
          </a:prstGeom>
          <a:noFill/>
        </p:spPr>
        <p:txBody>
          <a:bodyPr wrap="square" rtlCol="0">
            <a:spAutoFit/>
          </a:bodyPr>
          <a:lstStyle/>
          <a:p>
            <a:pPr algn="l"/>
            <a:r>
              <a:rPr lang="en-US" altLang="zh-CN" sz="2400" dirty="0" err="1">
                <a:latin typeface="+mn-ea"/>
              </a:rPr>
              <a:t>Adaboost</a:t>
            </a:r>
            <a:r>
              <a:rPr lang="en-US" altLang="zh-CN" sz="2400" dirty="0">
                <a:latin typeface="+mn-ea"/>
              </a:rPr>
              <a:t>+</a:t>
            </a:r>
            <a:r>
              <a:rPr lang="zh-CN" altLang="en-US" sz="2400" dirty="0">
                <a:latin typeface="+mn-ea"/>
              </a:rPr>
              <a:t>决策树</a:t>
            </a:r>
            <a:endParaRPr lang="en-US" altLang="zh-CN" sz="2400" dirty="0">
              <a:latin typeface="+mn-ea"/>
            </a:endParaRPr>
          </a:p>
          <a:p>
            <a:pPr algn="l"/>
            <a:endParaRPr lang="en-US" altLang="zh-CN" sz="2400" dirty="0">
              <a:latin typeface="+mn-ea"/>
            </a:endParaRPr>
          </a:p>
          <a:p>
            <a:pPr algn="l"/>
            <a:r>
              <a:rPr lang="zh-CN" altLang="en-US" sz="2400" dirty="0">
                <a:latin typeface="+mn-ea"/>
              </a:rPr>
              <a:t>（深度</a:t>
            </a:r>
            <a:r>
              <a:rPr lang="en-US" altLang="zh-CN" sz="2400" dirty="0">
                <a:latin typeface="+mn-ea"/>
              </a:rPr>
              <a:t>=5</a:t>
            </a:r>
            <a:r>
              <a:rPr lang="zh-CN" altLang="en-US" sz="2400" dirty="0">
                <a:latin typeface="+mn-ea"/>
              </a:rPr>
              <a:t>）</a:t>
            </a:r>
          </a:p>
        </p:txBody>
      </p:sp>
      <p:pic>
        <p:nvPicPr>
          <p:cNvPr id="6" name="图片 5">
            <a:extLst>
              <a:ext uri="{FF2B5EF4-FFF2-40B4-BE49-F238E27FC236}">
                <a16:creationId xmlns:a16="http://schemas.microsoft.com/office/drawing/2014/main" id="{F7F4798A-44B1-4352-AB91-FE7377100800}"/>
              </a:ext>
            </a:extLst>
          </p:cNvPr>
          <p:cNvPicPr>
            <a:picLocks noChangeAspect="1"/>
          </p:cNvPicPr>
          <p:nvPr/>
        </p:nvPicPr>
        <p:blipFill>
          <a:blip r:embed="rId2"/>
          <a:stretch>
            <a:fillRect/>
          </a:stretch>
        </p:blipFill>
        <p:spPr>
          <a:xfrm>
            <a:off x="4726787" y="0"/>
            <a:ext cx="5985672" cy="6364213"/>
          </a:xfrm>
          <a:prstGeom prst="rect">
            <a:avLst/>
          </a:prstGeom>
        </p:spPr>
      </p:pic>
      <p:sp>
        <p:nvSpPr>
          <p:cNvPr id="4" name="TextBox 3">
            <a:extLst>
              <a:ext uri="{FF2B5EF4-FFF2-40B4-BE49-F238E27FC236}">
                <a16:creationId xmlns:a16="http://schemas.microsoft.com/office/drawing/2014/main" id="{AFDC6D05-1EC1-2A11-5EA4-D5781B9E370B}"/>
              </a:ext>
            </a:extLst>
          </p:cNvPr>
          <p:cNvSpPr txBox="1"/>
          <p:nvPr/>
        </p:nvSpPr>
        <p:spPr>
          <a:xfrm>
            <a:off x="162838" y="5606468"/>
            <a:ext cx="4563949" cy="369332"/>
          </a:xfrm>
          <a:prstGeom prst="rect">
            <a:avLst/>
          </a:prstGeom>
          <a:noFill/>
        </p:spPr>
        <p:txBody>
          <a:bodyPr wrap="square">
            <a:spAutoFit/>
          </a:bodyPr>
          <a:lstStyle/>
          <a:p>
            <a:r>
              <a:rPr lang="en-CN" dirty="0"/>
              <a:t>https://ai.hgcitech.com/courseMake/97</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0156" y="831593"/>
            <a:ext cx="2010056" cy="3172268"/>
          </a:xfrm>
          <a:prstGeom prst="rect">
            <a:avLst/>
          </a:prstGeom>
        </p:spPr>
      </p:pic>
      <p:sp>
        <p:nvSpPr>
          <p:cNvPr id="7" name="灯片编号占位符 6">
            <a:extLst>
              <a:ext uri="{FF2B5EF4-FFF2-40B4-BE49-F238E27FC236}">
                <a16:creationId xmlns:a16="http://schemas.microsoft.com/office/drawing/2014/main" id="{ADEB2128-2B45-480D-B59E-F94B2C485A12}"/>
              </a:ext>
            </a:extLst>
          </p:cNvPr>
          <p:cNvSpPr>
            <a:spLocks noGrp="1"/>
          </p:cNvSpPr>
          <p:nvPr>
            <p:ph type="sldNum" sz="quarter" idx="14"/>
          </p:nvPr>
        </p:nvSpPr>
        <p:spPr/>
        <p:txBody>
          <a:bodyPr/>
          <a:lstStyle/>
          <a:p>
            <a:fld id="{AF69888C-E133-43D9-A638-B5C95925B91C}" type="slidenum">
              <a:rPr lang="zh-CN" altLang="en-US" smtClean="0"/>
              <a:t>43</a:t>
            </a:fld>
            <a:endParaRPr lang="zh-CN" altLang="en-US" dirty="0"/>
          </a:p>
        </p:txBody>
      </p:sp>
    </p:spTree>
    <p:extLst>
      <p:ext uri="{BB962C8B-B14F-4D97-AF65-F5344CB8AC3E}">
        <p14:creationId xmlns:p14="http://schemas.microsoft.com/office/powerpoint/2010/main" val="386156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AD493A7-05BB-EC72-C174-EBA3875409DE}"/>
              </a:ext>
            </a:extLst>
          </p:cNvPr>
          <p:cNvSpPr>
            <a:spLocks noGrp="1"/>
          </p:cNvSpPr>
          <p:nvPr>
            <p:ph type="body" sz="quarter" idx="12"/>
          </p:nvPr>
        </p:nvSpPr>
        <p:spPr/>
        <p:txBody>
          <a:bodyPr/>
          <a:lstStyle/>
          <a:p>
            <a:pPr marL="0" indent="0">
              <a:buNone/>
            </a:pPr>
            <a:r>
              <a:rPr lang="zh-CN" altLang="en-US" dirty="0"/>
              <a:t>拓展资料</a:t>
            </a:r>
          </a:p>
        </p:txBody>
      </p:sp>
      <p:sp>
        <p:nvSpPr>
          <p:cNvPr id="5" name="內容版面配置區 2">
            <a:extLst>
              <a:ext uri="{FF2B5EF4-FFF2-40B4-BE49-F238E27FC236}">
                <a16:creationId xmlns:a16="http://schemas.microsoft.com/office/drawing/2014/main" id="{CDF7FB6C-7B01-42A7-BC43-1B04DB4A14C6}"/>
              </a:ext>
            </a:extLst>
          </p:cNvPr>
          <p:cNvSpPr txBox="1">
            <a:spLocks/>
          </p:cNvSpPr>
          <p:nvPr/>
        </p:nvSpPr>
        <p:spPr>
          <a:xfrm>
            <a:off x="406400" y="1066800"/>
            <a:ext cx="11277600" cy="42992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a:t>Introduction of </a:t>
            </a:r>
            <a:r>
              <a:rPr lang="en-US" altLang="zh-TW" sz="2400" dirty="0" err="1"/>
              <a:t>Adaboost</a:t>
            </a:r>
            <a:r>
              <a:rPr lang="en-US" altLang="zh-TW" sz="2400" dirty="0"/>
              <a:t>:</a:t>
            </a:r>
          </a:p>
          <a:p>
            <a:pPr lvl="1"/>
            <a:r>
              <a:rPr lang="en-US" altLang="zh-TW" sz="1800" dirty="0"/>
              <a:t>Freund; </a:t>
            </a:r>
            <a:r>
              <a:rPr lang="en-US" altLang="zh-TW" sz="1800" dirty="0" err="1"/>
              <a:t>Schapire</a:t>
            </a:r>
            <a:r>
              <a:rPr lang="en-US" altLang="zh-TW" sz="1800" dirty="0"/>
              <a:t> (1999). "A Short Introduction to Boosting“</a:t>
            </a:r>
          </a:p>
          <a:p>
            <a:r>
              <a:rPr lang="en-US" altLang="zh-TW" sz="2400" dirty="0"/>
              <a:t>Multiclass/Regression</a:t>
            </a:r>
          </a:p>
          <a:p>
            <a:pPr lvl="1"/>
            <a:r>
              <a:rPr lang="en-US" altLang="zh-TW" sz="1800" dirty="0"/>
              <a:t>Y. Freund, R. </a:t>
            </a:r>
            <a:r>
              <a:rPr lang="en-US" altLang="zh-TW" sz="1800" dirty="0" err="1"/>
              <a:t>Schapire</a:t>
            </a:r>
            <a:r>
              <a:rPr lang="en-US" altLang="zh-TW" sz="1800" dirty="0"/>
              <a:t>, “A Decision-Theoretic Generalization of on-Line Learning and an Application to Boosting”, 1995.</a:t>
            </a:r>
          </a:p>
          <a:p>
            <a:pPr lvl="1"/>
            <a:r>
              <a:rPr lang="en-US" altLang="zh-TW" sz="1800" dirty="0"/>
              <a:t>Robert E. </a:t>
            </a:r>
            <a:r>
              <a:rPr lang="en-US" altLang="zh-TW" sz="1800" dirty="0" err="1"/>
              <a:t>Schapire</a:t>
            </a:r>
            <a:r>
              <a:rPr lang="en-US" altLang="zh-TW" sz="1800" dirty="0"/>
              <a:t> and Yoram Singer. Improved boosting algorithms using confidence-rated predictions. In Proceedings of the Eleventh Annual Conference on Computational Learning Theory, pages 80–91, 1998. </a:t>
            </a:r>
          </a:p>
          <a:p>
            <a:r>
              <a:rPr lang="en-US" altLang="zh-TW" sz="2400" dirty="0"/>
              <a:t>Gentle Boost</a:t>
            </a:r>
          </a:p>
          <a:p>
            <a:pPr lvl="1"/>
            <a:r>
              <a:rPr lang="en-US" altLang="zh-TW" sz="1800" dirty="0" err="1"/>
              <a:t>Schapire</a:t>
            </a:r>
            <a:r>
              <a:rPr lang="en-US" altLang="zh-TW" sz="1800" dirty="0"/>
              <a:t>, Robert; Singer, Yoram (1999). "Improved Boosting Algorithms Using Confidence-rated Predictions". </a:t>
            </a:r>
            <a:endParaRPr lang="zh-TW" altLang="en-US" sz="1800" dirty="0"/>
          </a:p>
        </p:txBody>
      </p:sp>
      <p:sp>
        <p:nvSpPr>
          <p:cNvPr id="3" name="灯片编号占位符 2">
            <a:extLst>
              <a:ext uri="{FF2B5EF4-FFF2-40B4-BE49-F238E27FC236}">
                <a16:creationId xmlns:a16="http://schemas.microsoft.com/office/drawing/2014/main" id="{E7ABFB89-FA20-4A52-AE78-68BE7D003B2E}"/>
              </a:ext>
            </a:extLst>
          </p:cNvPr>
          <p:cNvSpPr>
            <a:spLocks noGrp="1"/>
          </p:cNvSpPr>
          <p:nvPr>
            <p:ph type="sldNum" sz="quarter" idx="14"/>
          </p:nvPr>
        </p:nvSpPr>
        <p:spPr/>
        <p:txBody>
          <a:bodyPr/>
          <a:lstStyle/>
          <a:p>
            <a:fld id="{AF69888C-E133-43D9-A638-B5C95925B91C}" type="slidenum">
              <a:rPr lang="zh-CN" altLang="en-US" smtClean="0"/>
              <a:t>44</a:t>
            </a:fld>
            <a:endParaRPr lang="zh-CN" altLang="en-US" dirty="0"/>
          </a:p>
        </p:txBody>
      </p:sp>
    </p:spTree>
    <p:extLst>
      <p:ext uri="{BB962C8B-B14F-4D97-AF65-F5344CB8AC3E}">
        <p14:creationId xmlns:p14="http://schemas.microsoft.com/office/powerpoint/2010/main" val="2926068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en-US" dirty="0" err="1"/>
              <a:t>Adaboost</a:t>
            </a:r>
            <a:r>
              <a:rPr lang="zh-CN" altLang="en-CN" dirty="0"/>
              <a:t>总结</a:t>
            </a:r>
            <a:endParaRPr lang="zh-CN" alt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F510F01-BF47-4245-8239-553BC8334743}"/>
                  </a:ext>
                </a:extLst>
              </p:cNvPr>
              <p:cNvSpPr txBox="1"/>
              <p:nvPr/>
            </p:nvSpPr>
            <p:spPr>
              <a:xfrm>
                <a:off x="1392065" y="943022"/>
                <a:ext cx="10232973" cy="4715522"/>
              </a:xfrm>
              <a:prstGeom prst="rect">
                <a:avLst/>
              </a:prstGeom>
              <a:noFill/>
            </p:spPr>
            <p:txBody>
              <a:bodyPr wrap="square">
                <a:spAutoFit/>
              </a:bodyPr>
              <a:lstStyle/>
              <a:p>
                <a:pPr>
                  <a:lnSpc>
                    <a:spcPct val="150000"/>
                  </a:lnSpc>
                  <a:spcAft>
                    <a:spcPts val="1000"/>
                  </a:spcAft>
                </a:pPr>
                <a:r>
                  <a:rPr lang="zh-CN" sz="2400" b="1" dirty="0">
                    <a:effectLst/>
                    <a:latin typeface="+mn-ea"/>
                    <a:cs typeface="Times New Roman" panose="02020603050405020304" pitchFamily="18" charset="0"/>
                  </a:rPr>
                  <a:t>优点：</a:t>
                </a:r>
                <a:endParaRPr lang="en-CN" sz="2400" dirty="0">
                  <a:effectLst/>
                  <a:latin typeface="+mn-ea"/>
                  <a:cs typeface="Times New Roman" panose="02020603050405020304" pitchFamily="18" charset="0"/>
                </a:endParaRPr>
              </a:p>
              <a:p>
                <a:pPr marL="342900" lvl="0" indent="-342900">
                  <a:lnSpc>
                    <a:spcPct val="150000"/>
                  </a:lnSpc>
                  <a:buFont typeface="Symbol" pitchFamily="2" charset="2"/>
                  <a:buChar char=""/>
                </a:pPr>
                <a:r>
                  <a:rPr lang="zh-CN" sz="2400" dirty="0">
                    <a:effectLst/>
                    <a:latin typeface="+mn-ea"/>
                    <a:cs typeface="Times New Roman" panose="02020603050405020304" pitchFamily="18" charset="0"/>
                  </a:rPr>
                  <a:t>模型简单容易操作，不用重新设计模型</a:t>
                </a:r>
                <a:endParaRPr lang="en-CN" sz="2400" dirty="0">
                  <a:effectLst/>
                  <a:latin typeface="+mn-ea"/>
                  <a:cs typeface="Times New Roman" panose="02020603050405020304" pitchFamily="18" charset="0"/>
                </a:endParaRPr>
              </a:p>
              <a:p>
                <a:pPr marL="342900" lvl="0" indent="-342900">
                  <a:lnSpc>
                    <a:spcPct val="150000"/>
                  </a:lnSpc>
                  <a:buFont typeface="Symbol" pitchFamily="2" charset="2"/>
                  <a:buChar char=""/>
                </a:pPr>
                <a:r>
                  <a:rPr lang="zh-CN" altLang="en-US" sz="2400" dirty="0">
                    <a:effectLst/>
                    <a:latin typeface="+mn-ea"/>
                    <a:cs typeface="Times New Roman" panose="02020603050405020304" pitchFamily="18" charset="0"/>
                  </a:rPr>
                  <a:t>分类错误率上界随着训练增加而稳定下降（理论可证）</a:t>
                </a:r>
                <a:endParaRPr lang="en-US" altLang="zh-CN" sz="2400" dirty="0">
                  <a:effectLst/>
                  <a:latin typeface="+mn-ea"/>
                  <a:cs typeface="Times New Roman" panose="02020603050405020304" pitchFamily="18" charset="0"/>
                </a:endParaRPr>
              </a:p>
              <a:p>
                <a:pPr marL="342900" lvl="0" indent="-342900">
                  <a:lnSpc>
                    <a:spcPct val="150000"/>
                  </a:lnSpc>
                  <a:buFont typeface="Symbol" pitchFamily="2" charset="2"/>
                  <a:buChar char=""/>
                </a:pPr>
                <a:r>
                  <a:rPr lang="zh-CN" sz="2400" dirty="0">
                    <a:effectLst/>
                    <a:latin typeface="+mn-ea"/>
                    <a:cs typeface="Times New Roman" panose="02020603050405020304" pitchFamily="18" charset="0"/>
                  </a:rPr>
                  <a:t>在一定程度上不存在过拟合</a:t>
                </a:r>
                <a:endParaRPr lang="en-CN" sz="2400" dirty="0">
                  <a:effectLst/>
                  <a:latin typeface="+mn-ea"/>
                  <a:cs typeface="Times New Roman" panose="02020603050405020304" pitchFamily="18" charset="0"/>
                </a:endParaRPr>
              </a:p>
              <a:p>
                <a:pPr>
                  <a:lnSpc>
                    <a:spcPct val="150000"/>
                  </a:lnSpc>
                  <a:spcAft>
                    <a:spcPts val="1000"/>
                  </a:spcAft>
                </a:pPr>
                <a:r>
                  <a:rPr lang="zh-CN" sz="2400" b="1" dirty="0">
                    <a:effectLst/>
                    <a:latin typeface="+mn-ea"/>
                    <a:cs typeface="Times New Roman" panose="02020603050405020304" pitchFamily="18" charset="0"/>
                  </a:rPr>
                  <a:t>缺点：</a:t>
                </a:r>
                <a:endParaRPr lang="en-CN" sz="2400" dirty="0">
                  <a:effectLst/>
                  <a:latin typeface="+mn-ea"/>
                  <a:cs typeface="Times New Roman" panose="02020603050405020304" pitchFamily="18" charset="0"/>
                </a:endParaRPr>
              </a:p>
              <a:p>
                <a:pPr marL="342900" lvl="0" indent="-342900">
                  <a:lnSpc>
                    <a:spcPct val="150000"/>
                  </a:lnSpc>
                  <a:buFont typeface="Symbol" pitchFamily="2" charset="2"/>
                  <a:buChar char=""/>
                </a:pPr>
                <a14:m>
                  <m:oMath xmlns:m="http://schemas.openxmlformats.org/officeDocument/2006/math">
                    <m:r>
                      <m:rPr>
                        <m:sty m:val="p"/>
                      </m:rPr>
                      <a:rPr lang="en-US" sz="2400">
                        <a:effectLst/>
                        <a:latin typeface="Cambria Math" panose="02040503050406030204" pitchFamily="18" charset="0"/>
                        <a:cs typeface="Times New Roman" panose="02020603050405020304" pitchFamily="18" charset="0"/>
                      </a:rPr>
                      <m:t>α</m:t>
                    </m:r>
                  </m:oMath>
                </a14:m>
                <a:r>
                  <a:rPr lang="zh-CN" sz="2400" dirty="0">
                    <a:effectLst/>
                    <a:latin typeface="+mn-ea"/>
                    <a:cs typeface="Times New Roman" panose="02020603050405020304" pitchFamily="18" charset="0"/>
                  </a:rPr>
                  <a:t>值是局部最优</a:t>
                </a:r>
                <a:endParaRPr lang="en-CN" sz="2400" dirty="0">
                  <a:effectLst/>
                  <a:latin typeface="+mn-ea"/>
                  <a:cs typeface="Times New Roman" panose="02020603050405020304" pitchFamily="18" charset="0"/>
                </a:endParaRPr>
              </a:p>
              <a:p>
                <a:pPr marL="342900" lvl="0" indent="-342900">
                  <a:lnSpc>
                    <a:spcPct val="150000"/>
                  </a:lnSpc>
                  <a:buFont typeface="Symbol" pitchFamily="2" charset="2"/>
                  <a:buChar char=""/>
                </a:pPr>
                <a:r>
                  <a:rPr lang="zh-CN" sz="2400" dirty="0">
                    <a:effectLst/>
                    <a:latin typeface="+mn-ea"/>
                    <a:cs typeface="Times New Roman" panose="02020603050405020304" pitchFamily="18" charset="0"/>
                  </a:rPr>
                  <a:t>对噪声比较敏感</a:t>
                </a:r>
                <a:endParaRPr lang="en-CN" sz="2400" dirty="0">
                  <a:effectLst/>
                  <a:latin typeface="+mn-ea"/>
                  <a:cs typeface="Times New Roman" panose="02020603050405020304" pitchFamily="18" charset="0"/>
                </a:endParaRPr>
              </a:p>
              <a:p>
                <a:pPr marL="342900" lvl="0" indent="-342900">
                  <a:lnSpc>
                    <a:spcPct val="150000"/>
                  </a:lnSpc>
                  <a:spcAft>
                    <a:spcPts val="1000"/>
                  </a:spcAft>
                  <a:buFont typeface="Symbol" pitchFamily="2" charset="2"/>
                  <a:buChar char=""/>
                </a:pPr>
                <a:r>
                  <a:rPr lang="zh-CN" sz="2400" dirty="0">
                    <a:effectLst/>
                    <a:latin typeface="+mn-ea"/>
                    <a:cs typeface="Times New Roman" panose="02020603050405020304" pitchFamily="18" charset="0"/>
                  </a:rPr>
                  <a:t>模型的可解释性较差</a:t>
                </a:r>
                <a:endParaRPr lang="en-CN" sz="2400" dirty="0">
                  <a:effectLst/>
                  <a:latin typeface="+mn-ea"/>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5F510F01-BF47-4245-8239-553BC8334743}"/>
                  </a:ext>
                </a:extLst>
              </p:cNvPr>
              <p:cNvSpPr txBox="1">
                <a:spLocks noRot="1" noChangeAspect="1" noMove="1" noResize="1" noEditPoints="1" noAdjustHandles="1" noChangeArrowheads="1" noChangeShapeType="1" noTextEdit="1"/>
              </p:cNvSpPr>
              <p:nvPr/>
            </p:nvSpPr>
            <p:spPr>
              <a:xfrm>
                <a:off x="1392065" y="943022"/>
                <a:ext cx="10232973" cy="4715522"/>
              </a:xfrm>
              <a:prstGeom prst="rect">
                <a:avLst/>
              </a:prstGeom>
              <a:blipFill>
                <a:blip r:embed="rId3"/>
                <a:stretch>
                  <a:fillRect l="-867" b="-2151"/>
                </a:stretch>
              </a:blipFill>
            </p:spPr>
            <p:txBody>
              <a:bodyPr/>
              <a:lstStyle/>
              <a:p>
                <a:r>
                  <a:rPr lang="en-CN">
                    <a:noFill/>
                  </a:rPr>
                  <a:t> </a:t>
                </a:r>
              </a:p>
            </p:txBody>
          </p:sp>
        </mc:Fallback>
      </mc:AlternateContent>
      <p:sp>
        <p:nvSpPr>
          <p:cNvPr id="2" name="灯片编号占位符 1">
            <a:extLst>
              <a:ext uri="{FF2B5EF4-FFF2-40B4-BE49-F238E27FC236}">
                <a16:creationId xmlns:a16="http://schemas.microsoft.com/office/drawing/2014/main" id="{73CC1A29-AE9A-46E7-A531-FD7737485BEC}"/>
              </a:ext>
            </a:extLst>
          </p:cNvPr>
          <p:cNvSpPr>
            <a:spLocks noGrp="1"/>
          </p:cNvSpPr>
          <p:nvPr>
            <p:ph type="sldNum" sz="quarter" idx="14"/>
          </p:nvPr>
        </p:nvSpPr>
        <p:spPr/>
        <p:txBody>
          <a:bodyPr/>
          <a:lstStyle/>
          <a:p>
            <a:fld id="{AF69888C-E133-43D9-A638-B5C95925B91C}" type="slidenum">
              <a:rPr lang="zh-CN" altLang="en-US" smtClean="0"/>
              <a:t>45</a:t>
            </a:fld>
            <a:endParaRPr lang="zh-CN" altLang="en-US" dirty="0"/>
          </a:p>
        </p:txBody>
      </p:sp>
    </p:spTree>
    <p:extLst>
      <p:ext uri="{BB962C8B-B14F-4D97-AF65-F5344CB8AC3E}">
        <p14:creationId xmlns:p14="http://schemas.microsoft.com/office/powerpoint/2010/main" val="2627423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0E0D9D7-4D59-4CF6-90FC-C5E59588E7AF}"/>
              </a:ext>
            </a:extLst>
          </p:cNvPr>
          <p:cNvSpPr>
            <a:spLocks noGrp="1"/>
          </p:cNvSpPr>
          <p:nvPr>
            <p:ph type="body" sz="quarter" idx="12"/>
          </p:nvPr>
        </p:nvSpPr>
        <p:spPr/>
        <p:txBody>
          <a:bodyPr/>
          <a:lstStyle/>
          <a:p>
            <a:pPr marL="0" indent="0">
              <a:buNone/>
            </a:pPr>
            <a:r>
              <a:rPr lang="en-US" altLang="zh-CN" dirty="0"/>
              <a:t>Boosting</a:t>
            </a:r>
            <a:r>
              <a:rPr lang="zh-CN" altLang="en-US" dirty="0"/>
              <a:t>的一般形式</a:t>
            </a: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A1DC4474-83B5-499C-B12A-1BADB516D840}"/>
                  </a:ext>
                </a:extLst>
              </p:cNvPr>
              <p:cNvSpPr txBox="1"/>
              <p:nvPr/>
            </p:nvSpPr>
            <p:spPr>
              <a:xfrm>
                <a:off x="1596705" y="1559285"/>
                <a:ext cx="8299463" cy="2811539"/>
              </a:xfrm>
              <a:prstGeom prst="rect">
                <a:avLst/>
              </a:prstGeom>
              <a:noFill/>
            </p:spPr>
            <p:txBody>
              <a:bodyPr wrap="square" rtlCol="0">
                <a:spAutoFit/>
              </a:bodyPr>
              <a:lstStyle/>
              <a:p>
                <a:pPr marL="342900" indent="-342900" algn="l">
                  <a:lnSpc>
                    <a:spcPct val="120000"/>
                  </a:lnSpc>
                  <a:buFont typeface="Wingdings" pitchFamily="2" charset="2"/>
                  <a:buChar char="ü"/>
                </a:pPr>
                <a:r>
                  <a:rPr lang="zh-CN" altLang="en-US" sz="2400" dirty="0">
                    <a:solidFill>
                      <a:schemeClr val="tx1"/>
                    </a:solidFill>
                    <a:latin typeface="+mn-ea"/>
                  </a:rPr>
                  <a:t>初始函数：</a:t>
                </a: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𝑔</m:t>
                        </m:r>
                      </m:e>
                      <m:sub>
                        <m:r>
                          <a:rPr lang="en-US" altLang="zh-CN" sz="2400" b="0" i="1" smtClean="0">
                            <a:solidFill>
                              <a:schemeClr val="tx1"/>
                            </a:solidFill>
                            <a:latin typeface="Cambria Math" panose="02040503050406030204" pitchFamily="18" charset="0"/>
                          </a:rPr>
                          <m:t>0</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𝑥</m:t>
                    </m:r>
                    <m:r>
                      <a:rPr lang="en-US" altLang="zh-CN" sz="2400" b="0" i="1" smtClean="0">
                        <a:solidFill>
                          <a:schemeClr val="tx1"/>
                        </a:solidFill>
                        <a:latin typeface="Cambria Math" panose="02040503050406030204" pitchFamily="18" charset="0"/>
                      </a:rPr>
                      <m:t>)=0</m:t>
                    </m:r>
                  </m:oMath>
                </a14:m>
                <a:endParaRPr lang="en-US" altLang="zh-CN" sz="2400" dirty="0">
                  <a:solidFill>
                    <a:schemeClr val="tx1"/>
                  </a:solidFill>
                  <a:latin typeface="+mn-ea"/>
                </a:endParaRPr>
              </a:p>
              <a:p>
                <a:pPr marL="342900" indent="-342900" algn="l">
                  <a:lnSpc>
                    <a:spcPct val="120000"/>
                  </a:lnSpc>
                  <a:buFont typeface="Wingdings" pitchFamily="2" charset="2"/>
                  <a:buChar char="ü"/>
                </a:pPr>
                <a:r>
                  <a:rPr lang="zh-CN" altLang="en-US" sz="2400" dirty="0">
                    <a:solidFill>
                      <a:schemeClr val="tx1"/>
                    </a:solidFill>
                    <a:latin typeface="+mn-ea"/>
                  </a:rPr>
                  <a:t>从</a:t>
                </a:r>
                <a:r>
                  <a:rPr lang="en-US" altLang="zh-CN" sz="2400" dirty="0">
                    <a:solidFill>
                      <a:schemeClr val="tx1"/>
                    </a:solidFill>
                    <a:latin typeface="+mn-ea"/>
                  </a:rPr>
                  <a:t>t=1</a:t>
                </a:r>
                <a:r>
                  <a:rPr lang="zh-CN" altLang="en-US" sz="2400" dirty="0">
                    <a:solidFill>
                      <a:schemeClr val="tx1"/>
                    </a:solidFill>
                    <a:latin typeface="+mn-ea"/>
                  </a:rPr>
                  <a:t>到</a:t>
                </a:r>
                <a:r>
                  <a:rPr lang="en-US" altLang="zh-CN" sz="2400" dirty="0">
                    <a:solidFill>
                      <a:schemeClr val="tx1"/>
                    </a:solidFill>
                    <a:latin typeface="+mn-ea"/>
                  </a:rPr>
                  <a:t>T</a:t>
                </a:r>
                <a:r>
                  <a:rPr lang="zh-CN" altLang="en-US" sz="2400" dirty="0">
                    <a:solidFill>
                      <a:schemeClr val="tx1"/>
                    </a:solidFill>
                    <a:latin typeface="+mn-ea"/>
                  </a:rPr>
                  <a:t>：</a:t>
                </a:r>
                <a:endParaRPr lang="en-US" altLang="zh-CN" sz="2400" dirty="0">
                  <a:solidFill>
                    <a:schemeClr val="tx1"/>
                  </a:solidFill>
                  <a:latin typeface="+mn-ea"/>
                </a:endParaRPr>
              </a:p>
              <a:p>
                <a:pPr marL="800100" lvl="1" indent="-342900">
                  <a:lnSpc>
                    <a:spcPct val="120000"/>
                  </a:lnSpc>
                  <a:buFont typeface="Wingdings" pitchFamily="2" charset="2"/>
                  <a:buChar char="ü"/>
                </a:pPr>
                <a:r>
                  <a:rPr lang="en-US" altLang="zh-CN" sz="2400" dirty="0">
                    <a:solidFill>
                      <a:schemeClr val="tx1"/>
                    </a:solidFill>
                    <a:latin typeface="+mn-ea"/>
                  </a:rPr>
                  <a:t> </a:t>
                </a:r>
                <a:r>
                  <a:rPr lang="zh-CN" altLang="en-US" sz="2400" dirty="0">
                    <a:solidFill>
                      <a:schemeClr val="tx1"/>
                    </a:solidFill>
                    <a:latin typeface="+mn-ea"/>
                  </a:rPr>
                  <a:t>寻找一个函数</a:t>
                </a:r>
                <a14:m>
                  <m:oMath xmlns:m="http://schemas.openxmlformats.org/officeDocument/2006/math">
                    <m:sSub>
                      <m:sSubPr>
                        <m:ctrlPr>
                          <a:rPr lang="zh-CN" altLang="en-US" sz="2400" i="1" smtClean="0">
                            <a:solidFill>
                              <a:schemeClr val="accent1"/>
                            </a:solidFill>
                            <a:latin typeface="Cambria Math" panose="02040503050406030204" pitchFamily="18" charset="0"/>
                          </a:rPr>
                        </m:ctrlPr>
                      </m:sSubPr>
                      <m:e>
                        <m:r>
                          <a:rPr lang="zh-CN" altLang="en-US" sz="2400" i="1" smtClean="0">
                            <a:solidFill>
                              <a:schemeClr val="accent1"/>
                            </a:solidFill>
                            <a:latin typeface="Cambria Math" panose="02040503050406030204" pitchFamily="18" charset="0"/>
                          </a:rPr>
                          <m:t>𝑓</m:t>
                        </m:r>
                      </m:e>
                      <m:sub>
                        <m:r>
                          <a:rPr lang="zh-CN" altLang="en-US" sz="2400" i="1" smtClean="0">
                            <a:solidFill>
                              <a:schemeClr val="accent1"/>
                            </a:solidFill>
                            <a:latin typeface="Cambria Math" panose="02040503050406030204" pitchFamily="18" charset="0"/>
                          </a:rPr>
                          <m:t>𝑡</m:t>
                        </m:r>
                      </m:sub>
                    </m:sSub>
                    <m:d>
                      <m:dPr>
                        <m:ctrlPr>
                          <a:rPr lang="zh-CN" altLang="en-US" sz="2400" i="1" smtClean="0">
                            <a:solidFill>
                              <a:schemeClr val="accent1"/>
                            </a:solidFill>
                            <a:latin typeface="Cambria Math" panose="02040503050406030204" pitchFamily="18" charset="0"/>
                          </a:rPr>
                        </m:ctrlPr>
                      </m:dPr>
                      <m:e>
                        <m:r>
                          <a:rPr lang="zh-CN" altLang="en-US" sz="2400" i="1" smtClean="0">
                            <a:solidFill>
                              <a:schemeClr val="accent1"/>
                            </a:solidFill>
                            <a:latin typeface="Cambria Math" panose="02040503050406030204" pitchFamily="18" charset="0"/>
                          </a:rPr>
                          <m:t>𝑥</m:t>
                        </m:r>
                      </m:e>
                    </m:d>
                  </m:oMath>
                </a14:m>
                <a:r>
                  <a:rPr lang="zh-CN" altLang="en-US" sz="2400" dirty="0">
                    <a:solidFill>
                      <a:schemeClr val="tx1"/>
                    </a:solidFill>
                    <a:latin typeface="+mn-ea"/>
                  </a:rPr>
                  <a:t>和</a:t>
                </a:r>
                <a14:m>
                  <m:oMath xmlns:m="http://schemas.openxmlformats.org/officeDocument/2006/math">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𝛼</m:t>
                        </m:r>
                      </m:e>
                      <m:sub>
                        <m:r>
                          <a:rPr lang="zh-CN" altLang="en-US" sz="2400" i="1" dirty="0" smtClean="0">
                            <a:solidFill>
                              <a:schemeClr val="tx1"/>
                            </a:solidFill>
                            <a:latin typeface="Cambria Math" panose="02040503050406030204" pitchFamily="18" charset="0"/>
                          </a:rPr>
                          <m:t>𝑡</m:t>
                        </m:r>
                      </m:sub>
                    </m:sSub>
                    <m:r>
                      <a:rPr lang="zh-CN" altLang="en-US" sz="2400" i="1" dirty="0">
                        <a:solidFill>
                          <a:schemeClr val="tx1"/>
                        </a:solidFill>
                        <a:latin typeface="Cambria Math" panose="02040503050406030204" pitchFamily="18" charset="0"/>
                      </a:rPr>
                      <m:t>来</m:t>
                    </m:r>
                    <m:r>
                      <a:rPr lang="zh-CN" altLang="en-US" sz="2400" i="1" dirty="0">
                        <a:latin typeface="Cambria Math" panose="02040503050406030204" pitchFamily="18" charset="0"/>
                      </a:rPr>
                      <m:t>提高函数</m:t>
                    </m:r>
                    <m:sSub>
                      <m:sSubPr>
                        <m:ctrlPr>
                          <a:rPr lang="zh-CN" altLang="en-US" sz="2400" i="1" dirty="0" smtClean="0">
                            <a:solidFill>
                              <a:schemeClr val="tx1"/>
                            </a:solidFill>
                            <a:latin typeface="Cambria Math" panose="02040503050406030204" pitchFamily="18" charset="0"/>
                          </a:rPr>
                        </m:ctrlPr>
                      </m:sSubPr>
                      <m:e>
                        <m:r>
                          <a:rPr lang="zh-CN" altLang="en-US" sz="2400" i="1" dirty="0" smtClean="0">
                            <a:solidFill>
                              <a:schemeClr val="tx1"/>
                            </a:solidFill>
                            <a:latin typeface="Cambria Math" panose="02040503050406030204" pitchFamily="18" charset="0"/>
                          </a:rPr>
                          <m:t>𝑔</m:t>
                        </m:r>
                      </m:e>
                      <m:sub>
                        <m:r>
                          <a:rPr lang="zh-CN" altLang="en-US" sz="2400" i="1" dirty="0" smtClean="0">
                            <a:solidFill>
                              <a:schemeClr val="tx1"/>
                            </a:solidFill>
                            <a:latin typeface="Cambria Math" panose="02040503050406030204" pitchFamily="18" charset="0"/>
                          </a:rPr>
                          <m:t>𝑡</m:t>
                        </m:r>
                        <m:r>
                          <a:rPr lang="zh-CN" altLang="en-US" sz="2400" i="1" dirty="0" smtClean="0">
                            <a:solidFill>
                              <a:schemeClr val="tx1"/>
                            </a:solidFill>
                            <a:latin typeface="Cambria Math" panose="02040503050406030204" pitchFamily="18" charset="0"/>
                          </a:rPr>
                          <m:t>−1</m:t>
                        </m:r>
                      </m:sub>
                    </m:sSub>
                    <m:d>
                      <m:dPr>
                        <m:ctrlPr>
                          <a:rPr lang="zh-CN" altLang="en-US" sz="2400" i="1" dirty="0" smtClean="0">
                            <a:solidFill>
                              <a:schemeClr val="tx1"/>
                            </a:solidFill>
                            <a:latin typeface="Cambria Math" panose="02040503050406030204" pitchFamily="18" charset="0"/>
                          </a:rPr>
                        </m:ctrlPr>
                      </m:dPr>
                      <m:e>
                        <m:r>
                          <a:rPr lang="zh-CN" altLang="en-US" sz="2400" i="1" dirty="0" smtClean="0">
                            <a:solidFill>
                              <a:schemeClr val="tx1"/>
                            </a:solidFill>
                            <a:latin typeface="Cambria Math" panose="02040503050406030204" pitchFamily="18" charset="0"/>
                          </a:rPr>
                          <m:t>𝑥</m:t>
                        </m:r>
                      </m:e>
                    </m:d>
                  </m:oMath>
                </a14:m>
                <a:r>
                  <a:rPr lang="zh-CN" altLang="en-US" sz="2400" dirty="0">
                    <a:solidFill>
                      <a:schemeClr val="tx1"/>
                    </a:solidFill>
                    <a:latin typeface="+mn-ea"/>
                  </a:rPr>
                  <a:t>的性能</a:t>
                </a:r>
                <a:endParaRPr lang="en-US" altLang="zh-CN" sz="2400" dirty="0">
                  <a:solidFill>
                    <a:schemeClr val="tx1"/>
                  </a:solidFill>
                  <a:latin typeface="+mn-ea"/>
                </a:endParaRPr>
              </a:p>
              <a:p>
                <a:pPr marL="1200150" lvl="2" indent="-285750">
                  <a:lnSpc>
                    <a:spcPct val="120000"/>
                  </a:lnSpc>
                  <a:buFont typeface="Arial" panose="020B0604020202020204" pitchFamily="34" charset="0"/>
                  <a:buChar char="•"/>
                </a:pP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𝑔</m:t>
                        </m:r>
                      </m:e>
                      <m:sub>
                        <m:r>
                          <a:rPr lang="en-US" altLang="zh-CN" sz="2400" b="0" i="1" smtClean="0">
                            <a:solidFill>
                              <a:schemeClr val="tx1"/>
                            </a:solidFill>
                            <a:latin typeface="Cambria Math" panose="02040503050406030204" pitchFamily="18" charset="0"/>
                          </a:rPr>
                          <m:t>𝑡</m:t>
                        </m:r>
                        <m:r>
                          <a:rPr lang="en-US" altLang="zh-CN" sz="2400" b="0" i="1" smtClean="0">
                            <a:solidFill>
                              <a:schemeClr val="tx1"/>
                            </a:solidFill>
                            <a:latin typeface="Cambria Math" panose="02040503050406030204" pitchFamily="18" charset="0"/>
                          </a:rPr>
                          <m:t>−1</m:t>
                        </m:r>
                      </m:sub>
                    </m:sSub>
                    <m:d>
                      <m:dPr>
                        <m:ctrlPr>
                          <a:rPr lang="en-US" altLang="zh-CN" sz="2400" i="1" smtClean="0">
                            <a:solidFill>
                              <a:schemeClr val="tx1"/>
                            </a:solidFill>
                            <a:latin typeface="Cambria Math" panose="02040503050406030204" pitchFamily="18" charset="0"/>
                          </a:rPr>
                        </m:ctrlPr>
                      </m:dPr>
                      <m:e>
                        <m:r>
                          <a:rPr lang="en-US" altLang="zh-CN" sz="2400" i="1" smtClean="0">
                            <a:solidFill>
                              <a:schemeClr val="tx1"/>
                            </a:solidFill>
                            <a:latin typeface="Cambria Math" panose="02040503050406030204" pitchFamily="18" charset="0"/>
                          </a:rPr>
                          <m:t>𝑥</m:t>
                        </m:r>
                      </m:e>
                    </m:d>
                    <m:r>
                      <a:rPr lang="en-US" altLang="zh-CN" sz="2400" i="1" smtClean="0">
                        <a:solidFill>
                          <a:schemeClr val="tx1"/>
                        </a:solidFill>
                        <a:latin typeface="Cambria Math" panose="02040503050406030204" pitchFamily="18" charset="0"/>
                      </a:rPr>
                      <m:t>=</m:t>
                    </m:r>
                    <m:sSubSup>
                      <m:sSubSupPr>
                        <m:ctrlPr>
                          <a:rPr lang="en-US" altLang="zh-CN" sz="2400" i="1" smtClean="0">
                            <a:solidFill>
                              <a:schemeClr val="tx1"/>
                            </a:solidFill>
                            <a:latin typeface="Cambria Math" panose="02040503050406030204" pitchFamily="18" charset="0"/>
                          </a:rPr>
                        </m:ctrlPr>
                      </m:sSubSupPr>
                      <m:e>
                        <m:r>
                          <a:rPr lang="en-US" altLang="zh-CN" sz="2400" i="1" smtClean="0">
                            <a:solidFill>
                              <a:schemeClr val="tx1"/>
                            </a:solidFill>
                            <a:latin typeface="Cambria Math" panose="02040503050406030204" pitchFamily="18" charset="0"/>
                          </a:rPr>
                          <m:t>𝛴</m:t>
                        </m:r>
                      </m:e>
                      <m:sub>
                        <m:r>
                          <a:rPr lang="en-US" altLang="zh-CN" sz="2400" i="1" smtClean="0">
                            <a:solidFill>
                              <a:schemeClr val="tx1"/>
                            </a:solidFill>
                            <a:latin typeface="Cambria Math" panose="02040503050406030204" pitchFamily="18" charset="0"/>
                          </a:rPr>
                          <m:t>ⅈ=1</m:t>
                        </m:r>
                      </m:sub>
                      <m:sup>
                        <m:r>
                          <a:rPr lang="en-US" altLang="zh-CN" sz="2400" i="1" smtClean="0">
                            <a:solidFill>
                              <a:schemeClr val="tx1"/>
                            </a:solidFill>
                            <a:latin typeface="Cambria Math" panose="02040503050406030204" pitchFamily="18" charset="0"/>
                          </a:rPr>
                          <m:t>𝑡</m:t>
                        </m:r>
                        <m:r>
                          <a:rPr lang="en-US" altLang="zh-CN" sz="2400" i="1" smtClean="0">
                            <a:solidFill>
                              <a:schemeClr val="tx1"/>
                            </a:solidFill>
                            <a:latin typeface="Cambria Math" panose="02040503050406030204" pitchFamily="18" charset="0"/>
                          </a:rPr>
                          <m:t>−1</m:t>
                        </m:r>
                      </m:sup>
                    </m:sSubSup>
                    <m:sSub>
                      <m:sSubPr>
                        <m:ctrlPr>
                          <a:rPr lang="en-US" altLang="zh-CN" sz="2400" i="1" smtClean="0">
                            <a:solidFill>
                              <a:schemeClr val="tx1"/>
                            </a:solidFill>
                            <a:latin typeface="Cambria Math" panose="02040503050406030204" pitchFamily="18" charset="0"/>
                          </a:rPr>
                        </m:ctrlPr>
                      </m:sSubPr>
                      <m:e>
                        <m:r>
                          <a:rPr lang="en-US" altLang="zh-CN" sz="2400" i="1" smtClean="0">
                            <a:solidFill>
                              <a:schemeClr val="tx1"/>
                            </a:solidFill>
                            <a:latin typeface="Cambria Math" panose="02040503050406030204" pitchFamily="18" charset="0"/>
                          </a:rPr>
                          <m:t>𝛼</m:t>
                        </m:r>
                      </m:e>
                      <m:sub>
                        <m:r>
                          <a:rPr lang="en-US" altLang="zh-CN" sz="2400" i="1" smtClean="0">
                            <a:solidFill>
                              <a:schemeClr val="tx1"/>
                            </a:solidFill>
                            <a:latin typeface="Cambria Math" panose="02040503050406030204" pitchFamily="18" charset="0"/>
                          </a:rPr>
                          <m:t>𝑖</m:t>
                        </m:r>
                      </m:sub>
                    </m:sSub>
                    <m:sSub>
                      <m:sSubPr>
                        <m:ctrlPr>
                          <a:rPr lang="en-US" altLang="zh-CN" sz="2400" i="1" smtClean="0">
                            <a:solidFill>
                              <a:schemeClr val="tx1"/>
                            </a:solidFill>
                            <a:latin typeface="Cambria Math" panose="02040503050406030204" pitchFamily="18" charset="0"/>
                          </a:rPr>
                        </m:ctrlPr>
                      </m:sSubPr>
                      <m:e>
                        <m:r>
                          <a:rPr lang="en-US" altLang="zh-CN" sz="2400" i="1" smtClean="0">
                            <a:solidFill>
                              <a:schemeClr val="tx1"/>
                            </a:solidFill>
                            <a:latin typeface="Cambria Math" panose="02040503050406030204" pitchFamily="18" charset="0"/>
                          </a:rPr>
                          <m:t>𝑓</m:t>
                        </m:r>
                      </m:e>
                      <m:sub>
                        <m:r>
                          <a:rPr lang="en-US" altLang="zh-CN" sz="2400" i="1" smtClean="0">
                            <a:solidFill>
                              <a:schemeClr val="tx1"/>
                            </a:solidFill>
                            <a:latin typeface="Cambria Math" panose="02040503050406030204" pitchFamily="18" charset="0"/>
                          </a:rPr>
                          <m:t>𝑖</m:t>
                        </m:r>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𝑥</m:t>
                    </m:r>
                    <m:r>
                      <a:rPr lang="en-US" altLang="zh-CN" sz="2400" b="0" i="1" smtClean="0">
                        <a:solidFill>
                          <a:schemeClr val="tx1"/>
                        </a:solidFill>
                        <a:latin typeface="Cambria Math" panose="02040503050406030204" pitchFamily="18" charset="0"/>
                      </a:rPr>
                      <m:t>)</m:t>
                    </m:r>
                  </m:oMath>
                </a14:m>
                <a:endParaRPr lang="en-US" altLang="zh-CN" sz="2400" dirty="0">
                  <a:solidFill>
                    <a:schemeClr val="tx1"/>
                  </a:solidFill>
                  <a:latin typeface="+mn-ea"/>
                </a:endParaRPr>
              </a:p>
              <a:p>
                <a:pPr marL="800100" lvl="1" indent="-342900">
                  <a:lnSpc>
                    <a:spcPct val="120000"/>
                  </a:lnSpc>
                  <a:buFont typeface="Wingdings" pitchFamily="2" charset="2"/>
                  <a:buChar char="ü"/>
                </a:pPr>
                <a:r>
                  <a:rPr lang="en-US" altLang="zh-CN" sz="2400" dirty="0">
                    <a:solidFill>
                      <a:schemeClr val="tx1"/>
                    </a:solidFill>
                    <a:latin typeface="+mn-ea"/>
                  </a:rPr>
                  <a:t> </a:t>
                </a:r>
                <a14:m>
                  <m:oMath xmlns:m="http://schemas.openxmlformats.org/officeDocument/2006/math">
                    <m:sSub>
                      <m:sSubPr>
                        <m:ctrlPr>
                          <a:rPr lang="en-US" altLang="zh-CN" sz="240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𝑔</m:t>
                        </m:r>
                      </m:e>
                      <m:sub>
                        <m:r>
                          <a:rPr lang="en-US" altLang="zh-CN" sz="2400" b="0" i="1" smtClean="0">
                            <a:solidFill>
                              <a:schemeClr val="tx1"/>
                            </a:solidFill>
                            <a:latin typeface="Cambria Math" panose="02040503050406030204" pitchFamily="18" charset="0"/>
                          </a:rPr>
                          <m:t>𝑡</m:t>
                        </m:r>
                      </m:sub>
                    </m:sSub>
                    <m:d>
                      <m:dPr>
                        <m:ctrlPr>
                          <a:rPr lang="en-US" altLang="zh-CN" sz="2400" i="1" smtClean="0">
                            <a:solidFill>
                              <a:schemeClr val="tx1"/>
                            </a:solidFill>
                            <a:latin typeface="Cambria Math" panose="02040503050406030204" pitchFamily="18" charset="0"/>
                          </a:rPr>
                        </m:ctrlPr>
                      </m:dPr>
                      <m:e>
                        <m:r>
                          <a:rPr lang="en-US" altLang="zh-CN" sz="2400" i="1" smtClean="0">
                            <a:solidFill>
                              <a:schemeClr val="tx1"/>
                            </a:solidFill>
                            <a:latin typeface="Cambria Math" panose="02040503050406030204" pitchFamily="18" charset="0"/>
                          </a:rPr>
                          <m:t>𝑥</m:t>
                        </m:r>
                      </m:e>
                    </m:d>
                    <m:r>
                      <a:rPr lang="en-US" altLang="zh-CN" sz="2400" i="1" smtClean="0">
                        <a:solidFill>
                          <a:schemeClr val="tx1"/>
                        </a:solidFill>
                        <a:latin typeface="Cambria Math" panose="02040503050406030204" pitchFamily="18" charset="0"/>
                      </a:rPr>
                      <m:t>=</m:t>
                    </m:r>
                    <m:sSub>
                      <m:sSubPr>
                        <m:ctrlPr>
                          <a:rPr lang="en-US" altLang="zh-CN" sz="2400" i="1" smtClean="0">
                            <a:solidFill>
                              <a:schemeClr val="tx1"/>
                            </a:solidFill>
                            <a:latin typeface="Cambria Math" panose="02040503050406030204" pitchFamily="18" charset="0"/>
                          </a:rPr>
                        </m:ctrlPr>
                      </m:sSubPr>
                      <m:e>
                        <m:sSub>
                          <m:sSubPr>
                            <m:ctrlPr>
                              <a:rPr lang="en-US" altLang="zh-CN" sz="2400" i="1" smtClean="0">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𝑔</m:t>
                            </m:r>
                          </m:e>
                          <m:sub>
                            <m:r>
                              <a:rPr lang="en-US" altLang="zh-CN" sz="2400" i="1">
                                <a:solidFill>
                                  <a:schemeClr val="tx1"/>
                                </a:solidFill>
                                <a:latin typeface="Cambria Math" panose="02040503050406030204" pitchFamily="18" charset="0"/>
                              </a:rPr>
                              <m:t>𝑡</m:t>
                            </m:r>
                            <m:r>
                              <a:rPr lang="en-US" altLang="zh-CN" sz="2400" i="1">
                                <a:solidFill>
                                  <a:schemeClr val="tx1"/>
                                </a:solidFill>
                                <a:latin typeface="Cambria Math" panose="02040503050406030204" pitchFamily="18" charset="0"/>
                              </a:rPr>
                              <m:t>−1</m:t>
                            </m:r>
                          </m:sub>
                        </m:sSub>
                        <m:d>
                          <m:dPr>
                            <m:ctrlPr>
                              <a:rPr lang="en-US" altLang="zh-CN" sz="2400" i="1">
                                <a:solidFill>
                                  <a:schemeClr val="tx1"/>
                                </a:solidFill>
                                <a:latin typeface="Cambria Math" panose="02040503050406030204" pitchFamily="18" charset="0"/>
                              </a:rPr>
                            </m:ctrlPr>
                          </m:dPr>
                          <m:e>
                            <m:r>
                              <a:rPr lang="en-US" altLang="zh-CN" sz="2400" i="1">
                                <a:solidFill>
                                  <a:schemeClr val="tx1"/>
                                </a:solidFill>
                                <a:latin typeface="Cambria Math" panose="02040503050406030204" pitchFamily="18" charset="0"/>
                              </a:rPr>
                              <m:t>𝑥</m:t>
                            </m:r>
                          </m:e>
                        </m:d>
                        <m:r>
                          <a:rPr lang="en-US" altLang="zh-CN" sz="2400" b="0" i="1" smtClean="0">
                            <a:solidFill>
                              <a:schemeClr val="tx1"/>
                            </a:solidFill>
                            <a:latin typeface="Cambria Math" panose="02040503050406030204" pitchFamily="18" charset="0"/>
                          </a:rPr>
                          <m:t>+</m:t>
                        </m:r>
                        <m:r>
                          <a:rPr lang="en-US" altLang="zh-CN" sz="2400" i="1" smtClean="0">
                            <a:solidFill>
                              <a:schemeClr val="tx1"/>
                            </a:solidFill>
                            <a:latin typeface="Cambria Math" panose="02040503050406030204" pitchFamily="18" charset="0"/>
                          </a:rPr>
                          <m:t>𝛼</m:t>
                        </m:r>
                      </m:e>
                      <m:sub>
                        <m:r>
                          <a:rPr lang="en-US" altLang="zh-CN" sz="2400" b="0" i="1" smtClean="0">
                            <a:solidFill>
                              <a:schemeClr val="tx1"/>
                            </a:solidFill>
                            <a:latin typeface="Cambria Math" panose="02040503050406030204" pitchFamily="18" charset="0"/>
                          </a:rPr>
                          <m:t>𝑡</m:t>
                        </m:r>
                      </m:sub>
                    </m:sSub>
                    <m:sSub>
                      <m:sSubPr>
                        <m:ctrlPr>
                          <a:rPr lang="en-US" altLang="zh-CN" sz="2400" i="1" smtClean="0">
                            <a:solidFill>
                              <a:schemeClr val="accent1"/>
                            </a:solidFill>
                            <a:latin typeface="Cambria Math" panose="02040503050406030204" pitchFamily="18" charset="0"/>
                          </a:rPr>
                        </m:ctrlPr>
                      </m:sSubPr>
                      <m:e>
                        <m:r>
                          <a:rPr lang="en-US" altLang="zh-CN" sz="2400" i="1" smtClean="0">
                            <a:solidFill>
                              <a:schemeClr val="accent1"/>
                            </a:solidFill>
                            <a:latin typeface="Cambria Math" panose="02040503050406030204" pitchFamily="18" charset="0"/>
                          </a:rPr>
                          <m:t>𝑓</m:t>
                        </m:r>
                      </m:e>
                      <m:sub>
                        <m:r>
                          <a:rPr lang="en-US" altLang="zh-CN" sz="2400" b="0" i="1" smtClean="0">
                            <a:solidFill>
                              <a:schemeClr val="accent1"/>
                            </a:solidFill>
                            <a:latin typeface="Cambria Math" panose="02040503050406030204" pitchFamily="18" charset="0"/>
                          </a:rPr>
                          <m:t>𝑡</m:t>
                        </m:r>
                      </m:sub>
                    </m:sSub>
                    <m:r>
                      <a:rPr lang="en-US" altLang="zh-CN" sz="2400" b="0" i="1" smtClean="0">
                        <a:solidFill>
                          <a:schemeClr val="accent1"/>
                        </a:solidFill>
                        <a:latin typeface="Cambria Math" panose="02040503050406030204" pitchFamily="18" charset="0"/>
                      </a:rPr>
                      <m:t>(</m:t>
                    </m:r>
                    <m:r>
                      <a:rPr lang="en-US" altLang="zh-CN" sz="2400" b="0" i="1" smtClean="0">
                        <a:solidFill>
                          <a:schemeClr val="accent1"/>
                        </a:solidFill>
                        <a:latin typeface="Cambria Math" panose="02040503050406030204" pitchFamily="18" charset="0"/>
                      </a:rPr>
                      <m:t>𝑥</m:t>
                    </m:r>
                    <m:r>
                      <a:rPr lang="en-US" altLang="zh-CN" sz="2400" b="0" i="1" smtClean="0">
                        <a:solidFill>
                          <a:schemeClr val="accent1"/>
                        </a:solidFill>
                        <a:latin typeface="Cambria Math" panose="02040503050406030204" pitchFamily="18" charset="0"/>
                      </a:rPr>
                      <m:t>)</m:t>
                    </m:r>
                  </m:oMath>
                </a14:m>
                <a:endParaRPr lang="en-US" altLang="zh-CN" sz="2400" dirty="0">
                  <a:solidFill>
                    <a:schemeClr val="accent1"/>
                  </a:solidFill>
                  <a:latin typeface="+mn-ea"/>
                </a:endParaRPr>
              </a:p>
              <a:p>
                <a:pPr marL="342900" indent="-342900">
                  <a:lnSpc>
                    <a:spcPct val="120000"/>
                  </a:lnSpc>
                  <a:buFont typeface="Wingdings" pitchFamily="2" charset="2"/>
                  <a:buChar char="ü"/>
                </a:pPr>
                <a:r>
                  <a:rPr lang="en-US" altLang="zh-CN" sz="2400" dirty="0">
                    <a:solidFill>
                      <a:schemeClr val="tx1"/>
                    </a:solidFill>
                    <a:latin typeface="+mn-ea"/>
                  </a:rPr>
                  <a:t> </a:t>
                </a:r>
                <a:r>
                  <a:rPr lang="zh-CN" altLang="en-US" sz="2400" dirty="0">
                    <a:solidFill>
                      <a:schemeClr val="tx1"/>
                    </a:solidFill>
                    <a:latin typeface="+mn-ea"/>
                  </a:rPr>
                  <a:t>输出：</a:t>
                </a:r>
                <a14:m>
                  <m:oMath xmlns:m="http://schemas.openxmlformats.org/officeDocument/2006/math">
                    <m:r>
                      <a:rPr lang="zh-CN" altLang="en-US" sz="2400" i="1" smtClean="0">
                        <a:solidFill>
                          <a:schemeClr val="tx1"/>
                        </a:solidFill>
                        <a:latin typeface="Cambria Math" panose="02040503050406030204" pitchFamily="18" charset="0"/>
                      </a:rPr>
                      <m:t>𝐻</m:t>
                    </m:r>
                    <m:d>
                      <m:dPr>
                        <m:ctrlPr>
                          <a:rPr lang="zh-CN" altLang="en-US" sz="2400" i="1" smtClean="0">
                            <a:solidFill>
                              <a:schemeClr val="tx1"/>
                            </a:solidFill>
                            <a:latin typeface="Cambria Math" panose="02040503050406030204" pitchFamily="18" charset="0"/>
                          </a:rPr>
                        </m:ctrlPr>
                      </m:dPr>
                      <m:e>
                        <m:r>
                          <a:rPr lang="zh-CN" altLang="en-US" sz="2400" i="1" smtClean="0">
                            <a:solidFill>
                              <a:schemeClr val="tx1"/>
                            </a:solidFill>
                            <a:latin typeface="Cambria Math" panose="02040503050406030204" pitchFamily="18" charset="0"/>
                          </a:rPr>
                          <m:t>𝑥</m:t>
                        </m:r>
                      </m:e>
                    </m:d>
                    <m:r>
                      <a:rPr lang="zh-CN" altLang="en-US" sz="2400" i="1" smtClean="0">
                        <a:solidFill>
                          <a:schemeClr val="tx1"/>
                        </a:solidFill>
                        <a:latin typeface="Cambria Math" panose="02040503050406030204" pitchFamily="18" charset="0"/>
                      </a:rPr>
                      <m:t>=</m:t>
                    </m:r>
                    <m:r>
                      <a:rPr lang="zh-CN" altLang="en-US" sz="2400" i="1" smtClean="0">
                        <a:solidFill>
                          <a:schemeClr val="tx1"/>
                        </a:solidFill>
                        <a:latin typeface="Cambria Math" panose="02040503050406030204" pitchFamily="18" charset="0"/>
                      </a:rPr>
                      <m:t>𝑠</m:t>
                    </m:r>
                    <m:r>
                      <a:rPr lang="zh-CN" altLang="en-US" sz="2400" i="1" smtClean="0">
                        <a:solidFill>
                          <a:schemeClr val="tx1"/>
                        </a:solidFill>
                        <a:latin typeface="Cambria Math" panose="02040503050406030204" pitchFamily="18" charset="0"/>
                      </a:rPr>
                      <m:t>ⅈ</m:t>
                    </m:r>
                    <m:r>
                      <a:rPr lang="zh-CN" altLang="en-US" sz="2400" i="1" smtClean="0">
                        <a:solidFill>
                          <a:schemeClr val="tx1"/>
                        </a:solidFill>
                        <a:latin typeface="Cambria Math" panose="02040503050406030204" pitchFamily="18" charset="0"/>
                      </a:rPr>
                      <m:t>𝑔𝑛</m:t>
                    </m:r>
                    <m:d>
                      <m:dPr>
                        <m:ctrlPr>
                          <a:rPr lang="zh-CN" altLang="en-US" sz="2400" i="1" smtClean="0">
                            <a:solidFill>
                              <a:schemeClr val="tx1"/>
                            </a:solidFill>
                            <a:latin typeface="Cambria Math" panose="02040503050406030204" pitchFamily="18" charset="0"/>
                          </a:rPr>
                        </m:ctrlPr>
                      </m:dPr>
                      <m:e>
                        <m:sSub>
                          <m:sSubPr>
                            <m:ctrlPr>
                              <a:rPr lang="zh-CN" altLang="en-US"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𝑔</m:t>
                            </m:r>
                          </m:e>
                          <m:sub>
                            <m:r>
                              <a:rPr lang="zh-CN" altLang="en-US" sz="2400" i="1" smtClean="0">
                                <a:solidFill>
                                  <a:schemeClr val="tx1"/>
                                </a:solidFill>
                                <a:latin typeface="Cambria Math" panose="02040503050406030204" pitchFamily="18" charset="0"/>
                              </a:rPr>
                              <m:t>𝑇</m:t>
                            </m:r>
                          </m:sub>
                        </m:sSub>
                        <m:d>
                          <m:dPr>
                            <m:ctrlPr>
                              <a:rPr lang="zh-CN" altLang="en-US" sz="2400" i="1" smtClean="0">
                                <a:solidFill>
                                  <a:schemeClr val="tx1"/>
                                </a:solidFill>
                                <a:latin typeface="Cambria Math" panose="02040503050406030204" pitchFamily="18" charset="0"/>
                              </a:rPr>
                            </m:ctrlPr>
                          </m:dPr>
                          <m:e>
                            <m:r>
                              <a:rPr lang="zh-CN" altLang="en-US" sz="2400" i="1" smtClean="0">
                                <a:solidFill>
                                  <a:schemeClr val="tx1"/>
                                </a:solidFill>
                                <a:latin typeface="Cambria Math" panose="02040503050406030204" pitchFamily="18" charset="0"/>
                              </a:rPr>
                              <m:t>𝑥</m:t>
                            </m:r>
                          </m:e>
                        </m:d>
                      </m:e>
                    </m:d>
                  </m:oMath>
                </a14:m>
                <a:endParaRPr lang="en-US" altLang="zh-CN" sz="2400" dirty="0">
                  <a:solidFill>
                    <a:schemeClr val="tx1"/>
                  </a:solidFill>
                  <a:latin typeface="+mn-ea"/>
                </a:endParaRPr>
              </a:p>
            </p:txBody>
          </p:sp>
        </mc:Choice>
        <mc:Fallback>
          <p:sp>
            <p:nvSpPr>
              <p:cNvPr id="3" name="文本框 2">
                <a:extLst>
                  <a:ext uri="{FF2B5EF4-FFF2-40B4-BE49-F238E27FC236}">
                    <a16:creationId xmlns:a16="http://schemas.microsoft.com/office/drawing/2014/main" id="{A1DC4474-83B5-499C-B12A-1BADB516D840}"/>
                  </a:ext>
                </a:extLst>
              </p:cNvPr>
              <p:cNvSpPr txBox="1">
                <a:spLocks noRot="1" noChangeAspect="1" noMove="1" noResize="1" noEditPoints="1" noAdjustHandles="1" noChangeArrowheads="1" noChangeShapeType="1" noTextEdit="1"/>
              </p:cNvSpPr>
              <p:nvPr/>
            </p:nvSpPr>
            <p:spPr>
              <a:xfrm>
                <a:off x="1596705" y="1559285"/>
                <a:ext cx="8299463" cy="2811539"/>
              </a:xfrm>
              <a:prstGeom prst="rect">
                <a:avLst/>
              </a:prstGeom>
              <a:blipFill>
                <a:blip r:embed="rId3"/>
                <a:stretch>
                  <a:fillRect l="-916" t="-448" b="-26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12C2DA29-BB35-4198-894D-A8BE9FB2D1DE}"/>
                  </a:ext>
                </a:extLst>
              </p:cNvPr>
              <p:cNvSpPr txBox="1"/>
              <p:nvPr/>
            </p:nvSpPr>
            <p:spPr>
              <a:xfrm>
                <a:off x="815257" y="4633167"/>
                <a:ext cx="10187039" cy="1200329"/>
              </a:xfrm>
              <a:prstGeom prst="rect">
                <a:avLst/>
              </a:prstGeom>
              <a:noFill/>
            </p:spPr>
            <p:txBody>
              <a:bodyPr wrap="square" rtlCol="0">
                <a:spAutoFit/>
              </a:bodyPr>
              <a:lstStyle/>
              <a:p>
                <a:pPr marL="285750" indent="-285750" algn="l">
                  <a:buFont typeface="Wingdings" pitchFamily="2" charset="2"/>
                  <a:buChar char="Ø"/>
                </a:pPr>
                <a14:m>
                  <m:oMath xmlns:m="http://schemas.openxmlformats.org/officeDocument/2006/math">
                    <m:r>
                      <a:rPr lang="en-US" altLang="zh-CN" sz="2400" i="1" dirty="0" smtClean="0">
                        <a:solidFill>
                          <a:srgbClr val="C00000"/>
                        </a:solidFill>
                        <a:latin typeface="Cambria Math" panose="02040503050406030204" pitchFamily="18" charset="0"/>
                      </a:rPr>
                      <m:t>𝑔</m:t>
                    </m:r>
                    <m:r>
                      <a:rPr lang="en-US" altLang="zh-CN" sz="2400" i="1" dirty="0" smtClean="0">
                        <a:solidFill>
                          <a:srgbClr val="C00000"/>
                        </a:solidFill>
                        <a:latin typeface="Cambria Math" panose="02040503050406030204" pitchFamily="18" charset="0"/>
                      </a:rPr>
                      <m:t>(</m:t>
                    </m:r>
                    <m:r>
                      <a:rPr lang="en-US" altLang="zh-CN" sz="2400" i="1" dirty="0" smtClean="0">
                        <a:solidFill>
                          <a:srgbClr val="C00000"/>
                        </a:solidFill>
                        <a:latin typeface="Cambria Math" panose="02040503050406030204" pitchFamily="18" charset="0"/>
                      </a:rPr>
                      <m:t>𝑥</m:t>
                    </m:r>
                    <m:r>
                      <a:rPr lang="en-US" altLang="zh-CN" sz="2400" i="1" dirty="0" smtClean="0">
                        <a:solidFill>
                          <a:srgbClr val="C00000"/>
                        </a:solidFill>
                        <a:latin typeface="Cambria Math" panose="02040503050406030204" pitchFamily="18" charset="0"/>
                      </a:rPr>
                      <m:t>)</m:t>
                    </m:r>
                  </m:oMath>
                </a14:m>
                <a:r>
                  <a:rPr lang="zh-CN" altLang="en-CN" sz="2400" dirty="0">
                    <a:solidFill>
                      <a:srgbClr val="C00000"/>
                    </a:solidFill>
                    <a:latin typeface="+mn-ea"/>
                  </a:rPr>
                  <a:t>的</a:t>
                </a:r>
                <a:r>
                  <a:rPr lang="zh-CN" altLang="en-US" sz="2400" dirty="0">
                    <a:solidFill>
                      <a:srgbClr val="C00000"/>
                    </a:solidFill>
                    <a:latin typeface="+mn-ea"/>
                  </a:rPr>
                  <a:t>学习目标</a:t>
                </a:r>
                <a:r>
                  <a:rPr lang="zh-CN" altLang="en-US" sz="2400" dirty="0">
                    <a:latin typeface="+mn-ea"/>
                  </a:rPr>
                  <a:t>：使如下损失函数（</a:t>
                </a:r>
                <a:r>
                  <a:rPr lang="zh-CN" altLang="en-US" sz="2400" dirty="0">
                    <a:solidFill>
                      <a:schemeClr val="tx1">
                        <a:lumMod val="65000"/>
                        <a:lumOff val="35000"/>
                      </a:schemeClr>
                    </a:solidFill>
                    <a:latin typeface="+mn-ea"/>
                  </a:rPr>
                  <a:t>有不同的定义形式</a:t>
                </a:r>
                <a:r>
                  <a:rPr lang="zh-CN" altLang="en-US" sz="2400" dirty="0">
                    <a:latin typeface="+mn-ea"/>
                  </a:rPr>
                  <a:t>）</a:t>
                </a:r>
                <a:r>
                  <a:rPr lang="zh-CN" altLang="en-US" sz="2400" dirty="0">
                    <a:solidFill>
                      <a:schemeClr val="accent1"/>
                    </a:solidFill>
                    <a:latin typeface="+mn-ea"/>
                  </a:rPr>
                  <a:t>最小</a:t>
                </a:r>
                <a:endParaRPr lang="en-US" altLang="zh-CN" sz="2400" dirty="0">
                  <a:solidFill>
                    <a:schemeClr val="accent1"/>
                  </a:solidFill>
                  <a:latin typeface="+mn-ea"/>
                </a:endParaRPr>
              </a:p>
              <a:p>
                <a:pPr algn="l"/>
                <a:endParaRPr lang="en-US" altLang="zh-CN" sz="2400" dirty="0">
                  <a:solidFill>
                    <a:schemeClr val="accent1"/>
                  </a:solidFill>
                  <a:latin typeface="+mn-ea"/>
                </a:endParaRPr>
              </a:p>
              <a:p>
                <a:pPr algn="l"/>
                <a:r>
                  <a:rPr lang="zh-CN" altLang="en-US" sz="2400" dirty="0">
                    <a:latin typeface="+mn-ea"/>
                  </a:rPr>
                  <a:t>                                                                                                        </a:t>
                </a:r>
              </a:p>
            </p:txBody>
          </p:sp>
        </mc:Choice>
        <mc:Fallback>
          <p:sp>
            <p:nvSpPr>
              <p:cNvPr id="4" name="文本框 3">
                <a:extLst>
                  <a:ext uri="{FF2B5EF4-FFF2-40B4-BE49-F238E27FC236}">
                    <a16:creationId xmlns:a16="http://schemas.microsoft.com/office/drawing/2014/main" id="{12C2DA29-BB35-4198-894D-A8BE9FB2D1DE}"/>
                  </a:ext>
                </a:extLst>
              </p:cNvPr>
              <p:cNvSpPr txBox="1">
                <a:spLocks noRot="1" noChangeAspect="1" noMove="1" noResize="1" noEditPoints="1" noAdjustHandles="1" noChangeArrowheads="1" noChangeShapeType="1" noTextEdit="1"/>
              </p:cNvSpPr>
              <p:nvPr/>
            </p:nvSpPr>
            <p:spPr>
              <a:xfrm>
                <a:off x="815257" y="4633167"/>
                <a:ext cx="10187039" cy="1200329"/>
              </a:xfrm>
              <a:prstGeom prst="rect">
                <a:avLst/>
              </a:prstGeom>
              <a:blipFill>
                <a:blip r:embed="rId4"/>
                <a:stretch>
                  <a:fillRect l="-872" t="-416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8843B9A7-5EF0-4E33-8435-72EA67998C08}"/>
              </a:ext>
            </a:extLst>
          </p:cNvPr>
          <p:cNvPicPr>
            <a:picLocks noChangeAspect="1"/>
          </p:cNvPicPr>
          <p:nvPr/>
        </p:nvPicPr>
        <p:blipFill>
          <a:blip r:embed="rId5"/>
          <a:stretch>
            <a:fillRect/>
          </a:stretch>
        </p:blipFill>
        <p:spPr>
          <a:xfrm>
            <a:off x="2985406" y="5233332"/>
            <a:ext cx="5499104" cy="992485"/>
          </a:xfrm>
          <a:prstGeom prst="rect">
            <a:avLst/>
          </a:prstGeom>
        </p:spPr>
      </p:pic>
      <mc:AlternateContent xmlns:mc="http://schemas.openxmlformats.org/markup-compatibility/2006">
        <mc:Choice xmlns:a14="http://schemas.microsoft.com/office/drawing/2010/main" Requires="a14">
          <p:sp>
            <p:nvSpPr>
              <p:cNvPr id="5" name="文本框 2">
                <a:extLst>
                  <a:ext uri="{FF2B5EF4-FFF2-40B4-BE49-F238E27FC236}">
                    <a16:creationId xmlns:a16="http://schemas.microsoft.com/office/drawing/2014/main" id="{7F6D87E8-BC60-BC4F-C8C0-6AC911D7A7BA}"/>
                  </a:ext>
                </a:extLst>
              </p:cNvPr>
              <p:cNvSpPr txBox="1"/>
              <p:nvPr/>
            </p:nvSpPr>
            <p:spPr>
              <a:xfrm>
                <a:off x="675801" y="884942"/>
                <a:ext cx="10511339" cy="461665"/>
              </a:xfrm>
              <a:prstGeom prst="rect">
                <a:avLst/>
              </a:prstGeom>
              <a:noFill/>
            </p:spPr>
            <p:txBody>
              <a:bodyPr wrap="none" rtlCol="0">
                <a:spAutoFit/>
              </a:bodyPr>
              <a:lstStyle/>
              <a:p>
                <a:pPr marL="342900" indent="-342900">
                  <a:buFont typeface="Wingdings" pitchFamily="2" charset="2"/>
                  <a:buChar char="Ø"/>
                </a:pPr>
                <a:r>
                  <a:rPr lang="en" altLang="zh-CN" sz="2400" dirty="0"/>
                  <a:t>Boosting </a:t>
                </a:r>
                <a:r>
                  <a:rPr lang="zh-CN" altLang="en-US" sz="2400" dirty="0"/>
                  <a:t>的本质：用一堆小模型加在一起形成强模型</a:t>
                </a:r>
                <a14:m>
                  <m:oMath xmlns:m="http://schemas.openxmlformats.org/officeDocument/2006/math">
                    <m:r>
                      <a:rPr lang="en-US" altLang="zh-CN" sz="2400" i="1" dirty="0" smtClean="0">
                        <a:solidFill>
                          <a:srgbClr val="C00000"/>
                        </a:solidFill>
                        <a:latin typeface="Cambria Math" panose="02040503050406030204" pitchFamily="18" charset="0"/>
                      </a:rPr>
                      <m:t>𝑔</m:t>
                    </m:r>
                    <m:r>
                      <a:rPr lang="en-US" altLang="zh-CN" sz="2400" i="1" dirty="0" smtClean="0">
                        <a:solidFill>
                          <a:srgbClr val="C00000"/>
                        </a:solidFill>
                        <a:latin typeface="Cambria Math" panose="02040503050406030204" pitchFamily="18" charset="0"/>
                      </a:rPr>
                      <m:t>(</m:t>
                    </m:r>
                    <m:r>
                      <a:rPr lang="en-US" altLang="zh-CN" sz="2400" i="1" dirty="0" smtClean="0">
                        <a:solidFill>
                          <a:srgbClr val="C00000"/>
                        </a:solidFill>
                        <a:latin typeface="Cambria Math" panose="02040503050406030204" pitchFamily="18" charset="0"/>
                      </a:rPr>
                      <m:t>𝑥</m:t>
                    </m:r>
                    <m:r>
                      <a:rPr lang="en-US" altLang="zh-CN" sz="2400" i="1" dirty="0" smtClean="0">
                        <a:solidFill>
                          <a:srgbClr val="C00000"/>
                        </a:solidFill>
                        <a:latin typeface="Cambria Math" panose="02040503050406030204" pitchFamily="18" charset="0"/>
                      </a:rPr>
                      <m:t>) </m:t>
                    </m:r>
                  </m:oMath>
                </a14:m>
                <a:r>
                  <a:rPr lang="zh-CN" altLang="en-US" sz="2400" dirty="0"/>
                  <a:t>。其</a:t>
                </a:r>
                <a:r>
                  <a:rPr lang="zh-CN" altLang="en-US" sz="2400" dirty="0">
                    <a:latin typeface="+mn-ea"/>
                  </a:rPr>
                  <a:t>工作流程：</a:t>
                </a:r>
              </a:p>
            </p:txBody>
          </p:sp>
        </mc:Choice>
        <mc:Fallback>
          <p:sp>
            <p:nvSpPr>
              <p:cNvPr id="5" name="文本框 2">
                <a:extLst>
                  <a:ext uri="{FF2B5EF4-FFF2-40B4-BE49-F238E27FC236}">
                    <a16:creationId xmlns:a16="http://schemas.microsoft.com/office/drawing/2014/main" id="{7F6D87E8-BC60-BC4F-C8C0-6AC911D7A7BA}"/>
                  </a:ext>
                </a:extLst>
              </p:cNvPr>
              <p:cNvSpPr txBox="1">
                <a:spLocks noRot="1" noChangeAspect="1" noMove="1" noResize="1" noEditPoints="1" noAdjustHandles="1" noChangeArrowheads="1" noChangeShapeType="1" noTextEdit="1"/>
              </p:cNvSpPr>
              <p:nvPr/>
            </p:nvSpPr>
            <p:spPr>
              <a:xfrm>
                <a:off x="675801" y="884942"/>
                <a:ext cx="10511339" cy="461665"/>
              </a:xfrm>
              <a:prstGeom prst="rect">
                <a:avLst/>
              </a:prstGeom>
              <a:blipFill>
                <a:blip r:embed="rId6"/>
                <a:stretch>
                  <a:fillRect l="-845" t="-10526" b="-28947"/>
                </a:stretch>
              </a:blipFill>
            </p:spPr>
            <p:txBody>
              <a:bodyPr/>
              <a:lstStyle/>
              <a:p>
                <a:r>
                  <a:rPr lang="zh-CN" altLang="en-US">
                    <a:noFill/>
                  </a:rPr>
                  <a:t> </a:t>
                </a:r>
              </a:p>
            </p:txBody>
          </p:sp>
        </mc:Fallback>
      </mc:AlternateContent>
      <p:sp>
        <p:nvSpPr>
          <p:cNvPr id="7" name="灯片编号占位符 6">
            <a:extLst>
              <a:ext uri="{FF2B5EF4-FFF2-40B4-BE49-F238E27FC236}">
                <a16:creationId xmlns:a16="http://schemas.microsoft.com/office/drawing/2014/main" id="{6F9A13FF-5F0A-4A3B-9B20-E72807BDF38B}"/>
              </a:ext>
            </a:extLst>
          </p:cNvPr>
          <p:cNvSpPr>
            <a:spLocks noGrp="1"/>
          </p:cNvSpPr>
          <p:nvPr>
            <p:ph type="sldNum" sz="quarter" idx="14"/>
          </p:nvPr>
        </p:nvSpPr>
        <p:spPr/>
        <p:txBody>
          <a:bodyPr/>
          <a:lstStyle/>
          <a:p>
            <a:fld id="{AF69888C-E133-43D9-A638-B5C95925B91C}" type="slidenum">
              <a:rPr lang="zh-CN" altLang="en-US" smtClean="0"/>
              <a:t>46</a:t>
            </a:fld>
            <a:endParaRPr lang="zh-CN" altLang="en-US" dirty="0"/>
          </a:p>
        </p:txBody>
      </p:sp>
    </p:spTree>
    <p:extLst>
      <p:ext uri="{BB962C8B-B14F-4D97-AF65-F5344CB8AC3E}">
        <p14:creationId xmlns:p14="http://schemas.microsoft.com/office/powerpoint/2010/main" val="192027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fade">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21A98C6E-941D-FA42-A266-92B4B1F4EEE2}"/>
              </a:ext>
            </a:extLst>
          </p:cNvPr>
          <p:cNvGrpSpPr/>
          <p:nvPr/>
        </p:nvGrpSpPr>
        <p:grpSpPr>
          <a:xfrm>
            <a:off x="4372776" y="4177110"/>
            <a:ext cx="4697874" cy="933078"/>
            <a:chOff x="4372776" y="4177110"/>
            <a:chExt cx="4697874" cy="933078"/>
          </a:xfrm>
        </p:grpSpPr>
        <p:pic>
          <p:nvPicPr>
            <p:cNvPr id="10" name="图片 9">
              <a:extLst>
                <a:ext uri="{FF2B5EF4-FFF2-40B4-BE49-F238E27FC236}">
                  <a16:creationId xmlns:a16="http://schemas.microsoft.com/office/drawing/2014/main" id="{CE500F50-BB96-4475-B6FC-7A26CC5D94EE}"/>
                </a:ext>
              </a:extLst>
            </p:cNvPr>
            <p:cNvPicPr>
              <a:picLocks noChangeAspect="1"/>
            </p:cNvPicPr>
            <p:nvPr/>
          </p:nvPicPr>
          <p:blipFill>
            <a:blip r:embed="rId3"/>
            <a:stretch>
              <a:fillRect/>
            </a:stretch>
          </p:blipFill>
          <p:spPr>
            <a:xfrm>
              <a:off x="4949163" y="4177110"/>
              <a:ext cx="4121487" cy="933078"/>
            </a:xfrm>
            <a:prstGeom prst="rect">
              <a:avLst/>
            </a:prstGeom>
          </p:spPr>
        </p:pic>
        <mc:AlternateContent xmlns:mc="http://schemas.openxmlformats.org/markup-compatibility/2006">
          <mc:Choice xmlns:a14="http://schemas.microsoft.com/office/drawing/2010/main" Requires="a14">
            <p:sp>
              <p:nvSpPr>
                <p:cNvPr id="24" name="文本框 23">
                  <a:extLst>
                    <a:ext uri="{FF2B5EF4-FFF2-40B4-BE49-F238E27FC236}">
                      <a16:creationId xmlns:a16="http://schemas.microsoft.com/office/drawing/2014/main" id="{8C01915C-40A3-6149-B7D9-5BC92FC79FE2}"/>
                    </a:ext>
                  </a:extLst>
                </p:cNvPr>
                <p:cNvSpPr txBox="1"/>
                <p:nvPr/>
              </p:nvSpPr>
              <p:spPr>
                <a:xfrm>
                  <a:off x="4372776" y="4319466"/>
                  <a:ext cx="1190654"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i="1" dirty="0">
                            <a:solidFill>
                              <a:schemeClr val="tx1"/>
                            </a:solidFill>
                            <a:latin typeface="Cambria Math" panose="02040503050406030204" pitchFamily="18" charset="0"/>
                          </a:rPr>
                          <m:t>=</m:t>
                        </m:r>
                        <m:r>
                          <a:rPr lang="en" altLang="zh-CN" sz="2400" i="1" dirty="0" smtClean="0">
                            <a:solidFill>
                              <a:schemeClr val="tx1"/>
                            </a:solidFill>
                            <a:latin typeface="Cambria Math" panose="02040503050406030204" pitchFamily="18" charset="0"/>
                            <a:ea typeface="Cambria Math" panose="02040503050406030204" pitchFamily="18" charset="0"/>
                          </a:rPr>
                          <m:t>𝜂</m:t>
                        </m:r>
                      </m:oMath>
                    </m:oMathPara>
                  </a14:m>
                  <a:endParaRPr lang="zh-CN" altLang="en-US" sz="2400" dirty="0">
                    <a:solidFill>
                      <a:schemeClr val="tx1"/>
                    </a:solidFill>
                  </a:endParaRPr>
                </a:p>
              </p:txBody>
            </p:sp>
          </mc:Choice>
          <mc:Fallback>
            <p:sp>
              <p:nvSpPr>
                <p:cNvPr id="24" name="文本框 23">
                  <a:extLst>
                    <a:ext uri="{FF2B5EF4-FFF2-40B4-BE49-F238E27FC236}">
                      <a16:creationId xmlns:a16="http://schemas.microsoft.com/office/drawing/2014/main" id="{8C01915C-40A3-6149-B7D9-5BC92FC79FE2}"/>
                    </a:ext>
                  </a:extLst>
                </p:cNvPr>
                <p:cNvSpPr txBox="1">
                  <a:spLocks noRot="1" noChangeAspect="1" noMove="1" noResize="1" noEditPoints="1" noAdjustHandles="1" noChangeArrowheads="1" noChangeShapeType="1" noTextEdit="1"/>
                </p:cNvSpPr>
                <p:nvPr/>
              </p:nvSpPr>
              <p:spPr>
                <a:xfrm>
                  <a:off x="4372776" y="4319466"/>
                  <a:ext cx="1190654" cy="461665"/>
                </a:xfrm>
                <a:prstGeom prst="rect">
                  <a:avLst/>
                </a:prstGeom>
                <a:blipFill>
                  <a:blip r:embed="rId4"/>
                  <a:stretch>
                    <a:fillRect b="-10811"/>
                  </a:stretch>
                </a:blipFill>
              </p:spPr>
              <p:txBody>
                <a:bodyPr/>
                <a:lstStyle/>
                <a:p>
                  <a:r>
                    <a:rPr lang="zh-CN" altLang="en-US">
                      <a:noFill/>
                    </a:rPr>
                    <a:t> </a:t>
                  </a:r>
                </a:p>
              </p:txBody>
            </p:sp>
          </mc:Fallback>
        </mc:AlternateContent>
      </p:grpSp>
      <p:sp>
        <p:nvSpPr>
          <p:cNvPr id="2" name="文本占位符 1">
            <a:extLst>
              <a:ext uri="{FF2B5EF4-FFF2-40B4-BE49-F238E27FC236}">
                <a16:creationId xmlns:a16="http://schemas.microsoft.com/office/drawing/2014/main" id="{E90D1CD6-7E47-4512-AA70-1CFBA16C2D00}"/>
              </a:ext>
            </a:extLst>
          </p:cNvPr>
          <p:cNvSpPr>
            <a:spLocks noGrp="1"/>
          </p:cNvSpPr>
          <p:nvPr>
            <p:ph type="body" sz="quarter" idx="12"/>
          </p:nvPr>
        </p:nvSpPr>
        <p:spPr/>
        <p:txBody>
          <a:bodyPr/>
          <a:lstStyle/>
          <a:p>
            <a:pPr marL="0" indent="0">
              <a:buNone/>
            </a:pPr>
            <a:r>
              <a:rPr lang="en-US" altLang="zh-CN" sz="3200" dirty="0"/>
              <a:t>Gradient Boosting</a:t>
            </a:r>
            <a:endParaRPr lang="zh-CN" altLang="en-US" sz="3200" dirty="0"/>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81BACAF3-16EE-4CE5-8D11-4E55B3CF99D9}"/>
                  </a:ext>
                </a:extLst>
              </p:cNvPr>
              <p:cNvSpPr txBox="1"/>
              <p:nvPr/>
            </p:nvSpPr>
            <p:spPr>
              <a:xfrm>
                <a:off x="673768" y="1118937"/>
                <a:ext cx="8489483" cy="1938992"/>
              </a:xfrm>
              <a:prstGeom prst="rect">
                <a:avLst/>
              </a:prstGeom>
              <a:noFill/>
            </p:spPr>
            <p:txBody>
              <a:bodyPr wrap="square" rtlCol="0">
                <a:spAutoFit/>
              </a:bodyPr>
              <a:lstStyle/>
              <a:p>
                <a:pPr marL="342900" indent="-342900" algn="l">
                  <a:buFont typeface="Wingdings" pitchFamily="2" charset="2"/>
                  <a:buChar char="Ø"/>
                </a:pPr>
                <a:r>
                  <a:rPr lang="zh-CN" altLang="en-US" sz="2400" dirty="0">
                    <a:solidFill>
                      <a:srgbClr val="C00000"/>
                    </a:solidFill>
                    <a:latin typeface="+mn-ea"/>
                  </a:rPr>
                  <a:t>找到一个</a:t>
                </a:r>
                <a14:m>
                  <m:oMath xmlns:m="http://schemas.openxmlformats.org/officeDocument/2006/math">
                    <m:r>
                      <a:rPr lang="en-US" altLang="zh-CN" sz="2400" i="1" dirty="0" smtClean="0">
                        <a:solidFill>
                          <a:srgbClr val="C00000"/>
                        </a:solidFill>
                        <a:latin typeface="Cambria Math" panose="02040503050406030204" pitchFamily="18" charset="0"/>
                      </a:rPr>
                      <m:t>𝑔</m:t>
                    </m:r>
                    <m:r>
                      <a:rPr lang="en-US" altLang="zh-CN" sz="2400" i="1" dirty="0" smtClean="0">
                        <a:solidFill>
                          <a:srgbClr val="C00000"/>
                        </a:solidFill>
                        <a:latin typeface="Cambria Math" panose="02040503050406030204" pitchFamily="18" charset="0"/>
                      </a:rPr>
                      <m:t>(</m:t>
                    </m:r>
                    <m:r>
                      <a:rPr lang="en-US" altLang="zh-CN" sz="2400" i="1" dirty="0" smtClean="0">
                        <a:solidFill>
                          <a:srgbClr val="C00000"/>
                        </a:solidFill>
                        <a:latin typeface="Cambria Math" panose="02040503050406030204" pitchFamily="18" charset="0"/>
                      </a:rPr>
                      <m:t>𝑥</m:t>
                    </m:r>
                    <m:r>
                      <a:rPr lang="en-US" altLang="zh-CN" sz="2400" i="1" dirty="0" smtClean="0">
                        <a:solidFill>
                          <a:srgbClr val="C00000"/>
                        </a:solidFill>
                        <a:latin typeface="Cambria Math" panose="02040503050406030204" pitchFamily="18" charset="0"/>
                      </a:rPr>
                      <m:t>)</m:t>
                    </m:r>
                  </m:oMath>
                </a14:m>
                <a:r>
                  <a:rPr lang="zh-CN" altLang="en-US" sz="2400" dirty="0">
                    <a:latin typeface="+mn-ea"/>
                  </a:rPr>
                  <a:t>，使                                                   最小</a:t>
                </a:r>
                <a:endParaRPr lang="en-US" altLang="zh-CN" sz="2400" dirty="0">
                  <a:latin typeface="+mn-ea"/>
                </a:endParaRPr>
              </a:p>
              <a:p>
                <a:pPr marL="342900" indent="-342900" algn="l">
                  <a:buFont typeface="Wingdings" pitchFamily="2" charset="2"/>
                  <a:buChar char="Ø"/>
                </a:pPr>
                <a:endParaRPr lang="en-US" altLang="zh-CN" sz="2400" dirty="0">
                  <a:latin typeface="+mn-ea"/>
                </a:endParaRPr>
              </a:p>
              <a:p>
                <a:pPr algn="l"/>
                <a:r>
                  <a:rPr lang="en-US" altLang="zh-CN" sz="2400" dirty="0">
                    <a:latin typeface="+mn-ea"/>
                  </a:rPr>
                  <a:t>   •</a:t>
                </a:r>
                <a:r>
                  <a:rPr lang="zh-CN" altLang="en-US" sz="2400" dirty="0">
                    <a:latin typeface="+mn-ea"/>
                  </a:rPr>
                  <a:t>如果已经获得</a:t>
                </a:r>
                <a14:m>
                  <m:oMath xmlns:m="http://schemas.openxmlformats.org/officeDocument/2006/math">
                    <m:r>
                      <a:rPr lang="en-US" altLang="zh-CN" sz="2400" i="1" dirty="0" smtClean="0">
                        <a:latin typeface="Cambria Math" panose="02040503050406030204" pitchFamily="18" charset="0"/>
                      </a:rPr>
                      <m:t>𝑔</m:t>
                    </m:r>
                    <m:d>
                      <m:dPr>
                        <m:ctrlPr>
                          <a:rPr lang="en-US" altLang="zh-CN" sz="2400" i="1" dirty="0" smtClean="0">
                            <a:latin typeface="Cambria Math" panose="02040503050406030204" pitchFamily="18" charset="0"/>
                          </a:rPr>
                        </m:ctrlPr>
                      </m:dPr>
                      <m:e>
                        <m:r>
                          <a:rPr lang="en-US" altLang="zh-CN" sz="2400" i="1" dirty="0" smtClean="0">
                            <a:latin typeface="Cambria Math" panose="02040503050406030204" pitchFamily="18" charset="0"/>
                          </a:rPr>
                          <m:t>𝑥</m:t>
                        </m:r>
                      </m:e>
                    </m:d>
                    <m:r>
                      <a:rPr lang="en-US" altLang="zh-CN" sz="2400" i="1" dirty="0" smtClean="0">
                        <a:latin typeface="Cambria Math" panose="02040503050406030204" pitchFamily="18" charset="0"/>
                      </a:rPr>
                      <m:t>=</m:t>
                    </m:r>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𝑔</m:t>
                        </m:r>
                      </m:e>
                      <m:sub>
                        <m:r>
                          <a:rPr lang="en-US" altLang="zh-CN" sz="2400" b="0" i="1" dirty="0" smtClean="0">
                            <a:latin typeface="Cambria Math" panose="02040503050406030204" pitchFamily="18" charset="0"/>
                          </a:rPr>
                          <m:t>𝑡</m:t>
                        </m:r>
                        <m:r>
                          <a:rPr lang="en-US" altLang="zh-CN" sz="2400" b="0" i="1" dirty="0" smtClean="0">
                            <a:latin typeface="Cambria Math" panose="02040503050406030204" pitchFamily="18" charset="0"/>
                          </a:rPr>
                          <m:t>−1</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𝑥</m:t>
                    </m:r>
                    <m:r>
                      <a:rPr lang="en-US" altLang="zh-CN" sz="2400" i="1" dirty="0">
                        <a:latin typeface="Cambria Math" panose="02040503050406030204" pitchFamily="18" charset="0"/>
                      </a:rPr>
                      <m:t>)</m:t>
                    </m:r>
                  </m:oMath>
                </a14:m>
                <a:r>
                  <a:rPr lang="zh-CN" altLang="en-US" sz="2400" dirty="0">
                    <a:latin typeface="+mn-ea"/>
                  </a:rPr>
                  <a:t>，如何去更新</a:t>
                </a:r>
                <a14:m>
                  <m:oMath xmlns:m="http://schemas.openxmlformats.org/officeDocument/2006/math">
                    <m:r>
                      <a:rPr lang="en-US" altLang="zh-CN" sz="2400" i="1" dirty="0" smtClean="0">
                        <a:latin typeface="Cambria Math" panose="02040503050406030204" pitchFamily="18" charset="0"/>
                      </a:rPr>
                      <m:t>𝑔</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𝑥</m:t>
                    </m:r>
                    <m:r>
                      <a:rPr lang="en-US" altLang="zh-CN" sz="2400" i="1" dirty="0" smtClean="0">
                        <a:latin typeface="Cambria Math" panose="02040503050406030204" pitchFamily="18" charset="0"/>
                      </a:rPr>
                      <m:t>)</m:t>
                    </m:r>
                  </m:oMath>
                </a14:m>
                <a:r>
                  <a:rPr lang="zh-CN" altLang="en-US" sz="2400" dirty="0">
                    <a:latin typeface="+mn-ea"/>
                  </a:rPr>
                  <a:t>？</a:t>
                </a:r>
                <a:endParaRPr lang="en-US" altLang="zh-CN" sz="2400" dirty="0">
                  <a:latin typeface="+mn-ea"/>
                </a:endParaRPr>
              </a:p>
              <a:p>
                <a:pPr algn="l"/>
                <a:endParaRPr lang="en-US" altLang="zh-CN" sz="2400" dirty="0">
                  <a:latin typeface="+mn-ea"/>
                </a:endParaRPr>
              </a:p>
              <a:p>
                <a:pPr algn="l"/>
                <a:r>
                  <a:rPr lang="zh-CN" altLang="en-US" sz="2400" dirty="0">
                    <a:latin typeface="+mn-ea"/>
                  </a:rPr>
                  <a:t>采用梯度下降思想：</a:t>
                </a:r>
              </a:p>
            </p:txBody>
          </p:sp>
        </mc:Choice>
        <mc:Fallback>
          <p:sp>
            <p:nvSpPr>
              <p:cNvPr id="3" name="文本框 2">
                <a:extLst>
                  <a:ext uri="{FF2B5EF4-FFF2-40B4-BE49-F238E27FC236}">
                    <a16:creationId xmlns:a16="http://schemas.microsoft.com/office/drawing/2014/main" id="{81BACAF3-16EE-4CE5-8D11-4E55B3CF99D9}"/>
                  </a:ext>
                </a:extLst>
              </p:cNvPr>
              <p:cNvSpPr txBox="1">
                <a:spLocks noRot="1" noChangeAspect="1" noMove="1" noResize="1" noEditPoints="1" noAdjustHandles="1" noChangeArrowheads="1" noChangeShapeType="1" noTextEdit="1"/>
              </p:cNvSpPr>
              <p:nvPr/>
            </p:nvSpPr>
            <p:spPr>
              <a:xfrm>
                <a:off x="673768" y="1118937"/>
                <a:ext cx="8489483" cy="1938992"/>
              </a:xfrm>
              <a:prstGeom prst="rect">
                <a:avLst/>
              </a:prstGeom>
              <a:blipFill>
                <a:blip r:embed="rId5"/>
                <a:stretch>
                  <a:fillRect l="-1196" t="-2614" b="-653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F9F95903-D44F-499D-A9EA-C865C194A50E}"/>
              </a:ext>
            </a:extLst>
          </p:cNvPr>
          <p:cNvPicPr>
            <a:picLocks noChangeAspect="1"/>
          </p:cNvPicPr>
          <p:nvPr/>
        </p:nvPicPr>
        <p:blipFill>
          <a:blip r:embed="rId6"/>
          <a:stretch>
            <a:fillRect/>
          </a:stretch>
        </p:blipFill>
        <p:spPr>
          <a:xfrm>
            <a:off x="3639127" y="955055"/>
            <a:ext cx="4419827" cy="622332"/>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EB4CDEF-45BD-449D-AE20-31F11E35003C}"/>
                  </a:ext>
                </a:extLst>
              </p:cNvPr>
              <p:cNvSpPr txBox="1"/>
              <p:nvPr/>
            </p:nvSpPr>
            <p:spPr>
              <a:xfrm>
                <a:off x="2907360" y="3029212"/>
                <a:ext cx="5449330" cy="917559"/>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𝑔</m:t>
                          </m:r>
                        </m:e>
                        <m:sub>
                          <m:r>
                            <a:rPr lang="en-US" altLang="zh-CN" sz="2400" i="1" dirty="0">
                              <a:solidFill>
                                <a:schemeClr val="tx1"/>
                              </a:solidFill>
                              <a:latin typeface="Cambria Math" panose="02040503050406030204" pitchFamily="18" charset="0"/>
                            </a:rPr>
                            <m:t>𝑡</m:t>
                          </m:r>
                        </m:sub>
                      </m:sSub>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𝑥</m:t>
                          </m:r>
                        </m:e>
                      </m:d>
                      <m:sSub>
                        <m:sSubPr>
                          <m:ctrlPr>
                            <a:rPr lang="en-US" altLang="zh-CN" sz="2400" i="1" dirty="0">
                              <a:solidFill>
                                <a:schemeClr val="tx1"/>
                              </a:solidFill>
                              <a:latin typeface="Cambria Math" panose="02040503050406030204" pitchFamily="18" charset="0"/>
                            </a:rPr>
                          </m:ctrlPr>
                        </m:sSubPr>
                        <m:e>
                          <m:r>
                            <a:rPr lang="en-US" altLang="zh-CN" sz="2400" i="1" dirty="0" smtClean="0">
                              <a:solidFill>
                                <a:schemeClr val="tx1"/>
                              </a:solidFill>
                              <a:latin typeface="Cambria Math" panose="02040503050406030204" pitchFamily="18" charset="0"/>
                              <a:ea typeface="Cambria Math" panose="02040503050406030204" pitchFamily="18" charset="0"/>
                            </a:rPr>
                            <m:t>=</m:t>
                          </m:r>
                          <m:r>
                            <a:rPr lang="en-US" altLang="zh-CN" sz="2400" i="1" dirty="0">
                              <a:solidFill>
                                <a:schemeClr val="tx1"/>
                              </a:solidFill>
                              <a:latin typeface="Cambria Math" panose="02040503050406030204" pitchFamily="18" charset="0"/>
                            </a:rPr>
                            <m:t>𝑔</m:t>
                          </m:r>
                        </m:e>
                        <m:sub>
                          <m:r>
                            <a:rPr lang="en-US" altLang="zh-CN" sz="2400" i="1" dirty="0">
                              <a:solidFill>
                                <a:schemeClr val="tx1"/>
                              </a:solidFill>
                              <a:latin typeface="Cambria Math" panose="02040503050406030204" pitchFamily="18" charset="0"/>
                            </a:rPr>
                            <m:t>𝑡</m:t>
                          </m:r>
                          <m:r>
                            <a:rPr lang="en-US" altLang="zh-CN" sz="2400" i="1" dirty="0">
                              <a:solidFill>
                                <a:schemeClr val="tx1"/>
                              </a:solidFill>
                              <a:latin typeface="Cambria Math" panose="02040503050406030204" pitchFamily="18" charset="0"/>
                            </a:rPr>
                            <m:t>−1</m:t>
                          </m:r>
                        </m:sub>
                      </m:sSub>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𝑥</m:t>
                          </m:r>
                        </m:e>
                      </m:d>
                      <m:r>
                        <a:rPr lang="en-US" altLang="zh-CN" sz="2400" b="0" i="1" dirty="0" smtClean="0">
                          <a:solidFill>
                            <a:schemeClr val="tx1"/>
                          </a:solidFill>
                          <a:latin typeface="Cambria Math" panose="02040503050406030204" pitchFamily="18" charset="0"/>
                        </a:rPr>
                        <m:t>−</m:t>
                      </m:r>
                      <m:r>
                        <a:rPr lang="zh-CN" altLang="en-US" sz="2400" i="1" dirty="0" smtClean="0">
                          <a:solidFill>
                            <a:schemeClr val="tx1"/>
                          </a:solidFill>
                          <a:latin typeface="Cambria Math" panose="02040503050406030204" pitchFamily="18" charset="0"/>
                        </a:rPr>
                        <m:t>𝜂</m:t>
                      </m:r>
                      <m:sSub>
                        <m:sSubPr>
                          <m:ctrlPr>
                            <a:rPr lang="zh-CN" altLang="en-US" sz="2400" i="1" dirty="0" smtClean="0">
                              <a:solidFill>
                                <a:schemeClr val="tx1"/>
                              </a:solidFill>
                              <a:latin typeface="Cambria Math" panose="02040503050406030204" pitchFamily="18" charset="0"/>
                            </a:rPr>
                          </m:ctrlPr>
                        </m:sSubPr>
                        <m:e>
                          <m:d>
                            <m:dPr>
                              <m:begChr m:val=""/>
                              <m:endChr m:val="|"/>
                              <m:ctrlPr>
                                <a:rPr lang="zh-CN" altLang="en-US" sz="2400" i="1" dirty="0" smtClean="0">
                                  <a:solidFill>
                                    <a:schemeClr val="tx1"/>
                                  </a:solidFill>
                                  <a:latin typeface="Cambria Math" panose="02040503050406030204" pitchFamily="18" charset="0"/>
                                </a:rPr>
                              </m:ctrlPr>
                            </m:dPr>
                            <m:e>
                              <m:f>
                                <m:fPr>
                                  <m:ctrlPr>
                                    <a:rPr lang="zh-CN" altLang="en-US" sz="2400" i="1" dirty="0" smtClean="0">
                                      <a:solidFill>
                                        <a:schemeClr val="tx1"/>
                                      </a:solidFill>
                                      <a:latin typeface="Cambria Math" panose="02040503050406030204" pitchFamily="18" charset="0"/>
                                    </a:rPr>
                                  </m:ctrlPr>
                                </m:fPr>
                                <m:num>
                                  <m:r>
                                    <a:rPr lang="zh-CN" altLang="en-US" sz="2400" i="0" dirty="0" smtClean="0">
                                      <a:solidFill>
                                        <a:schemeClr val="tx1"/>
                                      </a:solidFill>
                                      <a:latin typeface="Cambria Math" panose="02040503050406030204" pitchFamily="18" charset="0"/>
                                    </a:rPr>
                                    <m:t>𝜕</m:t>
                                  </m:r>
                                  <m:r>
                                    <a:rPr lang="zh-CN" altLang="en-US" sz="2400" i="1" dirty="0" smtClean="0">
                                      <a:solidFill>
                                        <a:schemeClr val="tx1"/>
                                      </a:solidFill>
                                      <a:latin typeface="Cambria Math" panose="02040503050406030204" pitchFamily="18" charset="0"/>
                                    </a:rPr>
                                    <m:t>𝐿</m:t>
                                  </m:r>
                                  <m:d>
                                    <m:dPr>
                                      <m:ctrlPr>
                                        <a:rPr lang="zh-CN" altLang="en-US" sz="2400" i="1" dirty="0" smtClean="0">
                                          <a:solidFill>
                                            <a:schemeClr val="tx1"/>
                                          </a:solidFill>
                                          <a:latin typeface="Cambria Math" panose="02040503050406030204" pitchFamily="18" charset="0"/>
                                        </a:rPr>
                                      </m:ctrlPr>
                                    </m:dPr>
                                    <m:e>
                                      <m:r>
                                        <a:rPr lang="zh-CN" altLang="en-US" sz="2400" i="1" dirty="0" smtClean="0">
                                          <a:solidFill>
                                            <a:schemeClr val="tx1"/>
                                          </a:solidFill>
                                          <a:latin typeface="Cambria Math" panose="02040503050406030204" pitchFamily="18" charset="0"/>
                                        </a:rPr>
                                        <m:t>𝑔</m:t>
                                      </m:r>
                                    </m:e>
                                  </m:d>
                                </m:num>
                                <m:den>
                                  <m:r>
                                    <a:rPr lang="zh-CN" altLang="en-US" sz="2400" i="0" dirty="0" smtClean="0">
                                      <a:solidFill>
                                        <a:schemeClr val="tx1"/>
                                      </a:solidFill>
                                      <a:latin typeface="Cambria Math" panose="02040503050406030204" pitchFamily="18" charset="0"/>
                                    </a:rPr>
                                    <m:t>𝜕</m:t>
                                  </m:r>
                                  <m:r>
                                    <a:rPr lang="zh-CN" altLang="en-US" sz="2400" i="1" dirty="0" smtClean="0">
                                      <a:solidFill>
                                        <a:schemeClr val="tx1"/>
                                      </a:solidFill>
                                      <a:latin typeface="Cambria Math" panose="02040503050406030204" pitchFamily="18" charset="0"/>
                                    </a:rPr>
                                    <m:t>𝑔</m:t>
                                  </m:r>
                                  <m:d>
                                    <m:dPr>
                                      <m:ctrlPr>
                                        <a:rPr lang="zh-CN" altLang="en-US" sz="2400" i="1" dirty="0" smtClean="0">
                                          <a:solidFill>
                                            <a:schemeClr val="tx1"/>
                                          </a:solidFill>
                                          <a:latin typeface="Cambria Math" panose="02040503050406030204" pitchFamily="18" charset="0"/>
                                        </a:rPr>
                                      </m:ctrlPr>
                                    </m:dPr>
                                    <m:e>
                                      <m:r>
                                        <a:rPr lang="zh-CN" altLang="en-US" sz="2400" i="1" dirty="0" smtClean="0">
                                          <a:solidFill>
                                            <a:schemeClr val="tx1"/>
                                          </a:solidFill>
                                          <a:latin typeface="Cambria Math" panose="02040503050406030204" pitchFamily="18" charset="0"/>
                                        </a:rPr>
                                        <m:t>𝑥</m:t>
                                      </m:r>
                                    </m:e>
                                  </m:d>
                                </m:den>
                              </m:f>
                            </m:e>
                          </m:d>
                        </m:e>
                        <m:sub>
                          <m:r>
                            <a:rPr lang="zh-CN" altLang="en-US" sz="2400" i="1" dirty="0" smtClean="0">
                              <a:solidFill>
                                <a:schemeClr val="tx1"/>
                              </a:solidFill>
                              <a:latin typeface="Cambria Math" panose="02040503050406030204" pitchFamily="18" charset="0"/>
                            </a:rPr>
                            <m:t>𝑔</m:t>
                          </m:r>
                          <m:d>
                            <m:dPr>
                              <m:ctrlPr>
                                <a:rPr lang="zh-CN" altLang="en-US" sz="2400" i="1" dirty="0" smtClean="0">
                                  <a:solidFill>
                                    <a:schemeClr val="tx1"/>
                                  </a:solidFill>
                                  <a:latin typeface="Cambria Math" panose="02040503050406030204" pitchFamily="18" charset="0"/>
                                </a:rPr>
                              </m:ctrlPr>
                            </m:dPr>
                            <m:e>
                              <m:r>
                                <a:rPr lang="zh-CN" altLang="en-US" sz="2400" i="1" dirty="0" smtClean="0">
                                  <a:solidFill>
                                    <a:schemeClr val="tx1"/>
                                  </a:solidFill>
                                  <a:latin typeface="Cambria Math" panose="02040503050406030204" pitchFamily="18" charset="0"/>
                                </a:rPr>
                                <m:t>𝑥</m:t>
                              </m:r>
                            </m:e>
                          </m:d>
                          <m:r>
                            <a:rPr lang="zh-CN" altLang="en-US" sz="2400" dirty="0">
                              <a:solidFill>
                                <a:schemeClr val="tx1"/>
                              </a:solidFill>
                              <a:latin typeface="Cambria Math" panose="02040503050406030204" pitchFamily="18" charset="0"/>
                            </a:rPr>
                            <m:t>=</m:t>
                          </m:r>
                          <m:sSub>
                            <m:sSubPr>
                              <m:ctrlPr>
                                <a:rPr lang="en-US" altLang="zh-CN" sz="2400" i="1" dirty="0" smtClean="0">
                                  <a:solidFill>
                                    <a:schemeClr val="tx1"/>
                                  </a:solidFill>
                                  <a:latin typeface="Cambria Math" panose="02040503050406030204" pitchFamily="18" charset="0"/>
                                </a:rPr>
                              </m:ctrlPr>
                            </m:sSubPr>
                            <m:e>
                              <m:r>
                                <a:rPr lang="en-US" altLang="zh-CN" sz="2400" b="0" i="1" dirty="0" smtClean="0">
                                  <a:solidFill>
                                    <a:schemeClr val="tx1"/>
                                  </a:solidFill>
                                  <a:latin typeface="Cambria Math" panose="02040503050406030204" pitchFamily="18" charset="0"/>
                                </a:rPr>
                                <m:t>𝑔</m:t>
                              </m:r>
                            </m:e>
                            <m:sub>
                              <m:r>
                                <a:rPr lang="en-US" altLang="zh-CN" sz="2400" b="0" i="1" dirty="0" smtClean="0">
                                  <a:solidFill>
                                    <a:schemeClr val="tx1"/>
                                  </a:solidFill>
                                  <a:latin typeface="Cambria Math" panose="02040503050406030204" pitchFamily="18" charset="0"/>
                                </a:rPr>
                                <m:t>𝑡</m:t>
                              </m:r>
                              <m:r>
                                <a:rPr lang="en-US" altLang="zh-CN" sz="2400" b="0" i="1" dirty="0" smtClean="0">
                                  <a:solidFill>
                                    <a:schemeClr val="tx1"/>
                                  </a:solidFill>
                                  <a:latin typeface="Cambria Math" panose="02040503050406030204" pitchFamily="18" charset="0"/>
                                </a:rPr>
                                <m:t>−1</m:t>
                              </m:r>
                            </m:sub>
                          </m:sSub>
                          <m:d>
                            <m:dPr>
                              <m:ctrlPr>
                                <a:rPr lang="zh-CN" altLang="en-US" sz="2400" i="1" dirty="0">
                                  <a:solidFill>
                                    <a:schemeClr val="tx1"/>
                                  </a:solidFill>
                                  <a:latin typeface="Cambria Math" panose="02040503050406030204" pitchFamily="18" charset="0"/>
                                </a:rPr>
                              </m:ctrlPr>
                            </m:dPr>
                            <m:e>
                              <m:r>
                                <a:rPr lang="zh-CN" altLang="en-US" sz="2400" i="1" dirty="0">
                                  <a:solidFill>
                                    <a:schemeClr val="tx1"/>
                                  </a:solidFill>
                                  <a:latin typeface="Cambria Math" panose="02040503050406030204" pitchFamily="18" charset="0"/>
                                </a:rPr>
                                <m:t>𝑥</m:t>
                              </m:r>
                            </m:e>
                          </m:d>
                        </m:sub>
                      </m:sSub>
                    </m:oMath>
                  </m:oMathPara>
                </a14:m>
                <a:endParaRPr lang="zh-CN" altLang="en-US" sz="2400" dirty="0">
                  <a:solidFill>
                    <a:schemeClr val="tx1"/>
                  </a:solidFill>
                  <a:latin typeface="+mn-ea"/>
                </a:endParaRPr>
              </a:p>
            </p:txBody>
          </p:sp>
        </mc:Choice>
        <mc:Fallback xmlns="">
          <p:sp>
            <p:nvSpPr>
              <p:cNvPr id="8" name="文本框 7">
                <a:extLst>
                  <a:ext uri="{FF2B5EF4-FFF2-40B4-BE49-F238E27FC236}">
                    <a16:creationId xmlns:a16="http://schemas.microsoft.com/office/drawing/2014/main" id="{EEB4CDEF-45BD-449D-AE20-31F11E35003C}"/>
                  </a:ext>
                </a:extLst>
              </p:cNvPr>
              <p:cNvSpPr txBox="1">
                <a:spLocks noRot="1" noChangeAspect="1" noMove="1" noResize="1" noEditPoints="1" noAdjustHandles="1" noChangeArrowheads="1" noChangeShapeType="1" noTextEdit="1"/>
              </p:cNvSpPr>
              <p:nvPr/>
            </p:nvSpPr>
            <p:spPr>
              <a:xfrm>
                <a:off x="2907360" y="3029212"/>
                <a:ext cx="5449330" cy="917559"/>
              </a:xfrm>
              <a:prstGeom prst="rect">
                <a:avLst/>
              </a:prstGeom>
              <a:blipFill>
                <a:blip r:embed="rId7"/>
                <a:stretch>
                  <a:fillRect l="-1856" t="-202740" b="-283562"/>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7743794C-548B-41E8-869C-B5347BC48576}"/>
                  </a:ext>
                </a:extLst>
              </p:cNvPr>
              <p:cNvSpPr txBox="1"/>
              <p:nvPr/>
            </p:nvSpPr>
            <p:spPr>
              <a:xfrm>
                <a:off x="2907360" y="5467403"/>
                <a:ext cx="4121487"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400" i="1" dirty="0" smtClean="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𝑔</m:t>
                          </m:r>
                        </m:e>
                        <m:sub>
                          <m:r>
                            <a:rPr lang="en-US" altLang="zh-CN" sz="2400" i="1" dirty="0">
                              <a:solidFill>
                                <a:schemeClr val="tx1"/>
                              </a:solidFill>
                              <a:latin typeface="Cambria Math" panose="02040503050406030204" pitchFamily="18" charset="0"/>
                            </a:rPr>
                            <m:t>𝑡</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𝑔</m:t>
                          </m:r>
                        </m:e>
                        <m:sub>
                          <m:r>
                            <a:rPr lang="en-US" altLang="zh-CN" sz="2400" i="1" dirty="0">
                              <a:solidFill>
                                <a:schemeClr val="tx1"/>
                              </a:solidFill>
                              <a:latin typeface="Cambria Math" panose="02040503050406030204" pitchFamily="18" charset="0"/>
                            </a:rPr>
                            <m:t>𝑡</m:t>
                          </m:r>
                          <m:r>
                            <a:rPr lang="en-US" altLang="zh-CN" sz="2400" i="1" dirty="0">
                              <a:solidFill>
                                <a:schemeClr val="tx1"/>
                              </a:solidFill>
                              <a:latin typeface="Cambria Math" panose="02040503050406030204" pitchFamily="18" charset="0"/>
                            </a:rPr>
                            <m:t>−1</m:t>
                          </m:r>
                        </m:sub>
                      </m:sSub>
                      <m:d>
                        <m:dPr>
                          <m:ctrlPr>
                            <a:rPr lang="en-US" altLang="zh-CN" sz="2400" i="1" dirty="0">
                              <a:solidFill>
                                <a:schemeClr val="tx1"/>
                              </a:solidFill>
                              <a:latin typeface="Cambria Math" panose="02040503050406030204" pitchFamily="18" charset="0"/>
                            </a:rPr>
                          </m:ctrlPr>
                        </m:dPr>
                        <m:e>
                          <m:r>
                            <a:rPr lang="en-US" altLang="zh-CN" sz="2400" i="1" dirty="0">
                              <a:solidFill>
                                <a:schemeClr val="tx1"/>
                              </a:solidFill>
                              <a:latin typeface="Cambria Math" panose="02040503050406030204" pitchFamily="18" charset="0"/>
                            </a:rPr>
                            <m:t>𝑥</m:t>
                          </m:r>
                        </m:e>
                      </m:d>
                      <m:r>
                        <a:rPr lang="en-US" altLang="zh-CN" sz="2400" i="1" dirty="0">
                          <a:solidFill>
                            <a:schemeClr val="tx1"/>
                          </a:solidFill>
                          <a:latin typeface="Cambria Math" panose="02040503050406030204" pitchFamily="18" charset="0"/>
                        </a:rPr>
                        <m:t>+</m:t>
                      </m:r>
                      <m:sSub>
                        <m:sSubPr>
                          <m:ctrlPr>
                            <a:rPr lang="en-US" altLang="zh-CN" sz="2400" i="1" dirty="0">
                              <a:solidFill>
                                <a:schemeClr val="tx1"/>
                              </a:solidFill>
                              <a:latin typeface="Cambria Math" panose="02040503050406030204" pitchFamily="18" charset="0"/>
                            </a:rPr>
                          </m:ctrlPr>
                        </m:sSubPr>
                        <m:e>
                          <m:r>
                            <a:rPr lang="en-US" altLang="zh-CN" sz="2400" i="1" dirty="0">
                              <a:solidFill>
                                <a:schemeClr val="tx1"/>
                              </a:solidFill>
                              <a:latin typeface="Cambria Math" panose="02040503050406030204" pitchFamily="18" charset="0"/>
                            </a:rPr>
                            <m:t>𝛼</m:t>
                          </m:r>
                        </m:e>
                        <m:sub>
                          <m:r>
                            <a:rPr lang="en-US" altLang="zh-CN" sz="2400" i="1" dirty="0">
                              <a:solidFill>
                                <a:schemeClr val="tx1"/>
                              </a:solidFill>
                              <a:latin typeface="Cambria Math" panose="02040503050406030204" pitchFamily="18" charset="0"/>
                            </a:rPr>
                            <m:t>𝑡</m:t>
                          </m:r>
                        </m:sub>
                      </m:sSub>
                      <m:sSub>
                        <m:sSubPr>
                          <m:ctrlPr>
                            <a:rPr lang="en-US" altLang="zh-CN" sz="2400" i="1" dirty="0" smtClean="0">
                              <a:solidFill>
                                <a:srgbClr val="0070C0"/>
                              </a:solidFill>
                              <a:latin typeface="Cambria Math" panose="02040503050406030204" pitchFamily="18" charset="0"/>
                            </a:rPr>
                          </m:ctrlPr>
                        </m:sSubPr>
                        <m:e>
                          <m:r>
                            <a:rPr lang="en-US" altLang="zh-CN" sz="2400" i="1" dirty="0">
                              <a:solidFill>
                                <a:srgbClr val="0070C0"/>
                              </a:solidFill>
                              <a:latin typeface="Cambria Math" panose="02040503050406030204" pitchFamily="18" charset="0"/>
                            </a:rPr>
                            <m:t>𝑓</m:t>
                          </m:r>
                        </m:e>
                        <m:sub>
                          <m:r>
                            <a:rPr lang="en-US" altLang="zh-CN" sz="2400" i="1" dirty="0">
                              <a:solidFill>
                                <a:srgbClr val="0070C0"/>
                              </a:solidFill>
                              <a:latin typeface="Cambria Math" panose="02040503050406030204" pitchFamily="18" charset="0"/>
                            </a:rPr>
                            <m:t>𝑡</m:t>
                          </m:r>
                        </m:sub>
                      </m:sSub>
                      <m:d>
                        <m:dPr>
                          <m:ctrlPr>
                            <a:rPr lang="en-US" altLang="zh-CN" sz="2400" i="1" dirty="0">
                              <a:solidFill>
                                <a:srgbClr val="0070C0"/>
                              </a:solidFill>
                              <a:latin typeface="Cambria Math" panose="02040503050406030204" pitchFamily="18" charset="0"/>
                            </a:rPr>
                          </m:ctrlPr>
                        </m:dPr>
                        <m:e>
                          <m:r>
                            <a:rPr lang="en-US" altLang="zh-CN" sz="2400" i="1" dirty="0">
                              <a:solidFill>
                                <a:srgbClr val="0070C0"/>
                              </a:solidFill>
                              <a:latin typeface="Cambria Math" panose="02040503050406030204" pitchFamily="18" charset="0"/>
                            </a:rPr>
                            <m:t>𝑥</m:t>
                          </m:r>
                        </m:e>
                      </m:d>
                    </m:oMath>
                  </m:oMathPara>
                </a14:m>
                <a:endParaRPr lang="zh-CN" altLang="en-US" sz="2400" dirty="0">
                  <a:solidFill>
                    <a:schemeClr val="tx1"/>
                  </a:solidFill>
                </a:endParaRPr>
              </a:p>
            </p:txBody>
          </p:sp>
        </mc:Choice>
        <mc:Fallback>
          <p:sp>
            <p:nvSpPr>
              <p:cNvPr id="12" name="文本框 11">
                <a:extLst>
                  <a:ext uri="{FF2B5EF4-FFF2-40B4-BE49-F238E27FC236}">
                    <a16:creationId xmlns:a16="http://schemas.microsoft.com/office/drawing/2014/main" id="{7743794C-548B-41E8-869C-B5347BC48576}"/>
                  </a:ext>
                </a:extLst>
              </p:cNvPr>
              <p:cNvSpPr txBox="1">
                <a:spLocks noRot="1" noChangeAspect="1" noMove="1" noResize="1" noEditPoints="1" noAdjustHandles="1" noChangeArrowheads="1" noChangeShapeType="1" noTextEdit="1"/>
              </p:cNvSpPr>
              <p:nvPr/>
            </p:nvSpPr>
            <p:spPr>
              <a:xfrm>
                <a:off x="2907360" y="5467403"/>
                <a:ext cx="4121487" cy="461665"/>
              </a:xfrm>
              <a:prstGeom prst="rect">
                <a:avLst/>
              </a:prstGeom>
              <a:blipFill>
                <a:blip r:embed="rId8"/>
                <a:stretch>
                  <a:fillRect b="-15789"/>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429B6AAB-F300-46F5-BAC6-276B0CF7D26C}"/>
              </a:ext>
            </a:extLst>
          </p:cNvPr>
          <p:cNvSpPr/>
          <p:nvPr/>
        </p:nvSpPr>
        <p:spPr>
          <a:xfrm>
            <a:off x="5167830" y="2747589"/>
            <a:ext cx="2886710" cy="13029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Box 4">
            <a:extLst>
              <a:ext uri="{FF2B5EF4-FFF2-40B4-BE49-F238E27FC236}">
                <a16:creationId xmlns:a16="http://schemas.microsoft.com/office/drawing/2014/main" id="{E13F0F99-6128-A7A2-2465-34641CF744D8}"/>
              </a:ext>
            </a:extLst>
          </p:cNvPr>
          <p:cNvSpPr txBox="1"/>
          <p:nvPr/>
        </p:nvSpPr>
        <p:spPr>
          <a:xfrm>
            <a:off x="566962" y="5472648"/>
            <a:ext cx="5645796" cy="461665"/>
          </a:xfrm>
          <a:prstGeom prst="rect">
            <a:avLst/>
          </a:prstGeom>
          <a:noFill/>
        </p:spPr>
        <p:txBody>
          <a:bodyPr wrap="square">
            <a:spAutoFit/>
          </a:bodyPr>
          <a:lstStyle/>
          <a:p>
            <a:r>
              <a:rPr lang="en-US" altLang="zh-CN" sz="2400" dirty="0">
                <a:latin typeface="+mn-ea"/>
              </a:rPr>
              <a:t>Boosting</a:t>
            </a:r>
            <a:r>
              <a:rPr lang="zh-CN" altLang="en-US" sz="2400" dirty="0">
                <a:latin typeface="+mn-ea"/>
              </a:rPr>
              <a:t>角度：</a:t>
            </a:r>
            <a:endParaRPr lang="en-CN" sz="2400" dirty="0"/>
          </a:p>
        </p:txBody>
      </p:sp>
      <p:sp>
        <p:nvSpPr>
          <p:cNvPr id="4" name="灯片编号占位符 3">
            <a:extLst>
              <a:ext uri="{FF2B5EF4-FFF2-40B4-BE49-F238E27FC236}">
                <a16:creationId xmlns:a16="http://schemas.microsoft.com/office/drawing/2014/main" id="{06869C87-A90B-4E73-AC3F-93A42E508EBE}"/>
              </a:ext>
            </a:extLst>
          </p:cNvPr>
          <p:cNvSpPr>
            <a:spLocks noGrp="1"/>
          </p:cNvSpPr>
          <p:nvPr>
            <p:ph type="sldNum" sz="quarter" idx="14"/>
          </p:nvPr>
        </p:nvSpPr>
        <p:spPr/>
        <p:txBody>
          <a:bodyPr/>
          <a:lstStyle/>
          <a:p>
            <a:fld id="{AF69888C-E133-43D9-A638-B5C95925B91C}" type="slidenum">
              <a:rPr lang="zh-CN" altLang="en-US" smtClean="0"/>
              <a:t>47</a:t>
            </a:fld>
            <a:endParaRPr lang="zh-CN" altLang="en-US" dirty="0"/>
          </a:p>
        </p:txBody>
      </p:sp>
      <p:cxnSp>
        <p:nvCxnSpPr>
          <p:cNvPr id="9" name="直线连接符 8">
            <a:extLst>
              <a:ext uri="{FF2B5EF4-FFF2-40B4-BE49-F238E27FC236}">
                <a16:creationId xmlns:a16="http://schemas.microsoft.com/office/drawing/2014/main" id="{0F1D8C06-0552-E34D-8621-5C7C53ECA4D4}"/>
              </a:ext>
            </a:extLst>
          </p:cNvPr>
          <p:cNvCxnSpPr>
            <a:cxnSpLocks/>
          </p:cNvCxnSpPr>
          <p:nvPr/>
        </p:nvCxnSpPr>
        <p:spPr>
          <a:xfrm>
            <a:off x="5507283" y="4846754"/>
            <a:ext cx="264974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73B2C1CE-9799-2644-B9A7-2A28F7309AB5}"/>
              </a:ext>
            </a:extLst>
          </p:cNvPr>
          <p:cNvSpPr/>
          <p:nvPr/>
        </p:nvSpPr>
        <p:spPr>
          <a:xfrm>
            <a:off x="5403850" y="4968204"/>
            <a:ext cx="3666800" cy="4384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err="1">
                <a:solidFill>
                  <a:srgbClr val="0070C0"/>
                </a:solidFill>
              </a:rPr>
              <a:t>Adaboost</a:t>
            </a:r>
            <a:r>
              <a:rPr lang="zh-CN" altLang="en-US" sz="2400" dirty="0">
                <a:solidFill>
                  <a:srgbClr val="0070C0"/>
                </a:solidFill>
              </a:rPr>
              <a:t>中样本权重</a:t>
            </a:r>
            <a:r>
              <a:rPr lang="en-US" altLang="zh-CN" sz="2400" dirty="0" err="1">
                <a:solidFill>
                  <a:srgbClr val="0070C0"/>
                </a:solidFill>
                <a:latin typeface="+mn-ea"/>
              </a:rPr>
              <a:t>u</a:t>
            </a:r>
            <a:r>
              <a:rPr lang="en-US" altLang="zh-CN" sz="2400" baseline="30000" dirty="0" err="1">
                <a:solidFill>
                  <a:srgbClr val="0070C0"/>
                </a:solidFill>
                <a:latin typeface="+mn-ea"/>
              </a:rPr>
              <a:t>n</a:t>
            </a:r>
            <a:r>
              <a:rPr lang="en-US" altLang="zh-CN" sz="2400" baseline="-25000" dirty="0" err="1">
                <a:solidFill>
                  <a:srgbClr val="0070C0"/>
                </a:solidFill>
                <a:latin typeface="+mn-ea"/>
              </a:rPr>
              <a:t>t</a:t>
            </a:r>
            <a:endParaRPr lang="zh-CN" altLang="en-US" sz="2400" dirty="0">
              <a:solidFill>
                <a:srgbClr val="0070C0"/>
              </a:solidFill>
            </a:endParaRPr>
          </a:p>
        </p:txBody>
      </p:sp>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4738F587-C8A4-F54F-A095-AD9B58821969}"/>
                  </a:ext>
                </a:extLst>
              </p:cNvPr>
              <p:cNvSpPr txBox="1"/>
              <p:nvPr/>
            </p:nvSpPr>
            <p:spPr>
              <a:xfrm>
                <a:off x="4757147" y="5956250"/>
                <a:ext cx="7199086" cy="369332"/>
              </a:xfrm>
              <a:prstGeom prst="rect">
                <a:avLst/>
              </a:prstGeom>
              <a:noFill/>
            </p:spPr>
            <p:txBody>
              <a:bodyPr wrap="square">
                <a:spAutoFit/>
              </a:bodyPr>
              <a:lstStyle/>
              <a:p>
                <a:r>
                  <a:rPr lang="zh-CN" altLang="en-US" dirty="0"/>
                  <a:t>每一轮训练一个弱学习器 </a:t>
                </a:r>
                <a14:m>
                  <m:oMath xmlns:m="http://schemas.openxmlformats.org/officeDocument/2006/math">
                    <m:sSub>
                      <m:sSubPr>
                        <m:ctrlPr>
                          <a:rPr lang="en-US" altLang="zh-CN" sz="1800" i="1" dirty="0" smtClean="0">
                            <a:solidFill>
                              <a:srgbClr val="0070C0"/>
                            </a:solidFill>
                            <a:latin typeface="Cambria Math" panose="02040503050406030204" pitchFamily="18" charset="0"/>
                          </a:rPr>
                        </m:ctrlPr>
                      </m:sSubPr>
                      <m:e>
                        <m:r>
                          <a:rPr lang="en-US" altLang="zh-CN" sz="1800" i="1" dirty="0">
                            <a:solidFill>
                              <a:srgbClr val="0070C0"/>
                            </a:solidFill>
                            <a:latin typeface="Cambria Math" panose="02040503050406030204" pitchFamily="18" charset="0"/>
                          </a:rPr>
                          <m:t>𝑓</m:t>
                        </m:r>
                      </m:e>
                      <m:sub>
                        <m:r>
                          <a:rPr lang="en-US" altLang="zh-CN" sz="1800" i="1" dirty="0">
                            <a:solidFill>
                              <a:srgbClr val="0070C0"/>
                            </a:solidFill>
                            <a:latin typeface="Cambria Math" panose="02040503050406030204" pitchFamily="18" charset="0"/>
                          </a:rPr>
                          <m:t>𝑡</m:t>
                        </m:r>
                      </m:sub>
                    </m:sSub>
                    <m:d>
                      <m:dPr>
                        <m:ctrlPr>
                          <a:rPr lang="en-US" altLang="zh-CN" sz="1800" i="1" dirty="0">
                            <a:solidFill>
                              <a:srgbClr val="0070C0"/>
                            </a:solidFill>
                            <a:latin typeface="Cambria Math" panose="02040503050406030204" pitchFamily="18" charset="0"/>
                          </a:rPr>
                        </m:ctrlPr>
                      </m:dPr>
                      <m:e>
                        <m:r>
                          <a:rPr lang="en-US" altLang="zh-CN" sz="1800" i="1" dirty="0">
                            <a:solidFill>
                              <a:srgbClr val="0070C0"/>
                            </a:solidFill>
                            <a:latin typeface="Cambria Math" panose="02040503050406030204" pitchFamily="18" charset="0"/>
                          </a:rPr>
                          <m:t>𝑥</m:t>
                        </m:r>
                      </m:e>
                    </m:d>
                    <m:r>
                      <a:rPr lang="en-US" altLang="zh-CN" sz="1800" i="1" dirty="0">
                        <a:solidFill>
                          <a:srgbClr val="0070C0"/>
                        </a:solidFill>
                        <a:latin typeface="Cambria Math" panose="02040503050406030204" pitchFamily="18" charset="0"/>
                      </a:rPr>
                      <m:t> </m:t>
                    </m:r>
                  </m:oMath>
                </a14:m>
                <a:r>
                  <a:rPr lang="zh-CN" altLang="en" dirty="0"/>
                  <a:t>，</a:t>
                </a:r>
                <a:r>
                  <a:rPr lang="zh-CN" altLang="en-US" dirty="0"/>
                  <a:t>让它去拟合负梯度方向。</a:t>
                </a:r>
              </a:p>
            </p:txBody>
          </p:sp>
        </mc:Choice>
        <mc:Fallback>
          <p:sp>
            <p:nvSpPr>
              <p:cNvPr id="28" name="文本框 27">
                <a:extLst>
                  <a:ext uri="{FF2B5EF4-FFF2-40B4-BE49-F238E27FC236}">
                    <a16:creationId xmlns:a16="http://schemas.microsoft.com/office/drawing/2014/main" id="{4738F587-C8A4-F54F-A095-AD9B58821969}"/>
                  </a:ext>
                </a:extLst>
              </p:cNvPr>
              <p:cNvSpPr txBox="1">
                <a:spLocks noRot="1" noChangeAspect="1" noMove="1" noResize="1" noEditPoints="1" noAdjustHandles="1" noChangeArrowheads="1" noChangeShapeType="1" noTextEdit="1"/>
              </p:cNvSpPr>
              <p:nvPr/>
            </p:nvSpPr>
            <p:spPr>
              <a:xfrm>
                <a:off x="4757147" y="5956250"/>
                <a:ext cx="7199086" cy="369332"/>
              </a:xfrm>
              <a:prstGeom prst="rect">
                <a:avLst/>
              </a:prstGeom>
              <a:blipFill>
                <a:blip r:embed="rId9"/>
                <a:stretch>
                  <a:fillRect l="-704" t="-3226" b="-193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6591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edge">
                                      <p:cBhvr>
                                        <p:cTn id="27" dur="20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linds(horizontal)">
                                      <p:cBhvr>
                                        <p:cTn id="32" dur="500"/>
                                        <p:tgtEl>
                                          <p:spTgt spid="22"/>
                                        </p:tgtEl>
                                      </p:cBhvr>
                                    </p:animEffect>
                                  </p:childTnLst>
                                </p:cTn>
                              </p:par>
                              <p:par>
                                <p:cTn id="33" presetID="3" presetClass="entr" presetSubtype="1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linds(horizontal)">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linds(horizont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blinds(horizontal)">
                                      <p:cBhvr>
                                        <p:cTn id="4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5" grpId="0"/>
      <p:bldP spid="22" grpId="0" animBg="1"/>
      <p:bldP spid="2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95BBCCB-268D-4038-94C4-4476393FD445}"/>
              </a:ext>
            </a:extLst>
          </p:cNvPr>
          <p:cNvSpPr>
            <a:spLocks noGrp="1"/>
          </p:cNvSpPr>
          <p:nvPr>
            <p:ph type="body" sz="quarter" idx="12"/>
          </p:nvPr>
        </p:nvSpPr>
        <p:spPr/>
        <p:txBody>
          <a:bodyPr/>
          <a:lstStyle/>
          <a:p>
            <a:pPr marL="0" indent="0">
              <a:buNone/>
            </a:pPr>
            <a:r>
              <a:rPr lang="en-US" altLang="zh-CN" sz="3200" dirty="0"/>
              <a:t>Gradient Boosting</a:t>
            </a:r>
            <a:endParaRPr lang="zh-CN" altLang="en-US" sz="3200" dirty="0"/>
          </a:p>
        </p:txBody>
      </p:sp>
      <p:grpSp>
        <p:nvGrpSpPr>
          <p:cNvPr id="12" name="组合 11">
            <a:extLst>
              <a:ext uri="{FF2B5EF4-FFF2-40B4-BE49-F238E27FC236}">
                <a16:creationId xmlns:a16="http://schemas.microsoft.com/office/drawing/2014/main" id="{ED12F13E-3DD0-4C7A-BD87-52514BA3AE99}"/>
              </a:ext>
            </a:extLst>
          </p:cNvPr>
          <p:cNvGrpSpPr/>
          <p:nvPr/>
        </p:nvGrpSpPr>
        <p:grpSpPr>
          <a:xfrm>
            <a:off x="2338990" y="1388429"/>
            <a:ext cx="7801898" cy="1113064"/>
            <a:chOff x="992979" y="791769"/>
            <a:chExt cx="8890322" cy="1410145"/>
          </a:xfrm>
        </p:grpSpPr>
        <p:pic>
          <p:nvPicPr>
            <p:cNvPr id="7" name="图片 6">
              <a:extLst>
                <a:ext uri="{FF2B5EF4-FFF2-40B4-BE49-F238E27FC236}">
                  <a16:creationId xmlns:a16="http://schemas.microsoft.com/office/drawing/2014/main" id="{51DC9DB9-3679-4490-AB1E-BA546D90D502}"/>
                </a:ext>
              </a:extLst>
            </p:cNvPr>
            <p:cNvPicPr>
              <a:picLocks noChangeAspect="1"/>
            </p:cNvPicPr>
            <p:nvPr/>
          </p:nvPicPr>
          <p:blipFill>
            <a:blip r:embed="rId2"/>
            <a:stretch>
              <a:fillRect/>
            </a:stretch>
          </p:blipFill>
          <p:spPr>
            <a:xfrm>
              <a:off x="992979" y="791769"/>
              <a:ext cx="8890322" cy="1410145"/>
            </a:xfrm>
            <a:prstGeom prst="rect">
              <a:avLst/>
            </a:prstGeom>
          </p:spPr>
        </p:pic>
        <p:sp>
          <p:nvSpPr>
            <p:cNvPr id="5" name="矩形 4">
              <a:extLst>
                <a:ext uri="{FF2B5EF4-FFF2-40B4-BE49-F238E27FC236}">
                  <a16:creationId xmlns:a16="http://schemas.microsoft.com/office/drawing/2014/main" id="{9C5D9448-A8BF-498D-B934-BD92997AADCA}"/>
                </a:ext>
              </a:extLst>
            </p:cNvPr>
            <p:cNvSpPr/>
            <p:nvPr/>
          </p:nvSpPr>
          <p:spPr>
            <a:xfrm>
              <a:off x="2428218" y="1749843"/>
              <a:ext cx="2289169" cy="3427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0000"/>
                  </a:solidFill>
                </a:rPr>
                <a:t>同一方向</a:t>
              </a:r>
            </a:p>
          </p:txBody>
        </p:sp>
      </p:gr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05C68268-40D8-4D9B-A7E2-E999FFA4090E}"/>
                  </a:ext>
                </a:extLst>
              </p:cNvPr>
              <p:cNvSpPr txBox="1"/>
              <p:nvPr/>
            </p:nvSpPr>
            <p:spPr>
              <a:xfrm>
                <a:off x="1060157" y="2630907"/>
                <a:ext cx="4547270" cy="461665"/>
              </a:xfrm>
              <a:prstGeom prst="rect">
                <a:avLst/>
              </a:prstGeom>
              <a:noFill/>
            </p:spPr>
            <p:txBody>
              <a:bodyPr wrap="none" rtlCol="0">
                <a:spAutoFit/>
              </a:bodyPr>
              <a:lstStyle/>
              <a:p>
                <a:pPr algn="l"/>
                <a:r>
                  <a:rPr lang="zh-CN" altLang="en-US" sz="2400" dirty="0">
                    <a:solidFill>
                      <a:srgbClr val="FF0000"/>
                    </a:solidFill>
                    <a:latin typeface="+mn-ea"/>
                  </a:rPr>
                  <a:t>找到一个</a:t>
                </a:r>
                <a14:m>
                  <m:oMath xmlns:m="http://schemas.openxmlformats.org/officeDocument/2006/math">
                    <m:sSub>
                      <m:sSubPr>
                        <m:ctrlPr>
                          <a:rPr lang="en-US" altLang="zh-CN" sz="2400" i="1" dirty="0" smtClean="0">
                            <a:solidFill>
                              <a:srgbClr val="FF0000"/>
                            </a:solidFill>
                            <a:latin typeface="Cambria Math" panose="02040503050406030204" pitchFamily="18" charset="0"/>
                          </a:rPr>
                        </m:ctrlPr>
                      </m:sSubPr>
                      <m:e>
                        <m:r>
                          <a:rPr lang="en-US" altLang="zh-CN" sz="2400" b="0" i="1" dirty="0" smtClean="0">
                            <a:solidFill>
                              <a:srgbClr val="FF0000"/>
                            </a:solidFill>
                            <a:latin typeface="Cambria Math" panose="02040503050406030204" pitchFamily="18" charset="0"/>
                          </a:rPr>
                          <m:t>𝑓</m:t>
                        </m:r>
                      </m:e>
                      <m:sub>
                        <m:r>
                          <a:rPr lang="en-US" altLang="zh-CN" sz="2400" b="0" i="1" dirty="0" smtClean="0">
                            <a:solidFill>
                              <a:srgbClr val="FF0000"/>
                            </a:solidFill>
                            <a:latin typeface="Cambria Math" panose="02040503050406030204" pitchFamily="18" charset="0"/>
                          </a:rPr>
                          <m:t>𝑡</m:t>
                        </m:r>
                      </m:sub>
                    </m:sSub>
                    <m:r>
                      <a:rPr lang="en-US" altLang="zh-CN" sz="2400" i="1" dirty="0" smtClean="0">
                        <a:solidFill>
                          <a:srgbClr val="FF0000"/>
                        </a:solidFill>
                        <a:latin typeface="Cambria Math" panose="02040503050406030204" pitchFamily="18" charset="0"/>
                      </a:rPr>
                      <m:t>(</m:t>
                    </m:r>
                    <m:r>
                      <a:rPr lang="en-US" altLang="zh-CN" sz="2400" i="1" dirty="0" smtClean="0">
                        <a:solidFill>
                          <a:srgbClr val="FF0000"/>
                        </a:solidFill>
                        <a:latin typeface="Cambria Math" panose="02040503050406030204" pitchFamily="18" charset="0"/>
                      </a:rPr>
                      <m:t>𝑥</m:t>
                    </m:r>
                    <m:r>
                      <a:rPr lang="en-US" altLang="zh-CN" sz="2400" i="1" dirty="0" smtClean="0">
                        <a:solidFill>
                          <a:srgbClr val="FF0000"/>
                        </a:solidFill>
                        <a:latin typeface="Cambria Math" panose="02040503050406030204" pitchFamily="18" charset="0"/>
                      </a:rPr>
                      <m:t>)</m:t>
                    </m:r>
                  </m:oMath>
                </a14:m>
                <a:r>
                  <a:rPr lang="zh-CN" altLang="en-US" sz="2400" dirty="0">
                    <a:latin typeface="+mn-ea"/>
                  </a:rPr>
                  <a:t>，使如下函数最大</a:t>
                </a:r>
              </a:p>
            </p:txBody>
          </p:sp>
        </mc:Choice>
        <mc:Fallback>
          <p:sp>
            <p:nvSpPr>
              <p:cNvPr id="6" name="文本框 5">
                <a:extLst>
                  <a:ext uri="{FF2B5EF4-FFF2-40B4-BE49-F238E27FC236}">
                    <a16:creationId xmlns:a16="http://schemas.microsoft.com/office/drawing/2014/main" id="{05C68268-40D8-4D9B-A7E2-E999FFA4090E}"/>
                  </a:ext>
                </a:extLst>
              </p:cNvPr>
              <p:cNvSpPr txBox="1">
                <a:spLocks noRot="1" noChangeAspect="1" noMove="1" noResize="1" noEditPoints="1" noAdjustHandles="1" noChangeArrowheads="1" noChangeShapeType="1" noTextEdit="1"/>
              </p:cNvSpPr>
              <p:nvPr/>
            </p:nvSpPr>
            <p:spPr>
              <a:xfrm>
                <a:off x="1060157" y="2630907"/>
                <a:ext cx="4547270" cy="461665"/>
              </a:xfrm>
              <a:prstGeom prst="rect">
                <a:avLst/>
              </a:prstGeom>
              <a:blipFill>
                <a:blip r:embed="rId3"/>
                <a:stretch>
                  <a:fillRect l="-2228" t="-10811" r="-1114" b="-29730"/>
                </a:stretch>
              </a:blipFill>
            </p:spPr>
            <p:txBody>
              <a:bodyPr/>
              <a:lstStyle/>
              <a:p>
                <a:r>
                  <a:rPr lang="zh-CN" altLang="en-US">
                    <a:noFill/>
                  </a:rPr>
                  <a:t> </a:t>
                </a:r>
              </a:p>
            </p:txBody>
          </p:sp>
        </mc:Fallback>
      </mc:AlternateContent>
      <p:grpSp>
        <p:nvGrpSpPr>
          <p:cNvPr id="17" name="组合 16">
            <a:extLst>
              <a:ext uri="{FF2B5EF4-FFF2-40B4-BE49-F238E27FC236}">
                <a16:creationId xmlns:a16="http://schemas.microsoft.com/office/drawing/2014/main" id="{D1AFB49D-2AF5-4DB7-BC5B-F0442DCCE40C}"/>
              </a:ext>
            </a:extLst>
          </p:cNvPr>
          <p:cNvGrpSpPr/>
          <p:nvPr/>
        </p:nvGrpSpPr>
        <p:grpSpPr>
          <a:xfrm>
            <a:off x="3249088" y="3010492"/>
            <a:ext cx="6004561" cy="1688351"/>
            <a:chOff x="2857333" y="2497855"/>
            <a:chExt cx="6477333" cy="1883951"/>
          </a:xfrm>
        </p:grpSpPr>
        <p:pic>
          <p:nvPicPr>
            <p:cNvPr id="16" name="图片 15">
              <a:extLst>
                <a:ext uri="{FF2B5EF4-FFF2-40B4-BE49-F238E27FC236}">
                  <a16:creationId xmlns:a16="http://schemas.microsoft.com/office/drawing/2014/main" id="{10ED25BA-5C1F-4056-B523-EE43F5D8C6A2}"/>
                </a:ext>
              </a:extLst>
            </p:cNvPr>
            <p:cNvPicPr>
              <a:picLocks noChangeAspect="1"/>
            </p:cNvPicPr>
            <p:nvPr/>
          </p:nvPicPr>
          <p:blipFill>
            <a:blip r:embed="rId4"/>
            <a:stretch>
              <a:fillRect/>
            </a:stretch>
          </p:blipFill>
          <p:spPr>
            <a:xfrm>
              <a:off x="2857333" y="2847221"/>
              <a:ext cx="6477333" cy="1530429"/>
            </a:xfrm>
            <a:prstGeom prst="rect">
              <a:avLst/>
            </a:prstGeom>
          </p:spPr>
        </p:pic>
        <p:sp>
          <p:nvSpPr>
            <p:cNvPr id="9" name="文本框 8">
              <a:extLst>
                <a:ext uri="{FF2B5EF4-FFF2-40B4-BE49-F238E27FC236}">
                  <a16:creationId xmlns:a16="http://schemas.microsoft.com/office/drawing/2014/main" id="{92121C93-3862-4F4F-8212-49C2D345A08A}"/>
                </a:ext>
              </a:extLst>
            </p:cNvPr>
            <p:cNvSpPr txBox="1"/>
            <p:nvPr/>
          </p:nvSpPr>
          <p:spPr>
            <a:xfrm>
              <a:off x="6918814" y="2497855"/>
              <a:ext cx="2323191" cy="532200"/>
            </a:xfrm>
            <a:prstGeom prst="rect">
              <a:avLst/>
            </a:prstGeom>
            <a:solidFill>
              <a:schemeClr val="bg1"/>
            </a:solidFill>
          </p:spPr>
          <p:txBody>
            <a:bodyPr wrap="square" rtlCol="0">
              <a:spAutoFit/>
            </a:bodyPr>
            <a:lstStyle/>
            <a:p>
              <a:pPr algn="l"/>
              <a:r>
                <a:rPr lang="zh-CN" altLang="en-US" sz="2400" dirty="0">
                  <a:latin typeface="+mn-ea"/>
                </a:rPr>
                <a:t>最小化误差</a:t>
              </a:r>
            </a:p>
          </p:txBody>
        </p:sp>
        <p:sp>
          <p:nvSpPr>
            <p:cNvPr id="10" name="矩形 9">
              <a:extLst>
                <a:ext uri="{FF2B5EF4-FFF2-40B4-BE49-F238E27FC236}">
                  <a16:creationId xmlns:a16="http://schemas.microsoft.com/office/drawing/2014/main" id="{17673DD3-754C-4DC3-A6A3-C9310CD6058A}"/>
                </a:ext>
              </a:extLst>
            </p:cNvPr>
            <p:cNvSpPr/>
            <p:nvPr/>
          </p:nvSpPr>
          <p:spPr>
            <a:xfrm>
              <a:off x="3607486" y="3892573"/>
              <a:ext cx="2860996" cy="4892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样本权重</a:t>
              </a:r>
              <a:r>
                <a:rPr lang="en-US" altLang="zh-CN" sz="2400" dirty="0" err="1">
                  <a:solidFill>
                    <a:schemeClr val="tx1"/>
                  </a:solidFill>
                  <a:latin typeface="+mn-ea"/>
                </a:rPr>
                <a:t>u</a:t>
              </a:r>
              <a:r>
                <a:rPr lang="en-US" altLang="zh-CN" sz="2400" baseline="30000" dirty="0" err="1">
                  <a:solidFill>
                    <a:schemeClr val="tx1"/>
                  </a:solidFill>
                  <a:latin typeface="+mn-ea"/>
                </a:rPr>
                <a:t>n</a:t>
              </a:r>
              <a:r>
                <a:rPr lang="en-US" altLang="zh-CN" sz="2400" baseline="-25000" dirty="0" err="1">
                  <a:solidFill>
                    <a:schemeClr val="tx1"/>
                  </a:solidFill>
                  <a:latin typeface="+mn-ea"/>
                </a:rPr>
                <a:t>t</a:t>
              </a:r>
              <a:endParaRPr lang="zh-CN" altLang="en-US" sz="2400" dirty="0">
                <a:solidFill>
                  <a:schemeClr val="tx1"/>
                </a:solidFill>
              </a:endParaRPr>
            </a:p>
          </p:txBody>
        </p:sp>
        <p:sp>
          <p:nvSpPr>
            <p:cNvPr id="11" name="矩形 10">
              <a:extLst>
                <a:ext uri="{FF2B5EF4-FFF2-40B4-BE49-F238E27FC236}">
                  <a16:creationId xmlns:a16="http://schemas.microsoft.com/office/drawing/2014/main" id="{C2C0E155-4D46-43B3-9C3D-BDFC448A9A8B}"/>
                </a:ext>
              </a:extLst>
            </p:cNvPr>
            <p:cNvSpPr/>
            <p:nvPr/>
          </p:nvSpPr>
          <p:spPr>
            <a:xfrm>
              <a:off x="7218635" y="3900620"/>
              <a:ext cx="1723549" cy="4616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rPr>
                <a:t>同一符号</a:t>
              </a:r>
            </a:p>
          </p:txBody>
        </p:sp>
      </p:grpSp>
      <p:sp>
        <p:nvSpPr>
          <p:cNvPr id="3" name="灯片编号占位符 2">
            <a:extLst>
              <a:ext uri="{FF2B5EF4-FFF2-40B4-BE49-F238E27FC236}">
                <a16:creationId xmlns:a16="http://schemas.microsoft.com/office/drawing/2014/main" id="{4A25503F-CC2C-4FD6-B49F-A564A9BD64F2}"/>
              </a:ext>
            </a:extLst>
          </p:cNvPr>
          <p:cNvSpPr>
            <a:spLocks noGrp="1"/>
          </p:cNvSpPr>
          <p:nvPr>
            <p:ph type="sldNum" sz="quarter" idx="14"/>
          </p:nvPr>
        </p:nvSpPr>
        <p:spPr/>
        <p:txBody>
          <a:bodyPr/>
          <a:lstStyle/>
          <a:p>
            <a:fld id="{AF69888C-E133-43D9-A638-B5C95925B91C}" type="slidenum">
              <a:rPr lang="zh-CN" altLang="en-US" smtClean="0"/>
              <a:t>48</a:t>
            </a:fld>
            <a:endParaRPr lang="zh-CN" altLang="en-US" dirty="0"/>
          </a:p>
        </p:txBody>
      </p:sp>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84560C61-5654-8F47-BC02-6523539ADF9B}"/>
                  </a:ext>
                </a:extLst>
              </p:cNvPr>
              <p:cNvSpPr txBox="1"/>
              <p:nvPr/>
            </p:nvSpPr>
            <p:spPr>
              <a:xfrm>
                <a:off x="693147" y="1005327"/>
                <a:ext cx="7199086" cy="461665"/>
              </a:xfrm>
              <a:prstGeom prst="rect">
                <a:avLst/>
              </a:prstGeom>
              <a:noFill/>
            </p:spPr>
            <p:txBody>
              <a:bodyPr wrap="square">
                <a:spAutoFit/>
              </a:bodyPr>
              <a:lstStyle/>
              <a:p>
                <a:pPr marL="342900" indent="-342900">
                  <a:buFont typeface="Wingdings" pitchFamily="2" charset="2"/>
                  <a:buChar char="Ø"/>
                </a:pPr>
                <a:r>
                  <a:rPr lang="zh-CN" altLang="en-US" sz="2400" dirty="0"/>
                  <a:t>训练一个弱学习器 </a:t>
                </a:r>
                <a14:m>
                  <m:oMath xmlns:m="http://schemas.openxmlformats.org/officeDocument/2006/math">
                    <m:sSub>
                      <m:sSubPr>
                        <m:ctrlPr>
                          <a:rPr lang="en-US" altLang="zh-CN" sz="2400" i="1" dirty="0" smtClean="0">
                            <a:solidFill>
                              <a:srgbClr val="0070C0"/>
                            </a:solidFill>
                            <a:latin typeface="Cambria Math" panose="02040503050406030204" pitchFamily="18" charset="0"/>
                          </a:rPr>
                        </m:ctrlPr>
                      </m:sSubPr>
                      <m:e>
                        <m:r>
                          <a:rPr lang="en-US" altLang="zh-CN" sz="2400" i="1" dirty="0">
                            <a:solidFill>
                              <a:srgbClr val="0070C0"/>
                            </a:solidFill>
                            <a:latin typeface="Cambria Math" panose="02040503050406030204" pitchFamily="18" charset="0"/>
                          </a:rPr>
                          <m:t>𝑓</m:t>
                        </m:r>
                      </m:e>
                      <m:sub>
                        <m:r>
                          <a:rPr lang="en-US" altLang="zh-CN" sz="2400" i="1" dirty="0">
                            <a:solidFill>
                              <a:srgbClr val="0070C0"/>
                            </a:solidFill>
                            <a:latin typeface="Cambria Math" panose="02040503050406030204" pitchFamily="18" charset="0"/>
                          </a:rPr>
                          <m:t>𝑡</m:t>
                        </m:r>
                      </m:sub>
                    </m:sSub>
                    <m:d>
                      <m:dPr>
                        <m:ctrlPr>
                          <a:rPr lang="en-US" altLang="zh-CN" sz="2400" i="1" dirty="0">
                            <a:solidFill>
                              <a:srgbClr val="0070C0"/>
                            </a:solidFill>
                            <a:latin typeface="Cambria Math" panose="02040503050406030204" pitchFamily="18" charset="0"/>
                          </a:rPr>
                        </m:ctrlPr>
                      </m:dPr>
                      <m:e>
                        <m:r>
                          <a:rPr lang="en-US" altLang="zh-CN" sz="2400" i="1" dirty="0">
                            <a:solidFill>
                              <a:srgbClr val="0070C0"/>
                            </a:solidFill>
                            <a:latin typeface="Cambria Math" panose="02040503050406030204" pitchFamily="18" charset="0"/>
                          </a:rPr>
                          <m:t>𝑥</m:t>
                        </m:r>
                      </m:e>
                    </m:d>
                    <m:r>
                      <a:rPr lang="en-US" altLang="zh-CN" sz="2400" i="1" dirty="0">
                        <a:solidFill>
                          <a:srgbClr val="0070C0"/>
                        </a:solidFill>
                        <a:latin typeface="Cambria Math" panose="02040503050406030204" pitchFamily="18" charset="0"/>
                      </a:rPr>
                      <m:t> </m:t>
                    </m:r>
                  </m:oMath>
                </a14:m>
                <a:r>
                  <a:rPr lang="zh-CN" altLang="en" sz="2400" dirty="0"/>
                  <a:t>，</a:t>
                </a:r>
                <a:r>
                  <a:rPr lang="zh-CN" altLang="en-US" sz="2400" dirty="0"/>
                  <a:t>让它去拟合负梯度方向。</a:t>
                </a:r>
              </a:p>
            </p:txBody>
          </p:sp>
        </mc:Choice>
        <mc:Fallback>
          <p:sp>
            <p:nvSpPr>
              <p:cNvPr id="18" name="文本框 17">
                <a:extLst>
                  <a:ext uri="{FF2B5EF4-FFF2-40B4-BE49-F238E27FC236}">
                    <a16:creationId xmlns:a16="http://schemas.microsoft.com/office/drawing/2014/main" id="{84560C61-5654-8F47-BC02-6523539ADF9B}"/>
                  </a:ext>
                </a:extLst>
              </p:cNvPr>
              <p:cNvSpPr txBox="1">
                <a:spLocks noRot="1" noChangeAspect="1" noMove="1" noResize="1" noEditPoints="1" noAdjustHandles="1" noChangeArrowheads="1" noChangeShapeType="1" noTextEdit="1"/>
              </p:cNvSpPr>
              <p:nvPr/>
            </p:nvSpPr>
            <p:spPr>
              <a:xfrm>
                <a:off x="693147" y="1005327"/>
                <a:ext cx="7199086" cy="461665"/>
              </a:xfrm>
              <a:prstGeom prst="rect">
                <a:avLst/>
              </a:prstGeom>
              <a:blipFill>
                <a:blip r:embed="rId5"/>
                <a:stretch>
                  <a:fillRect l="-1056" t="-10811" r="-5458" b="-29730"/>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41DB7F9E-8FB2-0644-975B-85DB507B140C}"/>
              </a:ext>
            </a:extLst>
          </p:cNvPr>
          <p:cNvSpPr txBox="1"/>
          <p:nvPr/>
        </p:nvSpPr>
        <p:spPr>
          <a:xfrm>
            <a:off x="2493224" y="4914129"/>
            <a:ext cx="7205551" cy="400110"/>
          </a:xfrm>
          <a:prstGeom prst="rect">
            <a:avLst/>
          </a:prstGeom>
          <a:noFill/>
        </p:spPr>
        <p:txBody>
          <a:bodyPr wrap="square">
            <a:spAutoFit/>
          </a:bodyPr>
          <a:lstStyle/>
          <a:p>
            <a:r>
              <a:rPr lang="zh-CN" altLang="en-US" sz="2000" dirty="0"/>
              <a:t>让这个式子最大 → 就是让弱学习器在重要样本上尽量正确</a:t>
            </a:r>
          </a:p>
        </p:txBody>
      </p:sp>
      <p:sp>
        <p:nvSpPr>
          <p:cNvPr id="22" name="文本框 21">
            <a:extLst>
              <a:ext uri="{FF2B5EF4-FFF2-40B4-BE49-F238E27FC236}">
                <a16:creationId xmlns:a16="http://schemas.microsoft.com/office/drawing/2014/main" id="{6627DC3F-0437-B642-8F1D-5E46347BEDAC}"/>
              </a:ext>
            </a:extLst>
          </p:cNvPr>
          <p:cNvSpPr txBox="1"/>
          <p:nvPr/>
        </p:nvSpPr>
        <p:spPr>
          <a:xfrm>
            <a:off x="1183586" y="5491210"/>
            <a:ext cx="10101942" cy="400110"/>
          </a:xfrm>
          <a:prstGeom prst="rect">
            <a:avLst/>
          </a:prstGeom>
          <a:noFill/>
        </p:spPr>
        <p:txBody>
          <a:bodyPr wrap="square">
            <a:spAutoFit/>
          </a:bodyPr>
          <a:lstStyle/>
          <a:p>
            <a:pPr marL="285750" indent="-285750">
              <a:buFont typeface="Arial" panose="020B0604020202020204" pitchFamily="34" charset="0"/>
              <a:buChar char="•"/>
            </a:pPr>
            <a:r>
              <a:rPr lang="zh-CN" altLang="en-US" sz="2000" dirty="0"/>
              <a:t>在样本权重 </a:t>
            </a:r>
            <a:r>
              <a:rPr lang="en-US" altLang="zh-CN" sz="2000" dirty="0" err="1">
                <a:solidFill>
                  <a:schemeClr val="tx1"/>
                </a:solidFill>
                <a:latin typeface="+mn-ea"/>
              </a:rPr>
              <a:t>u</a:t>
            </a:r>
            <a:r>
              <a:rPr lang="en-US" altLang="zh-CN" sz="2000" baseline="30000" dirty="0" err="1">
                <a:solidFill>
                  <a:schemeClr val="tx1"/>
                </a:solidFill>
                <a:latin typeface="+mn-ea"/>
              </a:rPr>
              <a:t>n</a:t>
            </a:r>
            <a:r>
              <a:rPr lang="en-US" altLang="zh-CN" sz="2000" baseline="-25000" dirty="0" err="1">
                <a:solidFill>
                  <a:schemeClr val="tx1"/>
                </a:solidFill>
                <a:latin typeface="+mn-ea"/>
              </a:rPr>
              <a:t>t</a:t>
            </a:r>
            <a:r>
              <a:rPr lang="zh-CN" altLang="en-US" sz="2000" dirty="0"/>
              <a:t>下训练一个分类器，使其输出方向与梯度方向尽可能一致</a:t>
            </a:r>
          </a:p>
        </p:txBody>
      </p:sp>
      <p:sp>
        <p:nvSpPr>
          <p:cNvPr id="23" name="文本框 22">
            <a:extLst>
              <a:ext uri="{FF2B5EF4-FFF2-40B4-BE49-F238E27FC236}">
                <a16:creationId xmlns:a16="http://schemas.microsoft.com/office/drawing/2014/main" id="{54772793-D99D-174B-A17B-E14D793BDE48}"/>
              </a:ext>
            </a:extLst>
          </p:cNvPr>
          <p:cNvSpPr txBox="1"/>
          <p:nvPr/>
        </p:nvSpPr>
        <p:spPr>
          <a:xfrm>
            <a:off x="1183586" y="5897571"/>
            <a:ext cx="10101942" cy="400110"/>
          </a:xfrm>
          <a:prstGeom prst="rect">
            <a:avLst/>
          </a:prstGeom>
          <a:noFill/>
        </p:spPr>
        <p:txBody>
          <a:bodyPr wrap="square">
            <a:spAutoFit/>
          </a:bodyPr>
          <a:lstStyle/>
          <a:p>
            <a:pPr marL="285750" indent="-285750">
              <a:buFont typeface="Arial" panose="020B0604020202020204" pitchFamily="34" charset="0"/>
              <a:buChar char="•"/>
            </a:pPr>
            <a:endParaRPr lang="zh-CN" altLang="en-US" sz="2000" dirty="0"/>
          </a:p>
        </p:txBody>
      </p:sp>
      <p:sp>
        <p:nvSpPr>
          <p:cNvPr id="24" name="文本框 23">
            <a:extLst>
              <a:ext uri="{FF2B5EF4-FFF2-40B4-BE49-F238E27FC236}">
                <a16:creationId xmlns:a16="http://schemas.microsoft.com/office/drawing/2014/main" id="{DF373761-AAAB-CA45-BCC0-DFDA365453C4}"/>
              </a:ext>
            </a:extLst>
          </p:cNvPr>
          <p:cNvSpPr txBox="1"/>
          <p:nvPr/>
        </p:nvSpPr>
        <p:spPr>
          <a:xfrm>
            <a:off x="1183586" y="5845153"/>
            <a:ext cx="10101942" cy="400110"/>
          </a:xfrm>
          <a:prstGeom prst="rect">
            <a:avLst/>
          </a:prstGeom>
          <a:noFill/>
        </p:spPr>
        <p:txBody>
          <a:bodyPr wrap="square">
            <a:spAutoFit/>
          </a:bodyPr>
          <a:lstStyle/>
          <a:p>
            <a:pPr marL="285750" indent="-285750">
              <a:buFont typeface="Arial" panose="020B0604020202020204" pitchFamily="34" charset="0"/>
              <a:buChar char="•"/>
            </a:pPr>
            <a:r>
              <a:rPr lang="zh-CN" altLang="en-US" sz="2000" dirty="0"/>
              <a:t>这就是 </a:t>
            </a:r>
            <a:r>
              <a:rPr lang="en" altLang="zh-CN" sz="2000" dirty="0"/>
              <a:t>AdaBoost </a:t>
            </a:r>
            <a:r>
              <a:rPr lang="zh-CN" altLang="en-US" sz="2000" dirty="0"/>
              <a:t>的弱分类器</a:t>
            </a:r>
          </a:p>
        </p:txBody>
      </p:sp>
    </p:spTree>
    <p:extLst>
      <p:ext uri="{BB962C8B-B14F-4D97-AF65-F5344CB8AC3E}">
        <p14:creationId xmlns:p14="http://schemas.microsoft.com/office/powerpoint/2010/main" val="415835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blinds(horizontal)">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1613336-55BA-4F1E-BC8A-36F84B72A5F8}"/>
              </a:ext>
            </a:extLst>
          </p:cNvPr>
          <p:cNvSpPr>
            <a:spLocks noGrp="1"/>
          </p:cNvSpPr>
          <p:nvPr>
            <p:ph type="body" sz="quarter" idx="12"/>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3200" b="1" i="0" u="none" strike="noStrike" kern="1200" cap="none" spc="0" normalizeH="0" baseline="0" noProof="0" dirty="0">
                <a:ln>
                  <a:noFill/>
                </a:ln>
                <a:solidFill>
                  <a:prstClr val="black"/>
                </a:solidFill>
                <a:effectLst/>
                <a:uLnTx/>
                <a:uFillTx/>
                <a:latin typeface="微软雅黑"/>
                <a:ea typeface="微软雅黑"/>
                <a:cs typeface="+mn-cs"/>
              </a:rPr>
              <a:t>Gradient Boosting</a:t>
            </a:r>
            <a:endParaRPr kumimoji="0" lang="zh-CN" altLang="en-US" sz="3200" b="1" i="0" u="none" strike="noStrike" kern="1200" cap="none" spc="0" normalizeH="0" baseline="0" noProof="0" dirty="0">
              <a:ln>
                <a:noFill/>
              </a:ln>
              <a:solidFill>
                <a:prstClr val="black"/>
              </a:solidFill>
              <a:effectLst/>
              <a:uLnTx/>
              <a:uFillTx/>
              <a:latin typeface="微软雅黑"/>
              <a:ea typeface="微软雅黑"/>
              <a:cs typeface="+mn-cs"/>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CEBF1DE8-3612-4B62-938F-AC0528221432}"/>
                  </a:ext>
                </a:extLst>
              </p:cNvPr>
              <p:cNvSpPr txBox="1"/>
              <p:nvPr/>
            </p:nvSpPr>
            <p:spPr>
              <a:xfrm>
                <a:off x="566210" y="1668141"/>
                <a:ext cx="5006524" cy="830997"/>
              </a:xfrm>
              <a:prstGeom prst="rect">
                <a:avLst/>
              </a:prstGeom>
              <a:noFill/>
            </p:spPr>
            <p:txBody>
              <a:bodyPr wrap="square" rtlCol="0">
                <a:spAutoFit/>
              </a:bodyPr>
              <a:lstStyle/>
              <a:p>
                <a:pPr marL="342900" indent="-342900">
                  <a:buFont typeface="Wingdings" pitchFamily="2" charset="2"/>
                  <a:buChar char="Ø"/>
                </a:pPr>
                <a:r>
                  <a:rPr lang="zh-CN" altLang="en-US" sz="2400" dirty="0">
                    <a:latin typeface="+mn-ea"/>
                  </a:rPr>
                  <a:t>确定</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𝑡</m:t>
                        </m:r>
                      </m:sub>
                    </m:sSub>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 </m:t>
                    </m:r>
                  </m:oMath>
                </a14:m>
                <a:r>
                  <a:rPr lang="zh-CN" altLang="en-US" sz="2400" dirty="0">
                    <a:latin typeface="+mn-ea"/>
                  </a:rPr>
                  <a:t>后，再来确定系数</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𝛼</m:t>
                        </m:r>
                      </m:e>
                      <m:sub>
                        <m:r>
                          <a:rPr lang="zh-CN" altLang="en-US" sz="2400" i="1">
                            <a:latin typeface="Cambria Math" panose="02040503050406030204" pitchFamily="18" charset="0"/>
                          </a:rPr>
                          <m:t>𝑡</m:t>
                        </m:r>
                      </m:sub>
                    </m:sSub>
                  </m:oMath>
                </a14:m>
                <a:r>
                  <a:rPr lang="zh-CN" altLang="en-US" sz="2400" dirty="0">
                    <a:latin typeface="+mn-ea"/>
                  </a:rPr>
                  <a:t>，使损失函数</a:t>
                </a:r>
                <a14:m>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𝐿</m:t>
                        </m:r>
                        <m:r>
                          <a:rPr lang="en-US" altLang="zh-CN" sz="2400" i="1">
                            <a:latin typeface="Cambria Math" panose="02040503050406030204" pitchFamily="18" charset="0"/>
                          </a:rPr>
                          <m:t>(</m:t>
                        </m:r>
                        <m:r>
                          <a:rPr lang="en-US" altLang="zh-CN" sz="2400" i="1">
                            <a:latin typeface="Cambria Math" panose="02040503050406030204" pitchFamily="18" charset="0"/>
                          </a:rPr>
                          <m:t>𝑔</m:t>
                        </m:r>
                      </m:e>
                      <m:sub>
                        <m:r>
                          <a:rPr lang="zh-CN" altLang="en-US" sz="2400" i="1">
                            <a:latin typeface="Cambria Math" panose="02040503050406030204" pitchFamily="18" charset="0"/>
                          </a:rPr>
                          <m:t>𝑡</m:t>
                        </m:r>
                      </m:sub>
                    </m:sSub>
                    <m:r>
                      <a:rPr lang="en-US" altLang="zh-CN" sz="2400" i="1">
                        <a:latin typeface="Cambria Math" panose="02040503050406030204" pitchFamily="18" charset="0"/>
                      </a:rPr>
                      <m:t>)</m:t>
                    </m:r>
                  </m:oMath>
                </a14:m>
                <a:r>
                  <a:rPr lang="zh-CN" altLang="en-US" sz="2400" dirty="0">
                    <a:latin typeface="+mn-ea"/>
                  </a:rPr>
                  <a:t>最小</a:t>
                </a:r>
                <a:endParaRPr lang="en-US" altLang="zh-CN" sz="2400" dirty="0">
                  <a:latin typeface="+mn-ea"/>
                </a:endParaRPr>
              </a:p>
            </p:txBody>
          </p:sp>
        </mc:Choice>
        <mc:Fallback>
          <p:sp>
            <p:nvSpPr>
              <p:cNvPr id="3" name="文本框 2">
                <a:extLst>
                  <a:ext uri="{FF2B5EF4-FFF2-40B4-BE49-F238E27FC236}">
                    <a16:creationId xmlns:a16="http://schemas.microsoft.com/office/drawing/2014/main" id="{CEBF1DE8-3612-4B62-938F-AC0528221432}"/>
                  </a:ext>
                </a:extLst>
              </p:cNvPr>
              <p:cNvSpPr txBox="1">
                <a:spLocks noRot="1" noChangeAspect="1" noMove="1" noResize="1" noEditPoints="1" noAdjustHandles="1" noChangeArrowheads="1" noChangeShapeType="1" noTextEdit="1"/>
              </p:cNvSpPr>
              <p:nvPr/>
            </p:nvSpPr>
            <p:spPr>
              <a:xfrm>
                <a:off x="566210" y="1668141"/>
                <a:ext cx="5006524" cy="830997"/>
              </a:xfrm>
              <a:prstGeom prst="rect">
                <a:avLst/>
              </a:prstGeom>
              <a:blipFill>
                <a:blip r:embed="rId3"/>
                <a:stretch>
                  <a:fillRect l="-1772" t="-6061" b="-16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a:extLst>
                  <a:ext uri="{FF2B5EF4-FFF2-40B4-BE49-F238E27FC236}">
                    <a16:creationId xmlns:a16="http://schemas.microsoft.com/office/drawing/2014/main" id="{C804782E-8D0B-4056-9595-FA421E2D74F7}"/>
                  </a:ext>
                </a:extLst>
              </p:cNvPr>
              <p:cNvSpPr/>
              <p:nvPr/>
            </p:nvSpPr>
            <p:spPr>
              <a:xfrm>
                <a:off x="5885698" y="1539603"/>
                <a:ext cx="4283484" cy="954345"/>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sSub>
                      <m:sSubPr>
                        <m:ctrlPr>
                          <a:rPr lang="zh-CN" altLang="en-US" sz="2400" i="1" smtClean="0">
                            <a:solidFill>
                              <a:schemeClr val="bg1"/>
                            </a:solidFill>
                            <a:latin typeface="Cambria Math" panose="02040503050406030204" pitchFamily="18" charset="0"/>
                          </a:rPr>
                        </m:ctrlPr>
                      </m:sSubPr>
                      <m:e>
                        <m:r>
                          <a:rPr lang="zh-CN" altLang="en-US" sz="2400" i="1" smtClean="0">
                            <a:solidFill>
                              <a:schemeClr val="bg1"/>
                            </a:solidFill>
                            <a:latin typeface="Cambria Math" panose="02040503050406030204" pitchFamily="18" charset="0"/>
                          </a:rPr>
                          <m:t>𝛼</m:t>
                        </m:r>
                      </m:e>
                      <m:sub>
                        <m:r>
                          <a:rPr lang="zh-CN" altLang="en-US" sz="2400" i="1" smtClean="0">
                            <a:solidFill>
                              <a:schemeClr val="bg1"/>
                            </a:solidFill>
                            <a:latin typeface="Cambria Math" panose="02040503050406030204" pitchFamily="18" charset="0"/>
                          </a:rPr>
                          <m:t>𝑡</m:t>
                        </m:r>
                      </m:sub>
                    </m:sSub>
                  </m:oMath>
                </a14:m>
                <a:r>
                  <a:rPr lang="zh-CN" altLang="en-US" sz="2400" dirty="0">
                    <a:solidFill>
                      <a:schemeClr val="bg1"/>
                    </a:solidFill>
                    <a:latin typeface="+mn-ea"/>
                  </a:rPr>
                  <a:t>是一个类似于学习率的参数</a:t>
                </a:r>
              </a:p>
            </p:txBody>
          </p:sp>
        </mc:Choice>
        <mc:Fallback>
          <p:sp>
            <p:nvSpPr>
              <p:cNvPr id="13" name="矩形 12">
                <a:extLst>
                  <a:ext uri="{FF2B5EF4-FFF2-40B4-BE49-F238E27FC236}">
                    <a16:creationId xmlns:a16="http://schemas.microsoft.com/office/drawing/2014/main" id="{C804782E-8D0B-4056-9595-FA421E2D74F7}"/>
                  </a:ext>
                </a:extLst>
              </p:cNvPr>
              <p:cNvSpPr>
                <a:spLocks noRot="1" noChangeAspect="1" noMove="1" noResize="1" noEditPoints="1" noAdjustHandles="1" noChangeArrowheads="1" noChangeShapeType="1" noTextEdit="1"/>
              </p:cNvSpPr>
              <p:nvPr/>
            </p:nvSpPr>
            <p:spPr>
              <a:xfrm>
                <a:off x="5885698" y="1539603"/>
                <a:ext cx="4283484" cy="954345"/>
              </a:xfrm>
              <a:prstGeom prst="rect">
                <a:avLst/>
              </a:prstGeom>
              <a:blipFill>
                <a:blip r:embed="rId4"/>
                <a:stretch>
                  <a:fillRect r="-295"/>
                </a:stretch>
              </a:blipFill>
              <a:ln/>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4439096E-0BAF-4058-9F50-2CFD92E2A8CB}"/>
              </a:ext>
            </a:extLst>
          </p:cNvPr>
          <p:cNvPicPr>
            <a:picLocks noChangeAspect="1"/>
          </p:cNvPicPr>
          <p:nvPr/>
        </p:nvPicPr>
        <p:blipFill>
          <a:blip r:embed="rId5"/>
          <a:stretch>
            <a:fillRect/>
          </a:stretch>
        </p:blipFill>
        <p:spPr>
          <a:xfrm>
            <a:off x="5928899" y="835867"/>
            <a:ext cx="4198585" cy="653877"/>
          </a:xfrm>
          <a:prstGeom prst="rect">
            <a:avLst/>
          </a:prstGeom>
        </p:spPr>
      </p:pic>
      <p:pic>
        <p:nvPicPr>
          <p:cNvPr id="12" name="图片 11">
            <a:extLst>
              <a:ext uri="{FF2B5EF4-FFF2-40B4-BE49-F238E27FC236}">
                <a16:creationId xmlns:a16="http://schemas.microsoft.com/office/drawing/2014/main" id="{39F06C78-EDAC-4A4D-81AB-5088570AC149}"/>
              </a:ext>
            </a:extLst>
          </p:cNvPr>
          <p:cNvPicPr>
            <a:picLocks noChangeAspect="1"/>
          </p:cNvPicPr>
          <p:nvPr/>
        </p:nvPicPr>
        <p:blipFill>
          <a:blip r:embed="rId6"/>
          <a:stretch>
            <a:fillRect/>
          </a:stretch>
        </p:blipFill>
        <p:spPr>
          <a:xfrm>
            <a:off x="1084415" y="929645"/>
            <a:ext cx="3801980" cy="683241"/>
          </a:xfrm>
          <a:prstGeom prst="rect">
            <a:avLst/>
          </a:prstGeom>
        </p:spPr>
      </p:pic>
      <p:pic>
        <p:nvPicPr>
          <p:cNvPr id="19" name="图片 18">
            <a:extLst>
              <a:ext uri="{FF2B5EF4-FFF2-40B4-BE49-F238E27FC236}">
                <a16:creationId xmlns:a16="http://schemas.microsoft.com/office/drawing/2014/main" id="{8DF6ED73-7C83-448D-80B0-BC721876B7A8}"/>
              </a:ext>
            </a:extLst>
          </p:cNvPr>
          <p:cNvPicPr>
            <a:picLocks noChangeAspect="1"/>
          </p:cNvPicPr>
          <p:nvPr/>
        </p:nvPicPr>
        <p:blipFill>
          <a:blip r:embed="rId7"/>
          <a:stretch>
            <a:fillRect/>
          </a:stretch>
        </p:blipFill>
        <p:spPr>
          <a:xfrm>
            <a:off x="1150658" y="2834335"/>
            <a:ext cx="6629741" cy="977950"/>
          </a:xfrm>
          <a:prstGeom prst="rect">
            <a:avLst/>
          </a:prstGeom>
        </p:spPr>
      </p:pic>
      <p:pic>
        <p:nvPicPr>
          <p:cNvPr id="21" name="图片 20">
            <a:extLst>
              <a:ext uri="{FF2B5EF4-FFF2-40B4-BE49-F238E27FC236}">
                <a16:creationId xmlns:a16="http://schemas.microsoft.com/office/drawing/2014/main" id="{BA237FD6-2A55-4011-8546-FEF434CB7D4C}"/>
              </a:ext>
            </a:extLst>
          </p:cNvPr>
          <p:cNvPicPr>
            <a:picLocks noChangeAspect="1"/>
          </p:cNvPicPr>
          <p:nvPr/>
        </p:nvPicPr>
        <p:blipFill>
          <a:blip r:embed="rId8"/>
          <a:stretch>
            <a:fillRect/>
          </a:stretch>
        </p:blipFill>
        <p:spPr>
          <a:xfrm>
            <a:off x="1150658" y="3700203"/>
            <a:ext cx="6521785" cy="1104957"/>
          </a:xfrm>
          <a:prstGeom prst="rect">
            <a:avLst/>
          </a:prstGeom>
        </p:spPr>
      </p:pic>
      <p:pic>
        <p:nvPicPr>
          <p:cNvPr id="23" name="图片 22">
            <a:extLst>
              <a:ext uri="{FF2B5EF4-FFF2-40B4-BE49-F238E27FC236}">
                <a16:creationId xmlns:a16="http://schemas.microsoft.com/office/drawing/2014/main" id="{E4A6F720-FF88-4EB4-9EEF-C5A454B5F9F9}"/>
              </a:ext>
            </a:extLst>
          </p:cNvPr>
          <p:cNvPicPr>
            <a:picLocks noChangeAspect="1"/>
          </p:cNvPicPr>
          <p:nvPr/>
        </p:nvPicPr>
        <p:blipFill>
          <a:blip r:embed="rId9"/>
          <a:stretch>
            <a:fillRect/>
          </a:stretch>
        </p:blipFill>
        <p:spPr>
          <a:xfrm>
            <a:off x="0" y="4558570"/>
            <a:ext cx="5969307" cy="1208186"/>
          </a:xfrm>
          <a:prstGeom prst="rect">
            <a:avLst/>
          </a:prstGeom>
        </p:spPr>
      </p:pic>
      <p:pic>
        <p:nvPicPr>
          <p:cNvPr id="25" name="图片 24">
            <a:extLst>
              <a:ext uri="{FF2B5EF4-FFF2-40B4-BE49-F238E27FC236}">
                <a16:creationId xmlns:a16="http://schemas.microsoft.com/office/drawing/2014/main" id="{D753377D-E026-4392-A765-FBB5F3D4255C}"/>
              </a:ext>
            </a:extLst>
          </p:cNvPr>
          <p:cNvPicPr>
            <a:picLocks noChangeAspect="1"/>
          </p:cNvPicPr>
          <p:nvPr/>
        </p:nvPicPr>
        <p:blipFill>
          <a:blip r:embed="rId10"/>
          <a:stretch>
            <a:fillRect/>
          </a:stretch>
        </p:blipFill>
        <p:spPr>
          <a:xfrm>
            <a:off x="1638753" y="5515519"/>
            <a:ext cx="6141646" cy="1159039"/>
          </a:xfrm>
          <a:prstGeom prst="rect">
            <a:avLst/>
          </a:prstGeom>
        </p:spPr>
      </p:pic>
      <p:cxnSp>
        <p:nvCxnSpPr>
          <p:cNvPr id="27" name="直接连接符 26">
            <a:extLst>
              <a:ext uri="{FF2B5EF4-FFF2-40B4-BE49-F238E27FC236}">
                <a16:creationId xmlns:a16="http://schemas.microsoft.com/office/drawing/2014/main" id="{5EB10701-FD87-4313-BB93-78E9D87557BC}"/>
              </a:ext>
            </a:extLst>
          </p:cNvPr>
          <p:cNvCxnSpPr/>
          <p:nvPr/>
        </p:nvCxnSpPr>
        <p:spPr>
          <a:xfrm>
            <a:off x="8217418" y="2643606"/>
            <a:ext cx="0" cy="380973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2BCB00AB-46ED-47FA-8488-AFA8049DB1E5}"/>
                  </a:ext>
                </a:extLst>
              </p:cNvPr>
              <p:cNvSpPr txBox="1"/>
              <p:nvPr/>
            </p:nvSpPr>
            <p:spPr>
              <a:xfrm>
                <a:off x="8720338" y="2874439"/>
                <a:ext cx="2333844" cy="461665"/>
              </a:xfrm>
              <a:prstGeom prst="rect">
                <a:avLst/>
              </a:prstGeom>
              <a:noFill/>
            </p:spPr>
            <p:txBody>
              <a:bodyPr wrap="none" rtlCol="0">
                <a:spAutoFit/>
              </a:bodyPr>
              <a:lstStyle/>
              <a:p>
                <a:pPr algn="l"/>
                <a:r>
                  <a:rPr lang="zh-CN" altLang="en-US" sz="2400" dirty="0">
                    <a:latin typeface="+mn-ea"/>
                  </a:rPr>
                  <a:t>找到一个</a:t>
                </a:r>
                <a14:m>
                  <m:oMath xmlns:m="http://schemas.openxmlformats.org/officeDocument/2006/math">
                    <m:sSub>
                      <m:sSubPr>
                        <m:ctrlPr>
                          <a:rPr lang="zh-CN" altLang="en-US" sz="2400" i="1" smtClean="0">
                            <a:solidFill>
                              <a:schemeClr val="tx1"/>
                            </a:solidFill>
                            <a:latin typeface="Cambria Math" panose="02040503050406030204" pitchFamily="18" charset="0"/>
                          </a:rPr>
                        </m:ctrlPr>
                      </m:sSubPr>
                      <m:e>
                        <m:r>
                          <a:rPr lang="zh-CN" altLang="en-US" sz="2400" i="1" smtClean="0">
                            <a:solidFill>
                              <a:schemeClr val="tx1"/>
                            </a:solidFill>
                            <a:latin typeface="Cambria Math" panose="02040503050406030204" pitchFamily="18" charset="0"/>
                          </a:rPr>
                          <m:t>𝛼</m:t>
                        </m:r>
                      </m:e>
                      <m:sub>
                        <m:r>
                          <a:rPr lang="zh-CN" altLang="en-US" sz="2400" i="1" smtClean="0">
                            <a:solidFill>
                              <a:schemeClr val="tx1"/>
                            </a:solidFill>
                            <a:latin typeface="Cambria Math" panose="02040503050406030204" pitchFamily="18" charset="0"/>
                          </a:rPr>
                          <m:t>𝑡</m:t>
                        </m:r>
                      </m:sub>
                    </m:sSub>
                  </m:oMath>
                </a14:m>
                <a:r>
                  <a:rPr lang="zh-CN" altLang="en-US" sz="2400" dirty="0">
                    <a:latin typeface="+mn-ea"/>
                  </a:rPr>
                  <a:t>，使</a:t>
                </a:r>
              </a:p>
            </p:txBody>
          </p:sp>
        </mc:Choice>
        <mc:Fallback>
          <p:sp>
            <p:nvSpPr>
              <p:cNvPr id="28" name="文本框 27">
                <a:extLst>
                  <a:ext uri="{FF2B5EF4-FFF2-40B4-BE49-F238E27FC236}">
                    <a16:creationId xmlns:a16="http://schemas.microsoft.com/office/drawing/2014/main" id="{2BCB00AB-46ED-47FA-8488-AFA8049DB1E5}"/>
                  </a:ext>
                </a:extLst>
              </p:cNvPr>
              <p:cNvSpPr txBox="1">
                <a:spLocks noRot="1" noChangeAspect="1" noMove="1" noResize="1" noEditPoints="1" noAdjustHandles="1" noChangeArrowheads="1" noChangeShapeType="1" noTextEdit="1"/>
              </p:cNvSpPr>
              <p:nvPr/>
            </p:nvSpPr>
            <p:spPr>
              <a:xfrm>
                <a:off x="8720338" y="2874439"/>
                <a:ext cx="2333844" cy="461665"/>
              </a:xfrm>
              <a:prstGeom prst="rect">
                <a:avLst/>
              </a:prstGeom>
              <a:blipFill>
                <a:blip r:embed="rId11"/>
                <a:stretch>
                  <a:fillRect l="-3784" t="-10811" r="-3243" b="-29730"/>
                </a:stretch>
              </a:blipFill>
            </p:spPr>
            <p:txBody>
              <a:bodyPr/>
              <a:lstStyle/>
              <a:p>
                <a:r>
                  <a:rPr lang="zh-CN" altLang="en-US">
                    <a:noFill/>
                  </a:rPr>
                  <a:t> </a:t>
                </a:r>
              </a:p>
            </p:txBody>
          </p:sp>
        </mc:Fallback>
      </mc:AlternateContent>
      <p:pic>
        <p:nvPicPr>
          <p:cNvPr id="30" name="图片 29">
            <a:extLst>
              <a:ext uri="{FF2B5EF4-FFF2-40B4-BE49-F238E27FC236}">
                <a16:creationId xmlns:a16="http://schemas.microsoft.com/office/drawing/2014/main" id="{33540B88-32BC-4BCF-A5B8-9FE1F1D4C1BE}"/>
              </a:ext>
            </a:extLst>
          </p:cNvPr>
          <p:cNvPicPr>
            <a:picLocks noChangeAspect="1"/>
          </p:cNvPicPr>
          <p:nvPr/>
        </p:nvPicPr>
        <p:blipFill>
          <a:blip r:embed="rId12"/>
          <a:stretch>
            <a:fillRect/>
          </a:stretch>
        </p:blipFill>
        <p:spPr>
          <a:xfrm>
            <a:off x="8596014" y="3365895"/>
            <a:ext cx="2649080" cy="2191104"/>
          </a:xfrm>
          <a:prstGeom prst="rect">
            <a:avLst/>
          </a:prstGeom>
        </p:spPr>
      </p:pic>
      <p:sp>
        <p:nvSpPr>
          <p:cNvPr id="4" name="灯片编号占位符 3">
            <a:extLst>
              <a:ext uri="{FF2B5EF4-FFF2-40B4-BE49-F238E27FC236}">
                <a16:creationId xmlns:a16="http://schemas.microsoft.com/office/drawing/2014/main" id="{78C6A919-53BC-4173-BF1E-A3F4051D5B40}"/>
              </a:ext>
            </a:extLst>
          </p:cNvPr>
          <p:cNvSpPr>
            <a:spLocks noGrp="1"/>
          </p:cNvSpPr>
          <p:nvPr>
            <p:ph type="sldNum" sz="quarter" idx="14"/>
          </p:nvPr>
        </p:nvSpPr>
        <p:spPr/>
        <p:txBody>
          <a:bodyPr/>
          <a:lstStyle/>
          <a:p>
            <a:fld id="{AF69888C-E133-43D9-A638-B5C95925B91C}" type="slidenum">
              <a:rPr lang="zh-CN" altLang="en-US" smtClean="0"/>
              <a:t>49</a:t>
            </a:fld>
            <a:endParaRPr lang="zh-CN" altLang="en-US" dirty="0"/>
          </a:p>
        </p:txBody>
      </p:sp>
      <p:sp>
        <p:nvSpPr>
          <p:cNvPr id="31" name="文本框 30">
            <a:extLst>
              <a:ext uri="{FF2B5EF4-FFF2-40B4-BE49-F238E27FC236}">
                <a16:creationId xmlns:a16="http://schemas.microsoft.com/office/drawing/2014/main" id="{42140B80-3384-45A2-B1F4-CF9DA640148E}"/>
              </a:ext>
            </a:extLst>
          </p:cNvPr>
          <p:cNvSpPr txBox="1"/>
          <p:nvPr/>
        </p:nvSpPr>
        <p:spPr>
          <a:xfrm>
            <a:off x="4151016" y="6308079"/>
            <a:ext cx="8040984" cy="461665"/>
          </a:xfrm>
          <a:prstGeom prst="rect">
            <a:avLst/>
          </a:prstGeom>
          <a:solidFill>
            <a:schemeClr val="accent4">
              <a:lumMod val="20000"/>
              <a:lumOff val="80000"/>
            </a:schemeClr>
          </a:solidFill>
        </p:spPr>
        <p:txBody>
          <a:bodyPr wrap="none" rtlCol="0">
            <a:spAutoFit/>
          </a:bodyPr>
          <a:lstStyle/>
          <a:p>
            <a:r>
              <a:rPr lang="en" altLang="zh-CN" sz="2400" dirty="0"/>
              <a:t>AdaBoost </a:t>
            </a:r>
            <a:r>
              <a:rPr lang="zh-CN" altLang="en-US" sz="2400" dirty="0"/>
              <a:t>是</a:t>
            </a:r>
            <a:r>
              <a:rPr lang="en-US" altLang="zh-CN" sz="2400" dirty="0"/>
              <a:t>Gradient</a:t>
            </a:r>
            <a:r>
              <a:rPr lang="zh-CN" altLang="en-US" sz="2400" dirty="0"/>
              <a:t> </a:t>
            </a:r>
            <a:r>
              <a:rPr lang="en-US" altLang="zh-CN" sz="2400" dirty="0"/>
              <a:t>Boosting</a:t>
            </a:r>
            <a:r>
              <a:rPr lang="zh-CN" altLang="en-US" sz="2400" dirty="0"/>
              <a:t>在指数损失下的具体实例。</a:t>
            </a:r>
            <a:endParaRPr lang="zh-CN" altLang="en-US" dirty="0">
              <a:solidFill>
                <a:schemeClr val="accent1"/>
              </a:solidFill>
              <a:latin typeface="+mn-ea"/>
            </a:endParaRPr>
          </a:p>
        </p:txBody>
      </p:sp>
    </p:spTree>
    <p:extLst>
      <p:ext uri="{BB962C8B-B14F-4D97-AF65-F5344CB8AC3E}">
        <p14:creationId xmlns:p14="http://schemas.microsoft.com/office/powerpoint/2010/main" val="210862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up)">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animBg="1"/>
      <p:bldP spid="28" grpId="0"/>
      <p:bldP spid="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p>
        </p:txBody>
      </p:sp>
      <p:sp>
        <p:nvSpPr>
          <p:cNvPr id="3" name="TextBox 2">
            <a:extLst>
              <a:ext uri="{FF2B5EF4-FFF2-40B4-BE49-F238E27FC236}">
                <a16:creationId xmlns:a16="http://schemas.microsoft.com/office/drawing/2014/main" id="{4A8B7FDA-C16B-924B-9A69-2C99807EB8CD}"/>
              </a:ext>
            </a:extLst>
          </p:cNvPr>
          <p:cNvSpPr txBox="1"/>
          <p:nvPr/>
        </p:nvSpPr>
        <p:spPr>
          <a:xfrm>
            <a:off x="743893" y="1447957"/>
            <a:ext cx="10704212" cy="523220"/>
          </a:xfrm>
          <a:prstGeom prst="rect">
            <a:avLst/>
          </a:prstGeom>
          <a:noFill/>
        </p:spPr>
        <p:txBody>
          <a:bodyPr wrap="none" rtlCol="0">
            <a:spAutoFit/>
          </a:bodyPr>
          <a:lstStyle/>
          <a:p>
            <a:r>
              <a:rPr lang="en-GB" sz="2800" b="1" dirty="0"/>
              <a:t>GBDT </a:t>
            </a:r>
            <a:r>
              <a:rPr lang="zh-CN" altLang="en-US" sz="2800" b="1" dirty="0"/>
              <a:t>的全称是 </a:t>
            </a:r>
            <a:r>
              <a:rPr lang="en-GB" sz="2800" b="1" dirty="0"/>
              <a:t>Gradient Boosting Decision Tree，</a:t>
            </a:r>
            <a:r>
              <a:rPr lang="zh-CN" altLang="en-US" sz="2800" b="1" dirty="0"/>
              <a:t>梯度提升树。</a:t>
            </a:r>
            <a:endParaRPr lang="en-CN" sz="2800" b="1" dirty="0">
              <a:latin typeface="+mn-ea"/>
            </a:endParaRPr>
          </a:p>
        </p:txBody>
      </p:sp>
      <p:sp>
        <p:nvSpPr>
          <p:cNvPr id="7" name="文本框 6">
            <a:extLst>
              <a:ext uri="{FF2B5EF4-FFF2-40B4-BE49-F238E27FC236}">
                <a16:creationId xmlns:a16="http://schemas.microsoft.com/office/drawing/2014/main" id="{6287FE1F-CBCE-9C46-AB98-BC9EF66116A9}"/>
              </a:ext>
            </a:extLst>
          </p:cNvPr>
          <p:cNvSpPr txBox="1"/>
          <p:nvPr/>
        </p:nvSpPr>
        <p:spPr>
          <a:xfrm>
            <a:off x="1895946" y="2304441"/>
            <a:ext cx="8400106" cy="461665"/>
          </a:xfrm>
          <a:prstGeom prst="rect">
            <a:avLst/>
          </a:prstGeom>
          <a:noFill/>
        </p:spPr>
        <p:txBody>
          <a:bodyPr wrap="square">
            <a:spAutoFit/>
          </a:bodyPr>
          <a:lstStyle/>
          <a:p>
            <a:r>
              <a:rPr lang="en" altLang="zh-CN" sz="2400" dirty="0"/>
              <a:t>GBDT = Gradient Boosting + Decision Trees</a:t>
            </a:r>
            <a:r>
              <a:rPr lang="zh-CN" altLang="en" sz="2400" dirty="0"/>
              <a:t>（</a:t>
            </a:r>
            <a:r>
              <a:rPr lang="en" altLang="zh-CN" sz="2400" dirty="0"/>
              <a:t>CART </a:t>
            </a:r>
            <a:r>
              <a:rPr lang="zh-CN" altLang="en-US" sz="2400" dirty="0"/>
              <a:t>回归树）</a:t>
            </a:r>
          </a:p>
        </p:txBody>
      </p:sp>
      <p:sp>
        <p:nvSpPr>
          <p:cNvPr id="8" name="文本框 7">
            <a:extLst>
              <a:ext uri="{FF2B5EF4-FFF2-40B4-BE49-F238E27FC236}">
                <a16:creationId xmlns:a16="http://schemas.microsoft.com/office/drawing/2014/main" id="{218198D7-7905-9F44-8779-2061DDE611C5}"/>
              </a:ext>
            </a:extLst>
          </p:cNvPr>
          <p:cNvSpPr txBox="1"/>
          <p:nvPr/>
        </p:nvSpPr>
        <p:spPr>
          <a:xfrm>
            <a:off x="743893" y="3099370"/>
            <a:ext cx="10500636" cy="461665"/>
          </a:xfrm>
          <a:prstGeom prst="rect">
            <a:avLst/>
          </a:prstGeom>
          <a:noFill/>
        </p:spPr>
        <p:txBody>
          <a:bodyPr wrap="square">
            <a:spAutoFit/>
          </a:bodyPr>
          <a:lstStyle/>
          <a:p>
            <a:pPr algn="ctr"/>
            <a:r>
              <a:rPr lang="zh-CN" altLang="en-US" sz="2400" dirty="0"/>
              <a:t>用</a:t>
            </a:r>
            <a:r>
              <a:rPr lang="zh-CN" altLang="en-US" sz="2400" dirty="0">
                <a:solidFill>
                  <a:srgbClr val="C00000"/>
                </a:solidFill>
              </a:rPr>
              <a:t>梯度方向</a:t>
            </a:r>
            <a:r>
              <a:rPr lang="zh-CN" altLang="en-US" sz="2400" dirty="0"/>
              <a:t>来告诉“树”应该学什么，每一棵树都在修复上一棵树的错误。</a:t>
            </a:r>
          </a:p>
        </p:txBody>
      </p:sp>
    </p:spTree>
    <p:extLst>
      <p:ext uri="{BB962C8B-B14F-4D97-AF65-F5344CB8AC3E}">
        <p14:creationId xmlns:p14="http://schemas.microsoft.com/office/powerpoint/2010/main" val="2190905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p:sp>
        <p:nvSpPr>
          <p:cNvPr id="2" name="TextBox 1">
            <a:extLst>
              <a:ext uri="{FF2B5EF4-FFF2-40B4-BE49-F238E27FC236}">
                <a16:creationId xmlns:a16="http://schemas.microsoft.com/office/drawing/2014/main" id="{82592380-8393-C045-ADAA-A72C60F25E36}"/>
              </a:ext>
            </a:extLst>
          </p:cNvPr>
          <p:cNvSpPr txBox="1"/>
          <p:nvPr/>
        </p:nvSpPr>
        <p:spPr>
          <a:xfrm>
            <a:off x="442913" y="1017242"/>
            <a:ext cx="9779665" cy="523220"/>
          </a:xfrm>
          <a:prstGeom prst="rect">
            <a:avLst/>
          </a:prstGeom>
          <a:noFill/>
        </p:spPr>
        <p:txBody>
          <a:bodyPr wrap="none" rtlCol="0">
            <a:spAutoFit/>
          </a:bodyPr>
          <a:lstStyle/>
          <a:p>
            <a:r>
              <a:rPr lang="en-GB" sz="2800" dirty="0">
                <a:solidFill>
                  <a:srgbClr val="C00000"/>
                </a:solidFill>
              </a:rPr>
              <a:t>Gradient Boosting</a:t>
            </a:r>
            <a:r>
              <a:rPr lang="zh-CN" altLang="en-US" sz="2800" dirty="0">
                <a:solidFill>
                  <a:srgbClr val="4D4D4D"/>
                </a:solidFill>
                <a:latin typeface="-apple-system"/>
              </a:rPr>
              <a:t> </a:t>
            </a:r>
            <a:r>
              <a:rPr lang="zh-CN" altLang="en-US" sz="2800" dirty="0">
                <a:latin typeface="-apple-system"/>
              </a:rPr>
              <a:t>是提升树（</a:t>
            </a:r>
            <a:r>
              <a:rPr lang="en-GB" sz="2800" dirty="0">
                <a:latin typeface="-apple-system"/>
              </a:rPr>
              <a:t>Boosting Tree）</a:t>
            </a:r>
            <a:r>
              <a:rPr lang="zh-CN" altLang="en-US" sz="2800" dirty="0">
                <a:latin typeface="-apple-system"/>
              </a:rPr>
              <a:t>的一种改进算法</a:t>
            </a:r>
            <a:endParaRPr lang="en-CN" sz="2800" dirty="0">
              <a:latin typeface="+mn-ea"/>
            </a:endParaRPr>
          </a:p>
        </p:txBody>
      </p:sp>
      <p:sp>
        <p:nvSpPr>
          <p:cNvPr id="5" name="TextBox 4">
            <a:extLst>
              <a:ext uri="{FF2B5EF4-FFF2-40B4-BE49-F238E27FC236}">
                <a16:creationId xmlns:a16="http://schemas.microsoft.com/office/drawing/2014/main" id="{54C2B1A5-1D94-0C4B-90BC-A20BB2D00BA7}"/>
              </a:ext>
            </a:extLst>
          </p:cNvPr>
          <p:cNvSpPr txBox="1"/>
          <p:nvPr/>
        </p:nvSpPr>
        <p:spPr>
          <a:xfrm>
            <a:off x="442913" y="1471927"/>
            <a:ext cx="10629900" cy="461665"/>
          </a:xfrm>
          <a:prstGeom prst="rect">
            <a:avLst/>
          </a:prstGeom>
          <a:noFill/>
        </p:spPr>
        <p:txBody>
          <a:bodyPr wrap="square" rtlCol="0">
            <a:spAutoFit/>
          </a:bodyPr>
          <a:lstStyle/>
          <a:p>
            <a:r>
              <a:rPr lang="zh-CN" altLang="en-US" sz="2400" dirty="0">
                <a:latin typeface="-apple-system"/>
              </a:rPr>
              <a:t>提升树（</a:t>
            </a:r>
            <a:r>
              <a:rPr lang="en-GB" sz="2400" dirty="0">
                <a:latin typeface="-apple-system"/>
              </a:rPr>
              <a:t>Boosting Tree）</a:t>
            </a:r>
            <a:r>
              <a:rPr lang="zh-CN" altLang="en-US" sz="2400" dirty="0">
                <a:latin typeface="-apple-system"/>
              </a:rPr>
              <a:t>：以决策树为基函数</a:t>
            </a:r>
            <a:r>
              <a:rPr lang="en-US" altLang="zh-CN" sz="2400" dirty="0">
                <a:latin typeface="-apple-system"/>
              </a:rPr>
              <a:t>/</a:t>
            </a:r>
            <a:r>
              <a:rPr lang="zh-CN" altLang="en-US" sz="2400" dirty="0">
                <a:latin typeface="-apple-system"/>
              </a:rPr>
              <a:t>基学习器的提升方法</a:t>
            </a:r>
            <a:endParaRPr lang="en-CN" sz="2400" dirty="0">
              <a:latin typeface="+mn-ea"/>
            </a:endParaRPr>
          </a:p>
        </p:txBody>
      </p:sp>
      <p:grpSp>
        <p:nvGrpSpPr>
          <p:cNvPr id="10" name="Group 9">
            <a:extLst>
              <a:ext uri="{FF2B5EF4-FFF2-40B4-BE49-F238E27FC236}">
                <a16:creationId xmlns:a16="http://schemas.microsoft.com/office/drawing/2014/main" id="{A8F50E5E-1408-B64F-807C-43267D8491E0}"/>
              </a:ext>
            </a:extLst>
          </p:cNvPr>
          <p:cNvGrpSpPr/>
          <p:nvPr/>
        </p:nvGrpSpPr>
        <p:grpSpPr>
          <a:xfrm>
            <a:off x="2629330" y="1821984"/>
            <a:ext cx="6257065" cy="4285404"/>
            <a:chOff x="2754775" y="2088346"/>
            <a:chExt cx="6257065" cy="4285404"/>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C4B78AE-C81A-704E-BCB0-1AC4C491019C}"/>
                    </a:ext>
                  </a:extLst>
                </p:cNvPr>
                <p:cNvSpPr txBox="1"/>
                <p:nvPr/>
              </p:nvSpPr>
              <p:spPr>
                <a:xfrm>
                  <a:off x="2918222" y="2088346"/>
                  <a:ext cx="6093618" cy="4285404"/>
                </a:xfrm>
                <a:prstGeom prst="rect">
                  <a:avLst/>
                </a:prstGeom>
                <a:noFill/>
              </p:spPr>
              <p:txBody>
                <a:bodyPr wrap="square">
                  <a:spAutoFit/>
                </a:bodyPr>
                <a:lstStyle/>
                <a:p>
                  <a:pPr>
                    <a:spcBef>
                      <a:spcPts val="900"/>
                    </a:spcBef>
                    <a:spcAft>
                      <a:spcPts val="900"/>
                    </a:spcAft>
                  </a:pPr>
                  <a:r>
                    <a:rPr lang="en-CN" sz="1800" dirty="0">
                      <a:effectLst/>
                      <a:latin typeface="Cambria" panose="02040503050406030204" pitchFamily="18" charset="0"/>
                      <a:ea typeface="SimSun" panose="02010600030101010101" pitchFamily="2" charset="-122"/>
                      <a:cs typeface="Times New Roman" panose="02020603050405020304" pitchFamily="18" charset="0"/>
                    </a:rPr>
                    <a:t> </a:t>
                  </a:r>
                </a:p>
                <a:p>
                  <a:pPr>
                    <a:spcAft>
                      <a:spcPts val="1000"/>
                    </a:spcAft>
                  </a:pPr>
                  <a:r>
                    <a:rPr lang="zh-CN" sz="1800" b="1" dirty="0">
                      <a:effectLst/>
                      <a:latin typeface="Cambria" panose="02040503050406030204" pitchFamily="18" charset="0"/>
                      <a:ea typeface="SimSun" panose="02010600030101010101" pitchFamily="2" charset="-122"/>
                      <a:cs typeface="Times New Roman" panose="02020603050405020304" pitchFamily="18" charset="0"/>
                    </a:rPr>
                    <a:t>输入</a:t>
                  </a:r>
                  <a:r>
                    <a:rPr lang="zh-CN" sz="1800" dirty="0">
                      <a:effectLst/>
                      <a:latin typeface="Cambria" panose="02040503050406030204" pitchFamily="18" charset="0"/>
                      <a:ea typeface="SimSun" panose="02010600030101010101" pitchFamily="2" charset="-122"/>
                      <a:cs typeface="Times New Roman" panose="02020603050405020304" pitchFamily="18" charset="0"/>
                    </a:rPr>
                    <a:t>：训练数据集</a:t>
                  </a:r>
                  <a14:m>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2</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2</m:t>
                                  </m:r>
                                </m:sub>
                              </m:sSub>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𝑁</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𝑁</m:t>
                                  </m:r>
                                </m:sub>
                              </m:sSub>
                            </m:e>
                          </m:d>
                        </m:e>
                      </m:d>
                    </m:oMath>
                  </a14:m>
                  <a:r>
                    <a:rPr lang="en-US" sz="1800" dirty="0">
                      <a:effectLst/>
                      <a:latin typeface="Cambria" panose="02040503050406030204" pitchFamily="18" charset="0"/>
                      <a:ea typeface="SimSun" panose="02010600030101010101" pitchFamily="2" charset="-122"/>
                      <a:cs typeface="Times New Roman" panose="02020603050405020304" pitchFamily="18" charset="0"/>
                    </a:rPr>
                    <a:t>;</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zh-CN" sz="1800" b="1" dirty="0">
                      <a:effectLst/>
                      <a:latin typeface="Cambria" panose="02040503050406030204" pitchFamily="18" charset="0"/>
                      <a:ea typeface="SimSun" panose="02010600030101010101" pitchFamily="2" charset="-122"/>
                      <a:cs typeface="Times New Roman" panose="02020603050405020304" pitchFamily="18" charset="0"/>
                    </a:rPr>
                    <a:t>步骤</a:t>
                  </a:r>
                  <a:r>
                    <a:rPr lang="zh-CN" sz="1800" dirty="0">
                      <a:effectLst/>
                      <a:latin typeface="Cambria" panose="02040503050406030204" pitchFamily="18" charset="0"/>
                      <a:ea typeface="SimSun" panose="02010600030101010101" pitchFamily="2" charset="-122"/>
                      <a:cs typeface="Times New Roman" panose="02020603050405020304" pitchFamily="18" charset="0"/>
                    </a:rPr>
                    <a:t>：</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1.</a:t>
                  </a:r>
                  <a:r>
                    <a:rPr lang="zh-CN" sz="1800" dirty="0">
                      <a:effectLst/>
                      <a:latin typeface="Cambria" panose="02040503050406030204" pitchFamily="18" charset="0"/>
                      <a:ea typeface="SimSun" panose="02010600030101010101" pitchFamily="2" charset="-122"/>
                      <a:cs typeface="Times New Roman" panose="02020603050405020304" pitchFamily="18" charset="0"/>
                    </a:rPr>
                    <a:t>初始化 </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0</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=0</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2. </a:t>
                  </a:r>
                  <a:r>
                    <a:rPr lang="zh-CN" sz="1800" dirty="0">
                      <a:effectLst/>
                      <a:latin typeface="Cambria" panose="02040503050406030204" pitchFamily="18" charset="0"/>
                      <a:ea typeface="SimSun" panose="02010600030101010101" pitchFamily="2" charset="-122"/>
                      <a:cs typeface="Times New Roman" panose="02020603050405020304" pitchFamily="18" charset="0"/>
                    </a:rPr>
                    <a:t>对</a:t>
                  </a:r>
                  <a14:m>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=1,2,…,</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𝑀</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3.       </a:t>
                  </a:r>
                  <a:r>
                    <a:rPr lang="zh-CN" sz="1800" dirty="0">
                      <a:effectLst/>
                      <a:latin typeface="Cambria" panose="02040503050406030204" pitchFamily="18" charset="0"/>
                      <a:ea typeface="SimSun" panose="02010600030101010101" pitchFamily="2" charset="-122"/>
                      <a:cs typeface="Times New Roman" panose="02020603050405020304" pitchFamily="18" charset="0"/>
                    </a:rPr>
                    <a:t>计算残差 </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𝑟</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𝑚𝑖</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sub>
                          </m:sSub>
                        </m:e>
                      </m:d>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r>
                        <a:rPr lang="en-US" sz="1800" i="1">
                          <a:effectLst/>
                          <a:latin typeface="Cambria Math" panose="02040503050406030204" pitchFamily="18" charset="0"/>
                          <a:ea typeface="SimSun" panose="02010600030101010101" pitchFamily="2" charset="-122"/>
                          <a:cs typeface="Times New Roman" panose="02020603050405020304" pitchFamily="18" charset="0"/>
                        </a:rPr>
                        <m:t>=1,2,…</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𝑁</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4.      </a:t>
                  </a:r>
                  <a:r>
                    <a:rPr lang="zh-CN" sz="1800" dirty="0">
                      <a:effectLst/>
                      <a:latin typeface="Cambria" panose="02040503050406030204" pitchFamily="18" charset="0"/>
                      <a:ea typeface="SimSun" panose="02010600030101010101" pitchFamily="2" charset="-122"/>
                      <a:cs typeface="Times New Roman" panose="02020603050405020304" pitchFamily="18" charset="0"/>
                    </a:rPr>
                    <a:t>拟合残差</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𝑟</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𝑚𝑖</m:t>
                          </m:r>
                        </m:sub>
                      </m:sSub>
                    </m:oMath>
                  </a14:m>
                  <a:r>
                    <a:rPr lang="zh-CN" sz="1800" dirty="0">
                      <a:effectLst/>
                      <a:latin typeface="Cambria" panose="02040503050406030204" pitchFamily="18" charset="0"/>
                      <a:ea typeface="SimSun" panose="02010600030101010101" pitchFamily="2" charset="-122"/>
                      <a:cs typeface="Times New Roman" panose="02020603050405020304" pitchFamily="18" charset="0"/>
                    </a:rPr>
                    <a:t>学习一个回归树，得到</a:t>
                  </a:r>
                  <a14:m>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sz="1800" dirty="0">
                      <a:effectLst/>
                      <a:latin typeface="Cambria" panose="02040503050406030204" pitchFamily="18" charset="0"/>
                      <a:ea typeface="SimSun" panose="02010600030101010101" pitchFamily="2" charset="-122"/>
                      <a:cs typeface="Times New Roman" panose="02020603050405020304" pitchFamily="18" charset="0"/>
                    </a:rPr>
                    <a:t>, </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oMath>
                  </a14:m>
                  <a:r>
                    <a:rPr lang="zh-CN" sz="1800" dirty="0">
                      <a:effectLst/>
                      <a:latin typeface="Cambria" panose="02040503050406030204" pitchFamily="18" charset="0"/>
                      <a:ea typeface="SimSun" panose="02010600030101010101" pitchFamily="2" charset="-122"/>
                      <a:cs typeface="Times New Roman" panose="02020603050405020304" pitchFamily="18" charset="0"/>
                    </a:rPr>
                    <a:t>为第</a:t>
                  </a:r>
                  <a:r>
                    <a:rPr lang="en-US" sz="1800" dirty="0">
                      <a:effectLst/>
                      <a:latin typeface="Cambria" panose="02040503050406030204" pitchFamily="18" charset="0"/>
                      <a:ea typeface="SimSun" panose="02010600030101010101" pitchFamily="2" charset="-122"/>
                      <a:cs typeface="Times New Roman" panose="02020603050405020304" pitchFamily="18" charset="0"/>
                    </a:rPr>
                    <a:t>m</a:t>
                  </a:r>
                  <a:r>
                    <a:rPr lang="zh-CN" sz="1800" dirty="0">
                      <a:effectLst/>
                      <a:latin typeface="Cambria" panose="02040503050406030204" pitchFamily="18" charset="0"/>
                      <a:ea typeface="SimSun" panose="02010600030101010101" pitchFamily="2" charset="-122"/>
                      <a:cs typeface="Times New Roman" panose="02020603050405020304" pitchFamily="18" charset="0"/>
                    </a:rPr>
                    <a:t>颗树的参数。</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5.       </a:t>
                  </a:r>
                  <a:r>
                    <a:rPr lang="zh-CN" sz="1800" dirty="0">
                      <a:effectLst/>
                      <a:latin typeface="Cambria" panose="02040503050406030204" pitchFamily="18" charset="0"/>
                      <a:ea typeface="SimSun" panose="02010600030101010101" pitchFamily="2" charset="-122"/>
                      <a:cs typeface="Times New Roman" panose="02020603050405020304" pitchFamily="18" charset="0"/>
                    </a:rPr>
                    <a:t>更新</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5. end</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zh-CN" sz="1800" b="1" dirty="0">
                      <a:effectLst/>
                      <a:latin typeface="Cambria" panose="02040503050406030204" pitchFamily="18" charset="0"/>
                      <a:ea typeface="SimSun" panose="02010600030101010101" pitchFamily="2" charset="-122"/>
                      <a:cs typeface="Times New Roman" panose="02020603050405020304" pitchFamily="18" charset="0"/>
                    </a:rPr>
                    <a:t>输出</a:t>
                  </a:r>
                  <a:r>
                    <a:rPr lang="zh-CN" sz="1800" dirty="0">
                      <a:effectLst/>
                      <a:latin typeface="Cambria" panose="02040503050406030204" pitchFamily="18" charset="0"/>
                      <a:ea typeface="SimSun" panose="02010600030101010101" pitchFamily="2" charset="-122"/>
                      <a:cs typeface="Times New Roman" panose="02020603050405020304" pitchFamily="18" charset="0"/>
                    </a:rPr>
                    <a:t>： 得到提升树</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𝑀</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nary>
                        <m:naryPr>
                          <m:chr m:val="∑"/>
                          <m:limLoc m:val="undOv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naryPr>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up>
                          <m:r>
                            <a:rPr lang="en-US" sz="1800" i="1">
                              <a:effectLst/>
                              <a:latin typeface="Cambria Math" panose="02040503050406030204" pitchFamily="18" charset="0"/>
                              <a:ea typeface="SimSun" panose="02010600030101010101" pitchFamily="2" charset="-122"/>
                              <a:cs typeface="Times New Roman" panose="02020603050405020304" pitchFamily="18" charset="0"/>
                            </a:rPr>
                            <m:t>𝑀</m:t>
                          </m:r>
                        </m:sup>
                        <m:e>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nary>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FC4B78AE-C81A-704E-BCB0-1AC4C491019C}"/>
                    </a:ext>
                  </a:extLst>
                </p:cNvPr>
                <p:cNvSpPr txBox="1">
                  <a:spLocks noRot="1" noChangeAspect="1" noMove="1" noResize="1" noEditPoints="1" noAdjustHandles="1" noChangeArrowheads="1" noChangeShapeType="1" noTextEdit="1"/>
                </p:cNvSpPr>
                <p:nvPr/>
              </p:nvSpPr>
              <p:spPr>
                <a:xfrm>
                  <a:off x="2918222" y="2088346"/>
                  <a:ext cx="6093618" cy="4285404"/>
                </a:xfrm>
                <a:prstGeom prst="rect">
                  <a:avLst/>
                </a:prstGeom>
                <a:blipFill>
                  <a:blip r:embed="rId3"/>
                  <a:stretch>
                    <a:fillRect l="-624" b="-14201"/>
                  </a:stretch>
                </a:blipFill>
              </p:spPr>
              <p:txBody>
                <a:bodyPr/>
                <a:lstStyle/>
                <a:p>
                  <a:r>
                    <a:rPr lang="en-CN">
                      <a:noFill/>
                    </a:rPr>
                    <a:t> </a:t>
                  </a:r>
                </a:p>
              </p:txBody>
            </p:sp>
          </mc:Fallback>
        </mc:AlternateContent>
        <p:cxnSp>
          <p:nvCxnSpPr>
            <p:cNvPr id="26" name="Straight Connector 25">
              <a:extLst>
                <a:ext uri="{FF2B5EF4-FFF2-40B4-BE49-F238E27FC236}">
                  <a16:creationId xmlns:a16="http://schemas.microsoft.com/office/drawing/2014/main" id="{6C16EA85-F012-9344-98F7-531AD4F109CE}"/>
                </a:ext>
              </a:extLst>
            </p:cNvPr>
            <p:cNvCxnSpPr/>
            <p:nvPr/>
          </p:nvCxnSpPr>
          <p:spPr>
            <a:xfrm>
              <a:off x="2754775" y="2413288"/>
              <a:ext cx="584521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9317877-A0F5-D143-984F-53AE16A17301}"/>
                </a:ext>
              </a:extLst>
            </p:cNvPr>
            <p:cNvCxnSpPr/>
            <p:nvPr/>
          </p:nvCxnSpPr>
          <p:spPr>
            <a:xfrm>
              <a:off x="2754775" y="6373750"/>
              <a:ext cx="5845215" cy="0"/>
            </a:xfrm>
            <a:prstGeom prst="line">
              <a:avLst/>
            </a:prstGeom>
            <a:ln w="12700"/>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3702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p:sp>
        <p:nvSpPr>
          <p:cNvPr id="2" name="TextBox 1">
            <a:extLst>
              <a:ext uri="{FF2B5EF4-FFF2-40B4-BE49-F238E27FC236}">
                <a16:creationId xmlns:a16="http://schemas.microsoft.com/office/drawing/2014/main" id="{23CF0CDF-E9C1-9148-B65B-2907955259EB}"/>
              </a:ext>
            </a:extLst>
          </p:cNvPr>
          <p:cNvSpPr txBox="1"/>
          <p:nvPr/>
        </p:nvSpPr>
        <p:spPr>
          <a:xfrm>
            <a:off x="566962" y="1005737"/>
            <a:ext cx="6988836" cy="461665"/>
          </a:xfrm>
          <a:prstGeom prst="rect">
            <a:avLst/>
          </a:prstGeom>
          <a:noFill/>
        </p:spPr>
        <p:txBody>
          <a:bodyPr wrap="none" rtlCol="0">
            <a:spAutoFit/>
          </a:bodyPr>
          <a:lstStyle/>
          <a:p>
            <a:r>
              <a:rPr lang="en-GB" sz="2400" dirty="0">
                <a:solidFill>
                  <a:srgbClr val="C00000"/>
                </a:solidFill>
                <a:latin typeface="+mn-ea"/>
              </a:rPr>
              <a:t>Decision Tree</a:t>
            </a:r>
            <a:r>
              <a:rPr lang="en-US" altLang="zh-CN" sz="2400" dirty="0">
                <a:latin typeface="+mn-ea"/>
              </a:rPr>
              <a:t>:</a:t>
            </a:r>
            <a:r>
              <a:rPr lang="zh-CN" altLang="en-US" sz="2400" dirty="0">
                <a:latin typeface="+mn-ea"/>
              </a:rPr>
              <a:t> </a:t>
            </a:r>
            <a:r>
              <a:rPr lang="en-GB" altLang="zh-CN" sz="2400" dirty="0">
                <a:latin typeface="+mn-ea"/>
              </a:rPr>
              <a:t>GBDT</a:t>
            </a:r>
            <a:r>
              <a:rPr lang="zh-CN" altLang="en-US" sz="2400" dirty="0">
                <a:latin typeface="+mn-ea"/>
              </a:rPr>
              <a:t>使用的决策树是</a:t>
            </a:r>
            <a:r>
              <a:rPr lang="en-GB" altLang="zh-CN" sz="2400" dirty="0">
                <a:latin typeface="+mn-ea"/>
              </a:rPr>
              <a:t>CART</a:t>
            </a:r>
            <a:r>
              <a:rPr lang="zh-CN" altLang="en-US" sz="2400" dirty="0">
                <a:latin typeface="+mn-ea"/>
              </a:rPr>
              <a:t>回归树</a:t>
            </a:r>
            <a:endParaRPr lang="en-CN" sz="2400" dirty="0">
              <a:latin typeface="+mn-ea"/>
            </a:endParaRPr>
          </a:p>
        </p:txBody>
      </p:sp>
      <p:graphicFrame>
        <p:nvGraphicFramePr>
          <p:cNvPr id="10" name="表格 2">
            <a:extLst>
              <a:ext uri="{FF2B5EF4-FFF2-40B4-BE49-F238E27FC236}">
                <a16:creationId xmlns:a16="http://schemas.microsoft.com/office/drawing/2014/main" id="{436098CF-CDFD-AE42-850B-C900C059D24E}"/>
              </a:ext>
            </a:extLst>
          </p:cNvPr>
          <p:cNvGraphicFramePr>
            <a:graphicFrameLocks noGrp="1"/>
          </p:cNvGraphicFramePr>
          <p:nvPr/>
        </p:nvGraphicFramePr>
        <p:xfrm>
          <a:off x="566962" y="1866586"/>
          <a:ext cx="9804399" cy="792480"/>
        </p:xfrm>
        <a:graphic>
          <a:graphicData uri="http://schemas.openxmlformats.org/drawingml/2006/table">
            <a:tbl>
              <a:tblPr firstRow="1" bandRow="1">
                <a:tableStyleId>{5C22544A-7EE6-4342-B048-85BDC9FD1C3A}</a:tableStyleId>
              </a:tblPr>
              <a:tblGrid>
                <a:gridCol w="891309">
                  <a:extLst>
                    <a:ext uri="{9D8B030D-6E8A-4147-A177-3AD203B41FA5}">
                      <a16:colId xmlns:a16="http://schemas.microsoft.com/office/drawing/2014/main" val="1943997088"/>
                    </a:ext>
                  </a:extLst>
                </a:gridCol>
                <a:gridCol w="891309">
                  <a:extLst>
                    <a:ext uri="{9D8B030D-6E8A-4147-A177-3AD203B41FA5}">
                      <a16:colId xmlns:a16="http://schemas.microsoft.com/office/drawing/2014/main" val="4029609052"/>
                    </a:ext>
                  </a:extLst>
                </a:gridCol>
                <a:gridCol w="891309">
                  <a:extLst>
                    <a:ext uri="{9D8B030D-6E8A-4147-A177-3AD203B41FA5}">
                      <a16:colId xmlns:a16="http://schemas.microsoft.com/office/drawing/2014/main" val="2195620660"/>
                    </a:ext>
                  </a:extLst>
                </a:gridCol>
                <a:gridCol w="891309">
                  <a:extLst>
                    <a:ext uri="{9D8B030D-6E8A-4147-A177-3AD203B41FA5}">
                      <a16:colId xmlns:a16="http://schemas.microsoft.com/office/drawing/2014/main" val="1744851731"/>
                    </a:ext>
                  </a:extLst>
                </a:gridCol>
                <a:gridCol w="891309">
                  <a:extLst>
                    <a:ext uri="{9D8B030D-6E8A-4147-A177-3AD203B41FA5}">
                      <a16:colId xmlns:a16="http://schemas.microsoft.com/office/drawing/2014/main" val="3601791417"/>
                    </a:ext>
                  </a:extLst>
                </a:gridCol>
                <a:gridCol w="891309">
                  <a:extLst>
                    <a:ext uri="{9D8B030D-6E8A-4147-A177-3AD203B41FA5}">
                      <a16:colId xmlns:a16="http://schemas.microsoft.com/office/drawing/2014/main" val="3025800682"/>
                    </a:ext>
                  </a:extLst>
                </a:gridCol>
                <a:gridCol w="891309">
                  <a:extLst>
                    <a:ext uri="{9D8B030D-6E8A-4147-A177-3AD203B41FA5}">
                      <a16:colId xmlns:a16="http://schemas.microsoft.com/office/drawing/2014/main" val="1737094578"/>
                    </a:ext>
                  </a:extLst>
                </a:gridCol>
                <a:gridCol w="891309">
                  <a:extLst>
                    <a:ext uri="{9D8B030D-6E8A-4147-A177-3AD203B41FA5}">
                      <a16:colId xmlns:a16="http://schemas.microsoft.com/office/drawing/2014/main" val="3368189512"/>
                    </a:ext>
                  </a:extLst>
                </a:gridCol>
                <a:gridCol w="891309">
                  <a:extLst>
                    <a:ext uri="{9D8B030D-6E8A-4147-A177-3AD203B41FA5}">
                      <a16:colId xmlns:a16="http://schemas.microsoft.com/office/drawing/2014/main" val="2594485810"/>
                    </a:ext>
                  </a:extLst>
                </a:gridCol>
                <a:gridCol w="891309">
                  <a:extLst>
                    <a:ext uri="{9D8B030D-6E8A-4147-A177-3AD203B41FA5}">
                      <a16:colId xmlns:a16="http://schemas.microsoft.com/office/drawing/2014/main" val="1267090519"/>
                    </a:ext>
                  </a:extLst>
                </a:gridCol>
                <a:gridCol w="891309">
                  <a:extLst>
                    <a:ext uri="{9D8B030D-6E8A-4147-A177-3AD203B41FA5}">
                      <a16:colId xmlns:a16="http://schemas.microsoft.com/office/drawing/2014/main" val="726181432"/>
                    </a:ext>
                  </a:extLst>
                </a:gridCol>
              </a:tblGrid>
              <a:tr h="370840">
                <a:tc>
                  <a:txBody>
                    <a:bodyPr/>
                    <a:lstStyle/>
                    <a:p>
                      <a:pPr algn="ctr"/>
                      <a:r>
                        <a:rPr lang="en-US" altLang="zh-CN" sz="2000" dirty="0">
                          <a:latin typeface="Times New Roman" panose="02020603050405020304" pitchFamily="18" charset="0"/>
                          <a:cs typeface="Times New Roman" panose="02020603050405020304" pitchFamily="18" charset="0"/>
                        </a:rPr>
                        <a:t>x</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4</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370840">
                <a:tc>
                  <a:txBody>
                    <a:bodyPr/>
                    <a:lstStyle/>
                    <a:p>
                      <a:pPr algn="ctr"/>
                      <a:r>
                        <a:rPr lang="en-US" altLang="zh-CN" sz="2000" dirty="0">
                          <a:latin typeface="Times New Roman" panose="02020603050405020304" pitchFamily="18" charset="0"/>
                          <a:cs typeface="Times New Roman" panose="02020603050405020304" pitchFamily="18" charset="0"/>
                        </a:rPr>
                        <a:t>y</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5.56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5.70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5.91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6.40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6.80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7.05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8.90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8.70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9.00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9.05</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mc:AlternateContent xmlns:mc="http://schemas.openxmlformats.org/markup-compatibility/2006" xmlns:a14="http://schemas.microsoft.com/office/drawing/2010/main">
        <mc:Choice Requires="a14">
          <p:sp>
            <p:nvSpPr>
              <p:cNvPr id="11" name="矩形 4">
                <a:extLst>
                  <a:ext uri="{FF2B5EF4-FFF2-40B4-BE49-F238E27FC236}">
                    <a16:creationId xmlns:a16="http://schemas.microsoft.com/office/drawing/2014/main" id="{EB7F6915-AEAC-9640-8870-200BFF36D5CF}"/>
                  </a:ext>
                </a:extLst>
              </p:cNvPr>
              <p:cNvSpPr/>
              <p:nvPr/>
            </p:nvSpPr>
            <p:spPr>
              <a:xfrm>
                <a:off x="566962" y="2780986"/>
                <a:ext cx="9755812" cy="1614096"/>
              </a:xfrm>
              <a:prstGeom prst="rect">
                <a:avLst/>
              </a:prstGeom>
            </p:spPr>
            <p:txBody>
              <a:bodyPr wrap="none">
                <a:spAutoFit/>
              </a:bodyPr>
              <a:lstStyle/>
              <a:p>
                <a:pPr lvl="0">
                  <a:lnSpc>
                    <a:spcPct val="150000"/>
                  </a:lnSpc>
                </a:pPr>
                <a:r>
                  <a:rPr lang="zh-CN" altLang="en-US" sz="2000" dirty="0">
                    <a:solidFill>
                      <a:prstClr val="black"/>
                    </a:solidFill>
                    <a:latin typeface="微软雅黑"/>
                  </a:rPr>
                  <a:t>将</a:t>
                </a:r>
                <a:r>
                  <a:rPr lang="en-US" altLang="zh-CN" sz="2000" dirty="0">
                    <a:solidFill>
                      <a:prstClr val="black"/>
                    </a:solidFill>
                    <a:latin typeface="微软雅黑"/>
                  </a:rPr>
                  <a:t>x</a:t>
                </a:r>
                <a:r>
                  <a:rPr lang="zh-CN" altLang="en-US" sz="2000" dirty="0">
                    <a:solidFill>
                      <a:prstClr val="black"/>
                    </a:solidFill>
                    <a:latin typeface="微软雅黑"/>
                  </a:rPr>
                  <a:t>看成一个连续变量，切分点集合</a:t>
                </a:r>
                <a:r>
                  <a:rPr lang="en-US" altLang="zh-CN" sz="2000" dirty="0">
                    <a:solidFill>
                      <a:prstClr val="black"/>
                    </a:solidFill>
                    <a:latin typeface="微软雅黑"/>
                  </a:rPr>
                  <a:t>{1.5, 2.5, 3.5, 4.5, 5.5, 6.5, 7.5, 8.5, 9.5}</a:t>
                </a:r>
              </a:p>
              <a:p>
                <a:pPr lvl="0">
                  <a:lnSpc>
                    <a:spcPct val="150000"/>
                  </a:lnSpc>
                </a:pPr>
                <a:r>
                  <a:rPr lang="zh-CN" altLang="en-US" sz="2000" dirty="0">
                    <a:solidFill>
                      <a:prstClr val="black"/>
                    </a:solidFill>
                    <a:latin typeface="微软雅黑"/>
                  </a:rPr>
                  <a:t>引入</a:t>
                </a:r>
                <a:r>
                  <a:rPr lang="en-US" altLang="zh-CN" sz="2000" dirty="0">
                    <a:solidFill>
                      <a:prstClr val="black"/>
                    </a:solidFill>
                    <a:latin typeface="微软雅黑"/>
                  </a:rPr>
                  <a:t>3</a:t>
                </a:r>
                <a:r>
                  <a:rPr lang="zh-CN" altLang="en-US" sz="2000" dirty="0">
                    <a:solidFill>
                      <a:prstClr val="black"/>
                    </a:solidFill>
                    <a:latin typeface="微软雅黑"/>
                  </a:rPr>
                  <a:t>个变量①</a:t>
                </a:r>
                <a14:m>
                  <m:oMath xmlns:m="http://schemas.openxmlformats.org/officeDocument/2006/math">
                    <m:sSub>
                      <m:sSubPr>
                        <m:ctrlPr>
                          <a:rPr lang="en-US" altLang="zh-CN" sz="2000" i="1">
                            <a:solidFill>
                              <a:schemeClr val="accent1"/>
                            </a:solidFill>
                            <a:latin typeface="Cambria Math" panose="02040503050406030204" pitchFamily="18" charset="0"/>
                          </a:rPr>
                        </m:ctrlPr>
                      </m:sSubPr>
                      <m:e>
                        <m:r>
                          <a:rPr lang="en-US" altLang="zh-CN" sz="2000" i="1">
                            <a:solidFill>
                              <a:schemeClr val="accent1"/>
                            </a:solidFill>
                            <a:latin typeface="Cambria Math" panose="02040503050406030204" pitchFamily="18" charset="0"/>
                          </a:rPr>
                          <m:t>𝑐</m:t>
                        </m:r>
                      </m:e>
                      <m:sub>
                        <m:r>
                          <a:rPr lang="en-US" altLang="zh-CN" sz="2000" i="1">
                            <a:solidFill>
                              <a:schemeClr val="accent1"/>
                            </a:solidFill>
                            <a:latin typeface="Cambria Math" panose="02040503050406030204" pitchFamily="18" charset="0"/>
                          </a:rPr>
                          <m:t>1</m:t>
                        </m:r>
                      </m:sub>
                    </m:sSub>
                    <m:r>
                      <a:rPr lang="en-US" altLang="zh-CN" sz="2000" b="0" i="1" smtClean="0">
                        <a:solidFill>
                          <a:schemeClr val="accent1"/>
                        </a:solidFill>
                        <a:latin typeface="Cambria Math" panose="02040503050406030204" pitchFamily="18" charset="0"/>
                      </a:rPr>
                      <m:t>,</m:t>
                    </m:r>
                  </m:oMath>
                </a14:m>
                <a:r>
                  <a:rPr lang="en-US" altLang="zh-CN" sz="2000" dirty="0">
                    <a:solidFill>
                      <a:schemeClr val="accent1"/>
                    </a:solidFill>
                  </a:rPr>
                  <a:t> </a:t>
                </a:r>
                <a14:m>
                  <m:oMath xmlns:m="http://schemas.openxmlformats.org/officeDocument/2006/math">
                    <m:sSub>
                      <m:sSubPr>
                        <m:ctrlPr>
                          <a:rPr lang="en-US" altLang="zh-CN" sz="2000" i="1">
                            <a:solidFill>
                              <a:schemeClr val="accent1"/>
                            </a:solidFill>
                            <a:latin typeface="Cambria Math" panose="02040503050406030204" pitchFamily="18" charset="0"/>
                          </a:rPr>
                        </m:ctrlPr>
                      </m:sSubPr>
                      <m:e>
                        <m:r>
                          <a:rPr lang="en-US" altLang="zh-CN" sz="2000" i="1">
                            <a:solidFill>
                              <a:schemeClr val="accent1"/>
                            </a:solidFill>
                            <a:latin typeface="Cambria Math" panose="02040503050406030204" pitchFamily="18" charset="0"/>
                          </a:rPr>
                          <m:t>𝑐</m:t>
                        </m:r>
                      </m:e>
                      <m:sub>
                        <m:r>
                          <a:rPr lang="en-US" altLang="zh-CN" sz="2000" i="1">
                            <a:solidFill>
                              <a:schemeClr val="accent1"/>
                            </a:solidFill>
                            <a:latin typeface="Cambria Math" panose="02040503050406030204" pitchFamily="18" charset="0"/>
                          </a:rPr>
                          <m:t>2</m:t>
                        </m:r>
                      </m:sub>
                    </m:sSub>
                    <m:r>
                      <a:rPr lang="zh-CN" altLang="en-US" sz="2000" i="1" smtClean="0">
                        <a:solidFill>
                          <a:schemeClr val="tx1"/>
                        </a:solidFill>
                        <a:latin typeface="Cambria Math" panose="02040503050406030204" pitchFamily="18" charset="0"/>
                      </a:rPr>
                      <m:t>，</m:t>
                    </m:r>
                  </m:oMath>
                </a14:m>
                <a:r>
                  <a:rPr lang="zh-CN" altLang="en-US" sz="2000" dirty="0">
                    <a:solidFill>
                      <a:prstClr val="black"/>
                    </a:solidFill>
                    <a:latin typeface="微软雅黑"/>
                  </a:rPr>
                  <a:t>分别为</a:t>
                </a:r>
                <a14:m>
                  <m:oMath xmlns:m="http://schemas.openxmlformats.org/officeDocument/2006/math">
                    <m:sSub>
                      <m:sSubPr>
                        <m:ctrlPr>
                          <a:rPr lang="en-US" altLang="zh-CN" sz="2000" i="1">
                            <a:solidFill>
                              <a:schemeClr val="accent1"/>
                            </a:solidFill>
                            <a:latin typeface="Cambria Math" panose="02040503050406030204" pitchFamily="18" charset="0"/>
                          </a:rPr>
                        </m:ctrlPr>
                      </m:sSubPr>
                      <m:e>
                        <m:r>
                          <a:rPr lang="en-US" altLang="zh-CN" sz="2000" i="1">
                            <a:solidFill>
                              <a:schemeClr val="accent1"/>
                            </a:solidFill>
                            <a:latin typeface="Cambria Math" panose="02040503050406030204" pitchFamily="18" charset="0"/>
                          </a:rPr>
                          <m:t>𝐷</m:t>
                        </m:r>
                      </m:e>
                      <m:sub>
                        <m:r>
                          <a:rPr lang="en-US" altLang="zh-CN" sz="2000" i="1">
                            <a:solidFill>
                              <a:schemeClr val="accent1"/>
                            </a:solidFill>
                            <a:latin typeface="Cambria Math" panose="02040503050406030204" pitchFamily="18" charset="0"/>
                          </a:rPr>
                          <m:t>1</m:t>
                        </m:r>
                      </m:sub>
                    </m:sSub>
                  </m:oMath>
                </a14:m>
                <a:r>
                  <a:rPr lang="zh-CN" altLang="en-US" sz="2000" dirty="0">
                    <a:solidFill>
                      <a:srgbClr val="0070C0"/>
                    </a:solidFill>
                    <a:latin typeface="Times New Roman" panose="02020603050405020304" pitchFamily="18" charset="0"/>
                    <a:cs typeface="Times New Roman" panose="02020603050405020304" pitchFamily="18" charset="0"/>
                  </a:rPr>
                  <a:t>数据集和</a:t>
                </a:r>
                <a14:m>
                  <m:oMath xmlns:m="http://schemas.openxmlformats.org/officeDocument/2006/math">
                    <m:sSub>
                      <m:sSubPr>
                        <m:ctrlPr>
                          <a:rPr lang="en-US" altLang="zh-CN" sz="2000" i="1">
                            <a:solidFill>
                              <a:schemeClr val="accent1"/>
                            </a:solidFill>
                            <a:latin typeface="Cambria Math" panose="02040503050406030204" pitchFamily="18" charset="0"/>
                          </a:rPr>
                        </m:ctrlPr>
                      </m:sSubPr>
                      <m:e>
                        <m:r>
                          <a:rPr lang="en-US" altLang="zh-CN" sz="2000" i="1">
                            <a:solidFill>
                              <a:schemeClr val="accent1"/>
                            </a:solidFill>
                            <a:latin typeface="Cambria Math" panose="02040503050406030204" pitchFamily="18" charset="0"/>
                          </a:rPr>
                          <m:t>𝐷</m:t>
                        </m:r>
                      </m:e>
                      <m:sub>
                        <m:r>
                          <a:rPr lang="en-US" altLang="zh-CN" sz="2000" i="1">
                            <a:solidFill>
                              <a:schemeClr val="accent1"/>
                            </a:solidFill>
                            <a:latin typeface="Cambria Math" panose="02040503050406030204" pitchFamily="18" charset="0"/>
                          </a:rPr>
                          <m:t>2</m:t>
                        </m:r>
                      </m:sub>
                    </m:sSub>
                  </m:oMath>
                </a14:m>
                <a:r>
                  <a:rPr lang="zh-CN" altLang="en-US" sz="2000" dirty="0">
                    <a:solidFill>
                      <a:srgbClr val="0070C0"/>
                    </a:solidFill>
                    <a:latin typeface="Times New Roman" panose="02020603050405020304" pitchFamily="18" charset="0"/>
                    <a:cs typeface="Times New Roman" panose="02020603050405020304" pitchFamily="18" charset="0"/>
                  </a:rPr>
                  <a:t>数据集的均值</a:t>
                </a:r>
                <a:endParaRPr lang="en-US" altLang="zh-CN" sz="2000" dirty="0">
                  <a:solidFill>
                    <a:srgbClr val="0070C0"/>
                  </a:solidFill>
                  <a:latin typeface="Times New Roman" panose="02020603050405020304" pitchFamily="18" charset="0"/>
                  <a:cs typeface="Times New Roman" panose="02020603050405020304" pitchFamily="18" charset="0"/>
                </a:endParaRPr>
              </a:p>
              <a:p>
                <a:pPr lvl="0">
                  <a:lnSpc>
                    <a:spcPct val="150000"/>
                  </a:lnSpc>
                </a:pPr>
                <a:r>
                  <a:rPr lang="zh-CN" altLang="en-US" sz="2000" dirty="0">
                    <a:latin typeface="Times New Roman" panose="02020603050405020304" pitchFamily="18" charset="0"/>
                    <a:cs typeface="Times New Roman" panose="02020603050405020304" pitchFamily="18" charset="0"/>
                  </a:rPr>
                  <a:t>②</a:t>
                </a:r>
                <a14:m>
                  <m:oMath xmlns:m="http://schemas.openxmlformats.org/officeDocument/2006/math">
                    <m:func>
                      <m:funcPr>
                        <m:ctrlPr>
                          <a:rPr lang="en-US" altLang="zh-CN" i="1">
                            <a:solidFill>
                              <a:srgbClr val="006BCC"/>
                            </a:solidFill>
                            <a:latin typeface="Cambria Math" panose="02040503050406030204" pitchFamily="18" charset="0"/>
                          </a:rPr>
                        </m:ctrlPr>
                      </m:funcPr>
                      <m:fName>
                        <m:r>
                          <a:rPr lang="en-US" altLang="zh-CN" b="0" i="1" smtClean="0">
                            <a:solidFill>
                              <a:srgbClr val="006BCC"/>
                            </a:solidFill>
                            <a:latin typeface="Cambria Math" panose="02040503050406030204" pitchFamily="18" charset="0"/>
                          </a:rPr>
                          <m:t>𝑚</m:t>
                        </m:r>
                        <m:d>
                          <m:dPr>
                            <m:ctrlPr>
                              <a:rPr lang="en-US" altLang="zh-CN" b="0" i="1" smtClean="0">
                                <a:solidFill>
                                  <a:srgbClr val="006BCC"/>
                                </a:solidFill>
                                <a:latin typeface="Cambria Math" panose="02040503050406030204" pitchFamily="18" charset="0"/>
                              </a:rPr>
                            </m:ctrlPr>
                          </m:dPr>
                          <m:e>
                            <m:r>
                              <a:rPr lang="en-US" altLang="zh-CN" b="0" i="1" smtClean="0">
                                <a:solidFill>
                                  <a:srgbClr val="006BCC"/>
                                </a:solidFill>
                                <a:latin typeface="Cambria Math" panose="02040503050406030204" pitchFamily="18" charset="0"/>
                              </a:rPr>
                              <m:t>𝑠</m:t>
                            </m:r>
                          </m:e>
                        </m:d>
                        <m:r>
                          <a:rPr lang="en-US" altLang="zh-CN" b="0" i="1" smtClean="0">
                            <a:solidFill>
                              <a:srgbClr val="006BCC"/>
                            </a:solidFill>
                            <a:latin typeface="Cambria Math" panose="02040503050406030204" pitchFamily="18" charset="0"/>
                          </a:rPr>
                          <m:t>=</m:t>
                        </m:r>
                        <m:limLow>
                          <m:limLowPr>
                            <m:ctrlPr>
                              <a:rPr lang="en-US" altLang="zh-CN" i="1">
                                <a:solidFill>
                                  <a:srgbClr val="006BCC"/>
                                </a:solidFill>
                                <a:latin typeface="Cambria Math" panose="02040503050406030204" pitchFamily="18" charset="0"/>
                              </a:rPr>
                            </m:ctrlPr>
                          </m:limLowPr>
                          <m:e>
                            <m:r>
                              <m:rPr>
                                <m:sty m:val="p"/>
                              </m:rPr>
                              <a:rPr lang="en-US" altLang="zh-CN">
                                <a:solidFill>
                                  <a:srgbClr val="006BCC"/>
                                </a:solidFill>
                                <a:latin typeface="Cambria Math" panose="02040503050406030204" pitchFamily="18" charset="0"/>
                              </a:rPr>
                              <m:t>min</m:t>
                            </m:r>
                          </m:e>
                          <m:lim>
                            <m:r>
                              <a:rPr lang="en-US" altLang="zh-CN" i="1">
                                <a:solidFill>
                                  <a:srgbClr val="006BCC"/>
                                </a:solidFill>
                                <a:latin typeface="Cambria Math" panose="02040503050406030204" pitchFamily="18" charset="0"/>
                              </a:rPr>
                              <m:t>𝐴</m:t>
                            </m:r>
                            <m:r>
                              <a:rPr lang="en-US" altLang="zh-CN" i="1">
                                <a:solidFill>
                                  <a:srgbClr val="006BCC"/>
                                </a:solidFill>
                                <a:latin typeface="Cambria Math" panose="02040503050406030204" pitchFamily="18" charset="0"/>
                              </a:rPr>
                              <m:t>,</m:t>
                            </m:r>
                            <m:r>
                              <a:rPr lang="en-US" altLang="zh-CN" i="1">
                                <a:solidFill>
                                  <a:srgbClr val="006BCC"/>
                                </a:solidFill>
                                <a:latin typeface="Cambria Math" panose="02040503050406030204" pitchFamily="18" charset="0"/>
                              </a:rPr>
                              <m:t>𝑠</m:t>
                            </m:r>
                          </m:lim>
                        </m:limLow>
                      </m:fName>
                      <m:e>
                        <m:r>
                          <a:rPr lang="en-US" altLang="zh-CN" i="1">
                            <a:solidFill>
                              <a:srgbClr val="006BCC"/>
                            </a:solidFill>
                            <a:latin typeface="Cambria Math" panose="02040503050406030204" pitchFamily="18" charset="0"/>
                          </a:rPr>
                          <m:t>[</m:t>
                        </m:r>
                        <m:func>
                          <m:funcPr>
                            <m:ctrlPr>
                              <a:rPr lang="en-US" altLang="zh-CN" i="1">
                                <a:solidFill>
                                  <a:srgbClr val="006BCC"/>
                                </a:solidFill>
                                <a:latin typeface="Cambria Math" panose="02040503050406030204" pitchFamily="18" charset="0"/>
                              </a:rPr>
                            </m:ctrlPr>
                          </m:funcPr>
                          <m:fName>
                            <m:limLow>
                              <m:limLowPr>
                                <m:ctrlPr>
                                  <a:rPr lang="en-US" altLang="zh-CN" i="1">
                                    <a:solidFill>
                                      <a:srgbClr val="006BCC"/>
                                    </a:solidFill>
                                    <a:latin typeface="Cambria Math" panose="02040503050406030204" pitchFamily="18" charset="0"/>
                                  </a:rPr>
                                </m:ctrlPr>
                              </m:limLowPr>
                              <m:e>
                                <m:r>
                                  <m:rPr>
                                    <m:sty m:val="p"/>
                                  </m:rPr>
                                  <a:rPr lang="en-US" altLang="zh-CN">
                                    <a:solidFill>
                                      <a:srgbClr val="006BCC"/>
                                    </a:solidFill>
                                    <a:latin typeface="Cambria Math" panose="02040503050406030204" pitchFamily="18" charset="0"/>
                                  </a:rPr>
                                  <m:t>min</m:t>
                                </m:r>
                              </m:e>
                              <m:lim>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𝑐</m:t>
                                    </m:r>
                                  </m:e>
                                  <m:sub>
                                    <m:r>
                                      <a:rPr lang="en-US" altLang="zh-CN" i="1">
                                        <a:solidFill>
                                          <a:srgbClr val="006BCC"/>
                                        </a:solidFill>
                                        <a:latin typeface="Cambria Math" panose="02040503050406030204" pitchFamily="18" charset="0"/>
                                      </a:rPr>
                                      <m:t>1</m:t>
                                    </m:r>
                                  </m:sub>
                                </m:sSub>
                              </m:lim>
                            </m:limLow>
                          </m:fName>
                          <m:e>
                            <m:nary>
                              <m:naryPr>
                                <m:chr m:val="∑"/>
                                <m:supHide m:val="on"/>
                                <m:ctrlPr>
                                  <a:rPr lang="en-US" altLang="zh-CN" i="1">
                                    <a:solidFill>
                                      <a:srgbClr val="006BCC"/>
                                    </a:solidFill>
                                    <a:latin typeface="Cambria Math" panose="02040503050406030204" pitchFamily="18" charset="0"/>
                                  </a:rPr>
                                </m:ctrlPr>
                              </m:naryPr>
                              <m:sub>
                                <m:sSub>
                                  <m:sSubPr>
                                    <m:ctrlPr>
                                      <a:rPr lang="en-US" altLang="zh-CN" i="1">
                                        <a:solidFill>
                                          <a:srgbClr val="006BCC"/>
                                        </a:solidFill>
                                        <a:latin typeface="Cambria Math" panose="02040503050406030204" pitchFamily="18" charset="0"/>
                                      </a:rPr>
                                    </m:ctrlPr>
                                  </m:sSubPr>
                                  <m:e>
                                    <m:r>
                                      <m:rPr>
                                        <m:brk m:alnAt="7"/>
                                      </m:rPr>
                                      <a:rPr lang="en-US" altLang="zh-CN" i="1">
                                        <a:solidFill>
                                          <a:srgbClr val="006BCC"/>
                                        </a:solidFill>
                                        <a:latin typeface="Cambria Math" panose="02040503050406030204" pitchFamily="18" charset="0"/>
                                      </a:rPr>
                                      <m:t>𝑥</m:t>
                                    </m:r>
                                  </m:e>
                                  <m:sub>
                                    <m:r>
                                      <a:rPr lang="en-US" altLang="zh-CN" i="1">
                                        <a:solidFill>
                                          <a:srgbClr val="006BCC"/>
                                        </a:solidFill>
                                        <a:latin typeface="Cambria Math" panose="02040503050406030204" pitchFamily="18" charset="0"/>
                                      </a:rPr>
                                      <m:t>𝑖</m:t>
                                    </m:r>
                                  </m:sub>
                                </m:sSub>
                                <m:r>
                                  <m:rPr>
                                    <m:brk m:alnAt="7"/>
                                  </m:rPr>
                                  <a:rPr lang="en-US" altLang="zh-CN" i="1">
                                    <a:solidFill>
                                      <a:srgbClr val="006BCC"/>
                                    </a:solidFill>
                                    <a:latin typeface="Cambria Math" panose="02040503050406030204" pitchFamily="18" charset="0"/>
                                    <a:ea typeface="Cambria Math" panose="02040503050406030204" pitchFamily="18" charset="0"/>
                                  </a:rPr>
                                  <m:t>∈</m:t>
                                </m:r>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𝐷</m:t>
                                    </m:r>
                                  </m:e>
                                  <m:sub>
                                    <m:r>
                                      <a:rPr lang="en-US" altLang="zh-CN" i="1">
                                        <a:solidFill>
                                          <a:srgbClr val="006BCC"/>
                                        </a:solidFill>
                                        <a:latin typeface="Cambria Math" panose="02040503050406030204" pitchFamily="18" charset="0"/>
                                      </a:rPr>
                                      <m:t>1</m:t>
                                    </m:r>
                                  </m:sub>
                                </m:sSub>
                              </m:sub>
                              <m:sup/>
                              <m:e>
                                <m:sSup>
                                  <m:sSupPr>
                                    <m:ctrlPr>
                                      <a:rPr lang="en-US" altLang="zh-CN" i="1">
                                        <a:solidFill>
                                          <a:srgbClr val="006BCC"/>
                                        </a:solidFill>
                                        <a:latin typeface="Cambria Math" panose="02040503050406030204" pitchFamily="18" charset="0"/>
                                      </a:rPr>
                                    </m:ctrlPr>
                                  </m:sSupPr>
                                  <m:e>
                                    <m:d>
                                      <m:dPr>
                                        <m:ctrlPr>
                                          <a:rPr lang="en-US" altLang="zh-CN" i="1">
                                            <a:solidFill>
                                              <a:srgbClr val="006BCC"/>
                                            </a:solidFill>
                                            <a:latin typeface="Cambria Math" panose="02040503050406030204" pitchFamily="18" charset="0"/>
                                          </a:rPr>
                                        </m:ctrlPr>
                                      </m:dPr>
                                      <m:e>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𝑦</m:t>
                                            </m:r>
                                          </m:e>
                                          <m:sub>
                                            <m:r>
                                              <a:rPr lang="en-US" altLang="zh-CN" i="1">
                                                <a:solidFill>
                                                  <a:srgbClr val="006BCC"/>
                                                </a:solidFill>
                                                <a:latin typeface="Cambria Math" panose="02040503050406030204" pitchFamily="18" charset="0"/>
                                              </a:rPr>
                                              <m:t>𝑖</m:t>
                                            </m:r>
                                          </m:sub>
                                        </m:sSub>
                                        <m:r>
                                          <a:rPr lang="en-US" altLang="zh-CN" i="1">
                                            <a:solidFill>
                                              <a:srgbClr val="006BCC"/>
                                            </a:solidFill>
                                            <a:latin typeface="Cambria Math" panose="02040503050406030204" pitchFamily="18" charset="0"/>
                                          </a:rPr>
                                          <m:t>−</m:t>
                                        </m:r>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𝑐</m:t>
                                            </m:r>
                                          </m:e>
                                          <m:sub>
                                            <m:r>
                                              <a:rPr lang="en-US" altLang="zh-CN" i="1">
                                                <a:solidFill>
                                                  <a:srgbClr val="006BCC"/>
                                                </a:solidFill>
                                                <a:latin typeface="Cambria Math" panose="02040503050406030204" pitchFamily="18" charset="0"/>
                                              </a:rPr>
                                              <m:t>1</m:t>
                                            </m:r>
                                          </m:sub>
                                        </m:sSub>
                                      </m:e>
                                    </m:d>
                                  </m:e>
                                  <m:sup>
                                    <m:r>
                                      <a:rPr lang="en-US" altLang="zh-CN" i="1">
                                        <a:solidFill>
                                          <a:srgbClr val="006BCC"/>
                                        </a:solidFill>
                                        <a:latin typeface="Cambria Math" panose="02040503050406030204" pitchFamily="18" charset="0"/>
                                      </a:rPr>
                                      <m:t>2</m:t>
                                    </m:r>
                                  </m:sup>
                                </m:sSup>
                              </m:e>
                            </m:nary>
                          </m:e>
                        </m:func>
                        <m:r>
                          <a:rPr lang="en-US" altLang="zh-CN" i="1">
                            <a:solidFill>
                              <a:srgbClr val="006BCC"/>
                            </a:solidFill>
                            <a:latin typeface="Cambria Math" panose="02040503050406030204" pitchFamily="18" charset="0"/>
                          </a:rPr>
                          <m:t>+</m:t>
                        </m:r>
                        <m:func>
                          <m:funcPr>
                            <m:ctrlPr>
                              <a:rPr lang="en-US" altLang="zh-CN" i="1">
                                <a:solidFill>
                                  <a:srgbClr val="006BCC"/>
                                </a:solidFill>
                                <a:latin typeface="Cambria Math" panose="02040503050406030204" pitchFamily="18" charset="0"/>
                              </a:rPr>
                            </m:ctrlPr>
                          </m:funcPr>
                          <m:fName>
                            <m:limLow>
                              <m:limLowPr>
                                <m:ctrlPr>
                                  <a:rPr lang="en-US" altLang="zh-CN" i="1">
                                    <a:solidFill>
                                      <a:srgbClr val="006BCC"/>
                                    </a:solidFill>
                                    <a:latin typeface="Cambria Math" panose="02040503050406030204" pitchFamily="18" charset="0"/>
                                  </a:rPr>
                                </m:ctrlPr>
                              </m:limLowPr>
                              <m:e>
                                <m:r>
                                  <m:rPr>
                                    <m:sty m:val="p"/>
                                  </m:rPr>
                                  <a:rPr lang="en-US" altLang="zh-CN">
                                    <a:solidFill>
                                      <a:srgbClr val="006BCC"/>
                                    </a:solidFill>
                                    <a:latin typeface="Cambria Math" panose="02040503050406030204" pitchFamily="18" charset="0"/>
                                  </a:rPr>
                                  <m:t>min</m:t>
                                </m:r>
                              </m:e>
                              <m:lim>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𝑐</m:t>
                                    </m:r>
                                  </m:e>
                                  <m:sub>
                                    <m:r>
                                      <a:rPr lang="en-US" altLang="zh-CN" i="1">
                                        <a:solidFill>
                                          <a:srgbClr val="006BCC"/>
                                        </a:solidFill>
                                        <a:latin typeface="Cambria Math" panose="02040503050406030204" pitchFamily="18" charset="0"/>
                                      </a:rPr>
                                      <m:t>2</m:t>
                                    </m:r>
                                  </m:sub>
                                </m:sSub>
                              </m:lim>
                            </m:limLow>
                          </m:fName>
                          <m:e>
                            <m:nary>
                              <m:naryPr>
                                <m:chr m:val="∑"/>
                                <m:supHide m:val="on"/>
                                <m:ctrlPr>
                                  <a:rPr lang="en-US" altLang="zh-CN" i="1">
                                    <a:solidFill>
                                      <a:srgbClr val="006BCC"/>
                                    </a:solidFill>
                                    <a:latin typeface="Cambria Math" panose="02040503050406030204" pitchFamily="18" charset="0"/>
                                  </a:rPr>
                                </m:ctrlPr>
                              </m:naryPr>
                              <m:sub>
                                <m:sSub>
                                  <m:sSubPr>
                                    <m:ctrlPr>
                                      <a:rPr lang="en-US" altLang="zh-CN" i="1">
                                        <a:solidFill>
                                          <a:srgbClr val="006BCC"/>
                                        </a:solidFill>
                                        <a:latin typeface="Cambria Math" panose="02040503050406030204" pitchFamily="18" charset="0"/>
                                      </a:rPr>
                                    </m:ctrlPr>
                                  </m:sSubPr>
                                  <m:e>
                                    <m:r>
                                      <m:rPr>
                                        <m:brk m:alnAt="7"/>
                                      </m:rPr>
                                      <a:rPr lang="en-US" altLang="zh-CN" i="1">
                                        <a:solidFill>
                                          <a:srgbClr val="006BCC"/>
                                        </a:solidFill>
                                        <a:latin typeface="Cambria Math" panose="02040503050406030204" pitchFamily="18" charset="0"/>
                                      </a:rPr>
                                      <m:t>𝑥</m:t>
                                    </m:r>
                                  </m:e>
                                  <m:sub>
                                    <m:r>
                                      <a:rPr lang="en-US" altLang="zh-CN" i="1">
                                        <a:solidFill>
                                          <a:srgbClr val="006BCC"/>
                                        </a:solidFill>
                                        <a:latin typeface="Cambria Math" panose="02040503050406030204" pitchFamily="18" charset="0"/>
                                      </a:rPr>
                                      <m:t>𝑖</m:t>
                                    </m:r>
                                  </m:sub>
                                </m:sSub>
                                <m:r>
                                  <a:rPr lang="en-US" altLang="zh-CN" i="1">
                                    <a:solidFill>
                                      <a:srgbClr val="006BCC"/>
                                    </a:solidFill>
                                    <a:latin typeface="Cambria Math" panose="02040503050406030204" pitchFamily="18" charset="0"/>
                                    <a:ea typeface="Cambria Math" panose="02040503050406030204" pitchFamily="18" charset="0"/>
                                  </a:rPr>
                                  <m:t>∈</m:t>
                                </m:r>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𝐷</m:t>
                                    </m:r>
                                  </m:e>
                                  <m:sub>
                                    <m:r>
                                      <a:rPr lang="en-US" altLang="zh-CN" i="1">
                                        <a:solidFill>
                                          <a:srgbClr val="006BCC"/>
                                        </a:solidFill>
                                        <a:latin typeface="Cambria Math" panose="02040503050406030204" pitchFamily="18" charset="0"/>
                                      </a:rPr>
                                      <m:t>2</m:t>
                                    </m:r>
                                  </m:sub>
                                </m:sSub>
                              </m:sub>
                              <m:sup/>
                              <m:e>
                                <m:sSup>
                                  <m:sSupPr>
                                    <m:ctrlPr>
                                      <a:rPr lang="en-US" altLang="zh-CN" i="1">
                                        <a:solidFill>
                                          <a:srgbClr val="006BCC"/>
                                        </a:solidFill>
                                        <a:latin typeface="Cambria Math" panose="02040503050406030204" pitchFamily="18" charset="0"/>
                                      </a:rPr>
                                    </m:ctrlPr>
                                  </m:sSupPr>
                                  <m:e>
                                    <m:r>
                                      <a:rPr lang="en-US" altLang="zh-CN" i="1">
                                        <a:solidFill>
                                          <a:srgbClr val="006BCC"/>
                                        </a:solidFill>
                                        <a:latin typeface="Cambria Math" panose="02040503050406030204" pitchFamily="18" charset="0"/>
                                      </a:rPr>
                                      <m:t>(</m:t>
                                    </m:r>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𝑦</m:t>
                                        </m:r>
                                      </m:e>
                                      <m:sub>
                                        <m:r>
                                          <a:rPr lang="en-US" altLang="zh-CN" i="1">
                                            <a:solidFill>
                                              <a:srgbClr val="006BCC"/>
                                            </a:solidFill>
                                            <a:latin typeface="Cambria Math" panose="02040503050406030204" pitchFamily="18" charset="0"/>
                                          </a:rPr>
                                          <m:t>𝑖</m:t>
                                        </m:r>
                                      </m:sub>
                                    </m:sSub>
                                    <m:r>
                                      <a:rPr lang="en-US" altLang="zh-CN" i="1">
                                        <a:solidFill>
                                          <a:srgbClr val="006BCC"/>
                                        </a:solidFill>
                                        <a:latin typeface="Cambria Math" panose="02040503050406030204" pitchFamily="18" charset="0"/>
                                      </a:rPr>
                                      <m:t>−</m:t>
                                    </m:r>
                                    <m:sSub>
                                      <m:sSubPr>
                                        <m:ctrlPr>
                                          <a:rPr lang="en-US" altLang="zh-CN" i="1">
                                            <a:solidFill>
                                              <a:srgbClr val="006BCC"/>
                                            </a:solidFill>
                                            <a:latin typeface="Cambria Math" panose="02040503050406030204" pitchFamily="18" charset="0"/>
                                          </a:rPr>
                                        </m:ctrlPr>
                                      </m:sSubPr>
                                      <m:e>
                                        <m:r>
                                          <a:rPr lang="en-US" altLang="zh-CN" i="1">
                                            <a:solidFill>
                                              <a:srgbClr val="006BCC"/>
                                            </a:solidFill>
                                            <a:latin typeface="Cambria Math" panose="02040503050406030204" pitchFamily="18" charset="0"/>
                                          </a:rPr>
                                          <m:t>𝑐</m:t>
                                        </m:r>
                                      </m:e>
                                      <m:sub>
                                        <m:r>
                                          <a:rPr lang="en-US" altLang="zh-CN" i="1">
                                            <a:solidFill>
                                              <a:srgbClr val="006BCC"/>
                                            </a:solidFill>
                                            <a:latin typeface="Cambria Math" panose="02040503050406030204" pitchFamily="18" charset="0"/>
                                          </a:rPr>
                                          <m:t>2</m:t>
                                        </m:r>
                                      </m:sub>
                                    </m:sSub>
                                    <m:r>
                                      <a:rPr lang="en-US" altLang="zh-CN" i="1">
                                        <a:solidFill>
                                          <a:srgbClr val="006BCC"/>
                                        </a:solidFill>
                                        <a:latin typeface="Cambria Math" panose="02040503050406030204" pitchFamily="18" charset="0"/>
                                      </a:rPr>
                                      <m:t>)</m:t>
                                    </m:r>
                                  </m:e>
                                  <m:sup>
                                    <m:r>
                                      <a:rPr lang="en-US" altLang="zh-CN" i="1">
                                        <a:solidFill>
                                          <a:srgbClr val="006BCC"/>
                                        </a:solidFill>
                                        <a:latin typeface="Cambria Math" panose="02040503050406030204" pitchFamily="18" charset="0"/>
                                      </a:rPr>
                                      <m:t>2</m:t>
                                    </m:r>
                                  </m:sup>
                                </m:sSup>
                              </m:e>
                            </m:nary>
                          </m:e>
                        </m:func>
                        <m:r>
                          <a:rPr lang="en-US" altLang="zh-CN" i="1">
                            <a:solidFill>
                              <a:srgbClr val="006BCC"/>
                            </a:solidFill>
                            <a:latin typeface="Cambria Math" panose="02040503050406030204" pitchFamily="18" charset="0"/>
                          </a:rPr>
                          <m:t>]</m:t>
                        </m:r>
                      </m:e>
                    </m:func>
                    <m:r>
                      <a:rPr lang="en-US" altLang="zh-CN" i="1">
                        <a:solidFill>
                          <a:srgbClr val="006BCC"/>
                        </a:solidFill>
                        <a:latin typeface="Cambria Math" panose="02040503050406030204" pitchFamily="18" charset="0"/>
                      </a:rPr>
                      <m:t> </m:t>
                    </m:r>
                  </m:oMath>
                </a14:m>
                <a:r>
                  <a:rPr lang="zh-CN" altLang="en-US" sz="2000" dirty="0">
                    <a:latin typeface="Times New Roman" panose="02020603050405020304" pitchFamily="18" charset="0"/>
                    <a:cs typeface="Times New Roman" panose="02020603050405020304" pitchFamily="18" charset="0"/>
                  </a:rPr>
                  <a:t>，表示两部分数据的平方误差。</a:t>
                </a:r>
                <a:endParaRPr lang="zh-CN" altLang="en-US" sz="2000" dirty="0">
                  <a:latin typeface="微软雅黑"/>
                </a:endParaRPr>
              </a:p>
            </p:txBody>
          </p:sp>
        </mc:Choice>
        <mc:Fallback xmlns="">
          <p:sp>
            <p:nvSpPr>
              <p:cNvPr id="11" name="矩形 4">
                <a:extLst>
                  <a:ext uri="{FF2B5EF4-FFF2-40B4-BE49-F238E27FC236}">
                    <a16:creationId xmlns:a16="http://schemas.microsoft.com/office/drawing/2014/main" id="{EB7F6915-AEAC-9640-8870-200BFF36D5CF}"/>
                  </a:ext>
                </a:extLst>
              </p:cNvPr>
              <p:cNvSpPr>
                <a:spLocks noRot="1" noChangeAspect="1" noMove="1" noResize="1" noEditPoints="1" noAdjustHandles="1" noChangeArrowheads="1" noChangeShapeType="1" noTextEdit="1"/>
              </p:cNvSpPr>
              <p:nvPr/>
            </p:nvSpPr>
            <p:spPr>
              <a:xfrm>
                <a:off x="566962" y="2780986"/>
                <a:ext cx="9755812" cy="1614096"/>
              </a:xfrm>
              <a:prstGeom prst="rect">
                <a:avLst/>
              </a:prstGeom>
              <a:blipFill>
                <a:blip r:embed="rId3"/>
                <a:stretch>
                  <a:fillRect l="-650" b="-31008"/>
                </a:stretch>
              </a:blipFill>
            </p:spPr>
            <p:txBody>
              <a:bodyPr/>
              <a:lstStyle/>
              <a:p>
                <a:r>
                  <a:rPr lang="en-CN">
                    <a:noFill/>
                  </a:rPr>
                  <a:t> </a:t>
                </a:r>
              </a:p>
            </p:txBody>
          </p:sp>
        </mc:Fallback>
      </mc:AlternateContent>
      <p:graphicFrame>
        <p:nvGraphicFramePr>
          <p:cNvPr id="16" name="表格 2">
            <a:extLst>
              <a:ext uri="{FF2B5EF4-FFF2-40B4-BE49-F238E27FC236}">
                <a16:creationId xmlns:a16="http://schemas.microsoft.com/office/drawing/2014/main" id="{909BAFD0-58EB-844C-97D0-E0A148003E7D}"/>
              </a:ext>
            </a:extLst>
          </p:cNvPr>
          <p:cNvGraphicFramePr>
            <a:graphicFrameLocks noGrp="1"/>
          </p:cNvGraphicFramePr>
          <p:nvPr/>
        </p:nvGraphicFramePr>
        <p:xfrm>
          <a:off x="1458271" y="4939352"/>
          <a:ext cx="8913090" cy="792480"/>
        </p:xfrm>
        <a:graphic>
          <a:graphicData uri="http://schemas.openxmlformats.org/drawingml/2006/table">
            <a:tbl>
              <a:tblPr firstRow="1" bandRow="1">
                <a:tableStyleId>{5C22544A-7EE6-4342-B048-85BDC9FD1C3A}</a:tableStyleId>
              </a:tblPr>
              <a:tblGrid>
                <a:gridCol w="891309">
                  <a:extLst>
                    <a:ext uri="{9D8B030D-6E8A-4147-A177-3AD203B41FA5}">
                      <a16:colId xmlns:a16="http://schemas.microsoft.com/office/drawing/2014/main" val="1943997088"/>
                    </a:ext>
                  </a:extLst>
                </a:gridCol>
                <a:gridCol w="891309">
                  <a:extLst>
                    <a:ext uri="{9D8B030D-6E8A-4147-A177-3AD203B41FA5}">
                      <a16:colId xmlns:a16="http://schemas.microsoft.com/office/drawing/2014/main" val="4029609052"/>
                    </a:ext>
                  </a:extLst>
                </a:gridCol>
                <a:gridCol w="891309">
                  <a:extLst>
                    <a:ext uri="{9D8B030D-6E8A-4147-A177-3AD203B41FA5}">
                      <a16:colId xmlns:a16="http://schemas.microsoft.com/office/drawing/2014/main" val="2195620660"/>
                    </a:ext>
                  </a:extLst>
                </a:gridCol>
                <a:gridCol w="891309">
                  <a:extLst>
                    <a:ext uri="{9D8B030D-6E8A-4147-A177-3AD203B41FA5}">
                      <a16:colId xmlns:a16="http://schemas.microsoft.com/office/drawing/2014/main" val="1744851731"/>
                    </a:ext>
                  </a:extLst>
                </a:gridCol>
                <a:gridCol w="891309">
                  <a:extLst>
                    <a:ext uri="{9D8B030D-6E8A-4147-A177-3AD203B41FA5}">
                      <a16:colId xmlns:a16="http://schemas.microsoft.com/office/drawing/2014/main" val="3601791417"/>
                    </a:ext>
                  </a:extLst>
                </a:gridCol>
                <a:gridCol w="891309">
                  <a:extLst>
                    <a:ext uri="{9D8B030D-6E8A-4147-A177-3AD203B41FA5}">
                      <a16:colId xmlns:a16="http://schemas.microsoft.com/office/drawing/2014/main" val="3025800682"/>
                    </a:ext>
                  </a:extLst>
                </a:gridCol>
                <a:gridCol w="891309">
                  <a:extLst>
                    <a:ext uri="{9D8B030D-6E8A-4147-A177-3AD203B41FA5}">
                      <a16:colId xmlns:a16="http://schemas.microsoft.com/office/drawing/2014/main" val="1737094578"/>
                    </a:ext>
                  </a:extLst>
                </a:gridCol>
                <a:gridCol w="891309">
                  <a:extLst>
                    <a:ext uri="{9D8B030D-6E8A-4147-A177-3AD203B41FA5}">
                      <a16:colId xmlns:a16="http://schemas.microsoft.com/office/drawing/2014/main" val="3368189512"/>
                    </a:ext>
                  </a:extLst>
                </a:gridCol>
                <a:gridCol w="891309">
                  <a:extLst>
                    <a:ext uri="{9D8B030D-6E8A-4147-A177-3AD203B41FA5}">
                      <a16:colId xmlns:a16="http://schemas.microsoft.com/office/drawing/2014/main" val="2594485810"/>
                    </a:ext>
                  </a:extLst>
                </a:gridCol>
                <a:gridCol w="891309">
                  <a:extLst>
                    <a:ext uri="{9D8B030D-6E8A-4147-A177-3AD203B41FA5}">
                      <a16:colId xmlns:a16="http://schemas.microsoft.com/office/drawing/2014/main" val="1267090519"/>
                    </a:ext>
                  </a:extLst>
                </a:gridCol>
              </a:tblGrid>
              <a:tr h="370840">
                <a:tc>
                  <a:txBody>
                    <a:bodyPr/>
                    <a:lstStyle/>
                    <a:p>
                      <a:pPr algn="ctr"/>
                      <a:r>
                        <a:rPr lang="en-US" altLang="zh-CN" sz="2000" dirty="0">
                          <a:latin typeface="Times New Roman" panose="02020603050405020304" pitchFamily="18" charset="0"/>
                          <a:cs typeface="Times New Roman" panose="02020603050405020304" pitchFamily="18" charset="0"/>
                        </a:rPr>
                        <a:t>s</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2.5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3.5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4.5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9.5</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370840">
                <a:tc>
                  <a:txBody>
                    <a:bodyPr/>
                    <a:lstStyle/>
                    <a:p>
                      <a:pPr algn="ctr"/>
                      <a:r>
                        <a:rPr lang="en-US" altLang="zh-CN" sz="2000" dirty="0">
                          <a:latin typeface="Times New Roman" panose="02020603050405020304" pitchFamily="18" charset="0"/>
                          <a:cs typeface="Times New Roman" panose="02020603050405020304" pitchFamily="18" charset="0"/>
                        </a:rPr>
                        <a:t>m(s)</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15.72</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12.07</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8.36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5.78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3.91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1.93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8.01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11.73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15.74</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p:sp>
        <p:nvSpPr>
          <p:cNvPr id="18" name="矩形 1">
            <a:extLst>
              <a:ext uri="{FF2B5EF4-FFF2-40B4-BE49-F238E27FC236}">
                <a16:creationId xmlns:a16="http://schemas.microsoft.com/office/drawing/2014/main" id="{CA848B0C-C868-3847-A5F3-7009918D15E5}"/>
              </a:ext>
            </a:extLst>
          </p:cNvPr>
          <p:cNvSpPr/>
          <p:nvPr/>
        </p:nvSpPr>
        <p:spPr>
          <a:xfrm>
            <a:off x="566962" y="5731832"/>
            <a:ext cx="3558988" cy="369332"/>
          </a:xfrm>
          <a:prstGeom prst="rect">
            <a:avLst/>
          </a:prstGeom>
        </p:spPr>
        <p:txBody>
          <a:bodyPr wrap="none">
            <a:spAutoFit/>
          </a:bodyPr>
          <a:lstStyle/>
          <a:p>
            <a:r>
              <a:rPr lang="zh-CN" altLang="en-US" dirty="0">
                <a:solidFill>
                  <a:prstClr val="black"/>
                </a:solidFill>
                <a:latin typeface="微软雅黑"/>
              </a:rPr>
              <a:t>因此选取</a:t>
            </a:r>
            <a:r>
              <a:rPr lang="en-US" altLang="zh-CN" dirty="0">
                <a:solidFill>
                  <a:prstClr val="black"/>
                </a:solidFill>
                <a:latin typeface="微软雅黑"/>
              </a:rPr>
              <a:t>s=6.5</a:t>
            </a:r>
            <a:r>
              <a:rPr lang="zh-CN" altLang="en-US" dirty="0">
                <a:solidFill>
                  <a:prstClr val="black"/>
                </a:solidFill>
                <a:latin typeface="微软雅黑"/>
              </a:rPr>
              <a:t>作为属性切分点。</a:t>
            </a:r>
            <a:endParaRPr lang="zh-CN" altLang="en-US" sz="1400" dirty="0"/>
          </a:p>
        </p:txBody>
      </p:sp>
      <p:sp>
        <p:nvSpPr>
          <p:cNvPr id="5" name="TextBox 4">
            <a:extLst>
              <a:ext uri="{FF2B5EF4-FFF2-40B4-BE49-F238E27FC236}">
                <a16:creationId xmlns:a16="http://schemas.microsoft.com/office/drawing/2014/main" id="{6D85DAF6-BDC5-0548-AB12-64E69F619CF7}"/>
              </a:ext>
            </a:extLst>
          </p:cNvPr>
          <p:cNvSpPr txBox="1"/>
          <p:nvPr/>
        </p:nvSpPr>
        <p:spPr>
          <a:xfrm>
            <a:off x="566962" y="4482551"/>
            <a:ext cx="2031325" cy="369332"/>
          </a:xfrm>
          <a:prstGeom prst="rect">
            <a:avLst/>
          </a:prstGeom>
          <a:noFill/>
        </p:spPr>
        <p:txBody>
          <a:bodyPr wrap="none" rtlCol="0">
            <a:spAutoFit/>
          </a:bodyPr>
          <a:lstStyle/>
          <a:p>
            <a:pPr algn="l"/>
            <a:r>
              <a:rPr lang="en-CN" dirty="0">
                <a:latin typeface="+mn-ea"/>
              </a:rPr>
              <a:t>遍历所有切分点</a:t>
            </a:r>
            <a:r>
              <a:rPr lang="zh-CN" altLang="en-US" dirty="0">
                <a:latin typeface="+mn-ea"/>
              </a:rPr>
              <a:t>：</a:t>
            </a:r>
            <a:endParaRPr lang="en-CN" dirty="0">
              <a:latin typeface="+mn-ea"/>
            </a:endParaRPr>
          </a:p>
        </p:txBody>
      </p:sp>
      <p:sp>
        <p:nvSpPr>
          <p:cNvPr id="19" name="Rounded Rectangle 18">
            <a:extLst>
              <a:ext uri="{FF2B5EF4-FFF2-40B4-BE49-F238E27FC236}">
                <a16:creationId xmlns:a16="http://schemas.microsoft.com/office/drawing/2014/main" id="{3E543E5D-259D-EB47-9350-D14508612D94}"/>
              </a:ext>
            </a:extLst>
          </p:cNvPr>
          <p:cNvSpPr/>
          <p:nvPr/>
        </p:nvSpPr>
        <p:spPr>
          <a:xfrm>
            <a:off x="228600" y="1678144"/>
            <a:ext cx="10387013" cy="4423020"/>
          </a:xfrm>
          <a:prstGeom prst="roundRect">
            <a:avLst/>
          </a:prstGeom>
          <a:noFill/>
          <a:ln w="222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TextBox 19">
            <a:extLst>
              <a:ext uri="{FF2B5EF4-FFF2-40B4-BE49-F238E27FC236}">
                <a16:creationId xmlns:a16="http://schemas.microsoft.com/office/drawing/2014/main" id="{10128912-2E49-D24B-9203-F081360B9E81}"/>
              </a:ext>
            </a:extLst>
          </p:cNvPr>
          <p:cNvSpPr txBox="1"/>
          <p:nvPr/>
        </p:nvSpPr>
        <p:spPr>
          <a:xfrm>
            <a:off x="10746226" y="3264868"/>
            <a:ext cx="543739" cy="954107"/>
          </a:xfrm>
          <a:prstGeom prst="rect">
            <a:avLst/>
          </a:prstGeom>
          <a:noFill/>
        </p:spPr>
        <p:txBody>
          <a:bodyPr wrap="none" rtlCol="0">
            <a:spAutoFit/>
          </a:bodyPr>
          <a:lstStyle/>
          <a:p>
            <a:pPr algn="l"/>
            <a:r>
              <a:rPr lang="en-CN" sz="2800" b="1" dirty="0">
                <a:solidFill>
                  <a:srgbClr val="C00000"/>
                </a:solidFill>
                <a:latin typeface="+mn-ea"/>
              </a:rPr>
              <a:t>复</a:t>
            </a:r>
          </a:p>
          <a:p>
            <a:pPr algn="l"/>
            <a:r>
              <a:rPr lang="en-CN" sz="2800" b="1" dirty="0">
                <a:solidFill>
                  <a:srgbClr val="C00000"/>
                </a:solidFill>
                <a:latin typeface="+mn-ea"/>
              </a:rPr>
              <a:t>习</a:t>
            </a:r>
          </a:p>
        </p:txBody>
      </p:sp>
    </p:spTree>
    <p:extLst>
      <p:ext uri="{BB962C8B-B14F-4D97-AF65-F5344CB8AC3E}">
        <p14:creationId xmlns:p14="http://schemas.microsoft.com/office/powerpoint/2010/main" val="15690766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p:cxnSp>
        <p:nvCxnSpPr>
          <p:cNvPr id="8" name="Straight Connector 7">
            <a:extLst>
              <a:ext uri="{FF2B5EF4-FFF2-40B4-BE49-F238E27FC236}">
                <a16:creationId xmlns:a16="http://schemas.microsoft.com/office/drawing/2014/main" id="{103B28AD-0C30-744F-A9FC-50607CEBC130}"/>
              </a:ext>
            </a:extLst>
          </p:cNvPr>
          <p:cNvCxnSpPr>
            <a:cxnSpLocks/>
          </p:cNvCxnSpPr>
          <p:nvPr/>
        </p:nvCxnSpPr>
        <p:spPr>
          <a:xfrm>
            <a:off x="5473927" y="760157"/>
            <a:ext cx="0" cy="234450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7CB171E-EFBA-D941-A7B5-E8D937690980}"/>
              </a:ext>
            </a:extLst>
          </p:cNvPr>
          <p:cNvSpPr/>
          <p:nvPr/>
        </p:nvSpPr>
        <p:spPr>
          <a:xfrm>
            <a:off x="1720835" y="818915"/>
            <a:ext cx="2241651" cy="9286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6</a:t>
            </a:r>
            <a:r>
              <a:rPr lang="zh-CN" altLang="en-US" dirty="0"/>
              <a:t>，</a:t>
            </a:r>
            <a:r>
              <a:rPr lang="en-US" altLang="zh-CN" dirty="0"/>
              <a:t>7</a:t>
            </a:r>
            <a:r>
              <a:rPr lang="zh-CN" altLang="en-US" dirty="0"/>
              <a:t>，</a:t>
            </a:r>
            <a:r>
              <a:rPr lang="en-US" altLang="zh-CN" dirty="0"/>
              <a:t>8</a:t>
            </a:r>
            <a:r>
              <a:rPr lang="zh-CN" altLang="en-US" dirty="0"/>
              <a:t>，</a:t>
            </a:r>
            <a:r>
              <a:rPr lang="en-US" altLang="zh-CN" dirty="0"/>
              <a:t>9</a:t>
            </a:r>
            <a:r>
              <a:rPr lang="zh-CN" altLang="en-US" dirty="0"/>
              <a:t>，</a:t>
            </a:r>
            <a:r>
              <a:rPr lang="en-US" altLang="zh-CN" dirty="0"/>
              <a:t>10</a:t>
            </a:r>
            <a:endParaRPr lang="en-CN" dirty="0"/>
          </a:p>
        </p:txBody>
      </p:sp>
      <p:cxnSp>
        <p:nvCxnSpPr>
          <p:cNvPr id="13" name="Straight Arrow Connector 12">
            <a:extLst>
              <a:ext uri="{FF2B5EF4-FFF2-40B4-BE49-F238E27FC236}">
                <a16:creationId xmlns:a16="http://schemas.microsoft.com/office/drawing/2014/main" id="{6B700313-D86A-7D4A-B9B9-F3BE6A219511}"/>
              </a:ext>
            </a:extLst>
          </p:cNvPr>
          <p:cNvCxnSpPr>
            <a:cxnSpLocks/>
          </p:cNvCxnSpPr>
          <p:nvPr/>
        </p:nvCxnSpPr>
        <p:spPr>
          <a:xfrm flipH="1">
            <a:off x="2134035" y="1715149"/>
            <a:ext cx="443307" cy="562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758E580-00F8-7A42-A248-3EFEF33AF234}"/>
              </a:ext>
            </a:extLst>
          </p:cNvPr>
          <p:cNvCxnSpPr>
            <a:cxnSpLocks/>
          </p:cNvCxnSpPr>
          <p:nvPr/>
        </p:nvCxnSpPr>
        <p:spPr>
          <a:xfrm>
            <a:off x="3277428" y="1694917"/>
            <a:ext cx="347896" cy="5829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2D33210-E8B5-6B42-B0B5-9723E1508306}"/>
              </a:ext>
            </a:extLst>
          </p:cNvPr>
          <p:cNvSpPr txBox="1"/>
          <p:nvPr/>
        </p:nvSpPr>
        <p:spPr>
          <a:xfrm>
            <a:off x="1606486" y="1754398"/>
            <a:ext cx="798617" cy="369332"/>
          </a:xfrm>
          <a:prstGeom prst="rect">
            <a:avLst/>
          </a:prstGeom>
          <a:noFill/>
        </p:spPr>
        <p:txBody>
          <a:bodyPr wrap="none" rtlCol="0">
            <a:spAutoFit/>
          </a:bodyPr>
          <a:lstStyle/>
          <a:p>
            <a:pPr algn="l"/>
            <a:r>
              <a:rPr lang="en-US" altLang="zh-CN" dirty="0">
                <a:latin typeface="+mn-ea"/>
              </a:rPr>
              <a:t>x&lt;6.5</a:t>
            </a:r>
            <a:endParaRPr lang="en-CN" dirty="0">
              <a:latin typeface="+mn-ea"/>
            </a:endParaRPr>
          </a:p>
        </p:txBody>
      </p:sp>
      <p:sp>
        <p:nvSpPr>
          <p:cNvPr id="22" name="TextBox 21">
            <a:extLst>
              <a:ext uri="{FF2B5EF4-FFF2-40B4-BE49-F238E27FC236}">
                <a16:creationId xmlns:a16="http://schemas.microsoft.com/office/drawing/2014/main" id="{4D48E058-17CE-0849-9A38-903FF5AFD1B3}"/>
              </a:ext>
            </a:extLst>
          </p:cNvPr>
          <p:cNvSpPr txBox="1"/>
          <p:nvPr/>
        </p:nvSpPr>
        <p:spPr>
          <a:xfrm>
            <a:off x="3563178" y="1754398"/>
            <a:ext cx="798617" cy="369332"/>
          </a:xfrm>
          <a:prstGeom prst="rect">
            <a:avLst/>
          </a:prstGeom>
          <a:noFill/>
        </p:spPr>
        <p:txBody>
          <a:bodyPr wrap="none" rtlCol="0">
            <a:spAutoFit/>
          </a:bodyPr>
          <a:lstStyle/>
          <a:p>
            <a:pPr algn="l"/>
            <a:r>
              <a:rPr lang="en-US" altLang="zh-CN" dirty="0">
                <a:latin typeface="+mn-ea"/>
              </a:rPr>
              <a:t>x&gt;6.5</a:t>
            </a:r>
            <a:endParaRPr lang="en-CN" dirty="0">
              <a:latin typeface="+mn-ea"/>
            </a:endParaRPr>
          </a:p>
        </p:txBody>
      </p:sp>
      <p:sp>
        <p:nvSpPr>
          <p:cNvPr id="23" name="Oval 22">
            <a:extLst>
              <a:ext uri="{FF2B5EF4-FFF2-40B4-BE49-F238E27FC236}">
                <a16:creationId xmlns:a16="http://schemas.microsoft.com/office/drawing/2014/main" id="{36702AD1-3638-1042-99D9-E3DCCEC2BF34}"/>
              </a:ext>
            </a:extLst>
          </p:cNvPr>
          <p:cNvSpPr/>
          <p:nvPr/>
        </p:nvSpPr>
        <p:spPr>
          <a:xfrm>
            <a:off x="1041108" y="2229958"/>
            <a:ext cx="1571625" cy="715661"/>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5</a:t>
            </a:r>
            <a:r>
              <a:rPr lang="zh-CN" altLang="en-US" dirty="0"/>
              <a:t>，</a:t>
            </a:r>
            <a:r>
              <a:rPr lang="en-US" altLang="zh-CN" dirty="0"/>
              <a:t>6</a:t>
            </a:r>
            <a:endParaRPr lang="en-CN" dirty="0"/>
          </a:p>
        </p:txBody>
      </p:sp>
      <p:sp>
        <p:nvSpPr>
          <p:cNvPr id="24" name="Oval 23">
            <a:extLst>
              <a:ext uri="{FF2B5EF4-FFF2-40B4-BE49-F238E27FC236}">
                <a16:creationId xmlns:a16="http://schemas.microsoft.com/office/drawing/2014/main" id="{91B4C237-4D94-0842-B9E4-9EA493FC18DD}"/>
              </a:ext>
            </a:extLst>
          </p:cNvPr>
          <p:cNvSpPr/>
          <p:nvPr/>
        </p:nvSpPr>
        <p:spPr>
          <a:xfrm>
            <a:off x="3285094" y="2199849"/>
            <a:ext cx="1571625" cy="715661"/>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CN" dirty="0"/>
              <a:t>7,8,9,10</a:t>
            </a:r>
            <a:endParaRPr lang="en-CN" dirty="0"/>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B9A612BC-7DE3-2248-8FDA-4B64AD4D2E92}"/>
                  </a:ext>
                </a:extLst>
              </p:cNvPr>
              <p:cNvSpPr txBox="1"/>
              <p:nvPr/>
            </p:nvSpPr>
            <p:spPr>
              <a:xfrm>
                <a:off x="1146676" y="2919999"/>
                <a:ext cx="3389967" cy="369332"/>
              </a:xfrm>
              <a:prstGeom prst="rect">
                <a:avLst/>
              </a:prstGeom>
              <a:noFill/>
            </p:spPr>
            <p:txBody>
              <a:bodyPr wrap="none" rtlCol="0">
                <a:spAutoFit/>
              </a:bodyPr>
              <a:lstStyle/>
              <a:p>
                <a:r>
                  <a:rPr lang="en-US" dirty="0">
                    <a:latin typeface="+mn-ea"/>
                  </a:rPr>
                  <a:t>数据均值</a:t>
                </a:r>
                <a:r>
                  <a:rPr lang="zh-CN" altLang="en-US" dirty="0">
                    <a:latin typeface="+mn-ea"/>
                  </a:rPr>
                  <a:t>：</a:t>
                </a:r>
                <a:r>
                  <a:rPr lang="en-US" altLang="zh-CN" dirty="0">
                    <a:solidFill>
                      <a:schemeClr val="accent1"/>
                    </a:solidFill>
                  </a:rPr>
                  <a:t> </a:t>
                </a: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𝑐</m:t>
                        </m:r>
                      </m:e>
                      <m:sub>
                        <m:r>
                          <a:rPr lang="en-US" altLang="zh-CN" i="1">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=6.24</m:t>
                    </m:r>
                    <m:r>
                      <a:rPr lang="en-US" altLang="zh-CN" i="1">
                        <a:solidFill>
                          <a:schemeClr val="tx1"/>
                        </a:solidFill>
                        <a:latin typeface="Cambria Math" panose="02040503050406030204" pitchFamily="18" charset="0"/>
                      </a:rPr>
                      <m:t>,</m:t>
                    </m:r>
                  </m:oMath>
                </a14:m>
                <a:r>
                  <a:rPr lang="en-US" altLang="zh-CN" dirty="0">
                    <a:solidFill>
                      <a:schemeClr val="tx1"/>
                    </a:solidFill>
                  </a:rPr>
                  <a:t> </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𝑐</m:t>
                        </m:r>
                      </m:e>
                      <m:sub>
                        <m:r>
                          <a:rPr lang="en-US" altLang="zh-CN" i="1">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=8.91</m:t>
                    </m:r>
                  </m:oMath>
                </a14:m>
                <a:endParaRPr lang="en-CN" dirty="0">
                  <a:latin typeface="+mn-ea"/>
                </a:endParaRPr>
              </a:p>
            </p:txBody>
          </p:sp>
        </mc:Choice>
        <mc:Fallback>
          <p:sp>
            <p:nvSpPr>
              <p:cNvPr id="25" name="TextBox 24">
                <a:extLst>
                  <a:ext uri="{FF2B5EF4-FFF2-40B4-BE49-F238E27FC236}">
                    <a16:creationId xmlns:a16="http://schemas.microsoft.com/office/drawing/2014/main" id="{B9A612BC-7DE3-2248-8FDA-4B64AD4D2E92}"/>
                  </a:ext>
                </a:extLst>
              </p:cNvPr>
              <p:cNvSpPr txBox="1">
                <a:spLocks noRot="1" noChangeAspect="1" noMove="1" noResize="1" noEditPoints="1" noAdjustHandles="1" noChangeArrowheads="1" noChangeShapeType="1" noTextEdit="1"/>
              </p:cNvSpPr>
              <p:nvPr/>
            </p:nvSpPr>
            <p:spPr>
              <a:xfrm>
                <a:off x="1146676" y="2919999"/>
                <a:ext cx="3389967" cy="369332"/>
              </a:xfrm>
              <a:prstGeom prst="rect">
                <a:avLst/>
              </a:prstGeom>
              <a:blipFill>
                <a:blip r:embed="rId3"/>
                <a:stretch>
                  <a:fillRect l="-1493" t="-3226" b="-193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E26094D6-748E-5442-AFB2-192629E5E208}"/>
                  </a:ext>
                </a:extLst>
              </p:cNvPr>
              <p:cNvSpPr txBox="1"/>
              <p:nvPr/>
            </p:nvSpPr>
            <p:spPr>
              <a:xfrm>
                <a:off x="5182707" y="1546331"/>
                <a:ext cx="6093618"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CN" altLang="zh-CN" sz="2400" i="1">
                              <a:latin typeface="Cambria Math" panose="02040503050406030204" pitchFamily="18" charset="0"/>
                            </a:rPr>
                            <m:t>𝑇</m:t>
                          </m:r>
                        </m:e>
                        <m:sub>
                          <m:r>
                            <a:rPr lang="en-US" altLang="zh-CN" sz="2400" i="1">
                              <a:latin typeface="Cambria Math" panose="02040503050406030204" pitchFamily="18" charset="0"/>
                            </a:rPr>
                            <m:t>1</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&amp;6.24,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CN" sz="2400" i="0">
                                  <a:latin typeface="Cambria Math" panose="02040503050406030204" pitchFamily="18" charset="0"/>
                                </a:rPr>
                                <m:t>6.5</m:t>
                              </m:r>
                            </m:e>
                            <m:e>
                              <m:r>
                                <a:rPr lang="en-CN" sz="2400" i="0">
                                  <a:latin typeface="Cambria Math" panose="02040503050406030204" pitchFamily="18" charset="0"/>
                                </a:rPr>
                                <m:t>&amp;8.91,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CN" sz="2400" i="0">
                                  <a:latin typeface="Cambria Math" panose="02040503050406030204" pitchFamily="18" charset="0"/>
                                </a:rPr>
                                <m:t>6.5</m:t>
                              </m:r>
                            </m:e>
                          </m:eqArr>
                        </m:e>
                      </m:d>
                    </m:oMath>
                  </m:oMathPara>
                </a14:m>
                <a:endParaRPr lang="en-CN" sz="2400" dirty="0"/>
              </a:p>
            </p:txBody>
          </p:sp>
        </mc:Choice>
        <mc:Fallback>
          <p:sp>
            <p:nvSpPr>
              <p:cNvPr id="29" name="TextBox 28">
                <a:extLst>
                  <a:ext uri="{FF2B5EF4-FFF2-40B4-BE49-F238E27FC236}">
                    <a16:creationId xmlns:a16="http://schemas.microsoft.com/office/drawing/2014/main" id="{E26094D6-748E-5442-AFB2-192629E5E208}"/>
                  </a:ext>
                </a:extLst>
              </p:cNvPr>
              <p:cNvSpPr txBox="1">
                <a:spLocks noRot="1" noChangeAspect="1" noMove="1" noResize="1" noEditPoints="1" noAdjustHandles="1" noChangeArrowheads="1" noChangeShapeType="1" noTextEdit="1"/>
              </p:cNvSpPr>
              <p:nvPr/>
            </p:nvSpPr>
            <p:spPr>
              <a:xfrm>
                <a:off x="5182707" y="1546331"/>
                <a:ext cx="6093618" cy="916148"/>
              </a:xfrm>
              <a:prstGeom prst="rect">
                <a:avLst/>
              </a:prstGeom>
              <a:blipFill>
                <a:blip r:embed="rId4"/>
                <a:stretch>
                  <a:fillRect t="-198630" b="-289041"/>
                </a:stretch>
              </a:blipFill>
            </p:spPr>
            <p:txBody>
              <a:bodyPr/>
              <a:lstStyle/>
              <a:p>
                <a:r>
                  <a:rPr lang="zh-CN" altLang="en-US">
                    <a:noFill/>
                  </a:rPr>
                  <a:t> </a:t>
                </a:r>
              </a:p>
            </p:txBody>
          </p:sp>
        </mc:Fallback>
      </mc:AlternateContent>
      <p:sp>
        <p:nvSpPr>
          <p:cNvPr id="30" name="TextBox 29">
            <a:extLst>
              <a:ext uri="{FF2B5EF4-FFF2-40B4-BE49-F238E27FC236}">
                <a16:creationId xmlns:a16="http://schemas.microsoft.com/office/drawing/2014/main" id="{7482CE79-90F6-FA49-A141-E6600591DDA7}"/>
              </a:ext>
            </a:extLst>
          </p:cNvPr>
          <p:cNvSpPr txBox="1"/>
          <p:nvPr/>
        </p:nvSpPr>
        <p:spPr>
          <a:xfrm>
            <a:off x="6236880" y="817080"/>
            <a:ext cx="2646878" cy="461665"/>
          </a:xfrm>
          <a:prstGeom prst="rect">
            <a:avLst/>
          </a:prstGeom>
          <a:noFill/>
        </p:spPr>
        <p:txBody>
          <a:bodyPr wrap="none" rtlCol="0">
            <a:spAutoFit/>
          </a:bodyPr>
          <a:lstStyle/>
          <a:p>
            <a:pPr algn="l"/>
            <a:r>
              <a:rPr lang="en-US" sz="2400" dirty="0" err="1">
                <a:latin typeface="+mn-ea"/>
              </a:rPr>
              <a:t>此时的回归树为</a:t>
            </a:r>
            <a:r>
              <a:rPr lang="zh-CN" altLang="en-US" sz="2400" dirty="0">
                <a:latin typeface="+mn-ea"/>
              </a:rPr>
              <a:t>：</a:t>
            </a:r>
            <a:endParaRPr lang="en-CN" sz="2400" dirty="0">
              <a:latin typeface="+mn-ea"/>
            </a:endParaRPr>
          </a:p>
        </p:txBody>
      </p:sp>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C5652564-4B3C-7347-96A4-2C6DC19AE8B6}"/>
                  </a:ext>
                </a:extLst>
              </p:cNvPr>
              <p:cNvSpPr txBox="1"/>
              <p:nvPr/>
            </p:nvSpPr>
            <p:spPr>
              <a:xfrm>
                <a:off x="6236878" y="2625652"/>
                <a:ext cx="3582283" cy="46166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i="1">
                              <a:latin typeface="Cambria Math" panose="02040503050406030204" pitchFamily="18" charset="0"/>
                            </a:rPr>
                            <m:t>1</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sSub>
                        <m:sSubPr>
                          <m:ctrlPr>
                            <a:rPr lang="en-US" altLang="zh-CN" sz="2400" i="1">
                              <a:latin typeface="Cambria Math" panose="02040503050406030204" pitchFamily="18" charset="0"/>
                            </a:rPr>
                          </m:ctrlPr>
                        </m:sSubPr>
                        <m:e>
                          <m:r>
                            <a:rPr lang="en-CN" altLang="zh-CN" sz="2400" i="1">
                              <a:latin typeface="Cambria Math" panose="02040503050406030204" pitchFamily="18" charset="0"/>
                            </a:rPr>
                            <m:t>𝑇</m:t>
                          </m:r>
                        </m:e>
                        <m:sub>
                          <m:r>
                            <a:rPr lang="en-US" altLang="zh-CN" sz="2400" i="1">
                              <a:latin typeface="Cambria Math" panose="02040503050406030204" pitchFamily="18" charset="0"/>
                            </a:rPr>
                            <m:t>1</m:t>
                          </m:r>
                        </m:sub>
                      </m:sSub>
                      <m:d>
                        <m:dPr>
                          <m:ctrlPr>
                            <a:rPr lang="en-CN" sz="2400" i="1">
                              <a:latin typeface="Cambria Math" panose="02040503050406030204" pitchFamily="18" charset="0"/>
                            </a:rPr>
                          </m:ctrlPr>
                        </m:dPr>
                        <m:e>
                          <m:r>
                            <a:rPr lang="en-CN" sz="2400" i="1">
                              <a:latin typeface="Cambria Math" panose="02040503050406030204" pitchFamily="18" charset="0"/>
                            </a:rPr>
                            <m:t>𝑥</m:t>
                          </m:r>
                        </m:e>
                      </m:d>
                    </m:oMath>
                  </m:oMathPara>
                </a14:m>
                <a:endParaRPr lang="en-CN" sz="2400" dirty="0"/>
              </a:p>
            </p:txBody>
          </p:sp>
        </mc:Choice>
        <mc:Fallback>
          <p:sp>
            <p:nvSpPr>
              <p:cNvPr id="32" name="TextBox 31">
                <a:extLst>
                  <a:ext uri="{FF2B5EF4-FFF2-40B4-BE49-F238E27FC236}">
                    <a16:creationId xmlns:a16="http://schemas.microsoft.com/office/drawing/2014/main" id="{C5652564-4B3C-7347-96A4-2C6DC19AE8B6}"/>
                  </a:ext>
                </a:extLst>
              </p:cNvPr>
              <p:cNvSpPr txBox="1">
                <a:spLocks noRot="1" noChangeAspect="1" noMove="1" noResize="1" noEditPoints="1" noAdjustHandles="1" noChangeArrowheads="1" noChangeShapeType="1" noTextEdit="1"/>
              </p:cNvSpPr>
              <p:nvPr/>
            </p:nvSpPr>
            <p:spPr>
              <a:xfrm>
                <a:off x="6236878" y="2625652"/>
                <a:ext cx="3582283" cy="461665"/>
              </a:xfrm>
              <a:prstGeom prst="rect">
                <a:avLst/>
              </a:prstGeom>
              <a:blipFill>
                <a:blip r:embed="rId5"/>
                <a:stretch>
                  <a:fillRect l="-1413" b="-189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TextBox 5">
                <a:extLst>
                  <a:ext uri="{FF2B5EF4-FFF2-40B4-BE49-F238E27FC236}">
                    <a16:creationId xmlns:a16="http://schemas.microsoft.com/office/drawing/2014/main" id="{522355CB-AE7E-A341-A0AF-53239E5F58B3}"/>
                  </a:ext>
                </a:extLst>
              </p:cNvPr>
              <p:cNvSpPr txBox="1"/>
              <p:nvPr/>
            </p:nvSpPr>
            <p:spPr>
              <a:xfrm>
                <a:off x="566962" y="4223813"/>
                <a:ext cx="8241039" cy="832536"/>
              </a:xfrm>
              <a:prstGeom prst="rect">
                <a:avLst/>
              </a:prstGeom>
              <a:noFill/>
            </p:spPr>
            <p:txBody>
              <a:bodyPr wrap="none" rtlCol="0">
                <a:spAutoFit/>
              </a:bodyPr>
              <a:lstStyle/>
              <a:p>
                <a:r>
                  <a:rPr lang="en-CN" sz="2400" dirty="0">
                    <a:latin typeface="+mn-ea"/>
                  </a:rPr>
                  <a:t>用</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CN" sz="2400" i="1">
                            <a:latin typeface="Cambria Math" panose="02040503050406030204" pitchFamily="18" charset="0"/>
                          </a:rPr>
                          <m:t>𝑓</m:t>
                        </m:r>
                      </m:e>
                      <m:sub>
                        <m:r>
                          <a:rPr lang="en-US" altLang="zh-CN" sz="2400" i="1">
                            <a:latin typeface="Cambria Math" panose="02040503050406030204" pitchFamily="18" charset="0"/>
                          </a:rPr>
                          <m:t>1</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US" sz="2400" i="1">
                        <a:latin typeface="Cambria Math" panose="02040503050406030204" pitchFamily="18" charset="0"/>
                      </a:rPr>
                      <m:t>拟合</m:t>
                    </m:r>
                  </m:oMath>
                </a14:m>
                <a:r>
                  <a:rPr lang="en-CN" sz="2400" dirty="0">
                    <a:latin typeface="+mn-ea"/>
                  </a:rPr>
                  <a:t>训练数据的残差</a:t>
                </a:r>
                <a14:m>
                  <m:oMath xmlns:m="http://schemas.openxmlformats.org/officeDocument/2006/math">
                    <m:sSub>
                      <m:sSubPr>
                        <m:ctrlPr>
                          <a:rPr lang="en-CN" sz="2400" i="1">
                            <a:latin typeface="Cambria Math" panose="02040503050406030204" pitchFamily="18" charset="0"/>
                            <a:ea typeface="SimSun" panose="02010600030101010101" pitchFamily="2" charset="-122"/>
                            <a:cs typeface="Times New Roman" panose="02020603050405020304" pitchFamily="18" charset="0"/>
                          </a:rPr>
                        </m:ctrlPr>
                      </m:sSubPr>
                      <m:e>
                        <m:r>
                          <a:rPr lang="en-US" sz="2400" i="1">
                            <a:latin typeface="Cambria Math" panose="02040503050406030204" pitchFamily="18" charset="0"/>
                            <a:ea typeface="SimSun" panose="02010600030101010101" pitchFamily="2" charset="-122"/>
                            <a:cs typeface="Times New Roman" panose="02020603050405020304" pitchFamily="18" charset="0"/>
                          </a:rPr>
                          <m:t>𝑟</m:t>
                        </m:r>
                      </m:e>
                      <m:sub>
                        <m:r>
                          <a:rPr lang="en-US" altLang="zh-CN" sz="2400" b="0" i="1" smtClean="0">
                            <a:latin typeface="Cambria Math" panose="02040503050406030204" pitchFamily="18" charset="0"/>
                            <a:ea typeface="SimSun" panose="02010600030101010101" pitchFamily="2" charset="-122"/>
                            <a:cs typeface="Times New Roman" panose="02020603050405020304" pitchFamily="18" charset="0"/>
                          </a:rPr>
                          <m:t>2</m:t>
                        </m:r>
                        <m:r>
                          <a:rPr lang="en-US" sz="2400" i="1">
                            <a:latin typeface="Cambria Math" panose="02040503050406030204" pitchFamily="18" charset="0"/>
                            <a:ea typeface="SimSun" panose="02010600030101010101" pitchFamily="2" charset="-122"/>
                            <a:cs typeface="Times New Roman" panose="02020603050405020304" pitchFamily="18" charset="0"/>
                          </a:rPr>
                          <m:t>𝑖</m:t>
                        </m:r>
                      </m:sub>
                    </m:sSub>
                    <m:r>
                      <a:rPr lang="en-US" sz="2400" i="1">
                        <a:latin typeface="Cambria Math" panose="02040503050406030204" pitchFamily="18" charset="0"/>
                        <a:ea typeface="SimSun" panose="02010600030101010101" pitchFamily="2" charset="-122"/>
                        <a:cs typeface="Times New Roman" panose="02020603050405020304" pitchFamily="18" charset="0"/>
                      </a:rPr>
                      <m:t>=</m:t>
                    </m:r>
                    <m:sSub>
                      <m:sSubPr>
                        <m:ctrlPr>
                          <a:rPr lang="en-CN" sz="2400" i="1">
                            <a:latin typeface="Cambria Math" panose="02040503050406030204" pitchFamily="18" charset="0"/>
                            <a:ea typeface="SimSun" panose="02010600030101010101" pitchFamily="2" charset="-122"/>
                            <a:cs typeface="Times New Roman" panose="02020603050405020304" pitchFamily="18" charset="0"/>
                          </a:rPr>
                        </m:ctrlPr>
                      </m:sSubPr>
                      <m:e>
                        <m:r>
                          <a:rPr lang="en-US" sz="2400" i="1">
                            <a:latin typeface="Cambria Math" panose="02040503050406030204" pitchFamily="18" charset="0"/>
                            <a:ea typeface="SimSun" panose="02010600030101010101" pitchFamily="2" charset="-122"/>
                            <a:cs typeface="Times New Roman" panose="02020603050405020304" pitchFamily="18" charset="0"/>
                          </a:rPr>
                          <m:t>𝑦</m:t>
                        </m:r>
                      </m:e>
                      <m:sub>
                        <m:r>
                          <a:rPr lang="en-US" sz="2400" i="1">
                            <a:latin typeface="Cambria Math" panose="02040503050406030204" pitchFamily="18" charset="0"/>
                            <a:ea typeface="SimSun" panose="02010600030101010101" pitchFamily="2" charset="-122"/>
                            <a:cs typeface="Times New Roman" panose="02020603050405020304" pitchFamily="18" charset="0"/>
                          </a:rPr>
                          <m:t>𝑖</m:t>
                        </m:r>
                      </m:sub>
                    </m:sSub>
                    <m:r>
                      <a:rPr lang="en-US" sz="2400" i="1">
                        <a:latin typeface="Cambria Math" panose="02040503050406030204" pitchFamily="18" charset="0"/>
                        <a:ea typeface="SimSun" panose="02010600030101010101" pitchFamily="2" charset="-122"/>
                        <a:cs typeface="Times New Roman" panose="02020603050405020304" pitchFamily="18" charset="0"/>
                      </a:rPr>
                      <m:t>−</m:t>
                    </m:r>
                    <m:sSub>
                      <m:sSubPr>
                        <m:ctrlPr>
                          <a:rPr lang="en-CN" sz="2400" i="1">
                            <a:latin typeface="Cambria Math" panose="02040503050406030204" pitchFamily="18" charset="0"/>
                            <a:ea typeface="SimSun" panose="02010600030101010101" pitchFamily="2" charset="-122"/>
                            <a:cs typeface="Times New Roman" panose="02020603050405020304" pitchFamily="18" charset="0"/>
                          </a:rPr>
                        </m:ctrlPr>
                      </m:sSubPr>
                      <m:e>
                        <m:r>
                          <a:rPr lang="en-US" sz="2400" i="1">
                            <a:latin typeface="Cambria Math" panose="02040503050406030204" pitchFamily="18" charset="0"/>
                            <a:ea typeface="SimSun" panose="02010600030101010101" pitchFamily="2" charset="-122"/>
                            <a:cs typeface="Times New Roman" panose="02020603050405020304" pitchFamily="18" charset="0"/>
                          </a:rPr>
                          <m:t>𝑓</m:t>
                        </m:r>
                      </m:e>
                      <m:sub>
                        <m:r>
                          <a:rPr lang="en-US" sz="2400" i="1">
                            <a:latin typeface="Cambria Math" panose="02040503050406030204" pitchFamily="18" charset="0"/>
                            <a:ea typeface="SimSun" panose="02010600030101010101" pitchFamily="2" charset="-122"/>
                            <a:cs typeface="Times New Roman" panose="02020603050405020304" pitchFamily="18" charset="0"/>
                          </a:rPr>
                          <m:t>1</m:t>
                        </m:r>
                      </m:sub>
                    </m:sSub>
                    <m:d>
                      <m:dPr>
                        <m:ctrlPr>
                          <a:rPr lang="en-CN" sz="2400" i="1">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2400" i="1">
                                <a:latin typeface="Cambria Math" panose="02040503050406030204" pitchFamily="18" charset="0"/>
                                <a:ea typeface="SimSun" panose="02010600030101010101" pitchFamily="2" charset="-122"/>
                                <a:cs typeface="Times New Roman" panose="02020603050405020304" pitchFamily="18" charset="0"/>
                              </a:rPr>
                            </m:ctrlPr>
                          </m:sSubPr>
                          <m:e>
                            <m:r>
                              <a:rPr lang="en-US" sz="2400" i="1">
                                <a:latin typeface="Cambria Math" panose="02040503050406030204" pitchFamily="18" charset="0"/>
                                <a:ea typeface="SimSun" panose="02010600030101010101" pitchFamily="2" charset="-122"/>
                                <a:cs typeface="Times New Roman" panose="02020603050405020304" pitchFamily="18" charset="0"/>
                              </a:rPr>
                              <m:t>𝑥</m:t>
                            </m:r>
                          </m:e>
                          <m:sub>
                            <m:r>
                              <a:rPr lang="en-US" sz="2400" i="1">
                                <a:latin typeface="Cambria Math" panose="02040503050406030204" pitchFamily="18" charset="0"/>
                                <a:ea typeface="SimSun" panose="02010600030101010101" pitchFamily="2" charset="-122"/>
                                <a:cs typeface="Times New Roman" panose="02020603050405020304" pitchFamily="18" charset="0"/>
                              </a:rPr>
                              <m:t>𝑖</m:t>
                            </m:r>
                          </m:sub>
                        </m:sSub>
                      </m:e>
                    </m:d>
                    <m:r>
                      <a:rPr lang="en-US" sz="2400" i="1">
                        <a:latin typeface="Cambria Math" panose="02040503050406030204" pitchFamily="18" charset="0"/>
                        <a:ea typeface="SimSun" panose="02010600030101010101" pitchFamily="2" charset="-122"/>
                        <a:cs typeface="Times New Roman" panose="02020603050405020304" pitchFamily="18" charset="0"/>
                      </a:rPr>
                      <m:t>, </m:t>
                    </m:r>
                    <m:r>
                      <a:rPr lang="en-US" sz="2400" i="1">
                        <a:latin typeface="Cambria Math" panose="02040503050406030204" pitchFamily="18" charset="0"/>
                        <a:ea typeface="SimSun" panose="02010600030101010101" pitchFamily="2" charset="-122"/>
                        <a:cs typeface="Times New Roman" panose="02020603050405020304" pitchFamily="18" charset="0"/>
                      </a:rPr>
                      <m:t>𝑖</m:t>
                    </m:r>
                    <m:r>
                      <a:rPr lang="en-US" sz="2400" i="1">
                        <a:latin typeface="Cambria Math" panose="02040503050406030204" pitchFamily="18" charset="0"/>
                        <a:ea typeface="SimSun" panose="02010600030101010101" pitchFamily="2" charset="-122"/>
                        <a:cs typeface="Times New Roman" panose="02020603050405020304" pitchFamily="18" charset="0"/>
                      </a:rPr>
                      <m:t>=1,2,…10</m:t>
                    </m:r>
                  </m:oMath>
                </a14:m>
                <a:r>
                  <a:rPr lang="zh-CN" altLang="en-US" sz="2400" dirty="0">
                    <a:latin typeface="Cambria" panose="02040503050406030204" pitchFamily="18" charset="0"/>
                    <a:ea typeface="SimSun" panose="02010600030101010101" pitchFamily="2" charset="-122"/>
                    <a:cs typeface="Times New Roman" panose="02020603050405020304" pitchFamily="18" charset="0"/>
                  </a:rPr>
                  <a:t>：</a:t>
                </a:r>
                <a:endParaRPr lang="en-CN" sz="2400" dirty="0">
                  <a:latin typeface="Cambria" panose="02040503050406030204" pitchFamily="18" charset="0"/>
                  <a:ea typeface="SimSun" panose="02010600030101010101" pitchFamily="2" charset="-122"/>
                  <a:cs typeface="Times New Roman" panose="02020603050405020304" pitchFamily="18" charset="0"/>
                </a:endParaRPr>
              </a:p>
              <a:p>
                <a:endParaRPr lang="en-CN" sz="2400" dirty="0">
                  <a:latin typeface="+mn-ea"/>
                </a:endParaRPr>
              </a:p>
            </p:txBody>
          </p:sp>
        </mc:Choice>
        <mc:Fallback>
          <p:sp>
            <p:nvSpPr>
              <p:cNvPr id="19" name="TextBox 5">
                <a:extLst>
                  <a:ext uri="{FF2B5EF4-FFF2-40B4-BE49-F238E27FC236}">
                    <a16:creationId xmlns:a16="http://schemas.microsoft.com/office/drawing/2014/main" id="{522355CB-AE7E-A341-A0AF-53239E5F58B3}"/>
                  </a:ext>
                </a:extLst>
              </p:cNvPr>
              <p:cNvSpPr txBox="1">
                <a:spLocks noRot="1" noChangeAspect="1" noMove="1" noResize="1" noEditPoints="1" noAdjustHandles="1" noChangeArrowheads="1" noChangeShapeType="1" noTextEdit="1"/>
              </p:cNvSpPr>
              <p:nvPr/>
            </p:nvSpPr>
            <p:spPr>
              <a:xfrm>
                <a:off x="566962" y="4223813"/>
                <a:ext cx="8241039" cy="832536"/>
              </a:xfrm>
              <a:prstGeom prst="rect">
                <a:avLst/>
              </a:prstGeom>
              <a:blipFill>
                <a:blip r:embed="rId6"/>
                <a:stretch>
                  <a:fillRect l="-1231" t="-7576" r="-3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graphicFrame>
            <p:nvGraphicFramePr>
              <p:cNvPr id="20" name="表格 2">
                <a:extLst>
                  <a:ext uri="{FF2B5EF4-FFF2-40B4-BE49-F238E27FC236}">
                    <a16:creationId xmlns:a16="http://schemas.microsoft.com/office/drawing/2014/main" id="{3B42BF52-53DD-9847-8160-6E2BADC05794}"/>
                  </a:ext>
                </a:extLst>
              </p:cNvPr>
              <p:cNvGraphicFramePr>
                <a:graphicFrameLocks noGrp="1"/>
              </p:cNvGraphicFramePr>
              <p:nvPr>
                <p:extLst>
                  <p:ext uri="{D42A27DB-BD31-4B8C-83A1-F6EECF244321}">
                    <p14:modId xmlns:p14="http://schemas.microsoft.com/office/powerpoint/2010/main" val="48692181"/>
                  </p:ext>
                </p:extLst>
              </p:nvPr>
            </p:nvGraphicFramePr>
            <p:xfrm>
              <a:off x="1321989" y="4800059"/>
              <a:ext cx="9652632" cy="832536"/>
            </p:xfrm>
            <a:graphic>
              <a:graphicData uri="http://schemas.openxmlformats.org/drawingml/2006/table">
                <a:tbl>
                  <a:tblPr firstRow="1" bandRow="1">
                    <a:tableStyleId>{5C22544A-7EE6-4342-B048-85BDC9FD1C3A}</a:tableStyleId>
                  </a:tblPr>
                  <a:tblGrid>
                    <a:gridCol w="877512">
                      <a:extLst>
                        <a:ext uri="{9D8B030D-6E8A-4147-A177-3AD203B41FA5}">
                          <a16:colId xmlns:a16="http://schemas.microsoft.com/office/drawing/2014/main" val="1943997088"/>
                        </a:ext>
                      </a:extLst>
                    </a:gridCol>
                    <a:gridCol w="877512">
                      <a:extLst>
                        <a:ext uri="{9D8B030D-6E8A-4147-A177-3AD203B41FA5}">
                          <a16:colId xmlns:a16="http://schemas.microsoft.com/office/drawing/2014/main" val="4029609052"/>
                        </a:ext>
                      </a:extLst>
                    </a:gridCol>
                    <a:gridCol w="877512">
                      <a:extLst>
                        <a:ext uri="{9D8B030D-6E8A-4147-A177-3AD203B41FA5}">
                          <a16:colId xmlns:a16="http://schemas.microsoft.com/office/drawing/2014/main" val="2195620660"/>
                        </a:ext>
                      </a:extLst>
                    </a:gridCol>
                    <a:gridCol w="877512">
                      <a:extLst>
                        <a:ext uri="{9D8B030D-6E8A-4147-A177-3AD203B41FA5}">
                          <a16:colId xmlns:a16="http://schemas.microsoft.com/office/drawing/2014/main" val="1744851731"/>
                        </a:ext>
                      </a:extLst>
                    </a:gridCol>
                    <a:gridCol w="877512">
                      <a:extLst>
                        <a:ext uri="{9D8B030D-6E8A-4147-A177-3AD203B41FA5}">
                          <a16:colId xmlns:a16="http://schemas.microsoft.com/office/drawing/2014/main" val="3601791417"/>
                        </a:ext>
                      </a:extLst>
                    </a:gridCol>
                    <a:gridCol w="877512">
                      <a:extLst>
                        <a:ext uri="{9D8B030D-6E8A-4147-A177-3AD203B41FA5}">
                          <a16:colId xmlns:a16="http://schemas.microsoft.com/office/drawing/2014/main" val="3025800682"/>
                        </a:ext>
                      </a:extLst>
                    </a:gridCol>
                    <a:gridCol w="877512">
                      <a:extLst>
                        <a:ext uri="{9D8B030D-6E8A-4147-A177-3AD203B41FA5}">
                          <a16:colId xmlns:a16="http://schemas.microsoft.com/office/drawing/2014/main" val="1737094578"/>
                        </a:ext>
                      </a:extLst>
                    </a:gridCol>
                    <a:gridCol w="877512">
                      <a:extLst>
                        <a:ext uri="{9D8B030D-6E8A-4147-A177-3AD203B41FA5}">
                          <a16:colId xmlns:a16="http://schemas.microsoft.com/office/drawing/2014/main" val="3368189512"/>
                        </a:ext>
                      </a:extLst>
                    </a:gridCol>
                    <a:gridCol w="877512">
                      <a:extLst>
                        <a:ext uri="{9D8B030D-6E8A-4147-A177-3AD203B41FA5}">
                          <a16:colId xmlns:a16="http://schemas.microsoft.com/office/drawing/2014/main" val="2594485810"/>
                        </a:ext>
                      </a:extLst>
                    </a:gridCol>
                    <a:gridCol w="877512">
                      <a:extLst>
                        <a:ext uri="{9D8B030D-6E8A-4147-A177-3AD203B41FA5}">
                          <a16:colId xmlns:a16="http://schemas.microsoft.com/office/drawing/2014/main" val="1267090519"/>
                        </a:ext>
                      </a:extLst>
                    </a:gridCol>
                    <a:gridCol w="877512">
                      <a:extLst>
                        <a:ext uri="{9D8B030D-6E8A-4147-A177-3AD203B41FA5}">
                          <a16:colId xmlns:a16="http://schemas.microsoft.com/office/drawing/2014/main" val="726181432"/>
                        </a:ext>
                      </a:extLst>
                    </a:gridCol>
                  </a:tblGrid>
                  <a:tr h="416268">
                    <a:tc>
                      <a:txBody>
                        <a:bodyPr/>
                        <a:lstStyle/>
                        <a:p>
                          <a:pPr algn="ctr"/>
                          <a:r>
                            <a:rPr lang="en-US" altLang="zh-CN" sz="2000" dirty="0">
                              <a:latin typeface="Times New Roman" panose="02020603050405020304" pitchFamily="18" charset="0"/>
                              <a:cs typeface="Times New Roman" panose="02020603050405020304" pitchFamily="18" charset="0"/>
                            </a:rPr>
                            <a:t>x</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4</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416268">
                    <a:tc>
                      <a:txBody>
                        <a:bodyPr/>
                        <a:lstStyle/>
                        <a:p>
                          <a:pPr algn="ctr"/>
                          <a14:m>
                            <m:oMathPara xmlns:m="http://schemas.openxmlformats.org/officeDocument/2006/math">
                              <m:oMathParaPr>
                                <m:jc m:val="centerGroup"/>
                              </m:oMathParaPr>
                              <m:oMath xmlns:m="http://schemas.openxmlformats.org/officeDocument/2006/math">
                                <m:sSub>
                                  <m:sSubPr>
                                    <m:ctrlPr>
                                      <a:rPr lang="en-CN" sz="2000" i="1" smtClean="0">
                                        <a:latin typeface="Cambria Math" panose="02040503050406030204" pitchFamily="18" charset="0"/>
                                        <a:ea typeface="SimSun" panose="02010600030101010101" pitchFamily="2" charset="-122"/>
                                        <a:cs typeface="Times New Roman" panose="02020603050405020304" pitchFamily="18" charset="0"/>
                                      </a:rPr>
                                    </m:ctrlPr>
                                  </m:sSubPr>
                                  <m:e>
                                    <m:r>
                                      <a:rPr lang="en-US" sz="2000" i="1">
                                        <a:latin typeface="Cambria Math" panose="02040503050406030204" pitchFamily="18" charset="0"/>
                                        <a:ea typeface="SimSun" panose="02010600030101010101" pitchFamily="2" charset="-122"/>
                                        <a:cs typeface="Times New Roman" panose="02020603050405020304" pitchFamily="18" charset="0"/>
                                      </a:rPr>
                                      <m:t>𝑟</m:t>
                                    </m:r>
                                  </m:e>
                                  <m:sub>
                                    <m:r>
                                      <a:rPr lang="en-US" altLang="zh-CN" sz="2000" b="0" i="1" smtClean="0">
                                        <a:latin typeface="Cambria Math" panose="02040503050406030204" pitchFamily="18" charset="0"/>
                                        <a:ea typeface="SimSun" panose="02010600030101010101" pitchFamily="2" charset="-122"/>
                                        <a:cs typeface="Times New Roman" panose="02020603050405020304" pitchFamily="18" charset="0"/>
                                      </a:rPr>
                                      <m:t>2</m:t>
                                    </m:r>
                                    <m:r>
                                      <a:rPr lang="en-US" sz="2000" i="1">
                                        <a:latin typeface="Cambria Math" panose="02040503050406030204" pitchFamily="18" charset="0"/>
                                        <a:ea typeface="SimSun" panose="02010600030101010101" pitchFamily="2" charset="-122"/>
                                        <a:cs typeface="Times New Roman" panose="02020603050405020304" pitchFamily="18" charset="0"/>
                                      </a:rPr>
                                      <m:t>𝑖</m:t>
                                    </m:r>
                                  </m:sub>
                                </m:sSub>
                              </m:oMath>
                            </m:oMathPara>
                          </a14:m>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-0.68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-0.54</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-0.33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0.16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0.56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0.81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-0.01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-0.21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0.09</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0.14</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mc:Choice>
        <mc:Fallback>
          <p:graphicFrame>
            <p:nvGraphicFramePr>
              <p:cNvPr id="20" name="表格 2">
                <a:extLst>
                  <a:ext uri="{FF2B5EF4-FFF2-40B4-BE49-F238E27FC236}">
                    <a16:creationId xmlns:a16="http://schemas.microsoft.com/office/drawing/2014/main" id="{3B42BF52-53DD-9847-8160-6E2BADC05794}"/>
                  </a:ext>
                </a:extLst>
              </p:cNvPr>
              <p:cNvGraphicFramePr>
                <a:graphicFrameLocks noGrp="1"/>
              </p:cNvGraphicFramePr>
              <p:nvPr>
                <p:extLst>
                  <p:ext uri="{D42A27DB-BD31-4B8C-83A1-F6EECF244321}">
                    <p14:modId xmlns:p14="http://schemas.microsoft.com/office/powerpoint/2010/main" val="48692181"/>
                  </p:ext>
                </p:extLst>
              </p:nvPr>
            </p:nvGraphicFramePr>
            <p:xfrm>
              <a:off x="1321989" y="4800059"/>
              <a:ext cx="9652632" cy="832536"/>
            </p:xfrm>
            <a:graphic>
              <a:graphicData uri="http://schemas.openxmlformats.org/drawingml/2006/table">
                <a:tbl>
                  <a:tblPr firstRow="1" bandRow="1">
                    <a:tableStyleId>{5C22544A-7EE6-4342-B048-85BDC9FD1C3A}</a:tableStyleId>
                  </a:tblPr>
                  <a:tblGrid>
                    <a:gridCol w="877512">
                      <a:extLst>
                        <a:ext uri="{9D8B030D-6E8A-4147-A177-3AD203B41FA5}">
                          <a16:colId xmlns:a16="http://schemas.microsoft.com/office/drawing/2014/main" val="1943997088"/>
                        </a:ext>
                      </a:extLst>
                    </a:gridCol>
                    <a:gridCol w="877512">
                      <a:extLst>
                        <a:ext uri="{9D8B030D-6E8A-4147-A177-3AD203B41FA5}">
                          <a16:colId xmlns:a16="http://schemas.microsoft.com/office/drawing/2014/main" val="4029609052"/>
                        </a:ext>
                      </a:extLst>
                    </a:gridCol>
                    <a:gridCol w="877512">
                      <a:extLst>
                        <a:ext uri="{9D8B030D-6E8A-4147-A177-3AD203B41FA5}">
                          <a16:colId xmlns:a16="http://schemas.microsoft.com/office/drawing/2014/main" val="2195620660"/>
                        </a:ext>
                      </a:extLst>
                    </a:gridCol>
                    <a:gridCol w="877512">
                      <a:extLst>
                        <a:ext uri="{9D8B030D-6E8A-4147-A177-3AD203B41FA5}">
                          <a16:colId xmlns:a16="http://schemas.microsoft.com/office/drawing/2014/main" val="1744851731"/>
                        </a:ext>
                      </a:extLst>
                    </a:gridCol>
                    <a:gridCol w="877512">
                      <a:extLst>
                        <a:ext uri="{9D8B030D-6E8A-4147-A177-3AD203B41FA5}">
                          <a16:colId xmlns:a16="http://schemas.microsoft.com/office/drawing/2014/main" val="3601791417"/>
                        </a:ext>
                      </a:extLst>
                    </a:gridCol>
                    <a:gridCol w="877512">
                      <a:extLst>
                        <a:ext uri="{9D8B030D-6E8A-4147-A177-3AD203B41FA5}">
                          <a16:colId xmlns:a16="http://schemas.microsoft.com/office/drawing/2014/main" val="3025800682"/>
                        </a:ext>
                      </a:extLst>
                    </a:gridCol>
                    <a:gridCol w="877512">
                      <a:extLst>
                        <a:ext uri="{9D8B030D-6E8A-4147-A177-3AD203B41FA5}">
                          <a16:colId xmlns:a16="http://schemas.microsoft.com/office/drawing/2014/main" val="1737094578"/>
                        </a:ext>
                      </a:extLst>
                    </a:gridCol>
                    <a:gridCol w="877512">
                      <a:extLst>
                        <a:ext uri="{9D8B030D-6E8A-4147-A177-3AD203B41FA5}">
                          <a16:colId xmlns:a16="http://schemas.microsoft.com/office/drawing/2014/main" val="3368189512"/>
                        </a:ext>
                      </a:extLst>
                    </a:gridCol>
                    <a:gridCol w="877512">
                      <a:extLst>
                        <a:ext uri="{9D8B030D-6E8A-4147-A177-3AD203B41FA5}">
                          <a16:colId xmlns:a16="http://schemas.microsoft.com/office/drawing/2014/main" val="2594485810"/>
                        </a:ext>
                      </a:extLst>
                    </a:gridCol>
                    <a:gridCol w="877512">
                      <a:extLst>
                        <a:ext uri="{9D8B030D-6E8A-4147-A177-3AD203B41FA5}">
                          <a16:colId xmlns:a16="http://schemas.microsoft.com/office/drawing/2014/main" val="1267090519"/>
                        </a:ext>
                      </a:extLst>
                    </a:gridCol>
                    <a:gridCol w="877512">
                      <a:extLst>
                        <a:ext uri="{9D8B030D-6E8A-4147-A177-3AD203B41FA5}">
                          <a16:colId xmlns:a16="http://schemas.microsoft.com/office/drawing/2014/main" val="726181432"/>
                        </a:ext>
                      </a:extLst>
                    </a:gridCol>
                  </a:tblGrid>
                  <a:tr h="416268">
                    <a:tc>
                      <a:txBody>
                        <a:bodyPr/>
                        <a:lstStyle/>
                        <a:p>
                          <a:pPr algn="ctr"/>
                          <a:r>
                            <a:rPr lang="en-US" altLang="zh-CN" sz="2000" dirty="0">
                              <a:latin typeface="Times New Roman" panose="02020603050405020304" pitchFamily="18" charset="0"/>
                              <a:cs typeface="Times New Roman" panose="02020603050405020304" pitchFamily="18" charset="0"/>
                            </a:rPr>
                            <a:t>x</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4</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416268">
                    <a:tc>
                      <a:txBody>
                        <a:bodyPr/>
                        <a:lstStyle/>
                        <a:p>
                          <a:endParaRPr lang="zh-CN"/>
                        </a:p>
                      </a:txBody>
                      <a:tcPr>
                        <a:blipFill>
                          <a:blip r:embed="rId7"/>
                          <a:stretch>
                            <a:fillRect l="-1449" t="-109091" r="-1005797" b="-21212"/>
                          </a:stretch>
                        </a:blipFill>
                      </a:tcPr>
                    </a:tc>
                    <a:tc>
                      <a:txBody>
                        <a:bodyPr/>
                        <a:lstStyle/>
                        <a:p>
                          <a:pPr algn="ctr"/>
                          <a:r>
                            <a:rPr lang="en-US" altLang="zh-CN" sz="2000" dirty="0">
                              <a:latin typeface="Times New Roman" panose="02020603050405020304" pitchFamily="18" charset="0"/>
                              <a:cs typeface="Times New Roman" panose="02020603050405020304" pitchFamily="18" charset="0"/>
                            </a:rPr>
                            <a:t>-0.68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-0.54</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-0.33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0.16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0.56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0.81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-0.01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-0.21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0.09</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0.14</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mc:Fallback>
      </mc:AlternateContent>
      <p:graphicFrame>
        <p:nvGraphicFramePr>
          <p:cNvPr id="28" name="表格 2">
            <a:extLst>
              <a:ext uri="{FF2B5EF4-FFF2-40B4-BE49-F238E27FC236}">
                <a16:creationId xmlns:a16="http://schemas.microsoft.com/office/drawing/2014/main" id="{ADF1BACC-5E57-E945-98B6-2DCA2EE25323}"/>
              </a:ext>
            </a:extLst>
          </p:cNvPr>
          <p:cNvGraphicFramePr>
            <a:graphicFrameLocks noGrp="1"/>
          </p:cNvGraphicFramePr>
          <p:nvPr>
            <p:extLst>
              <p:ext uri="{D42A27DB-BD31-4B8C-83A1-F6EECF244321}">
                <p14:modId xmlns:p14="http://schemas.microsoft.com/office/powerpoint/2010/main" val="2816823802"/>
              </p:ext>
            </p:extLst>
          </p:nvPr>
        </p:nvGraphicFramePr>
        <p:xfrm>
          <a:off x="1246106" y="3408230"/>
          <a:ext cx="9804399" cy="792480"/>
        </p:xfrm>
        <a:graphic>
          <a:graphicData uri="http://schemas.openxmlformats.org/drawingml/2006/table">
            <a:tbl>
              <a:tblPr firstRow="1" bandRow="1">
                <a:tableStyleId>{5C22544A-7EE6-4342-B048-85BDC9FD1C3A}</a:tableStyleId>
              </a:tblPr>
              <a:tblGrid>
                <a:gridCol w="891309">
                  <a:extLst>
                    <a:ext uri="{9D8B030D-6E8A-4147-A177-3AD203B41FA5}">
                      <a16:colId xmlns:a16="http://schemas.microsoft.com/office/drawing/2014/main" val="1943997088"/>
                    </a:ext>
                  </a:extLst>
                </a:gridCol>
                <a:gridCol w="891309">
                  <a:extLst>
                    <a:ext uri="{9D8B030D-6E8A-4147-A177-3AD203B41FA5}">
                      <a16:colId xmlns:a16="http://schemas.microsoft.com/office/drawing/2014/main" val="4029609052"/>
                    </a:ext>
                  </a:extLst>
                </a:gridCol>
                <a:gridCol w="891309">
                  <a:extLst>
                    <a:ext uri="{9D8B030D-6E8A-4147-A177-3AD203B41FA5}">
                      <a16:colId xmlns:a16="http://schemas.microsoft.com/office/drawing/2014/main" val="2195620660"/>
                    </a:ext>
                  </a:extLst>
                </a:gridCol>
                <a:gridCol w="891309">
                  <a:extLst>
                    <a:ext uri="{9D8B030D-6E8A-4147-A177-3AD203B41FA5}">
                      <a16:colId xmlns:a16="http://schemas.microsoft.com/office/drawing/2014/main" val="1744851731"/>
                    </a:ext>
                  </a:extLst>
                </a:gridCol>
                <a:gridCol w="891309">
                  <a:extLst>
                    <a:ext uri="{9D8B030D-6E8A-4147-A177-3AD203B41FA5}">
                      <a16:colId xmlns:a16="http://schemas.microsoft.com/office/drawing/2014/main" val="3601791417"/>
                    </a:ext>
                  </a:extLst>
                </a:gridCol>
                <a:gridCol w="891309">
                  <a:extLst>
                    <a:ext uri="{9D8B030D-6E8A-4147-A177-3AD203B41FA5}">
                      <a16:colId xmlns:a16="http://schemas.microsoft.com/office/drawing/2014/main" val="3025800682"/>
                    </a:ext>
                  </a:extLst>
                </a:gridCol>
                <a:gridCol w="891309">
                  <a:extLst>
                    <a:ext uri="{9D8B030D-6E8A-4147-A177-3AD203B41FA5}">
                      <a16:colId xmlns:a16="http://schemas.microsoft.com/office/drawing/2014/main" val="1737094578"/>
                    </a:ext>
                  </a:extLst>
                </a:gridCol>
                <a:gridCol w="891309">
                  <a:extLst>
                    <a:ext uri="{9D8B030D-6E8A-4147-A177-3AD203B41FA5}">
                      <a16:colId xmlns:a16="http://schemas.microsoft.com/office/drawing/2014/main" val="3368189512"/>
                    </a:ext>
                  </a:extLst>
                </a:gridCol>
                <a:gridCol w="891309">
                  <a:extLst>
                    <a:ext uri="{9D8B030D-6E8A-4147-A177-3AD203B41FA5}">
                      <a16:colId xmlns:a16="http://schemas.microsoft.com/office/drawing/2014/main" val="2594485810"/>
                    </a:ext>
                  </a:extLst>
                </a:gridCol>
                <a:gridCol w="891309">
                  <a:extLst>
                    <a:ext uri="{9D8B030D-6E8A-4147-A177-3AD203B41FA5}">
                      <a16:colId xmlns:a16="http://schemas.microsoft.com/office/drawing/2014/main" val="1267090519"/>
                    </a:ext>
                  </a:extLst>
                </a:gridCol>
                <a:gridCol w="891309">
                  <a:extLst>
                    <a:ext uri="{9D8B030D-6E8A-4147-A177-3AD203B41FA5}">
                      <a16:colId xmlns:a16="http://schemas.microsoft.com/office/drawing/2014/main" val="726181432"/>
                    </a:ext>
                  </a:extLst>
                </a:gridCol>
              </a:tblGrid>
              <a:tr h="370840">
                <a:tc>
                  <a:txBody>
                    <a:bodyPr/>
                    <a:lstStyle/>
                    <a:p>
                      <a:pPr algn="ctr"/>
                      <a:r>
                        <a:rPr lang="en-US" altLang="zh-CN" sz="2000" dirty="0">
                          <a:latin typeface="Times New Roman" panose="02020603050405020304" pitchFamily="18" charset="0"/>
                          <a:cs typeface="Times New Roman" panose="02020603050405020304" pitchFamily="18" charset="0"/>
                        </a:rPr>
                        <a:t>x</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2</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3</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4</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5500202"/>
                  </a:ext>
                </a:extLst>
              </a:tr>
              <a:tr h="370840">
                <a:tc>
                  <a:txBody>
                    <a:bodyPr/>
                    <a:lstStyle/>
                    <a:p>
                      <a:pPr algn="ctr"/>
                      <a:r>
                        <a:rPr lang="en-US" altLang="zh-CN" sz="2000" dirty="0">
                          <a:latin typeface="Times New Roman" panose="02020603050405020304" pitchFamily="18" charset="0"/>
                          <a:cs typeface="Times New Roman" panose="02020603050405020304" pitchFamily="18" charset="0"/>
                        </a:rPr>
                        <a:t>y</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5.56</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5.70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5.91</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6.40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6.80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7.05</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8.90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8.70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9.00</a:t>
                      </a:r>
                      <a:endParaRPr lang="zh-CN"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latin typeface="Times New Roman" panose="02020603050405020304" pitchFamily="18" charset="0"/>
                          <a:cs typeface="Times New Roman" panose="02020603050405020304" pitchFamily="18" charset="0"/>
                        </a:rPr>
                        <a:t>9.05</a:t>
                      </a:r>
                      <a:endParaRPr lang="zh-CN"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5702015"/>
                  </a:ext>
                </a:extLst>
              </a:tr>
            </a:tbl>
          </a:graphicData>
        </a:graphic>
      </p:graphicFrame>
      <p:sp>
        <p:nvSpPr>
          <p:cNvPr id="31" name="TextBox 7">
            <a:extLst>
              <a:ext uri="{FF2B5EF4-FFF2-40B4-BE49-F238E27FC236}">
                <a16:creationId xmlns:a16="http://schemas.microsoft.com/office/drawing/2014/main" id="{2F3C2DFF-D89F-F74C-955C-CBC8ACFC6ED9}"/>
              </a:ext>
            </a:extLst>
          </p:cNvPr>
          <p:cNvSpPr txBox="1"/>
          <p:nvPr/>
        </p:nvSpPr>
        <p:spPr>
          <a:xfrm>
            <a:off x="575782" y="5831196"/>
            <a:ext cx="2339102" cy="461665"/>
          </a:xfrm>
          <a:prstGeom prst="rect">
            <a:avLst/>
          </a:prstGeom>
          <a:noFill/>
        </p:spPr>
        <p:txBody>
          <a:bodyPr wrap="none" rtlCol="0">
            <a:spAutoFit/>
          </a:bodyPr>
          <a:lstStyle/>
          <a:p>
            <a:r>
              <a:rPr lang="en-CN" sz="2400">
                <a:latin typeface="+mn-ea"/>
              </a:rPr>
              <a:t>平方损失误差</a:t>
            </a:r>
            <a:r>
              <a:rPr lang="zh-CN" altLang="en-US" sz="2400" dirty="0">
                <a:latin typeface="+mn-ea"/>
              </a:rPr>
              <a:t>：</a:t>
            </a:r>
            <a:endParaRPr lang="en-CN" sz="2400" dirty="0">
              <a:latin typeface="+mn-ea"/>
            </a:endParaRPr>
          </a:p>
        </p:txBody>
      </p:sp>
      <mc:AlternateContent xmlns:mc="http://schemas.openxmlformats.org/markup-compatibility/2006">
        <mc:Choice xmlns:a14="http://schemas.microsoft.com/office/drawing/2010/main" Requires="a14">
          <p:sp>
            <p:nvSpPr>
              <p:cNvPr id="33" name="TextBox 20">
                <a:extLst>
                  <a:ext uri="{FF2B5EF4-FFF2-40B4-BE49-F238E27FC236}">
                    <a16:creationId xmlns:a16="http://schemas.microsoft.com/office/drawing/2014/main" id="{165DE55D-4E19-8043-A263-2BB06E33530C}"/>
                  </a:ext>
                </a:extLst>
              </p:cNvPr>
              <p:cNvSpPr txBox="1"/>
              <p:nvPr/>
            </p:nvSpPr>
            <p:spPr>
              <a:xfrm>
                <a:off x="2914884" y="5689774"/>
                <a:ext cx="6093618" cy="582147"/>
              </a:xfrm>
              <a:prstGeom prst="rect">
                <a:avLst/>
              </a:prstGeom>
              <a:noFill/>
            </p:spPr>
            <p:txBody>
              <a:bodyPr wrap="square">
                <a:spAutoFit/>
              </a:bodyPr>
              <a:lstStyle/>
              <a:p>
                <a14:m>
                  <m:oMath xmlns:m="http://schemas.openxmlformats.org/officeDocument/2006/math">
                    <m:r>
                      <a:rPr lang="en-CN" sz="2400" i="1" smtClean="0">
                        <a:latin typeface="Cambria Math" panose="02040503050406030204" pitchFamily="18" charset="0"/>
                      </a:rPr>
                      <m:t>𝐿</m:t>
                    </m:r>
                    <m:d>
                      <m:dPr>
                        <m:ctrlPr>
                          <a:rPr lang="en-CN" sz="2400" i="1">
                            <a:latin typeface="Cambria Math" panose="02040503050406030204" pitchFamily="18" charset="0"/>
                          </a:rPr>
                        </m:ctrlPr>
                      </m:dPr>
                      <m:e>
                        <m:r>
                          <m:rPr>
                            <m:sty m:val="p"/>
                          </m:rPr>
                          <a:rPr lang="en-CN" sz="2400" i="1">
                            <a:latin typeface="Cambria Math" panose="02040503050406030204" pitchFamily="18" charset="0"/>
                          </a:rPr>
                          <m:t>y</m:t>
                        </m:r>
                        <m:r>
                          <a:rPr lang="en-CN" sz="2400" i="1">
                            <a:latin typeface="Cambria Math" panose="02040503050406030204" pitchFamily="18" charset="0"/>
                          </a:rPr>
                          <m:t>,</m:t>
                        </m:r>
                        <m:sSub>
                          <m:sSubPr>
                            <m:ctrlPr>
                              <a:rPr lang="en-US" altLang="zh-CN" sz="2400" i="1">
                                <a:latin typeface="Cambria Math" panose="02040503050406030204" pitchFamily="18" charset="0"/>
                              </a:rPr>
                            </m:ctrlPr>
                          </m:sSubPr>
                          <m:e>
                            <m:r>
                              <a:rPr lang="en-CN" altLang="zh-CN" sz="2400" i="1">
                                <a:latin typeface="Cambria Math" panose="02040503050406030204" pitchFamily="18" charset="0"/>
                              </a:rPr>
                              <m:t>𝑓</m:t>
                            </m:r>
                          </m:e>
                          <m:sub>
                            <m:r>
                              <a:rPr lang="en-US" altLang="zh-CN" sz="2400" i="1">
                                <a:latin typeface="Cambria Math" panose="02040503050406030204" pitchFamily="18" charset="0"/>
                              </a:rPr>
                              <m:t>1</m:t>
                            </m:r>
                          </m:sub>
                        </m:sSub>
                        <m:d>
                          <m:dPr>
                            <m:ctrlPr>
                              <a:rPr lang="en-CN" sz="2400" i="1">
                                <a:latin typeface="Cambria Math" panose="02040503050406030204" pitchFamily="18" charset="0"/>
                              </a:rPr>
                            </m:ctrlPr>
                          </m:dPr>
                          <m:e>
                            <m:sSub>
                              <m:sSubPr>
                                <m:ctrlPr>
                                  <a:rPr lang="en-CN" sz="2400" i="1">
                                    <a:latin typeface="Cambria Math" panose="02040503050406030204" pitchFamily="18" charset="0"/>
                                  </a:rPr>
                                </m:ctrlPr>
                              </m:sSubPr>
                              <m:e>
                                <m:r>
                                  <a:rPr lang="en-CN" sz="2400" i="1">
                                    <a:latin typeface="Cambria Math" panose="02040503050406030204" pitchFamily="18" charset="0"/>
                                  </a:rPr>
                                  <m:t>𝑥</m:t>
                                </m:r>
                              </m:e>
                              <m:sub>
                                <m:r>
                                  <a:rPr lang="en-CN" sz="2400" i="1">
                                    <a:latin typeface="Cambria Math" panose="02040503050406030204" pitchFamily="18" charset="0"/>
                                  </a:rPr>
                                  <m:t>𝑖</m:t>
                                </m:r>
                              </m:sub>
                            </m:sSub>
                          </m:e>
                        </m:d>
                      </m:e>
                    </m:d>
                    <m:r>
                      <a:rPr lang="en-CN" sz="2400" i="1">
                        <a:latin typeface="Cambria Math" panose="02040503050406030204" pitchFamily="18" charset="0"/>
                      </a:rPr>
                      <m:t>=</m:t>
                    </m:r>
                    <m:sSubSup>
                      <m:sSubSupPr>
                        <m:ctrlPr>
                          <a:rPr lang="en-US" altLang="zh-CN" sz="2400" b="0" i="1" smtClean="0">
                            <a:latin typeface="Cambria Math" panose="02040503050406030204" pitchFamily="18" charset="0"/>
                          </a:rPr>
                        </m:ctrlPr>
                      </m:sSubSupPr>
                      <m:e>
                        <m:r>
                          <m:rPr>
                            <m:sty m:val="p"/>
                          </m:rPr>
                          <a:rPr lang="en-US" altLang="zh-CN" sz="2400" b="0" i="0" smtClean="0">
                            <a:latin typeface="Cambria Math" panose="02040503050406030204" pitchFamily="18" charset="0"/>
                          </a:rPr>
                          <m:t>Σ</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10</m:t>
                        </m:r>
                      </m:sup>
                    </m:sSubSup>
                    <m:sSup>
                      <m:sSupPr>
                        <m:ctrlPr>
                          <a:rPr lang="en-CN" sz="2400" i="1">
                            <a:latin typeface="Cambria Math" panose="02040503050406030204" pitchFamily="18" charset="0"/>
                          </a:rPr>
                        </m:ctrlPr>
                      </m:sSupPr>
                      <m:e>
                        <m:d>
                          <m:dPr>
                            <m:ctrlPr>
                              <a:rPr lang="en-CN" sz="2400" i="1">
                                <a:latin typeface="Cambria Math" panose="02040503050406030204" pitchFamily="18" charset="0"/>
                              </a:rPr>
                            </m:ctrlPr>
                          </m:dPr>
                          <m:e>
                            <m:sSub>
                              <m:sSubPr>
                                <m:ctrlPr>
                                  <a:rPr lang="en-CN" sz="2400" i="1">
                                    <a:latin typeface="Cambria Math" panose="02040503050406030204" pitchFamily="18" charset="0"/>
                                  </a:rPr>
                                </m:ctrlPr>
                              </m:sSubPr>
                              <m:e>
                                <m:r>
                                  <a:rPr lang="en-CN" sz="2400" i="1">
                                    <a:latin typeface="Cambria Math" panose="02040503050406030204" pitchFamily="18" charset="0"/>
                                  </a:rPr>
                                  <m:t>𝑦</m:t>
                                </m:r>
                              </m:e>
                              <m:sub>
                                <m:r>
                                  <a:rPr lang="en-CN" sz="2400" i="1">
                                    <a:latin typeface="Cambria Math" panose="02040503050406030204" pitchFamily="18" charset="0"/>
                                  </a:rPr>
                                  <m:t>𝑖</m:t>
                                </m:r>
                              </m:sub>
                            </m:sSub>
                            <m:r>
                              <a:rPr lang="en-CN" sz="2400" i="1">
                                <a:latin typeface="Cambria Math" panose="02040503050406030204" pitchFamily="18" charset="0"/>
                              </a:rPr>
                              <m:t>−</m:t>
                            </m:r>
                            <m:sSub>
                              <m:sSubPr>
                                <m:ctrlPr>
                                  <a:rPr lang="en-US" altLang="zh-CN" sz="2400" i="1">
                                    <a:latin typeface="Cambria Math" panose="02040503050406030204" pitchFamily="18" charset="0"/>
                                  </a:rPr>
                                </m:ctrlPr>
                              </m:sSubPr>
                              <m:e>
                                <m:r>
                                  <a:rPr lang="en-CN" altLang="zh-CN" sz="2400" i="1">
                                    <a:latin typeface="Cambria Math" panose="02040503050406030204" pitchFamily="18" charset="0"/>
                                  </a:rPr>
                                  <m:t>𝑓</m:t>
                                </m:r>
                              </m:e>
                              <m:sub>
                                <m:r>
                                  <a:rPr lang="en-US" altLang="zh-CN" sz="2400" i="1">
                                    <a:latin typeface="Cambria Math" panose="02040503050406030204" pitchFamily="18" charset="0"/>
                                  </a:rPr>
                                  <m:t>1</m:t>
                                </m:r>
                              </m:sub>
                            </m:sSub>
                            <m:d>
                              <m:dPr>
                                <m:ctrlPr>
                                  <a:rPr lang="en-CN" sz="2400" i="1">
                                    <a:latin typeface="Cambria Math" panose="02040503050406030204" pitchFamily="18" charset="0"/>
                                  </a:rPr>
                                </m:ctrlPr>
                              </m:dPr>
                              <m:e>
                                <m:sSub>
                                  <m:sSubPr>
                                    <m:ctrlPr>
                                      <a:rPr lang="en-CN" sz="2400" i="1">
                                        <a:latin typeface="Cambria Math" panose="02040503050406030204" pitchFamily="18" charset="0"/>
                                      </a:rPr>
                                    </m:ctrlPr>
                                  </m:sSubPr>
                                  <m:e>
                                    <m:r>
                                      <a:rPr lang="en-CN" sz="2400" i="1">
                                        <a:latin typeface="Cambria Math" panose="02040503050406030204" pitchFamily="18" charset="0"/>
                                      </a:rPr>
                                      <m:t>𝑥</m:t>
                                    </m:r>
                                  </m:e>
                                  <m:sub>
                                    <m:r>
                                      <a:rPr lang="en-CN" sz="2400" i="1">
                                        <a:latin typeface="Cambria Math" panose="02040503050406030204" pitchFamily="18" charset="0"/>
                                      </a:rPr>
                                      <m:t>𝑖</m:t>
                                    </m:r>
                                  </m:sub>
                                </m:sSub>
                              </m:e>
                            </m:d>
                          </m:e>
                        </m:d>
                      </m:e>
                      <m:sup>
                        <m:r>
                          <a:rPr lang="en-CN" sz="2400" i="1">
                            <a:latin typeface="Cambria Math" panose="02040503050406030204" pitchFamily="18" charset="0"/>
                          </a:rPr>
                          <m:t>2</m:t>
                        </m:r>
                      </m:sup>
                    </m:sSup>
                  </m:oMath>
                </a14:m>
                <a:r>
                  <a:rPr lang="en-US" altLang="zh-CN" sz="2400" dirty="0"/>
                  <a:t>=1.93</a:t>
                </a:r>
                <a:endParaRPr lang="en-CN" sz="2400" dirty="0"/>
              </a:p>
            </p:txBody>
          </p:sp>
        </mc:Choice>
        <mc:Fallback>
          <p:sp>
            <p:nvSpPr>
              <p:cNvPr id="33" name="TextBox 20">
                <a:extLst>
                  <a:ext uri="{FF2B5EF4-FFF2-40B4-BE49-F238E27FC236}">
                    <a16:creationId xmlns:a16="http://schemas.microsoft.com/office/drawing/2014/main" id="{165DE55D-4E19-8043-A263-2BB06E33530C}"/>
                  </a:ext>
                </a:extLst>
              </p:cNvPr>
              <p:cNvSpPr txBox="1">
                <a:spLocks noRot="1" noChangeAspect="1" noMove="1" noResize="1" noEditPoints="1" noAdjustHandles="1" noChangeArrowheads="1" noChangeShapeType="1" noTextEdit="1"/>
              </p:cNvSpPr>
              <p:nvPr/>
            </p:nvSpPr>
            <p:spPr>
              <a:xfrm>
                <a:off x="2914884" y="5689774"/>
                <a:ext cx="6093618" cy="582147"/>
              </a:xfrm>
              <a:prstGeom prst="rect">
                <a:avLst/>
              </a:prstGeom>
              <a:blipFill>
                <a:blip r:embed="rId8"/>
                <a:stretch>
                  <a:fillRect l="-208" b="-191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862244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882CF96-437F-0948-8AAC-ED35DA2C7A1A}"/>
                  </a:ext>
                </a:extLst>
              </p:cNvPr>
              <p:cNvSpPr txBox="1"/>
              <p:nvPr/>
            </p:nvSpPr>
            <p:spPr>
              <a:xfrm>
                <a:off x="457200" y="2000626"/>
                <a:ext cx="11409727" cy="461665"/>
              </a:xfrm>
              <a:prstGeom prst="rect">
                <a:avLst/>
              </a:prstGeom>
              <a:noFill/>
            </p:spPr>
            <p:txBody>
              <a:bodyPr wrap="none" rtlCol="0">
                <a:spAutoFit/>
              </a:bodyPr>
              <a:lstStyle/>
              <a:p>
                <a:r>
                  <a:rPr lang="en-US" sz="2400" dirty="0">
                    <a:latin typeface="+mn-ea"/>
                  </a:rPr>
                  <a:t>第二步求</a:t>
                </a:r>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CN" sz="2400" i="1">
                            <a:latin typeface="Cambria Math" panose="02040503050406030204" pitchFamily="18" charset="0"/>
                          </a:rPr>
                          <m:t>𝑇</m:t>
                        </m:r>
                      </m:e>
                      <m:sub>
                        <m:r>
                          <a:rPr lang="en-US" altLang="zh-CN" sz="2400" b="0" i="1" smtClean="0">
                            <a:latin typeface="Cambria Math" panose="02040503050406030204" pitchFamily="18" charset="0"/>
                          </a:rPr>
                          <m:t>2</m:t>
                        </m:r>
                      </m:sub>
                    </m:sSub>
                    <m:d>
                      <m:dPr>
                        <m:ctrlPr>
                          <a:rPr lang="en-CN" sz="2400" i="1">
                            <a:latin typeface="Cambria Math" panose="02040503050406030204" pitchFamily="18" charset="0"/>
                          </a:rPr>
                        </m:ctrlPr>
                      </m:dPr>
                      <m:e>
                        <m:r>
                          <a:rPr lang="en-CN" sz="2400" i="1">
                            <a:latin typeface="Cambria Math" panose="02040503050406030204" pitchFamily="18" charset="0"/>
                          </a:rPr>
                          <m:t>𝑥</m:t>
                        </m:r>
                      </m:e>
                    </m:d>
                  </m:oMath>
                </a14:m>
                <a:r>
                  <a:rPr lang="en-US" altLang="zh-CN" sz="2400" dirty="0">
                    <a:latin typeface="+mn-ea"/>
                  </a:rPr>
                  <a:t>,</a:t>
                </a:r>
                <a:r>
                  <a:rPr lang="zh-CN" altLang="en-US" sz="2400" dirty="0">
                    <a:latin typeface="+mn-ea"/>
                  </a:rPr>
                  <a:t> 方法与求</a:t>
                </a:r>
                <a14:m>
                  <m:oMath xmlns:m="http://schemas.openxmlformats.org/officeDocument/2006/math">
                    <m:sSub>
                      <m:sSubPr>
                        <m:ctrlPr>
                          <a:rPr lang="en-US" altLang="zh-CN" sz="2400" i="1">
                            <a:latin typeface="Cambria Math" panose="02040503050406030204" pitchFamily="18" charset="0"/>
                          </a:rPr>
                        </m:ctrlPr>
                      </m:sSubPr>
                      <m:e>
                        <m:r>
                          <a:rPr lang="en-CN" sz="2400" i="1">
                            <a:latin typeface="Cambria Math" panose="02040503050406030204" pitchFamily="18" charset="0"/>
                          </a:rPr>
                          <m:t>𝑇</m:t>
                        </m:r>
                      </m:e>
                      <m:sub>
                        <m:r>
                          <a:rPr lang="en-US" altLang="zh-CN" sz="2400" i="1">
                            <a:latin typeface="Cambria Math" panose="02040503050406030204" pitchFamily="18" charset="0"/>
                          </a:rPr>
                          <m:t>1</m:t>
                        </m:r>
                      </m:sub>
                    </m:sSub>
                    <m:d>
                      <m:dPr>
                        <m:ctrlPr>
                          <a:rPr lang="en-CN" sz="2400" i="1">
                            <a:latin typeface="Cambria Math" panose="02040503050406030204" pitchFamily="18" charset="0"/>
                          </a:rPr>
                        </m:ctrlPr>
                      </m:dPr>
                      <m:e>
                        <m:r>
                          <a:rPr lang="en-CN" sz="2400" i="1">
                            <a:latin typeface="Cambria Math" panose="02040503050406030204" pitchFamily="18" charset="0"/>
                          </a:rPr>
                          <m:t>𝑥</m:t>
                        </m:r>
                      </m:e>
                    </m:d>
                    <m:r>
                      <a:rPr lang="en-CN" sz="2400" i="1">
                        <a:latin typeface="Cambria Math" panose="02040503050406030204" pitchFamily="18" charset="0"/>
                      </a:rPr>
                      <m:t>一样</m:t>
                    </m:r>
                  </m:oMath>
                </a14:m>
                <a:r>
                  <a:rPr lang="zh-CN" altLang="en-US" sz="2400" dirty="0">
                    <a:latin typeface="+mn-ea"/>
                  </a:rPr>
                  <a:t>，只是拟合的数据是刚算出的残差，可以得到：</a:t>
                </a:r>
                <a:endParaRPr lang="en-CN" sz="2400" dirty="0">
                  <a:latin typeface="+mn-ea"/>
                </a:endParaRPr>
              </a:p>
            </p:txBody>
          </p:sp>
        </mc:Choice>
        <mc:Fallback xmlns="">
          <p:sp>
            <p:nvSpPr>
              <p:cNvPr id="2" name="TextBox 1">
                <a:extLst>
                  <a:ext uri="{FF2B5EF4-FFF2-40B4-BE49-F238E27FC236}">
                    <a16:creationId xmlns:a16="http://schemas.microsoft.com/office/drawing/2014/main" id="{D882CF96-437F-0948-8AAC-ED35DA2C7A1A}"/>
                  </a:ext>
                </a:extLst>
              </p:cNvPr>
              <p:cNvSpPr txBox="1">
                <a:spLocks noRot="1" noChangeAspect="1" noMove="1" noResize="1" noEditPoints="1" noAdjustHandles="1" noChangeArrowheads="1" noChangeShapeType="1" noTextEdit="1"/>
              </p:cNvSpPr>
              <p:nvPr/>
            </p:nvSpPr>
            <p:spPr>
              <a:xfrm>
                <a:off x="457200" y="2000626"/>
                <a:ext cx="11409727" cy="461665"/>
              </a:xfrm>
              <a:prstGeom prst="rect">
                <a:avLst/>
              </a:prstGeom>
              <a:blipFill>
                <a:blip r:embed="rId3"/>
                <a:stretch>
                  <a:fillRect l="-890" t="-10811" b="-2973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424274D-1E72-0542-BAF0-950CA92A042A}"/>
                  </a:ext>
                </a:extLst>
              </p:cNvPr>
              <p:cNvSpPr txBox="1"/>
              <p:nvPr/>
            </p:nvSpPr>
            <p:spPr>
              <a:xfrm>
                <a:off x="3609226" y="2445555"/>
                <a:ext cx="4670887"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CN" sz="2400" i="1" smtClean="0">
                              <a:latin typeface="Cambria Math" panose="02040503050406030204" pitchFamily="18" charset="0"/>
                            </a:rPr>
                            <m:t>𝑇</m:t>
                          </m:r>
                        </m:e>
                        <m:sub>
                          <m:r>
                            <a:rPr lang="en-US" altLang="zh-CN" sz="2400" b="0" i="1" smtClean="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m:t>
                              </m:r>
                              <m:r>
                                <a:rPr lang="en-US" altLang="zh-CN" sz="2400" b="0" i="0" smtClean="0">
                                  <a:latin typeface="Cambria Math" panose="02040503050406030204" pitchFamily="18" charset="0"/>
                                </a:rPr>
                                <m:t>−0.52</m:t>
                              </m:r>
                              <m:r>
                                <a:rPr lang="en-CN" sz="2400" i="0">
                                  <a:latin typeface="Cambria Math" panose="02040503050406030204" pitchFamily="18" charset="0"/>
                                </a:rPr>
                                <m:t>,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US" altLang="zh-CN" sz="2400" b="0" i="1" smtClean="0">
                                  <a:latin typeface="Cambria Math" panose="02040503050406030204" pitchFamily="18" charset="0"/>
                                </a:rPr>
                                <m:t>3.5</m:t>
                              </m:r>
                            </m:e>
                            <m:e>
                              <m:r>
                                <a:rPr lang="en-CN" sz="2400" i="0">
                                  <a:latin typeface="Cambria Math" panose="02040503050406030204" pitchFamily="18" charset="0"/>
                                </a:rPr>
                                <m:t>&amp;</m:t>
                              </m:r>
                              <m:r>
                                <a:rPr lang="en-US" altLang="zh-CN" sz="2400" b="0" i="0" smtClean="0">
                                  <a:latin typeface="Cambria Math" panose="02040503050406030204" pitchFamily="18" charset="0"/>
                                </a:rPr>
                                <m:t>0.22</m:t>
                              </m:r>
                              <m:r>
                                <a:rPr lang="zh-CN" altLang="en-US" sz="2400" b="0" i="0" smtClean="0">
                                  <a:latin typeface="Cambria Math" panose="02040503050406030204" pitchFamily="18" charset="0"/>
                                </a:rPr>
                                <m:t>，</m:t>
                              </m:r>
                              <m:r>
                                <a:rPr lang="en-CN" sz="2400" i="0">
                                  <a:latin typeface="Cambria Math" panose="02040503050406030204" pitchFamily="18" charset="0"/>
                                </a:rPr>
                                <m:t>    </m:t>
                              </m:r>
                              <m:r>
                                <a:rPr lang="zh-CN" altLang="en-US" sz="2400" b="0" i="0" smtClean="0">
                                  <a:latin typeface="Cambria Math" panose="02040503050406030204" pitchFamily="18" charset="0"/>
                                </a:rPr>
                                <m:t>       </m:t>
                              </m:r>
                              <m:r>
                                <a:rPr lang="en-CN" sz="2400" i="0">
                                  <a:latin typeface="Cambria Math" panose="02040503050406030204" pitchFamily="18" charset="0"/>
                                </a:rPr>
                                <m:t>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rPr>
                                <m:t>3</m:t>
                              </m:r>
                              <m:r>
                                <a:rPr lang="en-CN" sz="2400" i="0">
                                  <a:latin typeface="Cambria Math" panose="02040503050406030204" pitchFamily="18" charset="0"/>
                                </a:rPr>
                                <m:t>.5</m:t>
                              </m:r>
                            </m:e>
                          </m:eqArr>
                        </m:e>
                      </m:d>
                    </m:oMath>
                  </m:oMathPara>
                </a14:m>
                <a:endParaRPr lang="en-CN" sz="2400" dirty="0"/>
              </a:p>
            </p:txBody>
          </p:sp>
        </mc:Choice>
        <mc:Fallback xmlns="">
          <p:sp>
            <p:nvSpPr>
              <p:cNvPr id="17" name="TextBox 16">
                <a:extLst>
                  <a:ext uri="{FF2B5EF4-FFF2-40B4-BE49-F238E27FC236}">
                    <a16:creationId xmlns:a16="http://schemas.microsoft.com/office/drawing/2014/main" id="{E424274D-1E72-0542-BAF0-950CA92A042A}"/>
                  </a:ext>
                </a:extLst>
              </p:cNvPr>
              <p:cNvSpPr txBox="1">
                <a:spLocks noRot="1" noChangeAspect="1" noMove="1" noResize="1" noEditPoints="1" noAdjustHandles="1" noChangeArrowheads="1" noChangeShapeType="1" noTextEdit="1"/>
              </p:cNvSpPr>
              <p:nvPr/>
            </p:nvSpPr>
            <p:spPr>
              <a:xfrm>
                <a:off x="3609226" y="2445555"/>
                <a:ext cx="4670887" cy="916148"/>
              </a:xfrm>
              <a:prstGeom prst="rect">
                <a:avLst/>
              </a:prstGeom>
              <a:blipFill>
                <a:blip r:embed="rId4"/>
                <a:stretch>
                  <a:fillRect l="-1359" t="-197260" b="-28904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4294D23-2449-C244-B286-E1FEDDE52CA4}"/>
                  </a:ext>
                </a:extLst>
              </p:cNvPr>
              <p:cNvSpPr txBox="1"/>
              <p:nvPr/>
            </p:nvSpPr>
            <p:spPr>
              <a:xfrm>
                <a:off x="1911443" y="3330947"/>
                <a:ext cx="8066452" cy="1271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sz="2400" i="1" smtClean="0">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i="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i="0">
                              <a:latin typeface="Cambria Math" panose="02040503050406030204" pitchFamily="18" charset="0"/>
                            </a:rPr>
                            <m:t>1</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𝑇</m:t>
                          </m:r>
                        </m:e>
                        <m:sub>
                          <m:r>
                            <a:rPr lang="en-CN" sz="2400" i="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&amp;5.72,                </m:t>
                              </m:r>
                              <m:r>
                                <a:rPr lang="en-CN" sz="2400" i="1">
                                  <a:latin typeface="Cambria Math" panose="02040503050406030204" pitchFamily="18" charset="0"/>
                                </a:rPr>
                                <m:t>𝑥</m:t>
                              </m:r>
                              <m:r>
                                <a:rPr lang="en-CN" sz="2400" i="0">
                                  <a:latin typeface="Cambria Math" panose="02040503050406030204" pitchFamily="18" charset="0"/>
                                </a:rPr>
                                <m:t>&lt;3.5</m:t>
                              </m:r>
                            </m:e>
                            <m:e>
                              <m:r>
                                <a:rPr lang="en-CN" sz="2400" i="0">
                                  <a:latin typeface="Cambria Math" panose="02040503050406030204" pitchFamily="18" charset="0"/>
                                </a:rPr>
                                <m:t>&amp;6.46,     3.5≤</m:t>
                              </m:r>
                              <m:r>
                                <a:rPr lang="en-CN" sz="2400" i="1">
                                  <a:latin typeface="Cambria Math" panose="02040503050406030204" pitchFamily="18" charset="0"/>
                                </a:rPr>
                                <m:t>𝑥</m:t>
                              </m:r>
                              <m:r>
                                <a:rPr lang="en-CN" sz="2400" i="0">
                                  <a:latin typeface="Cambria Math" panose="02040503050406030204" pitchFamily="18" charset="0"/>
                                </a:rPr>
                                <m:t>&lt;6.5</m:t>
                              </m:r>
                            </m:e>
                            <m:e>
                              <m:r>
                                <a:rPr lang="en-CN" sz="2400" i="0">
                                  <a:latin typeface="Cambria Math" panose="02040503050406030204" pitchFamily="18" charset="0"/>
                                </a:rPr>
                                <m:t>&amp;9.13,                 </m:t>
                              </m:r>
                              <m:r>
                                <a:rPr lang="en-CN" sz="2400" i="1">
                                  <a:latin typeface="Cambria Math" panose="02040503050406030204" pitchFamily="18" charset="0"/>
                                </a:rPr>
                                <m:t>𝑥</m:t>
                              </m:r>
                              <m:r>
                                <a:rPr lang="en-CN" sz="2400" i="0">
                                  <a:latin typeface="Cambria Math" panose="02040503050406030204" pitchFamily="18" charset="0"/>
                                </a:rPr>
                                <m:t>≥6.5</m:t>
                              </m:r>
                            </m:e>
                          </m:eqArr>
                        </m:e>
                      </m:d>
                    </m:oMath>
                  </m:oMathPara>
                </a14:m>
                <a:endParaRPr lang="en-CN" sz="2400" dirty="0"/>
              </a:p>
            </p:txBody>
          </p:sp>
        </mc:Choice>
        <mc:Fallback xmlns="">
          <p:sp>
            <p:nvSpPr>
              <p:cNvPr id="8" name="TextBox 7">
                <a:extLst>
                  <a:ext uri="{FF2B5EF4-FFF2-40B4-BE49-F238E27FC236}">
                    <a16:creationId xmlns:a16="http://schemas.microsoft.com/office/drawing/2014/main" id="{04294D23-2449-C244-B286-E1FEDDE52CA4}"/>
                  </a:ext>
                </a:extLst>
              </p:cNvPr>
              <p:cNvSpPr txBox="1">
                <a:spLocks noRot="1" noChangeAspect="1" noMove="1" noResize="1" noEditPoints="1" noAdjustHandles="1" noChangeArrowheads="1" noChangeShapeType="1" noTextEdit="1"/>
              </p:cNvSpPr>
              <p:nvPr/>
            </p:nvSpPr>
            <p:spPr>
              <a:xfrm>
                <a:off x="1911443" y="3330947"/>
                <a:ext cx="8066452" cy="1271438"/>
              </a:xfrm>
              <a:prstGeom prst="rect">
                <a:avLst/>
              </a:prstGeom>
              <a:blipFill>
                <a:blip r:embed="rId5"/>
                <a:stretch>
                  <a:fillRect t="-210891" b="-30099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C98CF70-11F3-A04B-BC81-8B0FA75F7FFD}"/>
                  </a:ext>
                </a:extLst>
              </p:cNvPr>
              <p:cNvSpPr txBox="1"/>
              <p:nvPr/>
            </p:nvSpPr>
            <p:spPr>
              <a:xfrm>
                <a:off x="457200" y="4618873"/>
                <a:ext cx="5869107" cy="465577"/>
              </a:xfrm>
              <a:prstGeom prst="rect">
                <a:avLst/>
              </a:prstGeom>
              <a:noFill/>
            </p:spPr>
            <p:txBody>
              <a:bodyPr wrap="none" rtlCol="0">
                <a:spAutoFit/>
              </a:bodyPr>
              <a:lstStyle/>
              <a:p>
                <a:r>
                  <a:rPr lang="zh-CN" altLang="en-US" sz="2400" dirty="0">
                    <a:latin typeface="+mn-ea"/>
                  </a:rPr>
                  <a:t>用</a:t>
                </a:r>
                <a14:m>
                  <m:oMath xmlns:m="http://schemas.openxmlformats.org/officeDocument/2006/math">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1">
                        <a:latin typeface="Cambria Math" panose="02040503050406030204" pitchFamily="18" charset="0"/>
                      </a:rPr>
                      <m:t> </m:t>
                    </m:r>
                    <m:r>
                      <a:rPr lang="zh-CN" altLang="en-US" sz="2400" i="1">
                        <a:latin typeface="Cambria Math" panose="02040503050406030204" pitchFamily="18" charset="0"/>
                      </a:rPr>
                      <m:t>拟合训练数据的平方损失误差是</m:t>
                    </m:r>
                    <m:r>
                      <a:rPr lang="zh-CN" altLang="en-US" sz="2400" b="0" i="1" smtClean="0">
                        <a:latin typeface="Cambria Math" panose="02040503050406030204" pitchFamily="18" charset="0"/>
                      </a:rPr>
                      <m:t>：</m:t>
                    </m:r>
                  </m:oMath>
                </a14:m>
                <a:endParaRPr lang="en-CN" sz="2400" dirty="0">
                  <a:latin typeface="+mn-ea"/>
                </a:endParaRPr>
              </a:p>
            </p:txBody>
          </p:sp>
        </mc:Choice>
        <mc:Fallback xmlns="">
          <p:sp>
            <p:nvSpPr>
              <p:cNvPr id="9" name="TextBox 8">
                <a:extLst>
                  <a:ext uri="{FF2B5EF4-FFF2-40B4-BE49-F238E27FC236}">
                    <a16:creationId xmlns:a16="http://schemas.microsoft.com/office/drawing/2014/main" id="{DC98CF70-11F3-A04B-BC81-8B0FA75F7FFD}"/>
                  </a:ext>
                </a:extLst>
              </p:cNvPr>
              <p:cNvSpPr txBox="1">
                <a:spLocks noRot="1" noChangeAspect="1" noMove="1" noResize="1" noEditPoints="1" noAdjustHandles="1" noChangeArrowheads="1" noChangeShapeType="1" noTextEdit="1"/>
              </p:cNvSpPr>
              <p:nvPr/>
            </p:nvSpPr>
            <p:spPr>
              <a:xfrm>
                <a:off x="457200" y="4618873"/>
                <a:ext cx="5869107" cy="465577"/>
              </a:xfrm>
              <a:prstGeom prst="rect">
                <a:avLst/>
              </a:prstGeom>
              <a:blipFill>
                <a:blip r:embed="rId6"/>
                <a:stretch>
                  <a:fillRect l="-1728"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770A78-F6C7-8F4B-AB62-854AC39F0D8F}"/>
                  </a:ext>
                </a:extLst>
              </p:cNvPr>
              <p:cNvSpPr txBox="1"/>
              <p:nvPr/>
            </p:nvSpPr>
            <p:spPr>
              <a:xfrm>
                <a:off x="2897984" y="5100938"/>
                <a:ext cx="6093372" cy="11306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i="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r>
                        <a:rPr lang="en-CN" sz="2400" i="0">
                          <a:latin typeface="Cambria Math" panose="02040503050406030204" pitchFamily="18" charset="0"/>
                        </a:rPr>
                        <m:t>=</m:t>
                      </m:r>
                      <m:nary>
                        <m:naryPr>
                          <m:chr m:val="∑"/>
                          <m:limLoc m:val="undOvr"/>
                          <m:ctrlPr>
                            <a:rPr lang="en-CN" sz="2400" i="1">
                              <a:latin typeface="Cambria Math" panose="02040503050406030204" pitchFamily="18" charset="0"/>
                            </a:rPr>
                          </m:ctrlPr>
                        </m:naryPr>
                        <m:sub>
                          <m:r>
                            <a:rPr lang="en-CN" sz="2400" i="1">
                              <a:latin typeface="Cambria Math" panose="02040503050406030204" pitchFamily="18" charset="0"/>
                            </a:rPr>
                            <m:t>𝑖</m:t>
                          </m:r>
                          <m:r>
                            <a:rPr lang="en-CN" sz="2400" i="0">
                              <a:latin typeface="Cambria Math" panose="02040503050406030204" pitchFamily="18" charset="0"/>
                            </a:rPr>
                            <m:t>=1</m:t>
                          </m:r>
                        </m:sub>
                        <m:sup>
                          <m:r>
                            <a:rPr lang="en-CN" sz="2400" i="0">
                              <a:latin typeface="Cambria Math" panose="02040503050406030204" pitchFamily="18" charset="0"/>
                            </a:rPr>
                            <m:t>10</m:t>
                          </m:r>
                        </m:sup>
                        <m:e>
                          <m:sSup>
                            <m:sSupPr>
                              <m:ctrlPr>
                                <a:rPr lang="en-CN" sz="2400" i="1">
                                  <a:solidFill>
                                    <a:srgbClr val="836967"/>
                                  </a:solidFill>
                                  <a:latin typeface="Cambria Math" panose="02040503050406030204" pitchFamily="18" charset="0"/>
                                </a:rPr>
                              </m:ctrlPr>
                            </m:sSupPr>
                            <m:e>
                              <m:d>
                                <m:dPr>
                                  <m:ctrlPr>
                                    <a:rPr lang="en-CN" sz="2400" i="1">
                                      <a:solidFill>
                                        <a:srgbClr val="836967"/>
                                      </a:solidFill>
                                      <a:latin typeface="Cambria Math" panose="02040503050406030204" pitchFamily="18" charset="0"/>
                                    </a:rPr>
                                  </m:ctrlPr>
                                </m:dPr>
                                <m:e>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𝑦</m:t>
                                      </m:r>
                                    </m:e>
                                    <m:sub>
                                      <m:r>
                                        <a:rPr lang="en-CN" sz="2400" i="1">
                                          <a:latin typeface="Cambria Math" panose="02040503050406030204" pitchFamily="18" charset="0"/>
                                        </a:rPr>
                                        <m:t>𝑖</m:t>
                                      </m:r>
                                    </m:sub>
                                  </m:sSub>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i="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𝑥</m:t>
                                          </m:r>
                                        </m:e>
                                        <m:sub>
                                          <m:r>
                                            <a:rPr lang="en-CN" sz="2400" i="1">
                                              <a:latin typeface="Cambria Math" panose="02040503050406030204" pitchFamily="18" charset="0"/>
                                            </a:rPr>
                                            <m:t>𝑖</m:t>
                                          </m:r>
                                        </m:sub>
                                      </m:sSub>
                                    </m:e>
                                  </m:d>
                                </m:e>
                              </m:d>
                            </m:e>
                            <m:sup>
                              <m:r>
                                <a:rPr lang="en-CN" sz="2400" i="0">
                                  <a:latin typeface="Cambria Math" panose="02040503050406030204" pitchFamily="18" charset="0"/>
                                </a:rPr>
                                <m:t>2</m:t>
                              </m:r>
                            </m:sup>
                          </m:sSup>
                          <m:r>
                            <a:rPr lang="en-CN" sz="2400" i="0">
                              <a:latin typeface="Cambria Math" panose="02040503050406030204" pitchFamily="18" charset="0"/>
                            </a:rPr>
                            <m:t>=0.79</m:t>
                          </m:r>
                        </m:e>
                      </m:nary>
                    </m:oMath>
                  </m:oMathPara>
                </a14:m>
                <a:endParaRPr lang="en-CN" sz="2400" dirty="0"/>
              </a:p>
            </p:txBody>
          </p:sp>
        </mc:Choice>
        <mc:Fallback xmlns="">
          <p:sp>
            <p:nvSpPr>
              <p:cNvPr id="11" name="TextBox 10">
                <a:extLst>
                  <a:ext uri="{FF2B5EF4-FFF2-40B4-BE49-F238E27FC236}">
                    <a16:creationId xmlns:a16="http://schemas.microsoft.com/office/drawing/2014/main" id="{58770A78-F6C7-8F4B-AB62-854AC39F0D8F}"/>
                  </a:ext>
                </a:extLst>
              </p:cNvPr>
              <p:cNvSpPr txBox="1">
                <a:spLocks noRot="1" noChangeAspect="1" noMove="1" noResize="1" noEditPoints="1" noAdjustHandles="1" noChangeArrowheads="1" noChangeShapeType="1" noTextEdit="1"/>
              </p:cNvSpPr>
              <p:nvPr/>
            </p:nvSpPr>
            <p:spPr>
              <a:xfrm>
                <a:off x="2897984" y="5100938"/>
                <a:ext cx="6093372" cy="1130631"/>
              </a:xfrm>
              <a:prstGeom prst="rect">
                <a:avLst/>
              </a:prstGeom>
              <a:blipFill>
                <a:blip r:embed="rId7"/>
                <a:stretch>
                  <a:fillRect t="-101111" b="-157778"/>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10" name="TextBox 28">
                <a:extLst>
                  <a:ext uri="{FF2B5EF4-FFF2-40B4-BE49-F238E27FC236}">
                    <a16:creationId xmlns:a16="http://schemas.microsoft.com/office/drawing/2014/main" id="{A63DE86A-99FE-F844-941D-F2B06EB8B1CE}"/>
                  </a:ext>
                </a:extLst>
              </p:cNvPr>
              <p:cNvSpPr txBox="1"/>
              <p:nvPr/>
            </p:nvSpPr>
            <p:spPr>
              <a:xfrm>
                <a:off x="3279498" y="909190"/>
                <a:ext cx="6093618"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i="1">
                              <a:latin typeface="Cambria Math" panose="02040503050406030204" pitchFamily="18" charset="0"/>
                            </a:rPr>
                            <m:t>1</m:t>
                          </m:r>
                        </m:sub>
                      </m:sSub>
                      <m:d>
                        <m:dPr>
                          <m:ctrlPr>
                            <a:rPr lang="en-CN" altLang="zh-CN" sz="2400" i="1">
                              <a:solidFill>
                                <a:srgbClr val="836967"/>
                              </a:solidFill>
                              <a:latin typeface="Cambria Math" panose="02040503050406030204" pitchFamily="18" charset="0"/>
                            </a:rPr>
                          </m:ctrlPr>
                        </m:dPr>
                        <m:e>
                          <m:r>
                            <a:rPr lang="en-CN" altLang="zh-CN" sz="2400" i="1">
                              <a:latin typeface="Cambria Math" panose="02040503050406030204" pitchFamily="18" charset="0"/>
                            </a:rPr>
                            <m:t>𝑥</m:t>
                          </m:r>
                        </m:e>
                      </m:d>
                      <m:r>
                        <a:rPr lang="en-CN"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en-CN" altLang="zh-CN" sz="2400" i="1">
                              <a:latin typeface="Cambria Math" panose="02040503050406030204" pitchFamily="18" charset="0"/>
                            </a:rPr>
                            <m:t>𝑇</m:t>
                          </m:r>
                        </m:e>
                        <m:sub>
                          <m:r>
                            <a:rPr lang="en-US" altLang="zh-CN" sz="2400" i="1">
                              <a:latin typeface="Cambria Math" panose="02040503050406030204" pitchFamily="18" charset="0"/>
                            </a:rPr>
                            <m:t>1</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&amp;6.24,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CN" sz="2400" i="0">
                                  <a:latin typeface="Cambria Math" panose="02040503050406030204" pitchFamily="18" charset="0"/>
                                </a:rPr>
                                <m:t>6.5</m:t>
                              </m:r>
                            </m:e>
                            <m:e>
                              <m:r>
                                <a:rPr lang="en-CN" sz="2400" i="0">
                                  <a:latin typeface="Cambria Math" panose="02040503050406030204" pitchFamily="18" charset="0"/>
                                </a:rPr>
                                <m:t>&amp;8.91,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CN" sz="2400" i="0">
                                  <a:latin typeface="Cambria Math" panose="02040503050406030204" pitchFamily="18" charset="0"/>
                                </a:rPr>
                                <m:t>6.5</m:t>
                              </m:r>
                            </m:e>
                          </m:eqArr>
                        </m:e>
                      </m:d>
                    </m:oMath>
                  </m:oMathPara>
                </a14:m>
                <a:endParaRPr lang="en-CN" sz="2400" dirty="0"/>
              </a:p>
            </p:txBody>
          </p:sp>
        </mc:Choice>
        <mc:Fallback>
          <p:sp>
            <p:nvSpPr>
              <p:cNvPr id="10" name="TextBox 28">
                <a:extLst>
                  <a:ext uri="{FF2B5EF4-FFF2-40B4-BE49-F238E27FC236}">
                    <a16:creationId xmlns:a16="http://schemas.microsoft.com/office/drawing/2014/main" id="{A63DE86A-99FE-F844-941D-F2B06EB8B1CE}"/>
                  </a:ext>
                </a:extLst>
              </p:cNvPr>
              <p:cNvSpPr txBox="1">
                <a:spLocks noRot="1" noChangeAspect="1" noMove="1" noResize="1" noEditPoints="1" noAdjustHandles="1" noChangeArrowheads="1" noChangeShapeType="1" noTextEdit="1"/>
              </p:cNvSpPr>
              <p:nvPr/>
            </p:nvSpPr>
            <p:spPr>
              <a:xfrm>
                <a:off x="3279498" y="909190"/>
                <a:ext cx="6093618" cy="916148"/>
              </a:xfrm>
              <a:prstGeom prst="rect">
                <a:avLst/>
              </a:prstGeom>
              <a:blipFill>
                <a:blip r:embed="rId8"/>
                <a:stretch>
                  <a:fillRect t="-197260" b="-2890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748493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9A64163-19BB-CD42-BB20-3354C72F12E0}"/>
                  </a:ext>
                </a:extLst>
              </p:cNvPr>
              <p:cNvSpPr txBox="1"/>
              <p:nvPr/>
            </p:nvSpPr>
            <p:spPr>
              <a:xfrm>
                <a:off x="457200" y="2132892"/>
                <a:ext cx="11508828" cy="509178"/>
              </a:xfrm>
              <a:prstGeom prst="rect">
                <a:avLst/>
              </a:prstGeom>
              <a:noFill/>
            </p:spPr>
            <p:txBody>
              <a:bodyPr wrap="square" rtlCol="0">
                <a:spAutoFit/>
              </a:bodyPr>
              <a:lstStyle/>
              <a:p>
                <a:r>
                  <a:rPr lang="en-US" sz="2400" dirty="0">
                    <a:latin typeface="-apple-system"/>
                  </a:rPr>
                  <a:t>继续求得</a:t>
                </a:r>
                <a:r>
                  <a:rPr lang="en-CN" sz="2400" dirty="0">
                    <a:solidFill>
                      <a:srgbClr val="836967"/>
                    </a:solidFill>
                  </a:rPr>
                  <a:t> </a:t>
                </a:r>
                <a14:m>
                  <m:oMath xmlns:m="http://schemas.openxmlformats.org/officeDocument/2006/math">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𝑇</m:t>
                        </m:r>
                      </m:e>
                      <m:sub>
                        <m:r>
                          <a:rPr lang="en-US" altLang="zh-CN" sz="2400" b="0" i="0" smtClean="0">
                            <a:latin typeface="Cambria Math" panose="02040503050406030204" pitchFamily="18" charset="0"/>
                          </a:rPr>
                          <m:t>3</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1">
                        <a:latin typeface="Cambria Math" panose="02040503050406030204" pitchFamily="18" charset="0"/>
                      </a:rPr>
                      <m:t> </m:t>
                    </m:r>
                    <m:r>
                      <a:rPr lang="en-US" altLang="zh-CN" sz="2400" b="0" i="1" smtClean="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𝑇</m:t>
                        </m:r>
                      </m:e>
                      <m:sub>
                        <m:r>
                          <a:rPr lang="en-US" altLang="zh-CN" sz="2400" b="0" i="0" smtClean="0">
                            <a:latin typeface="Cambria Math" panose="02040503050406030204" pitchFamily="18" charset="0"/>
                          </a:rPr>
                          <m:t>4</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US" altLang="zh-CN" sz="2400" b="0" i="1" smtClean="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𝑇</m:t>
                        </m:r>
                      </m:e>
                      <m:sub>
                        <m:r>
                          <a:rPr lang="en-US" altLang="zh-CN" sz="2400" b="0" i="0" smtClean="0">
                            <a:latin typeface="Cambria Math" panose="02040503050406030204" pitchFamily="18" charset="0"/>
                          </a:rPr>
                          <m:t>5</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US" altLang="zh-CN" sz="2400" b="0" i="1" smtClean="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𝑇</m:t>
                        </m:r>
                      </m:e>
                      <m:sub>
                        <m:r>
                          <a:rPr lang="en-US" altLang="zh-CN" sz="2400" b="0" i="0" smtClean="0">
                            <a:latin typeface="Cambria Math" panose="02040503050406030204" pitchFamily="18" charset="0"/>
                          </a:rPr>
                          <m:t>6</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oMath>
                </a14:m>
                <a:r>
                  <a:rPr lang="zh-CN" altLang="en-US" sz="2400" dirty="0">
                    <a:latin typeface="-apple-system"/>
                  </a:rPr>
                  <a:t>以及</a:t>
                </a:r>
                <a14:m>
                  <m:oMath xmlns:m="http://schemas.openxmlformats.org/officeDocument/2006/math">
                    <m:r>
                      <a:rPr lang="en-CN" sz="2400" i="1">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3</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r>
                      <a:rPr lang="en-US" altLang="zh-CN" sz="2400" b="0" i="1" smtClean="0">
                        <a:latin typeface="Cambria Math" panose="02040503050406030204" pitchFamily="18" charset="0"/>
                      </a:rPr>
                      <m:t>,</m:t>
                    </m:r>
                    <m:r>
                      <a:rPr lang="en-CN" sz="2400" i="1">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4</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r>
                      <a:rPr lang="en-US" altLang="zh-CN" sz="2400" b="0" i="1" smtClean="0">
                        <a:latin typeface="Cambria Math" panose="02040503050406030204" pitchFamily="18" charset="0"/>
                      </a:rPr>
                      <m:t>,</m:t>
                    </m:r>
                    <m:r>
                      <a:rPr lang="en-CN" sz="2400" i="1">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5</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oMath>
                </a14:m>
                <a:r>
                  <a:rPr lang="zh-CN" altLang="en-US" sz="2400" dirty="0">
                    <a:latin typeface="-apple-system"/>
                  </a:rPr>
                  <a:t>：</a:t>
                </a:r>
                <a:endParaRPr lang="en-CN" sz="2400" dirty="0">
                  <a:latin typeface="+mn-ea"/>
                </a:endParaRPr>
              </a:p>
            </p:txBody>
          </p:sp>
        </mc:Choice>
        <mc:Fallback xmlns="">
          <p:sp>
            <p:nvSpPr>
              <p:cNvPr id="10" name="TextBox 9">
                <a:extLst>
                  <a:ext uri="{FF2B5EF4-FFF2-40B4-BE49-F238E27FC236}">
                    <a16:creationId xmlns:a16="http://schemas.microsoft.com/office/drawing/2014/main" id="{89A64163-19BB-CD42-BB20-3354C72F12E0}"/>
                  </a:ext>
                </a:extLst>
              </p:cNvPr>
              <p:cNvSpPr txBox="1">
                <a:spLocks noRot="1" noChangeAspect="1" noMove="1" noResize="1" noEditPoints="1" noAdjustHandles="1" noChangeArrowheads="1" noChangeShapeType="1" noTextEdit="1"/>
              </p:cNvSpPr>
              <p:nvPr/>
            </p:nvSpPr>
            <p:spPr>
              <a:xfrm>
                <a:off x="457200" y="2132892"/>
                <a:ext cx="11508828" cy="509178"/>
              </a:xfrm>
              <a:prstGeom prst="rect">
                <a:avLst/>
              </a:prstGeom>
              <a:blipFill>
                <a:blip r:embed="rId3"/>
                <a:stretch>
                  <a:fillRect l="-882" t="-5000" b="-2500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E6E14A-FF7A-EB49-86E9-238A1047A8E7}"/>
                  </a:ext>
                </a:extLst>
              </p:cNvPr>
              <p:cNvSpPr txBox="1"/>
              <p:nvPr/>
            </p:nvSpPr>
            <p:spPr>
              <a:xfrm>
                <a:off x="975135" y="2642070"/>
                <a:ext cx="4670887"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CN" sz="2400" i="1" smtClean="0">
                              <a:latin typeface="Cambria Math" panose="02040503050406030204" pitchFamily="18" charset="0"/>
                            </a:rPr>
                            <m:t>𝑇</m:t>
                          </m:r>
                        </m:e>
                        <m:sub>
                          <m:r>
                            <a:rPr lang="en-US" altLang="zh-CN" sz="2400" b="0" i="1" smtClean="0">
                              <a:latin typeface="Cambria Math" panose="02040503050406030204" pitchFamily="18" charset="0"/>
                            </a:rPr>
                            <m:t>3</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m:t>
                              </m:r>
                              <m:r>
                                <a:rPr lang="en-US" altLang="zh-CN" sz="2400" b="0" i="0" smtClean="0">
                                  <a:latin typeface="Cambria Math" panose="02040503050406030204" pitchFamily="18" charset="0"/>
                                </a:rPr>
                                <m:t>0.15</m:t>
                              </m:r>
                              <m:r>
                                <a:rPr lang="en-CN" sz="2400" i="0">
                                  <a:latin typeface="Cambria Math" panose="02040503050406030204" pitchFamily="18" charset="0"/>
                                </a:rPr>
                                <m:t>,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US" altLang="zh-CN" sz="2400" b="0" i="1" smtClean="0">
                                  <a:latin typeface="Cambria Math" panose="02040503050406030204" pitchFamily="18" charset="0"/>
                                </a:rPr>
                                <m:t>6.5</m:t>
                              </m:r>
                            </m:e>
                            <m:e>
                              <m:r>
                                <a:rPr lang="en-CN" sz="2400" i="0">
                                  <a:latin typeface="Cambria Math" panose="02040503050406030204" pitchFamily="18" charset="0"/>
                                </a:rPr>
                                <m:t>&amp;</m:t>
                              </m:r>
                              <m:r>
                                <a:rPr lang="en-US" altLang="zh-CN" sz="2400" b="0" i="0" smtClean="0">
                                  <a:latin typeface="Cambria Math" panose="02040503050406030204" pitchFamily="18" charset="0"/>
                                </a:rPr>
                                <m:t>−0.22</m:t>
                              </m:r>
                              <m:r>
                                <a:rPr lang="zh-CN" altLang="en-US" sz="2400" b="0" i="0" smtClean="0">
                                  <a:latin typeface="Cambria Math" panose="02040503050406030204" pitchFamily="18" charset="0"/>
                                </a:rPr>
                                <m:t>，</m:t>
                              </m:r>
                              <m:r>
                                <a:rPr lang="en-CN" sz="2400" i="0">
                                  <a:latin typeface="Cambria Math" panose="02040503050406030204" pitchFamily="18" charset="0"/>
                                </a:rPr>
                                <m:t>    </m:t>
                              </m:r>
                              <m:r>
                                <a:rPr lang="zh-CN" altLang="en-US" sz="2400" b="0" i="0" smtClean="0">
                                  <a:latin typeface="Cambria Math" panose="02040503050406030204" pitchFamily="18" charset="0"/>
                                </a:rPr>
                                <m:t> </m:t>
                              </m:r>
                              <m:r>
                                <a:rPr lang="en-CN" sz="2400" i="0">
                                  <a:latin typeface="Cambria Math" panose="02040503050406030204" pitchFamily="18" charset="0"/>
                                </a:rPr>
                                <m:t>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ea typeface="Cambria Math" panose="02040503050406030204" pitchFamily="18" charset="0"/>
                                </a:rPr>
                                <m:t>6.5</m:t>
                              </m:r>
                            </m:e>
                          </m:eqArr>
                        </m:e>
                      </m:d>
                    </m:oMath>
                  </m:oMathPara>
                </a14:m>
                <a:endParaRPr lang="en-CN" sz="2400" dirty="0"/>
              </a:p>
            </p:txBody>
          </p:sp>
        </mc:Choice>
        <mc:Fallback xmlns="">
          <p:sp>
            <p:nvSpPr>
              <p:cNvPr id="12" name="TextBox 11">
                <a:extLst>
                  <a:ext uri="{FF2B5EF4-FFF2-40B4-BE49-F238E27FC236}">
                    <a16:creationId xmlns:a16="http://schemas.microsoft.com/office/drawing/2014/main" id="{56E6E14A-FF7A-EB49-86E9-238A1047A8E7}"/>
                  </a:ext>
                </a:extLst>
              </p:cNvPr>
              <p:cNvSpPr txBox="1">
                <a:spLocks noRot="1" noChangeAspect="1" noMove="1" noResize="1" noEditPoints="1" noAdjustHandles="1" noChangeArrowheads="1" noChangeShapeType="1" noTextEdit="1"/>
              </p:cNvSpPr>
              <p:nvPr/>
            </p:nvSpPr>
            <p:spPr>
              <a:xfrm>
                <a:off x="975135" y="2642070"/>
                <a:ext cx="4670887" cy="916148"/>
              </a:xfrm>
              <a:prstGeom prst="rect">
                <a:avLst/>
              </a:prstGeom>
              <a:blipFill>
                <a:blip r:embed="rId4"/>
                <a:stretch>
                  <a:fillRect t="-194595" b="-285135"/>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C8488F1-5142-F847-A184-B516AB32A0CA}"/>
                  </a:ext>
                </a:extLst>
              </p:cNvPr>
              <p:cNvSpPr txBox="1"/>
              <p:nvPr/>
            </p:nvSpPr>
            <p:spPr>
              <a:xfrm>
                <a:off x="1053966" y="3508756"/>
                <a:ext cx="4670887"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CN" sz="2400" i="1" smtClean="0">
                              <a:latin typeface="Cambria Math" panose="02040503050406030204" pitchFamily="18" charset="0"/>
                            </a:rPr>
                            <m:t>𝑇</m:t>
                          </m:r>
                        </m:e>
                        <m:sub>
                          <m:r>
                            <a:rPr lang="en-US" altLang="zh-CN" sz="2400" b="0" i="1" smtClean="0">
                              <a:latin typeface="Cambria Math" panose="02040503050406030204" pitchFamily="18" charset="0"/>
                            </a:rPr>
                            <m:t>4</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m:t>
                              </m:r>
                              <m:r>
                                <a:rPr lang="en-US" altLang="zh-CN" sz="2400" b="0" i="0" smtClean="0">
                                  <a:latin typeface="Cambria Math" panose="02040503050406030204" pitchFamily="18" charset="0"/>
                                </a:rPr>
                                <m:t>−0.16</m:t>
                              </m:r>
                              <m:r>
                                <a:rPr lang="en-CN" sz="2400" i="0">
                                  <a:latin typeface="Cambria Math" panose="02040503050406030204" pitchFamily="18" charset="0"/>
                                </a:rPr>
                                <m:t>,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US" altLang="zh-CN" sz="2400" b="0" i="1" smtClean="0">
                                  <a:latin typeface="Cambria Math" panose="02040503050406030204" pitchFamily="18" charset="0"/>
                                </a:rPr>
                                <m:t>4.5</m:t>
                              </m:r>
                            </m:e>
                            <m:e>
                              <m:r>
                                <a:rPr lang="en-CN" sz="2400" i="0">
                                  <a:latin typeface="Cambria Math" panose="02040503050406030204" pitchFamily="18" charset="0"/>
                                </a:rPr>
                                <m:t>&amp;</m:t>
                              </m:r>
                              <m:r>
                                <a:rPr lang="en-US" altLang="zh-CN" sz="2400" b="0" i="0" smtClean="0">
                                  <a:latin typeface="Cambria Math" panose="02040503050406030204" pitchFamily="18" charset="0"/>
                                </a:rPr>
                                <m:t>0.11</m:t>
                              </m:r>
                              <m:r>
                                <a:rPr lang="zh-CN" altLang="en-US" sz="2400" b="0" i="0" smtClean="0">
                                  <a:latin typeface="Cambria Math" panose="02040503050406030204" pitchFamily="18" charset="0"/>
                                </a:rPr>
                                <m:t>，</m:t>
                              </m:r>
                              <m:r>
                                <a:rPr lang="en-CN" sz="2400" i="0">
                                  <a:latin typeface="Cambria Math" panose="02040503050406030204" pitchFamily="18" charset="0"/>
                                </a:rPr>
                                <m:t>    </m:t>
                              </m:r>
                              <m:r>
                                <a:rPr lang="zh-CN" altLang="en-US" sz="2400" b="0" i="0" smtClean="0">
                                  <a:latin typeface="Cambria Math" panose="02040503050406030204" pitchFamily="18" charset="0"/>
                                </a:rPr>
                                <m:t> </m:t>
                              </m:r>
                              <m:r>
                                <a:rPr lang="en-CN" sz="2400" i="0">
                                  <a:latin typeface="Cambria Math" panose="02040503050406030204" pitchFamily="18" charset="0"/>
                                </a:rPr>
                                <m:t> </m:t>
                              </m:r>
                              <m:r>
                                <a:rPr lang="zh-CN" altLang="en-US" sz="2400" b="0" i="1" smtClean="0">
                                  <a:latin typeface="Cambria Math" panose="02040503050406030204" pitchFamily="18" charset="0"/>
                                </a:rPr>
                                <m:t>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ea typeface="Cambria Math" panose="02040503050406030204" pitchFamily="18" charset="0"/>
                                </a:rPr>
                                <m:t>4.5</m:t>
                              </m:r>
                            </m:e>
                          </m:eqArr>
                        </m:e>
                      </m:d>
                    </m:oMath>
                  </m:oMathPara>
                </a14:m>
                <a:endParaRPr lang="en-CN" sz="2400" dirty="0"/>
              </a:p>
            </p:txBody>
          </p:sp>
        </mc:Choice>
        <mc:Fallback xmlns="">
          <p:sp>
            <p:nvSpPr>
              <p:cNvPr id="13" name="TextBox 12">
                <a:extLst>
                  <a:ext uri="{FF2B5EF4-FFF2-40B4-BE49-F238E27FC236}">
                    <a16:creationId xmlns:a16="http://schemas.microsoft.com/office/drawing/2014/main" id="{8C8488F1-5142-F847-A184-B516AB32A0CA}"/>
                  </a:ext>
                </a:extLst>
              </p:cNvPr>
              <p:cNvSpPr txBox="1">
                <a:spLocks noRot="1" noChangeAspect="1" noMove="1" noResize="1" noEditPoints="1" noAdjustHandles="1" noChangeArrowheads="1" noChangeShapeType="1" noTextEdit="1"/>
              </p:cNvSpPr>
              <p:nvPr/>
            </p:nvSpPr>
            <p:spPr>
              <a:xfrm>
                <a:off x="1053966" y="3508756"/>
                <a:ext cx="4670887" cy="916148"/>
              </a:xfrm>
              <a:prstGeom prst="rect">
                <a:avLst/>
              </a:prstGeom>
              <a:blipFill>
                <a:blip r:embed="rId5"/>
                <a:stretch>
                  <a:fillRect l="-1359" t="-198630" b="-28904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E67F599-3943-BD43-8841-D630025F0DFA}"/>
                  </a:ext>
                </a:extLst>
              </p:cNvPr>
              <p:cNvSpPr txBox="1"/>
              <p:nvPr/>
            </p:nvSpPr>
            <p:spPr>
              <a:xfrm>
                <a:off x="1053966" y="4424904"/>
                <a:ext cx="4670887"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CN" sz="2400" i="1" smtClean="0">
                              <a:latin typeface="Cambria Math" panose="02040503050406030204" pitchFamily="18" charset="0"/>
                            </a:rPr>
                            <m:t>𝑇</m:t>
                          </m:r>
                        </m:e>
                        <m:sub>
                          <m:r>
                            <a:rPr lang="en-US" altLang="zh-CN" sz="2400" b="0" i="1" smtClean="0">
                              <a:latin typeface="Cambria Math" panose="02040503050406030204" pitchFamily="18" charset="0"/>
                            </a:rPr>
                            <m:t>5</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m:t>
                              </m:r>
                              <m:r>
                                <a:rPr lang="en-US" altLang="zh-CN" sz="2400" b="0" i="0" smtClean="0">
                                  <a:latin typeface="Cambria Math" panose="02040503050406030204" pitchFamily="18" charset="0"/>
                                </a:rPr>
                                <m:t>0.07</m:t>
                              </m:r>
                              <m:r>
                                <a:rPr lang="en-CN" sz="2400" i="0">
                                  <a:latin typeface="Cambria Math" panose="02040503050406030204" pitchFamily="18" charset="0"/>
                                </a:rPr>
                                <m:t>,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US" altLang="zh-CN" sz="2400" b="0" i="1" smtClean="0">
                                  <a:latin typeface="Cambria Math" panose="02040503050406030204" pitchFamily="18" charset="0"/>
                                </a:rPr>
                                <m:t>6.5</m:t>
                              </m:r>
                            </m:e>
                            <m:e>
                              <m:r>
                                <a:rPr lang="en-CN" sz="2400" i="0">
                                  <a:latin typeface="Cambria Math" panose="02040503050406030204" pitchFamily="18" charset="0"/>
                                </a:rPr>
                                <m:t>&amp;</m:t>
                              </m:r>
                              <m:r>
                                <a:rPr lang="en-US" altLang="zh-CN" sz="2400" b="0" i="0" smtClean="0">
                                  <a:latin typeface="Cambria Math" panose="02040503050406030204" pitchFamily="18" charset="0"/>
                                </a:rPr>
                                <m:t>−0.11</m:t>
                              </m:r>
                              <m:r>
                                <a:rPr lang="zh-CN" altLang="en-US" sz="2400" b="0" i="0" smtClean="0">
                                  <a:latin typeface="Cambria Math" panose="02040503050406030204" pitchFamily="18" charset="0"/>
                                </a:rPr>
                                <m:t>，</m:t>
                              </m:r>
                              <m:r>
                                <a:rPr lang="en-CN" sz="2400" i="0">
                                  <a:latin typeface="Cambria Math" panose="02040503050406030204" pitchFamily="18" charset="0"/>
                                </a:rPr>
                                <m:t>    </m:t>
                              </m:r>
                              <m:r>
                                <a:rPr lang="zh-CN" altLang="en-US" sz="2400" b="0" i="0" smtClean="0">
                                  <a:latin typeface="Cambria Math" panose="02040503050406030204" pitchFamily="18" charset="0"/>
                                </a:rPr>
                                <m:t>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ea typeface="Cambria Math" panose="02040503050406030204" pitchFamily="18" charset="0"/>
                                </a:rPr>
                                <m:t>6.5</m:t>
                              </m:r>
                            </m:e>
                          </m:eqArr>
                        </m:e>
                      </m:d>
                    </m:oMath>
                  </m:oMathPara>
                </a14:m>
                <a:endParaRPr lang="en-CN" sz="2400" dirty="0"/>
              </a:p>
            </p:txBody>
          </p:sp>
        </mc:Choice>
        <mc:Fallback xmlns="">
          <p:sp>
            <p:nvSpPr>
              <p:cNvPr id="14" name="TextBox 13">
                <a:extLst>
                  <a:ext uri="{FF2B5EF4-FFF2-40B4-BE49-F238E27FC236}">
                    <a16:creationId xmlns:a16="http://schemas.microsoft.com/office/drawing/2014/main" id="{7E67F599-3943-BD43-8841-D630025F0DFA}"/>
                  </a:ext>
                </a:extLst>
              </p:cNvPr>
              <p:cNvSpPr txBox="1">
                <a:spLocks noRot="1" noChangeAspect="1" noMove="1" noResize="1" noEditPoints="1" noAdjustHandles="1" noChangeArrowheads="1" noChangeShapeType="1" noTextEdit="1"/>
              </p:cNvSpPr>
              <p:nvPr/>
            </p:nvSpPr>
            <p:spPr>
              <a:xfrm>
                <a:off x="1053966" y="4424904"/>
                <a:ext cx="4670887" cy="916148"/>
              </a:xfrm>
              <a:prstGeom prst="rect">
                <a:avLst/>
              </a:prstGeom>
              <a:blipFill>
                <a:blip r:embed="rId6"/>
                <a:stretch>
                  <a:fillRect t="-197260" b="-28904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9947695-C2A2-A944-99AD-6E24B0879420}"/>
                  </a:ext>
                </a:extLst>
              </p:cNvPr>
              <p:cNvSpPr txBox="1"/>
              <p:nvPr/>
            </p:nvSpPr>
            <p:spPr>
              <a:xfrm>
                <a:off x="1053965" y="5341052"/>
                <a:ext cx="4670887"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CN" sz="2400" i="1" smtClean="0">
                              <a:latin typeface="Cambria Math" panose="02040503050406030204" pitchFamily="18" charset="0"/>
                            </a:rPr>
                            <m:t>𝑇</m:t>
                          </m:r>
                        </m:e>
                        <m:sub>
                          <m:r>
                            <a:rPr lang="en-US" altLang="zh-CN" sz="2400" b="0" i="1" smtClean="0">
                              <a:latin typeface="Cambria Math" panose="02040503050406030204" pitchFamily="18" charset="0"/>
                            </a:rPr>
                            <m:t>6</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m:t>
                              </m:r>
                              <m:r>
                                <a:rPr lang="en-US" altLang="zh-CN" sz="2400" b="0" i="0" smtClean="0">
                                  <a:latin typeface="Cambria Math" panose="02040503050406030204" pitchFamily="18" charset="0"/>
                                </a:rPr>
                                <m:t>−0.15</m:t>
                              </m:r>
                              <m:r>
                                <a:rPr lang="en-CN" sz="2400" i="0">
                                  <a:latin typeface="Cambria Math" panose="02040503050406030204" pitchFamily="18" charset="0"/>
                                </a:rPr>
                                <m:t>,     </m:t>
                              </m:r>
                              <m:r>
                                <a:rPr lang="en-CN" sz="2400" i="1">
                                  <a:latin typeface="Cambria Math" panose="02040503050406030204" pitchFamily="18" charset="0"/>
                                </a:rPr>
                                <m:t>𝑥</m:t>
                              </m:r>
                              <m:r>
                                <a:rPr lang="en-US" altLang="zh-CN" sz="2400" b="0" i="0" smtClean="0">
                                  <a:latin typeface="Cambria Math" panose="02040503050406030204" pitchFamily="18" charset="0"/>
                                </a:rPr>
                                <m:t>&lt;</m:t>
                              </m:r>
                              <m:r>
                                <a:rPr lang="en-US" altLang="zh-CN" sz="2400" b="0" i="1" smtClean="0">
                                  <a:latin typeface="Cambria Math" panose="02040503050406030204" pitchFamily="18" charset="0"/>
                                </a:rPr>
                                <m:t>2.5</m:t>
                              </m:r>
                            </m:e>
                            <m:e>
                              <m:r>
                                <a:rPr lang="en-CN" sz="2400" i="0">
                                  <a:latin typeface="Cambria Math" panose="02040503050406030204" pitchFamily="18" charset="0"/>
                                </a:rPr>
                                <m:t>&amp;</m:t>
                              </m:r>
                              <m:r>
                                <a:rPr lang="en-US" altLang="zh-CN" sz="2400" b="0" i="0" smtClean="0">
                                  <a:latin typeface="Cambria Math" panose="02040503050406030204" pitchFamily="18" charset="0"/>
                                </a:rPr>
                                <m:t>0.04</m:t>
                              </m:r>
                              <m:r>
                                <a:rPr lang="zh-CN" altLang="en-US" sz="2400" b="0" i="0" smtClean="0">
                                  <a:latin typeface="Cambria Math" panose="02040503050406030204" pitchFamily="18" charset="0"/>
                                </a:rPr>
                                <m:t>，</m:t>
                              </m:r>
                              <m:r>
                                <a:rPr lang="en-CN" sz="2400" i="0">
                                  <a:latin typeface="Cambria Math" panose="02040503050406030204" pitchFamily="18" charset="0"/>
                                </a:rPr>
                                <m:t>    </m:t>
                              </m:r>
                              <m:r>
                                <a:rPr lang="zh-CN" altLang="en-US" sz="2400" b="0" i="0" smtClean="0">
                                  <a:latin typeface="Cambria Math" panose="02040503050406030204" pitchFamily="18" charset="0"/>
                                </a:rPr>
                                <m:t>        </m:t>
                              </m:r>
                              <m:r>
                                <a:rPr lang="en-CN" sz="2400" i="1">
                                  <a:latin typeface="Cambria Math" panose="02040503050406030204" pitchFamily="18" charset="0"/>
                                </a:rPr>
                                <m:t>𝑥</m:t>
                              </m:r>
                              <m:r>
                                <a:rPr lang="en-CN" sz="2400">
                                  <a:latin typeface="Cambria Math" panose="02040503050406030204" pitchFamily="18" charset="0"/>
                                  <a:ea typeface="Cambria Math" panose="02040503050406030204" pitchFamily="18" charset="0"/>
                                </a:rPr>
                                <m:t>≥</m:t>
                              </m:r>
                              <m:r>
                                <a:rPr lang="en-US" altLang="zh-CN" sz="2400" b="0" i="0" smtClean="0">
                                  <a:latin typeface="Cambria Math" panose="02040503050406030204" pitchFamily="18" charset="0"/>
                                  <a:ea typeface="Cambria Math" panose="02040503050406030204" pitchFamily="18" charset="0"/>
                                </a:rPr>
                                <m:t>2.5</m:t>
                              </m:r>
                            </m:e>
                          </m:eqArr>
                        </m:e>
                      </m:d>
                    </m:oMath>
                  </m:oMathPara>
                </a14:m>
                <a:endParaRPr lang="en-CN" sz="2400" dirty="0"/>
              </a:p>
            </p:txBody>
          </p:sp>
        </mc:Choice>
        <mc:Fallback xmlns="">
          <p:sp>
            <p:nvSpPr>
              <p:cNvPr id="15" name="TextBox 14">
                <a:extLst>
                  <a:ext uri="{FF2B5EF4-FFF2-40B4-BE49-F238E27FC236}">
                    <a16:creationId xmlns:a16="http://schemas.microsoft.com/office/drawing/2014/main" id="{29947695-C2A2-A944-99AD-6E24B0879420}"/>
                  </a:ext>
                </a:extLst>
              </p:cNvPr>
              <p:cNvSpPr txBox="1">
                <a:spLocks noRot="1" noChangeAspect="1" noMove="1" noResize="1" noEditPoints="1" noAdjustHandles="1" noChangeArrowheads="1" noChangeShapeType="1" noTextEdit="1"/>
              </p:cNvSpPr>
              <p:nvPr/>
            </p:nvSpPr>
            <p:spPr>
              <a:xfrm>
                <a:off x="1053965" y="5341052"/>
                <a:ext cx="4670887" cy="916148"/>
              </a:xfrm>
              <a:prstGeom prst="rect">
                <a:avLst/>
              </a:prstGeom>
              <a:blipFill>
                <a:blip r:embed="rId7"/>
                <a:stretch>
                  <a:fillRect l="-1359" t="-197260" b="-28904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9EC742D-3F30-2D40-8EEE-BF67595839F4}"/>
                  </a:ext>
                </a:extLst>
              </p:cNvPr>
              <p:cNvSpPr txBox="1"/>
              <p:nvPr/>
            </p:nvSpPr>
            <p:spPr>
              <a:xfrm>
                <a:off x="7701456" y="2756625"/>
                <a:ext cx="3385644" cy="509178"/>
              </a:xfrm>
              <a:prstGeom prst="rect">
                <a:avLst/>
              </a:prstGeom>
              <a:noFill/>
            </p:spPr>
            <p:txBody>
              <a:bodyPr wrap="square">
                <a:spAutoFit/>
              </a:bodyPr>
              <a:lstStyle/>
              <a:p>
                <a14:m>
                  <m:oMath xmlns:m="http://schemas.openxmlformats.org/officeDocument/2006/math">
                    <m:r>
                      <a:rPr lang="en-CN" sz="2400" i="1" smtClean="0">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3</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oMath>
                </a14:m>
                <a:r>
                  <a:rPr lang="en-US" altLang="zh-CN" sz="2400" dirty="0"/>
                  <a:t>=0.47</a:t>
                </a:r>
                <a:endParaRPr lang="en-CN" sz="2400" dirty="0"/>
              </a:p>
            </p:txBody>
          </p:sp>
        </mc:Choice>
        <mc:Fallback xmlns="">
          <p:sp>
            <p:nvSpPr>
              <p:cNvPr id="16" name="TextBox 15">
                <a:extLst>
                  <a:ext uri="{FF2B5EF4-FFF2-40B4-BE49-F238E27FC236}">
                    <a16:creationId xmlns:a16="http://schemas.microsoft.com/office/drawing/2014/main" id="{19EC742D-3F30-2D40-8EEE-BF67595839F4}"/>
                  </a:ext>
                </a:extLst>
              </p:cNvPr>
              <p:cNvSpPr txBox="1">
                <a:spLocks noRot="1" noChangeAspect="1" noMove="1" noResize="1" noEditPoints="1" noAdjustHandles="1" noChangeArrowheads="1" noChangeShapeType="1" noTextEdit="1"/>
              </p:cNvSpPr>
              <p:nvPr/>
            </p:nvSpPr>
            <p:spPr>
              <a:xfrm>
                <a:off x="7701456" y="2756625"/>
                <a:ext cx="3385644" cy="509178"/>
              </a:xfrm>
              <a:prstGeom prst="rect">
                <a:avLst/>
              </a:prstGeom>
              <a:blipFill>
                <a:blip r:embed="rId8"/>
                <a:stretch>
                  <a:fillRect l="-373" t="-2381" b="-19048"/>
                </a:stretch>
              </a:blipFill>
            </p:spPr>
            <p:txBody>
              <a:bodyPr/>
              <a:lstStyle/>
              <a:p>
                <a:r>
                  <a:rPr lang="en-CN">
                    <a:noFill/>
                  </a:rPr>
                  <a:t> </a:t>
                </a:r>
              </a:p>
            </p:txBody>
          </p:sp>
        </mc:Fallback>
      </mc:AlternateContent>
      <p:cxnSp>
        <p:nvCxnSpPr>
          <p:cNvPr id="18" name="Straight Arrow Connector 17">
            <a:extLst>
              <a:ext uri="{FF2B5EF4-FFF2-40B4-BE49-F238E27FC236}">
                <a16:creationId xmlns:a16="http://schemas.microsoft.com/office/drawing/2014/main" id="{2961496B-3049-784E-B6E2-1D7223E4E43F}"/>
              </a:ext>
            </a:extLst>
          </p:cNvPr>
          <p:cNvCxnSpPr>
            <a:cxnSpLocks/>
          </p:cNvCxnSpPr>
          <p:nvPr/>
        </p:nvCxnSpPr>
        <p:spPr>
          <a:xfrm flipV="1">
            <a:off x="5646022" y="3075411"/>
            <a:ext cx="170267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4BC29F2-A32B-AD41-AF7E-65E010D8D1E8}"/>
                  </a:ext>
                </a:extLst>
              </p:cNvPr>
              <p:cNvSpPr txBox="1"/>
              <p:nvPr/>
            </p:nvSpPr>
            <p:spPr>
              <a:xfrm>
                <a:off x="7701456" y="3736972"/>
                <a:ext cx="3385644" cy="509178"/>
              </a:xfrm>
              <a:prstGeom prst="rect">
                <a:avLst/>
              </a:prstGeom>
              <a:noFill/>
            </p:spPr>
            <p:txBody>
              <a:bodyPr wrap="square">
                <a:spAutoFit/>
              </a:bodyPr>
              <a:lstStyle/>
              <a:p>
                <a14:m>
                  <m:oMath xmlns:m="http://schemas.openxmlformats.org/officeDocument/2006/math">
                    <m:r>
                      <a:rPr lang="en-CN" sz="2400" i="1" smtClean="0">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4</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oMath>
                </a14:m>
                <a:r>
                  <a:rPr lang="en-US" altLang="zh-CN" sz="2400" dirty="0"/>
                  <a:t>=0.30</a:t>
                </a:r>
                <a:endParaRPr lang="en-CN" sz="2400" dirty="0"/>
              </a:p>
            </p:txBody>
          </p:sp>
        </mc:Choice>
        <mc:Fallback xmlns="">
          <p:sp>
            <p:nvSpPr>
              <p:cNvPr id="20" name="TextBox 19">
                <a:extLst>
                  <a:ext uri="{FF2B5EF4-FFF2-40B4-BE49-F238E27FC236}">
                    <a16:creationId xmlns:a16="http://schemas.microsoft.com/office/drawing/2014/main" id="{D4BC29F2-A32B-AD41-AF7E-65E010D8D1E8}"/>
                  </a:ext>
                </a:extLst>
              </p:cNvPr>
              <p:cNvSpPr txBox="1">
                <a:spLocks noRot="1" noChangeAspect="1" noMove="1" noResize="1" noEditPoints="1" noAdjustHandles="1" noChangeArrowheads="1" noChangeShapeType="1" noTextEdit="1"/>
              </p:cNvSpPr>
              <p:nvPr/>
            </p:nvSpPr>
            <p:spPr>
              <a:xfrm>
                <a:off x="7701456" y="3736972"/>
                <a:ext cx="3385644" cy="509178"/>
              </a:xfrm>
              <a:prstGeom prst="rect">
                <a:avLst/>
              </a:prstGeom>
              <a:blipFill>
                <a:blip r:embed="rId9"/>
                <a:stretch>
                  <a:fillRect l="-373" t="-4878" b="-19512"/>
                </a:stretch>
              </a:blipFill>
            </p:spPr>
            <p:txBody>
              <a:bodyPr/>
              <a:lstStyle/>
              <a:p>
                <a:r>
                  <a:rPr lang="en-CN">
                    <a:noFill/>
                  </a:rPr>
                  <a:t> </a:t>
                </a:r>
              </a:p>
            </p:txBody>
          </p:sp>
        </mc:Fallback>
      </mc:AlternateContent>
      <p:cxnSp>
        <p:nvCxnSpPr>
          <p:cNvPr id="21" name="Straight Arrow Connector 20">
            <a:extLst>
              <a:ext uri="{FF2B5EF4-FFF2-40B4-BE49-F238E27FC236}">
                <a16:creationId xmlns:a16="http://schemas.microsoft.com/office/drawing/2014/main" id="{1E3395F8-B71C-754C-856D-4D8BDF92D516}"/>
              </a:ext>
            </a:extLst>
          </p:cNvPr>
          <p:cNvCxnSpPr>
            <a:cxnSpLocks/>
          </p:cNvCxnSpPr>
          <p:nvPr/>
        </p:nvCxnSpPr>
        <p:spPr>
          <a:xfrm flipV="1">
            <a:off x="5646022" y="4055758"/>
            <a:ext cx="170267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8D70F1E-2C6B-6D4A-8517-77E207A17B47}"/>
                  </a:ext>
                </a:extLst>
              </p:cNvPr>
              <p:cNvSpPr txBox="1"/>
              <p:nvPr/>
            </p:nvSpPr>
            <p:spPr>
              <a:xfrm>
                <a:off x="7701456" y="4588923"/>
                <a:ext cx="3385644" cy="509178"/>
              </a:xfrm>
              <a:prstGeom prst="rect">
                <a:avLst/>
              </a:prstGeom>
              <a:noFill/>
            </p:spPr>
            <p:txBody>
              <a:bodyPr wrap="square">
                <a:spAutoFit/>
              </a:bodyPr>
              <a:lstStyle/>
              <a:p>
                <a14:m>
                  <m:oMath xmlns:m="http://schemas.openxmlformats.org/officeDocument/2006/math">
                    <m:r>
                      <a:rPr lang="en-CN" sz="2400" i="1" smtClean="0">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5</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oMath>
                </a14:m>
                <a:r>
                  <a:rPr lang="en-US" altLang="zh-CN" sz="2400" dirty="0"/>
                  <a:t>=0.23</a:t>
                </a:r>
                <a:endParaRPr lang="en-CN" sz="2400" dirty="0"/>
              </a:p>
            </p:txBody>
          </p:sp>
        </mc:Choice>
        <mc:Fallback xmlns="">
          <p:sp>
            <p:nvSpPr>
              <p:cNvPr id="22" name="TextBox 21">
                <a:extLst>
                  <a:ext uri="{FF2B5EF4-FFF2-40B4-BE49-F238E27FC236}">
                    <a16:creationId xmlns:a16="http://schemas.microsoft.com/office/drawing/2014/main" id="{38D70F1E-2C6B-6D4A-8517-77E207A17B47}"/>
                  </a:ext>
                </a:extLst>
              </p:cNvPr>
              <p:cNvSpPr txBox="1">
                <a:spLocks noRot="1" noChangeAspect="1" noMove="1" noResize="1" noEditPoints="1" noAdjustHandles="1" noChangeArrowheads="1" noChangeShapeType="1" noTextEdit="1"/>
              </p:cNvSpPr>
              <p:nvPr/>
            </p:nvSpPr>
            <p:spPr>
              <a:xfrm>
                <a:off x="7701456" y="4588923"/>
                <a:ext cx="3385644" cy="509178"/>
              </a:xfrm>
              <a:prstGeom prst="rect">
                <a:avLst/>
              </a:prstGeom>
              <a:blipFill>
                <a:blip r:embed="rId10"/>
                <a:stretch>
                  <a:fillRect l="-373" t="-4878" b="-19512"/>
                </a:stretch>
              </a:blipFill>
            </p:spPr>
            <p:txBody>
              <a:bodyPr/>
              <a:lstStyle/>
              <a:p>
                <a:r>
                  <a:rPr lang="en-CN">
                    <a:noFill/>
                  </a:rPr>
                  <a:t> </a:t>
                </a:r>
              </a:p>
            </p:txBody>
          </p:sp>
        </mc:Fallback>
      </mc:AlternateContent>
      <p:cxnSp>
        <p:nvCxnSpPr>
          <p:cNvPr id="23" name="Straight Arrow Connector 22">
            <a:extLst>
              <a:ext uri="{FF2B5EF4-FFF2-40B4-BE49-F238E27FC236}">
                <a16:creationId xmlns:a16="http://schemas.microsoft.com/office/drawing/2014/main" id="{E42A1773-AE5B-C643-8CA7-7FCA01BB2E56}"/>
              </a:ext>
            </a:extLst>
          </p:cNvPr>
          <p:cNvCxnSpPr>
            <a:cxnSpLocks/>
          </p:cNvCxnSpPr>
          <p:nvPr/>
        </p:nvCxnSpPr>
        <p:spPr>
          <a:xfrm flipV="1">
            <a:off x="5646022" y="4907709"/>
            <a:ext cx="170267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TextBox 7">
                <a:extLst>
                  <a:ext uri="{FF2B5EF4-FFF2-40B4-BE49-F238E27FC236}">
                    <a16:creationId xmlns:a16="http://schemas.microsoft.com/office/drawing/2014/main" id="{0C925966-F350-FC49-8FF3-DC5AFBB45AFF}"/>
                  </a:ext>
                </a:extLst>
              </p:cNvPr>
              <p:cNvSpPr txBox="1"/>
              <p:nvPr/>
            </p:nvSpPr>
            <p:spPr>
              <a:xfrm>
                <a:off x="1824358" y="776877"/>
                <a:ext cx="8066452" cy="1271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sz="2400" i="1" smtClean="0">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i="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CN" sz="2400" i="0">
                              <a:latin typeface="Cambria Math" panose="02040503050406030204" pitchFamily="18" charset="0"/>
                            </a:rPr>
                            <m:t>1</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𝑇</m:t>
                          </m:r>
                        </m:e>
                        <m:sub>
                          <m:r>
                            <a:rPr lang="en-CN" sz="2400" i="0">
                              <a:latin typeface="Cambria Math" panose="02040503050406030204" pitchFamily="18" charset="0"/>
                            </a:rPr>
                            <m:t>2</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CN" sz="2400" i="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&amp;5.72,                </m:t>
                              </m:r>
                              <m:r>
                                <a:rPr lang="en-CN" sz="2400" i="1">
                                  <a:latin typeface="Cambria Math" panose="02040503050406030204" pitchFamily="18" charset="0"/>
                                </a:rPr>
                                <m:t>𝑥</m:t>
                              </m:r>
                              <m:r>
                                <a:rPr lang="en-CN" sz="2400" i="0">
                                  <a:latin typeface="Cambria Math" panose="02040503050406030204" pitchFamily="18" charset="0"/>
                                </a:rPr>
                                <m:t>&lt;3.5</m:t>
                              </m:r>
                            </m:e>
                            <m:e>
                              <m:r>
                                <a:rPr lang="en-CN" sz="2400" i="0">
                                  <a:latin typeface="Cambria Math" panose="02040503050406030204" pitchFamily="18" charset="0"/>
                                </a:rPr>
                                <m:t>&amp;6.46,     3.5≤</m:t>
                              </m:r>
                              <m:r>
                                <a:rPr lang="en-CN" sz="2400" i="1">
                                  <a:latin typeface="Cambria Math" panose="02040503050406030204" pitchFamily="18" charset="0"/>
                                </a:rPr>
                                <m:t>𝑥</m:t>
                              </m:r>
                              <m:r>
                                <a:rPr lang="en-CN" sz="2400" i="0">
                                  <a:latin typeface="Cambria Math" panose="02040503050406030204" pitchFamily="18" charset="0"/>
                                </a:rPr>
                                <m:t>&lt;6.5</m:t>
                              </m:r>
                            </m:e>
                            <m:e>
                              <m:r>
                                <a:rPr lang="en-CN" sz="2400" i="0">
                                  <a:latin typeface="Cambria Math" panose="02040503050406030204" pitchFamily="18" charset="0"/>
                                </a:rPr>
                                <m:t>&amp;9.13,                 </m:t>
                              </m:r>
                              <m:r>
                                <a:rPr lang="en-CN" sz="2400" i="1">
                                  <a:latin typeface="Cambria Math" panose="02040503050406030204" pitchFamily="18" charset="0"/>
                                </a:rPr>
                                <m:t>𝑥</m:t>
                              </m:r>
                              <m:r>
                                <a:rPr lang="en-CN" sz="2400" i="0">
                                  <a:latin typeface="Cambria Math" panose="02040503050406030204" pitchFamily="18" charset="0"/>
                                </a:rPr>
                                <m:t>≥6.5</m:t>
                              </m:r>
                            </m:e>
                          </m:eqArr>
                        </m:e>
                      </m:d>
                    </m:oMath>
                  </m:oMathPara>
                </a14:m>
                <a:endParaRPr lang="en-CN" sz="2400" dirty="0"/>
              </a:p>
            </p:txBody>
          </p:sp>
        </mc:Choice>
        <mc:Fallback>
          <p:sp>
            <p:nvSpPr>
              <p:cNvPr id="17" name="TextBox 7">
                <a:extLst>
                  <a:ext uri="{FF2B5EF4-FFF2-40B4-BE49-F238E27FC236}">
                    <a16:creationId xmlns:a16="http://schemas.microsoft.com/office/drawing/2014/main" id="{0C925966-F350-FC49-8FF3-DC5AFBB45AFF}"/>
                  </a:ext>
                </a:extLst>
              </p:cNvPr>
              <p:cNvSpPr txBox="1">
                <a:spLocks noRot="1" noChangeAspect="1" noMove="1" noResize="1" noEditPoints="1" noAdjustHandles="1" noChangeArrowheads="1" noChangeShapeType="1" noTextEdit="1"/>
              </p:cNvSpPr>
              <p:nvPr/>
            </p:nvSpPr>
            <p:spPr>
              <a:xfrm>
                <a:off x="1824358" y="776877"/>
                <a:ext cx="8066452" cy="1271438"/>
              </a:xfrm>
              <a:prstGeom prst="rect">
                <a:avLst/>
              </a:prstGeom>
              <a:blipFill>
                <a:blip r:embed="rId11"/>
                <a:stretch>
                  <a:fillRect t="-207843" b="-2980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8199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par>
                                <p:cTn id="11" presetID="3" presetClass="entr" presetSubtype="1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blinds(horizontal)">
                                      <p:cBhvr>
                                        <p:cTn id="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9A64163-19BB-CD42-BB20-3354C72F12E0}"/>
                  </a:ext>
                </a:extLst>
              </p:cNvPr>
              <p:cNvSpPr txBox="1"/>
              <p:nvPr/>
            </p:nvSpPr>
            <p:spPr>
              <a:xfrm>
                <a:off x="566962" y="999476"/>
                <a:ext cx="11508828" cy="461665"/>
              </a:xfrm>
              <a:prstGeom prst="rect">
                <a:avLst/>
              </a:prstGeom>
              <a:noFill/>
            </p:spPr>
            <p:txBody>
              <a:bodyPr wrap="square" rtlCol="0">
                <a:spAutoFit/>
              </a:bodyPr>
              <a:lstStyle/>
              <a:p>
                <a:r>
                  <a:rPr lang="en-CN" sz="2400" dirty="0">
                    <a:latin typeface="-apple-system"/>
                  </a:rPr>
                  <a:t>可以求得</a:t>
                </a:r>
                <a:r>
                  <a:rPr lang="en-CN" sz="2400" dirty="0">
                    <a:solidFill>
                      <a:srgbClr val="836967"/>
                    </a:solidFill>
                  </a:rPr>
                  <a:t> </a:t>
                </a:r>
                <a14:m>
                  <m:oMath xmlns:m="http://schemas.openxmlformats.org/officeDocument/2006/math">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6</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𝑓</m:t>
                        </m:r>
                      </m:e>
                      <m:sub>
                        <m:r>
                          <a:rPr lang="en-US" altLang="zh-CN" sz="2400" b="0" i="1" smtClean="0">
                            <a:latin typeface="Cambria Math" panose="02040503050406030204" pitchFamily="18" charset="0"/>
                          </a:rPr>
                          <m:t>5</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6</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6</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CN" sz="2400" i="1">
                        <a:latin typeface="Cambria Math" panose="02040503050406030204" pitchFamily="18" charset="0"/>
                      </a:rPr>
                      <m:t> </m:t>
                    </m:r>
                  </m:oMath>
                </a14:m>
                <a:endParaRPr lang="en-CN" sz="2400" dirty="0">
                  <a:latin typeface="+mn-ea"/>
                </a:endParaRPr>
              </a:p>
            </p:txBody>
          </p:sp>
        </mc:Choice>
        <mc:Fallback>
          <p:sp>
            <p:nvSpPr>
              <p:cNvPr id="10" name="TextBox 9">
                <a:extLst>
                  <a:ext uri="{FF2B5EF4-FFF2-40B4-BE49-F238E27FC236}">
                    <a16:creationId xmlns:a16="http://schemas.microsoft.com/office/drawing/2014/main" id="{89A64163-19BB-CD42-BB20-3354C72F12E0}"/>
                  </a:ext>
                </a:extLst>
              </p:cNvPr>
              <p:cNvSpPr txBox="1">
                <a:spLocks noRot="1" noChangeAspect="1" noMove="1" noResize="1" noEditPoints="1" noAdjustHandles="1" noChangeArrowheads="1" noChangeShapeType="1" noTextEdit="1"/>
              </p:cNvSpPr>
              <p:nvPr/>
            </p:nvSpPr>
            <p:spPr>
              <a:xfrm>
                <a:off x="566962" y="999476"/>
                <a:ext cx="11508828" cy="461665"/>
              </a:xfrm>
              <a:prstGeom prst="rect">
                <a:avLst/>
              </a:prstGeom>
              <a:blipFill>
                <a:blip r:embed="rId3"/>
                <a:stretch>
                  <a:fillRect l="-882" t="-10526" b="-289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4ED853F9-7A42-F848-870B-F67347A7E35A}"/>
                  </a:ext>
                </a:extLst>
              </p:cNvPr>
              <p:cNvSpPr txBox="1"/>
              <p:nvPr/>
            </p:nvSpPr>
            <p:spPr>
              <a:xfrm>
                <a:off x="3049314" y="1768317"/>
                <a:ext cx="6093372" cy="19648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N" sz="2400" smtClean="0">
                          <a:latin typeface="Cambria Math" panose="02040503050406030204" pitchFamily="18" charset="0"/>
                        </a:rPr>
                        <m:t>=</m:t>
                      </m:r>
                      <m:d>
                        <m:dPr>
                          <m:begChr m:val="{"/>
                          <m:endChr m:val=""/>
                          <m:ctrlPr>
                            <a:rPr lang="en-CN" sz="2400" i="1">
                              <a:solidFill>
                                <a:srgbClr val="836967"/>
                              </a:solidFill>
                              <a:latin typeface="Cambria Math" panose="02040503050406030204" pitchFamily="18" charset="0"/>
                            </a:rPr>
                          </m:ctrlPr>
                        </m:dPr>
                        <m:e>
                          <m:eqArr>
                            <m:eqArrPr>
                              <m:ctrlPr>
                                <a:rPr lang="en-CN" sz="2400" i="1">
                                  <a:solidFill>
                                    <a:srgbClr val="836967"/>
                                  </a:solidFill>
                                  <a:latin typeface="Cambria Math" panose="02040503050406030204" pitchFamily="18" charset="0"/>
                                </a:rPr>
                              </m:ctrlPr>
                            </m:eqArrPr>
                            <m:e>
                              <m:r>
                                <a:rPr lang="en-CN" sz="2400" i="0">
                                  <a:latin typeface="Cambria Math" panose="02040503050406030204" pitchFamily="18" charset="0"/>
                                </a:rPr>
                                <m:t>&amp;5.63,              </m:t>
                              </m:r>
                              <m:r>
                                <a:rPr lang="en-CN" sz="2400" i="1">
                                  <a:latin typeface="Cambria Math" panose="02040503050406030204" pitchFamily="18" charset="0"/>
                                </a:rPr>
                                <m:t>𝑥</m:t>
                              </m:r>
                              <m:r>
                                <a:rPr lang="en-CN" sz="2400" i="0">
                                  <a:latin typeface="Cambria Math" panose="02040503050406030204" pitchFamily="18" charset="0"/>
                                </a:rPr>
                                <m:t>&lt;2.5</m:t>
                              </m:r>
                            </m:e>
                            <m:e>
                              <m:r>
                                <a:rPr lang="en-CN" sz="2400" i="0">
                                  <a:latin typeface="Cambria Math" panose="02040503050406030204" pitchFamily="18" charset="0"/>
                                </a:rPr>
                                <m:t>&amp;5.82,   2.5≤</m:t>
                              </m:r>
                              <m:r>
                                <a:rPr lang="en-CN" sz="2400" i="1">
                                  <a:latin typeface="Cambria Math" panose="02040503050406030204" pitchFamily="18" charset="0"/>
                                </a:rPr>
                                <m:t>𝑥</m:t>
                              </m:r>
                              <m:r>
                                <a:rPr lang="en-CN" sz="2400" i="0">
                                  <a:latin typeface="Cambria Math" panose="02040503050406030204" pitchFamily="18" charset="0"/>
                                </a:rPr>
                                <m:t>&lt;3.5</m:t>
                              </m:r>
                            </m:e>
                            <m:e>
                              <m:r>
                                <a:rPr lang="en-CN" sz="2400" i="0">
                                  <a:latin typeface="Cambria Math" panose="02040503050406030204" pitchFamily="18" charset="0"/>
                                </a:rPr>
                                <m:t>&amp;6.56,   3.5≤</m:t>
                              </m:r>
                              <m:r>
                                <a:rPr lang="en-CN" sz="2400" i="1">
                                  <a:latin typeface="Cambria Math" panose="02040503050406030204" pitchFamily="18" charset="0"/>
                                </a:rPr>
                                <m:t>𝑥</m:t>
                              </m:r>
                              <m:r>
                                <a:rPr lang="en-CN" sz="2400" i="0">
                                  <a:latin typeface="Cambria Math" panose="02040503050406030204" pitchFamily="18" charset="0"/>
                                </a:rPr>
                                <m:t>&lt;4.5</m:t>
                              </m:r>
                            </m:e>
                            <m:e>
                              <m:r>
                                <a:rPr lang="en-CN" sz="2400" i="0">
                                  <a:latin typeface="Cambria Math" panose="02040503050406030204" pitchFamily="18" charset="0"/>
                                </a:rPr>
                                <m:t>&amp;6.83,   4.5≤</m:t>
                              </m:r>
                              <m:r>
                                <a:rPr lang="en-CN" sz="2400" i="1">
                                  <a:latin typeface="Cambria Math" panose="02040503050406030204" pitchFamily="18" charset="0"/>
                                </a:rPr>
                                <m:t>𝑥</m:t>
                              </m:r>
                              <m:r>
                                <a:rPr lang="en-CN" sz="2400" i="0">
                                  <a:latin typeface="Cambria Math" panose="02040503050406030204" pitchFamily="18" charset="0"/>
                                </a:rPr>
                                <m:t>&lt;6.5</m:t>
                              </m:r>
                            </m:e>
                            <m:e>
                              <m:r>
                                <a:rPr lang="en-CN" sz="2400" i="0">
                                  <a:latin typeface="Cambria Math" panose="02040503050406030204" pitchFamily="18" charset="0"/>
                                </a:rPr>
                                <m:t>&amp;8.96,               </m:t>
                              </m:r>
                              <m:r>
                                <a:rPr lang="en-CN" sz="2400" i="1">
                                  <a:latin typeface="Cambria Math" panose="02040503050406030204" pitchFamily="18" charset="0"/>
                                </a:rPr>
                                <m:t>𝑥</m:t>
                              </m:r>
                              <m:r>
                                <a:rPr lang="en-CN" sz="2400" i="0">
                                  <a:latin typeface="Cambria Math" panose="02040503050406030204" pitchFamily="18" charset="0"/>
                                </a:rPr>
                                <m:t>≥6.5</m:t>
                              </m:r>
                            </m:e>
                          </m:eqArr>
                        </m:e>
                      </m:d>
                    </m:oMath>
                  </m:oMathPara>
                </a14:m>
                <a:endParaRPr lang="en-CN" sz="2400" dirty="0"/>
              </a:p>
            </p:txBody>
          </p:sp>
        </mc:Choice>
        <mc:Fallback>
          <p:sp>
            <p:nvSpPr>
              <p:cNvPr id="17" name="TextBox 16">
                <a:extLst>
                  <a:ext uri="{FF2B5EF4-FFF2-40B4-BE49-F238E27FC236}">
                    <a16:creationId xmlns:a16="http://schemas.microsoft.com/office/drawing/2014/main" id="{4ED853F9-7A42-F848-870B-F67347A7E35A}"/>
                  </a:ext>
                </a:extLst>
              </p:cNvPr>
              <p:cNvSpPr txBox="1">
                <a:spLocks noRot="1" noChangeAspect="1" noMove="1" noResize="1" noEditPoints="1" noAdjustHandles="1" noChangeArrowheads="1" noChangeShapeType="1" noTextEdit="1"/>
              </p:cNvSpPr>
              <p:nvPr/>
            </p:nvSpPr>
            <p:spPr>
              <a:xfrm>
                <a:off x="3049314" y="1768317"/>
                <a:ext cx="6093372" cy="1964897"/>
              </a:xfrm>
              <a:prstGeom prst="rect">
                <a:avLst/>
              </a:prstGeom>
              <a:blipFill>
                <a:blip r:embed="rId4"/>
                <a:stretch>
                  <a:fillRect b="-32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4A6CC549-5681-254B-9E80-0737646FA457}"/>
                  </a:ext>
                </a:extLst>
              </p:cNvPr>
              <p:cNvSpPr txBox="1"/>
              <p:nvPr/>
            </p:nvSpPr>
            <p:spPr>
              <a:xfrm>
                <a:off x="566962" y="3917320"/>
                <a:ext cx="11508828" cy="461665"/>
              </a:xfrm>
              <a:prstGeom prst="rect">
                <a:avLst/>
              </a:prstGeom>
              <a:noFill/>
            </p:spPr>
            <p:txBody>
              <a:bodyPr wrap="square" rtlCol="0">
                <a:spAutoFit/>
              </a:bodyPr>
              <a:lstStyle/>
              <a:p>
                <a:r>
                  <a:rPr lang="en-US" sz="2400" dirty="0">
                    <a:latin typeface="-apple-system"/>
                  </a:rPr>
                  <a:t>用</a:t>
                </a:r>
                <a:r>
                  <a:rPr lang="en-CN" sz="2400" dirty="0">
                    <a:solidFill>
                      <a:srgbClr val="836967"/>
                    </a:solidFill>
                  </a:rPr>
                  <a:t> </a:t>
                </a:r>
                <a14:m>
                  <m:oMath xmlns:m="http://schemas.openxmlformats.org/officeDocument/2006/math">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a:latin typeface="Cambria Math" panose="02040503050406030204" pitchFamily="18" charset="0"/>
                          </a:rPr>
                          <m:t>6</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r>
                      <a:rPr lang="en-US" sz="2400" i="1">
                        <a:latin typeface="Cambria Math" panose="02040503050406030204" pitchFamily="18" charset="0"/>
                      </a:rPr>
                      <m:t>拟合训练数据的平方损失误差</m:t>
                    </m:r>
                    <m:r>
                      <a:rPr lang="zh-CN" altLang="en-US" sz="2400" b="0" i="1" smtClean="0">
                        <a:latin typeface="Cambria Math" panose="02040503050406030204" pitchFamily="18" charset="0"/>
                      </a:rPr>
                      <m:t>：</m:t>
                    </m:r>
                  </m:oMath>
                </a14:m>
                <a:endParaRPr lang="en-CN" sz="2400" dirty="0">
                  <a:latin typeface="+mn-ea"/>
                </a:endParaRPr>
              </a:p>
            </p:txBody>
          </p:sp>
        </mc:Choice>
        <mc:Fallback>
          <p:sp>
            <p:nvSpPr>
              <p:cNvPr id="19" name="TextBox 18">
                <a:extLst>
                  <a:ext uri="{FF2B5EF4-FFF2-40B4-BE49-F238E27FC236}">
                    <a16:creationId xmlns:a16="http://schemas.microsoft.com/office/drawing/2014/main" id="{4A6CC549-5681-254B-9E80-0737646FA457}"/>
                  </a:ext>
                </a:extLst>
              </p:cNvPr>
              <p:cNvSpPr txBox="1">
                <a:spLocks noRot="1" noChangeAspect="1" noMove="1" noResize="1" noEditPoints="1" noAdjustHandles="1" noChangeArrowheads="1" noChangeShapeType="1" noTextEdit="1"/>
              </p:cNvSpPr>
              <p:nvPr/>
            </p:nvSpPr>
            <p:spPr>
              <a:xfrm>
                <a:off x="566962" y="3917320"/>
                <a:ext cx="11508828" cy="461665"/>
              </a:xfrm>
              <a:prstGeom prst="rect">
                <a:avLst/>
              </a:prstGeom>
              <a:blipFill>
                <a:blip r:embed="rId5"/>
                <a:stretch>
                  <a:fillRect l="-882" t="-10811" b="-297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8AC9AA9B-AF74-FA42-81A0-D098C14AE368}"/>
                  </a:ext>
                </a:extLst>
              </p:cNvPr>
              <p:cNvSpPr txBox="1"/>
              <p:nvPr/>
            </p:nvSpPr>
            <p:spPr>
              <a:xfrm>
                <a:off x="3049314" y="4378985"/>
                <a:ext cx="6093372" cy="11306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N" sz="2400" i="1" smtClean="0">
                          <a:latin typeface="Cambria Math" panose="02040503050406030204" pitchFamily="18" charset="0"/>
                        </a:rPr>
                        <m:t>𝐿</m:t>
                      </m:r>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𝑦</m:t>
                          </m:r>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6</m:t>
                              </m:r>
                            </m:sub>
                          </m:sSub>
                          <m:d>
                            <m:dPr>
                              <m:ctrlPr>
                                <a:rPr lang="en-CN" sz="2400" i="1">
                                  <a:solidFill>
                                    <a:srgbClr val="836967"/>
                                  </a:solidFill>
                                  <a:latin typeface="Cambria Math" panose="02040503050406030204" pitchFamily="18" charset="0"/>
                                </a:rPr>
                              </m:ctrlPr>
                            </m:dPr>
                            <m:e>
                              <m:r>
                                <a:rPr lang="en-CN" sz="2400" i="1">
                                  <a:latin typeface="Cambria Math" panose="02040503050406030204" pitchFamily="18" charset="0"/>
                                </a:rPr>
                                <m:t>𝑥</m:t>
                              </m:r>
                            </m:e>
                          </m:d>
                        </m:e>
                      </m:d>
                      <m:r>
                        <a:rPr lang="en-CN" sz="2400" i="0">
                          <a:latin typeface="Cambria Math" panose="02040503050406030204" pitchFamily="18" charset="0"/>
                        </a:rPr>
                        <m:t>=</m:t>
                      </m:r>
                      <m:nary>
                        <m:naryPr>
                          <m:chr m:val="∑"/>
                          <m:limLoc m:val="undOvr"/>
                          <m:ctrlPr>
                            <a:rPr lang="en-CN" sz="2400" i="1">
                              <a:latin typeface="Cambria Math" panose="02040503050406030204" pitchFamily="18" charset="0"/>
                            </a:rPr>
                          </m:ctrlPr>
                        </m:naryPr>
                        <m:sub>
                          <m:r>
                            <a:rPr lang="en-CN" sz="2400" i="1">
                              <a:latin typeface="Cambria Math" panose="02040503050406030204" pitchFamily="18" charset="0"/>
                            </a:rPr>
                            <m:t>𝑖</m:t>
                          </m:r>
                          <m:r>
                            <a:rPr lang="en-CN" sz="2400" i="0">
                              <a:latin typeface="Cambria Math" panose="02040503050406030204" pitchFamily="18" charset="0"/>
                            </a:rPr>
                            <m:t>=1</m:t>
                          </m:r>
                        </m:sub>
                        <m:sup>
                          <m:r>
                            <a:rPr lang="en-CN" sz="2400" i="0">
                              <a:latin typeface="Cambria Math" panose="02040503050406030204" pitchFamily="18" charset="0"/>
                            </a:rPr>
                            <m:t>10</m:t>
                          </m:r>
                        </m:sup>
                        <m:e>
                          <m:sSup>
                            <m:sSupPr>
                              <m:ctrlPr>
                                <a:rPr lang="en-CN" sz="2400" i="1">
                                  <a:solidFill>
                                    <a:srgbClr val="836967"/>
                                  </a:solidFill>
                                  <a:latin typeface="Cambria Math" panose="02040503050406030204" pitchFamily="18" charset="0"/>
                                </a:rPr>
                              </m:ctrlPr>
                            </m:sSupPr>
                            <m:e>
                              <m:d>
                                <m:dPr>
                                  <m:ctrlPr>
                                    <a:rPr lang="en-CN" sz="2400" i="1">
                                      <a:solidFill>
                                        <a:srgbClr val="836967"/>
                                      </a:solidFill>
                                      <a:latin typeface="Cambria Math" panose="02040503050406030204" pitchFamily="18" charset="0"/>
                                    </a:rPr>
                                  </m:ctrlPr>
                                </m:dPr>
                                <m:e>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𝑦</m:t>
                                      </m:r>
                                    </m:e>
                                    <m:sub>
                                      <m:r>
                                        <a:rPr lang="en-CN" sz="2400" i="1">
                                          <a:latin typeface="Cambria Math" panose="02040503050406030204" pitchFamily="18" charset="0"/>
                                        </a:rPr>
                                        <m:t>𝑖</m:t>
                                      </m:r>
                                    </m:sub>
                                  </m:sSub>
                                  <m:r>
                                    <a:rPr lang="en-CN" sz="2400" i="0">
                                      <a:latin typeface="Cambria Math" panose="02040503050406030204" pitchFamily="18" charset="0"/>
                                    </a:rPr>
                                    <m:t>−</m:t>
                                  </m:r>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𝑓</m:t>
                                      </m:r>
                                    </m:e>
                                    <m:sub>
                                      <m:r>
                                        <a:rPr lang="en-US" altLang="zh-CN" sz="2400" b="0" i="0" smtClean="0">
                                          <a:latin typeface="Cambria Math" panose="02040503050406030204" pitchFamily="18" charset="0"/>
                                        </a:rPr>
                                        <m:t>6</m:t>
                                      </m:r>
                                    </m:sub>
                                  </m:sSub>
                                  <m:d>
                                    <m:dPr>
                                      <m:ctrlPr>
                                        <a:rPr lang="en-CN" sz="2400" i="1">
                                          <a:solidFill>
                                            <a:srgbClr val="836967"/>
                                          </a:solidFill>
                                          <a:latin typeface="Cambria Math" panose="02040503050406030204" pitchFamily="18" charset="0"/>
                                        </a:rPr>
                                      </m:ctrlPr>
                                    </m:dPr>
                                    <m:e>
                                      <m:sSub>
                                        <m:sSubPr>
                                          <m:ctrlPr>
                                            <a:rPr lang="en-CN" sz="2400" i="1">
                                              <a:solidFill>
                                                <a:srgbClr val="836967"/>
                                              </a:solidFill>
                                              <a:latin typeface="Cambria Math" panose="02040503050406030204" pitchFamily="18" charset="0"/>
                                            </a:rPr>
                                          </m:ctrlPr>
                                        </m:sSubPr>
                                        <m:e>
                                          <m:r>
                                            <a:rPr lang="en-CN" sz="2400" i="1">
                                              <a:latin typeface="Cambria Math" panose="02040503050406030204" pitchFamily="18" charset="0"/>
                                            </a:rPr>
                                            <m:t>𝑥</m:t>
                                          </m:r>
                                        </m:e>
                                        <m:sub>
                                          <m:r>
                                            <a:rPr lang="en-CN" sz="2400" i="1">
                                              <a:latin typeface="Cambria Math" panose="02040503050406030204" pitchFamily="18" charset="0"/>
                                            </a:rPr>
                                            <m:t>𝑖</m:t>
                                          </m:r>
                                        </m:sub>
                                      </m:sSub>
                                    </m:e>
                                  </m:d>
                                </m:e>
                              </m:d>
                            </m:e>
                            <m:sup>
                              <m:r>
                                <a:rPr lang="en-CN" sz="2400" i="0">
                                  <a:latin typeface="Cambria Math" panose="02040503050406030204" pitchFamily="18" charset="0"/>
                                </a:rPr>
                                <m:t>2</m:t>
                              </m:r>
                            </m:sup>
                          </m:sSup>
                          <m:r>
                            <a:rPr lang="en-CN" sz="2400" i="0">
                              <a:latin typeface="Cambria Math" panose="02040503050406030204" pitchFamily="18" charset="0"/>
                            </a:rPr>
                            <m:t>=0.</m:t>
                          </m:r>
                          <m:r>
                            <a:rPr lang="en-US" altLang="zh-CN" sz="2400" b="0" i="1" smtClean="0">
                              <a:latin typeface="Cambria Math" panose="02040503050406030204" pitchFamily="18" charset="0"/>
                            </a:rPr>
                            <m:t>17</m:t>
                          </m:r>
                        </m:e>
                      </m:nary>
                    </m:oMath>
                  </m:oMathPara>
                </a14:m>
                <a:endParaRPr lang="en-CN" sz="2400" dirty="0"/>
              </a:p>
            </p:txBody>
          </p:sp>
        </mc:Choice>
        <mc:Fallback>
          <p:sp>
            <p:nvSpPr>
              <p:cNvPr id="24" name="TextBox 23">
                <a:extLst>
                  <a:ext uri="{FF2B5EF4-FFF2-40B4-BE49-F238E27FC236}">
                    <a16:creationId xmlns:a16="http://schemas.microsoft.com/office/drawing/2014/main" id="{8AC9AA9B-AF74-FA42-81A0-D098C14AE368}"/>
                  </a:ext>
                </a:extLst>
              </p:cNvPr>
              <p:cNvSpPr txBox="1">
                <a:spLocks noRot="1" noChangeAspect="1" noMove="1" noResize="1" noEditPoints="1" noAdjustHandles="1" noChangeArrowheads="1" noChangeShapeType="1" noTextEdit="1"/>
              </p:cNvSpPr>
              <p:nvPr/>
            </p:nvSpPr>
            <p:spPr>
              <a:xfrm>
                <a:off x="3049314" y="4378985"/>
                <a:ext cx="6093372" cy="1130631"/>
              </a:xfrm>
              <a:prstGeom prst="rect">
                <a:avLst/>
              </a:prstGeom>
              <a:blipFill>
                <a:blip r:embed="rId6"/>
                <a:stretch>
                  <a:fillRect t="-102222" b="-1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87FE89-47D8-9C4F-8CB3-8D8E366BFBA0}"/>
                  </a:ext>
                </a:extLst>
              </p:cNvPr>
              <p:cNvSpPr txBox="1"/>
              <p:nvPr/>
            </p:nvSpPr>
            <p:spPr>
              <a:xfrm>
                <a:off x="566962" y="5676516"/>
                <a:ext cx="10974223" cy="462563"/>
              </a:xfrm>
              <a:prstGeom prst="rect">
                <a:avLst/>
              </a:prstGeom>
              <a:noFill/>
            </p:spPr>
            <p:txBody>
              <a:bodyPr wrap="none" rtlCol="0">
                <a:spAutoFit/>
              </a:bodyPr>
              <a:lstStyle/>
              <a:p>
                <a:r>
                  <a:rPr lang="en-CN" sz="2400" dirty="0">
                    <a:solidFill>
                      <a:schemeClr val="tx1"/>
                    </a:solidFill>
                    <a:latin typeface="+mn-ea"/>
                  </a:rPr>
                  <a:t>假设此时已满足误差要求</a:t>
                </a:r>
                <a:r>
                  <a:rPr lang="zh-CN" altLang="en-US" sz="2400" dirty="0">
                    <a:solidFill>
                      <a:schemeClr val="tx1"/>
                    </a:solidFill>
                    <a:latin typeface="+mn-ea"/>
                  </a:rPr>
                  <a:t>，那么</a:t>
                </a:r>
                <a14:m>
                  <m:oMath xmlns:m="http://schemas.openxmlformats.org/officeDocument/2006/math">
                    <m:sSub>
                      <m:sSubPr>
                        <m:ctrlPr>
                          <a:rPr lang="en-CN" sz="2400" i="1">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𝑓</m:t>
                        </m:r>
                        <m:d>
                          <m:dPr>
                            <m:ctrlPr>
                              <a:rPr lang="en-US" altLang="zh-CN" sz="2400" b="0" i="1" smtClean="0">
                                <a:solidFill>
                                  <a:schemeClr val="tx1"/>
                                </a:solidFill>
                                <a:latin typeface="Cambria Math" panose="02040503050406030204" pitchFamily="18" charset="0"/>
                              </a:rPr>
                            </m:ctrlPr>
                          </m:dPr>
                          <m:e>
                            <m:r>
                              <a:rPr lang="en-US" altLang="zh-CN" sz="2400" b="0" i="1" smtClean="0">
                                <a:solidFill>
                                  <a:schemeClr val="tx1"/>
                                </a:solidFill>
                                <a:latin typeface="Cambria Math" panose="02040503050406030204" pitchFamily="18" charset="0"/>
                              </a:rPr>
                              <m:t>𝑥</m:t>
                            </m:r>
                          </m:e>
                        </m:d>
                        <m:r>
                          <a:rPr lang="en-US" altLang="zh-CN" sz="2400" b="0" i="1" smtClean="0">
                            <a:solidFill>
                              <a:schemeClr val="tx1"/>
                            </a:solidFill>
                            <a:latin typeface="Cambria Math" panose="02040503050406030204" pitchFamily="18" charset="0"/>
                          </a:rPr>
                          <m:t>=</m:t>
                        </m:r>
                        <m:r>
                          <a:rPr lang="en-CN" sz="2400" i="1">
                            <a:solidFill>
                              <a:schemeClr val="tx1"/>
                            </a:solidFill>
                            <a:latin typeface="Cambria Math" panose="02040503050406030204" pitchFamily="18" charset="0"/>
                          </a:rPr>
                          <m:t>𝑓</m:t>
                        </m:r>
                      </m:e>
                      <m:sub>
                        <m:r>
                          <a:rPr lang="en-US" altLang="zh-CN" sz="2400">
                            <a:solidFill>
                              <a:schemeClr val="tx1"/>
                            </a:solidFill>
                            <a:latin typeface="Cambria Math" panose="02040503050406030204" pitchFamily="18" charset="0"/>
                          </a:rPr>
                          <m:t>6</m:t>
                        </m:r>
                      </m:sub>
                    </m:sSub>
                    <m:d>
                      <m:dPr>
                        <m:ctrlPr>
                          <a:rPr lang="en-CN" sz="2400" i="1">
                            <a:solidFill>
                              <a:schemeClr val="tx1"/>
                            </a:solidFill>
                            <a:latin typeface="Cambria Math" panose="02040503050406030204" pitchFamily="18" charset="0"/>
                          </a:rPr>
                        </m:ctrlPr>
                      </m:dPr>
                      <m:e>
                        <m:r>
                          <a:rPr lang="en-CN" sz="2400" i="1">
                            <a:solidFill>
                              <a:schemeClr val="tx1"/>
                            </a:solidFill>
                            <a:latin typeface="Cambria Math" panose="02040503050406030204" pitchFamily="18" charset="0"/>
                          </a:rPr>
                          <m:t>𝑥</m:t>
                        </m:r>
                      </m:e>
                    </m:d>
                    <m:r>
                      <a:rPr lang="en-US" sz="2400" i="1">
                        <a:latin typeface="Cambria Math" panose="02040503050406030204" pitchFamily="18" charset="0"/>
                      </a:rPr>
                      <m:t>为所求提升树</m:t>
                    </m:r>
                  </m:oMath>
                </a14:m>
                <a:r>
                  <a:rPr lang="zh-CN" altLang="en-US" sz="2400" dirty="0">
                    <a:solidFill>
                      <a:schemeClr val="tx1"/>
                    </a:solidFill>
                    <a:latin typeface="+mn-ea"/>
                  </a:rPr>
                  <a:t>（</a:t>
                </a:r>
                <a:r>
                  <a:rPr lang="en-US" altLang="zh-CN" sz="2400" dirty="0">
                    <a:solidFill>
                      <a:schemeClr val="tx1"/>
                    </a:solidFill>
                    <a:latin typeface="+mn-ea"/>
                  </a:rPr>
                  <a:t>Boosting</a:t>
                </a:r>
                <a:r>
                  <a:rPr lang="zh-CN" altLang="en-US" sz="2400" dirty="0">
                    <a:solidFill>
                      <a:schemeClr val="tx1"/>
                    </a:solidFill>
                    <a:latin typeface="+mn-ea"/>
                  </a:rPr>
                  <a:t> </a:t>
                </a:r>
                <a:r>
                  <a:rPr lang="en-US" altLang="zh-CN" sz="2400" dirty="0">
                    <a:solidFill>
                      <a:schemeClr val="tx1"/>
                    </a:solidFill>
                    <a:latin typeface="+mn-ea"/>
                  </a:rPr>
                  <a:t>Tree</a:t>
                </a:r>
                <a:r>
                  <a:rPr lang="zh-CN" altLang="en-US" sz="2400" dirty="0">
                    <a:solidFill>
                      <a:schemeClr val="tx1"/>
                    </a:solidFill>
                    <a:latin typeface="+mn-ea"/>
                  </a:rPr>
                  <a:t>）</a:t>
                </a:r>
                <a:r>
                  <a:rPr lang="zh-CN" altLang="en-US" sz="2400" dirty="0">
                    <a:latin typeface="+mn-ea"/>
                  </a:rPr>
                  <a:t>。</a:t>
                </a:r>
                <a:endParaRPr lang="en-CN" sz="2400" dirty="0">
                  <a:solidFill>
                    <a:schemeClr val="tx1"/>
                  </a:solidFill>
                  <a:latin typeface="+mn-ea"/>
                </a:endParaRPr>
              </a:p>
            </p:txBody>
          </p:sp>
        </mc:Choice>
        <mc:Fallback xmlns="">
          <p:sp>
            <p:nvSpPr>
              <p:cNvPr id="6" name="TextBox 5">
                <a:extLst>
                  <a:ext uri="{FF2B5EF4-FFF2-40B4-BE49-F238E27FC236}">
                    <a16:creationId xmlns:a16="http://schemas.microsoft.com/office/drawing/2014/main" id="{0E87FE89-47D8-9C4F-8CB3-8D8E366BFBA0}"/>
                  </a:ext>
                </a:extLst>
              </p:cNvPr>
              <p:cNvSpPr txBox="1">
                <a:spLocks noRot="1" noChangeAspect="1" noMove="1" noResize="1" noEditPoints="1" noAdjustHandles="1" noChangeArrowheads="1" noChangeShapeType="1" noTextEdit="1"/>
              </p:cNvSpPr>
              <p:nvPr/>
            </p:nvSpPr>
            <p:spPr>
              <a:xfrm>
                <a:off x="566962" y="5676516"/>
                <a:ext cx="10974223" cy="462563"/>
              </a:xfrm>
              <a:prstGeom prst="rect">
                <a:avLst/>
              </a:prstGeom>
              <a:blipFill>
                <a:blip r:embed="rId7"/>
                <a:stretch>
                  <a:fillRect l="-925" t="-7895" b="-28947"/>
                </a:stretch>
              </a:blipFill>
            </p:spPr>
            <p:txBody>
              <a:bodyPr/>
              <a:lstStyle/>
              <a:p>
                <a:r>
                  <a:rPr lang="en-CN">
                    <a:noFill/>
                  </a:rPr>
                  <a:t> </a:t>
                </a:r>
              </a:p>
            </p:txBody>
          </p:sp>
        </mc:Fallback>
      </mc:AlternateContent>
    </p:spTree>
    <p:extLst>
      <p:ext uri="{BB962C8B-B14F-4D97-AF65-F5344CB8AC3E}">
        <p14:creationId xmlns:p14="http://schemas.microsoft.com/office/powerpoint/2010/main" val="3201837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p:sp>
        <p:nvSpPr>
          <p:cNvPr id="5" name="TextBox 4">
            <a:extLst>
              <a:ext uri="{FF2B5EF4-FFF2-40B4-BE49-F238E27FC236}">
                <a16:creationId xmlns:a16="http://schemas.microsoft.com/office/drawing/2014/main" id="{54C2B1A5-1D94-0C4B-90BC-A20BB2D00BA7}"/>
              </a:ext>
            </a:extLst>
          </p:cNvPr>
          <p:cNvSpPr txBox="1"/>
          <p:nvPr/>
        </p:nvSpPr>
        <p:spPr>
          <a:xfrm>
            <a:off x="285750" y="1189105"/>
            <a:ext cx="10629900" cy="584775"/>
          </a:xfrm>
          <a:prstGeom prst="rect">
            <a:avLst/>
          </a:prstGeom>
          <a:noFill/>
        </p:spPr>
        <p:txBody>
          <a:bodyPr wrap="square" rtlCol="0">
            <a:spAutoFit/>
          </a:bodyPr>
          <a:lstStyle/>
          <a:p>
            <a:r>
              <a:rPr lang="zh-CN" altLang="en-US" sz="3200" dirty="0">
                <a:latin typeface="-apple-system"/>
              </a:rPr>
              <a:t>总结提升树（</a:t>
            </a:r>
            <a:r>
              <a:rPr lang="en-GB" sz="3200" dirty="0">
                <a:latin typeface="-apple-system"/>
              </a:rPr>
              <a:t>Boosting Tree）</a:t>
            </a:r>
            <a:r>
              <a:rPr lang="zh-CN" altLang="en-US" sz="3200" dirty="0">
                <a:latin typeface="-apple-system"/>
              </a:rPr>
              <a:t>：</a:t>
            </a:r>
            <a:endParaRPr lang="en-CN" sz="3200" dirty="0">
              <a:latin typeface="+mn-ea"/>
            </a:endParaRPr>
          </a:p>
        </p:txBody>
      </p:sp>
      <p:grpSp>
        <p:nvGrpSpPr>
          <p:cNvPr id="10" name="Group 9">
            <a:extLst>
              <a:ext uri="{FF2B5EF4-FFF2-40B4-BE49-F238E27FC236}">
                <a16:creationId xmlns:a16="http://schemas.microsoft.com/office/drawing/2014/main" id="{A8F50E5E-1408-B64F-807C-43267D8491E0}"/>
              </a:ext>
            </a:extLst>
          </p:cNvPr>
          <p:cNvGrpSpPr/>
          <p:nvPr/>
        </p:nvGrpSpPr>
        <p:grpSpPr>
          <a:xfrm>
            <a:off x="566962" y="1814230"/>
            <a:ext cx="6257065" cy="4285404"/>
            <a:chOff x="2754775" y="2088346"/>
            <a:chExt cx="6257065" cy="4285404"/>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C4B78AE-C81A-704E-BCB0-1AC4C491019C}"/>
                    </a:ext>
                  </a:extLst>
                </p:cNvPr>
                <p:cNvSpPr txBox="1"/>
                <p:nvPr/>
              </p:nvSpPr>
              <p:spPr>
                <a:xfrm>
                  <a:off x="2918222" y="2088346"/>
                  <a:ext cx="6093618" cy="4285404"/>
                </a:xfrm>
                <a:prstGeom prst="rect">
                  <a:avLst/>
                </a:prstGeom>
                <a:noFill/>
              </p:spPr>
              <p:txBody>
                <a:bodyPr wrap="square">
                  <a:spAutoFit/>
                </a:bodyPr>
                <a:lstStyle/>
                <a:p>
                  <a:pPr>
                    <a:spcBef>
                      <a:spcPts val="900"/>
                    </a:spcBef>
                    <a:spcAft>
                      <a:spcPts val="900"/>
                    </a:spcAft>
                  </a:pPr>
                  <a:r>
                    <a:rPr lang="en-CN" sz="1800" dirty="0">
                      <a:effectLst/>
                      <a:latin typeface="Cambria" panose="02040503050406030204" pitchFamily="18" charset="0"/>
                      <a:ea typeface="SimSun" panose="02010600030101010101" pitchFamily="2" charset="-122"/>
                      <a:cs typeface="Times New Roman" panose="02020603050405020304" pitchFamily="18" charset="0"/>
                    </a:rPr>
                    <a:t> </a:t>
                  </a:r>
                </a:p>
                <a:p>
                  <a:pPr>
                    <a:spcAft>
                      <a:spcPts val="1000"/>
                    </a:spcAft>
                  </a:pPr>
                  <a:r>
                    <a:rPr lang="zh-CN" sz="1800" b="1" dirty="0">
                      <a:effectLst/>
                      <a:latin typeface="Cambria" panose="02040503050406030204" pitchFamily="18" charset="0"/>
                      <a:ea typeface="SimSun" panose="02010600030101010101" pitchFamily="2" charset="-122"/>
                      <a:cs typeface="Times New Roman" panose="02020603050405020304" pitchFamily="18" charset="0"/>
                    </a:rPr>
                    <a:t>输入</a:t>
                  </a:r>
                  <a:r>
                    <a:rPr lang="zh-CN" sz="1800" dirty="0">
                      <a:effectLst/>
                      <a:latin typeface="Cambria" panose="02040503050406030204" pitchFamily="18" charset="0"/>
                      <a:ea typeface="SimSun" panose="02010600030101010101" pitchFamily="2" charset="-122"/>
                      <a:cs typeface="Times New Roman" panose="02020603050405020304" pitchFamily="18" charset="0"/>
                    </a:rPr>
                    <a:t>：训练数据集</a:t>
                  </a:r>
                  <a14:m>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2</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2</m:t>
                                  </m:r>
                                </m:sub>
                              </m:sSub>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𝑁</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𝑁</m:t>
                                  </m:r>
                                </m:sub>
                              </m:sSub>
                            </m:e>
                          </m:d>
                        </m:e>
                      </m:d>
                    </m:oMath>
                  </a14:m>
                  <a:r>
                    <a:rPr lang="en-US" sz="1800" dirty="0">
                      <a:effectLst/>
                      <a:latin typeface="Cambria" panose="02040503050406030204" pitchFamily="18" charset="0"/>
                      <a:ea typeface="SimSun" panose="02010600030101010101" pitchFamily="2" charset="-122"/>
                      <a:cs typeface="Times New Roman" panose="02020603050405020304" pitchFamily="18" charset="0"/>
                    </a:rPr>
                    <a:t>;</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zh-CN" sz="1800" b="1" dirty="0">
                      <a:effectLst/>
                      <a:latin typeface="Cambria" panose="02040503050406030204" pitchFamily="18" charset="0"/>
                      <a:ea typeface="SimSun" panose="02010600030101010101" pitchFamily="2" charset="-122"/>
                      <a:cs typeface="Times New Roman" panose="02020603050405020304" pitchFamily="18" charset="0"/>
                    </a:rPr>
                    <a:t>步骤</a:t>
                  </a:r>
                  <a:r>
                    <a:rPr lang="zh-CN" sz="1800" dirty="0">
                      <a:effectLst/>
                      <a:latin typeface="Cambria" panose="02040503050406030204" pitchFamily="18" charset="0"/>
                      <a:ea typeface="SimSun" panose="02010600030101010101" pitchFamily="2" charset="-122"/>
                      <a:cs typeface="Times New Roman" panose="02020603050405020304" pitchFamily="18" charset="0"/>
                    </a:rPr>
                    <a:t>：</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1.</a:t>
                  </a:r>
                  <a:r>
                    <a:rPr lang="zh-CN" sz="1800" dirty="0">
                      <a:effectLst/>
                      <a:latin typeface="Cambria" panose="02040503050406030204" pitchFamily="18" charset="0"/>
                      <a:ea typeface="SimSun" panose="02010600030101010101" pitchFamily="2" charset="-122"/>
                      <a:cs typeface="Times New Roman" panose="02020603050405020304" pitchFamily="18" charset="0"/>
                    </a:rPr>
                    <a:t>初始化 </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0</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=0</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2. </a:t>
                  </a:r>
                  <a:r>
                    <a:rPr lang="zh-CN" sz="1800" dirty="0">
                      <a:effectLst/>
                      <a:latin typeface="Cambria" panose="02040503050406030204" pitchFamily="18" charset="0"/>
                      <a:ea typeface="SimSun" panose="02010600030101010101" pitchFamily="2" charset="-122"/>
                      <a:cs typeface="Times New Roman" panose="02020603050405020304" pitchFamily="18" charset="0"/>
                    </a:rPr>
                    <a:t>对</a:t>
                  </a:r>
                  <a14:m>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=1,2,…,</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𝑀</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3.       </a:t>
                  </a:r>
                  <a:r>
                    <a:rPr lang="zh-CN" sz="1800" dirty="0">
                      <a:effectLst/>
                      <a:latin typeface="Cambria" panose="02040503050406030204" pitchFamily="18" charset="0"/>
                      <a:ea typeface="SimSun" panose="02010600030101010101" pitchFamily="2" charset="-122"/>
                      <a:cs typeface="Times New Roman" panose="02020603050405020304" pitchFamily="18" charset="0"/>
                    </a:rPr>
                    <a:t>计算残差 </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𝑟</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𝑚𝑖</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𝑦</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sub>
                          </m:sSub>
                        </m:e>
                      </m:d>
                      <m:r>
                        <a:rPr lang="en-US" sz="1800" i="1">
                          <a:effectLst/>
                          <a:latin typeface="Cambria Math" panose="02040503050406030204" pitchFamily="18" charset="0"/>
                          <a:ea typeface="SimSun" panose="02010600030101010101" pitchFamily="2" charset="-122"/>
                          <a:cs typeface="Times New Roman" panose="02020603050405020304" pitchFamily="18" charset="0"/>
                        </a:rPr>
                        <m:t>, </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𝑖</m:t>
                      </m:r>
                      <m:r>
                        <a:rPr lang="en-US" sz="1800" i="1">
                          <a:effectLst/>
                          <a:latin typeface="Cambria Math" panose="02040503050406030204" pitchFamily="18" charset="0"/>
                          <a:ea typeface="SimSun" panose="02010600030101010101" pitchFamily="2" charset="-122"/>
                          <a:cs typeface="Times New Roman" panose="02020603050405020304" pitchFamily="18" charset="0"/>
                        </a:rPr>
                        <m:t>=1,2,…</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𝑁</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4.      </a:t>
                  </a:r>
                  <a:r>
                    <a:rPr lang="zh-CN" sz="1800" dirty="0">
                      <a:effectLst/>
                      <a:latin typeface="Cambria" panose="02040503050406030204" pitchFamily="18" charset="0"/>
                      <a:ea typeface="SimSun" panose="02010600030101010101" pitchFamily="2" charset="-122"/>
                      <a:cs typeface="Times New Roman" panose="02020603050405020304" pitchFamily="18" charset="0"/>
                    </a:rPr>
                    <a:t>拟合残差</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𝑟</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𝑚𝑖</m:t>
                          </m:r>
                        </m:sub>
                      </m:sSub>
                    </m:oMath>
                  </a14:m>
                  <a:r>
                    <a:rPr lang="zh-CN" sz="1800" dirty="0">
                      <a:effectLst/>
                      <a:latin typeface="Cambria" panose="02040503050406030204" pitchFamily="18" charset="0"/>
                      <a:ea typeface="SimSun" panose="02010600030101010101" pitchFamily="2" charset="-122"/>
                      <a:cs typeface="Times New Roman" panose="02020603050405020304" pitchFamily="18" charset="0"/>
                    </a:rPr>
                    <a:t>学习一个回归树，得到</a:t>
                  </a:r>
                  <a14:m>
                    <m:oMath xmlns:m="http://schemas.openxmlformats.org/officeDocument/2006/math">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r>
                    <a:rPr lang="en-US" sz="1800" dirty="0">
                      <a:effectLst/>
                      <a:latin typeface="Cambria" panose="02040503050406030204" pitchFamily="18" charset="0"/>
                      <a:ea typeface="SimSun" panose="02010600030101010101" pitchFamily="2" charset="-122"/>
                      <a:cs typeface="Times New Roman" panose="02020603050405020304" pitchFamily="18" charset="0"/>
                    </a:rPr>
                    <a:t>, </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oMath>
                  </a14:m>
                  <a:r>
                    <a:rPr lang="zh-CN" sz="1800" dirty="0">
                      <a:effectLst/>
                      <a:latin typeface="Cambria" panose="02040503050406030204" pitchFamily="18" charset="0"/>
                      <a:ea typeface="SimSun" panose="02010600030101010101" pitchFamily="2" charset="-122"/>
                      <a:cs typeface="Times New Roman" panose="02020603050405020304" pitchFamily="18" charset="0"/>
                    </a:rPr>
                    <a:t>为第</a:t>
                  </a:r>
                  <a:r>
                    <a:rPr lang="en-US" sz="1800" dirty="0">
                      <a:effectLst/>
                      <a:latin typeface="Cambria" panose="02040503050406030204" pitchFamily="18" charset="0"/>
                      <a:ea typeface="SimSun" panose="02010600030101010101" pitchFamily="2" charset="-122"/>
                      <a:cs typeface="Times New Roman" panose="02020603050405020304" pitchFamily="18" charset="0"/>
                    </a:rPr>
                    <a:t>m</a:t>
                  </a:r>
                  <a:r>
                    <a:rPr lang="zh-CN" sz="1800" dirty="0">
                      <a:effectLst/>
                      <a:latin typeface="Cambria" panose="02040503050406030204" pitchFamily="18" charset="0"/>
                      <a:ea typeface="SimSun" panose="02010600030101010101" pitchFamily="2" charset="-122"/>
                      <a:cs typeface="Times New Roman" panose="02020603050405020304" pitchFamily="18" charset="0"/>
                    </a:rPr>
                    <a:t>颗树的参数。</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5.       </a:t>
                  </a:r>
                  <a:r>
                    <a:rPr lang="zh-CN" sz="1800" dirty="0">
                      <a:effectLst/>
                      <a:latin typeface="Cambria" panose="02040503050406030204" pitchFamily="18" charset="0"/>
                      <a:ea typeface="SimSun" panose="02010600030101010101" pitchFamily="2" charset="-122"/>
                      <a:cs typeface="Times New Roman" panose="02020603050405020304" pitchFamily="18" charset="0"/>
                    </a:rPr>
                    <a:t>更新</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en-US" sz="1800" dirty="0">
                      <a:effectLst/>
                      <a:latin typeface="Cambria" panose="02040503050406030204" pitchFamily="18" charset="0"/>
                      <a:ea typeface="SimSun" panose="02010600030101010101" pitchFamily="2" charset="-122"/>
                      <a:cs typeface="Times New Roman" panose="02020603050405020304" pitchFamily="18" charset="0"/>
                    </a:rPr>
                    <a:t>5. end</a:t>
                  </a:r>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a:p>
                  <a:pPr>
                    <a:spcAft>
                      <a:spcPts val="1000"/>
                    </a:spcAft>
                  </a:pPr>
                  <a:r>
                    <a:rPr lang="zh-CN" sz="1800" b="1" dirty="0">
                      <a:effectLst/>
                      <a:latin typeface="Cambria" panose="02040503050406030204" pitchFamily="18" charset="0"/>
                      <a:ea typeface="SimSun" panose="02010600030101010101" pitchFamily="2" charset="-122"/>
                      <a:cs typeface="Times New Roman" panose="02020603050405020304" pitchFamily="18" charset="0"/>
                    </a:rPr>
                    <a:t>输出</a:t>
                  </a:r>
                  <a:r>
                    <a:rPr lang="zh-CN" sz="1800" dirty="0">
                      <a:effectLst/>
                      <a:latin typeface="Cambria" panose="02040503050406030204" pitchFamily="18" charset="0"/>
                      <a:ea typeface="SimSun" panose="02010600030101010101" pitchFamily="2" charset="-122"/>
                      <a:cs typeface="Times New Roman" panose="02020603050405020304" pitchFamily="18" charset="0"/>
                    </a:rPr>
                    <a:t>： 得到提升树</a:t>
                  </a:r>
                  <a14:m>
                    <m:oMath xmlns:m="http://schemas.openxmlformats.org/officeDocument/2006/math">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𝑓</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𝑀</m:t>
                          </m:r>
                        </m:sub>
                      </m:sSub>
                      <m:d>
                        <m:d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dPr>
                        <m:e>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e>
                      </m:d>
                      <m:r>
                        <a:rPr lang="en-US" sz="1800" i="1">
                          <a:effectLst/>
                          <a:latin typeface="Cambria Math" panose="02040503050406030204" pitchFamily="18" charset="0"/>
                          <a:ea typeface="SimSun" panose="02010600030101010101" pitchFamily="2" charset="-122"/>
                          <a:cs typeface="Times New Roman" panose="02020603050405020304" pitchFamily="18" charset="0"/>
                        </a:rPr>
                        <m:t>=</m:t>
                      </m:r>
                      <m:nary>
                        <m:naryPr>
                          <m:chr m:val="∑"/>
                          <m:limLoc m:val="undOv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naryPr>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r>
                            <a:rPr lang="en-US" sz="1800" i="1">
                              <a:effectLst/>
                              <a:latin typeface="Cambria Math" panose="02040503050406030204" pitchFamily="18" charset="0"/>
                              <a:ea typeface="SimSun" panose="02010600030101010101" pitchFamily="2" charset="-122"/>
                              <a:cs typeface="Times New Roman" panose="02020603050405020304" pitchFamily="18" charset="0"/>
                            </a:rPr>
                            <m:t>−1</m:t>
                          </m:r>
                        </m:sub>
                        <m:sup>
                          <m:r>
                            <a:rPr lang="en-US" sz="1800" i="1">
                              <a:effectLst/>
                              <a:latin typeface="Cambria Math" panose="02040503050406030204" pitchFamily="18" charset="0"/>
                              <a:ea typeface="SimSun" panose="02010600030101010101" pitchFamily="2" charset="-122"/>
                              <a:cs typeface="Times New Roman" panose="02020603050405020304" pitchFamily="18" charset="0"/>
                            </a:rPr>
                            <m:t>𝑀</m:t>
                          </m:r>
                        </m:sup>
                        <m:e>
                          <m:r>
                            <a:rPr lang="en-US" sz="1800" i="1">
                              <a:effectLst/>
                              <a:latin typeface="Cambria Math" panose="02040503050406030204" pitchFamily="18" charset="0"/>
                              <a:ea typeface="SimSun" panose="02010600030101010101" pitchFamily="2" charset="-122"/>
                              <a:cs typeface="Times New Roman" panose="02020603050405020304" pitchFamily="18" charset="0"/>
                            </a:rPr>
                            <m:t>𝑇</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r>
                            <a:rPr lang="en-US" sz="1800" i="1">
                              <a:effectLst/>
                              <a:latin typeface="Cambria Math" panose="02040503050406030204" pitchFamily="18" charset="0"/>
                              <a:ea typeface="SimSun" panose="02010600030101010101" pitchFamily="2" charset="-122"/>
                              <a:cs typeface="Times New Roman" panose="02020603050405020304" pitchFamily="18" charset="0"/>
                            </a:rPr>
                            <m:t>𝑥</m:t>
                          </m:r>
                          <m:r>
                            <a:rPr lang="en-US" sz="1800" i="1">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N" sz="1800" i="1">
                                  <a:effectLst/>
                                  <a:latin typeface="Cambria Math" panose="02040503050406030204" pitchFamily="18" charset="0"/>
                                  <a:ea typeface="SimSun" panose="02010600030101010101" pitchFamily="2" charset="-122"/>
                                  <a:cs typeface="Times New Roman" panose="02020603050405020304" pitchFamily="18" charset="0"/>
                                </a:rPr>
                              </m:ctrlPr>
                            </m:sSubPr>
                            <m:e>
                              <m:r>
                                <m:rPr>
                                  <m:sty m:val="p"/>
                                </m:rPr>
                                <a:rPr lang="en-US" sz="1800">
                                  <a:effectLst/>
                                  <a:latin typeface="Cambria Math" panose="02040503050406030204" pitchFamily="18" charset="0"/>
                                  <a:ea typeface="SimSun" panose="02010600030101010101" pitchFamily="2" charset="-122"/>
                                  <a:cs typeface="Times New Roman" panose="02020603050405020304" pitchFamily="18" charset="0"/>
                                </a:rPr>
                                <m:t>Θ</m:t>
                              </m:r>
                            </m:e>
                            <m:sub>
                              <m:r>
                                <a:rPr lang="en-US" sz="1800" i="1">
                                  <a:effectLst/>
                                  <a:latin typeface="Cambria Math" panose="02040503050406030204" pitchFamily="18" charset="0"/>
                                  <a:ea typeface="SimSun" panose="02010600030101010101" pitchFamily="2" charset="-122"/>
                                  <a:cs typeface="Times New Roman" panose="02020603050405020304" pitchFamily="18" charset="0"/>
                                </a:rPr>
                                <m:t>𝑚</m:t>
                              </m:r>
                            </m:sub>
                          </m:sSub>
                          <m:r>
                            <a:rPr lang="en-US" sz="1800" i="1">
                              <a:effectLst/>
                              <a:latin typeface="Cambria Math" panose="02040503050406030204" pitchFamily="18" charset="0"/>
                              <a:ea typeface="SimSun" panose="02010600030101010101" pitchFamily="2" charset="-122"/>
                              <a:cs typeface="Times New Roman" panose="02020603050405020304" pitchFamily="18" charset="0"/>
                            </a:rPr>
                            <m:t>)</m:t>
                          </m:r>
                        </m:e>
                      </m:nary>
                    </m:oMath>
                  </a14:m>
                  <a:endParaRPr lang="en-CN" sz="1800" dirty="0">
                    <a:effectLst/>
                    <a:latin typeface="Cambria" panose="02040503050406030204" pitchFamily="18" charset="0"/>
                    <a:ea typeface="SimSun" panose="02010600030101010101" pitchFamily="2" charset="-122"/>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FC4B78AE-C81A-704E-BCB0-1AC4C491019C}"/>
                    </a:ext>
                  </a:extLst>
                </p:cNvPr>
                <p:cNvSpPr txBox="1">
                  <a:spLocks noRot="1" noChangeAspect="1" noMove="1" noResize="1" noEditPoints="1" noAdjustHandles="1" noChangeArrowheads="1" noChangeShapeType="1" noTextEdit="1"/>
                </p:cNvSpPr>
                <p:nvPr/>
              </p:nvSpPr>
              <p:spPr>
                <a:xfrm>
                  <a:off x="2918222" y="2088346"/>
                  <a:ext cx="6093618" cy="4285404"/>
                </a:xfrm>
                <a:prstGeom prst="rect">
                  <a:avLst/>
                </a:prstGeom>
                <a:blipFill>
                  <a:blip r:embed="rId3"/>
                  <a:stretch>
                    <a:fillRect l="-832" b="-13905"/>
                  </a:stretch>
                </a:blipFill>
              </p:spPr>
              <p:txBody>
                <a:bodyPr/>
                <a:lstStyle/>
                <a:p>
                  <a:r>
                    <a:rPr lang="en-CN">
                      <a:noFill/>
                    </a:rPr>
                    <a:t> </a:t>
                  </a:r>
                </a:p>
              </p:txBody>
            </p:sp>
          </mc:Fallback>
        </mc:AlternateContent>
        <p:cxnSp>
          <p:nvCxnSpPr>
            <p:cNvPr id="26" name="Straight Connector 25">
              <a:extLst>
                <a:ext uri="{FF2B5EF4-FFF2-40B4-BE49-F238E27FC236}">
                  <a16:creationId xmlns:a16="http://schemas.microsoft.com/office/drawing/2014/main" id="{6C16EA85-F012-9344-98F7-531AD4F109CE}"/>
                </a:ext>
              </a:extLst>
            </p:cNvPr>
            <p:cNvCxnSpPr/>
            <p:nvPr/>
          </p:nvCxnSpPr>
          <p:spPr>
            <a:xfrm>
              <a:off x="2754775" y="2413288"/>
              <a:ext cx="5845215"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9317877-A0F5-D143-984F-53AE16A17301}"/>
                </a:ext>
              </a:extLst>
            </p:cNvPr>
            <p:cNvCxnSpPr/>
            <p:nvPr/>
          </p:nvCxnSpPr>
          <p:spPr>
            <a:xfrm>
              <a:off x="2754775" y="6373750"/>
              <a:ext cx="5845215"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11" name="Oval 10">
            <a:extLst>
              <a:ext uri="{FF2B5EF4-FFF2-40B4-BE49-F238E27FC236}">
                <a16:creationId xmlns:a16="http://schemas.microsoft.com/office/drawing/2014/main" id="{B2C4BF19-0CE0-9541-B67C-1E777CAE5358}"/>
              </a:ext>
            </a:extLst>
          </p:cNvPr>
          <p:cNvSpPr/>
          <p:nvPr/>
        </p:nvSpPr>
        <p:spPr>
          <a:xfrm>
            <a:off x="566962" y="3629025"/>
            <a:ext cx="5529038" cy="61436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14" name="Straight Arrow Connector 13">
            <a:extLst>
              <a:ext uri="{FF2B5EF4-FFF2-40B4-BE49-F238E27FC236}">
                <a16:creationId xmlns:a16="http://schemas.microsoft.com/office/drawing/2014/main" id="{BE91D7E1-2379-CF48-BB37-9DD10E025013}"/>
              </a:ext>
            </a:extLst>
          </p:cNvPr>
          <p:cNvCxnSpPr>
            <a:cxnSpLocks/>
            <a:endCxn id="16" idx="1"/>
          </p:cNvCxnSpPr>
          <p:nvPr/>
        </p:nvCxnSpPr>
        <p:spPr>
          <a:xfrm flipV="1">
            <a:off x="5600700" y="1963617"/>
            <a:ext cx="1882104" cy="1779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255E88D-763D-BE4F-AF49-A4C85C25B5F2}"/>
              </a:ext>
            </a:extLst>
          </p:cNvPr>
          <p:cNvSpPr txBox="1"/>
          <p:nvPr/>
        </p:nvSpPr>
        <p:spPr>
          <a:xfrm>
            <a:off x="7482804" y="1732784"/>
            <a:ext cx="3262432" cy="461665"/>
          </a:xfrm>
          <a:prstGeom prst="rect">
            <a:avLst/>
          </a:prstGeom>
          <a:noFill/>
        </p:spPr>
        <p:txBody>
          <a:bodyPr wrap="none" rtlCol="0">
            <a:spAutoFit/>
          </a:bodyPr>
          <a:lstStyle/>
          <a:p>
            <a:pPr algn="l"/>
            <a:r>
              <a:rPr lang="en-US" sz="2400" dirty="0" err="1">
                <a:solidFill>
                  <a:srgbClr val="C00000"/>
                </a:solidFill>
                <a:latin typeface="+mn-ea"/>
              </a:rPr>
              <a:t>为什么要去拟合残差</a:t>
            </a:r>
            <a:r>
              <a:rPr lang="zh-CN" altLang="en-US" sz="2400" dirty="0">
                <a:solidFill>
                  <a:srgbClr val="C00000"/>
                </a:solidFill>
                <a:latin typeface="+mn-ea"/>
              </a:rPr>
              <a:t>？</a:t>
            </a:r>
            <a:endParaRPr lang="en-CN" sz="2400" dirty="0">
              <a:solidFill>
                <a:srgbClr val="C00000"/>
              </a:solidFill>
              <a:latin typeface="+mn-ea"/>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A7F1226-76B3-2342-807D-BA1E49D37B5D}"/>
                  </a:ext>
                </a:extLst>
              </p:cNvPr>
              <p:cNvSpPr txBox="1"/>
              <p:nvPr/>
            </p:nvSpPr>
            <p:spPr>
              <a:xfrm>
                <a:off x="7358062" y="2317559"/>
                <a:ext cx="4570482" cy="1785104"/>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dirty="0"/>
                  <a:t>如果回归问题的损失函数是平方损失函数：</a:t>
                </a:r>
                <a:endParaRPr lang="en-CN" dirty="0"/>
              </a:p>
              <a:p>
                <a:pPr/>
                <a14:m>
                  <m:oMathPara xmlns:m="http://schemas.openxmlformats.org/officeDocument/2006/math">
                    <m:oMathParaPr>
                      <m:jc m:val="centerGroup"/>
                    </m:oMathParaPr>
                    <m:oMath xmlns:m="http://schemas.openxmlformats.org/officeDocument/2006/math">
                      <m:r>
                        <a:rPr lang="en-CN" i="1">
                          <a:latin typeface="Cambria Math" panose="02040503050406030204" pitchFamily="18" charset="0"/>
                        </a:rPr>
                        <m:t>𝐿</m:t>
                      </m:r>
                      <m:d>
                        <m:dPr>
                          <m:ctrlPr>
                            <a:rPr lang="en-CN" i="1">
                              <a:latin typeface="Cambria Math" panose="02040503050406030204" pitchFamily="18" charset="0"/>
                            </a:rPr>
                          </m:ctrlPr>
                        </m:dPr>
                        <m:e>
                          <m:r>
                            <m:rPr>
                              <m:sty m:val="p"/>
                            </m:rPr>
                            <a:rPr lang="en-CN" i="1">
                              <a:latin typeface="Cambria Math" panose="02040503050406030204" pitchFamily="18" charset="0"/>
                            </a:rPr>
                            <m:t>y</m:t>
                          </m:r>
                          <m:r>
                            <a:rPr lang="en-CN" i="1">
                              <a:latin typeface="Cambria Math" panose="02040503050406030204" pitchFamily="18" charset="0"/>
                            </a:rPr>
                            <m:t>,</m:t>
                          </m:r>
                          <m:r>
                            <a:rPr lang="en-CN" i="1">
                              <a:latin typeface="Cambria Math" panose="02040503050406030204" pitchFamily="18" charset="0"/>
                            </a:rPr>
                            <m:t>𝑓</m:t>
                          </m:r>
                          <m:d>
                            <m:dPr>
                              <m:ctrlPr>
                                <a:rPr lang="en-CN" i="1">
                                  <a:latin typeface="Cambria Math" panose="02040503050406030204" pitchFamily="18" charset="0"/>
                                </a:rPr>
                              </m:ctrlPr>
                            </m:dPr>
                            <m:e>
                              <m:sSub>
                                <m:sSubPr>
                                  <m:ctrlPr>
                                    <a:rPr lang="en-CN" i="1">
                                      <a:latin typeface="Cambria Math" panose="02040503050406030204" pitchFamily="18" charset="0"/>
                                    </a:rPr>
                                  </m:ctrlPr>
                                </m:sSubPr>
                                <m:e>
                                  <m:r>
                                    <a:rPr lang="en-CN" i="1">
                                      <a:latin typeface="Cambria Math" panose="02040503050406030204" pitchFamily="18" charset="0"/>
                                    </a:rPr>
                                    <m:t>𝑥</m:t>
                                  </m:r>
                                </m:e>
                                <m:sub>
                                  <m:r>
                                    <a:rPr lang="en-CN" i="1">
                                      <a:latin typeface="Cambria Math" panose="02040503050406030204" pitchFamily="18" charset="0"/>
                                    </a:rPr>
                                    <m:t>𝑖</m:t>
                                  </m:r>
                                </m:sub>
                              </m:sSub>
                            </m:e>
                          </m:d>
                        </m:e>
                      </m:d>
                      <m:r>
                        <a:rPr lang="en-CN" i="1">
                          <a:latin typeface="Cambria Math" panose="02040503050406030204" pitchFamily="18" charset="0"/>
                        </a:rPr>
                        <m:t>=</m:t>
                      </m:r>
                      <m:f>
                        <m:fPr>
                          <m:ctrlPr>
                            <a:rPr lang="en-CN" i="1">
                              <a:latin typeface="Cambria Math" panose="02040503050406030204" pitchFamily="18" charset="0"/>
                            </a:rPr>
                          </m:ctrlPr>
                        </m:fPr>
                        <m:num>
                          <m:r>
                            <a:rPr lang="en-CN" i="1">
                              <a:latin typeface="Cambria Math" panose="02040503050406030204" pitchFamily="18" charset="0"/>
                            </a:rPr>
                            <m:t>1</m:t>
                          </m:r>
                        </m:num>
                        <m:den>
                          <m:r>
                            <a:rPr lang="en-CN" i="1">
                              <a:latin typeface="Cambria Math" panose="02040503050406030204" pitchFamily="18" charset="0"/>
                            </a:rPr>
                            <m:t>2</m:t>
                          </m:r>
                        </m:den>
                      </m:f>
                      <m:sSup>
                        <m:sSupPr>
                          <m:ctrlPr>
                            <a:rPr lang="en-CN" i="1">
                              <a:latin typeface="Cambria Math" panose="02040503050406030204" pitchFamily="18" charset="0"/>
                            </a:rPr>
                          </m:ctrlPr>
                        </m:sSupPr>
                        <m:e>
                          <m:d>
                            <m:dPr>
                              <m:ctrlPr>
                                <a:rPr lang="en-CN" i="1">
                                  <a:latin typeface="Cambria Math" panose="02040503050406030204" pitchFamily="18" charset="0"/>
                                </a:rPr>
                              </m:ctrlPr>
                            </m:dPr>
                            <m:e>
                              <m:r>
                                <a:rPr lang="en-US" altLang="zh-CN" b="0" i="1" smtClean="0">
                                  <a:latin typeface="Cambria Math" panose="02040503050406030204" pitchFamily="18" charset="0"/>
                                </a:rPr>
                                <m:t>𝑦</m:t>
                              </m:r>
                              <m:r>
                                <a:rPr lang="en-CN" i="1">
                                  <a:latin typeface="Cambria Math" panose="02040503050406030204" pitchFamily="18" charset="0"/>
                                </a:rPr>
                                <m:t>−</m:t>
                              </m:r>
                              <m:r>
                                <a:rPr lang="en-CN" i="1">
                                  <a:latin typeface="Cambria Math" panose="02040503050406030204" pitchFamily="18" charset="0"/>
                                </a:rPr>
                                <m:t>𝑓</m:t>
                              </m:r>
                              <m:d>
                                <m:dPr>
                                  <m:ctrlPr>
                                    <a:rPr lang="en-CN" i="1">
                                      <a:latin typeface="Cambria Math" panose="02040503050406030204" pitchFamily="18" charset="0"/>
                                    </a:rPr>
                                  </m:ctrlPr>
                                </m:dPr>
                                <m:e>
                                  <m:sSub>
                                    <m:sSubPr>
                                      <m:ctrlPr>
                                        <a:rPr lang="en-CN" i="1">
                                          <a:latin typeface="Cambria Math" panose="02040503050406030204" pitchFamily="18" charset="0"/>
                                        </a:rPr>
                                      </m:ctrlPr>
                                    </m:sSubPr>
                                    <m:e>
                                      <m:r>
                                        <a:rPr lang="en-CN" i="1">
                                          <a:latin typeface="Cambria Math" panose="02040503050406030204" pitchFamily="18" charset="0"/>
                                        </a:rPr>
                                        <m:t>𝑥</m:t>
                                      </m:r>
                                    </m:e>
                                    <m:sub>
                                      <m:r>
                                        <a:rPr lang="en-CN" i="1">
                                          <a:latin typeface="Cambria Math" panose="02040503050406030204" pitchFamily="18" charset="0"/>
                                        </a:rPr>
                                        <m:t>𝑖</m:t>
                                      </m:r>
                                    </m:sub>
                                  </m:sSub>
                                </m:e>
                              </m:d>
                            </m:e>
                          </m:d>
                        </m:e>
                        <m:sup>
                          <m:r>
                            <a:rPr lang="en-CN" i="1">
                              <a:latin typeface="Cambria Math" panose="02040503050406030204" pitchFamily="18" charset="0"/>
                            </a:rPr>
                            <m:t>2</m:t>
                          </m:r>
                        </m:sup>
                      </m:sSup>
                    </m:oMath>
                  </m:oMathPara>
                </a14:m>
                <a:endParaRPr lang="en-CN" dirty="0"/>
              </a:p>
              <a:p>
                <a:r>
                  <a:rPr lang="zh-CN" altLang="en-US" dirty="0"/>
                  <a:t>负梯度</a:t>
                </a:r>
                <a:endParaRPr lang="en-CN" dirty="0"/>
              </a:p>
              <a:p>
                <a:pPr/>
                <a14:m>
                  <m:oMathPara xmlns:m="http://schemas.openxmlformats.org/officeDocument/2006/math">
                    <m:oMathParaPr>
                      <m:jc m:val="centerGroup"/>
                    </m:oMathParaPr>
                    <m:oMath xmlns:m="http://schemas.openxmlformats.org/officeDocument/2006/math">
                      <m:r>
                        <a:rPr lang="en-CN" i="1">
                          <a:latin typeface="Cambria Math" panose="02040503050406030204" pitchFamily="18" charset="0"/>
                        </a:rPr>
                        <m:t>−</m:t>
                      </m:r>
                      <m:f>
                        <m:fPr>
                          <m:ctrlPr>
                            <a:rPr lang="en-CN" i="1">
                              <a:latin typeface="Cambria Math" panose="02040503050406030204" pitchFamily="18" charset="0"/>
                            </a:rPr>
                          </m:ctrlPr>
                        </m:fPr>
                        <m:num>
                          <m:r>
                            <a:rPr lang="en-US" i="1">
                              <a:latin typeface="Cambria Math" panose="02040503050406030204" pitchFamily="18" charset="0"/>
                            </a:rPr>
                            <m:t>𝜕</m:t>
                          </m:r>
                          <m:r>
                            <a:rPr lang="en-CN" i="1">
                              <a:latin typeface="Cambria Math" panose="02040503050406030204" pitchFamily="18" charset="0"/>
                            </a:rPr>
                            <m:t>𝐿</m:t>
                          </m:r>
                          <m:d>
                            <m:dPr>
                              <m:ctrlPr>
                                <a:rPr lang="en-CN" i="1">
                                  <a:latin typeface="Cambria Math" panose="02040503050406030204" pitchFamily="18" charset="0"/>
                                </a:rPr>
                              </m:ctrlPr>
                            </m:dPr>
                            <m:e>
                              <m:r>
                                <a:rPr lang="en-US" altLang="zh-CN" b="0" i="1" smtClean="0">
                                  <a:latin typeface="Cambria Math" panose="02040503050406030204" pitchFamily="18" charset="0"/>
                                </a:rPr>
                                <m:t>𝑦</m:t>
                              </m:r>
                              <m:r>
                                <a:rPr lang="en-CN" i="1">
                                  <a:latin typeface="Cambria Math" panose="02040503050406030204" pitchFamily="18" charset="0"/>
                                </a:rPr>
                                <m:t>,</m:t>
                              </m:r>
                              <m:r>
                                <a:rPr lang="en-CN" i="1">
                                  <a:latin typeface="Cambria Math" panose="02040503050406030204" pitchFamily="18" charset="0"/>
                                </a:rPr>
                                <m:t>𝑓</m:t>
                              </m:r>
                              <m:d>
                                <m:dPr>
                                  <m:ctrlPr>
                                    <a:rPr lang="en-CN" i="1">
                                      <a:latin typeface="Cambria Math" panose="02040503050406030204" pitchFamily="18" charset="0"/>
                                    </a:rPr>
                                  </m:ctrlPr>
                                </m:dPr>
                                <m:e>
                                  <m:sSub>
                                    <m:sSubPr>
                                      <m:ctrlPr>
                                        <a:rPr lang="en-CN" i="1">
                                          <a:latin typeface="Cambria Math" panose="02040503050406030204" pitchFamily="18" charset="0"/>
                                        </a:rPr>
                                      </m:ctrlPr>
                                    </m:sSubPr>
                                    <m:e>
                                      <m:r>
                                        <a:rPr lang="en-CN" i="1">
                                          <a:latin typeface="Cambria Math" panose="02040503050406030204" pitchFamily="18" charset="0"/>
                                        </a:rPr>
                                        <m:t>𝑥</m:t>
                                      </m:r>
                                    </m:e>
                                    <m:sub>
                                      <m:r>
                                        <a:rPr lang="en-CN" i="1">
                                          <a:latin typeface="Cambria Math" panose="02040503050406030204" pitchFamily="18" charset="0"/>
                                        </a:rPr>
                                        <m:t>𝑖</m:t>
                                      </m:r>
                                    </m:sub>
                                  </m:sSub>
                                </m:e>
                              </m:d>
                            </m:e>
                          </m:d>
                        </m:num>
                        <m:den>
                          <m:r>
                            <a:rPr lang="en-US" i="1">
                              <a:latin typeface="Cambria Math" panose="02040503050406030204" pitchFamily="18" charset="0"/>
                            </a:rPr>
                            <m:t>𝜕</m:t>
                          </m:r>
                          <m:r>
                            <a:rPr lang="en-US" i="1">
                              <a:latin typeface="Cambria Math" panose="02040503050406030204" pitchFamily="18" charset="0"/>
                            </a:rPr>
                            <m:t>𝑓</m:t>
                          </m:r>
                          <m:d>
                            <m:dPr>
                              <m:ctrlPr>
                                <a:rPr lang="en-CN" i="1">
                                  <a:latin typeface="Cambria Math" panose="02040503050406030204" pitchFamily="18" charset="0"/>
                                </a:rPr>
                              </m:ctrlPr>
                            </m:dPr>
                            <m:e>
                              <m:sSub>
                                <m:sSubPr>
                                  <m:ctrlPr>
                                    <a:rPr lang="en-CN"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den>
                      </m:f>
                      <m:r>
                        <a:rPr lang="en-CN" i="1">
                          <a:latin typeface="Cambria Math" panose="02040503050406030204" pitchFamily="18" charset="0"/>
                        </a:rPr>
                        <m:t>=</m:t>
                      </m:r>
                      <m:r>
                        <a:rPr lang="en-US" altLang="zh-CN" b="0" i="1" smtClean="0">
                          <a:latin typeface="Cambria Math" panose="02040503050406030204" pitchFamily="18" charset="0"/>
                        </a:rPr>
                        <m:t>𝑦</m:t>
                      </m:r>
                      <m:r>
                        <a:rPr lang="en-CN" i="1">
                          <a:latin typeface="Cambria Math" panose="02040503050406030204" pitchFamily="18" charset="0"/>
                        </a:rPr>
                        <m:t>−</m:t>
                      </m:r>
                      <m:r>
                        <a:rPr lang="en-CN" i="1">
                          <a:latin typeface="Cambria Math" panose="02040503050406030204" pitchFamily="18" charset="0"/>
                        </a:rPr>
                        <m:t>𝑓</m:t>
                      </m:r>
                      <m:r>
                        <a:rPr lang="en-CN" i="1">
                          <a:latin typeface="Cambria Math" panose="02040503050406030204" pitchFamily="18" charset="0"/>
                        </a:rPr>
                        <m:t>(</m:t>
                      </m:r>
                      <m:sSub>
                        <m:sSubPr>
                          <m:ctrlPr>
                            <a:rPr lang="en-CN" i="1">
                              <a:latin typeface="Cambria Math" panose="02040503050406030204" pitchFamily="18" charset="0"/>
                            </a:rPr>
                          </m:ctrlPr>
                        </m:sSubPr>
                        <m:e>
                          <m:r>
                            <a:rPr lang="en-CN" i="1">
                              <a:latin typeface="Cambria Math" panose="02040503050406030204" pitchFamily="18" charset="0"/>
                            </a:rPr>
                            <m:t>𝑥</m:t>
                          </m:r>
                        </m:e>
                        <m:sub>
                          <m:r>
                            <a:rPr lang="en-CN" i="1">
                              <a:latin typeface="Cambria Math" panose="02040503050406030204" pitchFamily="18" charset="0"/>
                            </a:rPr>
                            <m:t>𝑖</m:t>
                          </m:r>
                        </m:sub>
                      </m:sSub>
                      <m:r>
                        <a:rPr lang="en-CN" i="1">
                          <a:latin typeface="Cambria Math" panose="02040503050406030204" pitchFamily="18" charset="0"/>
                        </a:rPr>
                        <m:t>)</m:t>
                      </m:r>
                    </m:oMath>
                  </m:oMathPara>
                </a14:m>
                <a:endParaRPr lang="en-CN" dirty="0"/>
              </a:p>
            </p:txBody>
          </p:sp>
        </mc:Choice>
        <mc:Fallback xmlns="">
          <p:sp>
            <p:nvSpPr>
              <p:cNvPr id="18" name="TextBox 17">
                <a:extLst>
                  <a:ext uri="{FF2B5EF4-FFF2-40B4-BE49-F238E27FC236}">
                    <a16:creationId xmlns:a16="http://schemas.microsoft.com/office/drawing/2014/main" id="{8A7F1226-76B3-2342-807D-BA1E49D37B5D}"/>
                  </a:ext>
                </a:extLst>
              </p:cNvPr>
              <p:cNvSpPr txBox="1">
                <a:spLocks noRot="1" noChangeAspect="1" noMove="1" noResize="1" noEditPoints="1" noAdjustHandles="1" noChangeArrowheads="1" noChangeShapeType="1" noTextEdit="1"/>
              </p:cNvSpPr>
              <p:nvPr/>
            </p:nvSpPr>
            <p:spPr>
              <a:xfrm>
                <a:off x="7358062" y="2317559"/>
                <a:ext cx="4570482" cy="1785104"/>
              </a:xfrm>
              <a:prstGeom prst="rect">
                <a:avLst/>
              </a:prstGeom>
              <a:blipFill>
                <a:blip r:embed="rId4"/>
                <a:stretch>
                  <a:fillRect l="-826" t="-699" b="-2098"/>
                </a:stretch>
              </a:blipFill>
            </p:spPr>
            <p:txBody>
              <a:bodyPr/>
              <a:lstStyle/>
              <a:p>
                <a:r>
                  <a:rPr lang="en-CN">
                    <a:noFill/>
                  </a:rPr>
                  <a:t> </a:t>
                </a:r>
              </a:p>
            </p:txBody>
          </p:sp>
        </mc:Fallback>
      </mc:AlternateContent>
      <p:sp>
        <p:nvSpPr>
          <p:cNvPr id="19" name="TextBox 18">
            <a:extLst>
              <a:ext uri="{FF2B5EF4-FFF2-40B4-BE49-F238E27FC236}">
                <a16:creationId xmlns:a16="http://schemas.microsoft.com/office/drawing/2014/main" id="{B205B139-CEB0-2F40-B5A0-67F82A19AEE6}"/>
              </a:ext>
            </a:extLst>
          </p:cNvPr>
          <p:cNvSpPr txBox="1"/>
          <p:nvPr/>
        </p:nvSpPr>
        <p:spPr>
          <a:xfrm>
            <a:off x="7550422" y="4111737"/>
            <a:ext cx="4185761" cy="461665"/>
          </a:xfrm>
          <a:prstGeom prst="rect">
            <a:avLst/>
          </a:prstGeom>
          <a:noFill/>
        </p:spPr>
        <p:txBody>
          <a:bodyPr wrap="none" rtlCol="0">
            <a:spAutoFit/>
          </a:bodyPr>
          <a:lstStyle/>
          <a:p>
            <a:pPr algn="l"/>
            <a:r>
              <a:rPr lang="en-US" sz="2400" dirty="0" err="1">
                <a:latin typeface="+mn-ea"/>
              </a:rPr>
              <a:t>残差为平方损失函数的负梯度</a:t>
            </a:r>
            <a:endParaRPr lang="en-CN" sz="2400" dirty="0">
              <a:latin typeface="+mn-ea"/>
            </a:endParaRPr>
          </a:p>
        </p:txBody>
      </p:sp>
      <p:sp>
        <p:nvSpPr>
          <p:cNvPr id="6" name="TextBox 5">
            <a:extLst>
              <a:ext uri="{FF2B5EF4-FFF2-40B4-BE49-F238E27FC236}">
                <a16:creationId xmlns:a16="http://schemas.microsoft.com/office/drawing/2014/main" id="{4DE80834-0A59-B04E-8A63-9A11520631DD}"/>
              </a:ext>
            </a:extLst>
          </p:cNvPr>
          <p:cNvSpPr txBox="1"/>
          <p:nvPr/>
        </p:nvSpPr>
        <p:spPr>
          <a:xfrm>
            <a:off x="7915813" y="4837898"/>
            <a:ext cx="2999837" cy="830997"/>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l"/>
            <a:r>
              <a:rPr lang="en-CN" sz="2400" dirty="0">
                <a:latin typeface="+mn-ea"/>
              </a:rPr>
              <a:t>如果损失函数不是平方损失函数</a:t>
            </a:r>
            <a:r>
              <a:rPr lang="zh-CN" altLang="en-US" sz="2400" dirty="0">
                <a:latin typeface="+mn-ea"/>
              </a:rPr>
              <a:t>？</a:t>
            </a:r>
            <a:endParaRPr lang="en-CN" sz="2400" dirty="0">
              <a:latin typeface="+mn-ea"/>
            </a:endParaRPr>
          </a:p>
        </p:txBody>
      </p:sp>
    </p:spTree>
    <p:extLst>
      <p:ext uri="{BB962C8B-B14F-4D97-AF65-F5344CB8AC3E}">
        <p14:creationId xmlns:p14="http://schemas.microsoft.com/office/powerpoint/2010/main" val="715177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linds(horizontal)">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18" grpId="0" animBg="1"/>
      <p:bldP spid="1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r>
              <a:rPr lang="en-GB" dirty="0"/>
              <a:t> Gradient Boosting Decision Tree </a:t>
            </a:r>
            <a:r>
              <a:rPr lang="zh-CN" altLang="en-US" dirty="0"/>
              <a:t>）</a:t>
            </a:r>
          </a:p>
        </p:txBody>
      </p:sp>
      <p:sp>
        <p:nvSpPr>
          <p:cNvPr id="3" name="TextBox 2">
            <a:extLst>
              <a:ext uri="{FF2B5EF4-FFF2-40B4-BE49-F238E27FC236}">
                <a16:creationId xmlns:a16="http://schemas.microsoft.com/office/drawing/2014/main" id="{D6F25AA6-65FC-1147-A5B0-59E460AB028D}"/>
              </a:ext>
            </a:extLst>
          </p:cNvPr>
          <p:cNvSpPr txBox="1"/>
          <p:nvPr/>
        </p:nvSpPr>
        <p:spPr>
          <a:xfrm>
            <a:off x="566962" y="5175609"/>
            <a:ext cx="11004331" cy="646331"/>
          </a:xfrm>
          <a:prstGeom prst="rect">
            <a:avLst/>
          </a:prstGeom>
          <a:noFill/>
        </p:spPr>
        <p:txBody>
          <a:bodyPr wrap="square" rtlCol="0">
            <a:spAutoFit/>
          </a:bodyPr>
          <a:lstStyle/>
          <a:p>
            <a:r>
              <a:rPr lang="en-GB" dirty="0"/>
              <a:t>Friedman, J. H. (2001). Greedy function approximation: a gradient boosting machine. </a:t>
            </a:r>
            <a:r>
              <a:rPr lang="en-GB" i="1" dirty="0"/>
              <a:t>Annals of statistics</a:t>
            </a:r>
            <a:r>
              <a:rPr lang="en-GB" dirty="0"/>
              <a:t>, 1189-1232.</a:t>
            </a:r>
            <a:endParaRPr lang="en-CN" dirty="0">
              <a:latin typeface="+mn-ea"/>
            </a:endParaRPr>
          </a:p>
        </p:txBody>
      </p:sp>
      <p:sp>
        <p:nvSpPr>
          <p:cNvPr id="7" name="TextBox 6">
            <a:extLst>
              <a:ext uri="{FF2B5EF4-FFF2-40B4-BE49-F238E27FC236}">
                <a16:creationId xmlns:a16="http://schemas.microsoft.com/office/drawing/2014/main" id="{DE1FA83C-BFF2-DF41-84AF-E0B0B8898D86}"/>
              </a:ext>
            </a:extLst>
          </p:cNvPr>
          <p:cNvSpPr txBox="1"/>
          <p:nvPr/>
        </p:nvSpPr>
        <p:spPr>
          <a:xfrm>
            <a:off x="566962" y="5821940"/>
            <a:ext cx="11418510" cy="369332"/>
          </a:xfrm>
          <a:prstGeom prst="rect">
            <a:avLst/>
          </a:prstGeom>
          <a:noFill/>
        </p:spPr>
        <p:txBody>
          <a:bodyPr wrap="none" rtlCol="0">
            <a:spAutoFit/>
          </a:bodyPr>
          <a:lstStyle/>
          <a:p>
            <a:r>
              <a:rPr lang="en-GB" dirty="0"/>
              <a:t>Friedman, J. H. (2002). Stochastic gradient boosting. </a:t>
            </a:r>
            <a:r>
              <a:rPr lang="en-GB" i="1" dirty="0"/>
              <a:t>Computational statistics &amp; data analysis</a:t>
            </a:r>
            <a:r>
              <a:rPr lang="en-GB" dirty="0"/>
              <a:t>, </a:t>
            </a:r>
            <a:r>
              <a:rPr lang="en-GB" i="1" dirty="0"/>
              <a:t>38</a:t>
            </a:r>
            <a:r>
              <a:rPr lang="en-GB" dirty="0"/>
              <a:t>(4), 367-378.</a:t>
            </a:r>
            <a:endParaRPr lang="en-CN" dirty="0">
              <a:latin typeface="+mn-ea"/>
            </a:endParaRPr>
          </a:p>
        </p:txBody>
      </p:sp>
      <p:sp>
        <p:nvSpPr>
          <p:cNvPr id="8" name="TextBox 7">
            <a:extLst>
              <a:ext uri="{FF2B5EF4-FFF2-40B4-BE49-F238E27FC236}">
                <a16:creationId xmlns:a16="http://schemas.microsoft.com/office/drawing/2014/main" id="{EDE94C4B-C775-F345-A863-65441320CF13}"/>
              </a:ext>
            </a:extLst>
          </p:cNvPr>
          <p:cNvSpPr txBox="1"/>
          <p:nvPr/>
        </p:nvSpPr>
        <p:spPr>
          <a:xfrm>
            <a:off x="929819" y="2633695"/>
            <a:ext cx="6094938" cy="461665"/>
          </a:xfrm>
          <a:prstGeom prst="rect">
            <a:avLst/>
          </a:prstGeom>
          <a:noFill/>
        </p:spPr>
        <p:txBody>
          <a:bodyPr wrap="none" rtlCol="0">
            <a:spAutoFit/>
          </a:bodyPr>
          <a:lstStyle/>
          <a:p>
            <a:pPr algn="l"/>
            <a:r>
              <a:rPr lang="en-US" sz="2400" dirty="0" err="1">
                <a:latin typeface="+mn-ea"/>
              </a:rPr>
              <a:t>第m轮的第</a:t>
            </a:r>
            <a:r>
              <a:rPr lang="en-US" altLang="zh-CN" sz="2400" dirty="0" err="1">
                <a:latin typeface="+mn-ea"/>
              </a:rPr>
              <a:t>i</a:t>
            </a:r>
            <a:r>
              <a:rPr lang="zh-CN" altLang="en-US" sz="2400" dirty="0">
                <a:latin typeface="+mn-ea"/>
              </a:rPr>
              <a:t>个样本的损失函数的负梯度为：</a:t>
            </a:r>
            <a:endParaRPr lang="en-CN" sz="2400" dirty="0">
              <a:latin typeface="+mn-ea"/>
            </a:endParaRP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E3801CD2-574A-D048-9537-9C61F113C252}"/>
                  </a:ext>
                </a:extLst>
              </p:cNvPr>
              <p:cNvSpPr txBox="1"/>
              <p:nvPr/>
            </p:nvSpPr>
            <p:spPr>
              <a:xfrm>
                <a:off x="3360160" y="3429000"/>
                <a:ext cx="6093372" cy="12030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N" sz="280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d>
                            <m:dPr>
                              <m:begChr m:val="["/>
                              <m:endChr m:val="]"/>
                              <m:ctrlPr>
                                <a:rPr lang="en-CN" sz="2800" i="1" smtClean="0">
                                  <a:latin typeface="Cambria Math" panose="02040503050406030204" pitchFamily="18" charset="0"/>
                                </a:rPr>
                              </m:ctrlPr>
                            </m:dPr>
                            <m:e>
                              <m:f>
                                <m:fPr>
                                  <m:ctrlPr>
                                    <a:rPr lang="en-CN" sz="2800" i="1">
                                      <a:latin typeface="Cambria Math" panose="02040503050406030204" pitchFamily="18" charset="0"/>
                                    </a:rPr>
                                  </m:ctrlPr>
                                </m:fPr>
                                <m:num>
                                  <m:r>
                                    <a:rPr lang="en-US" sz="2800" i="1">
                                      <a:latin typeface="Cambria Math" panose="02040503050406030204" pitchFamily="18" charset="0"/>
                                    </a:rPr>
                                    <m:t>𝜕</m:t>
                                  </m:r>
                                  <m:r>
                                    <a:rPr lang="en-CN" sz="2800" i="1">
                                      <a:latin typeface="Cambria Math" panose="02040503050406030204" pitchFamily="18" charset="0"/>
                                    </a:rPr>
                                    <m:t>𝐿</m:t>
                                  </m:r>
                                  <m:d>
                                    <m:dPr>
                                      <m:ctrlPr>
                                        <a:rPr lang="en-CN" sz="2800" i="1">
                                          <a:latin typeface="Cambria Math" panose="02040503050406030204" pitchFamily="18" charset="0"/>
                                        </a:rPr>
                                      </m:ctrlPr>
                                    </m:dPr>
                                    <m:e>
                                      <m:r>
                                        <a:rPr lang="en-US" altLang="zh-CN" sz="2800" b="0" i="1" smtClean="0">
                                          <a:latin typeface="Cambria Math" panose="02040503050406030204" pitchFamily="18" charset="0"/>
                                        </a:rPr>
                                        <m:t>𝑦</m:t>
                                      </m:r>
                                      <m:r>
                                        <a:rPr lang="en-CN" sz="2800" i="1">
                                          <a:latin typeface="Cambria Math" panose="02040503050406030204" pitchFamily="18" charset="0"/>
                                        </a:rPr>
                                        <m:t>,</m:t>
                                      </m:r>
                                      <m:r>
                                        <a:rPr lang="en-CN" sz="2800" i="1">
                                          <a:latin typeface="Cambria Math" panose="02040503050406030204" pitchFamily="18" charset="0"/>
                                        </a:rPr>
                                        <m:t>𝑓</m:t>
                                      </m:r>
                                      <m:d>
                                        <m:dPr>
                                          <m:ctrlPr>
                                            <a:rPr lang="en-CN" sz="2800" i="1">
                                              <a:latin typeface="Cambria Math" panose="02040503050406030204" pitchFamily="18" charset="0"/>
                                            </a:rPr>
                                          </m:ctrlPr>
                                        </m:dPr>
                                        <m:e>
                                          <m:sSub>
                                            <m:sSubPr>
                                              <m:ctrlPr>
                                                <a:rPr lang="en-CN" sz="2800" i="1">
                                                  <a:latin typeface="Cambria Math" panose="02040503050406030204" pitchFamily="18" charset="0"/>
                                                </a:rPr>
                                              </m:ctrlPr>
                                            </m:sSubPr>
                                            <m:e>
                                              <m:r>
                                                <a:rPr lang="en-CN" sz="2800" i="1">
                                                  <a:latin typeface="Cambria Math" panose="02040503050406030204" pitchFamily="18" charset="0"/>
                                                </a:rPr>
                                                <m:t>𝑥</m:t>
                                              </m:r>
                                            </m:e>
                                            <m:sub>
                                              <m:r>
                                                <a:rPr lang="en-CN" sz="2800" i="1">
                                                  <a:latin typeface="Cambria Math" panose="02040503050406030204" pitchFamily="18" charset="0"/>
                                                </a:rPr>
                                                <m:t>𝑖</m:t>
                                              </m:r>
                                            </m:sub>
                                          </m:sSub>
                                        </m:e>
                                      </m:d>
                                    </m:e>
                                  </m:d>
                                </m:num>
                                <m:den>
                                  <m:r>
                                    <a:rPr lang="en-US" sz="2800" i="1">
                                      <a:latin typeface="Cambria Math" panose="02040503050406030204" pitchFamily="18" charset="0"/>
                                    </a:rPr>
                                    <m:t>𝜕</m:t>
                                  </m:r>
                                  <m:r>
                                    <a:rPr lang="en-US" sz="2800" i="1">
                                      <a:latin typeface="Cambria Math" panose="02040503050406030204" pitchFamily="18" charset="0"/>
                                    </a:rPr>
                                    <m:t>𝑓</m:t>
                                  </m:r>
                                  <m:d>
                                    <m:dPr>
                                      <m:ctrlPr>
                                        <a:rPr lang="en-CN" sz="2800" i="1">
                                          <a:latin typeface="Cambria Math" panose="02040503050406030204" pitchFamily="18" charset="0"/>
                                        </a:rPr>
                                      </m:ctrlPr>
                                    </m:dPr>
                                    <m:e>
                                      <m:sSub>
                                        <m:sSubPr>
                                          <m:ctrlPr>
                                            <a:rPr lang="en-CN"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𝑖</m:t>
                                          </m:r>
                                        </m:sub>
                                      </m:sSub>
                                    </m:e>
                                  </m:d>
                                </m:den>
                              </m:f>
                            </m:e>
                          </m:d>
                        </m:e>
                        <m:sub>
                          <m:r>
                            <a:rPr lang="en-US" altLang="zh-CN" sz="2800" b="0" i="1" smtClean="0">
                              <a:latin typeface="Cambria Math" panose="02040503050406030204" pitchFamily="18" charset="0"/>
                            </a:rPr>
                            <m:t>𝑓</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d>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b="0" i="1" smtClean="0">
                                  <a:latin typeface="Cambria Math" panose="02040503050406030204" pitchFamily="18" charset="0"/>
                                </a:rPr>
                                <m:t>𝑚</m:t>
                              </m:r>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sub>
                      </m:sSub>
                    </m:oMath>
                  </m:oMathPara>
                </a14:m>
                <a:endParaRPr lang="en-CN" sz="2800" dirty="0"/>
              </a:p>
            </p:txBody>
          </p:sp>
        </mc:Choice>
        <mc:Fallback>
          <p:sp>
            <p:nvSpPr>
              <p:cNvPr id="21" name="TextBox 20">
                <a:extLst>
                  <a:ext uri="{FF2B5EF4-FFF2-40B4-BE49-F238E27FC236}">
                    <a16:creationId xmlns:a16="http://schemas.microsoft.com/office/drawing/2014/main" id="{E3801CD2-574A-D048-9537-9C61F113C252}"/>
                  </a:ext>
                </a:extLst>
              </p:cNvPr>
              <p:cNvSpPr txBox="1">
                <a:spLocks noRot="1" noChangeAspect="1" noMove="1" noResize="1" noEditPoints="1" noAdjustHandles="1" noChangeArrowheads="1" noChangeShapeType="1" noTextEdit="1"/>
              </p:cNvSpPr>
              <p:nvPr/>
            </p:nvSpPr>
            <p:spPr>
              <a:xfrm>
                <a:off x="3360160" y="3429000"/>
                <a:ext cx="6093372" cy="1203086"/>
              </a:xfrm>
              <a:prstGeom prst="rect">
                <a:avLst/>
              </a:prstGeom>
              <a:blipFill>
                <a:blip r:embed="rId3"/>
                <a:stretch>
                  <a:fillRect b="-6316"/>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E41150BB-43D9-4141-981F-F82E34D76598}"/>
              </a:ext>
            </a:extLst>
          </p:cNvPr>
          <p:cNvSpPr txBox="1"/>
          <p:nvPr/>
        </p:nvSpPr>
        <p:spPr>
          <a:xfrm>
            <a:off x="566962" y="1338631"/>
            <a:ext cx="10057495" cy="830997"/>
          </a:xfrm>
          <a:prstGeom prst="rect">
            <a:avLst/>
          </a:prstGeom>
          <a:noFill/>
        </p:spPr>
        <p:txBody>
          <a:bodyPr wrap="square">
            <a:spAutoFit/>
          </a:bodyPr>
          <a:lstStyle/>
          <a:p>
            <a:pPr marL="342900" indent="-342900">
              <a:buFont typeface="Wingdings" pitchFamily="2" charset="2"/>
              <a:buChar char="Ø"/>
            </a:pPr>
            <a:r>
              <a:rPr lang="en" altLang="zh-CN" sz="2400" dirty="0"/>
              <a:t>GBDT </a:t>
            </a:r>
            <a:r>
              <a:rPr lang="zh-CN" altLang="en-US" sz="2400" dirty="0"/>
              <a:t>所有树的拟合目标 </a:t>
            </a:r>
            <a:r>
              <a:rPr lang="en-US" altLang="zh-CN" sz="2400" dirty="0"/>
              <a:t>= </a:t>
            </a:r>
            <a:r>
              <a:rPr lang="zh-CN" altLang="en-US" sz="2400" dirty="0">
                <a:solidFill>
                  <a:srgbClr val="C00000"/>
                </a:solidFill>
              </a:rPr>
              <a:t>损失函数的负梯度</a:t>
            </a:r>
            <a:r>
              <a:rPr lang="zh-CN" altLang="en-US" sz="2400" dirty="0"/>
              <a:t>。平方损失只是一个特例（负梯度恰好等于残差）。</a:t>
            </a:r>
          </a:p>
        </p:txBody>
      </p:sp>
    </p:spTree>
    <p:extLst>
      <p:ext uri="{BB962C8B-B14F-4D97-AF65-F5344CB8AC3E}">
        <p14:creationId xmlns:p14="http://schemas.microsoft.com/office/powerpoint/2010/main" val="13846131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p>
        </p:txBody>
      </p:sp>
      <p:sp>
        <p:nvSpPr>
          <p:cNvPr id="7" name="TextBox 6">
            <a:extLst>
              <a:ext uri="{FF2B5EF4-FFF2-40B4-BE49-F238E27FC236}">
                <a16:creationId xmlns:a16="http://schemas.microsoft.com/office/drawing/2014/main" id="{EF60743D-E493-DF43-9940-F907E96ED312}"/>
              </a:ext>
            </a:extLst>
          </p:cNvPr>
          <p:cNvSpPr txBox="1"/>
          <p:nvPr/>
        </p:nvSpPr>
        <p:spPr>
          <a:xfrm>
            <a:off x="918624" y="1612054"/>
            <a:ext cx="5212068" cy="523220"/>
          </a:xfrm>
          <a:prstGeom prst="rect">
            <a:avLst/>
          </a:prstGeom>
          <a:noFill/>
        </p:spPr>
        <p:txBody>
          <a:bodyPr wrap="none" rtlCol="0">
            <a:spAutoFit/>
          </a:bodyPr>
          <a:lstStyle/>
          <a:p>
            <a:pPr algn="l"/>
            <a:r>
              <a:rPr lang="en-US" altLang="zh-CN" sz="2800" b="1" dirty="0" err="1">
                <a:solidFill>
                  <a:srgbClr val="002060"/>
                </a:solidFill>
                <a:latin typeface="+mn-ea"/>
              </a:rPr>
              <a:t>Adaboost</a:t>
            </a:r>
            <a:r>
              <a:rPr lang="zh-CN" altLang="en-US" sz="2800" b="1" dirty="0">
                <a:solidFill>
                  <a:srgbClr val="002060"/>
                </a:solidFill>
                <a:latin typeface="+mn-ea"/>
              </a:rPr>
              <a:t> 与</a:t>
            </a:r>
            <a:r>
              <a:rPr lang="en-US" altLang="zh-CN" sz="2800" b="1" dirty="0">
                <a:solidFill>
                  <a:srgbClr val="002060"/>
                </a:solidFill>
                <a:latin typeface="+mn-ea"/>
              </a:rPr>
              <a:t>GBDT</a:t>
            </a:r>
            <a:r>
              <a:rPr lang="zh-CN" altLang="en-US" sz="2800" b="1" dirty="0">
                <a:solidFill>
                  <a:srgbClr val="002060"/>
                </a:solidFill>
                <a:latin typeface="+mn-ea"/>
              </a:rPr>
              <a:t>特点总结：</a:t>
            </a:r>
            <a:endParaRPr lang="en-CN" sz="2800" b="1" dirty="0">
              <a:solidFill>
                <a:srgbClr val="002060"/>
              </a:solidFill>
              <a:latin typeface="+mn-ea"/>
            </a:endParaRPr>
          </a:p>
        </p:txBody>
      </p:sp>
      <p:sp>
        <p:nvSpPr>
          <p:cNvPr id="9" name="Rounded Rectangle 8">
            <a:extLst>
              <a:ext uri="{FF2B5EF4-FFF2-40B4-BE49-F238E27FC236}">
                <a16:creationId xmlns:a16="http://schemas.microsoft.com/office/drawing/2014/main" id="{654894FF-F553-754A-AF2E-8417B765EE62}"/>
              </a:ext>
            </a:extLst>
          </p:cNvPr>
          <p:cNvSpPr/>
          <p:nvPr/>
        </p:nvSpPr>
        <p:spPr>
          <a:xfrm>
            <a:off x="714375" y="1450429"/>
            <a:ext cx="10763026" cy="4614140"/>
          </a:xfrm>
          <a:prstGeom prst="roundRect">
            <a:avLst/>
          </a:prstGeom>
          <a:noFill/>
          <a:ln w="222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aphicFrame>
        <p:nvGraphicFramePr>
          <p:cNvPr id="2" name="表格 1">
            <a:extLst>
              <a:ext uri="{FF2B5EF4-FFF2-40B4-BE49-F238E27FC236}">
                <a16:creationId xmlns:a16="http://schemas.microsoft.com/office/drawing/2014/main" id="{1A8406D2-FC34-CF4B-9FFB-187173742A40}"/>
              </a:ext>
            </a:extLst>
          </p:cNvPr>
          <p:cNvGraphicFramePr>
            <a:graphicFrameLocks noGrp="1"/>
          </p:cNvGraphicFramePr>
          <p:nvPr>
            <p:extLst>
              <p:ext uri="{D42A27DB-BD31-4B8C-83A1-F6EECF244321}">
                <p14:modId xmlns:p14="http://schemas.microsoft.com/office/powerpoint/2010/main" val="4082073011"/>
              </p:ext>
            </p:extLst>
          </p:nvPr>
        </p:nvGraphicFramePr>
        <p:xfrm>
          <a:off x="1467158" y="2528166"/>
          <a:ext cx="9257460" cy="3277548"/>
        </p:xfrm>
        <a:graphic>
          <a:graphicData uri="http://schemas.openxmlformats.org/drawingml/2006/table">
            <a:tbl>
              <a:tblPr/>
              <a:tblGrid>
                <a:gridCol w="3085820">
                  <a:extLst>
                    <a:ext uri="{9D8B030D-6E8A-4147-A177-3AD203B41FA5}">
                      <a16:colId xmlns:a16="http://schemas.microsoft.com/office/drawing/2014/main" val="1760880774"/>
                    </a:ext>
                  </a:extLst>
                </a:gridCol>
                <a:gridCol w="3085820">
                  <a:extLst>
                    <a:ext uri="{9D8B030D-6E8A-4147-A177-3AD203B41FA5}">
                      <a16:colId xmlns:a16="http://schemas.microsoft.com/office/drawing/2014/main" val="2713367028"/>
                    </a:ext>
                  </a:extLst>
                </a:gridCol>
                <a:gridCol w="3085820">
                  <a:extLst>
                    <a:ext uri="{9D8B030D-6E8A-4147-A177-3AD203B41FA5}">
                      <a16:colId xmlns:a16="http://schemas.microsoft.com/office/drawing/2014/main" val="2993640449"/>
                    </a:ext>
                  </a:extLst>
                </a:gridCol>
              </a:tblGrid>
              <a:tr h="546258">
                <a:tc>
                  <a:txBody>
                    <a:bodyPr/>
                    <a:lstStyle/>
                    <a:p>
                      <a:pPr algn="l"/>
                      <a:r>
                        <a:rPr lang="zh-CN" altLang="en-US"/>
                        <a:t>特性</a:t>
                      </a:r>
                    </a:p>
                  </a:txBody>
                  <a:tcPr anchor="ctr">
                    <a:lnL>
                      <a:noFill/>
                    </a:lnL>
                    <a:lnR>
                      <a:noFill/>
                    </a:lnR>
                    <a:lnT>
                      <a:noFill/>
                    </a:lnT>
                    <a:lnB>
                      <a:noFill/>
                    </a:lnB>
                    <a:solidFill>
                      <a:schemeClr val="accent6">
                        <a:lumMod val="20000"/>
                        <a:lumOff val="80000"/>
                      </a:schemeClr>
                    </a:solidFill>
                  </a:tcPr>
                </a:tc>
                <a:tc>
                  <a:txBody>
                    <a:bodyPr/>
                    <a:lstStyle/>
                    <a:p>
                      <a:pPr algn="l"/>
                      <a:r>
                        <a:rPr lang="en"/>
                        <a:t>AdaBoost</a:t>
                      </a:r>
                    </a:p>
                  </a:txBody>
                  <a:tcPr anchor="ctr">
                    <a:lnL>
                      <a:noFill/>
                    </a:lnL>
                    <a:lnR>
                      <a:noFill/>
                    </a:lnR>
                    <a:lnT>
                      <a:noFill/>
                    </a:lnT>
                    <a:lnB>
                      <a:noFill/>
                    </a:lnB>
                    <a:solidFill>
                      <a:schemeClr val="accent6">
                        <a:lumMod val="20000"/>
                        <a:lumOff val="80000"/>
                      </a:schemeClr>
                    </a:solidFill>
                  </a:tcPr>
                </a:tc>
                <a:tc>
                  <a:txBody>
                    <a:bodyPr/>
                    <a:lstStyle/>
                    <a:p>
                      <a:pPr algn="l"/>
                      <a:r>
                        <a:rPr lang="en"/>
                        <a:t>GBDT</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018687456"/>
                  </a:ext>
                </a:extLst>
              </a:tr>
              <a:tr h="546258">
                <a:tc>
                  <a:txBody>
                    <a:bodyPr/>
                    <a:lstStyle/>
                    <a:p>
                      <a:pPr algn="l"/>
                      <a:r>
                        <a:rPr lang="en"/>
                        <a:t>Boosting </a:t>
                      </a:r>
                      <a:r>
                        <a:rPr lang="zh-CN" altLang="en-US"/>
                        <a:t>类型</a:t>
                      </a:r>
                    </a:p>
                  </a:txBody>
                  <a:tcPr anchor="ctr">
                    <a:lnL>
                      <a:noFill/>
                    </a:lnL>
                    <a:lnR>
                      <a:noFill/>
                    </a:lnR>
                    <a:lnT>
                      <a:noFill/>
                    </a:lnT>
                    <a:lnB>
                      <a:noFill/>
                    </a:lnB>
                    <a:solidFill>
                      <a:schemeClr val="accent6">
                        <a:lumMod val="20000"/>
                        <a:lumOff val="80000"/>
                      </a:schemeClr>
                    </a:solidFill>
                  </a:tcPr>
                </a:tc>
                <a:tc>
                  <a:txBody>
                    <a:bodyPr/>
                    <a:lstStyle/>
                    <a:p>
                      <a:pPr algn="l"/>
                      <a:r>
                        <a:rPr lang="zh-CN" altLang="en-US"/>
                        <a:t>分类 </a:t>
                      </a:r>
                      <a:r>
                        <a:rPr lang="en"/>
                        <a:t>Boosting</a:t>
                      </a:r>
                    </a:p>
                  </a:txBody>
                  <a:tcPr anchor="ctr">
                    <a:lnL>
                      <a:noFill/>
                    </a:lnL>
                    <a:lnR>
                      <a:noFill/>
                    </a:lnR>
                    <a:lnT>
                      <a:noFill/>
                    </a:lnT>
                    <a:lnB>
                      <a:noFill/>
                    </a:lnB>
                    <a:solidFill>
                      <a:schemeClr val="accent6">
                        <a:lumMod val="20000"/>
                        <a:lumOff val="80000"/>
                      </a:schemeClr>
                    </a:solidFill>
                  </a:tcPr>
                </a:tc>
                <a:tc>
                  <a:txBody>
                    <a:bodyPr/>
                    <a:lstStyle/>
                    <a:p>
                      <a:pPr algn="l"/>
                      <a:r>
                        <a:rPr lang="zh-CN" altLang="en-US"/>
                        <a:t>回归 </a:t>
                      </a:r>
                      <a:r>
                        <a:rPr lang="en"/>
                        <a:t>Boosting（</a:t>
                      </a:r>
                      <a:r>
                        <a:rPr lang="zh-CN" altLang="en-US"/>
                        <a:t>也可做分类）</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576453197"/>
                  </a:ext>
                </a:extLst>
              </a:tr>
              <a:tr h="546258">
                <a:tc>
                  <a:txBody>
                    <a:bodyPr/>
                    <a:lstStyle/>
                    <a:p>
                      <a:pPr algn="l"/>
                      <a:r>
                        <a:rPr lang="zh-CN" altLang="en-US" dirty="0"/>
                        <a:t>基学习器</a:t>
                      </a:r>
                    </a:p>
                  </a:txBody>
                  <a:tcPr anchor="ctr">
                    <a:lnL>
                      <a:noFill/>
                    </a:lnL>
                    <a:lnR>
                      <a:noFill/>
                    </a:lnR>
                    <a:lnT>
                      <a:noFill/>
                    </a:lnT>
                    <a:lnB>
                      <a:noFill/>
                    </a:lnB>
                    <a:solidFill>
                      <a:schemeClr val="accent6">
                        <a:lumMod val="20000"/>
                        <a:lumOff val="80000"/>
                      </a:schemeClr>
                    </a:solidFill>
                  </a:tcPr>
                </a:tc>
                <a:tc>
                  <a:txBody>
                    <a:bodyPr/>
                    <a:lstStyle/>
                    <a:p>
                      <a:pPr algn="l"/>
                      <a:r>
                        <a:rPr lang="zh-CN" altLang="en-US" dirty="0"/>
                        <a:t>分类树（</a:t>
                      </a:r>
                      <a:r>
                        <a:rPr lang="en" dirty="0"/>
                        <a:t>stump </a:t>
                      </a:r>
                      <a:r>
                        <a:rPr lang="zh-CN" altLang="en-US" dirty="0"/>
                        <a:t>常见）</a:t>
                      </a:r>
                    </a:p>
                  </a:txBody>
                  <a:tcPr anchor="ctr">
                    <a:lnL>
                      <a:noFill/>
                    </a:lnL>
                    <a:lnR>
                      <a:noFill/>
                    </a:lnR>
                    <a:lnT>
                      <a:noFill/>
                    </a:lnT>
                    <a:lnB>
                      <a:noFill/>
                    </a:lnB>
                    <a:solidFill>
                      <a:schemeClr val="accent6">
                        <a:lumMod val="20000"/>
                        <a:lumOff val="80000"/>
                      </a:schemeClr>
                    </a:solidFill>
                  </a:tcPr>
                </a:tc>
                <a:tc>
                  <a:txBody>
                    <a:bodyPr/>
                    <a:lstStyle/>
                    <a:p>
                      <a:pPr algn="l"/>
                      <a:r>
                        <a:rPr lang="en" dirty="0"/>
                        <a:t>CART </a:t>
                      </a:r>
                      <a:r>
                        <a:rPr lang="zh-CN" altLang="en-US" dirty="0"/>
                        <a:t>回归树</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508046332"/>
                  </a:ext>
                </a:extLst>
              </a:tr>
              <a:tr h="546258">
                <a:tc>
                  <a:txBody>
                    <a:bodyPr/>
                    <a:lstStyle/>
                    <a:p>
                      <a:pPr algn="l"/>
                      <a:r>
                        <a:rPr lang="zh-CN" altLang="en-US"/>
                        <a:t>更新方式</a:t>
                      </a:r>
                    </a:p>
                  </a:txBody>
                  <a:tcPr anchor="ctr">
                    <a:lnL>
                      <a:noFill/>
                    </a:lnL>
                    <a:lnR>
                      <a:noFill/>
                    </a:lnR>
                    <a:lnT>
                      <a:noFill/>
                    </a:lnT>
                    <a:lnB>
                      <a:noFill/>
                    </a:lnB>
                    <a:solidFill>
                      <a:schemeClr val="accent6">
                        <a:lumMod val="20000"/>
                        <a:lumOff val="80000"/>
                      </a:schemeClr>
                    </a:solidFill>
                  </a:tcPr>
                </a:tc>
                <a:tc>
                  <a:txBody>
                    <a:bodyPr/>
                    <a:lstStyle/>
                    <a:p>
                      <a:pPr algn="l"/>
                      <a:r>
                        <a:rPr lang="zh-CN" altLang="en-US"/>
                        <a:t>调整样本权重</a:t>
                      </a:r>
                    </a:p>
                  </a:txBody>
                  <a:tcPr anchor="ctr">
                    <a:lnL>
                      <a:noFill/>
                    </a:lnL>
                    <a:lnR>
                      <a:noFill/>
                    </a:lnR>
                    <a:lnT>
                      <a:noFill/>
                    </a:lnT>
                    <a:lnB>
                      <a:noFill/>
                    </a:lnB>
                    <a:solidFill>
                      <a:schemeClr val="accent6">
                        <a:lumMod val="20000"/>
                        <a:lumOff val="80000"/>
                      </a:schemeClr>
                    </a:solidFill>
                  </a:tcPr>
                </a:tc>
                <a:tc>
                  <a:txBody>
                    <a:bodyPr/>
                    <a:lstStyle/>
                    <a:p>
                      <a:pPr algn="l"/>
                      <a:r>
                        <a:rPr lang="zh-CN" altLang="en-US"/>
                        <a:t>拟合残差</a:t>
                      </a:r>
                      <a:r>
                        <a:rPr lang="en-US" altLang="zh-CN"/>
                        <a:t>/</a:t>
                      </a:r>
                      <a:r>
                        <a:rPr lang="zh-CN" altLang="en-US"/>
                        <a:t>梯度</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077401839"/>
                  </a:ext>
                </a:extLst>
              </a:tr>
              <a:tr h="546258">
                <a:tc>
                  <a:txBody>
                    <a:bodyPr/>
                    <a:lstStyle/>
                    <a:p>
                      <a:pPr algn="l"/>
                      <a:r>
                        <a:rPr lang="zh-CN" altLang="en-US"/>
                        <a:t>损失函数</a:t>
                      </a:r>
                    </a:p>
                  </a:txBody>
                  <a:tcPr anchor="ctr">
                    <a:lnL>
                      <a:noFill/>
                    </a:lnL>
                    <a:lnR>
                      <a:noFill/>
                    </a:lnR>
                    <a:lnT>
                      <a:noFill/>
                    </a:lnT>
                    <a:lnB>
                      <a:noFill/>
                    </a:lnB>
                    <a:solidFill>
                      <a:schemeClr val="accent6">
                        <a:lumMod val="20000"/>
                        <a:lumOff val="80000"/>
                      </a:schemeClr>
                    </a:solidFill>
                  </a:tcPr>
                </a:tc>
                <a:tc>
                  <a:txBody>
                    <a:bodyPr/>
                    <a:lstStyle/>
                    <a:p>
                      <a:pPr algn="l"/>
                      <a:r>
                        <a:rPr lang="zh-CN" altLang="en-US"/>
                        <a:t>指数损失</a:t>
                      </a:r>
                    </a:p>
                  </a:txBody>
                  <a:tcPr anchor="ctr">
                    <a:lnL>
                      <a:noFill/>
                    </a:lnL>
                    <a:lnR>
                      <a:noFill/>
                    </a:lnR>
                    <a:lnT>
                      <a:noFill/>
                    </a:lnT>
                    <a:lnB>
                      <a:noFill/>
                    </a:lnB>
                    <a:solidFill>
                      <a:schemeClr val="accent6">
                        <a:lumMod val="20000"/>
                        <a:lumOff val="80000"/>
                      </a:schemeClr>
                    </a:solidFill>
                  </a:tcPr>
                </a:tc>
                <a:tc>
                  <a:txBody>
                    <a:bodyPr/>
                    <a:lstStyle/>
                    <a:p>
                      <a:pPr algn="l"/>
                      <a:r>
                        <a:rPr lang="zh-CN" altLang="en-US" dirty="0"/>
                        <a:t>任意可导损失</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861860961"/>
                  </a:ext>
                </a:extLst>
              </a:tr>
              <a:tr h="546258">
                <a:tc>
                  <a:txBody>
                    <a:bodyPr/>
                    <a:lstStyle/>
                    <a:p>
                      <a:pPr algn="l"/>
                      <a:r>
                        <a:rPr lang="zh-CN" altLang="en-US"/>
                        <a:t>本质</a:t>
                      </a:r>
                    </a:p>
                  </a:txBody>
                  <a:tcPr anchor="ctr">
                    <a:lnL>
                      <a:noFill/>
                    </a:lnL>
                    <a:lnR>
                      <a:noFill/>
                    </a:lnR>
                    <a:lnT>
                      <a:noFill/>
                    </a:lnT>
                    <a:lnB>
                      <a:noFill/>
                    </a:lnB>
                    <a:solidFill>
                      <a:schemeClr val="accent6">
                        <a:lumMod val="20000"/>
                        <a:lumOff val="80000"/>
                      </a:schemeClr>
                    </a:solidFill>
                  </a:tcPr>
                </a:tc>
                <a:tc>
                  <a:txBody>
                    <a:bodyPr/>
                    <a:lstStyle/>
                    <a:p>
                      <a:pPr algn="l"/>
                      <a:r>
                        <a:rPr lang="zh-CN" altLang="en-US"/>
                        <a:t>改变权重的 </a:t>
                      </a:r>
                      <a:r>
                        <a:rPr lang="en"/>
                        <a:t>Boosting</a:t>
                      </a:r>
                    </a:p>
                  </a:txBody>
                  <a:tcPr anchor="ctr">
                    <a:lnL>
                      <a:noFill/>
                    </a:lnL>
                    <a:lnR>
                      <a:noFill/>
                    </a:lnR>
                    <a:lnT>
                      <a:noFill/>
                    </a:lnT>
                    <a:lnB>
                      <a:noFill/>
                    </a:lnB>
                    <a:solidFill>
                      <a:schemeClr val="accent6">
                        <a:lumMod val="20000"/>
                        <a:lumOff val="80000"/>
                      </a:schemeClr>
                    </a:solidFill>
                  </a:tcPr>
                </a:tc>
                <a:tc>
                  <a:txBody>
                    <a:bodyPr/>
                    <a:lstStyle/>
                    <a:p>
                      <a:pPr algn="l"/>
                      <a:r>
                        <a:rPr lang="zh-CN" altLang="en-US" dirty="0"/>
                        <a:t>在函数空间做梯度下降</a:t>
                      </a:r>
                    </a:p>
                  </a:txBody>
                  <a:tcPr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282463537"/>
                  </a:ext>
                </a:extLst>
              </a:tr>
            </a:tbl>
          </a:graphicData>
        </a:graphic>
      </p:graphicFrame>
    </p:spTree>
    <p:extLst>
      <p:ext uri="{BB962C8B-B14F-4D97-AF65-F5344CB8AC3E}">
        <p14:creationId xmlns:p14="http://schemas.microsoft.com/office/powerpoint/2010/main" val="9162796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GBDT</a:t>
            </a:r>
            <a:r>
              <a:rPr lang="zh-CN" altLang="en-US" dirty="0"/>
              <a:t>算法</a:t>
            </a:r>
          </a:p>
        </p:txBody>
      </p:sp>
      <p:sp>
        <p:nvSpPr>
          <p:cNvPr id="6" name="矩形 2">
            <a:extLst>
              <a:ext uri="{FF2B5EF4-FFF2-40B4-BE49-F238E27FC236}">
                <a16:creationId xmlns:a16="http://schemas.microsoft.com/office/drawing/2014/main" id="{A9873A17-66CD-B649-8CB6-B37B06A21A3C}"/>
              </a:ext>
            </a:extLst>
          </p:cNvPr>
          <p:cNvSpPr/>
          <p:nvPr/>
        </p:nvSpPr>
        <p:spPr>
          <a:xfrm>
            <a:off x="922372" y="989529"/>
            <a:ext cx="10527507" cy="633187"/>
          </a:xfrm>
          <a:prstGeom prst="rect">
            <a:avLst/>
          </a:prstGeom>
        </p:spPr>
        <p:txBody>
          <a:bodyPr wrap="square">
            <a:spAutoFit/>
          </a:bodyPr>
          <a:lstStyle/>
          <a:p>
            <a:pPr marL="342900" indent="-342900">
              <a:lnSpc>
                <a:spcPct val="120000"/>
              </a:lnSpc>
              <a:buFont typeface="Wingdings" pitchFamily="2" charset="2"/>
              <a:buChar char="Ø"/>
            </a:pPr>
            <a:r>
              <a:rPr lang="zh-CN" altLang="en-US" sz="3200" spc="-10" dirty="0">
                <a:solidFill>
                  <a:schemeClr val="accent1">
                    <a:lumMod val="75000"/>
                  </a:schemeClr>
                </a:solidFill>
                <a:latin typeface="+mn-ea"/>
              </a:rPr>
              <a:t>测验：</a:t>
            </a:r>
            <a:endParaRPr lang="en-US" altLang="zh-CN" sz="3200" spc="-10" dirty="0">
              <a:latin typeface="+mn-ea"/>
            </a:endParaRPr>
          </a:p>
        </p:txBody>
      </p:sp>
      <p:sp>
        <p:nvSpPr>
          <p:cNvPr id="10" name="文本框 4">
            <a:extLst>
              <a:ext uri="{FF2B5EF4-FFF2-40B4-BE49-F238E27FC236}">
                <a16:creationId xmlns:a16="http://schemas.microsoft.com/office/drawing/2014/main" id="{811D7790-046D-7340-8323-DD9F0A91D0AE}"/>
              </a:ext>
            </a:extLst>
          </p:cNvPr>
          <p:cNvSpPr txBox="1"/>
          <p:nvPr/>
        </p:nvSpPr>
        <p:spPr>
          <a:xfrm>
            <a:off x="1055354" y="1622716"/>
            <a:ext cx="10214274" cy="3698641"/>
          </a:xfrm>
          <a:prstGeom prst="rect">
            <a:avLst/>
          </a:prstGeom>
          <a:noFill/>
        </p:spPr>
        <p:txBody>
          <a:bodyPr wrap="square">
            <a:spAutoFit/>
          </a:bodyPr>
          <a:lstStyle/>
          <a:p>
            <a:pPr>
              <a:lnSpc>
                <a:spcPct val="150000"/>
              </a:lnSpc>
            </a:pPr>
            <a:r>
              <a:rPr lang="zh-CN" altLang="en-CN" sz="3200" spc="-10" dirty="0">
                <a:latin typeface="+mn-ea"/>
              </a:rPr>
              <a:t>下列</a:t>
            </a:r>
            <a:r>
              <a:rPr lang="zh-CN" altLang="en-US" sz="3200" spc="-10" dirty="0">
                <a:latin typeface="+mn-ea"/>
              </a:rPr>
              <a:t>哪一项不是</a:t>
            </a:r>
            <a:r>
              <a:rPr lang="en-US" altLang="zh-CN" sz="3200" spc="-10" dirty="0">
                <a:latin typeface="+mn-ea"/>
              </a:rPr>
              <a:t>GBDT</a:t>
            </a:r>
            <a:r>
              <a:rPr lang="zh-CN" altLang="en-US" sz="3200" spc="-10" dirty="0">
                <a:latin typeface="+mn-ea"/>
              </a:rPr>
              <a:t>的特点：</a:t>
            </a:r>
            <a:endParaRPr lang="en-US" altLang="zh-CN" sz="3200" spc="-10" dirty="0">
              <a:latin typeface="+mn-ea"/>
            </a:endParaRPr>
          </a:p>
          <a:p>
            <a:pPr marL="514350" indent="-514350">
              <a:lnSpc>
                <a:spcPct val="150000"/>
              </a:lnSpc>
              <a:buAutoNum type="alphaUcPeriod"/>
            </a:pPr>
            <a:r>
              <a:rPr lang="zh-CN" altLang="en-US" sz="3200" spc="-10" dirty="0">
                <a:latin typeface="+mn-ea"/>
              </a:rPr>
              <a:t>每一棵树</a:t>
            </a:r>
            <a:r>
              <a:rPr lang="zh-CN" altLang="en-CN" sz="3200" spc="-10" dirty="0">
                <a:latin typeface="+mn-ea"/>
              </a:rPr>
              <a:t>采用</a:t>
            </a:r>
            <a:r>
              <a:rPr lang="en-US" altLang="zh-CN" sz="3200" spc="-10" dirty="0">
                <a:latin typeface="+mn-ea"/>
              </a:rPr>
              <a:t>CART</a:t>
            </a:r>
            <a:r>
              <a:rPr lang="zh-CN" altLang="en-US" sz="3200" spc="-10" dirty="0">
                <a:latin typeface="+mn-ea"/>
              </a:rPr>
              <a:t>树模型</a:t>
            </a:r>
            <a:endParaRPr lang="en-US" altLang="zh-CN" sz="3200" spc="-10" dirty="0">
              <a:latin typeface="+mn-ea"/>
            </a:endParaRPr>
          </a:p>
          <a:p>
            <a:pPr marL="514350" indent="-514350">
              <a:lnSpc>
                <a:spcPct val="150000"/>
              </a:lnSpc>
              <a:buAutoNum type="alphaUcPeriod"/>
            </a:pPr>
            <a:r>
              <a:rPr lang="zh-CN" altLang="en-US" sz="3200" spc="-10" dirty="0">
                <a:latin typeface="+mn-ea"/>
              </a:rPr>
              <a:t>通过调整权重来定位模型的不足</a:t>
            </a:r>
            <a:endParaRPr lang="en-US" altLang="zh-CN" sz="3200" spc="-10" dirty="0">
              <a:latin typeface="+mn-ea"/>
            </a:endParaRPr>
          </a:p>
          <a:p>
            <a:pPr marL="514350" indent="-514350">
              <a:lnSpc>
                <a:spcPct val="150000"/>
              </a:lnSpc>
              <a:buAutoNum type="alphaUcPeriod"/>
            </a:pPr>
            <a:r>
              <a:rPr lang="zh-CN" altLang="en-US" sz="3200" spc="-10" dirty="0">
                <a:latin typeface="+mn-ea"/>
              </a:rPr>
              <a:t>是提升树的一种扩展形式</a:t>
            </a:r>
            <a:endParaRPr lang="en-US" altLang="zh-CN" sz="3200" spc="-10" dirty="0">
              <a:latin typeface="+mn-ea"/>
            </a:endParaRPr>
          </a:p>
          <a:p>
            <a:pPr marL="514350" indent="-514350">
              <a:lnSpc>
                <a:spcPct val="150000"/>
              </a:lnSpc>
              <a:buAutoNum type="alphaUcPeriod"/>
            </a:pPr>
            <a:r>
              <a:rPr lang="zh-CN" altLang="en-CN" sz="3200" spc="-10" dirty="0">
                <a:latin typeface="+mn-ea"/>
              </a:rPr>
              <a:t>是一种</a:t>
            </a:r>
            <a:r>
              <a:rPr lang="zh-CN" altLang="en-US" sz="3200" spc="-10" dirty="0">
                <a:latin typeface="+mn-ea"/>
              </a:rPr>
              <a:t>串行集成算法</a:t>
            </a:r>
            <a:endParaRPr lang="en-US" altLang="zh-CN" sz="3200" spc="-10" dirty="0">
              <a:latin typeface="+mn-ea"/>
            </a:endParaRPr>
          </a:p>
        </p:txBody>
      </p:sp>
      <p:sp>
        <p:nvSpPr>
          <p:cNvPr id="7" name="文本框 6">
            <a:extLst>
              <a:ext uri="{FF2B5EF4-FFF2-40B4-BE49-F238E27FC236}">
                <a16:creationId xmlns:a16="http://schemas.microsoft.com/office/drawing/2014/main" id="{A534F2A6-20C5-B946-BC11-7AAE79DB57FD}"/>
              </a:ext>
            </a:extLst>
          </p:cNvPr>
          <p:cNvSpPr txBox="1"/>
          <p:nvPr/>
        </p:nvSpPr>
        <p:spPr>
          <a:xfrm>
            <a:off x="5646056" y="5321357"/>
            <a:ext cx="6313715" cy="923330"/>
          </a:xfrm>
          <a:prstGeom prst="rect">
            <a:avLst/>
          </a:prstGeom>
          <a:noFill/>
        </p:spPr>
        <p:txBody>
          <a:bodyPr wrap="square">
            <a:spAutoFit/>
          </a:bodyPr>
          <a:lstStyle/>
          <a:p>
            <a:pPr marL="285750" indent="-285750">
              <a:buFont typeface="Arial" panose="020B0604020202020204" pitchFamily="34" charset="0"/>
              <a:buChar char="•"/>
            </a:pPr>
            <a:r>
              <a:rPr lang="en" altLang="zh-CN" dirty="0"/>
              <a:t>AdaBoost</a:t>
            </a:r>
            <a:r>
              <a:rPr lang="zh-CN" altLang="en" dirty="0"/>
              <a:t>：</a:t>
            </a:r>
            <a:r>
              <a:rPr lang="zh-CN" altLang="en-US" dirty="0"/>
              <a:t>通过增加</a:t>
            </a:r>
            <a:r>
              <a:rPr lang="zh-CN" altLang="en-US" b="1" dirty="0"/>
              <a:t>样本权重</a:t>
            </a:r>
            <a:r>
              <a:rPr lang="zh-CN" altLang="en-US" dirty="0"/>
              <a:t>，让下一轮模型关注难样本</a:t>
            </a:r>
          </a:p>
          <a:p>
            <a:pPr marL="285750" indent="-285750">
              <a:buFont typeface="Arial" panose="020B0604020202020204" pitchFamily="34" charset="0"/>
              <a:buChar char="•"/>
            </a:pPr>
            <a:r>
              <a:rPr lang="en" altLang="zh-CN" dirty="0"/>
              <a:t>GBDT</a:t>
            </a:r>
            <a:r>
              <a:rPr lang="zh-CN" altLang="en" dirty="0"/>
              <a:t>：</a:t>
            </a:r>
            <a:r>
              <a:rPr lang="zh-CN" altLang="en-US" dirty="0"/>
              <a:t>通过拟合</a:t>
            </a:r>
            <a:r>
              <a:rPr lang="zh-CN" altLang="en-US" b="1" dirty="0"/>
              <a:t>残差 </a:t>
            </a:r>
            <a:r>
              <a:rPr lang="en-US" altLang="zh-CN" b="1" dirty="0"/>
              <a:t>/ </a:t>
            </a:r>
            <a:r>
              <a:rPr lang="zh-CN" altLang="en-US" b="1" dirty="0"/>
              <a:t>负梯度</a:t>
            </a:r>
            <a:r>
              <a:rPr lang="zh-CN" altLang="en-US" dirty="0"/>
              <a:t>，让下一棵树修正当前模型的错误</a:t>
            </a:r>
          </a:p>
        </p:txBody>
      </p:sp>
      <p:sp>
        <p:nvSpPr>
          <p:cNvPr id="8" name="Text Box 314">
            <a:extLst>
              <a:ext uri="{FF2B5EF4-FFF2-40B4-BE49-F238E27FC236}">
                <a16:creationId xmlns:a16="http://schemas.microsoft.com/office/drawing/2014/main" id="{56C767D2-FEA6-6A4D-995D-87D3D9FA84A1}"/>
              </a:ext>
            </a:extLst>
          </p:cNvPr>
          <p:cNvSpPr txBox="1">
            <a:spLocks noChangeArrowheads="1"/>
          </p:cNvSpPr>
          <p:nvPr/>
        </p:nvSpPr>
        <p:spPr bwMode="auto">
          <a:xfrm>
            <a:off x="275523" y="3140999"/>
            <a:ext cx="7096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5400" dirty="0">
                <a:solidFill>
                  <a:srgbClr val="FF3300"/>
                </a:solidFill>
                <a:sym typeface="Wingdings" panose="05000000000000000000" pitchFamily="2" charset="2"/>
              </a:rPr>
              <a:t></a:t>
            </a:r>
            <a:endParaRPr lang="en-US" altLang="zh-CN" sz="5400" dirty="0">
              <a:solidFill>
                <a:srgbClr val="FF3300"/>
              </a:solidFill>
            </a:endParaRPr>
          </a:p>
        </p:txBody>
      </p:sp>
    </p:spTree>
    <p:extLst>
      <p:ext uri="{BB962C8B-B14F-4D97-AF65-F5344CB8AC3E}">
        <p14:creationId xmlns:p14="http://schemas.microsoft.com/office/powerpoint/2010/main" val="132462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zh-CN" altLang="en-US" dirty="0"/>
              <a:t>串行集成方法总结</a:t>
            </a:r>
          </a:p>
        </p:txBody>
      </p:sp>
      <p:graphicFrame>
        <p:nvGraphicFramePr>
          <p:cNvPr id="2" name="Diagram 1">
            <a:extLst>
              <a:ext uri="{FF2B5EF4-FFF2-40B4-BE49-F238E27FC236}">
                <a16:creationId xmlns:a16="http://schemas.microsoft.com/office/drawing/2014/main" id="{76F374E9-5557-804B-9995-92DF6D652D0C}"/>
              </a:ext>
            </a:extLst>
          </p:cNvPr>
          <p:cNvGraphicFramePr/>
          <p:nvPr>
            <p:extLst>
              <p:ext uri="{D42A27DB-BD31-4B8C-83A1-F6EECF244321}">
                <p14:modId xmlns:p14="http://schemas.microsoft.com/office/powerpoint/2010/main" val="3050815006"/>
              </p:ext>
            </p:extLst>
          </p:nvPr>
        </p:nvGraphicFramePr>
        <p:xfrm>
          <a:off x="1456267" y="96836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1A624B8-E6B6-4445-ABBE-2A794ABDA098}"/>
              </a:ext>
            </a:extLst>
          </p:cNvPr>
          <p:cNvSpPr txBox="1"/>
          <p:nvPr/>
        </p:nvSpPr>
        <p:spPr>
          <a:xfrm>
            <a:off x="3090721" y="2138278"/>
            <a:ext cx="1569660" cy="369332"/>
          </a:xfrm>
          <a:prstGeom prst="rect">
            <a:avLst/>
          </a:prstGeom>
          <a:noFill/>
        </p:spPr>
        <p:txBody>
          <a:bodyPr wrap="none" rtlCol="0">
            <a:spAutoFit/>
          </a:bodyPr>
          <a:lstStyle/>
          <a:p>
            <a:pPr algn="l"/>
            <a:r>
              <a:rPr lang="en-US" b="1" dirty="0" err="1">
                <a:latin typeface="+mn-ea"/>
              </a:rPr>
              <a:t>自动调节权重</a:t>
            </a:r>
            <a:endParaRPr lang="en-CN" b="1" dirty="0">
              <a:latin typeface="+mn-ea"/>
            </a:endParaRPr>
          </a:p>
        </p:txBody>
      </p:sp>
      <p:sp>
        <p:nvSpPr>
          <p:cNvPr id="9" name="TextBox 8">
            <a:extLst>
              <a:ext uri="{FF2B5EF4-FFF2-40B4-BE49-F238E27FC236}">
                <a16:creationId xmlns:a16="http://schemas.microsoft.com/office/drawing/2014/main" id="{A89C4EC0-3234-9941-BC09-B49229B99DB7}"/>
              </a:ext>
            </a:extLst>
          </p:cNvPr>
          <p:cNvSpPr txBox="1"/>
          <p:nvPr/>
        </p:nvSpPr>
        <p:spPr>
          <a:xfrm>
            <a:off x="4660381" y="3244334"/>
            <a:ext cx="3260829" cy="369332"/>
          </a:xfrm>
          <a:prstGeom prst="rect">
            <a:avLst/>
          </a:prstGeom>
          <a:noFill/>
        </p:spPr>
        <p:txBody>
          <a:bodyPr wrap="none" rtlCol="0">
            <a:spAutoFit/>
          </a:bodyPr>
          <a:lstStyle/>
          <a:p>
            <a:r>
              <a:rPr lang="zh-CN" altLang="en-US" b="1" dirty="0"/>
              <a:t>损失函数的负梯度去拟合残差</a:t>
            </a:r>
            <a:endParaRPr lang="en-CN" b="1" dirty="0">
              <a:latin typeface="+mn-ea"/>
            </a:endParaRPr>
          </a:p>
        </p:txBody>
      </p:sp>
      <p:sp>
        <p:nvSpPr>
          <p:cNvPr id="3" name="TextBox 2">
            <a:extLst>
              <a:ext uri="{FF2B5EF4-FFF2-40B4-BE49-F238E27FC236}">
                <a16:creationId xmlns:a16="http://schemas.microsoft.com/office/drawing/2014/main" id="{B0C6FED6-33CE-9948-BDC6-B43960901007}"/>
              </a:ext>
            </a:extLst>
          </p:cNvPr>
          <p:cNvSpPr txBox="1"/>
          <p:nvPr/>
        </p:nvSpPr>
        <p:spPr>
          <a:xfrm>
            <a:off x="6662497" y="4631016"/>
            <a:ext cx="4073236" cy="369332"/>
          </a:xfrm>
          <a:prstGeom prst="rect">
            <a:avLst/>
          </a:prstGeom>
          <a:noFill/>
        </p:spPr>
        <p:txBody>
          <a:bodyPr wrap="square" rtlCol="0">
            <a:spAutoFit/>
          </a:bodyPr>
          <a:lstStyle/>
          <a:p>
            <a:r>
              <a:rPr lang="zh-CN" altLang="en-US" b="1" dirty="0"/>
              <a:t>在代价函数里加入了正则项等</a:t>
            </a:r>
            <a:endParaRPr lang="en-CN" b="1" dirty="0">
              <a:latin typeface="+mn-ea"/>
            </a:endParaRPr>
          </a:p>
        </p:txBody>
      </p:sp>
      <p:sp>
        <p:nvSpPr>
          <p:cNvPr id="6" name="灯片编号占位符 5">
            <a:extLst>
              <a:ext uri="{FF2B5EF4-FFF2-40B4-BE49-F238E27FC236}">
                <a16:creationId xmlns:a16="http://schemas.microsoft.com/office/drawing/2014/main" id="{ECA2132E-ED7C-4F4D-A6C1-6BF5464BAB22}"/>
              </a:ext>
            </a:extLst>
          </p:cNvPr>
          <p:cNvSpPr>
            <a:spLocks noGrp="1"/>
          </p:cNvSpPr>
          <p:nvPr>
            <p:ph type="sldNum" sz="quarter" idx="14"/>
          </p:nvPr>
        </p:nvSpPr>
        <p:spPr/>
        <p:txBody>
          <a:bodyPr/>
          <a:lstStyle/>
          <a:p>
            <a:fld id="{AF69888C-E133-43D9-A638-B5C95925B91C}" type="slidenum">
              <a:rPr lang="zh-CN" altLang="en-US" smtClean="0"/>
              <a:t>61</a:t>
            </a:fld>
            <a:endParaRPr lang="zh-CN" altLang="en-US" dirty="0"/>
          </a:p>
        </p:txBody>
      </p:sp>
    </p:spTree>
    <p:extLst>
      <p:ext uri="{BB962C8B-B14F-4D97-AF65-F5344CB8AC3E}">
        <p14:creationId xmlns:p14="http://schemas.microsoft.com/office/powerpoint/2010/main" val="11380850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2" y="265803"/>
            <a:ext cx="8547058" cy="426497"/>
          </a:xfrm>
        </p:spPr>
        <p:txBody>
          <a:bodyPr/>
          <a:lstStyle/>
          <a:p>
            <a:pPr marL="0" indent="0">
              <a:buNone/>
            </a:pPr>
            <a:r>
              <a:rPr lang="en-US" altLang="zh-CN" dirty="0"/>
              <a:t>Bagging</a:t>
            </a:r>
            <a:r>
              <a:rPr lang="zh-CN" altLang="en-US" dirty="0"/>
              <a:t>和</a:t>
            </a:r>
            <a:r>
              <a:rPr lang="en-US" altLang="zh-CN" dirty="0"/>
              <a:t>Boosting</a:t>
            </a:r>
            <a:r>
              <a:rPr lang="zh-CN" altLang="en-US" dirty="0"/>
              <a:t>总结</a:t>
            </a:r>
          </a:p>
        </p:txBody>
      </p:sp>
      <p:sp>
        <p:nvSpPr>
          <p:cNvPr id="2" name="TextBox 1">
            <a:extLst>
              <a:ext uri="{FF2B5EF4-FFF2-40B4-BE49-F238E27FC236}">
                <a16:creationId xmlns:a16="http://schemas.microsoft.com/office/drawing/2014/main" id="{1E06D0A8-481B-DC4E-AEBC-2D8E32BAC05A}"/>
              </a:ext>
            </a:extLst>
          </p:cNvPr>
          <p:cNvSpPr txBox="1"/>
          <p:nvPr/>
        </p:nvSpPr>
        <p:spPr>
          <a:xfrm>
            <a:off x="566962" y="1647041"/>
            <a:ext cx="11150905" cy="4401205"/>
          </a:xfrm>
          <a:prstGeom prst="rect">
            <a:avLst/>
          </a:prstGeom>
          <a:noFill/>
        </p:spPr>
        <p:txBody>
          <a:bodyPr wrap="square" rtlCol="0">
            <a:spAutoFit/>
          </a:bodyPr>
          <a:lstStyle/>
          <a:p>
            <a:r>
              <a:rPr lang="en-US" altLang="zh-CN" sz="2000" b="1" dirty="0"/>
              <a:t>1</a:t>
            </a:r>
            <a:r>
              <a:rPr lang="zh-CN" altLang="en-US" sz="2000" b="1" dirty="0"/>
              <a:t>）样本选择上：</a:t>
            </a:r>
          </a:p>
          <a:p>
            <a:r>
              <a:rPr lang="en-GB" sz="2000" dirty="0"/>
              <a:t>Bagging：</a:t>
            </a:r>
            <a:r>
              <a:rPr lang="zh-CN" altLang="en-US" sz="2000" dirty="0"/>
              <a:t>训练集是在原始集中有放回选取的，从原始集中选出的各轮训练集之间是独立的。</a:t>
            </a:r>
          </a:p>
          <a:p>
            <a:r>
              <a:rPr lang="en-GB" sz="2000" dirty="0"/>
              <a:t>Boosting：</a:t>
            </a:r>
            <a:r>
              <a:rPr lang="zh-CN" altLang="en-US" sz="2000" dirty="0"/>
              <a:t>每一轮的训练集不变，只是训练集中每个样例在分类器中的权重发生变化。而权值是根据上一轮的分类结果进行调整。</a:t>
            </a:r>
          </a:p>
          <a:p>
            <a:r>
              <a:rPr lang="en-US" altLang="zh-CN" sz="2000" b="1" dirty="0"/>
              <a:t>2</a:t>
            </a:r>
            <a:r>
              <a:rPr lang="zh-CN" altLang="en-US" sz="2000" b="1" dirty="0"/>
              <a:t>）样例权重：</a:t>
            </a:r>
          </a:p>
          <a:p>
            <a:r>
              <a:rPr lang="en-GB" sz="2000" dirty="0"/>
              <a:t>Bagging：</a:t>
            </a:r>
            <a:r>
              <a:rPr lang="zh-CN" altLang="en-US" sz="2000" dirty="0"/>
              <a:t>使用均匀取样，每个样例的权重相等</a:t>
            </a:r>
          </a:p>
          <a:p>
            <a:r>
              <a:rPr lang="en-GB" sz="2000" dirty="0"/>
              <a:t>Boosting：</a:t>
            </a:r>
            <a:r>
              <a:rPr lang="zh-CN" altLang="en-US" sz="2000" dirty="0"/>
              <a:t>根据错误率不断调整样例的权值，错误率越大则权重越大。</a:t>
            </a:r>
          </a:p>
          <a:p>
            <a:r>
              <a:rPr lang="en-US" altLang="zh-CN" sz="2000" b="1" dirty="0"/>
              <a:t>3</a:t>
            </a:r>
            <a:r>
              <a:rPr lang="zh-CN" altLang="en-US" sz="2000" b="1" dirty="0"/>
              <a:t>）预测函数：</a:t>
            </a:r>
          </a:p>
          <a:p>
            <a:r>
              <a:rPr lang="en-GB" sz="2000" dirty="0"/>
              <a:t>Bagging：</a:t>
            </a:r>
            <a:r>
              <a:rPr lang="zh-CN" altLang="en-US" sz="2000" dirty="0"/>
              <a:t>所有预测函数的权重相等。</a:t>
            </a:r>
          </a:p>
          <a:p>
            <a:r>
              <a:rPr lang="en-GB" sz="2000" dirty="0"/>
              <a:t>Boosting：</a:t>
            </a:r>
            <a:r>
              <a:rPr lang="zh-CN" altLang="en-US" sz="2000" dirty="0"/>
              <a:t>每个弱分类器都有相应的权重，对于分类误差小的分类器会有更大的权重。</a:t>
            </a:r>
          </a:p>
          <a:p>
            <a:r>
              <a:rPr lang="en-US" altLang="zh-CN" sz="2000" b="1" dirty="0"/>
              <a:t>4</a:t>
            </a:r>
            <a:r>
              <a:rPr lang="zh-CN" altLang="en-US" sz="2000" b="1" dirty="0"/>
              <a:t>）并行计算：</a:t>
            </a:r>
          </a:p>
          <a:p>
            <a:r>
              <a:rPr lang="en-GB" sz="2000" dirty="0"/>
              <a:t>Bagging：</a:t>
            </a:r>
            <a:r>
              <a:rPr lang="zh-CN" altLang="en-US" sz="2000" dirty="0"/>
              <a:t>各个预测函数可以并行生成。</a:t>
            </a:r>
          </a:p>
          <a:p>
            <a:r>
              <a:rPr lang="en-GB" sz="2000" dirty="0"/>
              <a:t>Boosting：</a:t>
            </a:r>
            <a:r>
              <a:rPr lang="zh-CN" altLang="en-US" sz="2000" dirty="0"/>
              <a:t>各个预测函数只能顺序生成，因为后一个模型参数需要前一轮模型的结果。</a:t>
            </a:r>
          </a:p>
          <a:p>
            <a:pPr algn="l"/>
            <a:endParaRPr lang="en-CN" sz="2000" dirty="0">
              <a:latin typeface="+mn-ea"/>
            </a:endParaRPr>
          </a:p>
        </p:txBody>
      </p:sp>
      <p:sp>
        <p:nvSpPr>
          <p:cNvPr id="5" name="矩形 2">
            <a:extLst>
              <a:ext uri="{FF2B5EF4-FFF2-40B4-BE49-F238E27FC236}">
                <a16:creationId xmlns:a16="http://schemas.microsoft.com/office/drawing/2014/main" id="{3253C821-661D-8246-BA76-428A32255A1D}"/>
              </a:ext>
            </a:extLst>
          </p:cNvPr>
          <p:cNvSpPr/>
          <p:nvPr/>
        </p:nvSpPr>
        <p:spPr>
          <a:xfrm>
            <a:off x="474133" y="1013854"/>
            <a:ext cx="10527507" cy="633187"/>
          </a:xfrm>
          <a:prstGeom prst="rect">
            <a:avLst/>
          </a:prstGeom>
        </p:spPr>
        <p:txBody>
          <a:bodyPr wrap="square">
            <a:spAutoFit/>
          </a:bodyPr>
          <a:lstStyle/>
          <a:p>
            <a:pPr marL="342900" indent="-342900">
              <a:lnSpc>
                <a:spcPct val="120000"/>
              </a:lnSpc>
              <a:buFont typeface="Wingdings" pitchFamily="2" charset="2"/>
              <a:buChar char="Ø"/>
            </a:pPr>
            <a:r>
              <a:rPr lang="zh-CN" altLang="en-US" sz="3200" spc="-10" dirty="0">
                <a:solidFill>
                  <a:schemeClr val="accent1">
                    <a:lumMod val="75000"/>
                  </a:schemeClr>
                </a:solidFill>
                <a:latin typeface="+mn-ea"/>
              </a:rPr>
              <a:t>测验：</a:t>
            </a:r>
            <a:r>
              <a:rPr lang="en-US" altLang="zh-CN" sz="3200" dirty="0"/>
              <a:t> Bagging</a:t>
            </a:r>
            <a:r>
              <a:rPr lang="zh-CN" altLang="en-US" sz="3200" dirty="0"/>
              <a:t>和</a:t>
            </a:r>
            <a:r>
              <a:rPr lang="en-US" altLang="zh-CN" sz="3200" dirty="0"/>
              <a:t>Boosting</a:t>
            </a:r>
            <a:r>
              <a:rPr lang="zh-CN" altLang="en-US" sz="3200" dirty="0"/>
              <a:t>有什么不同</a:t>
            </a:r>
            <a:endParaRPr lang="en-US" altLang="zh-CN" sz="3200" spc="-10" dirty="0">
              <a:latin typeface="+mn-ea"/>
            </a:endParaRPr>
          </a:p>
        </p:txBody>
      </p:sp>
      <p:sp>
        <p:nvSpPr>
          <p:cNvPr id="3" name="灯片编号占位符 2">
            <a:extLst>
              <a:ext uri="{FF2B5EF4-FFF2-40B4-BE49-F238E27FC236}">
                <a16:creationId xmlns:a16="http://schemas.microsoft.com/office/drawing/2014/main" id="{3EFF92B0-3F37-40EC-B5DC-C74C78F0BA43}"/>
              </a:ext>
            </a:extLst>
          </p:cNvPr>
          <p:cNvSpPr>
            <a:spLocks noGrp="1"/>
          </p:cNvSpPr>
          <p:nvPr>
            <p:ph type="sldNum" sz="quarter" idx="14"/>
          </p:nvPr>
        </p:nvSpPr>
        <p:spPr/>
        <p:txBody>
          <a:bodyPr/>
          <a:lstStyle/>
          <a:p>
            <a:fld id="{AF69888C-E133-43D9-A638-B5C95925B91C}" type="slidenum">
              <a:rPr lang="zh-CN" altLang="en-US" smtClean="0"/>
              <a:t>62</a:t>
            </a:fld>
            <a:endParaRPr lang="zh-CN" altLang="en-US" dirty="0"/>
          </a:p>
        </p:txBody>
      </p:sp>
    </p:spTree>
    <p:extLst>
      <p:ext uri="{BB962C8B-B14F-4D97-AF65-F5344CB8AC3E}">
        <p14:creationId xmlns:p14="http://schemas.microsoft.com/office/powerpoint/2010/main" val="74214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blinds(horizontal)">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blinds(horizontal)">
                                      <p:cBhvr>
                                        <p:cTn id="20" dur="500"/>
                                        <p:tgtEl>
                                          <p:spTgt spid="2">
                                            <p:txEl>
                                              <p:pRg st="4" end="4"/>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blinds(horizontal)">
                                      <p:cBhvr>
                                        <p:cTn id="23" dur="500"/>
                                        <p:tgtEl>
                                          <p:spTgt spid="2">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blinds(horizontal)">
                                      <p:cBhvr>
                                        <p:cTn id="28" dur="500"/>
                                        <p:tgtEl>
                                          <p:spTgt spid="2">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Effect transition="in" filter="blinds(horizontal)">
                                      <p:cBhvr>
                                        <p:cTn id="33" dur="500"/>
                                        <p:tgtEl>
                                          <p:spTgt spid="2">
                                            <p:txEl>
                                              <p:pRg st="7" end="7"/>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blinds(horizontal)">
                                      <p:cBhvr>
                                        <p:cTn id="36" dur="500"/>
                                        <p:tgtEl>
                                          <p:spTgt spid="2">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Effect transition="in" filter="blinds(horizontal)">
                                      <p:cBhvr>
                                        <p:cTn id="41" dur="500"/>
                                        <p:tgtEl>
                                          <p:spTgt spid="2">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
                                            <p:txEl>
                                              <p:pRg st="10" end="10"/>
                                            </p:txEl>
                                          </p:spTgt>
                                        </p:tgtEl>
                                        <p:attrNameLst>
                                          <p:attrName>style.visibility</p:attrName>
                                        </p:attrNameLst>
                                      </p:cBhvr>
                                      <p:to>
                                        <p:strVal val="visible"/>
                                      </p:to>
                                    </p:set>
                                    <p:animEffect transition="in" filter="blinds(horizontal)">
                                      <p:cBhvr>
                                        <p:cTn id="46" dur="500"/>
                                        <p:tgtEl>
                                          <p:spTgt spid="2">
                                            <p:txEl>
                                              <p:pRg st="10" end="10"/>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2">
                                            <p:txEl>
                                              <p:pRg st="11" end="11"/>
                                            </p:txEl>
                                          </p:spTgt>
                                        </p:tgtEl>
                                        <p:attrNameLst>
                                          <p:attrName>style.visibility</p:attrName>
                                        </p:attrNameLst>
                                      </p:cBhvr>
                                      <p:to>
                                        <p:strVal val="visible"/>
                                      </p:to>
                                    </p:set>
                                    <p:animEffect transition="in" filter="blinds(horizontal)">
                                      <p:cBhvr>
                                        <p:cTn id="49"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66961" y="265803"/>
            <a:ext cx="5810689" cy="426497"/>
          </a:xfrm>
        </p:spPr>
        <p:txBody>
          <a:bodyPr/>
          <a:lstStyle/>
          <a:p>
            <a:pPr marL="0" indent="0">
              <a:buNone/>
            </a:pPr>
            <a:r>
              <a:rPr lang="zh-CN" altLang="en-CN" sz="4000" dirty="0"/>
              <a:t>小结</a:t>
            </a:r>
            <a:endParaRPr lang="zh-CN" altLang="en-US" sz="4000" dirty="0"/>
          </a:p>
        </p:txBody>
      </p:sp>
      <p:sp>
        <p:nvSpPr>
          <p:cNvPr id="6" name="文本框 119">
            <a:extLst>
              <a:ext uri="{FF2B5EF4-FFF2-40B4-BE49-F238E27FC236}">
                <a16:creationId xmlns:a16="http://schemas.microsoft.com/office/drawing/2014/main" id="{7A5F2A8D-0621-4806-84DA-6ACA1BD5511E}"/>
              </a:ext>
            </a:extLst>
          </p:cNvPr>
          <p:cNvSpPr txBox="1"/>
          <p:nvPr/>
        </p:nvSpPr>
        <p:spPr>
          <a:xfrm>
            <a:off x="890903" y="1540207"/>
            <a:ext cx="10096645" cy="3190810"/>
          </a:xfrm>
          <a:prstGeom prst="rect">
            <a:avLst/>
          </a:prstGeom>
          <a:noFill/>
        </p:spPr>
        <p:txBody>
          <a:bodyPr wrap="square" rtlCol="0">
            <a:spAutoFit/>
          </a:bodyPr>
          <a:lstStyle/>
          <a:p>
            <a:pPr marL="457200" indent="-457200">
              <a:lnSpc>
                <a:spcPct val="125000"/>
              </a:lnSpc>
              <a:spcBef>
                <a:spcPts val="600"/>
              </a:spcBef>
              <a:spcAft>
                <a:spcPts val="1200"/>
              </a:spcAft>
              <a:buFont typeface="Wingdings" pitchFamily="2" charset="2"/>
              <a:buChar char="Ø"/>
            </a:pPr>
            <a:r>
              <a:rPr lang="zh-CN" altLang="en-US" sz="3200" spc="-10" dirty="0">
                <a:latin typeface="+mn-ea"/>
              </a:rPr>
              <a:t>理解集成学习框架和思路</a:t>
            </a:r>
            <a:endParaRPr lang="en-US" altLang="zh-CN" sz="3200" spc="-10" dirty="0">
              <a:latin typeface="+mn-ea"/>
            </a:endParaRPr>
          </a:p>
          <a:p>
            <a:pPr marL="457200" indent="-457200">
              <a:lnSpc>
                <a:spcPct val="125000"/>
              </a:lnSpc>
              <a:spcBef>
                <a:spcPts val="600"/>
              </a:spcBef>
              <a:spcAft>
                <a:spcPts val="1200"/>
              </a:spcAft>
              <a:buFont typeface="Wingdings" pitchFamily="2" charset="2"/>
              <a:buChar char="Ø"/>
            </a:pPr>
            <a:r>
              <a:rPr lang="zh-CN" altLang="en-US" sz="3200" spc="-10" dirty="0">
                <a:latin typeface="+mn-ea"/>
              </a:rPr>
              <a:t>掌握</a:t>
            </a:r>
            <a:r>
              <a:rPr lang="en-US" altLang="zh-CN" sz="3200" spc="-10" dirty="0">
                <a:latin typeface="+mn-ea"/>
              </a:rPr>
              <a:t>Bagging</a:t>
            </a:r>
            <a:r>
              <a:rPr lang="zh-CN" altLang="en-US" sz="3200" spc="-10" dirty="0">
                <a:latin typeface="+mn-ea"/>
              </a:rPr>
              <a:t>和随机森林的集成方法</a:t>
            </a:r>
            <a:endParaRPr lang="en-US" altLang="zh-CN" sz="3200" spc="-10" dirty="0">
              <a:latin typeface="+mn-ea"/>
            </a:endParaRPr>
          </a:p>
          <a:p>
            <a:pPr marL="457200" indent="-457200">
              <a:lnSpc>
                <a:spcPct val="125000"/>
              </a:lnSpc>
              <a:spcBef>
                <a:spcPts val="600"/>
              </a:spcBef>
              <a:spcAft>
                <a:spcPts val="1200"/>
              </a:spcAft>
              <a:buFont typeface="Wingdings" pitchFamily="2" charset="2"/>
              <a:buChar char="Ø"/>
            </a:pPr>
            <a:r>
              <a:rPr lang="zh-CN" altLang="en-CN" sz="3200" spc="-10" dirty="0">
                <a:latin typeface="+mn-ea"/>
              </a:rPr>
              <a:t>掌握</a:t>
            </a:r>
            <a:r>
              <a:rPr lang="en-US" altLang="zh-CN" sz="3200" spc="-10" dirty="0">
                <a:latin typeface="+mn-ea"/>
              </a:rPr>
              <a:t>AdaBoost</a:t>
            </a:r>
            <a:r>
              <a:rPr lang="zh-CN" altLang="en-US" sz="3200" spc="-10" dirty="0">
                <a:latin typeface="+mn-ea"/>
              </a:rPr>
              <a:t>的工作流程：权重的计算，分类误差</a:t>
            </a:r>
            <a:endParaRPr lang="en-US" altLang="zh-CN" sz="3200" spc="-10" dirty="0">
              <a:latin typeface="+mn-ea"/>
            </a:endParaRPr>
          </a:p>
          <a:p>
            <a:pPr marL="457200" indent="-457200">
              <a:lnSpc>
                <a:spcPct val="125000"/>
              </a:lnSpc>
              <a:spcBef>
                <a:spcPts val="600"/>
              </a:spcBef>
              <a:spcAft>
                <a:spcPts val="1200"/>
              </a:spcAft>
              <a:buFont typeface="Wingdings" pitchFamily="2" charset="2"/>
              <a:buChar char="Ø"/>
            </a:pPr>
            <a:r>
              <a:rPr lang="zh-CN" altLang="en-US" sz="3200" spc="-10" dirty="0">
                <a:latin typeface="+mn-ea"/>
              </a:rPr>
              <a:t>理解</a:t>
            </a:r>
            <a:r>
              <a:rPr lang="en-US" altLang="zh-CN" sz="3200" spc="-10" dirty="0">
                <a:latin typeface="+mn-ea"/>
              </a:rPr>
              <a:t>Gradient</a:t>
            </a:r>
            <a:r>
              <a:rPr lang="zh-CN" altLang="en-US" sz="3200" spc="-10" dirty="0">
                <a:latin typeface="+mn-ea"/>
              </a:rPr>
              <a:t> </a:t>
            </a:r>
            <a:r>
              <a:rPr lang="en-US" altLang="zh-CN" sz="3200" spc="-10" dirty="0">
                <a:latin typeface="+mn-ea"/>
              </a:rPr>
              <a:t>Boosting</a:t>
            </a:r>
            <a:r>
              <a:rPr lang="zh-CN" altLang="en-US" sz="3200" spc="-10" dirty="0">
                <a:latin typeface="+mn-ea"/>
              </a:rPr>
              <a:t>的思想</a:t>
            </a:r>
            <a:endParaRPr lang="en-US" altLang="zh-CN" sz="3200" spc="-10" dirty="0">
              <a:latin typeface="+mn-ea"/>
            </a:endParaRPr>
          </a:p>
        </p:txBody>
      </p:sp>
      <p:sp>
        <p:nvSpPr>
          <p:cNvPr id="2" name="灯片编号占位符 1">
            <a:extLst>
              <a:ext uri="{FF2B5EF4-FFF2-40B4-BE49-F238E27FC236}">
                <a16:creationId xmlns:a16="http://schemas.microsoft.com/office/drawing/2014/main" id="{0D136FB2-A4FB-4376-9196-F11DEBD15B1C}"/>
              </a:ext>
            </a:extLst>
          </p:cNvPr>
          <p:cNvSpPr>
            <a:spLocks noGrp="1"/>
          </p:cNvSpPr>
          <p:nvPr>
            <p:ph type="sldNum" sz="quarter" idx="14"/>
          </p:nvPr>
        </p:nvSpPr>
        <p:spPr/>
        <p:txBody>
          <a:bodyPr/>
          <a:lstStyle/>
          <a:p>
            <a:fld id="{AF69888C-E133-43D9-A638-B5C95925B91C}" type="slidenum">
              <a:rPr lang="zh-CN" altLang="en-US" smtClean="0"/>
              <a:t>63</a:t>
            </a:fld>
            <a:endParaRPr lang="zh-CN" altLang="en-US" dirty="0"/>
          </a:p>
        </p:txBody>
      </p:sp>
    </p:spTree>
    <p:extLst>
      <p:ext uri="{BB962C8B-B14F-4D97-AF65-F5344CB8AC3E}">
        <p14:creationId xmlns:p14="http://schemas.microsoft.com/office/powerpoint/2010/main" val="22190791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华科模板">
      <a:dk1>
        <a:sysClr val="windowText" lastClr="000000"/>
      </a:dk1>
      <a:lt1>
        <a:sysClr val="window" lastClr="FFFFFF"/>
      </a:lt1>
      <a:dk2>
        <a:srgbClr val="44546A"/>
      </a:dk2>
      <a:lt2>
        <a:srgbClr val="E7E6E6"/>
      </a:lt2>
      <a:accent1>
        <a:srgbClr val="006BCC"/>
      </a:accent1>
      <a:accent2>
        <a:srgbClr val="01E6C0"/>
      </a:accent2>
      <a:accent3>
        <a:srgbClr val="A5A5A5"/>
      </a:accent3>
      <a:accent4>
        <a:srgbClr val="FFC000"/>
      </a:accent4>
      <a:accent5>
        <a:srgbClr val="5B9BD5"/>
      </a:accent5>
      <a:accent6>
        <a:srgbClr val="70AD47"/>
      </a:accent6>
      <a:hlink>
        <a:srgbClr val="0563C1"/>
      </a:hlink>
      <a:folHlink>
        <a:srgbClr val="954F72"/>
      </a:folHlink>
    </a:clrScheme>
    <a:fontScheme name="华科模板">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35199</TotalTime>
  <Words>7820</Words>
  <Application>Microsoft Macintosh PowerPoint</Application>
  <PresentationFormat>宽屏</PresentationFormat>
  <Paragraphs>998</Paragraphs>
  <Slides>63</Slides>
  <Notes>49</Notes>
  <HiddenSlides>0</HiddenSlides>
  <MMClips>1</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63</vt:i4>
      </vt:variant>
    </vt:vector>
  </HeadingPairs>
  <TitlesOfParts>
    <vt:vector size="83" baseType="lpstr">
      <vt:lpstr>-apple-system</vt:lpstr>
      <vt:lpstr>等线</vt:lpstr>
      <vt:lpstr>方正大黑简体</vt:lpstr>
      <vt:lpstr>Microsoft YaHei</vt:lpstr>
      <vt:lpstr>Microsoft YaHei</vt:lpstr>
      <vt:lpstr>Arial</vt:lpstr>
      <vt:lpstr>Bodoni MT</vt:lpstr>
      <vt:lpstr>Calibri</vt:lpstr>
      <vt:lpstr>Cambria</vt:lpstr>
      <vt:lpstr>Cambria Math</vt:lpstr>
      <vt:lpstr>Century Gothic</vt:lpstr>
      <vt:lpstr>Helvetica</vt:lpstr>
      <vt:lpstr>Impact</vt:lpstr>
      <vt:lpstr>Segoe UI</vt:lpstr>
      <vt:lpstr>Segoe UI Light</vt:lpstr>
      <vt:lpstr>Symbol</vt:lpstr>
      <vt:lpstr>Times New Roman</vt:lpstr>
      <vt:lpstr>Wingdings</vt:lpstr>
      <vt:lpstr>Office 主题​​</vt:lpstr>
      <vt:lpstr>1_OfficePLUS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越 李</dc:creator>
  <cp:lastModifiedBy>Microsoft Office User</cp:lastModifiedBy>
  <cp:revision>1280</cp:revision>
  <dcterms:created xsi:type="dcterms:W3CDTF">2018-12-23T08:46:10Z</dcterms:created>
  <dcterms:modified xsi:type="dcterms:W3CDTF">2025-11-19T07:16:59Z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2019-04-13T04:11:03.2251178Z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a7992e6a-8a3a-4a97-ad53-c673d0603080</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