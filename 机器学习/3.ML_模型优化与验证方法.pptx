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6" r:id="rId2"/>
  </p:sldMasterIdLst>
  <p:notesMasterIdLst>
    <p:notesMasterId r:id="rId48"/>
  </p:notesMasterIdLst>
  <p:handoutMasterIdLst>
    <p:handoutMasterId r:id="rId49"/>
  </p:handoutMasterIdLst>
  <p:sldIdLst>
    <p:sldId id="345" r:id="rId3"/>
    <p:sldId id="376" r:id="rId4"/>
    <p:sldId id="380" r:id="rId5"/>
    <p:sldId id="381" r:id="rId6"/>
    <p:sldId id="382" r:id="rId7"/>
    <p:sldId id="383" r:id="rId8"/>
    <p:sldId id="384" r:id="rId9"/>
    <p:sldId id="385" r:id="rId10"/>
    <p:sldId id="386" r:id="rId11"/>
    <p:sldId id="387" r:id="rId12"/>
    <p:sldId id="388" r:id="rId13"/>
    <p:sldId id="389" r:id="rId14"/>
    <p:sldId id="390" r:id="rId15"/>
    <p:sldId id="391" r:id="rId16"/>
    <p:sldId id="392" r:id="rId17"/>
    <p:sldId id="393" r:id="rId18"/>
    <p:sldId id="394" r:id="rId19"/>
    <p:sldId id="413" r:id="rId20"/>
    <p:sldId id="377" r:id="rId21"/>
    <p:sldId id="395" r:id="rId22"/>
    <p:sldId id="396" r:id="rId23"/>
    <p:sldId id="400" r:id="rId24"/>
    <p:sldId id="401" r:id="rId25"/>
    <p:sldId id="397" r:id="rId26"/>
    <p:sldId id="402" r:id="rId27"/>
    <p:sldId id="378" r:id="rId28"/>
    <p:sldId id="403" r:id="rId29"/>
    <p:sldId id="404" r:id="rId30"/>
    <p:sldId id="405" r:id="rId31"/>
    <p:sldId id="406" r:id="rId32"/>
    <p:sldId id="408" r:id="rId33"/>
    <p:sldId id="407" r:id="rId34"/>
    <p:sldId id="379" r:id="rId35"/>
    <p:sldId id="415" r:id="rId36"/>
    <p:sldId id="416" r:id="rId37"/>
    <p:sldId id="414" r:id="rId38"/>
    <p:sldId id="417" r:id="rId39"/>
    <p:sldId id="418" r:id="rId40"/>
    <p:sldId id="419" r:id="rId41"/>
    <p:sldId id="420" r:id="rId42"/>
    <p:sldId id="409" r:id="rId43"/>
    <p:sldId id="410" r:id="rId44"/>
    <p:sldId id="411" r:id="rId45"/>
    <p:sldId id="349" r:id="rId46"/>
    <p:sldId id="412" r:id="rId47"/>
  </p:sldIdLst>
  <p:sldSz cx="12192000" cy="6858000"/>
  <p:notesSz cx="6858000" cy="9144000"/>
  <p:custDataLst>
    <p:tags r:id="rId5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越 李" initials="越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432FF"/>
    <a:srgbClr val="85C5FF"/>
    <a:srgbClr val="FFFFFF"/>
    <a:srgbClr val="898989"/>
    <a:srgbClr val="E600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138" autoAdjust="0"/>
    <p:restoredTop sz="89448" autoAdjust="0"/>
  </p:normalViewPr>
  <p:slideViewPr>
    <p:cSldViewPr snapToGrid="0">
      <p:cViewPr varScale="1">
        <p:scale>
          <a:sx n="94" d="100"/>
          <a:sy n="94" d="100"/>
        </p:scale>
        <p:origin x="1272" y="23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5" d="100"/>
          <a:sy n="45" d="100"/>
        </p:scale>
        <p:origin x="1892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tags" Target="tags/tag1.xml"/><Relationship Id="rId55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commentAuthors" Target="commentAuthor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A445A5-EAEA-471A-A764-D02BDE2350C3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86B029-1D43-47DC-AA71-792A293130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BA2A3E-3786-4FE7-BA9C-4C7CD2D5C4D8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85D5D6-4E3F-411C-8722-AE80321700F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png"/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www.515ppt.com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036312-6A05-4643-B813-780AEBCA5446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接触机器学习常用的名词、术语等</a:t>
            </a:r>
            <a:endParaRPr lang="en-US" altLang="zh-CN" dirty="0"/>
          </a:p>
          <a:p>
            <a:r>
              <a:rPr lang="zh-CN" altLang="en-US" dirty="0"/>
              <a:t>能否在有限样本和有限计算下找到</a:t>
            </a:r>
            <a:r>
              <a:rPr lang="zh-CN" altLang="en-US" b="1" dirty="0"/>
              <a:t>泛化最好的模型</a:t>
            </a:r>
            <a:r>
              <a:rPr lang="zh-CN" altLang="en-US" dirty="0"/>
              <a:t>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036312-6A05-4643-B813-780AEBCA5446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在大数据与</a:t>
            </a:r>
            <a:r>
              <a:rPr lang="en" altLang="zh-CN" dirty="0" err="1"/>
              <a:t>AutoML</a:t>
            </a:r>
            <a:r>
              <a:rPr lang="zh-CN" altLang="en-US" dirty="0"/>
              <a:t>时代，模型选择不再人工完成，而由超参数搜索与验证框架（如</a:t>
            </a:r>
            <a:r>
              <a:rPr lang="en" altLang="zh-CN" dirty="0" err="1"/>
              <a:t>Optuna</a:t>
            </a:r>
            <a:r>
              <a:rPr lang="zh-CN" altLang="en" dirty="0"/>
              <a:t>、</a:t>
            </a:r>
            <a:r>
              <a:rPr lang="en" altLang="zh-CN" dirty="0"/>
              <a:t>Ray Tune</a:t>
            </a:r>
            <a:r>
              <a:rPr lang="zh-CN" altLang="en" dirty="0"/>
              <a:t>）</a:t>
            </a:r>
            <a:r>
              <a:rPr lang="zh-CN" altLang="en-US" dirty="0"/>
              <a:t>自动完成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5D6-4E3F-411C-8722-AE80321700F2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5D6-4E3F-411C-8722-AE80321700F2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5D6-4E3F-411C-8722-AE80321700F2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5D6-4E3F-411C-8722-AE80321700F2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5D6-4E3F-411C-8722-AE80321700F2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5D6-4E3F-411C-8722-AE80321700F2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5D6-4E3F-411C-8722-AE80321700F2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5D6-4E3F-411C-8722-AE80321700F2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5D6-4E3F-411C-8722-AE80321700F2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5D6-4E3F-411C-8722-AE80321700F2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5D6-4E3F-411C-8722-AE80321700F2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5D6-4E3F-411C-8722-AE80321700F2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5D6-4E3F-411C-8722-AE80321700F2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5D6-4E3F-411C-8722-AE80321700F2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5D6-4E3F-411C-8722-AE80321700F2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5D6-4E3F-411C-8722-AE80321700F2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过拟合不是模型错误，而是</a:t>
            </a:r>
            <a:r>
              <a:rPr lang="zh-CN" altLang="en-US" b="1" dirty="0"/>
              <a:t>学习系统资源分配失衡</a:t>
            </a:r>
            <a:r>
              <a:rPr lang="zh-CN" altLang="en-US" dirty="0"/>
              <a:t>：记忆太多、概括太少。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5D6-4E3F-411C-8722-AE80321700F2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5D6-4E3F-411C-8722-AE80321700F2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5D6-4E3F-411C-8722-AE80321700F2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5D6-4E3F-411C-8722-AE80321700F2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5D6-4E3F-411C-8722-AE80321700F2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5D6-4E3F-411C-8722-AE80321700F2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5D6-4E3F-411C-8722-AE80321700F2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5D6-4E3F-411C-8722-AE80321700F2}" type="slidenum">
              <a:rPr lang="zh-CN" altLang="en-US" smtClean="0"/>
              <a:t>26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5D6-4E3F-411C-8722-AE80321700F2}" type="slidenum">
              <a:rPr lang="zh-CN" altLang="en-US" smtClean="0"/>
              <a:t>27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5D6-4E3F-411C-8722-AE80321700F2}" type="slidenum">
              <a:rPr lang="zh-CN" altLang="en-US" smtClean="0"/>
              <a:t>28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5D6-4E3F-411C-8722-AE80321700F2}" type="slidenum">
              <a:rPr lang="zh-CN" altLang="en-US" smtClean="0"/>
              <a:t>29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5D6-4E3F-411C-8722-AE80321700F2}" type="slidenum">
              <a:rPr lang="zh-CN" altLang="en-US" smtClean="0"/>
              <a:t>30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5D6-4E3F-411C-8722-AE80321700F2}" type="slidenum">
              <a:rPr lang="zh-CN" altLang="en-US" smtClean="0"/>
              <a:t>31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5D6-4E3F-411C-8722-AE80321700F2}" type="slidenum">
              <a:rPr lang="zh-CN" altLang="en-US" smtClean="0"/>
              <a:t>32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5D6-4E3F-411C-8722-AE80321700F2}" type="slidenum">
              <a:rPr lang="zh-CN" altLang="en-US" smtClean="0"/>
              <a:t>33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5D6-4E3F-411C-8722-AE80321700F2}" type="slidenum">
              <a:rPr lang="zh-CN" altLang="en-US" smtClean="0"/>
              <a:t>34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5D6-4E3F-411C-8722-AE80321700F2}" type="slidenum">
              <a:rPr lang="zh-CN" altLang="en-US" smtClean="0"/>
              <a:t>35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5D6-4E3F-411C-8722-AE80321700F2}" type="slidenum">
              <a:rPr lang="zh-CN" altLang="en-US" smtClean="0"/>
              <a:t>36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变量的不确定性越大，熵也就越大，把它搞清楚所需要的信息量也就越大。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5D6-4E3F-411C-8722-AE80321700F2}" type="slidenum">
              <a:rPr lang="zh-CN" altLang="en-US" smtClean="0"/>
              <a:t>37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若样本与其猜中近邻在属性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上的距离小于其与猜错近邻的距离，则说明属性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对于区分样本是有益的，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否则，说明属性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起到负面作用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5D6-4E3F-411C-8722-AE80321700F2}" type="slidenum">
              <a:rPr lang="zh-CN" altLang="en-US" smtClean="0"/>
              <a:t>38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5D6-4E3F-411C-8722-AE80321700F2}" type="slidenum">
              <a:rPr lang="zh-CN" altLang="en-US" smtClean="0"/>
              <a:t>39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显式特征选择让位于‘自动表征学习’（</a:t>
            </a:r>
            <a:r>
              <a:rPr lang="en" altLang="zh-CN" dirty="0"/>
              <a:t>feature learning</a:t>
            </a:r>
            <a:r>
              <a:rPr lang="zh-CN" altLang="en" dirty="0"/>
              <a:t>），</a:t>
            </a:r>
            <a:br>
              <a:rPr lang="zh-CN" altLang="en" dirty="0"/>
            </a:br>
            <a:r>
              <a:rPr lang="zh-CN" altLang="en-US" dirty="0"/>
              <a:t>但特征选择思想仍是理解模型可解释性的重要基础。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5D6-4E3F-411C-8722-AE80321700F2}" type="slidenum">
              <a:rPr lang="zh-CN" altLang="en-US" smtClean="0"/>
              <a:t>40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5D6-4E3F-411C-8722-AE80321700F2}" type="slidenum">
              <a:rPr lang="zh-CN" altLang="en-US" smtClean="0"/>
              <a:t>41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CN" sz="12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altLang="zh-CN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altLang="zh-CN" sz="1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𝒟</m:t>
                        </m:r>
                      </m:e>
                    </m:d>
                    <m:r>
                      <a:rPr lang="en-US" altLang="zh-CN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𝒟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1200" i="1" spc="-10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200" i="1" spc="-1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d>
                                  <m:dPr>
                                    <m:ctrlPr>
                                      <a:rPr lang="en-US" altLang="zh-CN" sz="1200" i="1" spc="-1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200" b="1" i="1" spc="-1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  <m:r>
                                      <a:rPr lang="en-US" altLang="zh-CN" sz="1200" i="1" spc="-10">
                                        <a:latin typeface="Cambria Math" panose="02040503050406030204" pitchFamily="18" charset="0"/>
                                      </a:rPr>
                                      <m:t>;</m:t>
                                    </m:r>
                                    <m:r>
                                      <a:rPr lang="en-US" altLang="zh-CN" sz="1200" i="1" spc="-1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𝒟</m:t>
                                    </m:r>
                                  </m:e>
                                </m:d>
                                <m:r>
                                  <a:rPr lang="en-US" altLang="zh-CN" sz="1200" b="0" i="1" spc="-1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1200" b="0" i="1" spc="-1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pc="-10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𝒟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zh-CN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𝒟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1200" i="1" spc="-10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200" i="1" spc="-1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d>
                                  <m:dPr>
                                    <m:ctrlPr>
                                      <a:rPr lang="en-US" altLang="zh-CN" sz="1200" i="1" spc="-1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200" b="1" i="1" spc="-1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  <m:r>
                                      <a:rPr lang="en-US" altLang="zh-CN" sz="1200" i="1" spc="-10">
                                        <a:latin typeface="Cambria Math" panose="02040503050406030204" pitchFamily="18" charset="0"/>
                                      </a:rPr>
                                      <m:t>;</m:t>
                                    </m:r>
                                    <m:r>
                                      <a:rPr lang="en-US" altLang="zh-CN" sz="1200" i="1" spc="-1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𝒟</m:t>
                                    </m:r>
                                  </m:e>
                                </m:d>
                                <m:r>
                                  <a:rPr lang="en-US" altLang="zh-CN" sz="1200" i="1" spc="-1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1200" i="1" spc="-1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y</m:t>
                                </m:r>
                                <m:r>
                                  <a:rPr lang="en-US" altLang="zh-CN" sz="1200" b="0" i="1" spc="-1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1200" b="0" i="1" spc="-1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altLang="zh-CN" sz="1200" b="0" i="1" spc="-1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1200" b="0" i="1" spc="-1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pc="-10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𝒟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zh-CN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𝒟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1200" i="1" spc="-10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en-US" altLang="zh-CN" sz="1200" i="1" spc="-1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200" b="1" i="1" spc="-1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altLang="zh-CN" sz="1200" i="1" spc="-10"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en-US" altLang="zh-CN" sz="1200" i="1" spc="-1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𝒟</m:t>
                                </m:r>
                              </m:e>
                            </m:d>
                            <m:r>
                              <a:rPr lang="en-US" altLang="zh-CN" sz="1200" i="1" spc="-1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US" altLang="zh-CN" sz="1200" i="1" spc="-1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y</m:t>
                            </m:r>
                            <m:r>
                              <a:rPr lang="en-US" altLang="zh-CN" sz="1200" b="0" i="1" spc="-1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CN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+2</m:t>
                    </m:r>
                    <m:sSub>
                      <m:sSubPr>
                        <m:ctrlP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𝒟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CN" sz="1200" b="0" i="1" spc="-1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zh-CN" sz="1200" b="0" i="1" spc="-1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200" i="1" spc="-10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en-US" altLang="zh-CN" sz="1200" i="1" spc="-1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200" b="1" i="1" spc="-1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altLang="zh-CN" sz="1200" i="1" spc="-10"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en-US" altLang="zh-CN" sz="1200" i="1" spc="-1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𝒟</m:t>
                                </m:r>
                              </m:e>
                            </m:d>
                            <m:r>
                              <a:rPr lang="en-US" altLang="zh-CN" sz="1200" i="1" spc="-1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US" altLang="zh-CN" sz="1200" i="1" spc="-1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y</m:t>
                            </m:r>
                          </m:e>
                        </m:d>
                        <m:d>
                          <m:dPr>
                            <m:ctrlPr>
                              <a:rPr lang="en-US" altLang="zh-CN" sz="1200" b="0" i="1" spc="-1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200" b="0" i="1" spc="-1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CN" sz="1200" b="0" i="1" spc="-1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1200" b="0" i="1" spc="-1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b="0" i="1" spc="-1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𝒟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altLang="zh-CN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𝔼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𝒟</m:t>
                            </m:r>
                          </m:sub>
                        </m:sSub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d>
                          <m:dPr>
                            <m:ctrlPr>
                              <a:rPr lang="en-US" altLang="zh-CN" sz="1200" i="1" spc="-10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200" b="0" i="1" spc="-1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CN" sz="1200" b="0" i="1" spc="-1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1200" b="0" i="1" spc="-1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b="0" i="1" spc="-1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𝒟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]</a:t>
                </a:r>
                <a:r>
                  <a:rPr lang="en-US" altLang="zh-CN" sz="1200" b="0" i="0" kern="1200" baseline="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𝒟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1200" i="1" spc="-10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en-US" altLang="zh-CN" sz="1200" i="1" spc="-1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200" b="1" i="1" spc="-1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altLang="zh-CN" sz="1200" i="1" spc="-10"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en-US" altLang="zh-CN" sz="1200" i="1" spc="-1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𝒟</m:t>
                                </m:r>
                              </m:e>
                            </m:d>
                            <m:r>
                              <a:rPr lang="en-US" altLang="zh-CN" sz="1200" i="1" spc="-1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US" altLang="zh-CN" sz="1200" i="1" spc="-1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y</m:t>
                            </m:r>
                            <m:r>
                              <a:rPr lang="en-US" altLang="zh-CN" sz="1200" b="0" i="1" spc="-1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CN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p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zh-CN" alt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备注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5D6-4E3F-411C-8722-AE80321700F2}" type="slidenum">
              <a:rPr lang="zh-CN" altLang="en-US" smtClean="0"/>
              <a:t>42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在训练数据上表现得好那不是真的好，模型最终是希望对未知数据进行可靠地预测，预测得准才是真的准。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5D6-4E3F-411C-8722-AE80321700F2}" type="slidenum">
              <a:rPr lang="zh-CN" altLang="en-US" smtClean="0"/>
              <a:t>43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5D6-4E3F-411C-8722-AE80321700F2}" type="slidenum">
              <a:rPr lang="zh-CN" altLang="en-US" smtClean="0"/>
              <a:t>44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5D6-4E3F-411C-8722-AE80321700F2}" type="slidenum">
              <a:rPr lang="zh-CN" altLang="en-US" smtClean="0"/>
              <a:t>45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png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图片占位符 10"/>
          <p:cNvSpPr>
            <a:spLocks noGrp="1"/>
          </p:cNvSpPr>
          <p:nvPr>
            <p:ph type="pic" sz="quarter" idx="10"/>
          </p:nvPr>
        </p:nvSpPr>
        <p:spPr>
          <a:xfrm>
            <a:off x="6772750" y="0"/>
            <a:ext cx="5419250" cy="6858000"/>
          </a:xfrm>
          <a:custGeom>
            <a:avLst/>
            <a:gdLst>
              <a:gd name="connsiteX0" fmla="*/ 3429000 w 5419250"/>
              <a:gd name="connsiteY0" fmla="*/ 0 h 6858000"/>
              <a:gd name="connsiteX1" fmla="*/ 5419250 w 5419250"/>
              <a:gd name="connsiteY1" fmla="*/ 0 h 6858000"/>
              <a:gd name="connsiteX2" fmla="*/ 5419250 w 5419250"/>
              <a:gd name="connsiteY2" fmla="*/ 6858000 h 6858000"/>
              <a:gd name="connsiteX3" fmla="*/ 3429000 w 5419250"/>
              <a:gd name="connsiteY3" fmla="*/ 6858000 h 6858000"/>
              <a:gd name="connsiteX4" fmla="*/ 0 w 5419250"/>
              <a:gd name="connsiteY4" fmla="*/ 3429000 h 6858000"/>
              <a:gd name="connsiteX5" fmla="*/ 3429000 w 541925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19250" h="6858000">
                <a:moveTo>
                  <a:pt x="3429000" y="0"/>
                </a:moveTo>
                <a:lnTo>
                  <a:pt x="5419250" y="0"/>
                </a:lnTo>
                <a:lnTo>
                  <a:pt x="5419250" y="6858000"/>
                </a:lnTo>
                <a:lnTo>
                  <a:pt x="3429000" y="6858000"/>
                </a:lnTo>
                <a:cubicBezTo>
                  <a:pt x="1535216" y="6858000"/>
                  <a:pt x="0" y="5322784"/>
                  <a:pt x="0" y="3429000"/>
                </a:cubicBezTo>
                <a:cubicBezTo>
                  <a:pt x="0" y="1535216"/>
                  <a:pt x="1535216" y="0"/>
                  <a:pt x="3429000" y="0"/>
                </a:cubicBezTo>
                <a:close/>
              </a:path>
            </a:pathLst>
          </a:custGeom>
          <a:ln w="31750">
            <a:noFill/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660400" y="478901"/>
            <a:ext cx="2073175" cy="454750"/>
            <a:chOff x="660400" y="478901"/>
            <a:chExt cx="2073175" cy="454750"/>
          </a:xfrm>
        </p:grpSpPr>
        <p:grpSp>
          <p:nvGrpSpPr>
            <p:cNvPr id="18" name="组合 17"/>
            <p:cNvGrpSpPr/>
            <p:nvPr/>
          </p:nvGrpSpPr>
          <p:grpSpPr>
            <a:xfrm>
              <a:off x="1398488" y="519026"/>
              <a:ext cx="1335087" cy="374499"/>
              <a:chOff x="10078451" y="394099"/>
              <a:chExt cx="1440449" cy="387474"/>
            </a:xfrm>
            <a:solidFill>
              <a:srgbClr val="E60012"/>
            </a:solidFill>
          </p:grpSpPr>
          <p:sp>
            <p:nvSpPr>
              <p:cNvPr id="83" name="ïṡľïďè"/>
              <p:cNvSpPr/>
              <p:nvPr/>
            </p:nvSpPr>
            <p:spPr bwMode="auto">
              <a:xfrm>
                <a:off x="10078451" y="394099"/>
                <a:ext cx="1433740" cy="292284"/>
              </a:xfrm>
              <a:custGeom>
                <a:avLst/>
                <a:gdLst>
                  <a:gd name="T0" fmla="*/ 523 w 6923"/>
                  <a:gd name="T1" fmla="*/ 1078 h 1409"/>
                  <a:gd name="T2" fmla="*/ 189 w 6923"/>
                  <a:gd name="T3" fmla="*/ 1075 h 1409"/>
                  <a:gd name="T4" fmla="*/ 2 w 6923"/>
                  <a:gd name="T5" fmla="*/ 889 h 1409"/>
                  <a:gd name="T6" fmla="*/ 314 w 6923"/>
                  <a:gd name="T7" fmla="*/ 691 h 1409"/>
                  <a:gd name="T8" fmla="*/ 452 w 6923"/>
                  <a:gd name="T9" fmla="*/ 544 h 1409"/>
                  <a:gd name="T10" fmla="*/ 258 w 6923"/>
                  <a:gd name="T11" fmla="*/ 328 h 1409"/>
                  <a:gd name="T12" fmla="*/ 826 w 6923"/>
                  <a:gd name="T13" fmla="*/ 103 h 1409"/>
                  <a:gd name="T14" fmla="*/ 928 w 6923"/>
                  <a:gd name="T15" fmla="*/ 462 h 1409"/>
                  <a:gd name="T16" fmla="*/ 667 w 6923"/>
                  <a:gd name="T17" fmla="*/ 985 h 1409"/>
                  <a:gd name="T18" fmla="*/ 6342 w 6923"/>
                  <a:gd name="T19" fmla="*/ 1286 h 1409"/>
                  <a:gd name="T20" fmla="*/ 6191 w 6923"/>
                  <a:gd name="T21" fmla="*/ 1050 h 1409"/>
                  <a:gd name="T22" fmla="*/ 6430 w 6923"/>
                  <a:gd name="T23" fmla="*/ 618 h 1409"/>
                  <a:gd name="T24" fmla="*/ 6546 w 6923"/>
                  <a:gd name="T25" fmla="*/ 448 h 1409"/>
                  <a:gd name="T26" fmla="*/ 6173 w 6923"/>
                  <a:gd name="T27" fmla="*/ 498 h 1409"/>
                  <a:gd name="T28" fmla="*/ 6004 w 6923"/>
                  <a:gd name="T29" fmla="*/ 161 h 1409"/>
                  <a:gd name="T30" fmla="*/ 6320 w 6923"/>
                  <a:gd name="T31" fmla="*/ 153 h 1409"/>
                  <a:gd name="T32" fmla="*/ 6898 w 6923"/>
                  <a:gd name="T33" fmla="*/ 189 h 1409"/>
                  <a:gd name="T34" fmla="*/ 6586 w 6923"/>
                  <a:gd name="T35" fmla="*/ 706 h 1409"/>
                  <a:gd name="T36" fmla="*/ 6514 w 6923"/>
                  <a:gd name="T37" fmla="*/ 1373 h 1409"/>
                  <a:gd name="T38" fmla="*/ 1226 w 6923"/>
                  <a:gd name="T39" fmla="*/ 755 h 1409"/>
                  <a:gd name="T40" fmla="*/ 1495 w 6923"/>
                  <a:gd name="T41" fmla="*/ 221 h 1409"/>
                  <a:gd name="T42" fmla="*/ 1999 w 6923"/>
                  <a:gd name="T43" fmla="*/ 410 h 1409"/>
                  <a:gd name="T44" fmla="*/ 1624 w 6923"/>
                  <a:gd name="T45" fmla="*/ 1343 h 1409"/>
                  <a:gd name="T46" fmla="*/ 2852 w 6923"/>
                  <a:gd name="T47" fmla="*/ 894 h 1409"/>
                  <a:gd name="T48" fmla="*/ 2884 w 6923"/>
                  <a:gd name="T49" fmla="*/ 724 h 1409"/>
                  <a:gd name="T50" fmla="*/ 3150 w 6923"/>
                  <a:gd name="T51" fmla="*/ 461 h 1409"/>
                  <a:gd name="T52" fmla="*/ 4799 w 6923"/>
                  <a:gd name="T53" fmla="*/ 1178 h 1409"/>
                  <a:gd name="T54" fmla="*/ 5174 w 6923"/>
                  <a:gd name="T55" fmla="*/ 690 h 1409"/>
                  <a:gd name="T56" fmla="*/ 5399 w 6923"/>
                  <a:gd name="T57" fmla="*/ 673 h 1409"/>
                  <a:gd name="T58" fmla="*/ 4800 w 6923"/>
                  <a:gd name="T59" fmla="*/ 1198 h 1409"/>
                  <a:gd name="T60" fmla="*/ 3740 w 6923"/>
                  <a:gd name="T61" fmla="*/ 709 h 1409"/>
                  <a:gd name="T62" fmla="*/ 3758 w 6923"/>
                  <a:gd name="T63" fmla="*/ 490 h 1409"/>
                  <a:gd name="T64" fmla="*/ 3959 w 6923"/>
                  <a:gd name="T65" fmla="*/ 248 h 1409"/>
                  <a:gd name="T66" fmla="*/ 4005 w 6923"/>
                  <a:gd name="T67" fmla="*/ 700 h 1409"/>
                  <a:gd name="T68" fmla="*/ 3979 w 6923"/>
                  <a:gd name="T69" fmla="*/ 517 h 1409"/>
                  <a:gd name="T70" fmla="*/ 4317 w 6923"/>
                  <a:gd name="T71" fmla="*/ 179 h 1409"/>
                  <a:gd name="T72" fmla="*/ 4287 w 6923"/>
                  <a:gd name="T73" fmla="*/ 341 h 1409"/>
                  <a:gd name="T74" fmla="*/ 4265 w 6923"/>
                  <a:gd name="T75" fmla="*/ 1056 h 1409"/>
                  <a:gd name="T76" fmla="*/ 5565 w 6923"/>
                  <a:gd name="T77" fmla="*/ 1137 h 1409"/>
                  <a:gd name="T78" fmla="*/ 5504 w 6923"/>
                  <a:gd name="T79" fmla="*/ 976 h 1409"/>
                  <a:gd name="T80" fmla="*/ 5472 w 6923"/>
                  <a:gd name="T81" fmla="*/ 940 h 1409"/>
                  <a:gd name="T82" fmla="*/ 5385 w 6923"/>
                  <a:gd name="T83" fmla="*/ 847 h 1409"/>
                  <a:gd name="T84" fmla="*/ 5325 w 6923"/>
                  <a:gd name="T85" fmla="*/ 796 h 1409"/>
                  <a:gd name="T86" fmla="*/ 5445 w 6923"/>
                  <a:gd name="T87" fmla="*/ 1109 h 1409"/>
                  <a:gd name="T88" fmla="*/ 2708 w 6923"/>
                  <a:gd name="T89" fmla="*/ 709 h 1409"/>
                  <a:gd name="T90" fmla="*/ 2565 w 6923"/>
                  <a:gd name="T91" fmla="*/ 422 h 1409"/>
                  <a:gd name="T92" fmla="*/ 2483 w 6923"/>
                  <a:gd name="T93" fmla="*/ 856 h 1409"/>
                  <a:gd name="T94" fmla="*/ 2525 w 6923"/>
                  <a:gd name="T95" fmla="*/ 1010 h 1409"/>
                  <a:gd name="T96" fmla="*/ 336 w 6923"/>
                  <a:gd name="T97" fmla="*/ 999 h 1409"/>
                  <a:gd name="T98" fmla="*/ 684 w 6923"/>
                  <a:gd name="T99" fmla="*/ 769 h 1409"/>
                  <a:gd name="T100" fmla="*/ 665 w 6923"/>
                  <a:gd name="T101" fmla="*/ 676 h 1409"/>
                  <a:gd name="T102" fmla="*/ 1654 w 6923"/>
                  <a:gd name="T103" fmla="*/ 672 h 1409"/>
                  <a:gd name="T104" fmla="*/ 2432 w 6923"/>
                  <a:gd name="T105" fmla="*/ 378 h 1409"/>
                  <a:gd name="T106" fmla="*/ 2390 w 6923"/>
                  <a:gd name="T107" fmla="*/ 368 h 1409"/>
                  <a:gd name="T108" fmla="*/ 767 w 6923"/>
                  <a:gd name="T109" fmla="*/ 280 h 1409"/>
                  <a:gd name="T110" fmla="*/ 767 w 6923"/>
                  <a:gd name="T111" fmla="*/ 272 h 14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6923" h="1409">
                    <a:moveTo>
                      <a:pt x="568" y="1409"/>
                    </a:moveTo>
                    <a:cubicBezTo>
                      <a:pt x="563" y="1396"/>
                      <a:pt x="563" y="1396"/>
                      <a:pt x="542" y="1377"/>
                    </a:cubicBezTo>
                    <a:cubicBezTo>
                      <a:pt x="539" y="1337"/>
                      <a:pt x="536" y="1297"/>
                      <a:pt x="535" y="1258"/>
                    </a:cubicBezTo>
                    <a:cubicBezTo>
                      <a:pt x="531" y="1257"/>
                      <a:pt x="527" y="1257"/>
                      <a:pt x="523" y="1257"/>
                    </a:cubicBezTo>
                    <a:cubicBezTo>
                      <a:pt x="532" y="1192"/>
                      <a:pt x="529" y="1154"/>
                      <a:pt x="525" y="1101"/>
                    </a:cubicBezTo>
                    <a:cubicBezTo>
                      <a:pt x="536" y="1096"/>
                      <a:pt x="535" y="1080"/>
                      <a:pt x="535" y="1078"/>
                    </a:cubicBezTo>
                    <a:cubicBezTo>
                      <a:pt x="531" y="1078"/>
                      <a:pt x="527" y="1078"/>
                      <a:pt x="523" y="1078"/>
                    </a:cubicBezTo>
                    <a:cubicBezTo>
                      <a:pt x="523" y="1071"/>
                      <a:pt x="524" y="1064"/>
                      <a:pt x="525" y="1058"/>
                    </a:cubicBezTo>
                    <a:cubicBezTo>
                      <a:pt x="528" y="1057"/>
                      <a:pt x="531" y="1056"/>
                      <a:pt x="534" y="1054"/>
                    </a:cubicBezTo>
                    <a:cubicBezTo>
                      <a:pt x="534" y="1046"/>
                      <a:pt x="534" y="1039"/>
                      <a:pt x="535" y="1032"/>
                    </a:cubicBezTo>
                    <a:cubicBezTo>
                      <a:pt x="462" y="1040"/>
                      <a:pt x="386" y="1079"/>
                      <a:pt x="325" y="1097"/>
                    </a:cubicBezTo>
                    <a:cubicBezTo>
                      <a:pt x="325" y="1101"/>
                      <a:pt x="325" y="1105"/>
                      <a:pt x="325" y="1109"/>
                    </a:cubicBezTo>
                    <a:cubicBezTo>
                      <a:pt x="260" y="1114"/>
                      <a:pt x="237" y="1129"/>
                      <a:pt x="189" y="1103"/>
                    </a:cubicBezTo>
                    <a:cubicBezTo>
                      <a:pt x="189" y="1093"/>
                      <a:pt x="189" y="1083"/>
                      <a:pt x="189" y="1075"/>
                    </a:cubicBezTo>
                    <a:cubicBezTo>
                      <a:pt x="266" y="1003"/>
                      <a:pt x="391" y="889"/>
                      <a:pt x="494" y="869"/>
                    </a:cubicBezTo>
                    <a:cubicBezTo>
                      <a:pt x="532" y="838"/>
                      <a:pt x="531" y="827"/>
                      <a:pt x="534" y="787"/>
                    </a:cubicBezTo>
                    <a:cubicBezTo>
                      <a:pt x="456" y="787"/>
                      <a:pt x="393" y="839"/>
                      <a:pt x="325" y="857"/>
                    </a:cubicBezTo>
                    <a:cubicBezTo>
                      <a:pt x="303" y="902"/>
                      <a:pt x="158" y="938"/>
                      <a:pt x="110" y="945"/>
                    </a:cubicBezTo>
                    <a:cubicBezTo>
                      <a:pt x="93" y="938"/>
                      <a:pt x="77" y="931"/>
                      <a:pt x="60" y="926"/>
                    </a:cubicBezTo>
                    <a:cubicBezTo>
                      <a:pt x="59" y="923"/>
                      <a:pt x="58" y="920"/>
                      <a:pt x="56" y="918"/>
                    </a:cubicBezTo>
                    <a:cubicBezTo>
                      <a:pt x="24" y="911"/>
                      <a:pt x="18" y="898"/>
                      <a:pt x="2" y="889"/>
                    </a:cubicBezTo>
                    <a:cubicBezTo>
                      <a:pt x="1" y="875"/>
                      <a:pt x="1" y="861"/>
                      <a:pt x="0" y="847"/>
                    </a:cubicBezTo>
                    <a:cubicBezTo>
                      <a:pt x="178" y="817"/>
                      <a:pt x="187" y="811"/>
                      <a:pt x="222" y="809"/>
                    </a:cubicBezTo>
                    <a:cubicBezTo>
                      <a:pt x="222" y="804"/>
                      <a:pt x="222" y="800"/>
                      <a:pt x="223" y="796"/>
                    </a:cubicBezTo>
                    <a:cubicBezTo>
                      <a:pt x="296" y="804"/>
                      <a:pt x="436" y="745"/>
                      <a:pt x="517" y="726"/>
                    </a:cubicBezTo>
                    <a:cubicBezTo>
                      <a:pt x="524" y="647"/>
                      <a:pt x="524" y="647"/>
                      <a:pt x="521" y="632"/>
                    </a:cubicBezTo>
                    <a:cubicBezTo>
                      <a:pt x="465" y="643"/>
                      <a:pt x="455" y="658"/>
                      <a:pt x="426" y="705"/>
                    </a:cubicBezTo>
                    <a:cubicBezTo>
                      <a:pt x="354" y="746"/>
                      <a:pt x="367" y="744"/>
                      <a:pt x="314" y="691"/>
                    </a:cubicBezTo>
                    <a:cubicBezTo>
                      <a:pt x="309" y="690"/>
                      <a:pt x="303" y="689"/>
                      <a:pt x="299" y="687"/>
                    </a:cubicBezTo>
                    <a:cubicBezTo>
                      <a:pt x="299" y="660"/>
                      <a:pt x="255" y="661"/>
                      <a:pt x="262" y="637"/>
                    </a:cubicBezTo>
                    <a:cubicBezTo>
                      <a:pt x="273" y="632"/>
                      <a:pt x="273" y="632"/>
                      <a:pt x="296" y="629"/>
                    </a:cubicBezTo>
                    <a:cubicBezTo>
                      <a:pt x="317" y="577"/>
                      <a:pt x="271" y="515"/>
                      <a:pt x="278" y="472"/>
                    </a:cubicBezTo>
                    <a:cubicBezTo>
                      <a:pt x="322" y="472"/>
                      <a:pt x="372" y="523"/>
                      <a:pt x="416" y="567"/>
                    </a:cubicBezTo>
                    <a:cubicBezTo>
                      <a:pt x="425" y="566"/>
                      <a:pt x="433" y="564"/>
                      <a:pt x="441" y="564"/>
                    </a:cubicBezTo>
                    <a:cubicBezTo>
                      <a:pt x="444" y="557"/>
                      <a:pt x="448" y="551"/>
                      <a:pt x="452" y="544"/>
                    </a:cubicBezTo>
                    <a:cubicBezTo>
                      <a:pt x="460" y="542"/>
                      <a:pt x="469" y="541"/>
                      <a:pt x="477" y="541"/>
                    </a:cubicBezTo>
                    <a:cubicBezTo>
                      <a:pt x="488" y="557"/>
                      <a:pt x="495" y="564"/>
                      <a:pt x="521" y="570"/>
                    </a:cubicBezTo>
                    <a:cubicBezTo>
                      <a:pt x="518" y="528"/>
                      <a:pt x="517" y="488"/>
                      <a:pt x="516" y="448"/>
                    </a:cubicBezTo>
                    <a:cubicBezTo>
                      <a:pt x="549" y="426"/>
                      <a:pt x="549" y="440"/>
                      <a:pt x="592" y="448"/>
                    </a:cubicBezTo>
                    <a:cubicBezTo>
                      <a:pt x="603" y="428"/>
                      <a:pt x="614" y="408"/>
                      <a:pt x="626" y="389"/>
                    </a:cubicBezTo>
                    <a:cubicBezTo>
                      <a:pt x="615" y="348"/>
                      <a:pt x="387" y="428"/>
                      <a:pt x="375" y="430"/>
                    </a:cubicBezTo>
                    <a:cubicBezTo>
                      <a:pt x="293" y="430"/>
                      <a:pt x="265" y="397"/>
                      <a:pt x="258" y="328"/>
                    </a:cubicBezTo>
                    <a:cubicBezTo>
                      <a:pt x="310" y="302"/>
                      <a:pt x="571" y="341"/>
                      <a:pt x="581" y="302"/>
                    </a:cubicBezTo>
                    <a:cubicBezTo>
                      <a:pt x="542" y="264"/>
                      <a:pt x="527" y="225"/>
                      <a:pt x="510" y="190"/>
                    </a:cubicBezTo>
                    <a:cubicBezTo>
                      <a:pt x="474" y="143"/>
                      <a:pt x="443" y="115"/>
                      <a:pt x="449" y="69"/>
                    </a:cubicBezTo>
                    <a:cubicBezTo>
                      <a:pt x="500" y="61"/>
                      <a:pt x="593" y="95"/>
                      <a:pt x="616" y="155"/>
                    </a:cubicBezTo>
                    <a:cubicBezTo>
                      <a:pt x="603" y="287"/>
                      <a:pt x="598" y="290"/>
                      <a:pt x="597" y="306"/>
                    </a:cubicBezTo>
                    <a:cubicBezTo>
                      <a:pt x="690" y="306"/>
                      <a:pt x="663" y="286"/>
                      <a:pt x="713" y="207"/>
                    </a:cubicBezTo>
                    <a:cubicBezTo>
                      <a:pt x="721" y="152"/>
                      <a:pt x="761" y="72"/>
                      <a:pt x="826" y="103"/>
                    </a:cubicBezTo>
                    <a:cubicBezTo>
                      <a:pt x="869" y="170"/>
                      <a:pt x="961" y="189"/>
                      <a:pt x="879" y="295"/>
                    </a:cubicBezTo>
                    <a:cubicBezTo>
                      <a:pt x="812" y="323"/>
                      <a:pt x="768" y="348"/>
                      <a:pt x="703" y="360"/>
                    </a:cubicBezTo>
                    <a:cubicBezTo>
                      <a:pt x="677" y="384"/>
                      <a:pt x="630" y="433"/>
                      <a:pt x="625" y="473"/>
                    </a:cubicBezTo>
                    <a:cubicBezTo>
                      <a:pt x="690" y="491"/>
                      <a:pt x="652" y="562"/>
                      <a:pt x="765" y="477"/>
                    </a:cubicBezTo>
                    <a:cubicBezTo>
                      <a:pt x="770" y="442"/>
                      <a:pt x="786" y="378"/>
                      <a:pt x="803" y="362"/>
                    </a:cubicBezTo>
                    <a:cubicBezTo>
                      <a:pt x="822" y="367"/>
                      <a:pt x="847" y="374"/>
                      <a:pt x="863" y="408"/>
                    </a:cubicBezTo>
                    <a:cubicBezTo>
                      <a:pt x="884" y="415"/>
                      <a:pt x="919" y="419"/>
                      <a:pt x="928" y="462"/>
                    </a:cubicBezTo>
                    <a:cubicBezTo>
                      <a:pt x="908" y="488"/>
                      <a:pt x="855" y="516"/>
                      <a:pt x="828" y="530"/>
                    </a:cubicBezTo>
                    <a:cubicBezTo>
                      <a:pt x="807" y="557"/>
                      <a:pt x="787" y="585"/>
                      <a:pt x="768" y="614"/>
                    </a:cubicBezTo>
                    <a:cubicBezTo>
                      <a:pt x="771" y="618"/>
                      <a:pt x="775" y="624"/>
                      <a:pt x="779" y="629"/>
                    </a:cubicBezTo>
                    <a:cubicBezTo>
                      <a:pt x="855" y="589"/>
                      <a:pt x="1017" y="466"/>
                      <a:pt x="1017" y="651"/>
                    </a:cubicBezTo>
                    <a:cubicBezTo>
                      <a:pt x="964" y="669"/>
                      <a:pt x="735" y="767"/>
                      <a:pt x="727" y="788"/>
                    </a:cubicBezTo>
                    <a:cubicBezTo>
                      <a:pt x="742" y="818"/>
                      <a:pt x="814" y="847"/>
                      <a:pt x="861" y="887"/>
                    </a:cubicBezTo>
                    <a:cubicBezTo>
                      <a:pt x="823" y="951"/>
                      <a:pt x="724" y="945"/>
                      <a:pt x="667" y="985"/>
                    </a:cubicBezTo>
                    <a:cubicBezTo>
                      <a:pt x="663" y="1018"/>
                      <a:pt x="661" y="1051"/>
                      <a:pt x="658" y="1086"/>
                    </a:cubicBezTo>
                    <a:cubicBezTo>
                      <a:pt x="659" y="1176"/>
                      <a:pt x="677" y="1355"/>
                      <a:pt x="568" y="1409"/>
                    </a:cubicBezTo>
                    <a:close/>
                    <a:moveTo>
                      <a:pt x="6475" y="1395"/>
                    </a:moveTo>
                    <a:cubicBezTo>
                      <a:pt x="6442" y="1362"/>
                      <a:pt x="6355" y="1372"/>
                      <a:pt x="6332" y="1336"/>
                    </a:cubicBezTo>
                    <a:cubicBezTo>
                      <a:pt x="6292" y="1334"/>
                      <a:pt x="6251" y="1311"/>
                      <a:pt x="6223" y="1308"/>
                    </a:cubicBezTo>
                    <a:cubicBezTo>
                      <a:pt x="6224" y="1303"/>
                      <a:pt x="6226" y="1297"/>
                      <a:pt x="6228" y="1292"/>
                    </a:cubicBezTo>
                    <a:cubicBezTo>
                      <a:pt x="6266" y="1289"/>
                      <a:pt x="6303" y="1287"/>
                      <a:pt x="6342" y="1286"/>
                    </a:cubicBezTo>
                    <a:cubicBezTo>
                      <a:pt x="6348" y="1272"/>
                      <a:pt x="6395" y="1285"/>
                      <a:pt x="6417" y="1247"/>
                    </a:cubicBezTo>
                    <a:cubicBezTo>
                      <a:pt x="6419" y="1218"/>
                      <a:pt x="6420" y="1189"/>
                      <a:pt x="6423" y="1160"/>
                    </a:cubicBezTo>
                    <a:cubicBezTo>
                      <a:pt x="6424" y="1158"/>
                      <a:pt x="6427" y="1156"/>
                      <a:pt x="6430" y="1155"/>
                    </a:cubicBezTo>
                    <a:cubicBezTo>
                      <a:pt x="6427" y="1154"/>
                      <a:pt x="6424" y="1152"/>
                      <a:pt x="6423" y="1151"/>
                    </a:cubicBezTo>
                    <a:cubicBezTo>
                      <a:pt x="6423" y="1075"/>
                      <a:pt x="6437" y="930"/>
                      <a:pt x="6415" y="872"/>
                    </a:cubicBezTo>
                    <a:cubicBezTo>
                      <a:pt x="6360" y="872"/>
                      <a:pt x="6212" y="1016"/>
                      <a:pt x="6204" y="1050"/>
                    </a:cubicBezTo>
                    <a:cubicBezTo>
                      <a:pt x="6199" y="1050"/>
                      <a:pt x="6195" y="1050"/>
                      <a:pt x="6191" y="1050"/>
                    </a:cubicBezTo>
                    <a:cubicBezTo>
                      <a:pt x="6142" y="1114"/>
                      <a:pt x="6142" y="1114"/>
                      <a:pt x="6118" y="1134"/>
                    </a:cubicBezTo>
                    <a:cubicBezTo>
                      <a:pt x="6039" y="1163"/>
                      <a:pt x="5925" y="1087"/>
                      <a:pt x="5917" y="1036"/>
                    </a:cubicBezTo>
                    <a:cubicBezTo>
                      <a:pt x="5926" y="1028"/>
                      <a:pt x="5926" y="1028"/>
                      <a:pt x="6010" y="1000"/>
                    </a:cubicBezTo>
                    <a:cubicBezTo>
                      <a:pt x="6066" y="971"/>
                      <a:pt x="6193" y="883"/>
                      <a:pt x="6263" y="869"/>
                    </a:cubicBezTo>
                    <a:cubicBezTo>
                      <a:pt x="6263" y="849"/>
                      <a:pt x="6427" y="781"/>
                      <a:pt x="6459" y="745"/>
                    </a:cubicBezTo>
                    <a:cubicBezTo>
                      <a:pt x="6482" y="700"/>
                      <a:pt x="6518" y="639"/>
                      <a:pt x="6518" y="597"/>
                    </a:cubicBezTo>
                    <a:cubicBezTo>
                      <a:pt x="6496" y="580"/>
                      <a:pt x="6445" y="613"/>
                      <a:pt x="6430" y="618"/>
                    </a:cubicBezTo>
                    <a:cubicBezTo>
                      <a:pt x="6430" y="622"/>
                      <a:pt x="6430" y="626"/>
                      <a:pt x="6430" y="631"/>
                    </a:cubicBezTo>
                    <a:cubicBezTo>
                      <a:pt x="6361" y="651"/>
                      <a:pt x="6259" y="758"/>
                      <a:pt x="6186" y="700"/>
                    </a:cubicBezTo>
                    <a:cubicBezTo>
                      <a:pt x="6186" y="693"/>
                      <a:pt x="6186" y="686"/>
                      <a:pt x="6187" y="679"/>
                    </a:cubicBezTo>
                    <a:cubicBezTo>
                      <a:pt x="6429" y="567"/>
                      <a:pt x="6452" y="551"/>
                      <a:pt x="6547" y="509"/>
                    </a:cubicBezTo>
                    <a:cubicBezTo>
                      <a:pt x="6618" y="439"/>
                      <a:pt x="6693" y="313"/>
                      <a:pt x="6709" y="222"/>
                    </a:cubicBezTo>
                    <a:cubicBezTo>
                      <a:pt x="6673" y="186"/>
                      <a:pt x="6525" y="243"/>
                      <a:pt x="6522" y="288"/>
                    </a:cubicBezTo>
                    <a:cubicBezTo>
                      <a:pt x="6567" y="333"/>
                      <a:pt x="6558" y="390"/>
                      <a:pt x="6546" y="448"/>
                    </a:cubicBezTo>
                    <a:cubicBezTo>
                      <a:pt x="6473" y="522"/>
                      <a:pt x="6426" y="516"/>
                      <a:pt x="6347" y="479"/>
                    </a:cubicBezTo>
                    <a:cubicBezTo>
                      <a:pt x="6347" y="442"/>
                      <a:pt x="6347" y="404"/>
                      <a:pt x="6347" y="367"/>
                    </a:cubicBezTo>
                    <a:cubicBezTo>
                      <a:pt x="6380" y="308"/>
                      <a:pt x="6380" y="308"/>
                      <a:pt x="6382" y="295"/>
                    </a:cubicBezTo>
                    <a:cubicBezTo>
                      <a:pt x="6326" y="288"/>
                      <a:pt x="6300" y="326"/>
                      <a:pt x="6264" y="350"/>
                    </a:cubicBezTo>
                    <a:cubicBezTo>
                      <a:pt x="6256" y="402"/>
                      <a:pt x="6307" y="457"/>
                      <a:pt x="6307" y="531"/>
                    </a:cubicBezTo>
                    <a:cubicBezTo>
                      <a:pt x="6273" y="580"/>
                      <a:pt x="6209" y="522"/>
                      <a:pt x="6202" y="498"/>
                    </a:cubicBezTo>
                    <a:cubicBezTo>
                      <a:pt x="6193" y="498"/>
                      <a:pt x="6183" y="498"/>
                      <a:pt x="6173" y="498"/>
                    </a:cubicBezTo>
                    <a:cubicBezTo>
                      <a:pt x="6173" y="530"/>
                      <a:pt x="6179" y="560"/>
                      <a:pt x="6172" y="599"/>
                    </a:cubicBezTo>
                    <a:cubicBezTo>
                      <a:pt x="6148" y="596"/>
                      <a:pt x="6136" y="589"/>
                      <a:pt x="6128" y="581"/>
                    </a:cubicBezTo>
                    <a:cubicBezTo>
                      <a:pt x="6096" y="509"/>
                      <a:pt x="6064" y="439"/>
                      <a:pt x="6032" y="368"/>
                    </a:cubicBezTo>
                    <a:cubicBezTo>
                      <a:pt x="5998" y="346"/>
                      <a:pt x="5994" y="326"/>
                      <a:pt x="5994" y="301"/>
                    </a:cubicBezTo>
                    <a:cubicBezTo>
                      <a:pt x="6048" y="301"/>
                      <a:pt x="6092" y="333"/>
                      <a:pt x="6130" y="388"/>
                    </a:cubicBezTo>
                    <a:cubicBezTo>
                      <a:pt x="6137" y="388"/>
                      <a:pt x="6144" y="389"/>
                      <a:pt x="6153" y="390"/>
                    </a:cubicBezTo>
                    <a:cubicBezTo>
                      <a:pt x="6136" y="295"/>
                      <a:pt x="6063" y="212"/>
                      <a:pt x="6004" y="161"/>
                    </a:cubicBezTo>
                    <a:cubicBezTo>
                      <a:pt x="6002" y="156"/>
                      <a:pt x="6002" y="152"/>
                      <a:pt x="6002" y="148"/>
                    </a:cubicBezTo>
                    <a:cubicBezTo>
                      <a:pt x="6005" y="142"/>
                      <a:pt x="6009" y="138"/>
                      <a:pt x="6013" y="134"/>
                    </a:cubicBezTo>
                    <a:cubicBezTo>
                      <a:pt x="6078" y="134"/>
                      <a:pt x="6159" y="207"/>
                      <a:pt x="6197" y="279"/>
                    </a:cubicBezTo>
                    <a:cubicBezTo>
                      <a:pt x="6219" y="301"/>
                      <a:pt x="6202" y="309"/>
                      <a:pt x="6249" y="315"/>
                    </a:cubicBezTo>
                    <a:cubicBezTo>
                      <a:pt x="6284" y="295"/>
                      <a:pt x="6307" y="279"/>
                      <a:pt x="6313" y="239"/>
                    </a:cubicBezTo>
                    <a:cubicBezTo>
                      <a:pt x="6278" y="197"/>
                      <a:pt x="6239" y="197"/>
                      <a:pt x="6245" y="155"/>
                    </a:cubicBezTo>
                    <a:cubicBezTo>
                      <a:pt x="6270" y="153"/>
                      <a:pt x="6295" y="153"/>
                      <a:pt x="6320" y="153"/>
                    </a:cubicBezTo>
                    <a:cubicBezTo>
                      <a:pt x="6329" y="163"/>
                      <a:pt x="6372" y="160"/>
                      <a:pt x="6390" y="146"/>
                    </a:cubicBezTo>
                    <a:cubicBezTo>
                      <a:pt x="6408" y="98"/>
                      <a:pt x="6409" y="69"/>
                      <a:pt x="6431" y="34"/>
                    </a:cubicBezTo>
                    <a:cubicBezTo>
                      <a:pt x="6482" y="44"/>
                      <a:pt x="6546" y="70"/>
                      <a:pt x="6546" y="143"/>
                    </a:cubicBezTo>
                    <a:cubicBezTo>
                      <a:pt x="6521" y="175"/>
                      <a:pt x="6491" y="199"/>
                      <a:pt x="6482" y="212"/>
                    </a:cubicBezTo>
                    <a:cubicBezTo>
                      <a:pt x="6484" y="217"/>
                      <a:pt x="6486" y="222"/>
                      <a:pt x="6489" y="228"/>
                    </a:cubicBezTo>
                    <a:cubicBezTo>
                      <a:pt x="6513" y="228"/>
                      <a:pt x="6522" y="212"/>
                      <a:pt x="6535" y="199"/>
                    </a:cubicBezTo>
                    <a:cubicBezTo>
                      <a:pt x="6641" y="146"/>
                      <a:pt x="6814" y="0"/>
                      <a:pt x="6898" y="189"/>
                    </a:cubicBezTo>
                    <a:cubicBezTo>
                      <a:pt x="6902" y="225"/>
                      <a:pt x="6923" y="246"/>
                      <a:pt x="6883" y="291"/>
                    </a:cubicBezTo>
                    <a:cubicBezTo>
                      <a:pt x="6801" y="334"/>
                      <a:pt x="6677" y="375"/>
                      <a:pt x="6642" y="464"/>
                    </a:cubicBezTo>
                    <a:cubicBezTo>
                      <a:pt x="6667" y="497"/>
                      <a:pt x="6762" y="524"/>
                      <a:pt x="6703" y="584"/>
                    </a:cubicBezTo>
                    <a:cubicBezTo>
                      <a:pt x="6685" y="595"/>
                      <a:pt x="6667" y="606"/>
                      <a:pt x="6651" y="618"/>
                    </a:cubicBezTo>
                    <a:cubicBezTo>
                      <a:pt x="6651" y="622"/>
                      <a:pt x="6651" y="626"/>
                      <a:pt x="6651" y="631"/>
                    </a:cubicBezTo>
                    <a:cubicBezTo>
                      <a:pt x="6619" y="631"/>
                      <a:pt x="6587" y="665"/>
                      <a:pt x="6575" y="691"/>
                    </a:cubicBezTo>
                    <a:cubicBezTo>
                      <a:pt x="6578" y="695"/>
                      <a:pt x="6582" y="701"/>
                      <a:pt x="6586" y="706"/>
                    </a:cubicBezTo>
                    <a:cubicBezTo>
                      <a:pt x="6648" y="700"/>
                      <a:pt x="6756" y="705"/>
                      <a:pt x="6767" y="793"/>
                    </a:cubicBezTo>
                    <a:cubicBezTo>
                      <a:pt x="6729" y="825"/>
                      <a:pt x="6688" y="839"/>
                      <a:pt x="6642" y="857"/>
                    </a:cubicBezTo>
                    <a:cubicBezTo>
                      <a:pt x="6636" y="871"/>
                      <a:pt x="6609" y="882"/>
                      <a:pt x="6601" y="879"/>
                    </a:cubicBezTo>
                    <a:cubicBezTo>
                      <a:pt x="6601" y="843"/>
                      <a:pt x="6593" y="809"/>
                      <a:pt x="6589" y="788"/>
                    </a:cubicBezTo>
                    <a:cubicBezTo>
                      <a:pt x="6546" y="788"/>
                      <a:pt x="6547" y="791"/>
                      <a:pt x="6522" y="811"/>
                    </a:cubicBezTo>
                    <a:cubicBezTo>
                      <a:pt x="6522" y="909"/>
                      <a:pt x="6522" y="1009"/>
                      <a:pt x="6524" y="1108"/>
                    </a:cubicBezTo>
                    <a:cubicBezTo>
                      <a:pt x="6528" y="1169"/>
                      <a:pt x="6558" y="1314"/>
                      <a:pt x="6514" y="1373"/>
                    </a:cubicBezTo>
                    <a:cubicBezTo>
                      <a:pt x="6481" y="1387"/>
                      <a:pt x="6481" y="1387"/>
                      <a:pt x="6475" y="1395"/>
                    </a:cubicBezTo>
                    <a:close/>
                    <a:moveTo>
                      <a:pt x="1585" y="1350"/>
                    </a:moveTo>
                    <a:cubicBezTo>
                      <a:pt x="1575" y="1321"/>
                      <a:pt x="1523" y="1261"/>
                      <a:pt x="1523" y="1261"/>
                    </a:cubicBezTo>
                    <a:cubicBezTo>
                      <a:pt x="1516" y="1205"/>
                      <a:pt x="1506" y="1107"/>
                      <a:pt x="1531" y="1068"/>
                    </a:cubicBezTo>
                    <a:cubicBezTo>
                      <a:pt x="1541" y="925"/>
                      <a:pt x="1541" y="787"/>
                      <a:pt x="1542" y="650"/>
                    </a:cubicBezTo>
                    <a:cubicBezTo>
                      <a:pt x="1502" y="650"/>
                      <a:pt x="1415" y="771"/>
                      <a:pt x="1393" y="802"/>
                    </a:cubicBezTo>
                    <a:cubicBezTo>
                      <a:pt x="1357" y="879"/>
                      <a:pt x="1244" y="798"/>
                      <a:pt x="1226" y="755"/>
                    </a:cubicBezTo>
                    <a:cubicBezTo>
                      <a:pt x="1226" y="669"/>
                      <a:pt x="1273" y="555"/>
                      <a:pt x="1308" y="490"/>
                    </a:cubicBezTo>
                    <a:cubicBezTo>
                      <a:pt x="1313" y="490"/>
                      <a:pt x="1319" y="490"/>
                      <a:pt x="1326" y="490"/>
                    </a:cubicBezTo>
                    <a:cubicBezTo>
                      <a:pt x="1328" y="504"/>
                      <a:pt x="1348" y="522"/>
                      <a:pt x="1360" y="548"/>
                    </a:cubicBezTo>
                    <a:cubicBezTo>
                      <a:pt x="1371" y="584"/>
                      <a:pt x="1382" y="620"/>
                      <a:pt x="1393" y="657"/>
                    </a:cubicBezTo>
                    <a:cubicBezTo>
                      <a:pt x="1468" y="657"/>
                      <a:pt x="1477" y="574"/>
                      <a:pt x="1542" y="556"/>
                    </a:cubicBezTo>
                    <a:cubicBezTo>
                      <a:pt x="1566" y="458"/>
                      <a:pt x="1534" y="349"/>
                      <a:pt x="1498" y="272"/>
                    </a:cubicBezTo>
                    <a:cubicBezTo>
                      <a:pt x="1497" y="254"/>
                      <a:pt x="1495" y="237"/>
                      <a:pt x="1495" y="221"/>
                    </a:cubicBezTo>
                    <a:cubicBezTo>
                      <a:pt x="1559" y="150"/>
                      <a:pt x="1589" y="138"/>
                      <a:pt x="1675" y="224"/>
                    </a:cubicBezTo>
                    <a:cubicBezTo>
                      <a:pt x="1675" y="291"/>
                      <a:pt x="1664" y="360"/>
                      <a:pt x="1668" y="439"/>
                    </a:cubicBezTo>
                    <a:cubicBezTo>
                      <a:pt x="1709" y="439"/>
                      <a:pt x="1787" y="350"/>
                      <a:pt x="1842" y="339"/>
                    </a:cubicBezTo>
                    <a:cubicBezTo>
                      <a:pt x="1868" y="298"/>
                      <a:pt x="1966" y="298"/>
                      <a:pt x="2010" y="338"/>
                    </a:cubicBezTo>
                    <a:cubicBezTo>
                      <a:pt x="2010" y="356"/>
                      <a:pt x="2011" y="374"/>
                      <a:pt x="2013" y="392"/>
                    </a:cubicBezTo>
                    <a:cubicBezTo>
                      <a:pt x="2009" y="392"/>
                      <a:pt x="2005" y="392"/>
                      <a:pt x="2000" y="392"/>
                    </a:cubicBezTo>
                    <a:cubicBezTo>
                      <a:pt x="1999" y="397"/>
                      <a:pt x="1999" y="403"/>
                      <a:pt x="1999" y="410"/>
                    </a:cubicBezTo>
                    <a:cubicBezTo>
                      <a:pt x="1907" y="450"/>
                      <a:pt x="1821" y="487"/>
                      <a:pt x="1811" y="597"/>
                    </a:cubicBezTo>
                    <a:cubicBezTo>
                      <a:pt x="1838" y="614"/>
                      <a:pt x="1838" y="614"/>
                      <a:pt x="1851" y="617"/>
                    </a:cubicBezTo>
                    <a:cubicBezTo>
                      <a:pt x="1851" y="626"/>
                      <a:pt x="1850" y="628"/>
                      <a:pt x="1867" y="640"/>
                    </a:cubicBezTo>
                    <a:cubicBezTo>
                      <a:pt x="1867" y="697"/>
                      <a:pt x="1708" y="749"/>
                      <a:pt x="1655" y="752"/>
                    </a:cubicBezTo>
                    <a:cubicBezTo>
                      <a:pt x="1624" y="784"/>
                      <a:pt x="1640" y="926"/>
                      <a:pt x="1647" y="995"/>
                    </a:cubicBezTo>
                    <a:cubicBezTo>
                      <a:pt x="1651" y="1000"/>
                      <a:pt x="1651" y="1000"/>
                      <a:pt x="1651" y="1301"/>
                    </a:cubicBezTo>
                    <a:cubicBezTo>
                      <a:pt x="1642" y="1308"/>
                      <a:pt x="1636" y="1326"/>
                      <a:pt x="1624" y="1343"/>
                    </a:cubicBezTo>
                    <a:cubicBezTo>
                      <a:pt x="1610" y="1344"/>
                      <a:pt x="1597" y="1347"/>
                      <a:pt x="1585" y="1350"/>
                    </a:cubicBezTo>
                    <a:close/>
                    <a:moveTo>
                      <a:pt x="2965" y="1326"/>
                    </a:moveTo>
                    <a:cubicBezTo>
                      <a:pt x="2936" y="1224"/>
                      <a:pt x="2948" y="1127"/>
                      <a:pt x="2947" y="1027"/>
                    </a:cubicBezTo>
                    <a:cubicBezTo>
                      <a:pt x="2951" y="1025"/>
                      <a:pt x="2955" y="1025"/>
                      <a:pt x="2959" y="1025"/>
                    </a:cubicBezTo>
                    <a:cubicBezTo>
                      <a:pt x="2959" y="958"/>
                      <a:pt x="2959" y="891"/>
                      <a:pt x="2959" y="825"/>
                    </a:cubicBezTo>
                    <a:cubicBezTo>
                      <a:pt x="2955" y="824"/>
                      <a:pt x="2951" y="822"/>
                      <a:pt x="2948" y="821"/>
                    </a:cubicBezTo>
                    <a:cubicBezTo>
                      <a:pt x="2915" y="839"/>
                      <a:pt x="2885" y="875"/>
                      <a:pt x="2852" y="894"/>
                    </a:cubicBezTo>
                    <a:cubicBezTo>
                      <a:pt x="2830" y="894"/>
                      <a:pt x="2809" y="894"/>
                      <a:pt x="2788" y="894"/>
                    </a:cubicBezTo>
                    <a:cubicBezTo>
                      <a:pt x="2766" y="872"/>
                      <a:pt x="2804" y="814"/>
                      <a:pt x="2810" y="800"/>
                    </a:cubicBezTo>
                    <a:cubicBezTo>
                      <a:pt x="2833" y="697"/>
                      <a:pt x="2786" y="617"/>
                      <a:pt x="2810" y="523"/>
                    </a:cubicBezTo>
                    <a:cubicBezTo>
                      <a:pt x="2810" y="430"/>
                      <a:pt x="2710" y="404"/>
                      <a:pt x="2733" y="310"/>
                    </a:cubicBezTo>
                    <a:cubicBezTo>
                      <a:pt x="2783" y="294"/>
                      <a:pt x="2809" y="339"/>
                      <a:pt x="2856" y="379"/>
                    </a:cubicBezTo>
                    <a:cubicBezTo>
                      <a:pt x="2875" y="447"/>
                      <a:pt x="2844" y="519"/>
                      <a:pt x="2844" y="593"/>
                    </a:cubicBezTo>
                    <a:cubicBezTo>
                      <a:pt x="2867" y="625"/>
                      <a:pt x="2888" y="665"/>
                      <a:pt x="2884" y="724"/>
                    </a:cubicBezTo>
                    <a:cubicBezTo>
                      <a:pt x="2874" y="742"/>
                      <a:pt x="2874" y="742"/>
                      <a:pt x="2870" y="767"/>
                    </a:cubicBezTo>
                    <a:cubicBezTo>
                      <a:pt x="2899" y="766"/>
                      <a:pt x="2930" y="737"/>
                      <a:pt x="2957" y="713"/>
                    </a:cubicBezTo>
                    <a:cubicBezTo>
                      <a:pt x="2961" y="571"/>
                      <a:pt x="2964" y="422"/>
                      <a:pt x="2959" y="291"/>
                    </a:cubicBezTo>
                    <a:cubicBezTo>
                      <a:pt x="2932" y="277"/>
                      <a:pt x="2939" y="178"/>
                      <a:pt x="2959" y="166"/>
                    </a:cubicBezTo>
                    <a:cubicBezTo>
                      <a:pt x="3071" y="166"/>
                      <a:pt x="3091" y="204"/>
                      <a:pt x="3106" y="317"/>
                    </a:cubicBezTo>
                    <a:cubicBezTo>
                      <a:pt x="3092" y="384"/>
                      <a:pt x="3044" y="538"/>
                      <a:pt x="3073" y="597"/>
                    </a:cubicBezTo>
                    <a:cubicBezTo>
                      <a:pt x="3110" y="597"/>
                      <a:pt x="3143" y="486"/>
                      <a:pt x="3150" y="461"/>
                    </a:cubicBezTo>
                    <a:cubicBezTo>
                      <a:pt x="3153" y="461"/>
                      <a:pt x="3155" y="461"/>
                      <a:pt x="3158" y="461"/>
                    </a:cubicBezTo>
                    <a:cubicBezTo>
                      <a:pt x="3158" y="502"/>
                      <a:pt x="3168" y="497"/>
                      <a:pt x="3177" y="537"/>
                    </a:cubicBezTo>
                    <a:cubicBezTo>
                      <a:pt x="3260" y="578"/>
                      <a:pt x="3113" y="687"/>
                      <a:pt x="3077" y="709"/>
                    </a:cubicBezTo>
                    <a:cubicBezTo>
                      <a:pt x="3042" y="869"/>
                      <a:pt x="3068" y="1058"/>
                      <a:pt x="3045" y="1235"/>
                    </a:cubicBezTo>
                    <a:cubicBezTo>
                      <a:pt x="3031" y="1283"/>
                      <a:pt x="3013" y="1315"/>
                      <a:pt x="2965" y="1326"/>
                    </a:cubicBezTo>
                    <a:close/>
                    <a:moveTo>
                      <a:pt x="4800" y="1198"/>
                    </a:moveTo>
                    <a:cubicBezTo>
                      <a:pt x="4799" y="1191"/>
                      <a:pt x="4799" y="1184"/>
                      <a:pt x="4799" y="1178"/>
                    </a:cubicBezTo>
                    <a:cubicBezTo>
                      <a:pt x="4824" y="1166"/>
                      <a:pt x="4824" y="1166"/>
                      <a:pt x="4831" y="1158"/>
                    </a:cubicBezTo>
                    <a:cubicBezTo>
                      <a:pt x="4930" y="1136"/>
                      <a:pt x="5159" y="974"/>
                      <a:pt x="5126" y="857"/>
                    </a:cubicBezTo>
                    <a:cubicBezTo>
                      <a:pt x="5068" y="904"/>
                      <a:pt x="5010" y="951"/>
                      <a:pt x="4951" y="988"/>
                    </a:cubicBezTo>
                    <a:cubicBezTo>
                      <a:pt x="4948" y="984"/>
                      <a:pt x="4945" y="981"/>
                      <a:pt x="4942" y="978"/>
                    </a:cubicBezTo>
                    <a:cubicBezTo>
                      <a:pt x="4889" y="962"/>
                      <a:pt x="4806" y="907"/>
                      <a:pt x="4799" y="868"/>
                    </a:cubicBezTo>
                    <a:cubicBezTo>
                      <a:pt x="4820" y="847"/>
                      <a:pt x="4886" y="842"/>
                      <a:pt x="4924" y="835"/>
                    </a:cubicBezTo>
                    <a:cubicBezTo>
                      <a:pt x="4981" y="814"/>
                      <a:pt x="5144" y="740"/>
                      <a:pt x="5174" y="690"/>
                    </a:cubicBezTo>
                    <a:cubicBezTo>
                      <a:pt x="5194" y="564"/>
                      <a:pt x="5198" y="499"/>
                      <a:pt x="5202" y="497"/>
                    </a:cubicBezTo>
                    <a:cubicBezTo>
                      <a:pt x="5202" y="393"/>
                      <a:pt x="5184" y="299"/>
                      <a:pt x="5185" y="211"/>
                    </a:cubicBezTo>
                    <a:cubicBezTo>
                      <a:pt x="5200" y="196"/>
                      <a:pt x="5198" y="200"/>
                      <a:pt x="5224" y="197"/>
                    </a:cubicBezTo>
                    <a:cubicBezTo>
                      <a:pt x="5224" y="225"/>
                      <a:pt x="5372" y="268"/>
                      <a:pt x="5372" y="359"/>
                    </a:cubicBezTo>
                    <a:cubicBezTo>
                      <a:pt x="5345" y="385"/>
                      <a:pt x="5327" y="551"/>
                      <a:pt x="5327" y="603"/>
                    </a:cubicBezTo>
                    <a:cubicBezTo>
                      <a:pt x="5405" y="628"/>
                      <a:pt x="5452" y="443"/>
                      <a:pt x="5576" y="551"/>
                    </a:cubicBezTo>
                    <a:cubicBezTo>
                      <a:pt x="5576" y="602"/>
                      <a:pt x="5438" y="635"/>
                      <a:pt x="5399" y="673"/>
                    </a:cubicBezTo>
                    <a:cubicBezTo>
                      <a:pt x="5370" y="682"/>
                      <a:pt x="5329" y="724"/>
                      <a:pt x="5303" y="729"/>
                    </a:cubicBezTo>
                    <a:cubicBezTo>
                      <a:pt x="5282" y="770"/>
                      <a:pt x="5274" y="793"/>
                      <a:pt x="5265" y="847"/>
                    </a:cubicBezTo>
                    <a:cubicBezTo>
                      <a:pt x="5261" y="847"/>
                      <a:pt x="5257" y="847"/>
                      <a:pt x="5253" y="849"/>
                    </a:cubicBezTo>
                    <a:cubicBezTo>
                      <a:pt x="5231" y="976"/>
                      <a:pt x="5141" y="1087"/>
                      <a:pt x="5036" y="1156"/>
                    </a:cubicBezTo>
                    <a:cubicBezTo>
                      <a:pt x="5035" y="1160"/>
                      <a:pt x="5035" y="1165"/>
                      <a:pt x="5035" y="1170"/>
                    </a:cubicBezTo>
                    <a:cubicBezTo>
                      <a:pt x="5003" y="1172"/>
                      <a:pt x="5000" y="1176"/>
                      <a:pt x="4929" y="1191"/>
                    </a:cubicBezTo>
                    <a:cubicBezTo>
                      <a:pt x="4886" y="1192"/>
                      <a:pt x="4843" y="1195"/>
                      <a:pt x="4800" y="1198"/>
                    </a:cubicBezTo>
                    <a:close/>
                    <a:moveTo>
                      <a:pt x="3771" y="1178"/>
                    </a:moveTo>
                    <a:cubicBezTo>
                      <a:pt x="3735" y="1138"/>
                      <a:pt x="3710" y="1122"/>
                      <a:pt x="3671" y="1107"/>
                    </a:cubicBezTo>
                    <a:cubicBezTo>
                      <a:pt x="3654" y="1069"/>
                      <a:pt x="3607" y="1083"/>
                      <a:pt x="3589" y="1068"/>
                    </a:cubicBezTo>
                    <a:cubicBezTo>
                      <a:pt x="3589" y="1034"/>
                      <a:pt x="3681" y="1062"/>
                      <a:pt x="3728" y="1039"/>
                    </a:cubicBezTo>
                    <a:cubicBezTo>
                      <a:pt x="3734" y="1025"/>
                      <a:pt x="3734" y="1025"/>
                      <a:pt x="3743" y="787"/>
                    </a:cubicBezTo>
                    <a:cubicBezTo>
                      <a:pt x="3746" y="763"/>
                      <a:pt x="3750" y="740"/>
                      <a:pt x="3754" y="716"/>
                    </a:cubicBezTo>
                    <a:cubicBezTo>
                      <a:pt x="3749" y="713"/>
                      <a:pt x="3745" y="711"/>
                      <a:pt x="3740" y="709"/>
                    </a:cubicBezTo>
                    <a:cubicBezTo>
                      <a:pt x="3716" y="756"/>
                      <a:pt x="3596" y="987"/>
                      <a:pt x="3529" y="987"/>
                    </a:cubicBezTo>
                    <a:cubicBezTo>
                      <a:pt x="3528" y="982"/>
                      <a:pt x="3527" y="980"/>
                      <a:pt x="3525" y="977"/>
                    </a:cubicBezTo>
                    <a:cubicBezTo>
                      <a:pt x="3484" y="969"/>
                      <a:pt x="3456" y="941"/>
                      <a:pt x="3451" y="916"/>
                    </a:cubicBezTo>
                    <a:cubicBezTo>
                      <a:pt x="3481" y="886"/>
                      <a:pt x="3565" y="858"/>
                      <a:pt x="3579" y="809"/>
                    </a:cubicBezTo>
                    <a:cubicBezTo>
                      <a:pt x="3629" y="759"/>
                      <a:pt x="3685" y="660"/>
                      <a:pt x="3746" y="629"/>
                    </a:cubicBezTo>
                    <a:cubicBezTo>
                      <a:pt x="3757" y="578"/>
                      <a:pt x="3763" y="540"/>
                      <a:pt x="3767" y="493"/>
                    </a:cubicBezTo>
                    <a:cubicBezTo>
                      <a:pt x="3764" y="491"/>
                      <a:pt x="3761" y="490"/>
                      <a:pt x="3758" y="490"/>
                    </a:cubicBezTo>
                    <a:cubicBezTo>
                      <a:pt x="3749" y="498"/>
                      <a:pt x="3749" y="498"/>
                      <a:pt x="3747" y="511"/>
                    </a:cubicBezTo>
                    <a:cubicBezTo>
                      <a:pt x="3707" y="505"/>
                      <a:pt x="3644" y="453"/>
                      <a:pt x="3652" y="426"/>
                    </a:cubicBezTo>
                    <a:cubicBezTo>
                      <a:pt x="3731" y="393"/>
                      <a:pt x="3731" y="393"/>
                      <a:pt x="3746" y="390"/>
                    </a:cubicBezTo>
                    <a:cubicBezTo>
                      <a:pt x="3757" y="367"/>
                      <a:pt x="3779" y="370"/>
                      <a:pt x="3794" y="348"/>
                    </a:cubicBezTo>
                    <a:cubicBezTo>
                      <a:pt x="3803" y="295"/>
                      <a:pt x="3811" y="243"/>
                      <a:pt x="3819" y="190"/>
                    </a:cubicBezTo>
                    <a:cubicBezTo>
                      <a:pt x="3855" y="164"/>
                      <a:pt x="3859" y="171"/>
                      <a:pt x="3910" y="200"/>
                    </a:cubicBezTo>
                    <a:cubicBezTo>
                      <a:pt x="3916" y="212"/>
                      <a:pt x="3928" y="239"/>
                      <a:pt x="3959" y="248"/>
                    </a:cubicBezTo>
                    <a:cubicBezTo>
                      <a:pt x="3956" y="258"/>
                      <a:pt x="3953" y="268"/>
                      <a:pt x="3950" y="277"/>
                    </a:cubicBezTo>
                    <a:cubicBezTo>
                      <a:pt x="3987" y="281"/>
                      <a:pt x="3990" y="277"/>
                      <a:pt x="4001" y="331"/>
                    </a:cubicBezTo>
                    <a:cubicBezTo>
                      <a:pt x="3892" y="432"/>
                      <a:pt x="3898" y="404"/>
                      <a:pt x="3869" y="548"/>
                    </a:cubicBezTo>
                    <a:cubicBezTo>
                      <a:pt x="3854" y="701"/>
                      <a:pt x="3841" y="864"/>
                      <a:pt x="3841" y="1031"/>
                    </a:cubicBezTo>
                    <a:cubicBezTo>
                      <a:pt x="3884" y="1094"/>
                      <a:pt x="3993" y="960"/>
                      <a:pt x="4026" y="938"/>
                    </a:cubicBezTo>
                    <a:cubicBezTo>
                      <a:pt x="4050" y="900"/>
                      <a:pt x="4073" y="867"/>
                      <a:pt x="4077" y="829"/>
                    </a:cubicBezTo>
                    <a:cubicBezTo>
                      <a:pt x="4039" y="785"/>
                      <a:pt x="4011" y="741"/>
                      <a:pt x="4005" y="700"/>
                    </a:cubicBezTo>
                    <a:cubicBezTo>
                      <a:pt x="4034" y="704"/>
                      <a:pt x="4081" y="706"/>
                      <a:pt x="4108" y="749"/>
                    </a:cubicBezTo>
                    <a:cubicBezTo>
                      <a:pt x="4117" y="749"/>
                      <a:pt x="4127" y="749"/>
                      <a:pt x="4137" y="749"/>
                    </a:cubicBezTo>
                    <a:cubicBezTo>
                      <a:pt x="4171" y="671"/>
                      <a:pt x="4171" y="671"/>
                      <a:pt x="4174" y="650"/>
                    </a:cubicBezTo>
                    <a:cubicBezTo>
                      <a:pt x="4139" y="650"/>
                      <a:pt x="4113" y="662"/>
                      <a:pt x="4090" y="664"/>
                    </a:cubicBezTo>
                    <a:cubicBezTo>
                      <a:pt x="4074" y="635"/>
                      <a:pt x="4068" y="635"/>
                      <a:pt x="4068" y="613"/>
                    </a:cubicBezTo>
                    <a:cubicBezTo>
                      <a:pt x="4091" y="597"/>
                      <a:pt x="4120" y="450"/>
                      <a:pt x="4123" y="439"/>
                    </a:cubicBezTo>
                    <a:cubicBezTo>
                      <a:pt x="4077" y="439"/>
                      <a:pt x="4047" y="517"/>
                      <a:pt x="3979" y="517"/>
                    </a:cubicBezTo>
                    <a:cubicBezTo>
                      <a:pt x="3976" y="513"/>
                      <a:pt x="3976" y="513"/>
                      <a:pt x="3936" y="511"/>
                    </a:cubicBezTo>
                    <a:cubicBezTo>
                      <a:pt x="3935" y="506"/>
                      <a:pt x="3935" y="502"/>
                      <a:pt x="3935" y="498"/>
                    </a:cubicBezTo>
                    <a:cubicBezTo>
                      <a:pt x="3928" y="495"/>
                      <a:pt x="3921" y="493"/>
                      <a:pt x="3914" y="490"/>
                    </a:cubicBezTo>
                    <a:cubicBezTo>
                      <a:pt x="3913" y="486"/>
                      <a:pt x="3912" y="482"/>
                      <a:pt x="3912" y="479"/>
                    </a:cubicBezTo>
                    <a:cubicBezTo>
                      <a:pt x="3976" y="433"/>
                      <a:pt x="4068" y="393"/>
                      <a:pt x="4124" y="337"/>
                    </a:cubicBezTo>
                    <a:cubicBezTo>
                      <a:pt x="4186" y="324"/>
                      <a:pt x="4196" y="177"/>
                      <a:pt x="4199" y="128"/>
                    </a:cubicBezTo>
                    <a:cubicBezTo>
                      <a:pt x="4246" y="131"/>
                      <a:pt x="4265" y="160"/>
                      <a:pt x="4317" y="179"/>
                    </a:cubicBezTo>
                    <a:cubicBezTo>
                      <a:pt x="4320" y="192"/>
                      <a:pt x="4324" y="206"/>
                      <a:pt x="4328" y="219"/>
                    </a:cubicBezTo>
                    <a:cubicBezTo>
                      <a:pt x="4341" y="224"/>
                      <a:pt x="4353" y="224"/>
                      <a:pt x="4364" y="247"/>
                    </a:cubicBezTo>
                    <a:cubicBezTo>
                      <a:pt x="4368" y="247"/>
                      <a:pt x="4372" y="247"/>
                      <a:pt x="4378" y="248"/>
                    </a:cubicBezTo>
                    <a:cubicBezTo>
                      <a:pt x="4379" y="258"/>
                      <a:pt x="4381" y="268"/>
                      <a:pt x="4384" y="277"/>
                    </a:cubicBezTo>
                    <a:cubicBezTo>
                      <a:pt x="4363" y="294"/>
                      <a:pt x="4345" y="306"/>
                      <a:pt x="4319" y="319"/>
                    </a:cubicBezTo>
                    <a:cubicBezTo>
                      <a:pt x="4317" y="323"/>
                      <a:pt x="4317" y="327"/>
                      <a:pt x="4317" y="331"/>
                    </a:cubicBezTo>
                    <a:cubicBezTo>
                      <a:pt x="4306" y="334"/>
                      <a:pt x="4297" y="337"/>
                      <a:pt x="4287" y="341"/>
                    </a:cubicBezTo>
                    <a:cubicBezTo>
                      <a:pt x="4239" y="422"/>
                      <a:pt x="4206" y="477"/>
                      <a:pt x="4199" y="578"/>
                    </a:cubicBezTo>
                    <a:cubicBezTo>
                      <a:pt x="4275" y="585"/>
                      <a:pt x="4297" y="578"/>
                      <a:pt x="4297" y="669"/>
                    </a:cubicBezTo>
                    <a:cubicBezTo>
                      <a:pt x="4265" y="705"/>
                      <a:pt x="4219" y="767"/>
                      <a:pt x="4219" y="820"/>
                    </a:cubicBezTo>
                    <a:cubicBezTo>
                      <a:pt x="4261" y="850"/>
                      <a:pt x="4302" y="882"/>
                      <a:pt x="4345" y="913"/>
                    </a:cubicBezTo>
                    <a:cubicBezTo>
                      <a:pt x="4410" y="937"/>
                      <a:pt x="4490" y="933"/>
                      <a:pt x="4567" y="933"/>
                    </a:cubicBezTo>
                    <a:cubicBezTo>
                      <a:pt x="4573" y="938"/>
                      <a:pt x="4573" y="938"/>
                      <a:pt x="4573" y="949"/>
                    </a:cubicBezTo>
                    <a:cubicBezTo>
                      <a:pt x="4487" y="1009"/>
                      <a:pt x="4363" y="1056"/>
                      <a:pt x="4265" y="1056"/>
                    </a:cubicBezTo>
                    <a:cubicBezTo>
                      <a:pt x="4214" y="1005"/>
                      <a:pt x="4190" y="956"/>
                      <a:pt x="4142" y="918"/>
                    </a:cubicBezTo>
                    <a:cubicBezTo>
                      <a:pt x="4091" y="984"/>
                      <a:pt x="3972" y="1115"/>
                      <a:pt x="3885" y="1125"/>
                    </a:cubicBezTo>
                    <a:cubicBezTo>
                      <a:pt x="3867" y="1103"/>
                      <a:pt x="3851" y="1090"/>
                      <a:pt x="3840" y="1087"/>
                    </a:cubicBezTo>
                    <a:cubicBezTo>
                      <a:pt x="3836" y="1131"/>
                      <a:pt x="3818" y="1160"/>
                      <a:pt x="3771" y="1178"/>
                    </a:cubicBezTo>
                    <a:close/>
                    <a:moveTo>
                      <a:pt x="5504" y="1160"/>
                    </a:moveTo>
                    <a:cubicBezTo>
                      <a:pt x="5523" y="1155"/>
                      <a:pt x="5544" y="1151"/>
                      <a:pt x="5565" y="1147"/>
                    </a:cubicBezTo>
                    <a:cubicBezTo>
                      <a:pt x="5565" y="1143"/>
                      <a:pt x="5565" y="1140"/>
                      <a:pt x="5565" y="1137"/>
                    </a:cubicBezTo>
                    <a:cubicBezTo>
                      <a:pt x="5590" y="1131"/>
                      <a:pt x="5653" y="1104"/>
                      <a:pt x="5711" y="1086"/>
                    </a:cubicBezTo>
                    <a:cubicBezTo>
                      <a:pt x="5711" y="1083"/>
                      <a:pt x="5711" y="1080"/>
                      <a:pt x="5711" y="1078"/>
                    </a:cubicBezTo>
                    <a:cubicBezTo>
                      <a:pt x="5718" y="1078"/>
                      <a:pt x="5726" y="1078"/>
                      <a:pt x="5734" y="1078"/>
                    </a:cubicBezTo>
                    <a:cubicBezTo>
                      <a:pt x="5734" y="1074"/>
                      <a:pt x="5734" y="1071"/>
                      <a:pt x="5734" y="1068"/>
                    </a:cubicBezTo>
                    <a:cubicBezTo>
                      <a:pt x="5739" y="1068"/>
                      <a:pt x="5743" y="1068"/>
                      <a:pt x="5748" y="1068"/>
                    </a:cubicBezTo>
                    <a:cubicBezTo>
                      <a:pt x="5739" y="1016"/>
                      <a:pt x="5668" y="1034"/>
                      <a:pt x="5634" y="1034"/>
                    </a:cubicBezTo>
                    <a:cubicBezTo>
                      <a:pt x="5556" y="1003"/>
                      <a:pt x="5556" y="1003"/>
                      <a:pt x="5504" y="976"/>
                    </a:cubicBezTo>
                    <a:cubicBezTo>
                      <a:pt x="5504" y="973"/>
                      <a:pt x="5504" y="970"/>
                      <a:pt x="5504" y="967"/>
                    </a:cubicBezTo>
                    <a:cubicBezTo>
                      <a:pt x="5501" y="967"/>
                      <a:pt x="5498" y="967"/>
                      <a:pt x="5496" y="967"/>
                    </a:cubicBezTo>
                    <a:cubicBezTo>
                      <a:pt x="5496" y="963"/>
                      <a:pt x="5496" y="960"/>
                      <a:pt x="5496" y="958"/>
                    </a:cubicBezTo>
                    <a:cubicBezTo>
                      <a:pt x="5490" y="958"/>
                      <a:pt x="5486" y="958"/>
                      <a:pt x="5482" y="958"/>
                    </a:cubicBezTo>
                    <a:cubicBezTo>
                      <a:pt x="5482" y="953"/>
                      <a:pt x="5482" y="951"/>
                      <a:pt x="5482" y="948"/>
                    </a:cubicBezTo>
                    <a:cubicBezTo>
                      <a:pt x="5478" y="948"/>
                      <a:pt x="5475" y="948"/>
                      <a:pt x="5472" y="948"/>
                    </a:cubicBezTo>
                    <a:cubicBezTo>
                      <a:pt x="5472" y="945"/>
                      <a:pt x="5472" y="942"/>
                      <a:pt x="5472" y="940"/>
                    </a:cubicBezTo>
                    <a:cubicBezTo>
                      <a:pt x="5468" y="940"/>
                      <a:pt x="5465" y="940"/>
                      <a:pt x="5463" y="940"/>
                    </a:cubicBezTo>
                    <a:cubicBezTo>
                      <a:pt x="5463" y="936"/>
                      <a:pt x="5463" y="933"/>
                      <a:pt x="5463" y="930"/>
                    </a:cubicBezTo>
                    <a:cubicBezTo>
                      <a:pt x="5460" y="930"/>
                      <a:pt x="5457" y="930"/>
                      <a:pt x="5454" y="930"/>
                    </a:cubicBezTo>
                    <a:cubicBezTo>
                      <a:pt x="5454" y="925"/>
                      <a:pt x="5454" y="920"/>
                      <a:pt x="5454" y="916"/>
                    </a:cubicBezTo>
                    <a:cubicBezTo>
                      <a:pt x="5434" y="904"/>
                      <a:pt x="5421" y="889"/>
                      <a:pt x="5413" y="889"/>
                    </a:cubicBezTo>
                    <a:cubicBezTo>
                      <a:pt x="5406" y="875"/>
                      <a:pt x="5399" y="861"/>
                      <a:pt x="5394" y="847"/>
                    </a:cubicBezTo>
                    <a:cubicBezTo>
                      <a:pt x="5391" y="847"/>
                      <a:pt x="5388" y="847"/>
                      <a:pt x="5385" y="847"/>
                    </a:cubicBezTo>
                    <a:cubicBezTo>
                      <a:pt x="5381" y="838"/>
                      <a:pt x="5378" y="828"/>
                      <a:pt x="5376" y="820"/>
                    </a:cubicBezTo>
                    <a:cubicBezTo>
                      <a:pt x="5370" y="820"/>
                      <a:pt x="5366" y="820"/>
                      <a:pt x="5362" y="820"/>
                    </a:cubicBezTo>
                    <a:cubicBezTo>
                      <a:pt x="5358" y="811"/>
                      <a:pt x="5355" y="803"/>
                      <a:pt x="5352" y="796"/>
                    </a:cubicBezTo>
                    <a:cubicBezTo>
                      <a:pt x="5349" y="796"/>
                      <a:pt x="5347" y="796"/>
                      <a:pt x="5344" y="796"/>
                    </a:cubicBezTo>
                    <a:cubicBezTo>
                      <a:pt x="5344" y="793"/>
                      <a:pt x="5344" y="791"/>
                      <a:pt x="5344" y="788"/>
                    </a:cubicBezTo>
                    <a:cubicBezTo>
                      <a:pt x="5337" y="788"/>
                      <a:pt x="5330" y="788"/>
                      <a:pt x="5325" y="788"/>
                    </a:cubicBezTo>
                    <a:cubicBezTo>
                      <a:pt x="5325" y="791"/>
                      <a:pt x="5325" y="793"/>
                      <a:pt x="5325" y="796"/>
                    </a:cubicBezTo>
                    <a:cubicBezTo>
                      <a:pt x="5322" y="796"/>
                      <a:pt x="5319" y="796"/>
                      <a:pt x="5316" y="796"/>
                    </a:cubicBezTo>
                    <a:cubicBezTo>
                      <a:pt x="5316" y="807"/>
                      <a:pt x="5316" y="818"/>
                      <a:pt x="5316" y="829"/>
                    </a:cubicBezTo>
                    <a:cubicBezTo>
                      <a:pt x="5319" y="829"/>
                      <a:pt x="5322" y="829"/>
                      <a:pt x="5325" y="829"/>
                    </a:cubicBezTo>
                    <a:cubicBezTo>
                      <a:pt x="5347" y="905"/>
                      <a:pt x="5389" y="991"/>
                      <a:pt x="5427" y="1078"/>
                    </a:cubicBezTo>
                    <a:cubicBezTo>
                      <a:pt x="5429" y="1078"/>
                      <a:pt x="5432" y="1078"/>
                      <a:pt x="5435" y="1078"/>
                    </a:cubicBezTo>
                    <a:cubicBezTo>
                      <a:pt x="5435" y="1087"/>
                      <a:pt x="5435" y="1098"/>
                      <a:pt x="5435" y="1109"/>
                    </a:cubicBezTo>
                    <a:cubicBezTo>
                      <a:pt x="5438" y="1109"/>
                      <a:pt x="5441" y="1109"/>
                      <a:pt x="5445" y="1109"/>
                    </a:cubicBezTo>
                    <a:cubicBezTo>
                      <a:pt x="5446" y="1130"/>
                      <a:pt x="5449" y="1136"/>
                      <a:pt x="5482" y="1147"/>
                    </a:cubicBezTo>
                    <a:cubicBezTo>
                      <a:pt x="5482" y="1149"/>
                      <a:pt x="5482" y="1152"/>
                      <a:pt x="5482" y="1156"/>
                    </a:cubicBezTo>
                    <a:cubicBezTo>
                      <a:pt x="5489" y="1158"/>
                      <a:pt x="5496" y="1159"/>
                      <a:pt x="5504" y="1160"/>
                    </a:cubicBezTo>
                    <a:close/>
                    <a:moveTo>
                      <a:pt x="2574" y="1036"/>
                    </a:moveTo>
                    <a:cubicBezTo>
                      <a:pt x="2588" y="1029"/>
                      <a:pt x="2602" y="1022"/>
                      <a:pt x="2616" y="1017"/>
                    </a:cubicBezTo>
                    <a:cubicBezTo>
                      <a:pt x="2614" y="962"/>
                      <a:pt x="2613" y="908"/>
                      <a:pt x="2613" y="854"/>
                    </a:cubicBezTo>
                    <a:cubicBezTo>
                      <a:pt x="2630" y="803"/>
                      <a:pt x="2681" y="755"/>
                      <a:pt x="2708" y="709"/>
                    </a:cubicBezTo>
                    <a:cubicBezTo>
                      <a:pt x="2712" y="709"/>
                      <a:pt x="2717" y="709"/>
                      <a:pt x="2721" y="709"/>
                    </a:cubicBezTo>
                    <a:cubicBezTo>
                      <a:pt x="2726" y="675"/>
                      <a:pt x="2754" y="643"/>
                      <a:pt x="2758" y="607"/>
                    </a:cubicBezTo>
                    <a:cubicBezTo>
                      <a:pt x="2719" y="617"/>
                      <a:pt x="2664" y="735"/>
                      <a:pt x="2623" y="727"/>
                    </a:cubicBezTo>
                    <a:cubicBezTo>
                      <a:pt x="2623" y="622"/>
                      <a:pt x="2649" y="591"/>
                      <a:pt x="2692" y="511"/>
                    </a:cubicBezTo>
                    <a:cubicBezTo>
                      <a:pt x="2692" y="501"/>
                      <a:pt x="2693" y="491"/>
                      <a:pt x="2695" y="482"/>
                    </a:cubicBezTo>
                    <a:cubicBezTo>
                      <a:pt x="2648" y="435"/>
                      <a:pt x="2657" y="404"/>
                      <a:pt x="2580" y="404"/>
                    </a:cubicBezTo>
                    <a:cubicBezTo>
                      <a:pt x="2574" y="410"/>
                      <a:pt x="2569" y="415"/>
                      <a:pt x="2565" y="422"/>
                    </a:cubicBezTo>
                    <a:cubicBezTo>
                      <a:pt x="2537" y="535"/>
                      <a:pt x="2438" y="557"/>
                      <a:pt x="2362" y="628"/>
                    </a:cubicBezTo>
                    <a:cubicBezTo>
                      <a:pt x="2341" y="637"/>
                      <a:pt x="2238" y="687"/>
                      <a:pt x="2228" y="708"/>
                    </a:cubicBezTo>
                    <a:cubicBezTo>
                      <a:pt x="2221" y="708"/>
                      <a:pt x="2216" y="708"/>
                      <a:pt x="2210" y="709"/>
                    </a:cubicBezTo>
                    <a:cubicBezTo>
                      <a:pt x="2217" y="748"/>
                      <a:pt x="2278" y="766"/>
                      <a:pt x="2333" y="766"/>
                    </a:cubicBezTo>
                    <a:cubicBezTo>
                      <a:pt x="2398" y="726"/>
                      <a:pt x="2453" y="650"/>
                      <a:pt x="2522" y="604"/>
                    </a:cubicBezTo>
                    <a:cubicBezTo>
                      <a:pt x="2530" y="677"/>
                      <a:pt x="2521" y="760"/>
                      <a:pt x="2518" y="846"/>
                    </a:cubicBezTo>
                    <a:cubicBezTo>
                      <a:pt x="2505" y="849"/>
                      <a:pt x="2494" y="851"/>
                      <a:pt x="2483" y="856"/>
                    </a:cubicBezTo>
                    <a:cubicBezTo>
                      <a:pt x="2482" y="833"/>
                      <a:pt x="2482" y="813"/>
                      <a:pt x="2482" y="792"/>
                    </a:cubicBezTo>
                    <a:cubicBezTo>
                      <a:pt x="2475" y="791"/>
                      <a:pt x="2468" y="789"/>
                      <a:pt x="2461" y="789"/>
                    </a:cubicBezTo>
                    <a:cubicBezTo>
                      <a:pt x="2432" y="825"/>
                      <a:pt x="2403" y="862"/>
                      <a:pt x="2374" y="900"/>
                    </a:cubicBezTo>
                    <a:cubicBezTo>
                      <a:pt x="2374" y="925"/>
                      <a:pt x="2363" y="992"/>
                      <a:pt x="2388" y="1024"/>
                    </a:cubicBezTo>
                    <a:cubicBezTo>
                      <a:pt x="2396" y="1022"/>
                      <a:pt x="2406" y="1021"/>
                      <a:pt x="2416" y="1021"/>
                    </a:cubicBezTo>
                    <a:cubicBezTo>
                      <a:pt x="2449" y="1002"/>
                      <a:pt x="2476" y="936"/>
                      <a:pt x="2518" y="949"/>
                    </a:cubicBezTo>
                    <a:cubicBezTo>
                      <a:pt x="2519" y="969"/>
                      <a:pt x="2522" y="989"/>
                      <a:pt x="2525" y="1010"/>
                    </a:cubicBezTo>
                    <a:cubicBezTo>
                      <a:pt x="2541" y="1018"/>
                      <a:pt x="2558" y="1027"/>
                      <a:pt x="2574" y="1036"/>
                    </a:cubicBezTo>
                    <a:close/>
                    <a:moveTo>
                      <a:pt x="339" y="1017"/>
                    </a:moveTo>
                    <a:cubicBezTo>
                      <a:pt x="385" y="1009"/>
                      <a:pt x="495" y="967"/>
                      <a:pt x="538" y="941"/>
                    </a:cubicBezTo>
                    <a:cubicBezTo>
                      <a:pt x="536" y="923"/>
                      <a:pt x="536" y="905"/>
                      <a:pt x="536" y="889"/>
                    </a:cubicBezTo>
                    <a:cubicBezTo>
                      <a:pt x="473" y="909"/>
                      <a:pt x="414" y="951"/>
                      <a:pt x="357" y="976"/>
                    </a:cubicBezTo>
                    <a:cubicBezTo>
                      <a:pt x="356" y="980"/>
                      <a:pt x="356" y="984"/>
                      <a:pt x="356" y="988"/>
                    </a:cubicBezTo>
                    <a:cubicBezTo>
                      <a:pt x="349" y="991"/>
                      <a:pt x="342" y="995"/>
                      <a:pt x="336" y="999"/>
                    </a:cubicBezTo>
                    <a:cubicBezTo>
                      <a:pt x="336" y="1005"/>
                      <a:pt x="338" y="1010"/>
                      <a:pt x="339" y="1017"/>
                    </a:cubicBezTo>
                    <a:close/>
                    <a:moveTo>
                      <a:pt x="674" y="902"/>
                    </a:moveTo>
                    <a:cubicBezTo>
                      <a:pt x="688" y="897"/>
                      <a:pt x="702" y="893"/>
                      <a:pt x="716" y="889"/>
                    </a:cubicBezTo>
                    <a:cubicBezTo>
                      <a:pt x="710" y="856"/>
                      <a:pt x="695" y="840"/>
                      <a:pt x="684" y="822"/>
                    </a:cubicBezTo>
                    <a:cubicBezTo>
                      <a:pt x="677" y="822"/>
                      <a:pt x="670" y="822"/>
                      <a:pt x="665" y="822"/>
                    </a:cubicBezTo>
                    <a:cubicBezTo>
                      <a:pt x="651" y="840"/>
                      <a:pt x="651" y="872"/>
                      <a:pt x="674" y="902"/>
                    </a:cubicBezTo>
                    <a:close/>
                    <a:moveTo>
                      <a:pt x="684" y="769"/>
                    </a:moveTo>
                    <a:cubicBezTo>
                      <a:pt x="730" y="751"/>
                      <a:pt x="822" y="713"/>
                      <a:pt x="840" y="668"/>
                    </a:cubicBezTo>
                    <a:cubicBezTo>
                      <a:pt x="775" y="673"/>
                      <a:pt x="710" y="704"/>
                      <a:pt x="658" y="730"/>
                    </a:cubicBezTo>
                    <a:cubicBezTo>
                      <a:pt x="662" y="751"/>
                      <a:pt x="658" y="748"/>
                      <a:pt x="684" y="769"/>
                    </a:cubicBezTo>
                    <a:close/>
                    <a:moveTo>
                      <a:pt x="665" y="676"/>
                    </a:moveTo>
                    <a:cubicBezTo>
                      <a:pt x="696" y="666"/>
                      <a:pt x="709" y="660"/>
                      <a:pt x="731" y="633"/>
                    </a:cubicBezTo>
                    <a:cubicBezTo>
                      <a:pt x="741" y="530"/>
                      <a:pt x="756" y="542"/>
                      <a:pt x="673" y="531"/>
                    </a:cubicBezTo>
                    <a:cubicBezTo>
                      <a:pt x="654" y="564"/>
                      <a:pt x="643" y="632"/>
                      <a:pt x="665" y="676"/>
                    </a:cubicBezTo>
                    <a:close/>
                    <a:moveTo>
                      <a:pt x="1654" y="672"/>
                    </a:moveTo>
                    <a:cubicBezTo>
                      <a:pt x="1698" y="658"/>
                      <a:pt x="1731" y="646"/>
                      <a:pt x="1748" y="600"/>
                    </a:cubicBezTo>
                    <a:cubicBezTo>
                      <a:pt x="1751" y="567"/>
                      <a:pt x="1760" y="541"/>
                      <a:pt x="1760" y="522"/>
                    </a:cubicBezTo>
                    <a:cubicBezTo>
                      <a:pt x="1764" y="520"/>
                      <a:pt x="1769" y="520"/>
                      <a:pt x="1774" y="520"/>
                    </a:cubicBezTo>
                    <a:cubicBezTo>
                      <a:pt x="1774" y="502"/>
                      <a:pt x="1774" y="484"/>
                      <a:pt x="1776" y="466"/>
                    </a:cubicBezTo>
                    <a:cubicBezTo>
                      <a:pt x="1741" y="461"/>
                      <a:pt x="1690" y="493"/>
                      <a:pt x="1680" y="519"/>
                    </a:cubicBezTo>
                    <a:cubicBezTo>
                      <a:pt x="1638" y="528"/>
                      <a:pt x="1635" y="632"/>
                      <a:pt x="1654" y="672"/>
                    </a:cubicBezTo>
                    <a:close/>
                    <a:moveTo>
                      <a:pt x="6448" y="428"/>
                    </a:moveTo>
                    <a:cubicBezTo>
                      <a:pt x="6489" y="425"/>
                      <a:pt x="6489" y="425"/>
                      <a:pt x="6495" y="421"/>
                    </a:cubicBezTo>
                    <a:cubicBezTo>
                      <a:pt x="6493" y="388"/>
                      <a:pt x="6486" y="362"/>
                      <a:pt x="6480" y="344"/>
                    </a:cubicBezTo>
                    <a:cubicBezTo>
                      <a:pt x="6413" y="338"/>
                      <a:pt x="6423" y="350"/>
                      <a:pt x="6423" y="411"/>
                    </a:cubicBezTo>
                    <a:cubicBezTo>
                      <a:pt x="6431" y="417"/>
                      <a:pt x="6440" y="422"/>
                      <a:pt x="6448" y="428"/>
                    </a:cubicBezTo>
                    <a:close/>
                    <a:moveTo>
                      <a:pt x="2348" y="410"/>
                    </a:moveTo>
                    <a:cubicBezTo>
                      <a:pt x="2363" y="408"/>
                      <a:pt x="2423" y="397"/>
                      <a:pt x="2432" y="378"/>
                    </a:cubicBezTo>
                    <a:cubicBezTo>
                      <a:pt x="2488" y="352"/>
                      <a:pt x="2543" y="326"/>
                      <a:pt x="2599" y="301"/>
                    </a:cubicBezTo>
                    <a:cubicBezTo>
                      <a:pt x="2695" y="287"/>
                      <a:pt x="2697" y="283"/>
                      <a:pt x="2718" y="277"/>
                    </a:cubicBezTo>
                    <a:cubicBezTo>
                      <a:pt x="2746" y="228"/>
                      <a:pt x="2737" y="177"/>
                      <a:pt x="2721" y="138"/>
                    </a:cubicBezTo>
                    <a:cubicBezTo>
                      <a:pt x="2679" y="124"/>
                      <a:pt x="2670" y="76"/>
                      <a:pt x="2660" y="150"/>
                    </a:cubicBezTo>
                    <a:cubicBezTo>
                      <a:pt x="2581" y="197"/>
                      <a:pt x="2505" y="257"/>
                      <a:pt x="2434" y="317"/>
                    </a:cubicBezTo>
                    <a:cubicBezTo>
                      <a:pt x="2425" y="335"/>
                      <a:pt x="2407" y="349"/>
                      <a:pt x="2390" y="359"/>
                    </a:cubicBezTo>
                    <a:cubicBezTo>
                      <a:pt x="2390" y="362"/>
                      <a:pt x="2390" y="364"/>
                      <a:pt x="2390" y="368"/>
                    </a:cubicBezTo>
                    <a:cubicBezTo>
                      <a:pt x="2387" y="368"/>
                      <a:pt x="2384" y="368"/>
                      <a:pt x="2381" y="368"/>
                    </a:cubicBezTo>
                    <a:cubicBezTo>
                      <a:pt x="2377" y="375"/>
                      <a:pt x="2374" y="384"/>
                      <a:pt x="2372" y="392"/>
                    </a:cubicBezTo>
                    <a:cubicBezTo>
                      <a:pt x="2367" y="392"/>
                      <a:pt x="2365" y="392"/>
                      <a:pt x="2362" y="392"/>
                    </a:cubicBezTo>
                    <a:cubicBezTo>
                      <a:pt x="2362" y="395"/>
                      <a:pt x="2362" y="397"/>
                      <a:pt x="2362" y="400"/>
                    </a:cubicBezTo>
                    <a:cubicBezTo>
                      <a:pt x="2356" y="400"/>
                      <a:pt x="2352" y="400"/>
                      <a:pt x="2348" y="400"/>
                    </a:cubicBezTo>
                    <a:cubicBezTo>
                      <a:pt x="2348" y="403"/>
                      <a:pt x="2348" y="406"/>
                      <a:pt x="2348" y="410"/>
                    </a:cubicBezTo>
                    <a:close/>
                    <a:moveTo>
                      <a:pt x="767" y="280"/>
                    </a:moveTo>
                    <a:cubicBezTo>
                      <a:pt x="782" y="277"/>
                      <a:pt x="797" y="275"/>
                      <a:pt x="812" y="272"/>
                    </a:cubicBezTo>
                    <a:cubicBezTo>
                      <a:pt x="812" y="266"/>
                      <a:pt x="812" y="262"/>
                      <a:pt x="814" y="258"/>
                    </a:cubicBezTo>
                    <a:cubicBezTo>
                      <a:pt x="818" y="255"/>
                      <a:pt x="822" y="252"/>
                      <a:pt x="828" y="251"/>
                    </a:cubicBezTo>
                    <a:cubicBezTo>
                      <a:pt x="828" y="226"/>
                      <a:pt x="823" y="211"/>
                      <a:pt x="818" y="200"/>
                    </a:cubicBezTo>
                    <a:cubicBezTo>
                      <a:pt x="810" y="200"/>
                      <a:pt x="801" y="200"/>
                      <a:pt x="794" y="200"/>
                    </a:cubicBezTo>
                    <a:cubicBezTo>
                      <a:pt x="781" y="222"/>
                      <a:pt x="757" y="241"/>
                      <a:pt x="757" y="272"/>
                    </a:cubicBezTo>
                    <a:cubicBezTo>
                      <a:pt x="760" y="272"/>
                      <a:pt x="763" y="272"/>
                      <a:pt x="767" y="272"/>
                    </a:cubicBezTo>
                    <a:cubicBezTo>
                      <a:pt x="767" y="275"/>
                      <a:pt x="767" y="277"/>
                      <a:pt x="767" y="28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4" name="iṩḻîḑè"/>
              <p:cNvSpPr/>
              <p:nvPr/>
            </p:nvSpPr>
            <p:spPr bwMode="auto">
              <a:xfrm>
                <a:off x="10109901" y="721607"/>
                <a:ext cx="36902" cy="46547"/>
              </a:xfrm>
              <a:custGeom>
                <a:avLst/>
                <a:gdLst>
                  <a:gd name="T0" fmla="*/ 73 w 88"/>
                  <a:gd name="T1" fmla="*/ 45 h 111"/>
                  <a:gd name="T2" fmla="*/ 73 w 88"/>
                  <a:gd name="T3" fmla="*/ 0 h 111"/>
                  <a:gd name="T4" fmla="*/ 88 w 88"/>
                  <a:gd name="T5" fmla="*/ 0 h 111"/>
                  <a:gd name="T6" fmla="*/ 88 w 88"/>
                  <a:gd name="T7" fmla="*/ 111 h 111"/>
                  <a:gd name="T8" fmla="*/ 73 w 88"/>
                  <a:gd name="T9" fmla="*/ 111 h 111"/>
                  <a:gd name="T10" fmla="*/ 73 w 88"/>
                  <a:gd name="T11" fmla="*/ 59 h 111"/>
                  <a:gd name="T12" fmla="*/ 15 w 88"/>
                  <a:gd name="T13" fmla="*/ 59 h 111"/>
                  <a:gd name="T14" fmla="*/ 15 w 88"/>
                  <a:gd name="T15" fmla="*/ 111 h 111"/>
                  <a:gd name="T16" fmla="*/ 0 w 88"/>
                  <a:gd name="T17" fmla="*/ 111 h 111"/>
                  <a:gd name="T18" fmla="*/ 0 w 88"/>
                  <a:gd name="T19" fmla="*/ 0 h 111"/>
                  <a:gd name="T20" fmla="*/ 15 w 88"/>
                  <a:gd name="T21" fmla="*/ 0 h 111"/>
                  <a:gd name="T22" fmla="*/ 15 w 88"/>
                  <a:gd name="T23" fmla="*/ 45 h 111"/>
                  <a:gd name="T24" fmla="*/ 73 w 88"/>
                  <a:gd name="T25" fmla="*/ 45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111">
                    <a:moveTo>
                      <a:pt x="73" y="45"/>
                    </a:moveTo>
                    <a:lnTo>
                      <a:pt x="73" y="0"/>
                    </a:lnTo>
                    <a:lnTo>
                      <a:pt x="88" y="0"/>
                    </a:lnTo>
                    <a:lnTo>
                      <a:pt x="88" y="111"/>
                    </a:lnTo>
                    <a:lnTo>
                      <a:pt x="73" y="111"/>
                    </a:lnTo>
                    <a:lnTo>
                      <a:pt x="73" y="59"/>
                    </a:lnTo>
                    <a:lnTo>
                      <a:pt x="15" y="59"/>
                    </a:lnTo>
                    <a:lnTo>
                      <a:pt x="15" y="111"/>
                    </a:lnTo>
                    <a:lnTo>
                      <a:pt x="0" y="111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45"/>
                    </a:lnTo>
                    <a:lnTo>
                      <a:pt x="73" y="4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5" name="íṥḻïďê"/>
              <p:cNvSpPr/>
              <p:nvPr/>
            </p:nvSpPr>
            <p:spPr bwMode="auto">
              <a:xfrm>
                <a:off x="10156029" y="734187"/>
                <a:ext cx="27258" cy="34386"/>
              </a:xfrm>
              <a:custGeom>
                <a:avLst/>
                <a:gdLst>
                  <a:gd name="T0" fmla="*/ 132 w 132"/>
                  <a:gd name="T1" fmla="*/ 164 h 167"/>
                  <a:gd name="T2" fmla="*/ 107 w 132"/>
                  <a:gd name="T3" fmla="*/ 164 h 167"/>
                  <a:gd name="T4" fmla="*/ 107 w 132"/>
                  <a:gd name="T5" fmla="*/ 141 h 167"/>
                  <a:gd name="T6" fmla="*/ 105 w 132"/>
                  <a:gd name="T7" fmla="*/ 140 h 167"/>
                  <a:gd name="T8" fmla="*/ 53 w 132"/>
                  <a:gd name="T9" fmla="*/ 166 h 167"/>
                  <a:gd name="T10" fmla="*/ 0 w 132"/>
                  <a:gd name="T11" fmla="*/ 117 h 167"/>
                  <a:gd name="T12" fmla="*/ 0 w 132"/>
                  <a:gd name="T13" fmla="*/ 0 h 167"/>
                  <a:gd name="T14" fmla="*/ 28 w 132"/>
                  <a:gd name="T15" fmla="*/ 0 h 167"/>
                  <a:gd name="T16" fmla="*/ 28 w 132"/>
                  <a:gd name="T17" fmla="*/ 109 h 167"/>
                  <a:gd name="T18" fmla="*/ 60 w 132"/>
                  <a:gd name="T19" fmla="*/ 146 h 167"/>
                  <a:gd name="T20" fmla="*/ 105 w 132"/>
                  <a:gd name="T21" fmla="*/ 91 h 167"/>
                  <a:gd name="T22" fmla="*/ 105 w 132"/>
                  <a:gd name="T23" fmla="*/ 0 h 167"/>
                  <a:gd name="T24" fmla="*/ 132 w 132"/>
                  <a:gd name="T25" fmla="*/ 0 h 167"/>
                  <a:gd name="T26" fmla="*/ 132 w 132"/>
                  <a:gd name="T27" fmla="*/ 164 h 1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2" h="167">
                    <a:moveTo>
                      <a:pt x="132" y="164"/>
                    </a:moveTo>
                    <a:cubicBezTo>
                      <a:pt x="107" y="164"/>
                      <a:pt x="107" y="164"/>
                      <a:pt x="107" y="164"/>
                    </a:cubicBezTo>
                    <a:cubicBezTo>
                      <a:pt x="107" y="141"/>
                      <a:pt x="107" y="141"/>
                      <a:pt x="107" y="141"/>
                    </a:cubicBezTo>
                    <a:cubicBezTo>
                      <a:pt x="105" y="140"/>
                      <a:pt x="105" y="140"/>
                      <a:pt x="105" y="140"/>
                    </a:cubicBezTo>
                    <a:cubicBezTo>
                      <a:pt x="94" y="158"/>
                      <a:pt x="76" y="167"/>
                      <a:pt x="53" y="166"/>
                    </a:cubicBezTo>
                    <a:cubicBezTo>
                      <a:pt x="18" y="165"/>
                      <a:pt x="1" y="149"/>
                      <a:pt x="0" y="11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8" y="109"/>
                      <a:pt x="28" y="109"/>
                      <a:pt x="28" y="109"/>
                    </a:cubicBezTo>
                    <a:cubicBezTo>
                      <a:pt x="28" y="133"/>
                      <a:pt x="39" y="146"/>
                      <a:pt x="60" y="146"/>
                    </a:cubicBezTo>
                    <a:cubicBezTo>
                      <a:pt x="88" y="145"/>
                      <a:pt x="103" y="126"/>
                      <a:pt x="105" y="91"/>
                    </a:cubicBezTo>
                    <a:cubicBezTo>
                      <a:pt x="105" y="0"/>
                      <a:pt x="105" y="0"/>
                      <a:pt x="105" y="0"/>
                    </a:cubicBezTo>
                    <a:cubicBezTo>
                      <a:pt x="132" y="0"/>
                      <a:pt x="132" y="0"/>
                      <a:pt x="132" y="0"/>
                    </a:cubicBezTo>
                    <a:lnTo>
                      <a:pt x="132" y="16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6" name="íşlíḋè"/>
              <p:cNvSpPr/>
              <p:nvPr/>
            </p:nvSpPr>
            <p:spPr bwMode="auto">
              <a:xfrm>
                <a:off x="10189996" y="732929"/>
                <a:ext cx="32290" cy="35644"/>
              </a:xfrm>
              <a:custGeom>
                <a:avLst/>
                <a:gdLst>
                  <a:gd name="T0" fmla="*/ 35 w 156"/>
                  <a:gd name="T1" fmla="*/ 55 h 171"/>
                  <a:gd name="T2" fmla="*/ 9 w 156"/>
                  <a:gd name="T3" fmla="*/ 55 h 171"/>
                  <a:gd name="T4" fmla="*/ 76 w 156"/>
                  <a:gd name="T5" fmla="*/ 0 h 171"/>
                  <a:gd name="T6" fmla="*/ 136 w 156"/>
                  <a:gd name="T7" fmla="*/ 46 h 171"/>
                  <a:gd name="T8" fmla="*/ 136 w 156"/>
                  <a:gd name="T9" fmla="*/ 141 h 171"/>
                  <a:gd name="T10" fmla="*/ 146 w 156"/>
                  <a:gd name="T11" fmla="*/ 151 h 171"/>
                  <a:gd name="T12" fmla="*/ 150 w 156"/>
                  <a:gd name="T13" fmla="*/ 151 h 171"/>
                  <a:gd name="T14" fmla="*/ 156 w 156"/>
                  <a:gd name="T15" fmla="*/ 149 h 171"/>
                  <a:gd name="T16" fmla="*/ 156 w 156"/>
                  <a:gd name="T17" fmla="*/ 169 h 171"/>
                  <a:gd name="T18" fmla="*/ 150 w 156"/>
                  <a:gd name="T19" fmla="*/ 169 h 171"/>
                  <a:gd name="T20" fmla="*/ 140 w 156"/>
                  <a:gd name="T21" fmla="*/ 170 h 171"/>
                  <a:gd name="T22" fmla="*/ 112 w 156"/>
                  <a:gd name="T23" fmla="*/ 147 h 171"/>
                  <a:gd name="T24" fmla="*/ 52 w 156"/>
                  <a:gd name="T25" fmla="*/ 171 h 171"/>
                  <a:gd name="T26" fmla="*/ 0 w 156"/>
                  <a:gd name="T27" fmla="*/ 126 h 171"/>
                  <a:gd name="T28" fmla="*/ 50 w 156"/>
                  <a:gd name="T29" fmla="*/ 75 h 171"/>
                  <a:gd name="T30" fmla="*/ 96 w 156"/>
                  <a:gd name="T31" fmla="*/ 70 h 171"/>
                  <a:gd name="T32" fmla="*/ 111 w 156"/>
                  <a:gd name="T33" fmla="*/ 50 h 171"/>
                  <a:gd name="T34" fmla="*/ 71 w 156"/>
                  <a:gd name="T35" fmla="*/ 23 h 171"/>
                  <a:gd name="T36" fmla="*/ 35 w 156"/>
                  <a:gd name="T37" fmla="*/ 55 h 171"/>
                  <a:gd name="T38" fmla="*/ 109 w 156"/>
                  <a:gd name="T39" fmla="*/ 113 h 171"/>
                  <a:gd name="T40" fmla="*/ 109 w 156"/>
                  <a:gd name="T41" fmla="*/ 86 h 171"/>
                  <a:gd name="T42" fmla="*/ 64 w 156"/>
                  <a:gd name="T43" fmla="*/ 97 h 171"/>
                  <a:gd name="T44" fmla="*/ 30 w 156"/>
                  <a:gd name="T45" fmla="*/ 122 h 171"/>
                  <a:gd name="T46" fmla="*/ 58 w 156"/>
                  <a:gd name="T47" fmla="*/ 151 h 171"/>
                  <a:gd name="T48" fmla="*/ 109 w 156"/>
                  <a:gd name="T49" fmla="*/ 113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56" h="171">
                    <a:moveTo>
                      <a:pt x="35" y="55"/>
                    </a:moveTo>
                    <a:cubicBezTo>
                      <a:pt x="9" y="55"/>
                      <a:pt x="9" y="55"/>
                      <a:pt x="9" y="55"/>
                    </a:cubicBezTo>
                    <a:cubicBezTo>
                      <a:pt x="10" y="18"/>
                      <a:pt x="32" y="0"/>
                      <a:pt x="76" y="0"/>
                    </a:cubicBezTo>
                    <a:cubicBezTo>
                      <a:pt x="115" y="2"/>
                      <a:pt x="135" y="17"/>
                      <a:pt x="136" y="46"/>
                    </a:cubicBezTo>
                    <a:cubicBezTo>
                      <a:pt x="136" y="141"/>
                      <a:pt x="136" y="141"/>
                      <a:pt x="136" y="141"/>
                    </a:cubicBezTo>
                    <a:cubicBezTo>
                      <a:pt x="136" y="147"/>
                      <a:pt x="140" y="151"/>
                      <a:pt x="146" y="151"/>
                    </a:cubicBezTo>
                    <a:cubicBezTo>
                      <a:pt x="147" y="151"/>
                      <a:pt x="148" y="151"/>
                      <a:pt x="150" y="151"/>
                    </a:cubicBezTo>
                    <a:cubicBezTo>
                      <a:pt x="152" y="150"/>
                      <a:pt x="154" y="149"/>
                      <a:pt x="156" y="149"/>
                    </a:cubicBezTo>
                    <a:cubicBezTo>
                      <a:pt x="156" y="169"/>
                      <a:pt x="156" y="169"/>
                      <a:pt x="156" y="169"/>
                    </a:cubicBezTo>
                    <a:cubicBezTo>
                      <a:pt x="154" y="169"/>
                      <a:pt x="152" y="169"/>
                      <a:pt x="150" y="169"/>
                    </a:cubicBezTo>
                    <a:cubicBezTo>
                      <a:pt x="146" y="170"/>
                      <a:pt x="142" y="170"/>
                      <a:pt x="140" y="170"/>
                    </a:cubicBezTo>
                    <a:cubicBezTo>
                      <a:pt x="120" y="170"/>
                      <a:pt x="111" y="163"/>
                      <a:pt x="112" y="147"/>
                    </a:cubicBezTo>
                    <a:cubicBezTo>
                      <a:pt x="95" y="163"/>
                      <a:pt x="75" y="171"/>
                      <a:pt x="52" y="171"/>
                    </a:cubicBezTo>
                    <a:cubicBezTo>
                      <a:pt x="19" y="170"/>
                      <a:pt x="2" y="155"/>
                      <a:pt x="0" y="126"/>
                    </a:cubicBezTo>
                    <a:cubicBezTo>
                      <a:pt x="1" y="97"/>
                      <a:pt x="18" y="80"/>
                      <a:pt x="50" y="75"/>
                    </a:cubicBezTo>
                    <a:cubicBezTo>
                      <a:pt x="96" y="70"/>
                      <a:pt x="96" y="70"/>
                      <a:pt x="96" y="70"/>
                    </a:cubicBezTo>
                    <a:cubicBezTo>
                      <a:pt x="106" y="68"/>
                      <a:pt x="111" y="62"/>
                      <a:pt x="111" y="50"/>
                    </a:cubicBezTo>
                    <a:cubicBezTo>
                      <a:pt x="111" y="32"/>
                      <a:pt x="97" y="23"/>
                      <a:pt x="71" y="23"/>
                    </a:cubicBezTo>
                    <a:cubicBezTo>
                      <a:pt x="48" y="23"/>
                      <a:pt x="36" y="34"/>
                      <a:pt x="35" y="55"/>
                    </a:cubicBezTo>
                    <a:close/>
                    <a:moveTo>
                      <a:pt x="109" y="113"/>
                    </a:moveTo>
                    <a:cubicBezTo>
                      <a:pt x="109" y="86"/>
                      <a:pt x="109" y="86"/>
                      <a:pt x="109" y="86"/>
                    </a:cubicBezTo>
                    <a:cubicBezTo>
                      <a:pt x="103" y="90"/>
                      <a:pt x="88" y="93"/>
                      <a:pt x="64" y="97"/>
                    </a:cubicBezTo>
                    <a:cubicBezTo>
                      <a:pt x="41" y="98"/>
                      <a:pt x="30" y="107"/>
                      <a:pt x="30" y="122"/>
                    </a:cubicBezTo>
                    <a:cubicBezTo>
                      <a:pt x="30" y="141"/>
                      <a:pt x="39" y="151"/>
                      <a:pt x="58" y="151"/>
                    </a:cubicBezTo>
                    <a:cubicBezTo>
                      <a:pt x="90" y="148"/>
                      <a:pt x="107" y="136"/>
                      <a:pt x="109" y="11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7" name="ïṣlíďe"/>
              <p:cNvSpPr/>
              <p:nvPr/>
            </p:nvSpPr>
            <p:spPr bwMode="auto">
              <a:xfrm>
                <a:off x="10225640" y="734187"/>
                <a:ext cx="28515" cy="33967"/>
              </a:xfrm>
              <a:custGeom>
                <a:avLst/>
                <a:gdLst>
                  <a:gd name="T0" fmla="*/ 67 w 68"/>
                  <a:gd name="T1" fmla="*/ 11 h 81"/>
                  <a:gd name="T2" fmla="*/ 19 w 68"/>
                  <a:gd name="T3" fmla="*/ 70 h 81"/>
                  <a:gd name="T4" fmla="*/ 68 w 68"/>
                  <a:gd name="T5" fmla="*/ 70 h 81"/>
                  <a:gd name="T6" fmla="*/ 68 w 68"/>
                  <a:gd name="T7" fmla="*/ 81 h 81"/>
                  <a:gd name="T8" fmla="*/ 0 w 68"/>
                  <a:gd name="T9" fmla="*/ 81 h 81"/>
                  <a:gd name="T10" fmla="*/ 0 w 68"/>
                  <a:gd name="T11" fmla="*/ 70 h 81"/>
                  <a:gd name="T12" fmla="*/ 49 w 68"/>
                  <a:gd name="T13" fmla="*/ 11 h 81"/>
                  <a:gd name="T14" fmla="*/ 4 w 68"/>
                  <a:gd name="T15" fmla="*/ 11 h 81"/>
                  <a:gd name="T16" fmla="*/ 4 w 68"/>
                  <a:gd name="T17" fmla="*/ 0 h 81"/>
                  <a:gd name="T18" fmla="*/ 67 w 68"/>
                  <a:gd name="T19" fmla="*/ 0 h 81"/>
                  <a:gd name="T20" fmla="*/ 67 w 68"/>
                  <a:gd name="T21" fmla="*/ 11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8" h="81">
                    <a:moveTo>
                      <a:pt x="67" y="11"/>
                    </a:moveTo>
                    <a:lnTo>
                      <a:pt x="19" y="70"/>
                    </a:lnTo>
                    <a:lnTo>
                      <a:pt x="68" y="70"/>
                    </a:lnTo>
                    <a:lnTo>
                      <a:pt x="68" y="81"/>
                    </a:lnTo>
                    <a:lnTo>
                      <a:pt x="0" y="81"/>
                    </a:lnTo>
                    <a:lnTo>
                      <a:pt x="0" y="70"/>
                    </a:lnTo>
                    <a:lnTo>
                      <a:pt x="49" y="11"/>
                    </a:lnTo>
                    <a:lnTo>
                      <a:pt x="4" y="11"/>
                    </a:lnTo>
                    <a:lnTo>
                      <a:pt x="4" y="0"/>
                    </a:lnTo>
                    <a:lnTo>
                      <a:pt x="67" y="0"/>
                    </a:lnTo>
                    <a:lnTo>
                      <a:pt x="67" y="1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8" name="íṧľîḑe"/>
              <p:cNvSpPr/>
              <p:nvPr/>
            </p:nvSpPr>
            <p:spPr bwMode="auto">
              <a:xfrm>
                <a:off x="10260446" y="721607"/>
                <a:ext cx="27677" cy="46547"/>
              </a:xfrm>
              <a:custGeom>
                <a:avLst/>
                <a:gdLst>
                  <a:gd name="T0" fmla="*/ 133 w 133"/>
                  <a:gd name="T1" fmla="*/ 113 h 224"/>
                  <a:gd name="T2" fmla="*/ 133 w 133"/>
                  <a:gd name="T3" fmla="*/ 224 h 224"/>
                  <a:gd name="T4" fmla="*/ 106 w 133"/>
                  <a:gd name="T5" fmla="*/ 224 h 224"/>
                  <a:gd name="T6" fmla="*/ 106 w 133"/>
                  <a:gd name="T7" fmla="*/ 117 h 224"/>
                  <a:gd name="T8" fmla="*/ 73 w 133"/>
                  <a:gd name="T9" fmla="*/ 81 h 224"/>
                  <a:gd name="T10" fmla="*/ 28 w 133"/>
                  <a:gd name="T11" fmla="*/ 135 h 224"/>
                  <a:gd name="T12" fmla="*/ 28 w 133"/>
                  <a:gd name="T13" fmla="*/ 224 h 224"/>
                  <a:gd name="T14" fmla="*/ 0 w 133"/>
                  <a:gd name="T15" fmla="*/ 224 h 224"/>
                  <a:gd name="T16" fmla="*/ 0 w 133"/>
                  <a:gd name="T17" fmla="*/ 0 h 224"/>
                  <a:gd name="T18" fmla="*/ 28 w 133"/>
                  <a:gd name="T19" fmla="*/ 0 h 224"/>
                  <a:gd name="T20" fmla="*/ 28 w 133"/>
                  <a:gd name="T21" fmla="*/ 82 h 224"/>
                  <a:gd name="T22" fmla="*/ 29 w 133"/>
                  <a:gd name="T23" fmla="*/ 82 h 224"/>
                  <a:gd name="T24" fmla="*/ 77 w 133"/>
                  <a:gd name="T25" fmla="*/ 55 h 224"/>
                  <a:gd name="T26" fmla="*/ 133 w 133"/>
                  <a:gd name="T27" fmla="*/ 113 h 2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24">
                    <a:moveTo>
                      <a:pt x="133" y="113"/>
                    </a:moveTo>
                    <a:cubicBezTo>
                      <a:pt x="133" y="224"/>
                      <a:pt x="133" y="224"/>
                      <a:pt x="133" y="224"/>
                    </a:cubicBezTo>
                    <a:cubicBezTo>
                      <a:pt x="106" y="224"/>
                      <a:pt x="106" y="224"/>
                      <a:pt x="106" y="224"/>
                    </a:cubicBezTo>
                    <a:cubicBezTo>
                      <a:pt x="106" y="117"/>
                      <a:pt x="106" y="117"/>
                      <a:pt x="106" y="117"/>
                    </a:cubicBezTo>
                    <a:cubicBezTo>
                      <a:pt x="107" y="92"/>
                      <a:pt x="96" y="80"/>
                      <a:pt x="73" y="81"/>
                    </a:cubicBezTo>
                    <a:cubicBezTo>
                      <a:pt x="44" y="81"/>
                      <a:pt x="29" y="99"/>
                      <a:pt x="28" y="135"/>
                    </a:cubicBezTo>
                    <a:cubicBezTo>
                      <a:pt x="28" y="224"/>
                      <a:pt x="28" y="224"/>
                      <a:pt x="28" y="224"/>
                    </a:cubicBezTo>
                    <a:cubicBezTo>
                      <a:pt x="0" y="224"/>
                      <a:pt x="0" y="224"/>
                      <a:pt x="0" y="224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8" y="82"/>
                      <a:pt x="28" y="82"/>
                      <a:pt x="28" y="82"/>
                    </a:cubicBezTo>
                    <a:cubicBezTo>
                      <a:pt x="29" y="82"/>
                      <a:pt x="29" y="82"/>
                      <a:pt x="29" y="82"/>
                    </a:cubicBezTo>
                    <a:cubicBezTo>
                      <a:pt x="42" y="64"/>
                      <a:pt x="58" y="55"/>
                      <a:pt x="77" y="55"/>
                    </a:cubicBezTo>
                    <a:cubicBezTo>
                      <a:pt x="114" y="56"/>
                      <a:pt x="132" y="75"/>
                      <a:pt x="133" y="11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9" name="išliḍé"/>
              <p:cNvSpPr/>
              <p:nvPr/>
            </p:nvSpPr>
            <p:spPr bwMode="auto">
              <a:xfrm>
                <a:off x="10294413" y="732929"/>
                <a:ext cx="31451" cy="35644"/>
              </a:xfrm>
              <a:custGeom>
                <a:avLst/>
                <a:gdLst>
                  <a:gd name="T0" fmla="*/ 0 w 152"/>
                  <a:gd name="T1" fmla="*/ 87 h 171"/>
                  <a:gd name="T2" fmla="*/ 76 w 152"/>
                  <a:gd name="T3" fmla="*/ 0 h 171"/>
                  <a:gd name="T4" fmla="*/ 152 w 152"/>
                  <a:gd name="T5" fmla="*/ 87 h 171"/>
                  <a:gd name="T6" fmla="*/ 76 w 152"/>
                  <a:gd name="T7" fmla="*/ 171 h 171"/>
                  <a:gd name="T8" fmla="*/ 0 w 152"/>
                  <a:gd name="T9" fmla="*/ 87 h 171"/>
                  <a:gd name="T10" fmla="*/ 28 w 152"/>
                  <a:gd name="T11" fmla="*/ 87 h 171"/>
                  <a:gd name="T12" fmla="*/ 76 w 152"/>
                  <a:gd name="T13" fmla="*/ 149 h 171"/>
                  <a:gd name="T14" fmla="*/ 124 w 152"/>
                  <a:gd name="T15" fmla="*/ 87 h 171"/>
                  <a:gd name="T16" fmla="*/ 76 w 152"/>
                  <a:gd name="T17" fmla="*/ 24 h 171"/>
                  <a:gd name="T18" fmla="*/ 28 w 152"/>
                  <a:gd name="T19" fmla="*/ 87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52" h="171">
                    <a:moveTo>
                      <a:pt x="0" y="87"/>
                    </a:moveTo>
                    <a:cubicBezTo>
                      <a:pt x="3" y="31"/>
                      <a:pt x="29" y="2"/>
                      <a:pt x="76" y="0"/>
                    </a:cubicBezTo>
                    <a:cubicBezTo>
                      <a:pt x="123" y="2"/>
                      <a:pt x="149" y="31"/>
                      <a:pt x="152" y="87"/>
                    </a:cubicBezTo>
                    <a:cubicBezTo>
                      <a:pt x="149" y="142"/>
                      <a:pt x="123" y="170"/>
                      <a:pt x="76" y="171"/>
                    </a:cubicBezTo>
                    <a:cubicBezTo>
                      <a:pt x="29" y="170"/>
                      <a:pt x="3" y="142"/>
                      <a:pt x="0" y="87"/>
                    </a:cubicBezTo>
                    <a:close/>
                    <a:moveTo>
                      <a:pt x="28" y="87"/>
                    </a:moveTo>
                    <a:cubicBezTo>
                      <a:pt x="31" y="128"/>
                      <a:pt x="47" y="149"/>
                      <a:pt x="76" y="149"/>
                    </a:cubicBezTo>
                    <a:cubicBezTo>
                      <a:pt x="106" y="149"/>
                      <a:pt x="121" y="128"/>
                      <a:pt x="124" y="87"/>
                    </a:cubicBezTo>
                    <a:cubicBezTo>
                      <a:pt x="121" y="46"/>
                      <a:pt x="106" y="25"/>
                      <a:pt x="76" y="24"/>
                    </a:cubicBezTo>
                    <a:cubicBezTo>
                      <a:pt x="47" y="25"/>
                      <a:pt x="31" y="46"/>
                      <a:pt x="28" y="8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0" name="iŝliďé"/>
              <p:cNvSpPr/>
              <p:nvPr/>
            </p:nvSpPr>
            <p:spPr bwMode="auto">
              <a:xfrm>
                <a:off x="10332573" y="732929"/>
                <a:ext cx="27258" cy="35225"/>
              </a:xfrm>
              <a:custGeom>
                <a:avLst/>
                <a:gdLst>
                  <a:gd name="T0" fmla="*/ 133 w 133"/>
                  <a:gd name="T1" fmla="*/ 58 h 169"/>
                  <a:gd name="T2" fmla="*/ 133 w 133"/>
                  <a:gd name="T3" fmla="*/ 169 h 169"/>
                  <a:gd name="T4" fmla="*/ 106 w 133"/>
                  <a:gd name="T5" fmla="*/ 169 h 169"/>
                  <a:gd name="T6" fmla="*/ 106 w 133"/>
                  <a:gd name="T7" fmla="*/ 69 h 169"/>
                  <a:gd name="T8" fmla="*/ 71 w 133"/>
                  <a:gd name="T9" fmla="*/ 26 h 169"/>
                  <a:gd name="T10" fmla="*/ 28 w 133"/>
                  <a:gd name="T11" fmla="*/ 80 h 169"/>
                  <a:gd name="T12" fmla="*/ 28 w 133"/>
                  <a:gd name="T13" fmla="*/ 169 h 169"/>
                  <a:gd name="T14" fmla="*/ 0 w 133"/>
                  <a:gd name="T15" fmla="*/ 169 h 169"/>
                  <a:gd name="T16" fmla="*/ 0 w 133"/>
                  <a:gd name="T17" fmla="*/ 5 h 169"/>
                  <a:gd name="T18" fmla="*/ 27 w 133"/>
                  <a:gd name="T19" fmla="*/ 5 h 169"/>
                  <a:gd name="T20" fmla="*/ 27 w 133"/>
                  <a:gd name="T21" fmla="*/ 28 h 169"/>
                  <a:gd name="T22" fmla="*/ 77 w 133"/>
                  <a:gd name="T23" fmla="*/ 0 h 169"/>
                  <a:gd name="T24" fmla="*/ 133 w 133"/>
                  <a:gd name="T25" fmla="*/ 58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3" h="169">
                    <a:moveTo>
                      <a:pt x="133" y="58"/>
                    </a:moveTo>
                    <a:cubicBezTo>
                      <a:pt x="133" y="169"/>
                      <a:pt x="133" y="169"/>
                      <a:pt x="133" y="169"/>
                    </a:cubicBezTo>
                    <a:cubicBezTo>
                      <a:pt x="106" y="169"/>
                      <a:pt x="106" y="169"/>
                      <a:pt x="106" y="169"/>
                    </a:cubicBezTo>
                    <a:cubicBezTo>
                      <a:pt x="106" y="69"/>
                      <a:pt x="106" y="69"/>
                      <a:pt x="106" y="69"/>
                    </a:cubicBezTo>
                    <a:cubicBezTo>
                      <a:pt x="108" y="38"/>
                      <a:pt x="96" y="24"/>
                      <a:pt x="71" y="26"/>
                    </a:cubicBezTo>
                    <a:cubicBezTo>
                      <a:pt x="43" y="27"/>
                      <a:pt x="29" y="45"/>
                      <a:pt x="28" y="80"/>
                    </a:cubicBezTo>
                    <a:cubicBezTo>
                      <a:pt x="28" y="169"/>
                      <a:pt x="28" y="169"/>
                      <a:pt x="28" y="169"/>
                    </a:cubicBezTo>
                    <a:cubicBezTo>
                      <a:pt x="0" y="169"/>
                      <a:pt x="0" y="169"/>
                      <a:pt x="0" y="169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27" y="5"/>
                      <a:pt x="27" y="5"/>
                      <a:pt x="27" y="5"/>
                    </a:cubicBezTo>
                    <a:cubicBezTo>
                      <a:pt x="27" y="28"/>
                      <a:pt x="27" y="28"/>
                      <a:pt x="27" y="28"/>
                    </a:cubicBezTo>
                    <a:cubicBezTo>
                      <a:pt x="40" y="9"/>
                      <a:pt x="57" y="0"/>
                      <a:pt x="77" y="0"/>
                    </a:cubicBezTo>
                    <a:cubicBezTo>
                      <a:pt x="114" y="1"/>
                      <a:pt x="132" y="20"/>
                      <a:pt x="133" y="5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1" name="íṥľïdê"/>
              <p:cNvSpPr/>
              <p:nvPr/>
            </p:nvSpPr>
            <p:spPr bwMode="auto">
              <a:xfrm>
                <a:off x="10366960" y="732929"/>
                <a:ext cx="29774" cy="48644"/>
              </a:xfrm>
              <a:custGeom>
                <a:avLst/>
                <a:gdLst>
                  <a:gd name="T0" fmla="*/ 30 w 145"/>
                  <a:gd name="T1" fmla="*/ 87 h 235"/>
                  <a:gd name="T2" fmla="*/ 74 w 145"/>
                  <a:gd name="T3" fmla="*/ 151 h 235"/>
                  <a:gd name="T4" fmla="*/ 118 w 145"/>
                  <a:gd name="T5" fmla="*/ 96 h 235"/>
                  <a:gd name="T6" fmla="*/ 74 w 145"/>
                  <a:gd name="T7" fmla="*/ 26 h 235"/>
                  <a:gd name="T8" fmla="*/ 30 w 145"/>
                  <a:gd name="T9" fmla="*/ 87 h 235"/>
                  <a:gd name="T10" fmla="*/ 144 w 145"/>
                  <a:gd name="T11" fmla="*/ 5 h 235"/>
                  <a:gd name="T12" fmla="*/ 144 w 145"/>
                  <a:gd name="T13" fmla="*/ 156 h 235"/>
                  <a:gd name="T14" fmla="*/ 69 w 145"/>
                  <a:gd name="T15" fmla="*/ 235 h 235"/>
                  <a:gd name="T16" fmla="*/ 5 w 145"/>
                  <a:gd name="T17" fmla="*/ 186 h 235"/>
                  <a:gd name="T18" fmla="*/ 33 w 145"/>
                  <a:gd name="T19" fmla="*/ 186 h 235"/>
                  <a:gd name="T20" fmla="*/ 70 w 145"/>
                  <a:gd name="T21" fmla="*/ 213 h 235"/>
                  <a:gd name="T22" fmla="*/ 117 w 145"/>
                  <a:gd name="T23" fmla="*/ 158 h 235"/>
                  <a:gd name="T24" fmla="*/ 117 w 145"/>
                  <a:gd name="T25" fmla="*/ 151 h 235"/>
                  <a:gd name="T26" fmla="*/ 117 w 145"/>
                  <a:gd name="T27" fmla="*/ 152 h 235"/>
                  <a:gd name="T28" fmla="*/ 73 w 145"/>
                  <a:gd name="T29" fmla="*/ 171 h 235"/>
                  <a:gd name="T30" fmla="*/ 0 w 145"/>
                  <a:gd name="T31" fmla="*/ 82 h 235"/>
                  <a:gd name="T32" fmla="*/ 69 w 145"/>
                  <a:gd name="T33" fmla="*/ 0 h 235"/>
                  <a:gd name="T34" fmla="*/ 118 w 145"/>
                  <a:gd name="T35" fmla="*/ 28 h 235"/>
                  <a:gd name="T36" fmla="*/ 118 w 145"/>
                  <a:gd name="T37" fmla="*/ 5 h 235"/>
                  <a:gd name="T38" fmla="*/ 144 w 145"/>
                  <a:gd name="T39" fmla="*/ 5 h 2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45" h="235">
                    <a:moveTo>
                      <a:pt x="30" y="87"/>
                    </a:moveTo>
                    <a:cubicBezTo>
                      <a:pt x="31" y="129"/>
                      <a:pt x="45" y="150"/>
                      <a:pt x="74" y="151"/>
                    </a:cubicBezTo>
                    <a:cubicBezTo>
                      <a:pt x="103" y="148"/>
                      <a:pt x="117" y="130"/>
                      <a:pt x="118" y="96"/>
                    </a:cubicBezTo>
                    <a:cubicBezTo>
                      <a:pt x="119" y="49"/>
                      <a:pt x="104" y="26"/>
                      <a:pt x="74" y="26"/>
                    </a:cubicBezTo>
                    <a:cubicBezTo>
                      <a:pt x="44" y="26"/>
                      <a:pt x="29" y="46"/>
                      <a:pt x="30" y="87"/>
                    </a:cubicBezTo>
                    <a:close/>
                    <a:moveTo>
                      <a:pt x="144" y="5"/>
                    </a:moveTo>
                    <a:cubicBezTo>
                      <a:pt x="144" y="156"/>
                      <a:pt x="144" y="156"/>
                      <a:pt x="144" y="156"/>
                    </a:cubicBezTo>
                    <a:cubicBezTo>
                      <a:pt x="145" y="209"/>
                      <a:pt x="120" y="235"/>
                      <a:pt x="69" y="235"/>
                    </a:cubicBezTo>
                    <a:cubicBezTo>
                      <a:pt x="31" y="235"/>
                      <a:pt x="9" y="219"/>
                      <a:pt x="5" y="186"/>
                    </a:cubicBezTo>
                    <a:cubicBezTo>
                      <a:pt x="33" y="186"/>
                      <a:pt x="33" y="186"/>
                      <a:pt x="33" y="186"/>
                    </a:cubicBezTo>
                    <a:cubicBezTo>
                      <a:pt x="37" y="204"/>
                      <a:pt x="49" y="213"/>
                      <a:pt x="70" y="213"/>
                    </a:cubicBezTo>
                    <a:cubicBezTo>
                      <a:pt x="103" y="213"/>
                      <a:pt x="118" y="195"/>
                      <a:pt x="117" y="158"/>
                    </a:cubicBezTo>
                    <a:cubicBezTo>
                      <a:pt x="117" y="151"/>
                      <a:pt x="117" y="151"/>
                      <a:pt x="117" y="151"/>
                    </a:cubicBezTo>
                    <a:cubicBezTo>
                      <a:pt x="117" y="152"/>
                      <a:pt x="117" y="152"/>
                      <a:pt x="117" y="152"/>
                    </a:cubicBezTo>
                    <a:cubicBezTo>
                      <a:pt x="107" y="165"/>
                      <a:pt x="92" y="171"/>
                      <a:pt x="73" y="171"/>
                    </a:cubicBezTo>
                    <a:cubicBezTo>
                      <a:pt x="27" y="170"/>
                      <a:pt x="3" y="140"/>
                      <a:pt x="0" y="82"/>
                    </a:cubicBezTo>
                    <a:cubicBezTo>
                      <a:pt x="3" y="30"/>
                      <a:pt x="26" y="2"/>
                      <a:pt x="69" y="0"/>
                    </a:cubicBezTo>
                    <a:cubicBezTo>
                      <a:pt x="89" y="0"/>
                      <a:pt x="106" y="9"/>
                      <a:pt x="118" y="28"/>
                    </a:cubicBezTo>
                    <a:cubicBezTo>
                      <a:pt x="118" y="5"/>
                      <a:pt x="118" y="5"/>
                      <a:pt x="118" y="5"/>
                    </a:cubicBezTo>
                    <a:lnTo>
                      <a:pt x="144" y="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2" name="ïṡ1iďe"/>
              <p:cNvSpPr/>
              <p:nvPr/>
            </p:nvSpPr>
            <p:spPr bwMode="auto">
              <a:xfrm>
                <a:off x="10423571" y="721607"/>
                <a:ext cx="36483" cy="47386"/>
              </a:xfrm>
              <a:custGeom>
                <a:avLst/>
                <a:gdLst>
                  <a:gd name="T0" fmla="*/ 147 w 177"/>
                  <a:gd name="T1" fmla="*/ 0 h 228"/>
                  <a:gd name="T2" fmla="*/ 177 w 177"/>
                  <a:gd name="T3" fmla="*/ 0 h 228"/>
                  <a:gd name="T4" fmla="*/ 177 w 177"/>
                  <a:gd name="T5" fmla="*/ 144 h 228"/>
                  <a:gd name="T6" fmla="*/ 85 w 177"/>
                  <a:gd name="T7" fmla="*/ 228 h 228"/>
                  <a:gd name="T8" fmla="*/ 0 w 177"/>
                  <a:gd name="T9" fmla="*/ 149 h 228"/>
                  <a:gd name="T10" fmla="*/ 0 w 177"/>
                  <a:gd name="T11" fmla="*/ 0 h 228"/>
                  <a:gd name="T12" fmla="*/ 30 w 177"/>
                  <a:gd name="T13" fmla="*/ 0 h 228"/>
                  <a:gd name="T14" fmla="*/ 30 w 177"/>
                  <a:gd name="T15" fmla="*/ 141 h 228"/>
                  <a:gd name="T16" fmla="*/ 87 w 177"/>
                  <a:gd name="T17" fmla="*/ 203 h 228"/>
                  <a:gd name="T18" fmla="*/ 147 w 177"/>
                  <a:gd name="T19" fmla="*/ 141 h 228"/>
                  <a:gd name="T20" fmla="*/ 147 w 177"/>
                  <a:gd name="T21" fmla="*/ 0 h 2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77" h="228">
                    <a:moveTo>
                      <a:pt x="147" y="0"/>
                    </a:moveTo>
                    <a:cubicBezTo>
                      <a:pt x="177" y="0"/>
                      <a:pt x="177" y="0"/>
                      <a:pt x="177" y="0"/>
                    </a:cubicBezTo>
                    <a:cubicBezTo>
                      <a:pt x="177" y="144"/>
                      <a:pt x="177" y="144"/>
                      <a:pt x="177" y="144"/>
                    </a:cubicBezTo>
                    <a:cubicBezTo>
                      <a:pt x="175" y="198"/>
                      <a:pt x="144" y="226"/>
                      <a:pt x="85" y="228"/>
                    </a:cubicBezTo>
                    <a:cubicBezTo>
                      <a:pt x="31" y="226"/>
                      <a:pt x="2" y="200"/>
                      <a:pt x="0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30" y="141"/>
                      <a:pt x="30" y="141"/>
                      <a:pt x="30" y="141"/>
                    </a:cubicBezTo>
                    <a:cubicBezTo>
                      <a:pt x="31" y="182"/>
                      <a:pt x="50" y="202"/>
                      <a:pt x="87" y="203"/>
                    </a:cubicBezTo>
                    <a:cubicBezTo>
                      <a:pt x="127" y="202"/>
                      <a:pt x="147" y="182"/>
                      <a:pt x="147" y="141"/>
                    </a:cubicBezTo>
                    <a:lnTo>
                      <a:pt x="1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3" name="ïṧľïḋé"/>
              <p:cNvSpPr/>
              <p:nvPr/>
            </p:nvSpPr>
            <p:spPr bwMode="auto">
              <a:xfrm>
                <a:off x="10469280" y="732929"/>
                <a:ext cx="27677" cy="35225"/>
              </a:xfrm>
              <a:custGeom>
                <a:avLst/>
                <a:gdLst>
                  <a:gd name="T0" fmla="*/ 134 w 134"/>
                  <a:gd name="T1" fmla="*/ 58 h 169"/>
                  <a:gd name="T2" fmla="*/ 134 w 134"/>
                  <a:gd name="T3" fmla="*/ 169 h 169"/>
                  <a:gd name="T4" fmla="*/ 107 w 134"/>
                  <a:gd name="T5" fmla="*/ 169 h 169"/>
                  <a:gd name="T6" fmla="*/ 107 w 134"/>
                  <a:gd name="T7" fmla="*/ 69 h 169"/>
                  <a:gd name="T8" fmla="*/ 71 w 134"/>
                  <a:gd name="T9" fmla="*/ 26 h 169"/>
                  <a:gd name="T10" fmla="*/ 28 w 134"/>
                  <a:gd name="T11" fmla="*/ 80 h 169"/>
                  <a:gd name="T12" fmla="*/ 28 w 134"/>
                  <a:gd name="T13" fmla="*/ 169 h 169"/>
                  <a:gd name="T14" fmla="*/ 0 w 134"/>
                  <a:gd name="T15" fmla="*/ 169 h 169"/>
                  <a:gd name="T16" fmla="*/ 0 w 134"/>
                  <a:gd name="T17" fmla="*/ 5 h 169"/>
                  <a:gd name="T18" fmla="*/ 27 w 134"/>
                  <a:gd name="T19" fmla="*/ 5 h 169"/>
                  <a:gd name="T20" fmla="*/ 27 w 134"/>
                  <a:gd name="T21" fmla="*/ 28 h 169"/>
                  <a:gd name="T22" fmla="*/ 78 w 134"/>
                  <a:gd name="T23" fmla="*/ 0 h 169"/>
                  <a:gd name="T24" fmla="*/ 134 w 134"/>
                  <a:gd name="T25" fmla="*/ 58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4" h="169">
                    <a:moveTo>
                      <a:pt x="134" y="58"/>
                    </a:moveTo>
                    <a:cubicBezTo>
                      <a:pt x="134" y="169"/>
                      <a:pt x="134" y="169"/>
                      <a:pt x="134" y="169"/>
                    </a:cubicBezTo>
                    <a:cubicBezTo>
                      <a:pt x="107" y="169"/>
                      <a:pt x="107" y="169"/>
                      <a:pt x="107" y="169"/>
                    </a:cubicBezTo>
                    <a:cubicBezTo>
                      <a:pt x="107" y="69"/>
                      <a:pt x="107" y="69"/>
                      <a:pt x="107" y="69"/>
                    </a:cubicBezTo>
                    <a:cubicBezTo>
                      <a:pt x="109" y="38"/>
                      <a:pt x="97" y="24"/>
                      <a:pt x="71" y="26"/>
                    </a:cubicBezTo>
                    <a:cubicBezTo>
                      <a:pt x="44" y="27"/>
                      <a:pt x="29" y="45"/>
                      <a:pt x="28" y="80"/>
                    </a:cubicBezTo>
                    <a:cubicBezTo>
                      <a:pt x="28" y="169"/>
                      <a:pt x="28" y="169"/>
                      <a:pt x="28" y="169"/>
                    </a:cubicBezTo>
                    <a:cubicBezTo>
                      <a:pt x="0" y="169"/>
                      <a:pt x="0" y="169"/>
                      <a:pt x="0" y="169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27" y="5"/>
                      <a:pt x="27" y="5"/>
                      <a:pt x="27" y="5"/>
                    </a:cubicBezTo>
                    <a:cubicBezTo>
                      <a:pt x="27" y="28"/>
                      <a:pt x="27" y="28"/>
                      <a:pt x="27" y="28"/>
                    </a:cubicBezTo>
                    <a:cubicBezTo>
                      <a:pt x="40" y="9"/>
                      <a:pt x="57" y="0"/>
                      <a:pt x="78" y="0"/>
                    </a:cubicBezTo>
                    <a:cubicBezTo>
                      <a:pt x="114" y="1"/>
                      <a:pt x="133" y="20"/>
                      <a:pt x="134" y="5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4" name="ïṧ1ïḓe"/>
              <p:cNvSpPr/>
              <p:nvPr/>
            </p:nvSpPr>
            <p:spPr bwMode="auto">
              <a:xfrm>
                <a:off x="10505763" y="721607"/>
                <a:ext cx="5452" cy="46547"/>
              </a:xfrm>
              <a:custGeom>
                <a:avLst/>
                <a:gdLst>
                  <a:gd name="T0" fmla="*/ 13 w 13"/>
                  <a:gd name="T1" fmla="*/ 30 h 111"/>
                  <a:gd name="T2" fmla="*/ 13 w 13"/>
                  <a:gd name="T3" fmla="*/ 111 h 111"/>
                  <a:gd name="T4" fmla="*/ 0 w 13"/>
                  <a:gd name="T5" fmla="*/ 111 h 111"/>
                  <a:gd name="T6" fmla="*/ 0 w 13"/>
                  <a:gd name="T7" fmla="*/ 30 h 111"/>
                  <a:gd name="T8" fmla="*/ 13 w 13"/>
                  <a:gd name="T9" fmla="*/ 30 h 111"/>
                  <a:gd name="T10" fmla="*/ 13 w 13"/>
                  <a:gd name="T11" fmla="*/ 30 h 111"/>
                  <a:gd name="T12" fmla="*/ 13 w 13"/>
                  <a:gd name="T13" fmla="*/ 15 h 111"/>
                  <a:gd name="T14" fmla="*/ 0 w 13"/>
                  <a:gd name="T15" fmla="*/ 15 h 111"/>
                  <a:gd name="T16" fmla="*/ 0 w 13"/>
                  <a:gd name="T17" fmla="*/ 0 h 111"/>
                  <a:gd name="T18" fmla="*/ 13 w 13"/>
                  <a:gd name="T19" fmla="*/ 0 h 111"/>
                  <a:gd name="T20" fmla="*/ 13 w 13"/>
                  <a:gd name="T21" fmla="*/ 15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" h="111">
                    <a:moveTo>
                      <a:pt x="13" y="30"/>
                    </a:moveTo>
                    <a:lnTo>
                      <a:pt x="13" y="111"/>
                    </a:lnTo>
                    <a:lnTo>
                      <a:pt x="0" y="111"/>
                    </a:lnTo>
                    <a:lnTo>
                      <a:pt x="0" y="30"/>
                    </a:lnTo>
                    <a:lnTo>
                      <a:pt x="13" y="30"/>
                    </a:lnTo>
                    <a:lnTo>
                      <a:pt x="13" y="30"/>
                    </a:lnTo>
                    <a:close/>
                    <a:moveTo>
                      <a:pt x="13" y="15"/>
                    </a:moveTo>
                    <a:lnTo>
                      <a:pt x="0" y="15"/>
                    </a:lnTo>
                    <a:lnTo>
                      <a:pt x="0" y="0"/>
                    </a:lnTo>
                    <a:lnTo>
                      <a:pt x="13" y="0"/>
                    </a:lnTo>
                    <a:lnTo>
                      <a:pt x="13" y="1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5" name="îśľîḋé"/>
              <p:cNvSpPr/>
              <p:nvPr/>
            </p:nvSpPr>
            <p:spPr bwMode="auto">
              <a:xfrm>
                <a:off x="10515827" y="734187"/>
                <a:ext cx="31451" cy="33967"/>
              </a:xfrm>
              <a:custGeom>
                <a:avLst/>
                <a:gdLst>
                  <a:gd name="T0" fmla="*/ 37 w 75"/>
                  <a:gd name="T1" fmla="*/ 66 h 81"/>
                  <a:gd name="T2" fmla="*/ 60 w 75"/>
                  <a:gd name="T3" fmla="*/ 0 h 81"/>
                  <a:gd name="T4" fmla="*/ 75 w 75"/>
                  <a:gd name="T5" fmla="*/ 0 h 81"/>
                  <a:gd name="T6" fmla="*/ 44 w 75"/>
                  <a:gd name="T7" fmla="*/ 81 h 81"/>
                  <a:gd name="T8" fmla="*/ 30 w 75"/>
                  <a:gd name="T9" fmla="*/ 81 h 81"/>
                  <a:gd name="T10" fmla="*/ 0 w 75"/>
                  <a:gd name="T11" fmla="*/ 0 h 81"/>
                  <a:gd name="T12" fmla="*/ 16 w 75"/>
                  <a:gd name="T13" fmla="*/ 0 h 81"/>
                  <a:gd name="T14" fmla="*/ 36 w 75"/>
                  <a:gd name="T15" fmla="*/ 66 h 81"/>
                  <a:gd name="T16" fmla="*/ 37 w 75"/>
                  <a:gd name="T17" fmla="*/ 66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5" h="81">
                    <a:moveTo>
                      <a:pt x="37" y="66"/>
                    </a:moveTo>
                    <a:lnTo>
                      <a:pt x="60" y="0"/>
                    </a:lnTo>
                    <a:lnTo>
                      <a:pt x="75" y="0"/>
                    </a:lnTo>
                    <a:lnTo>
                      <a:pt x="44" y="81"/>
                    </a:lnTo>
                    <a:lnTo>
                      <a:pt x="30" y="81"/>
                    </a:lnTo>
                    <a:lnTo>
                      <a:pt x="0" y="0"/>
                    </a:lnTo>
                    <a:lnTo>
                      <a:pt x="16" y="0"/>
                    </a:lnTo>
                    <a:lnTo>
                      <a:pt x="36" y="66"/>
                    </a:lnTo>
                    <a:lnTo>
                      <a:pt x="37" y="6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6" name="iṧḷïdè"/>
              <p:cNvSpPr/>
              <p:nvPr/>
            </p:nvSpPr>
            <p:spPr bwMode="auto">
              <a:xfrm>
                <a:off x="10550213" y="732929"/>
                <a:ext cx="31032" cy="35644"/>
              </a:xfrm>
              <a:custGeom>
                <a:avLst/>
                <a:gdLst>
                  <a:gd name="T0" fmla="*/ 121 w 150"/>
                  <a:gd name="T1" fmla="*/ 118 h 171"/>
                  <a:gd name="T2" fmla="*/ 148 w 150"/>
                  <a:gd name="T3" fmla="*/ 118 h 171"/>
                  <a:gd name="T4" fmla="*/ 118 w 150"/>
                  <a:gd name="T5" fmla="*/ 163 h 171"/>
                  <a:gd name="T6" fmla="*/ 74 w 150"/>
                  <a:gd name="T7" fmla="*/ 171 h 171"/>
                  <a:gd name="T8" fmla="*/ 0 w 150"/>
                  <a:gd name="T9" fmla="*/ 92 h 171"/>
                  <a:gd name="T10" fmla="*/ 79 w 150"/>
                  <a:gd name="T11" fmla="*/ 0 h 171"/>
                  <a:gd name="T12" fmla="*/ 150 w 150"/>
                  <a:gd name="T13" fmla="*/ 97 h 171"/>
                  <a:gd name="T14" fmla="*/ 30 w 150"/>
                  <a:gd name="T15" fmla="*/ 97 h 171"/>
                  <a:gd name="T16" fmla="*/ 78 w 150"/>
                  <a:gd name="T17" fmla="*/ 151 h 171"/>
                  <a:gd name="T18" fmla="*/ 121 w 150"/>
                  <a:gd name="T19" fmla="*/ 118 h 171"/>
                  <a:gd name="T20" fmla="*/ 30 w 150"/>
                  <a:gd name="T21" fmla="*/ 75 h 171"/>
                  <a:gd name="T22" fmla="*/ 122 w 150"/>
                  <a:gd name="T23" fmla="*/ 75 h 171"/>
                  <a:gd name="T24" fmla="*/ 75 w 150"/>
                  <a:gd name="T25" fmla="*/ 26 h 171"/>
                  <a:gd name="T26" fmla="*/ 30 w 150"/>
                  <a:gd name="T27" fmla="*/ 75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50" h="171">
                    <a:moveTo>
                      <a:pt x="121" y="118"/>
                    </a:moveTo>
                    <a:cubicBezTo>
                      <a:pt x="148" y="118"/>
                      <a:pt x="148" y="118"/>
                      <a:pt x="148" y="118"/>
                    </a:cubicBezTo>
                    <a:cubicBezTo>
                      <a:pt x="144" y="136"/>
                      <a:pt x="134" y="151"/>
                      <a:pt x="118" y="163"/>
                    </a:cubicBezTo>
                    <a:cubicBezTo>
                      <a:pt x="109" y="169"/>
                      <a:pt x="94" y="171"/>
                      <a:pt x="74" y="171"/>
                    </a:cubicBezTo>
                    <a:cubicBezTo>
                      <a:pt x="27" y="170"/>
                      <a:pt x="3" y="143"/>
                      <a:pt x="0" y="92"/>
                    </a:cubicBezTo>
                    <a:cubicBezTo>
                      <a:pt x="2" y="32"/>
                      <a:pt x="28" y="2"/>
                      <a:pt x="79" y="0"/>
                    </a:cubicBezTo>
                    <a:cubicBezTo>
                      <a:pt x="125" y="1"/>
                      <a:pt x="149" y="33"/>
                      <a:pt x="150" y="97"/>
                    </a:cubicBezTo>
                    <a:cubicBezTo>
                      <a:pt x="30" y="97"/>
                      <a:pt x="30" y="97"/>
                      <a:pt x="30" y="97"/>
                    </a:cubicBezTo>
                    <a:cubicBezTo>
                      <a:pt x="30" y="133"/>
                      <a:pt x="46" y="151"/>
                      <a:pt x="78" y="151"/>
                    </a:cubicBezTo>
                    <a:cubicBezTo>
                      <a:pt x="101" y="149"/>
                      <a:pt x="115" y="138"/>
                      <a:pt x="121" y="118"/>
                    </a:cubicBezTo>
                    <a:close/>
                    <a:moveTo>
                      <a:pt x="30" y="75"/>
                    </a:moveTo>
                    <a:cubicBezTo>
                      <a:pt x="122" y="75"/>
                      <a:pt x="122" y="75"/>
                      <a:pt x="122" y="75"/>
                    </a:cubicBezTo>
                    <a:cubicBezTo>
                      <a:pt x="119" y="42"/>
                      <a:pt x="104" y="26"/>
                      <a:pt x="75" y="26"/>
                    </a:cubicBezTo>
                    <a:cubicBezTo>
                      <a:pt x="48" y="28"/>
                      <a:pt x="33" y="44"/>
                      <a:pt x="30" y="7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7" name="îṩḷîḓe"/>
              <p:cNvSpPr/>
              <p:nvPr/>
            </p:nvSpPr>
            <p:spPr bwMode="auto">
              <a:xfrm>
                <a:off x="10588793" y="732929"/>
                <a:ext cx="16774" cy="35225"/>
              </a:xfrm>
              <a:custGeom>
                <a:avLst/>
                <a:gdLst>
                  <a:gd name="T0" fmla="*/ 29 w 81"/>
                  <a:gd name="T1" fmla="*/ 73 h 169"/>
                  <a:gd name="T2" fmla="*/ 29 w 81"/>
                  <a:gd name="T3" fmla="*/ 169 h 169"/>
                  <a:gd name="T4" fmla="*/ 0 w 81"/>
                  <a:gd name="T5" fmla="*/ 169 h 169"/>
                  <a:gd name="T6" fmla="*/ 0 w 81"/>
                  <a:gd name="T7" fmla="*/ 5 h 169"/>
                  <a:gd name="T8" fmla="*/ 27 w 81"/>
                  <a:gd name="T9" fmla="*/ 5 h 169"/>
                  <a:gd name="T10" fmla="*/ 27 w 81"/>
                  <a:gd name="T11" fmla="*/ 33 h 169"/>
                  <a:gd name="T12" fmla="*/ 74 w 81"/>
                  <a:gd name="T13" fmla="*/ 0 h 169"/>
                  <a:gd name="T14" fmla="*/ 79 w 81"/>
                  <a:gd name="T15" fmla="*/ 1 h 169"/>
                  <a:gd name="T16" fmla="*/ 81 w 81"/>
                  <a:gd name="T17" fmla="*/ 1 h 169"/>
                  <a:gd name="T18" fmla="*/ 81 w 81"/>
                  <a:gd name="T19" fmla="*/ 31 h 169"/>
                  <a:gd name="T20" fmla="*/ 70 w 81"/>
                  <a:gd name="T21" fmla="*/ 31 h 169"/>
                  <a:gd name="T22" fmla="*/ 29 w 81"/>
                  <a:gd name="T23" fmla="*/ 73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1" h="169">
                    <a:moveTo>
                      <a:pt x="29" y="73"/>
                    </a:moveTo>
                    <a:cubicBezTo>
                      <a:pt x="29" y="169"/>
                      <a:pt x="29" y="169"/>
                      <a:pt x="29" y="169"/>
                    </a:cubicBezTo>
                    <a:cubicBezTo>
                      <a:pt x="0" y="169"/>
                      <a:pt x="0" y="169"/>
                      <a:pt x="0" y="169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27" y="5"/>
                      <a:pt x="27" y="5"/>
                      <a:pt x="27" y="5"/>
                    </a:cubicBezTo>
                    <a:cubicBezTo>
                      <a:pt x="27" y="33"/>
                      <a:pt x="27" y="33"/>
                      <a:pt x="27" y="33"/>
                    </a:cubicBezTo>
                    <a:cubicBezTo>
                      <a:pt x="40" y="11"/>
                      <a:pt x="55" y="0"/>
                      <a:pt x="74" y="0"/>
                    </a:cubicBezTo>
                    <a:cubicBezTo>
                      <a:pt x="76" y="0"/>
                      <a:pt x="77" y="0"/>
                      <a:pt x="79" y="1"/>
                    </a:cubicBezTo>
                    <a:cubicBezTo>
                      <a:pt x="80" y="1"/>
                      <a:pt x="81" y="1"/>
                      <a:pt x="81" y="1"/>
                    </a:cubicBezTo>
                    <a:cubicBezTo>
                      <a:pt x="81" y="31"/>
                      <a:pt x="81" y="31"/>
                      <a:pt x="81" y="31"/>
                    </a:cubicBezTo>
                    <a:cubicBezTo>
                      <a:pt x="70" y="31"/>
                      <a:pt x="70" y="31"/>
                      <a:pt x="70" y="31"/>
                    </a:cubicBezTo>
                    <a:cubicBezTo>
                      <a:pt x="44" y="32"/>
                      <a:pt x="30" y="46"/>
                      <a:pt x="29" y="7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8" name="is1idé"/>
              <p:cNvSpPr/>
              <p:nvPr/>
            </p:nvSpPr>
            <p:spPr bwMode="auto">
              <a:xfrm>
                <a:off x="10607244" y="732929"/>
                <a:ext cx="28096" cy="35644"/>
              </a:xfrm>
              <a:custGeom>
                <a:avLst/>
                <a:gdLst>
                  <a:gd name="T0" fmla="*/ 130 w 136"/>
                  <a:gd name="T1" fmla="*/ 53 h 171"/>
                  <a:gd name="T2" fmla="*/ 103 w 136"/>
                  <a:gd name="T3" fmla="*/ 53 h 171"/>
                  <a:gd name="T4" fmla="*/ 64 w 136"/>
                  <a:gd name="T5" fmla="*/ 24 h 171"/>
                  <a:gd name="T6" fmla="*/ 32 w 136"/>
                  <a:gd name="T7" fmla="*/ 48 h 171"/>
                  <a:gd name="T8" fmla="*/ 61 w 136"/>
                  <a:gd name="T9" fmla="*/ 70 h 171"/>
                  <a:gd name="T10" fmla="*/ 89 w 136"/>
                  <a:gd name="T11" fmla="*/ 76 h 171"/>
                  <a:gd name="T12" fmla="*/ 135 w 136"/>
                  <a:gd name="T13" fmla="*/ 120 h 171"/>
                  <a:gd name="T14" fmla="*/ 71 w 136"/>
                  <a:gd name="T15" fmla="*/ 171 h 171"/>
                  <a:gd name="T16" fmla="*/ 0 w 136"/>
                  <a:gd name="T17" fmla="*/ 116 h 171"/>
                  <a:gd name="T18" fmla="*/ 26 w 136"/>
                  <a:gd name="T19" fmla="*/ 116 h 171"/>
                  <a:gd name="T20" fmla="*/ 71 w 136"/>
                  <a:gd name="T21" fmla="*/ 151 h 171"/>
                  <a:gd name="T22" fmla="*/ 108 w 136"/>
                  <a:gd name="T23" fmla="*/ 124 h 171"/>
                  <a:gd name="T24" fmla="*/ 76 w 136"/>
                  <a:gd name="T25" fmla="*/ 100 h 171"/>
                  <a:gd name="T26" fmla="*/ 43 w 136"/>
                  <a:gd name="T27" fmla="*/ 93 h 171"/>
                  <a:gd name="T28" fmla="*/ 5 w 136"/>
                  <a:gd name="T29" fmla="*/ 54 h 171"/>
                  <a:gd name="T30" fmla="*/ 67 w 136"/>
                  <a:gd name="T31" fmla="*/ 0 h 171"/>
                  <a:gd name="T32" fmla="*/ 130 w 136"/>
                  <a:gd name="T33" fmla="*/ 53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36" h="171">
                    <a:moveTo>
                      <a:pt x="130" y="53"/>
                    </a:moveTo>
                    <a:cubicBezTo>
                      <a:pt x="103" y="53"/>
                      <a:pt x="103" y="53"/>
                      <a:pt x="103" y="53"/>
                    </a:cubicBezTo>
                    <a:cubicBezTo>
                      <a:pt x="103" y="34"/>
                      <a:pt x="90" y="24"/>
                      <a:pt x="64" y="24"/>
                    </a:cubicBezTo>
                    <a:cubicBezTo>
                      <a:pt x="43" y="25"/>
                      <a:pt x="33" y="33"/>
                      <a:pt x="32" y="48"/>
                    </a:cubicBezTo>
                    <a:cubicBezTo>
                      <a:pt x="30" y="58"/>
                      <a:pt x="40" y="66"/>
                      <a:pt x="61" y="70"/>
                    </a:cubicBezTo>
                    <a:cubicBezTo>
                      <a:pt x="89" y="76"/>
                      <a:pt x="89" y="76"/>
                      <a:pt x="89" y="76"/>
                    </a:cubicBezTo>
                    <a:cubicBezTo>
                      <a:pt x="120" y="83"/>
                      <a:pt x="136" y="98"/>
                      <a:pt x="135" y="120"/>
                    </a:cubicBezTo>
                    <a:cubicBezTo>
                      <a:pt x="133" y="153"/>
                      <a:pt x="112" y="170"/>
                      <a:pt x="71" y="171"/>
                    </a:cubicBezTo>
                    <a:cubicBezTo>
                      <a:pt x="24" y="171"/>
                      <a:pt x="1" y="153"/>
                      <a:pt x="0" y="116"/>
                    </a:cubicBezTo>
                    <a:cubicBezTo>
                      <a:pt x="26" y="116"/>
                      <a:pt x="26" y="116"/>
                      <a:pt x="26" y="116"/>
                    </a:cubicBezTo>
                    <a:cubicBezTo>
                      <a:pt x="27" y="139"/>
                      <a:pt x="42" y="151"/>
                      <a:pt x="71" y="151"/>
                    </a:cubicBezTo>
                    <a:cubicBezTo>
                      <a:pt x="95" y="150"/>
                      <a:pt x="107" y="141"/>
                      <a:pt x="108" y="124"/>
                    </a:cubicBezTo>
                    <a:cubicBezTo>
                      <a:pt x="109" y="114"/>
                      <a:pt x="99" y="106"/>
                      <a:pt x="76" y="100"/>
                    </a:cubicBezTo>
                    <a:cubicBezTo>
                      <a:pt x="43" y="93"/>
                      <a:pt x="43" y="93"/>
                      <a:pt x="43" y="93"/>
                    </a:cubicBezTo>
                    <a:cubicBezTo>
                      <a:pt x="18" y="87"/>
                      <a:pt x="5" y="73"/>
                      <a:pt x="5" y="54"/>
                    </a:cubicBezTo>
                    <a:cubicBezTo>
                      <a:pt x="7" y="20"/>
                      <a:pt x="27" y="2"/>
                      <a:pt x="67" y="0"/>
                    </a:cubicBezTo>
                    <a:cubicBezTo>
                      <a:pt x="107" y="1"/>
                      <a:pt x="127" y="18"/>
                      <a:pt x="130" y="5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9" name="iśľîḋe"/>
              <p:cNvSpPr/>
              <p:nvPr/>
            </p:nvSpPr>
            <p:spPr bwMode="auto">
              <a:xfrm>
                <a:off x="10642050" y="721607"/>
                <a:ext cx="5871" cy="46547"/>
              </a:xfrm>
              <a:custGeom>
                <a:avLst/>
                <a:gdLst>
                  <a:gd name="T0" fmla="*/ 14 w 14"/>
                  <a:gd name="T1" fmla="*/ 30 h 111"/>
                  <a:gd name="T2" fmla="*/ 14 w 14"/>
                  <a:gd name="T3" fmla="*/ 111 h 111"/>
                  <a:gd name="T4" fmla="*/ 0 w 14"/>
                  <a:gd name="T5" fmla="*/ 111 h 111"/>
                  <a:gd name="T6" fmla="*/ 0 w 14"/>
                  <a:gd name="T7" fmla="*/ 30 h 111"/>
                  <a:gd name="T8" fmla="*/ 14 w 14"/>
                  <a:gd name="T9" fmla="*/ 30 h 111"/>
                  <a:gd name="T10" fmla="*/ 14 w 14"/>
                  <a:gd name="T11" fmla="*/ 30 h 111"/>
                  <a:gd name="T12" fmla="*/ 14 w 14"/>
                  <a:gd name="T13" fmla="*/ 15 h 111"/>
                  <a:gd name="T14" fmla="*/ 0 w 14"/>
                  <a:gd name="T15" fmla="*/ 15 h 111"/>
                  <a:gd name="T16" fmla="*/ 0 w 14"/>
                  <a:gd name="T17" fmla="*/ 0 h 111"/>
                  <a:gd name="T18" fmla="*/ 14 w 14"/>
                  <a:gd name="T19" fmla="*/ 0 h 111"/>
                  <a:gd name="T20" fmla="*/ 14 w 14"/>
                  <a:gd name="T21" fmla="*/ 15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4" h="111">
                    <a:moveTo>
                      <a:pt x="14" y="30"/>
                    </a:moveTo>
                    <a:lnTo>
                      <a:pt x="14" y="111"/>
                    </a:lnTo>
                    <a:lnTo>
                      <a:pt x="0" y="111"/>
                    </a:lnTo>
                    <a:lnTo>
                      <a:pt x="0" y="30"/>
                    </a:lnTo>
                    <a:lnTo>
                      <a:pt x="14" y="30"/>
                    </a:lnTo>
                    <a:lnTo>
                      <a:pt x="14" y="30"/>
                    </a:lnTo>
                    <a:close/>
                    <a:moveTo>
                      <a:pt x="14" y="15"/>
                    </a:moveTo>
                    <a:lnTo>
                      <a:pt x="0" y="15"/>
                    </a:lnTo>
                    <a:lnTo>
                      <a:pt x="0" y="0"/>
                    </a:lnTo>
                    <a:lnTo>
                      <a:pt x="14" y="0"/>
                    </a:lnTo>
                    <a:lnTo>
                      <a:pt x="14" y="1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0" name="îṩḻíḍé"/>
              <p:cNvSpPr/>
              <p:nvPr/>
            </p:nvSpPr>
            <p:spPr bwMode="auto">
              <a:xfrm>
                <a:off x="10652953" y="724542"/>
                <a:ext cx="15935" cy="43612"/>
              </a:xfrm>
              <a:custGeom>
                <a:avLst/>
                <a:gdLst>
                  <a:gd name="T0" fmla="*/ 76 w 76"/>
                  <a:gd name="T1" fmla="*/ 69 h 210"/>
                  <a:gd name="T2" fmla="*/ 49 w 76"/>
                  <a:gd name="T3" fmla="*/ 69 h 210"/>
                  <a:gd name="T4" fmla="*/ 49 w 76"/>
                  <a:gd name="T5" fmla="*/ 176 h 210"/>
                  <a:gd name="T6" fmla="*/ 65 w 76"/>
                  <a:gd name="T7" fmla="*/ 189 h 210"/>
                  <a:gd name="T8" fmla="*/ 76 w 76"/>
                  <a:gd name="T9" fmla="*/ 189 h 210"/>
                  <a:gd name="T10" fmla="*/ 76 w 76"/>
                  <a:gd name="T11" fmla="*/ 210 h 210"/>
                  <a:gd name="T12" fmla="*/ 58 w 76"/>
                  <a:gd name="T13" fmla="*/ 210 h 210"/>
                  <a:gd name="T14" fmla="*/ 55 w 76"/>
                  <a:gd name="T15" fmla="*/ 210 h 210"/>
                  <a:gd name="T16" fmla="*/ 20 w 76"/>
                  <a:gd name="T17" fmla="*/ 178 h 210"/>
                  <a:gd name="T18" fmla="*/ 20 w 76"/>
                  <a:gd name="T19" fmla="*/ 69 h 210"/>
                  <a:gd name="T20" fmla="*/ 0 w 76"/>
                  <a:gd name="T21" fmla="*/ 69 h 210"/>
                  <a:gd name="T22" fmla="*/ 0 w 76"/>
                  <a:gd name="T23" fmla="*/ 46 h 210"/>
                  <a:gd name="T24" fmla="*/ 20 w 76"/>
                  <a:gd name="T25" fmla="*/ 46 h 210"/>
                  <a:gd name="T26" fmla="*/ 20 w 76"/>
                  <a:gd name="T27" fmla="*/ 0 h 210"/>
                  <a:gd name="T28" fmla="*/ 49 w 76"/>
                  <a:gd name="T29" fmla="*/ 0 h 210"/>
                  <a:gd name="T30" fmla="*/ 49 w 76"/>
                  <a:gd name="T31" fmla="*/ 46 h 210"/>
                  <a:gd name="T32" fmla="*/ 76 w 76"/>
                  <a:gd name="T33" fmla="*/ 46 h 210"/>
                  <a:gd name="T34" fmla="*/ 76 w 76"/>
                  <a:gd name="T35" fmla="*/ 69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76" h="210">
                    <a:moveTo>
                      <a:pt x="76" y="69"/>
                    </a:moveTo>
                    <a:cubicBezTo>
                      <a:pt x="49" y="69"/>
                      <a:pt x="49" y="69"/>
                      <a:pt x="49" y="69"/>
                    </a:cubicBezTo>
                    <a:cubicBezTo>
                      <a:pt x="49" y="176"/>
                      <a:pt x="49" y="176"/>
                      <a:pt x="49" y="176"/>
                    </a:cubicBezTo>
                    <a:cubicBezTo>
                      <a:pt x="49" y="185"/>
                      <a:pt x="54" y="189"/>
                      <a:pt x="65" y="189"/>
                    </a:cubicBezTo>
                    <a:cubicBezTo>
                      <a:pt x="76" y="189"/>
                      <a:pt x="76" y="189"/>
                      <a:pt x="76" y="189"/>
                    </a:cubicBezTo>
                    <a:cubicBezTo>
                      <a:pt x="76" y="210"/>
                      <a:pt x="76" y="210"/>
                      <a:pt x="76" y="210"/>
                    </a:cubicBezTo>
                    <a:cubicBezTo>
                      <a:pt x="71" y="210"/>
                      <a:pt x="65" y="210"/>
                      <a:pt x="58" y="210"/>
                    </a:cubicBezTo>
                    <a:cubicBezTo>
                      <a:pt x="57" y="210"/>
                      <a:pt x="56" y="210"/>
                      <a:pt x="55" y="210"/>
                    </a:cubicBezTo>
                    <a:cubicBezTo>
                      <a:pt x="31" y="210"/>
                      <a:pt x="20" y="199"/>
                      <a:pt x="20" y="178"/>
                    </a:cubicBezTo>
                    <a:cubicBezTo>
                      <a:pt x="20" y="69"/>
                      <a:pt x="20" y="69"/>
                      <a:pt x="20" y="69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20" y="46"/>
                      <a:pt x="20" y="46"/>
                      <a:pt x="20" y="46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49" y="46"/>
                      <a:pt x="49" y="46"/>
                      <a:pt x="49" y="46"/>
                    </a:cubicBezTo>
                    <a:cubicBezTo>
                      <a:pt x="76" y="46"/>
                      <a:pt x="76" y="46"/>
                      <a:pt x="76" y="46"/>
                    </a:cubicBezTo>
                    <a:lnTo>
                      <a:pt x="76" y="6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1" name="íS1íde"/>
              <p:cNvSpPr/>
              <p:nvPr/>
            </p:nvSpPr>
            <p:spPr bwMode="auto">
              <a:xfrm>
                <a:off x="10670565" y="734187"/>
                <a:ext cx="31032" cy="47386"/>
              </a:xfrm>
              <a:custGeom>
                <a:avLst/>
                <a:gdLst>
                  <a:gd name="T0" fmla="*/ 76 w 150"/>
                  <a:gd name="T1" fmla="*/ 135 h 229"/>
                  <a:gd name="T2" fmla="*/ 119 w 150"/>
                  <a:gd name="T3" fmla="*/ 0 h 229"/>
                  <a:gd name="T4" fmla="*/ 150 w 150"/>
                  <a:gd name="T5" fmla="*/ 0 h 229"/>
                  <a:gd name="T6" fmla="*/ 133 w 150"/>
                  <a:gd name="T7" fmla="*/ 48 h 229"/>
                  <a:gd name="T8" fmla="*/ 91 w 150"/>
                  <a:gd name="T9" fmla="*/ 160 h 229"/>
                  <a:gd name="T10" fmla="*/ 62 w 150"/>
                  <a:gd name="T11" fmla="*/ 218 h 229"/>
                  <a:gd name="T12" fmla="*/ 26 w 150"/>
                  <a:gd name="T13" fmla="*/ 228 h 229"/>
                  <a:gd name="T14" fmla="*/ 15 w 150"/>
                  <a:gd name="T15" fmla="*/ 225 h 229"/>
                  <a:gd name="T16" fmla="*/ 15 w 150"/>
                  <a:gd name="T17" fmla="*/ 201 h 229"/>
                  <a:gd name="T18" fmla="*/ 18 w 150"/>
                  <a:gd name="T19" fmla="*/ 202 h 229"/>
                  <a:gd name="T20" fmla="*/ 31 w 150"/>
                  <a:gd name="T21" fmla="*/ 204 h 229"/>
                  <a:gd name="T22" fmla="*/ 60 w 150"/>
                  <a:gd name="T23" fmla="*/ 166 h 229"/>
                  <a:gd name="T24" fmla="*/ 0 w 150"/>
                  <a:gd name="T25" fmla="*/ 0 h 229"/>
                  <a:gd name="T26" fmla="*/ 31 w 150"/>
                  <a:gd name="T27" fmla="*/ 0 h 229"/>
                  <a:gd name="T28" fmla="*/ 75 w 150"/>
                  <a:gd name="T29" fmla="*/ 135 h 229"/>
                  <a:gd name="T30" fmla="*/ 76 w 150"/>
                  <a:gd name="T31" fmla="*/ 135 h 2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50" h="229">
                    <a:moveTo>
                      <a:pt x="76" y="135"/>
                    </a:moveTo>
                    <a:cubicBezTo>
                      <a:pt x="119" y="0"/>
                      <a:pt x="119" y="0"/>
                      <a:pt x="119" y="0"/>
                    </a:cubicBezTo>
                    <a:cubicBezTo>
                      <a:pt x="150" y="0"/>
                      <a:pt x="150" y="0"/>
                      <a:pt x="150" y="0"/>
                    </a:cubicBezTo>
                    <a:cubicBezTo>
                      <a:pt x="146" y="10"/>
                      <a:pt x="140" y="26"/>
                      <a:pt x="133" y="48"/>
                    </a:cubicBezTo>
                    <a:cubicBezTo>
                      <a:pt x="115" y="97"/>
                      <a:pt x="101" y="135"/>
                      <a:pt x="91" y="160"/>
                    </a:cubicBezTo>
                    <a:cubicBezTo>
                      <a:pt x="77" y="195"/>
                      <a:pt x="67" y="214"/>
                      <a:pt x="62" y="218"/>
                    </a:cubicBezTo>
                    <a:cubicBezTo>
                      <a:pt x="56" y="225"/>
                      <a:pt x="44" y="229"/>
                      <a:pt x="26" y="228"/>
                    </a:cubicBezTo>
                    <a:cubicBezTo>
                      <a:pt x="23" y="228"/>
                      <a:pt x="19" y="227"/>
                      <a:pt x="15" y="225"/>
                    </a:cubicBezTo>
                    <a:cubicBezTo>
                      <a:pt x="15" y="201"/>
                      <a:pt x="15" y="201"/>
                      <a:pt x="15" y="201"/>
                    </a:cubicBezTo>
                    <a:cubicBezTo>
                      <a:pt x="16" y="201"/>
                      <a:pt x="17" y="201"/>
                      <a:pt x="18" y="202"/>
                    </a:cubicBezTo>
                    <a:cubicBezTo>
                      <a:pt x="22" y="204"/>
                      <a:pt x="27" y="204"/>
                      <a:pt x="31" y="204"/>
                    </a:cubicBezTo>
                    <a:cubicBezTo>
                      <a:pt x="42" y="209"/>
                      <a:pt x="51" y="196"/>
                      <a:pt x="60" y="16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75" y="135"/>
                      <a:pt x="75" y="135"/>
                      <a:pt x="75" y="135"/>
                    </a:cubicBezTo>
                    <a:lnTo>
                      <a:pt x="76" y="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2" name="îsḷiḋê"/>
              <p:cNvSpPr/>
              <p:nvPr/>
            </p:nvSpPr>
            <p:spPr bwMode="auto">
              <a:xfrm>
                <a:off x="10722564" y="732929"/>
                <a:ext cx="31870" cy="35644"/>
              </a:xfrm>
              <a:custGeom>
                <a:avLst/>
                <a:gdLst>
                  <a:gd name="T0" fmla="*/ 0 w 152"/>
                  <a:gd name="T1" fmla="*/ 87 h 171"/>
                  <a:gd name="T2" fmla="*/ 76 w 152"/>
                  <a:gd name="T3" fmla="*/ 0 h 171"/>
                  <a:gd name="T4" fmla="*/ 152 w 152"/>
                  <a:gd name="T5" fmla="*/ 87 h 171"/>
                  <a:gd name="T6" fmla="*/ 76 w 152"/>
                  <a:gd name="T7" fmla="*/ 171 h 171"/>
                  <a:gd name="T8" fmla="*/ 0 w 152"/>
                  <a:gd name="T9" fmla="*/ 87 h 171"/>
                  <a:gd name="T10" fmla="*/ 28 w 152"/>
                  <a:gd name="T11" fmla="*/ 87 h 171"/>
                  <a:gd name="T12" fmla="*/ 76 w 152"/>
                  <a:gd name="T13" fmla="*/ 149 h 171"/>
                  <a:gd name="T14" fmla="*/ 123 w 152"/>
                  <a:gd name="T15" fmla="*/ 87 h 171"/>
                  <a:gd name="T16" fmla="*/ 76 w 152"/>
                  <a:gd name="T17" fmla="*/ 24 h 171"/>
                  <a:gd name="T18" fmla="*/ 28 w 152"/>
                  <a:gd name="T19" fmla="*/ 87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52" h="171">
                    <a:moveTo>
                      <a:pt x="0" y="87"/>
                    </a:moveTo>
                    <a:cubicBezTo>
                      <a:pt x="3" y="31"/>
                      <a:pt x="28" y="2"/>
                      <a:pt x="76" y="0"/>
                    </a:cubicBezTo>
                    <a:cubicBezTo>
                      <a:pt x="123" y="2"/>
                      <a:pt x="148" y="31"/>
                      <a:pt x="152" y="87"/>
                    </a:cubicBezTo>
                    <a:cubicBezTo>
                      <a:pt x="148" y="142"/>
                      <a:pt x="123" y="170"/>
                      <a:pt x="76" y="171"/>
                    </a:cubicBezTo>
                    <a:cubicBezTo>
                      <a:pt x="28" y="170"/>
                      <a:pt x="3" y="142"/>
                      <a:pt x="0" y="87"/>
                    </a:cubicBezTo>
                    <a:close/>
                    <a:moveTo>
                      <a:pt x="28" y="87"/>
                    </a:moveTo>
                    <a:cubicBezTo>
                      <a:pt x="30" y="128"/>
                      <a:pt x="46" y="149"/>
                      <a:pt x="76" y="149"/>
                    </a:cubicBezTo>
                    <a:cubicBezTo>
                      <a:pt x="105" y="149"/>
                      <a:pt x="121" y="128"/>
                      <a:pt x="123" y="87"/>
                    </a:cubicBezTo>
                    <a:cubicBezTo>
                      <a:pt x="121" y="46"/>
                      <a:pt x="105" y="25"/>
                      <a:pt x="76" y="24"/>
                    </a:cubicBezTo>
                    <a:cubicBezTo>
                      <a:pt x="46" y="25"/>
                      <a:pt x="30" y="46"/>
                      <a:pt x="28" y="8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3" name="ïś1ïḓé"/>
              <p:cNvSpPr/>
              <p:nvPr/>
            </p:nvSpPr>
            <p:spPr bwMode="auto">
              <a:xfrm>
                <a:off x="10757370" y="720768"/>
                <a:ext cx="15935" cy="47386"/>
              </a:xfrm>
              <a:custGeom>
                <a:avLst/>
                <a:gdLst>
                  <a:gd name="T0" fmla="*/ 77 w 77"/>
                  <a:gd name="T1" fmla="*/ 87 h 228"/>
                  <a:gd name="T2" fmla="*/ 48 w 77"/>
                  <a:gd name="T3" fmla="*/ 87 h 228"/>
                  <a:gd name="T4" fmla="*/ 48 w 77"/>
                  <a:gd name="T5" fmla="*/ 228 h 228"/>
                  <a:gd name="T6" fmla="*/ 22 w 77"/>
                  <a:gd name="T7" fmla="*/ 228 h 228"/>
                  <a:gd name="T8" fmla="*/ 22 w 77"/>
                  <a:gd name="T9" fmla="*/ 87 h 228"/>
                  <a:gd name="T10" fmla="*/ 0 w 77"/>
                  <a:gd name="T11" fmla="*/ 87 h 228"/>
                  <a:gd name="T12" fmla="*/ 0 w 77"/>
                  <a:gd name="T13" fmla="*/ 64 h 228"/>
                  <a:gd name="T14" fmla="*/ 22 w 77"/>
                  <a:gd name="T15" fmla="*/ 64 h 228"/>
                  <a:gd name="T16" fmla="*/ 22 w 77"/>
                  <a:gd name="T17" fmla="*/ 37 h 228"/>
                  <a:gd name="T18" fmla="*/ 63 w 77"/>
                  <a:gd name="T19" fmla="*/ 0 h 228"/>
                  <a:gd name="T20" fmla="*/ 77 w 77"/>
                  <a:gd name="T21" fmla="*/ 1 h 228"/>
                  <a:gd name="T22" fmla="*/ 77 w 77"/>
                  <a:gd name="T23" fmla="*/ 25 h 228"/>
                  <a:gd name="T24" fmla="*/ 64 w 77"/>
                  <a:gd name="T25" fmla="*/ 25 h 228"/>
                  <a:gd name="T26" fmla="*/ 48 w 77"/>
                  <a:gd name="T27" fmla="*/ 44 h 228"/>
                  <a:gd name="T28" fmla="*/ 48 w 77"/>
                  <a:gd name="T29" fmla="*/ 64 h 228"/>
                  <a:gd name="T30" fmla="*/ 77 w 77"/>
                  <a:gd name="T31" fmla="*/ 64 h 228"/>
                  <a:gd name="T32" fmla="*/ 77 w 77"/>
                  <a:gd name="T33" fmla="*/ 87 h 2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77" h="228">
                    <a:moveTo>
                      <a:pt x="77" y="87"/>
                    </a:moveTo>
                    <a:cubicBezTo>
                      <a:pt x="48" y="87"/>
                      <a:pt x="48" y="87"/>
                      <a:pt x="48" y="87"/>
                    </a:cubicBezTo>
                    <a:cubicBezTo>
                      <a:pt x="48" y="228"/>
                      <a:pt x="48" y="228"/>
                      <a:pt x="48" y="228"/>
                    </a:cubicBezTo>
                    <a:cubicBezTo>
                      <a:pt x="22" y="228"/>
                      <a:pt x="22" y="228"/>
                      <a:pt x="22" y="228"/>
                    </a:cubicBezTo>
                    <a:cubicBezTo>
                      <a:pt x="22" y="87"/>
                      <a:pt x="22" y="87"/>
                      <a:pt x="22" y="87"/>
                    </a:cubicBezTo>
                    <a:cubicBezTo>
                      <a:pt x="0" y="87"/>
                      <a:pt x="0" y="87"/>
                      <a:pt x="0" y="87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22" y="64"/>
                      <a:pt x="22" y="64"/>
                      <a:pt x="22" y="64"/>
                    </a:cubicBezTo>
                    <a:cubicBezTo>
                      <a:pt x="22" y="37"/>
                      <a:pt x="22" y="37"/>
                      <a:pt x="22" y="37"/>
                    </a:cubicBezTo>
                    <a:cubicBezTo>
                      <a:pt x="22" y="12"/>
                      <a:pt x="35" y="0"/>
                      <a:pt x="63" y="0"/>
                    </a:cubicBezTo>
                    <a:cubicBezTo>
                      <a:pt x="68" y="0"/>
                      <a:pt x="73" y="0"/>
                      <a:pt x="77" y="1"/>
                    </a:cubicBezTo>
                    <a:cubicBezTo>
                      <a:pt x="77" y="25"/>
                      <a:pt x="77" y="25"/>
                      <a:pt x="77" y="25"/>
                    </a:cubicBezTo>
                    <a:cubicBezTo>
                      <a:pt x="73" y="25"/>
                      <a:pt x="69" y="25"/>
                      <a:pt x="64" y="25"/>
                    </a:cubicBezTo>
                    <a:cubicBezTo>
                      <a:pt x="54" y="25"/>
                      <a:pt x="48" y="31"/>
                      <a:pt x="48" y="44"/>
                    </a:cubicBezTo>
                    <a:cubicBezTo>
                      <a:pt x="48" y="64"/>
                      <a:pt x="48" y="64"/>
                      <a:pt x="48" y="64"/>
                    </a:cubicBezTo>
                    <a:cubicBezTo>
                      <a:pt x="77" y="64"/>
                      <a:pt x="77" y="64"/>
                      <a:pt x="77" y="64"/>
                    </a:cubicBezTo>
                    <a:lnTo>
                      <a:pt x="77" y="8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4" name="iṥlïḑê"/>
              <p:cNvSpPr/>
              <p:nvPr/>
            </p:nvSpPr>
            <p:spPr bwMode="auto">
              <a:xfrm>
                <a:off x="10795530" y="720349"/>
                <a:ext cx="36902" cy="48644"/>
              </a:xfrm>
              <a:custGeom>
                <a:avLst/>
                <a:gdLst>
                  <a:gd name="T0" fmla="*/ 173 w 179"/>
                  <a:gd name="T1" fmla="*/ 71 h 234"/>
                  <a:gd name="T2" fmla="*/ 145 w 179"/>
                  <a:gd name="T3" fmla="*/ 71 h 234"/>
                  <a:gd name="T4" fmla="*/ 89 w 179"/>
                  <a:gd name="T5" fmla="*/ 25 h 234"/>
                  <a:gd name="T6" fmla="*/ 38 w 179"/>
                  <a:gd name="T7" fmla="*/ 65 h 234"/>
                  <a:gd name="T8" fmla="*/ 65 w 179"/>
                  <a:gd name="T9" fmla="*/ 93 h 234"/>
                  <a:gd name="T10" fmla="*/ 129 w 179"/>
                  <a:gd name="T11" fmla="*/ 107 h 234"/>
                  <a:gd name="T12" fmla="*/ 179 w 179"/>
                  <a:gd name="T13" fmla="*/ 169 h 234"/>
                  <a:gd name="T14" fmla="*/ 91 w 179"/>
                  <a:gd name="T15" fmla="*/ 234 h 234"/>
                  <a:gd name="T16" fmla="*/ 24 w 179"/>
                  <a:gd name="T17" fmla="*/ 214 h 234"/>
                  <a:gd name="T18" fmla="*/ 0 w 179"/>
                  <a:gd name="T19" fmla="*/ 158 h 234"/>
                  <a:gd name="T20" fmla="*/ 30 w 179"/>
                  <a:gd name="T21" fmla="*/ 158 h 234"/>
                  <a:gd name="T22" fmla="*/ 91 w 179"/>
                  <a:gd name="T23" fmla="*/ 210 h 234"/>
                  <a:gd name="T24" fmla="*/ 151 w 179"/>
                  <a:gd name="T25" fmla="*/ 172 h 234"/>
                  <a:gd name="T26" fmla="*/ 102 w 179"/>
                  <a:gd name="T27" fmla="*/ 132 h 234"/>
                  <a:gd name="T28" fmla="*/ 55 w 179"/>
                  <a:gd name="T29" fmla="*/ 122 h 234"/>
                  <a:gd name="T30" fmla="*/ 8 w 179"/>
                  <a:gd name="T31" fmla="*/ 68 h 234"/>
                  <a:gd name="T32" fmla="*/ 86 w 179"/>
                  <a:gd name="T33" fmla="*/ 0 h 234"/>
                  <a:gd name="T34" fmla="*/ 173 w 179"/>
                  <a:gd name="T35" fmla="*/ 71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79" h="234">
                    <a:moveTo>
                      <a:pt x="173" y="71"/>
                    </a:moveTo>
                    <a:cubicBezTo>
                      <a:pt x="145" y="71"/>
                      <a:pt x="145" y="71"/>
                      <a:pt x="145" y="71"/>
                    </a:cubicBezTo>
                    <a:cubicBezTo>
                      <a:pt x="143" y="42"/>
                      <a:pt x="124" y="27"/>
                      <a:pt x="89" y="25"/>
                    </a:cubicBezTo>
                    <a:cubicBezTo>
                      <a:pt x="55" y="26"/>
                      <a:pt x="38" y="39"/>
                      <a:pt x="38" y="65"/>
                    </a:cubicBezTo>
                    <a:cubicBezTo>
                      <a:pt x="38" y="81"/>
                      <a:pt x="47" y="90"/>
                      <a:pt x="65" y="93"/>
                    </a:cubicBezTo>
                    <a:cubicBezTo>
                      <a:pt x="129" y="107"/>
                      <a:pt x="129" y="107"/>
                      <a:pt x="129" y="107"/>
                    </a:cubicBezTo>
                    <a:cubicBezTo>
                      <a:pt x="162" y="116"/>
                      <a:pt x="179" y="136"/>
                      <a:pt x="179" y="169"/>
                    </a:cubicBezTo>
                    <a:cubicBezTo>
                      <a:pt x="178" y="210"/>
                      <a:pt x="149" y="232"/>
                      <a:pt x="91" y="234"/>
                    </a:cubicBezTo>
                    <a:cubicBezTo>
                      <a:pt x="59" y="234"/>
                      <a:pt x="37" y="227"/>
                      <a:pt x="24" y="214"/>
                    </a:cubicBezTo>
                    <a:cubicBezTo>
                      <a:pt x="7" y="202"/>
                      <a:pt x="0" y="183"/>
                      <a:pt x="0" y="158"/>
                    </a:cubicBezTo>
                    <a:cubicBezTo>
                      <a:pt x="30" y="158"/>
                      <a:pt x="30" y="158"/>
                      <a:pt x="30" y="158"/>
                    </a:cubicBezTo>
                    <a:cubicBezTo>
                      <a:pt x="31" y="192"/>
                      <a:pt x="51" y="210"/>
                      <a:pt x="91" y="210"/>
                    </a:cubicBezTo>
                    <a:cubicBezTo>
                      <a:pt x="130" y="210"/>
                      <a:pt x="150" y="197"/>
                      <a:pt x="151" y="172"/>
                    </a:cubicBezTo>
                    <a:cubicBezTo>
                      <a:pt x="154" y="152"/>
                      <a:pt x="138" y="139"/>
                      <a:pt x="102" y="132"/>
                    </a:cubicBezTo>
                    <a:cubicBezTo>
                      <a:pt x="55" y="122"/>
                      <a:pt x="55" y="122"/>
                      <a:pt x="55" y="122"/>
                    </a:cubicBezTo>
                    <a:cubicBezTo>
                      <a:pt x="24" y="113"/>
                      <a:pt x="8" y="95"/>
                      <a:pt x="8" y="68"/>
                    </a:cubicBezTo>
                    <a:cubicBezTo>
                      <a:pt x="10" y="24"/>
                      <a:pt x="36" y="1"/>
                      <a:pt x="86" y="0"/>
                    </a:cubicBezTo>
                    <a:cubicBezTo>
                      <a:pt x="142" y="0"/>
                      <a:pt x="171" y="23"/>
                      <a:pt x="173" y="7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5" name="iṩļîḋé"/>
              <p:cNvSpPr/>
              <p:nvPr/>
            </p:nvSpPr>
            <p:spPr bwMode="auto">
              <a:xfrm>
                <a:off x="10837884" y="732929"/>
                <a:ext cx="28515" cy="35644"/>
              </a:xfrm>
              <a:custGeom>
                <a:avLst/>
                <a:gdLst>
                  <a:gd name="T0" fmla="*/ 139 w 139"/>
                  <a:gd name="T1" fmla="*/ 61 h 171"/>
                  <a:gd name="T2" fmla="*/ 112 w 139"/>
                  <a:gd name="T3" fmla="*/ 61 h 171"/>
                  <a:gd name="T4" fmla="*/ 74 w 139"/>
                  <a:gd name="T5" fmla="*/ 26 h 171"/>
                  <a:gd name="T6" fmla="*/ 28 w 139"/>
                  <a:gd name="T7" fmla="*/ 87 h 171"/>
                  <a:gd name="T8" fmla="*/ 73 w 139"/>
                  <a:gd name="T9" fmla="*/ 151 h 171"/>
                  <a:gd name="T10" fmla="*/ 112 w 139"/>
                  <a:gd name="T11" fmla="*/ 111 h 171"/>
                  <a:gd name="T12" fmla="*/ 139 w 139"/>
                  <a:gd name="T13" fmla="*/ 111 h 171"/>
                  <a:gd name="T14" fmla="*/ 73 w 139"/>
                  <a:gd name="T15" fmla="*/ 171 h 171"/>
                  <a:gd name="T16" fmla="*/ 0 w 139"/>
                  <a:gd name="T17" fmla="*/ 92 h 171"/>
                  <a:gd name="T18" fmla="*/ 78 w 139"/>
                  <a:gd name="T19" fmla="*/ 0 h 171"/>
                  <a:gd name="T20" fmla="*/ 139 w 139"/>
                  <a:gd name="T21" fmla="*/ 61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9" h="171">
                    <a:moveTo>
                      <a:pt x="139" y="61"/>
                    </a:moveTo>
                    <a:cubicBezTo>
                      <a:pt x="112" y="61"/>
                      <a:pt x="112" y="61"/>
                      <a:pt x="112" y="61"/>
                    </a:cubicBezTo>
                    <a:cubicBezTo>
                      <a:pt x="110" y="37"/>
                      <a:pt x="97" y="26"/>
                      <a:pt x="74" y="26"/>
                    </a:cubicBezTo>
                    <a:cubicBezTo>
                      <a:pt x="45" y="27"/>
                      <a:pt x="30" y="48"/>
                      <a:pt x="28" y="87"/>
                    </a:cubicBezTo>
                    <a:cubicBezTo>
                      <a:pt x="28" y="129"/>
                      <a:pt x="43" y="151"/>
                      <a:pt x="73" y="151"/>
                    </a:cubicBezTo>
                    <a:cubicBezTo>
                      <a:pt x="95" y="149"/>
                      <a:pt x="108" y="136"/>
                      <a:pt x="112" y="111"/>
                    </a:cubicBezTo>
                    <a:cubicBezTo>
                      <a:pt x="139" y="111"/>
                      <a:pt x="139" y="111"/>
                      <a:pt x="139" y="111"/>
                    </a:cubicBezTo>
                    <a:cubicBezTo>
                      <a:pt x="133" y="151"/>
                      <a:pt x="111" y="171"/>
                      <a:pt x="73" y="171"/>
                    </a:cubicBezTo>
                    <a:cubicBezTo>
                      <a:pt x="26" y="170"/>
                      <a:pt x="1" y="143"/>
                      <a:pt x="0" y="92"/>
                    </a:cubicBezTo>
                    <a:cubicBezTo>
                      <a:pt x="1" y="32"/>
                      <a:pt x="28" y="2"/>
                      <a:pt x="78" y="0"/>
                    </a:cubicBezTo>
                    <a:cubicBezTo>
                      <a:pt x="114" y="1"/>
                      <a:pt x="135" y="21"/>
                      <a:pt x="139" y="6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6" name="îs1iḋé"/>
              <p:cNvSpPr/>
              <p:nvPr/>
            </p:nvSpPr>
            <p:spPr bwMode="auto">
              <a:xfrm>
                <a:off x="10872270" y="721607"/>
                <a:ext cx="5871" cy="46547"/>
              </a:xfrm>
              <a:custGeom>
                <a:avLst/>
                <a:gdLst>
                  <a:gd name="T0" fmla="*/ 14 w 14"/>
                  <a:gd name="T1" fmla="*/ 30 h 111"/>
                  <a:gd name="T2" fmla="*/ 14 w 14"/>
                  <a:gd name="T3" fmla="*/ 111 h 111"/>
                  <a:gd name="T4" fmla="*/ 0 w 14"/>
                  <a:gd name="T5" fmla="*/ 111 h 111"/>
                  <a:gd name="T6" fmla="*/ 0 w 14"/>
                  <a:gd name="T7" fmla="*/ 30 h 111"/>
                  <a:gd name="T8" fmla="*/ 14 w 14"/>
                  <a:gd name="T9" fmla="*/ 30 h 111"/>
                  <a:gd name="T10" fmla="*/ 14 w 14"/>
                  <a:gd name="T11" fmla="*/ 30 h 111"/>
                  <a:gd name="T12" fmla="*/ 14 w 14"/>
                  <a:gd name="T13" fmla="*/ 15 h 111"/>
                  <a:gd name="T14" fmla="*/ 0 w 14"/>
                  <a:gd name="T15" fmla="*/ 15 h 111"/>
                  <a:gd name="T16" fmla="*/ 0 w 14"/>
                  <a:gd name="T17" fmla="*/ 0 h 111"/>
                  <a:gd name="T18" fmla="*/ 14 w 14"/>
                  <a:gd name="T19" fmla="*/ 0 h 111"/>
                  <a:gd name="T20" fmla="*/ 14 w 14"/>
                  <a:gd name="T21" fmla="*/ 15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4" h="111">
                    <a:moveTo>
                      <a:pt x="14" y="30"/>
                    </a:moveTo>
                    <a:lnTo>
                      <a:pt x="14" y="111"/>
                    </a:lnTo>
                    <a:lnTo>
                      <a:pt x="0" y="111"/>
                    </a:lnTo>
                    <a:lnTo>
                      <a:pt x="0" y="30"/>
                    </a:lnTo>
                    <a:lnTo>
                      <a:pt x="14" y="30"/>
                    </a:lnTo>
                    <a:lnTo>
                      <a:pt x="14" y="30"/>
                    </a:lnTo>
                    <a:close/>
                    <a:moveTo>
                      <a:pt x="14" y="15"/>
                    </a:moveTo>
                    <a:lnTo>
                      <a:pt x="0" y="15"/>
                    </a:lnTo>
                    <a:lnTo>
                      <a:pt x="0" y="0"/>
                    </a:lnTo>
                    <a:lnTo>
                      <a:pt x="14" y="0"/>
                    </a:lnTo>
                    <a:lnTo>
                      <a:pt x="14" y="1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7" name="iṣ1ïḑê"/>
              <p:cNvSpPr/>
              <p:nvPr/>
            </p:nvSpPr>
            <p:spPr bwMode="auto">
              <a:xfrm>
                <a:off x="10884851" y="732929"/>
                <a:ext cx="31032" cy="35644"/>
              </a:xfrm>
              <a:custGeom>
                <a:avLst/>
                <a:gdLst>
                  <a:gd name="T0" fmla="*/ 120 w 149"/>
                  <a:gd name="T1" fmla="*/ 118 h 171"/>
                  <a:gd name="T2" fmla="*/ 147 w 149"/>
                  <a:gd name="T3" fmla="*/ 118 h 171"/>
                  <a:gd name="T4" fmla="*/ 117 w 149"/>
                  <a:gd name="T5" fmla="*/ 163 h 171"/>
                  <a:gd name="T6" fmla="*/ 73 w 149"/>
                  <a:gd name="T7" fmla="*/ 171 h 171"/>
                  <a:gd name="T8" fmla="*/ 0 w 149"/>
                  <a:gd name="T9" fmla="*/ 92 h 171"/>
                  <a:gd name="T10" fmla="*/ 78 w 149"/>
                  <a:gd name="T11" fmla="*/ 0 h 171"/>
                  <a:gd name="T12" fmla="*/ 149 w 149"/>
                  <a:gd name="T13" fmla="*/ 97 h 171"/>
                  <a:gd name="T14" fmla="*/ 29 w 149"/>
                  <a:gd name="T15" fmla="*/ 97 h 171"/>
                  <a:gd name="T16" fmla="*/ 77 w 149"/>
                  <a:gd name="T17" fmla="*/ 151 h 171"/>
                  <a:gd name="T18" fmla="*/ 120 w 149"/>
                  <a:gd name="T19" fmla="*/ 118 h 171"/>
                  <a:gd name="T20" fmla="*/ 29 w 149"/>
                  <a:gd name="T21" fmla="*/ 75 h 171"/>
                  <a:gd name="T22" fmla="*/ 121 w 149"/>
                  <a:gd name="T23" fmla="*/ 75 h 171"/>
                  <a:gd name="T24" fmla="*/ 74 w 149"/>
                  <a:gd name="T25" fmla="*/ 26 h 171"/>
                  <a:gd name="T26" fmla="*/ 29 w 149"/>
                  <a:gd name="T27" fmla="*/ 75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9" h="171">
                    <a:moveTo>
                      <a:pt x="120" y="118"/>
                    </a:moveTo>
                    <a:cubicBezTo>
                      <a:pt x="147" y="118"/>
                      <a:pt x="147" y="118"/>
                      <a:pt x="147" y="118"/>
                    </a:cubicBezTo>
                    <a:cubicBezTo>
                      <a:pt x="143" y="136"/>
                      <a:pt x="134" y="151"/>
                      <a:pt x="117" y="163"/>
                    </a:cubicBezTo>
                    <a:cubicBezTo>
                      <a:pt x="108" y="169"/>
                      <a:pt x="94" y="171"/>
                      <a:pt x="73" y="171"/>
                    </a:cubicBezTo>
                    <a:cubicBezTo>
                      <a:pt x="27" y="170"/>
                      <a:pt x="2" y="143"/>
                      <a:pt x="0" y="92"/>
                    </a:cubicBezTo>
                    <a:cubicBezTo>
                      <a:pt x="1" y="32"/>
                      <a:pt x="27" y="2"/>
                      <a:pt x="78" y="0"/>
                    </a:cubicBezTo>
                    <a:cubicBezTo>
                      <a:pt x="125" y="1"/>
                      <a:pt x="148" y="33"/>
                      <a:pt x="149" y="97"/>
                    </a:cubicBezTo>
                    <a:cubicBezTo>
                      <a:pt x="29" y="97"/>
                      <a:pt x="29" y="97"/>
                      <a:pt x="29" y="97"/>
                    </a:cubicBezTo>
                    <a:cubicBezTo>
                      <a:pt x="29" y="133"/>
                      <a:pt x="45" y="151"/>
                      <a:pt x="77" y="151"/>
                    </a:cubicBezTo>
                    <a:cubicBezTo>
                      <a:pt x="100" y="149"/>
                      <a:pt x="114" y="138"/>
                      <a:pt x="120" y="118"/>
                    </a:cubicBezTo>
                    <a:close/>
                    <a:moveTo>
                      <a:pt x="29" y="75"/>
                    </a:moveTo>
                    <a:cubicBezTo>
                      <a:pt x="121" y="75"/>
                      <a:pt x="121" y="75"/>
                      <a:pt x="121" y="75"/>
                    </a:cubicBezTo>
                    <a:cubicBezTo>
                      <a:pt x="119" y="42"/>
                      <a:pt x="103" y="26"/>
                      <a:pt x="74" y="26"/>
                    </a:cubicBezTo>
                    <a:cubicBezTo>
                      <a:pt x="47" y="28"/>
                      <a:pt x="32" y="44"/>
                      <a:pt x="29" y="7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8" name="ïS1îḑê"/>
              <p:cNvSpPr/>
              <p:nvPr/>
            </p:nvSpPr>
            <p:spPr bwMode="auto">
              <a:xfrm>
                <a:off x="10922172" y="732929"/>
                <a:ext cx="28096" cy="35225"/>
              </a:xfrm>
              <a:custGeom>
                <a:avLst/>
                <a:gdLst>
                  <a:gd name="T0" fmla="*/ 134 w 134"/>
                  <a:gd name="T1" fmla="*/ 58 h 169"/>
                  <a:gd name="T2" fmla="*/ 134 w 134"/>
                  <a:gd name="T3" fmla="*/ 169 h 169"/>
                  <a:gd name="T4" fmla="*/ 107 w 134"/>
                  <a:gd name="T5" fmla="*/ 169 h 169"/>
                  <a:gd name="T6" fmla="*/ 107 w 134"/>
                  <a:gd name="T7" fmla="*/ 69 h 169"/>
                  <a:gd name="T8" fmla="*/ 71 w 134"/>
                  <a:gd name="T9" fmla="*/ 26 h 169"/>
                  <a:gd name="T10" fmla="*/ 28 w 134"/>
                  <a:gd name="T11" fmla="*/ 80 h 169"/>
                  <a:gd name="T12" fmla="*/ 28 w 134"/>
                  <a:gd name="T13" fmla="*/ 169 h 169"/>
                  <a:gd name="T14" fmla="*/ 0 w 134"/>
                  <a:gd name="T15" fmla="*/ 169 h 169"/>
                  <a:gd name="T16" fmla="*/ 0 w 134"/>
                  <a:gd name="T17" fmla="*/ 5 h 169"/>
                  <a:gd name="T18" fmla="*/ 27 w 134"/>
                  <a:gd name="T19" fmla="*/ 5 h 169"/>
                  <a:gd name="T20" fmla="*/ 27 w 134"/>
                  <a:gd name="T21" fmla="*/ 28 h 169"/>
                  <a:gd name="T22" fmla="*/ 77 w 134"/>
                  <a:gd name="T23" fmla="*/ 0 h 169"/>
                  <a:gd name="T24" fmla="*/ 134 w 134"/>
                  <a:gd name="T25" fmla="*/ 58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4" h="169">
                    <a:moveTo>
                      <a:pt x="134" y="58"/>
                    </a:moveTo>
                    <a:cubicBezTo>
                      <a:pt x="134" y="169"/>
                      <a:pt x="134" y="169"/>
                      <a:pt x="134" y="169"/>
                    </a:cubicBezTo>
                    <a:cubicBezTo>
                      <a:pt x="107" y="169"/>
                      <a:pt x="107" y="169"/>
                      <a:pt x="107" y="169"/>
                    </a:cubicBezTo>
                    <a:cubicBezTo>
                      <a:pt x="107" y="69"/>
                      <a:pt x="107" y="69"/>
                      <a:pt x="107" y="69"/>
                    </a:cubicBezTo>
                    <a:cubicBezTo>
                      <a:pt x="108" y="38"/>
                      <a:pt x="96" y="24"/>
                      <a:pt x="71" y="26"/>
                    </a:cubicBezTo>
                    <a:cubicBezTo>
                      <a:pt x="43" y="27"/>
                      <a:pt x="29" y="45"/>
                      <a:pt x="28" y="80"/>
                    </a:cubicBezTo>
                    <a:cubicBezTo>
                      <a:pt x="28" y="169"/>
                      <a:pt x="28" y="169"/>
                      <a:pt x="28" y="169"/>
                    </a:cubicBezTo>
                    <a:cubicBezTo>
                      <a:pt x="0" y="169"/>
                      <a:pt x="0" y="169"/>
                      <a:pt x="0" y="169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27" y="5"/>
                      <a:pt x="27" y="5"/>
                      <a:pt x="27" y="5"/>
                    </a:cubicBezTo>
                    <a:cubicBezTo>
                      <a:pt x="27" y="28"/>
                      <a:pt x="27" y="28"/>
                      <a:pt x="27" y="28"/>
                    </a:cubicBezTo>
                    <a:cubicBezTo>
                      <a:pt x="40" y="9"/>
                      <a:pt x="57" y="0"/>
                      <a:pt x="77" y="0"/>
                    </a:cubicBezTo>
                    <a:cubicBezTo>
                      <a:pt x="114" y="1"/>
                      <a:pt x="133" y="20"/>
                      <a:pt x="134" y="5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9" name="iŝḷíḍê"/>
              <p:cNvSpPr/>
              <p:nvPr/>
            </p:nvSpPr>
            <p:spPr bwMode="auto">
              <a:xfrm>
                <a:off x="10956139" y="732929"/>
                <a:ext cx="29354" cy="35644"/>
              </a:xfrm>
              <a:custGeom>
                <a:avLst/>
                <a:gdLst>
                  <a:gd name="T0" fmla="*/ 140 w 140"/>
                  <a:gd name="T1" fmla="*/ 61 h 171"/>
                  <a:gd name="T2" fmla="*/ 113 w 140"/>
                  <a:gd name="T3" fmla="*/ 61 h 171"/>
                  <a:gd name="T4" fmla="*/ 75 w 140"/>
                  <a:gd name="T5" fmla="*/ 26 h 171"/>
                  <a:gd name="T6" fmla="*/ 28 w 140"/>
                  <a:gd name="T7" fmla="*/ 87 h 171"/>
                  <a:gd name="T8" fmla="*/ 74 w 140"/>
                  <a:gd name="T9" fmla="*/ 151 h 171"/>
                  <a:gd name="T10" fmla="*/ 113 w 140"/>
                  <a:gd name="T11" fmla="*/ 111 h 171"/>
                  <a:gd name="T12" fmla="*/ 140 w 140"/>
                  <a:gd name="T13" fmla="*/ 111 h 171"/>
                  <a:gd name="T14" fmla="*/ 74 w 140"/>
                  <a:gd name="T15" fmla="*/ 171 h 171"/>
                  <a:gd name="T16" fmla="*/ 0 w 140"/>
                  <a:gd name="T17" fmla="*/ 92 h 171"/>
                  <a:gd name="T18" fmla="*/ 79 w 140"/>
                  <a:gd name="T19" fmla="*/ 0 h 171"/>
                  <a:gd name="T20" fmla="*/ 140 w 140"/>
                  <a:gd name="T21" fmla="*/ 61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40" h="171">
                    <a:moveTo>
                      <a:pt x="140" y="61"/>
                    </a:moveTo>
                    <a:cubicBezTo>
                      <a:pt x="113" y="61"/>
                      <a:pt x="113" y="61"/>
                      <a:pt x="113" y="61"/>
                    </a:cubicBezTo>
                    <a:cubicBezTo>
                      <a:pt x="111" y="37"/>
                      <a:pt x="98" y="26"/>
                      <a:pt x="75" y="26"/>
                    </a:cubicBezTo>
                    <a:cubicBezTo>
                      <a:pt x="46" y="27"/>
                      <a:pt x="30" y="48"/>
                      <a:pt x="28" y="87"/>
                    </a:cubicBezTo>
                    <a:cubicBezTo>
                      <a:pt x="28" y="129"/>
                      <a:pt x="44" y="151"/>
                      <a:pt x="74" y="151"/>
                    </a:cubicBezTo>
                    <a:cubicBezTo>
                      <a:pt x="96" y="149"/>
                      <a:pt x="109" y="136"/>
                      <a:pt x="113" y="111"/>
                    </a:cubicBezTo>
                    <a:cubicBezTo>
                      <a:pt x="140" y="111"/>
                      <a:pt x="140" y="111"/>
                      <a:pt x="140" y="111"/>
                    </a:cubicBezTo>
                    <a:cubicBezTo>
                      <a:pt x="133" y="151"/>
                      <a:pt x="111" y="171"/>
                      <a:pt x="74" y="171"/>
                    </a:cubicBezTo>
                    <a:cubicBezTo>
                      <a:pt x="26" y="170"/>
                      <a:pt x="2" y="143"/>
                      <a:pt x="0" y="92"/>
                    </a:cubicBezTo>
                    <a:cubicBezTo>
                      <a:pt x="2" y="32"/>
                      <a:pt x="28" y="2"/>
                      <a:pt x="79" y="0"/>
                    </a:cubicBezTo>
                    <a:cubicBezTo>
                      <a:pt x="115" y="1"/>
                      <a:pt x="135" y="21"/>
                      <a:pt x="140" y="6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0" name="îṥľíḍé"/>
              <p:cNvSpPr/>
              <p:nvPr/>
            </p:nvSpPr>
            <p:spPr bwMode="auto">
              <a:xfrm>
                <a:off x="10989268" y="732929"/>
                <a:ext cx="31032" cy="35644"/>
              </a:xfrm>
              <a:custGeom>
                <a:avLst/>
                <a:gdLst>
                  <a:gd name="T0" fmla="*/ 120 w 149"/>
                  <a:gd name="T1" fmla="*/ 118 h 171"/>
                  <a:gd name="T2" fmla="*/ 147 w 149"/>
                  <a:gd name="T3" fmla="*/ 118 h 171"/>
                  <a:gd name="T4" fmla="*/ 117 w 149"/>
                  <a:gd name="T5" fmla="*/ 163 h 171"/>
                  <a:gd name="T6" fmla="*/ 73 w 149"/>
                  <a:gd name="T7" fmla="*/ 171 h 171"/>
                  <a:gd name="T8" fmla="*/ 0 w 149"/>
                  <a:gd name="T9" fmla="*/ 92 h 171"/>
                  <a:gd name="T10" fmla="*/ 78 w 149"/>
                  <a:gd name="T11" fmla="*/ 0 h 171"/>
                  <a:gd name="T12" fmla="*/ 149 w 149"/>
                  <a:gd name="T13" fmla="*/ 97 h 171"/>
                  <a:gd name="T14" fmla="*/ 29 w 149"/>
                  <a:gd name="T15" fmla="*/ 97 h 171"/>
                  <a:gd name="T16" fmla="*/ 77 w 149"/>
                  <a:gd name="T17" fmla="*/ 151 h 171"/>
                  <a:gd name="T18" fmla="*/ 120 w 149"/>
                  <a:gd name="T19" fmla="*/ 118 h 171"/>
                  <a:gd name="T20" fmla="*/ 29 w 149"/>
                  <a:gd name="T21" fmla="*/ 75 h 171"/>
                  <a:gd name="T22" fmla="*/ 121 w 149"/>
                  <a:gd name="T23" fmla="*/ 75 h 171"/>
                  <a:gd name="T24" fmla="*/ 74 w 149"/>
                  <a:gd name="T25" fmla="*/ 26 h 171"/>
                  <a:gd name="T26" fmla="*/ 29 w 149"/>
                  <a:gd name="T27" fmla="*/ 75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9" h="171">
                    <a:moveTo>
                      <a:pt x="120" y="118"/>
                    </a:moveTo>
                    <a:cubicBezTo>
                      <a:pt x="147" y="118"/>
                      <a:pt x="147" y="118"/>
                      <a:pt x="147" y="118"/>
                    </a:cubicBezTo>
                    <a:cubicBezTo>
                      <a:pt x="143" y="136"/>
                      <a:pt x="134" y="151"/>
                      <a:pt x="117" y="163"/>
                    </a:cubicBezTo>
                    <a:cubicBezTo>
                      <a:pt x="108" y="169"/>
                      <a:pt x="94" y="171"/>
                      <a:pt x="73" y="171"/>
                    </a:cubicBezTo>
                    <a:cubicBezTo>
                      <a:pt x="27" y="170"/>
                      <a:pt x="2" y="143"/>
                      <a:pt x="0" y="92"/>
                    </a:cubicBezTo>
                    <a:cubicBezTo>
                      <a:pt x="1" y="32"/>
                      <a:pt x="27" y="2"/>
                      <a:pt x="78" y="0"/>
                    </a:cubicBezTo>
                    <a:cubicBezTo>
                      <a:pt x="125" y="1"/>
                      <a:pt x="148" y="33"/>
                      <a:pt x="149" y="97"/>
                    </a:cubicBezTo>
                    <a:cubicBezTo>
                      <a:pt x="29" y="97"/>
                      <a:pt x="29" y="97"/>
                      <a:pt x="29" y="97"/>
                    </a:cubicBezTo>
                    <a:cubicBezTo>
                      <a:pt x="29" y="133"/>
                      <a:pt x="45" y="151"/>
                      <a:pt x="77" y="151"/>
                    </a:cubicBezTo>
                    <a:cubicBezTo>
                      <a:pt x="100" y="149"/>
                      <a:pt x="114" y="138"/>
                      <a:pt x="120" y="118"/>
                    </a:cubicBezTo>
                    <a:close/>
                    <a:moveTo>
                      <a:pt x="29" y="75"/>
                    </a:moveTo>
                    <a:cubicBezTo>
                      <a:pt x="121" y="75"/>
                      <a:pt x="121" y="75"/>
                      <a:pt x="121" y="75"/>
                    </a:cubicBezTo>
                    <a:cubicBezTo>
                      <a:pt x="118" y="42"/>
                      <a:pt x="103" y="26"/>
                      <a:pt x="74" y="26"/>
                    </a:cubicBezTo>
                    <a:cubicBezTo>
                      <a:pt x="47" y="28"/>
                      <a:pt x="32" y="44"/>
                      <a:pt x="29" y="7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1" name="îşḻiḍe"/>
              <p:cNvSpPr/>
              <p:nvPr/>
            </p:nvSpPr>
            <p:spPr bwMode="auto">
              <a:xfrm>
                <a:off x="11060975" y="732929"/>
                <a:ext cx="32290" cy="35644"/>
              </a:xfrm>
              <a:custGeom>
                <a:avLst/>
                <a:gdLst>
                  <a:gd name="T0" fmla="*/ 35 w 156"/>
                  <a:gd name="T1" fmla="*/ 55 h 171"/>
                  <a:gd name="T2" fmla="*/ 9 w 156"/>
                  <a:gd name="T3" fmla="*/ 55 h 171"/>
                  <a:gd name="T4" fmla="*/ 76 w 156"/>
                  <a:gd name="T5" fmla="*/ 0 h 171"/>
                  <a:gd name="T6" fmla="*/ 136 w 156"/>
                  <a:gd name="T7" fmla="*/ 46 h 171"/>
                  <a:gd name="T8" fmla="*/ 136 w 156"/>
                  <a:gd name="T9" fmla="*/ 141 h 171"/>
                  <a:gd name="T10" fmla="*/ 146 w 156"/>
                  <a:gd name="T11" fmla="*/ 151 h 171"/>
                  <a:gd name="T12" fmla="*/ 150 w 156"/>
                  <a:gd name="T13" fmla="*/ 151 h 171"/>
                  <a:gd name="T14" fmla="*/ 156 w 156"/>
                  <a:gd name="T15" fmla="*/ 149 h 171"/>
                  <a:gd name="T16" fmla="*/ 156 w 156"/>
                  <a:gd name="T17" fmla="*/ 169 h 171"/>
                  <a:gd name="T18" fmla="*/ 150 w 156"/>
                  <a:gd name="T19" fmla="*/ 169 h 171"/>
                  <a:gd name="T20" fmla="*/ 140 w 156"/>
                  <a:gd name="T21" fmla="*/ 170 h 171"/>
                  <a:gd name="T22" fmla="*/ 112 w 156"/>
                  <a:gd name="T23" fmla="*/ 147 h 171"/>
                  <a:gd name="T24" fmla="*/ 52 w 156"/>
                  <a:gd name="T25" fmla="*/ 171 h 171"/>
                  <a:gd name="T26" fmla="*/ 0 w 156"/>
                  <a:gd name="T27" fmla="*/ 126 h 171"/>
                  <a:gd name="T28" fmla="*/ 51 w 156"/>
                  <a:gd name="T29" fmla="*/ 75 h 171"/>
                  <a:gd name="T30" fmla="*/ 96 w 156"/>
                  <a:gd name="T31" fmla="*/ 70 h 171"/>
                  <a:gd name="T32" fmla="*/ 111 w 156"/>
                  <a:gd name="T33" fmla="*/ 50 h 171"/>
                  <a:gd name="T34" fmla="*/ 71 w 156"/>
                  <a:gd name="T35" fmla="*/ 23 h 171"/>
                  <a:gd name="T36" fmla="*/ 35 w 156"/>
                  <a:gd name="T37" fmla="*/ 55 h 171"/>
                  <a:gd name="T38" fmla="*/ 109 w 156"/>
                  <a:gd name="T39" fmla="*/ 113 h 171"/>
                  <a:gd name="T40" fmla="*/ 109 w 156"/>
                  <a:gd name="T41" fmla="*/ 86 h 171"/>
                  <a:gd name="T42" fmla="*/ 64 w 156"/>
                  <a:gd name="T43" fmla="*/ 97 h 171"/>
                  <a:gd name="T44" fmla="*/ 30 w 156"/>
                  <a:gd name="T45" fmla="*/ 122 h 171"/>
                  <a:gd name="T46" fmla="*/ 58 w 156"/>
                  <a:gd name="T47" fmla="*/ 151 h 171"/>
                  <a:gd name="T48" fmla="*/ 109 w 156"/>
                  <a:gd name="T49" fmla="*/ 113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56" h="171">
                    <a:moveTo>
                      <a:pt x="35" y="55"/>
                    </a:moveTo>
                    <a:cubicBezTo>
                      <a:pt x="9" y="55"/>
                      <a:pt x="9" y="55"/>
                      <a:pt x="9" y="55"/>
                    </a:cubicBezTo>
                    <a:cubicBezTo>
                      <a:pt x="10" y="18"/>
                      <a:pt x="32" y="0"/>
                      <a:pt x="76" y="0"/>
                    </a:cubicBezTo>
                    <a:cubicBezTo>
                      <a:pt x="116" y="2"/>
                      <a:pt x="136" y="17"/>
                      <a:pt x="136" y="46"/>
                    </a:cubicBezTo>
                    <a:cubicBezTo>
                      <a:pt x="136" y="141"/>
                      <a:pt x="136" y="141"/>
                      <a:pt x="136" y="141"/>
                    </a:cubicBezTo>
                    <a:cubicBezTo>
                      <a:pt x="136" y="147"/>
                      <a:pt x="140" y="151"/>
                      <a:pt x="146" y="151"/>
                    </a:cubicBezTo>
                    <a:cubicBezTo>
                      <a:pt x="147" y="151"/>
                      <a:pt x="148" y="151"/>
                      <a:pt x="150" y="151"/>
                    </a:cubicBezTo>
                    <a:cubicBezTo>
                      <a:pt x="152" y="150"/>
                      <a:pt x="154" y="149"/>
                      <a:pt x="156" y="149"/>
                    </a:cubicBezTo>
                    <a:cubicBezTo>
                      <a:pt x="156" y="169"/>
                      <a:pt x="156" y="169"/>
                      <a:pt x="156" y="169"/>
                    </a:cubicBezTo>
                    <a:cubicBezTo>
                      <a:pt x="154" y="169"/>
                      <a:pt x="152" y="169"/>
                      <a:pt x="150" y="169"/>
                    </a:cubicBezTo>
                    <a:cubicBezTo>
                      <a:pt x="146" y="170"/>
                      <a:pt x="143" y="170"/>
                      <a:pt x="140" y="170"/>
                    </a:cubicBezTo>
                    <a:cubicBezTo>
                      <a:pt x="120" y="170"/>
                      <a:pt x="111" y="163"/>
                      <a:pt x="112" y="147"/>
                    </a:cubicBezTo>
                    <a:cubicBezTo>
                      <a:pt x="96" y="163"/>
                      <a:pt x="76" y="171"/>
                      <a:pt x="52" y="171"/>
                    </a:cubicBezTo>
                    <a:cubicBezTo>
                      <a:pt x="19" y="170"/>
                      <a:pt x="2" y="155"/>
                      <a:pt x="0" y="126"/>
                    </a:cubicBezTo>
                    <a:cubicBezTo>
                      <a:pt x="1" y="97"/>
                      <a:pt x="18" y="80"/>
                      <a:pt x="51" y="75"/>
                    </a:cubicBezTo>
                    <a:cubicBezTo>
                      <a:pt x="96" y="70"/>
                      <a:pt x="96" y="70"/>
                      <a:pt x="96" y="70"/>
                    </a:cubicBezTo>
                    <a:cubicBezTo>
                      <a:pt x="106" y="68"/>
                      <a:pt x="111" y="62"/>
                      <a:pt x="111" y="50"/>
                    </a:cubicBezTo>
                    <a:cubicBezTo>
                      <a:pt x="111" y="32"/>
                      <a:pt x="98" y="23"/>
                      <a:pt x="71" y="23"/>
                    </a:cubicBezTo>
                    <a:cubicBezTo>
                      <a:pt x="49" y="23"/>
                      <a:pt x="36" y="34"/>
                      <a:pt x="35" y="55"/>
                    </a:cubicBezTo>
                    <a:close/>
                    <a:moveTo>
                      <a:pt x="109" y="113"/>
                    </a:moveTo>
                    <a:cubicBezTo>
                      <a:pt x="109" y="86"/>
                      <a:pt x="109" y="86"/>
                      <a:pt x="109" y="86"/>
                    </a:cubicBezTo>
                    <a:cubicBezTo>
                      <a:pt x="103" y="90"/>
                      <a:pt x="88" y="93"/>
                      <a:pt x="64" y="97"/>
                    </a:cubicBezTo>
                    <a:cubicBezTo>
                      <a:pt x="41" y="98"/>
                      <a:pt x="30" y="107"/>
                      <a:pt x="30" y="122"/>
                    </a:cubicBezTo>
                    <a:cubicBezTo>
                      <a:pt x="30" y="141"/>
                      <a:pt x="39" y="151"/>
                      <a:pt x="58" y="151"/>
                    </a:cubicBezTo>
                    <a:cubicBezTo>
                      <a:pt x="90" y="148"/>
                      <a:pt x="107" y="136"/>
                      <a:pt x="109" y="11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2" name="ïşḻíḓe"/>
              <p:cNvSpPr/>
              <p:nvPr/>
            </p:nvSpPr>
            <p:spPr bwMode="auto">
              <a:xfrm>
                <a:off x="11099136" y="732929"/>
                <a:ext cx="27677" cy="35225"/>
              </a:xfrm>
              <a:custGeom>
                <a:avLst/>
                <a:gdLst>
                  <a:gd name="T0" fmla="*/ 134 w 134"/>
                  <a:gd name="T1" fmla="*/ 58 h 169"/>
                  <a:gd name="T2" fmla="*/ 134 w 134"/>
                  <a:gd name="T3" fmla="*/ 169 h 169"/>
                  <a:gd name="T4" fmla="*/ 107 w 134"/>
                  <a:gd name="T5" fmla="*/ 169 h 169"/>
                  <a:gd name="T6" fmla="*/ 107 w 134"/>
                  <a:gd name="T7" fmla="*/ 69 h 169"/>
                  <a:gd name="T8" fmla="*/ 71 w 134"/>
                  <a:gd name="T9" fmla="*/ 26 h 169"/>
                  <a:gd name="T10" fmla="*/ 28 w 134"/>
                  <a:gd name="T11" fmla="*/ 80 h 169"/>
                  <a:gd name="T12" fmla="*/ 28 w 134"/>
                  <a:gd name="T13" fmla="*/ 169 h 169"/>
                  <a:gd name="T14" fmla="*/ 0 w 134"/>
                  <a:gd name="T15" fmla="*/ 169 h 169"/>
                  <a:gd name="T16" fmla="*/ 0 w 134"/>
                  <a:gd name="T17" fmla="*/ 5 h 169"/>
                  <a:gd name="T18" fmla="*/ 27 w 134"/>
                  <a:gd name="T19" fmla="*/ 5 h 169"/>
                  <a:gd name="T20" fmla="*/ 27 w 134"/>
                  <a:gd name="T21" fmla="*/ 28 h 169"/>
                  <a:gd name="T22" fmla="*/ 77 w 134"/>
                  <a:gd name="T23" fmla="*/ 0 h 169"/>
                  <a:gd name="T24" fmla="*/ 134 w 134"/>
                  <a:gd name="T25" fmla="*/ 58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4" h="169">
                    <a:moveTo>
                      <a:pt x="134" y="58"/>
                    </a:moveTo>
                    <a:cubicBezTo>
                      <a:pt x="134" y="169"/>
                      <a:pt x="134" y="169"/>
                      <a:pt x="134" y="169"/>
                    </a:cubicBezTo>
                    <a:cubicBezTo>
                      <a:pt x="107" y="169"/>
                      <a:pt x="107" y="169"/>
                      <a:pt x="107" y="169"/>
                    </a:cubicBezTo>
                    <a:cubicBezTo>
                      <a:pt x="107" y="69"/>
                      <a:pt x="107" y="69"/>
                      <a:pt x="107" y="69"/>
                    </a:cubicBezTo>
                    <a:cubicBezTo>
                      <a:pt x="108" y="38"/>
                      <a:pt x="96" y="24"/>
                      <a:pt x="71" y="26"/>
                    </a:cubicBezTo>
                    <a:cubicBezTo>
                      <a:pt x="43" y="27"/>
                      <a:pt x="29" y="45"/>
                      <a:pt x="28" y="80"/>
                    </a:cubicBezTo>
                    <a:cubicBezTo>
                      <a:pt x="28" y="169"/>
                      <a:pt x="28" y="169"/>
                      <a:pt x="28" y="169"/>
                    </a:cubicBezTo>
                    <a:cubicBezTo>
                      <a:pt x="0" y="169"/>
                      <a:pt x="0" y="169"/>
                      <a:pt x="0" y="169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27" y="5"/>
                      <a:pt x="27" y="5"/>
                      <a:pt x="27" y="5"/>
                    </a:cubicBezTo>
                    <a:cubicBezTo>
                      <a:pt x="27" y="28"/>
                      <a:pt x="27" y="28"/>
                      <a:pt x="27" y="28"/>
                    </a:cubicBezTo>
                    <a:cubicBezTo>
                      <a:pt x="40" y="9"/>
                      <a:pt x="57" y="0"/>
                      <a:pt x="77" y="0"/>
                    </a:cubicBezTo>
                    <a:cubicBezTo>
                      <a:pt x="114" y="1"/>
                      <a:pt x="133" y="20"/>
                      <a:pt x="134" y="5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3" name="îS1iḓé"/>
              <p:cNvSpPr/>
              <p:nvPr/>
            </p:nvSpPr>
            <p:spPr bwMode="auto">
              <a:xfrm>
                <a:off x="11133103" y="721607"/>
                <a:ext cx="30193" cy="46967"/>
              </a:xfrm>
              <a:custGeom>
                <a:avLst/>
                <a:gdLst>
                  <a:gd name="T0" fmla="*/ 145 w 145"/>
                  <a:gd name="T1" fmla="*/ 0 h 226"/>
                  <a:gd name="T2" fmla="*/ 145 w 145"/>
                  <a:gd name="T3" fmla="*/ 224 h 226"/>
                  <a:gd name="T4" fmla="*/ 119 w 145"/>
                  <a:gd name="T5" fmla="*/ 224 h 226"/>
                  <a:gd name="T6" fmla="*/ 119 w 145"/>
                  <a:gd name="T7" fmla="*/ 202 h 226"/>
                  <a:gd name="T8" fmla="*/ 73 w 145"/>
                  <a:gd name="T9" fmla="*/ 226 h 226"/>
                  <a:gd name="T10" fmla="*/ 0 w 145"/>
                  <a:gd name="T11" fmla="*/ 137 h 226"/>
                  <a:gd name="T12" fmla="*/ 69 w 145"/>
                  <a:gd name="T13" fmla="*/ 55 h 226"/>
                  <a:gd name="T14" fmla="*/ 116 w 145"/>
                  <a:gd name="T15" fmla="*/ 79 h 226"/>
                  <a:gd name="T16" fmla="*/ 118 w 145"/>
                  <a:gd name="T17" fmla="*/ 83 h 226"/>
                  <a:gd name="T18" fmla="*/ 118 w 145"/>
                  <a:gd name="T19" fmla="*/ 82 h 226"/>
                  <a:gd name="T20" fmla="*/ 118 w 145"/>
                  <a:gd name="T21" fmla="*/ 0 h 226"/>
                  <a:gd name="T22" fmla="*/ 145 w 145"/>
                  <a:gd name="T23" fmla="*/ 0 h 226"/>
                  <a:gd name="T24" fmla="*/ 29 w 145"/>
                  <a:gd name="T25" fmla="*/ 142 h 226"/>
                  <a:gd name="T26" fmla="*/ 73 w 145"/>
                  <a:gd name="T27" fmla="*/ 206 h 226"/>
                  <a:gd name="T28" fmla="*/ 118 w 145"/>
                  <a:gd name="T29" fmla="*/ 151 h 226"/>
                  <a:gd name="T30" fmla="*/ 74 w 145"/>
                  <a:gd name="T31" fmla="*/ 81 h 226"/>
                  <a:gd name="T32" fmla="*/ 29 w 145"/>
                  <a:gd name="T33" fmla="*/ 142 h 2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45" h="226">
                    <a:moveTo>
                      <a:pt x="145" y="0"/>
                    </a:moveTo>
                    <a:cubicBezTo>
                      <a:pt x="145" y="224"/>
                      <a:pt x="145" y="224"/>
                      <a:pt x="145" y="224"/>
                    </a:cubicBezTo>
                    <a:cubicBezTo>
                      <a:pt x="119" y="224"/>
                      <a:pt x="119" y="224"/>
                      <a:pt x="119" y="224"/>
                    </a:cubicBezTo>
                    <a:cubicBezTo>
                      <a:pt x="119" y="202"/>
                      <a:pt x="119" y="202"/>
                      <a:pt x="119" y="202"/>
                    </a:cubicBezTo>
                    <a:cubicBezTo>
                      <a:pt x="109" y="218"/>
                      <a:pt x="94" y="226"/>
                      <a:pt x="73" y="226"/>
                    </a:cubicBezTo>
                    <a:cubicBezTo>
                      <a:pt x="27" y="225"/>
                      <a:pt x="3" y="195"/>
                      <a:pt x="0" y="137"/>
                    </a:cubicBezTo>
                    <a:cubicBezTo>
                      <a:pt x="3" y="85"/>
                      <a:pt x="26" y="57"/>
                      <a:pt x="69" y="55"/>
                    </a:cubicBezTo>
                    <a:cubicBezTo>
                      <a:pt x="86" y="55"/>
                      <a:pt x="102" y="63"/>
                      <a:pt x="116" y="79"/>
                    </a:cubicBezTo>
                    <a:cubicBezTo>
                      <a:pt x="116" y="81"/>
                      <a:pt x="117" y="82"/>
                      <a:pt x="118" y="83"/>
                    </a:cubicBezTo>
                    <a:cubicBezTo>
                      <a:pt x="118" y="82"/>
                      <a:pt x="118" y="82"/>
                      <a:pt x="118" y="82"/>
                    </a:cubicBezTo>
                    <a:cubicBezTo>
                      <a:pt x="118" y="0"/>
                      <a:pt x="118" y="0"/>
                      <a:pt x="118" y="0"/>
                    </a:cubicBezTo>
                    <a:cubicBezTo>
                      <a:pt x="145" y="0"/>
                      <a:pt x="145" y="0"/>
                      <a:pt x="145" y="0"/>
                    </a:cubicBezTo>
                    <a:close/>
                    <a:moveTo>
                      <a:pt x="29" y="142"/>
                    </a:moveTo>
                    <a:cubicBezTo>
                      <a:pt x="30" y="183"/>
                      <a:pt x="45" y="204"/>
                      <a:pt x="73" y="206"/>
                    </a:cubicBezTo>
                    <a:cubicBezTo>
                      <a:pt x="102" y="202"/>
                      <a:pt x="117" y="184"/>
                      <a:pt x="118" y="151"/>
                    </a:cubicBezTo>
                    <a:cubicBezTo>
                      <a:pt x="118" y="104"/>
                      <a:pt x="103" y="81"/>
                      <a:pt x="74" y="81"/>
                    </a:cubicBezTo>
                    <a:cubicBezTo>
                      <a:pt x="43" y="81"/>
                      <a:pt x="28" y="101"/>
                      <a:pt x="29" y="14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4" name="ïṥḻîḍé"/>
              <p:cNvSpPr/>
              <p:nvPr/>
            </p:nvSpPr>
            <p:spPr bwMode="auto">
              <a:xfrm>
                <a:off x="11185940" y="721607"/>
                <a:ext cx="37741" cy="46547"/>
              </a:xfrm>
              <a:custGeom>
                <a:avLst/>
                <a:gdLst>
                  <a:gd name="T0" fmla="*/ 0 w 90"/>
                  <a:gd name="T1" fmla="*/ 13 h 111"/>
                  <a:gd name="T2" fmla="*/ 0 w 90"/>
                  <a:gd name="T3" fmla="*/ 0 h 111"/>
                  <a:gd name="T4" fmla="*/ 90 w 90"/>
                  <a:gd name="T5" fmla="*/ 0 h 111"/>
                  <a:gd name="T6" fmla="*/ 90 w 90"/>
                  <a:gd name="T7" fmla="*/ 13 h 111"/>
                  <a:gd name="T8" fmla="*/ 52 w 90"/>
                  <a:gd name="T9" fmla="*/ 13 h 111"/>
                  <a:gd name="T10" fmla="*/ 52 w 90"/>
                  <a:gd name="T11" fmla="*/ 111 h 111"/>
                  <a:gd name="T12" fmla="*/ 38 w 90"/>
                  <a:gd name="T13" fmla="*/ 111 h 111"/>
                  <a:gd name="T14" fmla="*/ 38 w 90"/>
                  <a:gd name="T15" fmla="*/ 13 h 111"/>
                  <a:gd name="T16" fmla="*/ 0 w 90"/>
                  <a:gd name="T17" fmla="*/ 13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" h="111">
                    <a:moveTo>
                      <a:pt x="0" y="13"/>
                    </a:moveTo>
                    <a:lnTo>
                      <a:pt x="0" y="0"/>
                    </a:lnTo>
                    <a:lnTo>
                      <a:pt x="90" y="0"/>
                    </a:lnTo>
                    <a:lnTo>
                      <a:pt x="90" y="13"/>
                    </a:lnTo>
                    <a:lnTo>
                      <a:pt x="52" y="13"/>
                    </a:lnTo>
                    <a:lnTo>
                      <a:pt x="52" y="111"/>
                    </a:lnTo>
                    <a:lnTo>
                      <a:pt x="38" y="111"/>
                    </a:lnTo>
                    <a:lnTo>
                      <a:pt x="38" y="13"/>
                    </a:ln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5" name="ïṡḷíḍé"/>
              <p:cNvSpPr/>
              <p:nvPr/>
            </p:nvSpPr>
            <p:spPr bwMode="auto">
              <a:xfrm>
                <a:off x="11227036" y="732929"/>
                <a:ext cx="30612" cy="35644"/>
              </a:xfrm>
              <a:custGeom>
                <a:avLst/>
                <a:gdLst>
                  <a:gd name="T0" fmla="*/ 120 w 149"/>
                  <a:gd name="T1" fmla="*/ 118 h 171"/>
                  <a:gd name="T2" fmla="*/ 147 w 149"/>
                  <a:gd name="T3" fmla="*/ 118 h 171"/>
                  <a:gd name="T4" fmla="*/ 117 w 149"/>
                  <a:gd name="T5" fmla="*/ 163 h 171"/>
                  <a:gd name="T6" fmla="*/ 73 w 149"/>
                  <a:gd name="T7" fmla="*/ 171 h 171"/>
                  <a:gd name="T8" fmla="*/ 0 w 149"/>
                  <a:gd name="T9" fmla="*/ 92 h 171"/>
                  <a:gd name="T10" fmla="*/ 78 w 149"/>
                  <a:gd name="T11" fmla="*/ 0 h 171"/>
                  <a:gd name="T12" fmla="*/ 149 w 149"/>
                  <a:gd name="T13" fmla="*/ 97 h 171"/>
                  <a:gd name="T14" fmla="*/ 29 w 149"/>
                  <a:gd name="T15" fmla="*/ 97 h 171"/>
                  <a:gd name="T16" fmla="*/ 77 w 149"/>
                  <a:gd name="T17" fmla="*/ 151 h 171"/>
                  <a:gd name="T18" fmla="*/ 120 w 149"/>
                  <a:gd name="T19" fmla="*/ 118 h 171"/>
                  <a:gd name="T20" fmla="*/ 29 w 149"/>
                  <a:gd name="T21" fmla="*/ 75 h 171"/>
                  <a:gd name="T22" fmla="*/ 121 w 149"/>
                  <a:gd name="T23" fmla="*/ 75 h 171"/>
                  <a:gd name="T24" fmla="*/ 74 w 149"/>
                  <a:gd name="T25" fmla="*/ 26 h 171"/>
                  <a:gd name="T26" fmla="*/ 29 w 149"/>
                  <a:gd name="T27" fmla="*/ 75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9" h="171">
                    <a:moveTo>
                      <a:pt x="120" y="118"/>
                    </a:moveTo>
                    <a:cubicBezTo>
                      <a:pt x="147" y="118"/>
                      <a:pt x="147" y="118"/>
                      <a:pt x="147" y="118"/>
                    </a:cubicBezTo>
                    <a:cubicBezTo>
                      <a:pt x="143" y="136"/>
                      <a:pt x="134" y="151"/>
                      <a:pt x="117" y="163"/>
                    </a:cubicBezTo>
                    <a:cubicBezTo>
                      <a:pt x="108" y="169"/>
                      <a:pt x="94" y="171"/>
                      <a:pt x="73" y="171"/>
                    </a:cubicBezTo>
                    <a:cubicBezTo>
                      <a:pt x="27" y="170"/>
                      <a:pt x="2" y="143"/>
                      <a:pt x="0" y="92"/>
                    </a:cubicBezTo>
                    <a:cubicBezTo>
                      <a:pt x="1" y="32"/>
                      <a:pt x="27" y="2"/>
                      <a:pt x="78" y="0"/>
                    </a:cubicBezTo>
                    <a:cubicBezTo>
                      <a:pt x="125" y="1"/>
                      <a:pt x="148" y="33"/>
                      <a:pt x="149" y="97"/>
                    </a:cubicBezTo>
                    <a:cubicBezTo>
                      <a:pt x="29" y="97"/>
                      <a:pt x="29" y="97"/>
                      <a:pt x="29" y="97"/>
                    </a:cubicBezTo>
                    <a:cubicBezTo>
                      <a:pt x="29" y="133"/>
                      <a:pt x="45" y="151"/>
                      <a:pt x="77" y="151"/>
                    </a:cubicBezTo>
                    <a:cubicBezTo>
                      <a:pt x="100" y="149"/>
                      <a:pt x="114" y="138"/>
                      <a:pt x="120" y="118"/>
                    </a:cubicBezTo>
                    <a:close/>
                    <a:moveTo>
                      <a:pt x="29" y="75"/>
                    </a:moveTo>
                    <a:cubicBezTo>
                      <a:pt x="121" y="75"/>
                      <a:pt x="121" y="75"/>
                      <a:pt x="121" y="75"/>
                    </a:cubicBezTo>
                    <a:cubicBezTo>
                      <a:pt x="119" y="42"/>
                      <a:pt x="103" y="26"/>
                      <a:pt x="74" y="26"/>
                    </a:cubicBezTo>
                    <a:cubicBezTo>
                      <a:pt x="47" y="28"/>
                      <a:pt x="32" y="44"/>
                      <a:pt x="29" y="7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6" name="íṧlíḍé"/>
              <p:cNvSpPr/>
              <p:nvPr/>
            </p:nvSpPr>
            <p:spPr bwMode="auto">
              <a:xfrm>
                <a:off x="11262261" y="732929"/>
                <a:ext cx="28935" cy="35644"/>
              </a:xfrm>
              <a:custGeom>
                <a:avLst/>
                <a:gdLst>
                  <a:gd name="T0" fmla="*/ 140 w 140"/>
                  <a:gd name="T1" fmla="*/ 61 h 171"/>
                  <a:gd name="T2" fmla="*/ 113 w 140"/>
                  <a:gd name="T3" fmla="*/ 61 h 171"/>
                  <a:gd name="T4" fmla="*/ 75 w 140"/>
                  <a:gd name="T5" fmla="*/ 26 h 171"/>
                  <a:gd name="T6" fmla="*/ 28 w 140"/>
                  <a:gd name="T7" fmla="*/ 87 h 171"/>
                  <a:gd name="T8" fmla="*/ 74 w 140"/>
                  <a:gd name="T9" fmla="*/ 151 h 171"/>
                  <a:gd name="T10" fmla="*/ 113 w 140"/>
                  <a:gd name="T11" fmla="*/ 111 h 171"/>
                  <a:gd name="T12" fmla="*/ 140 w 140"/>
                  <a:gd name="T13" fmla="*/ 111 h 171"/>
                  <a:gd name="T14" fmla="*/ 74 w 140"/>
                  <a:gd name="T15" fmla="*/ 171 h 171"/>
                  <a:gd name="T16" fmla="*/ 0 w 140"/>
                  <a:gd name="T17" fmla="*/ 92 h 171"/>
                  <a:gd name="T18" fmla="*/ 79 w 140"/>
                  <a:gd name="T19" fmla="*/ 0 h 171"/>
                  <a:gd name="T20" fmla="*/ 140 w 140"/>
                  <a:gd name="T21" fmla="*/ 61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40" h="171">
                    <a:moveTo>
                      <a:pt x="140" y="61"/>
                    </a:moveTo>
                    <a:cubicBezTo>
                      <a:pt x="113" y="61"/>
                      <a:pt x="113" y="61"/>
                      <a:pt x="113" y="61"/>
                    </a:cubicBezTo>
                    <a:cubicBezTo>
                      <a:pt x="110" y="37"/>
                      <a:pt x="98" y="26"/>
                      <a:pt x="75" y="26"/>
                    </a:cubicBezTo>
                    <a:cubicBezTo>
                      <a:pt x="46" y="27"/>
                      <a:pt x="30" y="48"/>
                      <a:pt x="28" y="87"/>
                    </a:cubicBezTo>
                    <a:cubicBezTo>
                      <a:pt x="28" y="129"/>
                      <a:pt x="44" y="151"/>
                      <a:pt x="74" y="151"/>
                    </a:cubicBezTo>
                    <a:cubicBezTo>
                      <a:pt x="96" y="149"/>
                      <a:pt x="109" y="136"/>
                      <a:pt x="113" y="111"/>
                    </a:cubicBezTo>
                    <a:cubicBezTo>
                      <a:pt x="140" y="111"/>
                      <a:pt x="140" y="111"/>
                      <a:pt x="140" y="111"/>
                    </a:cubicBezTo>
                    <a:cubicBezTo>
                      <a:pt x="133" y="151"/>
                      <a:pt x="111" y="171"/>
                      <a:pt x="74" y="171"/>
                    </a:cubicBezTo>
                    <a:cubicBezTo>
                      <a:pt x="26" y="170"/>
                      <a:pt x="2" y="143"/>
                      <a:pt x="0" y="92"/>
                    </a:cubicBezTo>
                    <a:cubicBezTo>
                      <a:pt x="2" y="32"/>
                      <a:pt x="28" y="2"/>
                      <a:pt x="79" y="0"/>
                    </a:cubicBezTo>
                    <a:cubicBezTo>
                      <a:pt x="115" y="1"/>
                      <a:pt x="135" y="21"/>
                      <a:pt x="140" y="6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7" name="išļïḓé"/>
              <p:cNvSpPr/>
              <p:nvPr/>
            </p:nvSpPr>
            <p:spPr bwMode="auto">
              <a:xfrm>
                <a:off x="11297067" y="721607"/>
                <a:ext cx="27258" cy="46547"/>
              </a:xfrm>
              <a:custGeom>
                <a:avLst/>
                <a:gdLst>
                  <a:gd name="T0" fmla="*/ 133 w 133"/>
                  <a:gd name="T1" fmla="*/ 113 h 224"/>
                  <a:gd name="T2" fmla="*/ 133 w 133"/>
                  <a:gd name="T3" fmla="*/ 224 h 224"/>
                  <a:gd name="T4" fmla="*/ 106 w 133"/>
                  <a:gd name="T5" fmla="*/ 224 h 224"/>
                  <a:gd name="T6" fmla="*/ 106 w 133"/>
                  <a:gd name="T7" fmla="*/ 117 h 224"/>
                  <a:gd name="T8" fmla="*/ 73 w 133"/>
                  <a:gd name="T9" fmla="*/ 81 h 224"/>
                  <a:gd name="T10" fmla="*/ 28 w 133"/>
                  <a:gd name="T11" fmla="*/ 135 h 224"/>
                  <a:gd name="T12" fmla="*/ 28 w 133"/>
                  <a:gd name="T13" fmla="*/ 224 h 224"/>
                  <a:gd name="T14" fmla="*/ 0 w 133"/>
                  <a:gd name="T15" fmla="*/ 224 h 224"/>
                  <a:gd name="T16" fmla="*/ 0 w 133"/>
                  <a:gd name="T17" fmla="*/ 0 h 224"/>
                  <a:gd name="T18" fmla="*/ 28 w 133"/>
                  <a:gd name="T19" fmla="*/ 0 h 224"/>
                  <a:gd name="T20" fmla="*/ 28 w 133"/>
                  <a:gd name="T21" fmla="*/ 82 h 224"/>
                  <a:gd name="T22" fmla="*/ 29 w 133"/>
                  <a:gd name="T23" fmla="*/ 82 h 224"/>
                  <a:gd name="T24" fmla="*/ 77 w 133"/>
                  <a:gd name="T25" fmla="*/ 55 h 224"/>
                  <a:gd name="T26" fmla="*/ 133 w 133"/>
                  <a:gd name="T27" fmla="*/ 113 h 2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24">
                    <a:moveTo>
                      <a:pt x="133" y="113"/>
                    </a:moveTo>
                    <a:cubicBezTo>
                      <a:pt x="133" y="224"/>
                      <a:pt x="133" y="224"/>
                      <a:pt x="133" y="224"/>
                    </a:cubicBezTo>
                    <a:cubicBezTo>
                      <a:pt x="106" y="224"/>
                      <a:pt x="106" y="224"/>
                      <a:pt x="106" y="224"/>
                    </a:cubicBezTo>
                    <a:cubicBezTo>
                      <a:pt x="106" y="117"/>
                      <a:pt x="106" y="117"/>
                      <a:pt x="106" y="117"/>
                    </a:cubicBezTo>
                    <a:cubicBezTo>
                      <a:pt x="107" y="92"/>
                      <a:pt x="96" y="80"/>
                      <a:pt x="73" y="81"/>
                    </a:cubicBezTo>
                    <a:cubicBezTo>
                      <a:pt x="44" y="81"/>
                      <a:pt x="29" y="99"/>
                      <a:pt x="28" y="135"/>
                    </a:cubicBezTo>
                    <a:cubicBezTo>
                      <a:pt x="28" y="224"/>
                      <a:pt x="28" y="224"/>
                      <a:pt x="28" y="224"/>
                    </a:cubicBezTo>
                    <a:cubicBezTo>
                      <a:pt x="0" y="224"/>
                      <a:pt x="0" y="224"/>
                      <a:pt x="0" y="224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8" y="82"/>
                      <a:pt x="28" y="82"/>
                      <a:pt x="28" y="82"/>
                    </a:cubicBezTo>
                    <a:cubicBezTo>
                      <a:pt x="29" y="82"/>
                      <a:pt x="29" y="82"/>
                      <a:pt x="29" y="82"/>
                    </a:cubicBezTo>
                    <a:cubicBezTo>
                      <a:pt x="42" y="64"/>
                      <a:pt x="58" y="55"/>
                      <a:pt x="77" y="55"/>
                    </a:cubicBezTo>
                    <a:cubicBezTo>
                      <a:pt x="114" y="56"/>
                      <a:pt x="133" y="75"/>
                      <a:pt x="133" y="11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8" name="ïšḻîḓè"/>
              <p:cNvSpPr/>
              <p:nvPr/>
            </p:nvSpPr>
            <p:spPr bwMode="auto">
              <a:xfrm>
                <a:off x="11333130" y="732929"/>
                <a:ext cx="27258" cy="35225"/>
              </a:xfrm>
              <a:custGeom>
                <a:avLst/>
                <a:gdLst>
                  <a:gd name="T0" fmla="*/ 133 w 133"/>
                  <a:gd name="T1" fmla="*/ 58 h 169"/>
                  <a:gd name="T2" fmla="*/ 133 w 133"/>
                  <a:gd name="T3" fmla="*/ 169 h 169"/>
                  <a:gd name="T4" fmla="*/ 106 w 133"/>
                  <a:gd name="T5" fmla="*/ 169 h 169"/>
                  <a:gd name="T6" fmla="*/ 106 w 133"/>
                  <a:gd name="T7" fmla="*/ 69 h 169"/>
                  <a:gd name="T8" fmla="*/ 71 w 133"/>
                  <a:gd name="T9" fmla="*/ 26 h 169"/>
                  <a:gd name="T10" fmla="*/ 28 w 133"/>
                  <a:gd name="T11" fmla="*/ 80 h 169"/>
                  <a:gd name="T12" fmla="*/ 28 w 133"/>
                  <a:gd name="T13" fmla="*/ 169 h 169"/>
                  <a:gd name="T14" fmla="*/ 0 w 133"/>
                  <a:gd name="T15" fmla="*/ 169 h 169"/>
                  <a:gd name="T16" fmla="*/ 0 w 133"/>
                  <a:gd name="T17" fmla="*/ 5 h 169"/>
                  <a:gd name="T18" fmla="*/ 27 w 133"/>
                  <a:gd name="T19" fmla="*/ 5 h 169"/>
                  <a:gd name="T20" fmla="*/ 27 w 133"/>
                  <a:gd name="T21" fmla="*/ 28 h 169"/>
                  <a:gd name="T22" fmla="*/ 77 w 133"/>
                  <a:gd name="T23" fmla="*/ 0 h 169"/>
                  <a:gd name="T24" fmla="*/ 133 w 133"/>
                  <a:gd name="T25" fmla="*/ 58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3" h="169">
                    <a:moveTo>
                      <a:pt x="133" y="58"/>
                    </a:moveTo>
                    <a:cubicBezTo>
                      <a:pt x="133" y="169"/>
                      <a:pt x="133" y="169"/>
                      <a:pt x="133" y="169"/>
                    </a:cubicBezTo>
                    <a:cubicBezTo>
                      <a:pt x="106" y="169"/>
                      <a:pt x="106" y="169"/>
                      <a:pt x="106" y="169"/>
                    </a:cubicBezTo>
                    <a:cubicBezTo>
                      <a:pt x="106" y="69"/>
                      <a:pt x="106" y="69"/>
                      <a:pt x="106" y="69"/>
                    </a:cubicBezTo>
                    <a:cubicBezTo>
                      <a:pt x="108" y="38"/>
                      <a:pt x="96" y="24"/>
                      <a:pt x="71" y="26"/>
                    </a:cubicBezTo>
                    <a:cubicBezTo>
                      <a:pt x="43" y="27"/>
                      <a:pt x="29" y="45"/>
                      <a:pt x="28" y="80"/>
                    </a:cubicBezTo>
                    <a:cubicBezTo>
                      <a:pt x="28" y="169"/>
                      <a:pt x="28" y="169"/>
                      <a:pt x="28" y="169"/>
                    </a:cubicBezTo>
                    <a:cubicBezTo>
                      <a:pt x="0" y="169"/>
                      <a:pt x="0" y="169"/>
                      <a:pt x="0" y="169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27" y="5"/>
                      <a:pt x="27" y="5"/>
                      <a:pt x="27" y="5"/>
                    </a:cubicBezTo>
                    <a:cubicBezTo>
                      <a:pt x="27" y="28"/>
                      <a:pt x="27" y="28"/>
                      <a:pt x="27" y="28"/>
                    </a:cubicBezTo>
                    <a:cubicBezTo>
                      <a:pt x="40" y="9"/>
                      <a:pt x="57" y="0"/>
                      <a:pt x="77" y="0"/>
                    </a:cubicBezTo>
                    <a:cubicBezTo>
                      <a:pt x="114" y="1"/>
                      <a:pt x="133" y="20"/>
                      <a:pt x="133" y="5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9" name="ïṡḷïḍê"/>
              <p:cNvSpPr/>
              <p:nvPr/>
            </p:nvSpPr>
            <p:spPr bwMode="auto">
              <a:xfrm>
                <a:off x="11367097" y="732929"/>
                <a:ext cx="31451" cy="35644"/>
              </a:xfrm>
              <a:custGeom>
                <a:avLst/>
                <a:gdLst>
                  <a:gd name="T0" fmla="*/ 0 w 152"/>
                  <a:gd name="T1" fmla="*/ 87 h 171"/>
                  <a:gd name="T2" fmla="*/ 76 w 152"/>
                  <a:gd name="T3" fmla="*/ 0 h 171"/>
                  <a:gd name="T4" fmla="*/ 152 w 152"/>
                  <a:gd name="T5" fmla="*/ 87 h 171"/>
                  <a:gd name="T6" fmla="*/ 76 w 152"/>
                  <a:gd name="T7" fmla="*/ 171 h 171"/>
                  <a:gd name="T8" fmla="*/ 0 w 152"/>
                  <a:gd name="T9" fmla="*/ 87 h 171"/>
                  <a:gd name="T10" fmla="*/ 28 w 152"/>
                  <a:gd name="T11" fmla="*/ 87 h 171"/>
                  <a:gd name="T12" fmla="*/ 76 w 152"/>
                  <a:gd name="T13" fmla="*/ 149 h 171"/>
                  <a:gd name="T14" fmla="*/ 124 w 152"/>
                  <a:gd name="T15" fmla="*/ 87 h 171"/>
                  <a:gd name="T16" fmla="*/ 76 w 152"/>
                  <a:gd name="T17" fmla="*/ 24 h 171"/>
                  <a:gd name="T18" fmla="*/ 28 w 152"/>
                  <a:gd name="T19" fmla="*/ 87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52" h="171">
                    <a:moveTo>
                      <a:pt x="0" y="87"/>
                    </a:moveTo>
                    <a:cubicBezTo>
                      <a:pt x="4" y="31"/>
                      <a:pt x="29" y="2"/>
                      <a:pt x="76" y="0"/>
                    </a:cubicBezTo>
                    <a:cubicBezTo>
                      <a:pt x="124" y="2"/>
                      <a:pt x="149" y="31"/>
                      <a:pt x="152" y="87"/>
                    </a:cubicBezTo>
                    <a:cubicBezTo>
                      <a:pt x="149" y="142"/>
                      <a:pt x="124" y="170"/>
                      <a:pt x="76" y="171"/>
                    </a:cubicBezTo>
                    <a:cubicBezTo>
                      <a:pt x="29" y="170"/>
                      <a:pt x="4" y="142"/>
                      <a:pt x="0" y="87"/>
                    </a:cubicBezTo>
                    <a:close/>
                    <a:moveTo>
                      <a:pt x="28" y="87"/>
                    </a:moveTo>
                    <a:cubicBezTo>
                      <a:pt x="31" y="128"/>
                      <a:pt x="47" y="149"/>
                      <a:pt x="76" y="149"/>
                    </a:cubicBezTo>
                    <a:cubicBezTo>
                      <a:pt x="106" y="149"/>
                      <a:pt x="122" y="128"/>
                      <a:pt x="124" y="87"/>
                    </a:cubicBezTo>
                    <a:cubicBezTo>
                      <a:pt x="122" y="46"/>
                      <a:pt x="106" y="25"/>
                      <a:pt x="76" y="24"/>
                    </a:cubicBezTo>
                    <a:cubicBezTo>
                      <a:pt x="47" y="25"/>
                      <a:pt x="31" y="46"/>
                      <a:pt x="28" y="8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20" name="îşļíḋe"/>
              <p:cNvSpPr/>
              <p:nvPr/>
            </p:nvSpPr>
            <p:spPr bwMode="auto">
              <a:xfrm>
                <a:off x="11405258" y="721607"/>
                <a:ext cx="5871" cy="46547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21" name="íṩľide"/>
              <p:cNvSpPr/>
              <p:nvPr/>
            </p:nvSpPr>
            <p:spPr bwMode="auto">
              <a:xfrm>
                <a:off x="11417419" y="732929"/>
                <a:ext cx="31451" cy="35644"/>
              </a:xfrm>
              <a:custGeom>
                <a:avLst/>
                <a:gdLst>
                  <a:gd name="T0" fmla="*/ 0 w 152"/>
                  <a:gd name="T1" fmla="*/ 87 h 171"/>
                  <a:gd name="T2" fmla="*/ 76 w 152"/>
                  <a:gd name="T3" fmla="*/ 0 h 171"/>
                  <a:gd name="T4" fmla="*/ 152 w 152"/>
                  <a:gd name="T5" fmla="*/ 87 h 171"/>
                  <a:gd name="T6" fmla="*/ 76 w 152"/>
                  <a:gd name="T7" fmla="*/ 171 h 171"/>
                  <a:gd name="T8" fmla="*/ 0 w 152"/>
                  <a:gd name="T9" fmla="*/ 87 h 171"/>
                  <a:gd name="T10" fmla="*/ 28 w 152"/>
                  <a:gd name="T11" fmla="*/ 87 h 171"/>
                  <a:gd name="T12" fmla="*/ 76 w 152"/>
                  <a:gd name="T13" fmla="*/ 149 h 171"/>
                  <a:gd name="T14" fmla="*/ 124 w 152"/>
                  <a:gd name="T15" fmla="*/ 87 h 171"/>
                  <a:gd name="T16" fmla="*/ 76 w 152"/>
                  <a:gd name="T17" fmla="*/ 24 h 171"/>
                  <a:gd name="T18" fmla="*/ 28 w 152"/>
                  <a:gd name="T19" fmla="*/ 87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52" h="171">
                    <a:moveTo>
                      <a:pt x="0" y="87"/>
                    </a:moveTo>
                    <a:cubicBezTo>
                      <a:pt x="3" y="31"/>
                      <a:pt x="29" y="2"/>
                      <a:pt x="76" y="0"/>
                    </a:cubicBezTo>
                    <a:cubicBezTo>
                      <a:pt x="123" y="2"/>
                      <a:pt x="149" y="31"/>
                      <a:pt x="152" y="87"/>
                    </a:cubicBezTo>
                    <a:cubicBezTo>
                      <a:pt x="149" y="142"/>
                      <a:pt x="123" y="170"/>
                      <a:pt x="76" y="171"/>
                    </a:cubicBezTo>
                    <a:cubicBezTo>
                      <a:pt x="29" y="170"/>
                      <a:pt x="3" y="142"/>
                      <a:pt x="0" y="87"/>
                    </a:cubicBezTo>
                    <a:close/>
                    <a:moveTo>
                      <a:pt x="28" y="87"/>
                    </a:moveTo>
                    <a:cubicBezTo>
                      <a:pt x="31" y="128"/>
                      <a:pt x="47" y="149"/>
                      <a:pt x="76" y="149"/>
                    </a:cubicBezTo>
                    <a:cubicBezTo>
                      <a:pt x="105" y="149"/>
                      <a:pt x="121" y="128"/>
                      <a:pt x="124" y="87"/>
                    </a:cubicBezTo>
                    <a:cubicBezTo>
                      <a:pt x="121" y="46"/>
                      <a:pt x="105" y="25"/>
                      <a:pt x="76" y="24"/>
                    </a:cubicBezTo>
                    <a:cubicBezTo>
                      <a:pt x="47" y="25"/>
                      <a:pt x="31" y="46"/>
                      <a:pt x="28" y="8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22" name="ïSļídê"/>
              <p:cNvSpPr/>
              <p:nvPr/>
            </p:nvSpPr>
            <p:spPr bwMode="auto">
              <a:xfrm>
                <a:off x="11453482" y="732929"/>
                <a:ext cx="30193" cy="48644"/>
              </a:xfrm>
              <a:custGeom>
                <a:avLst/>
                <a:gdLst>
                  <a:gd name="T0" fmla="*/ 30 w 145"/>
                  <a:gd name="T1" fmla="*/ 87 h 235"/>
                  <a:gd name="T2" fmla="*/ 74 w 145"/>
                  <a:gd name="T3" fmla="*/ 151 h 235"/>
                  <a:gd name="T4" fmla="*/ 118 w 145"/>
                  <a:gd name="T5" fmla="*/ 96 h 235"/>
                  <a:gd name="T6" fmla="*/ 74 w 145"/>
                  <a:gd name="T7" fmla="*/ 26 h 235"/>
                  <a:gd name="T8" fmla="*/ 30 w 145"/>
                  <a:gd name="T9" fmla="*/ 87 h 235"/>
                  <a:gd name="T10" fmla="*/ 144 w 145"/>
                  <a:gd name="T11" fmla="*/ 5 h 235"/>
                  <a:gd name="T12" fmla="*/ 144 w 145"/>
                  <a:gd name="T13" fmla="*/ 156 h 235"/>
                  <a:gd name="T14" fmla="*/ 69 w 145"/>
                  <a:gd name="T15" fmla="*/ 235 h 235"/>
                  <a:gd name="T16" fmla="*/ 5 w 145"/>
                  <a:gd name="T17" fmla="*/ 186 h 235"/>
                  <a:gd name="T18" fmla="*/ 33 w 145"/>
                  <a:gd name="T19" fmla="*/ 186 h 235"/>
                  <a:gd name="T20" fmla="*/ 70 w 145"/>
                  <a:gd name="T21" fmla="*/ 213 h 235"/>
                  <a:gd name="T22" fmla="*/ 117 w 145"/>
                  <a:gd name="T23" fmla="*/ 158 h 235"/>
                  <a:gd name="T24" fmla="*/ 117 w 145"/>
                  <a:gd name="T25" fmla="*/ 151 h 235"/>
                  <a:gd name="T26" fmla="*/ 117 w 145"/>
                  <a:gd name="T27" fmla="*/ 152 h 235"/>
                  <a:gd name="T28" fmla="*/ 73 w 145"/>
                  <a:gd name="T29" fmla="*/ 171 h 235"/>
                  <a:gd name="T30" fmla="*/ 0 w 145"/>
                  <a:gd name="T31" fmla="*/ 82 h 235"/>
                  <a:gd name="T32" fmla="*/ 69 w 145"/>
                  <a:gd name="T33" fmla="*/ 0 h 235"/>
                  <a:gd name="T34" fmla="*/ 118 w 145"/>
                  <a:gd name="T35" fmla="*/ 28 h 235"/>
                  <a:gd name="T36" fmla="*/ 118 w 145"/>
                  <a:gd name="T37" fmla="*/ 5 h 235"/>
                  <a:gd name="T38" fmla="*/ 144 w 145"/>
                  <a:gd name="T39" fmla="*/ 5 h 2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45" h="235">
                    <a:moveTo>
                      <a:pt x="30" y="87"/>
                    </a:moveTo>
                    <a:cubicBezTo>
                      <a:pt x="30" y="129"/>
                      <a:pt x="45" y="150"/>
                      <a:pt x="74" y="151"/>
                    </a:cubicBezTo>
                    <a:cubicBezTo>
                      <a:pt x="102" y="148"/>
                      <a:pt x="117" y="130"/>
                      <a:pt x="118" y="96"/>
                    </a:cubicBezTo>
                    <a:cubicBezTo>
                      <a:pt x="119" y="49"/>
                      <a:pt x="104" y="26"/>
                      <a:pt x="74" y="26"/>
                    </a:cubicBezTo>
                    <a:cubicBezTo>
                      <a:pt x="44" y="26"/>
                      <a:pt x="29" y="46"/>
                      <a:pt x="30" y="87"/>
                    </a:cubicBezTo>
                    <a:close/>
                    <a:moveTo>
                      <a:pt x="144" y="5"/>
                    </a:moveTo>
                    <a:cubicBezTo>
                      <a:pt x="144" y="156"/>
                      <a:pt x="144" y="156"/>
                      <a:pt x="144" y="156"/>
                    </a:cubicBezTo>
                    <a:cubicBezTo>
                      <a:pt x="145" y="209"/>
                      <a:pt x="120" y="235"/>
                      <a:pt x="69" y="235"/>
                    </a:cubicBezTo>
                    <a:cubicBezTo>
                      <a:pt x="30" y="235"/>
                      <a:pt x="9" y="219"/>
                      <a:pt x="5" y="186"/>
                    </a:cubicBezTo>
                    <a:cubicBezTo>
                      <a:pt x="33" y="186"/>
                      <a:pt x="33" y="186"/>
                      <a:pt x="33" y="186"/>
                    </a:cubicBezTo>
                    <a:cubicBezTo>
                      <a:pt x="37" y="204"/>
                      <a:pt x="49" y="213"/>
                      <a:pt x="70" y="213"/>
                    </a:cubicBezTo>
                    <a:cubicBezTo>
                      <a:pt x="103" y="213"/>
                      <a:pt x="118" y="195"/>
                      <a:pt x="117" y="158"/>
                    </a:cubicBezTo>
                    <a:cubicBezTo>
                      <a:pt x="117" y="151"/>
                      <a:pt x="117" y="151"/>
                      <a:pt x="117" y="151"/>
                    </a:cubicBezTo>
                    <a:cubicBezTo>
                      <a:pt x="117" y="152"/>
                      <a:pt x="117" y="152"/>
                      <a:pt x="117" y="152"/>
                    </a:cubicBezTo>
                    <a:cubicBezTo>
                      <a:pt x="107" y="165"/>
                      <a:pt x="92" y="171"/>
                      <a:pt x="73" y="171"/>
                    </a:cubicBezTo>
                    <a:cubicBezTo>
                      <a:pt x="27" y="170"/>
                      <a:pt x="3" y="140"/>
                      <a:pt x="0" y="82"/>
                    </a:cubicBezTo>
                    <a:cubicBezTo>
                      <a:pt x="3" y="30"/>
                      <a:pt x="26" y="2"/>
                      <a:pt x="69" y="0"/>
                    </a:cubicBezTo>
                    <a:cubicBezTo>
                      <a:pt x="89" y="0"/>
                      <a:pt x="106" y="9"/>
                      <a:pt x="118" y="28"/>
                    </a:cubicBezTo>
                    <a:cubicBezTo>
                      <a:pt x="118" y="5"/>
                      <a:pt x="118" y="5"/>
                      <a:pt x="118" y="5"/>
                    </a:cubicBezTo>
                    <a:lnTo>
                      <a:pt x="144" y="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23" name="işḷíḑè"/>
              <p:cNvSpPr/>
              <p:nvPr/>
            </p:nvSpPr>
            <p:spPr bwMode="auto">
              <a:xfrm>
                <a:off x="11487868" y="734187"/>
                <a:ext cx="31032" cy="47386"/>
              </a:xfrm>
              <a:custGeom>
                <a:avLst/>
                <a:gdLst>
                  <a:gd name="T0" fmla="*/ 76 w 149"/>
                  <a:gd name="T1" fmla="*/ 135 h 229"/>
                  <a:gd name="T2" fmla="*/ 119 w 149"/>
                  <a:gd name="T3" fmla="*/ 0 h 229"/>
                  <a:gd name="T4" fmla="*/ 149 w 149"/>
                  <a:gd name="T5" fmla="*/ 0 h 229"/>
                  <a:gd name="T6" fmla="*/ 132 w 149"/>
                  <a:gd name="T7" fmla="*/ 48 h 229"/>
                  <a:gd name="T8" fmla="*/ 90 w 149"/>
                  <a:gd name="T9" fmla="*/ 160 h 229"/>
                  <a:gd name="T10" fmla="*/ 61 w 149"/>
                  <a:gd name="T11" fmla="*/ 218 h 229"/>
                  <a:gd name="T12" fmla="*/ 25 w 149"/>
                  <a:gd name="T13" fmla="*/ 228 h 229"/>
                  <a:gd name="T14" fmla="*/ 14 w 149"/>
                  <a:gd name="T15" fmla="*/ 225 h 229"/>
                  <a:gd name="T16" fmla="*/ 14 w 149"/>
                  <a:gd name="T17" fmla="*/ 201 h 229"/>
                  <a:gd name="T18" fmla="*/ 17 w 149"/>
                  <a:gd name="T19" fmla="*/ 202 h 229"/>
                  <a:gd name="T20" fmla="*/ 30 w 149"/>
                  <a:gd name="T21" fmla="*/ 204 h 229"/>
                  <a:gd name="T22" fmla="*/ 60 w 149"/>
                  <a:gd name="T23" fmla="*/ 166 h 229"/>
                  <a:gd name="T24" fmla="*/ 0 w 149"/>
                  <a:gd name="T25" fmla="*/ 0 h 229"/>
                  <a:gd name="T26" fmla="*/ 30 w 149"/>
                  <a:gd name="T27" fmla="*/ 0 h 229"/>
                  <a:gd name="T28" fmla="*/ 74 w 149"/>
                  <a:gd name="T29" fmla="*/ 135 h 229"/>
                  <a:gd name="T30" fmla="*/ 76 w 149"/>
                  <a:gd name="T31" fmla="*/ 135 h 2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49" h="229">
                    <a:moveTo>
                      <a:pt x="76" y="135"/>
                    </a:moveTo>
                    <a:cubicBezTo>
                      <a:pt x="119" y="0"/>
                      <a:pt x="119" y="0"/>
                      <a:pt x="119" y="0"/>
                    </a:cubicBezTo>
                    <a:cubicBezTo>
                      <a:pt x="149" y="0"/>
                      <a:pt x="149" y="0"/>
                      <a:pt x="149" y="0"/>
                    </a:cubicBezTo>
                    <a:cubicBezTo>
                      <a:pt x="145" y="10"/>
                      <a:pt x="139" y="26"/>
                      <a:pt x="132" y="48"/>
                    </a:cubicBezTo>
                    <a:cubicBezTo>
                      <a:pt x="114" y="97"/>
                      <a:pt x="100" y="135"/>
                      <a:pt x="90" y="160"/>
                    </a:cubicBezTo>
                    <a:cubicBezTo>
                      <a:pt x="76" y="195"/>
                      <a:pt x="67" y="214"/>
                      <a:pt x="61" y="218"/>
                    </a:cubicBezTo>
                    <a:cubicBezTo>
                      <a:pt x="55" y="225"/>
                      <a:pt x="43" y="229"/>
                      <a:pt x="25" y="228"/>
                    </a:cubicBezTo>
                    <a:cubicBezTo>
                      <a:pt x="22" y="228"/>
                      <a:pt x="18" y="227"/>
                      <a:pt x="14" y="225"/>
                    </a:cubicBezTo>
                    <a:cubicBezTo>
                      <a:pt x="14" y="201"/>
                      <a:pt x="14" y="201"/>
                      <a:pt x="14" y="201"/>
                    </a:cubicBezTo>
                    <a:cubicBezTo>
                      <a:pt x="15" y="201"/>
                      <a:pt x="16" y="201"/>
                      <a:pt x="17" y="202"/>
                    </a:cubicBezTo>
                    <a:cubicBezTo>
                      <a:pt x="22" y="204"/>
                      <a:pt x="26" y="204"/>
                      <a:pt x="30" y="204"/>
                    </a:cubicBezTo>
                    <a:cubicBezTo>
                      <a:pt x="41" y="209"/>
                      <a:pt x="51" y="196"/>
                      <a:pt x="60" y="16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74" y="135"/>
                      <a:pt x="74" y="135"/>
                      <a:pt x="74" y="135"/>
                    </a:cubicBezTo>
                    <a:lnTo>
                      <a:pt x="76" y="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9" name="组合 18"/>
            <p:cNvGrpSpPr/>
            <p:nvPr/>
          </p:nvGrpSpPr>
          <p:grpSpPr>
            <a:xfrm>
              <a:off x="660400" y="478901"/>
              <a:ext cx="601275" cy="454750"/>
              <a:chOff x="2201863" y="2538413"/>
              <a:chExt cx="1776413" cy="1781175"/>
            </a:xfrm>
            <a:solidFill>
              <a:schemeClr val="accent1"/>
            </a:solidFill>
          </p:grpSpPr>
          <p:sp>
            <p:nvSpPr>
              <p:cNvPr id="20" name="íṣḷîďé"/>
              <p:cNvSpPr/>
              <p:nvPr/>
            </p:nvSpPr>
            <p:spPr bwMode="auto">
              <a:xfrm>
                <a:off x="2201863" y="2538413"/>
                <a:ext cx="1776413" cy="1781175"/>
              </a:xfrm>
              <a:prstGeom prst="ellipse">
                <a:avLst/>
              </a:prstGeom>
              <a:noFill/>
              <a:ln w="19050" cap="flat">
                <a:solidFill>
                  <a:schemeClr val="accent1"/>
                </a:solidFill>
                <a:prstDash val="solid"/>
                <a:rou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1" name="îSlïdê"/>
              <p:cNvSpPr/>
              <p:nvPr/>
            </p:nvSpPr>
            <p:spPr bwMode="auto">
              <a:xfrm>
                <a:off x="2349501" y="2976563"/>
                <a:ext cx="158750" cy="184150"/>
              </a:xfrm>
              <a:custGeom>
                <a:avLst/>
                <a:gdLst>
                  <a:gd name="T0" fmla="*/ 0 w 202"/>
                  <a:gd name="T1" fmla="*/ 96 h 233"/>
                  <a:gd name="T2" fmla="*/ 20 w 202"/>
                  <a:gd name="T3" fmla="*/ 58 h 233"/>
                  <a:gd name="T4" fmla="*/ 27 w 202"/>
                  <a:gd name="T5" fmla="*/ 65 h 233"/>
                  <a:gd name="T6" fmla="*/ 26 w 202"/>
                  <a:gd name="T7" fmla="*/ 70 h 233"/>
                  <a:gd name="T8" fmla="*/ 25 w 202"/>
                  <a:gd name="T9" fmla="*/ 75 h 233"/>
                  <a:gd name="T10" fmla="*/ 27 w 202"/>
                  <a:gd name="T11" fmla="*/ 81 h 233"/>
                  <a:gd name="T12" fmla="*/ 34 w 202"/>
                  <a:gd name="T13" fmla="*/ 88 h 233"/>
                  <a:gd name="T14" fmla="*/ 88 w 202"/>
                  <a:gd name="T15" fmla="*/ 137 h 233"/>
                  <a:gd name="T16" fmla="*/ 110 w 202"/>
                  <a:gd name="T17" fmla="*/ 93 h 233"/>
                  <a:gd name="T18" fmla="*/ 57 w 202"/>
                  <a:gd name="T19" fmla="*/ 46 h 233"/>
                  <a:gd name="T20" fmla="*/ 51 w 202"/>
                  <a:gd name="T21" fmla="*/ 41 h 233"/>
                  <a:gd name="T22" fmla="*/ 45 w 202"/>
                  <a:gd name="T23" fmla="*/ 40 h 233"/>
                  <a:gd name="T24" fmla="*/ 41 w 202"/>
                  <a:gd name="T25" fmla="*/ 42 h 233"/>
                  <a:gd name="T26" fmla="*/ 37 w 202"/>
                  <a:gd name="T27" fmla="*/ 46 h 233"/>
                  <a:gd name="T28" fmla="*/ 30 w 202"/>
                  <a:gd name="T29" fmla="*/ 39 h 233"/>
                  <a:gd name="T30" fmla="*/ 49 w 202"/>
                  <a:gd name="T31" fmla="*/ 0 h 233"/>
                  <a:gd name="T32" fmla="*/ 57 w 202"/>
                  <a:gd name="T33" fmla="*/ 7 h 233"/>
                  <a:gd name="T34" fmla="*/ 55 w 202"/>
                  <a:gd name="T35" fmla="*/ 12 h 233"/>
                  <a:gd name="T36" fmla="*/ 55 w 202"/>
                  <a:gd name="T37" fmla="*/ 17 h 233"/>
                  <a:gd name="T38" fmla="*/ 57 w 202"/>
                  <a:gd name="T39" fmla="*/ 24 h 233"/>
                  <a:gd name="T40" fmla="*/ 63 w 202"/>
                  <a:gd name="T41" fmla="*/ 31 h 233"/>
                  <a:gd name="T42" fmla="*/ 174 w 202"/>
                  <a:gd name="T43" fmla="*/ 129 h 233"/>
                  <a:gd name="T44" fmla="*/ 180 w 202"/>
                  <a:gd name="T45" fmla="*/ 134 h 233"/>
                  <a:gd name="T46" fmla="*/ 186 w 202"/>
                  <a:gd name="T47" fmla="*/ 135 h 233"/>
                  <a:gd name="T48" fmla="*/ 191 w 202"/>
                  <a:gd name="T49" fmla="*/ 133 h 233"/>
                  <a:gd name="T50" fmla="*/ 194 w 202"/>
                  <a:gd name="T51" fmla="*/ 130 h 233"/>
                  <a:gd name="T52" fmla="*/ 202 w 202"/>
                  <a:gd name="T53" fmla="*/ 137 h 233"/>
                  <a:gd name="T54" fmla="*/ 182 w 202"/>
                  <a:gd name="T55" fmla="*/ 175 h 233"/>
                  <a:gd name="T56" fmla="*/ 175 w 202"/>
                  <a:gd name="T57" fmla="*/ 169 h 233"/>
                  <a:gd name="T58" fmla="*/ 176 w 202"/>
                  <a:gd name="T59" fmla="*/ 163 h 233"/>
                  <a:gd name="T60" fmla="*/ 176 w 202"/>
                  <a:gd name="T61" fmla="*/ 158 h 233"/>
                  <a:gd name="T62" fmla="*/ 174 w 202"/>
                  <a:gd name="T63" fmla="*/ 151 h 233"/>
                  <a:gd name="T64" fmla="*/ 167 w 202"/>
                  <a:gd name="T65" fmla="*/ 144 h 233"/>
                  <a:gd name="T66" fmla="*/ 120 w 202"/>
                  <a:gd name="T67" fmla="*/ 102 h 233"/>
                  <a:gd name="T68" fmla="*/ 98 w 202"/>
                  <a:gd name="T69" fmla="*/ 146 h 233"/>
                  <a:gd name="T70" fmla="*/ 144 w 202"/>
                  <a:gd name="T71" fmla="*/ 187 h 233"/>
                  <a:gd name="T72" fmla="*/ 151 w 202"/>
                  <a:gd name="T73" fmla="*/ 192 h 233"/>
                  <a:gd name="T74" fmla="*/ 157 w 202"/>
                  <a:gd name="T75" fmla="*/ 193 h 233"/>
                  <a:gd name="T76" fmla="*/ 161 w 202"/>
                  <a:gd name="T77" fmla="*/ 191 h 233"/>
                  <a:gd name="T78" fmla="*/ 165 w 202"/>
                  <a:gd name="T79" fmla="*/ 188 h 233"/>
                  <a:gd name="T80" fmla="*/ 172 w 202"/>
                  <a:gd name="T81" fmla="*/ 194 h 233"/>
                  <a:gd name="T82" fmla="*/ 152 w 202"/>
                  <a:gd name="T83" fmla="*/ 233 h 233"/>
                  <a:gd name="T84" fmla="*/ 145 w 202"/>
                  <a:gd name="T85" fmla="*/ 226 h 233"/>
                  <a:gd name="T86" fmla="*/ 146 w 202"/>
                  <a:gd name="T87" fmla="*/ 221 h 233"/>
                  <a:gd name="T88" fmla="*/ 147 w 202"/>
                  <a:gd name="T89" fmla="*/ 215 h 233"/>
                  <a:gd name="T90" fmla="*/ 144 w 202"/>
                  <a:gd name="T91" fmla="*/ 208 h 233"/>
                  <a:gd name="T92" fmla="*/ 138 w 202"/>
                  <a:gd name="T93" fmla="*/ 202 h 233"/>
                  <a:gd name="T94" fmla="*/ 28 w 202"/>
                  <a:gd name="T95" fmla="*/ 103 h 233"/>
                  <a:gd name="T96" fmla="*/ 21 w 202"/>
                  <a:gd name="T97" fmla="*/ 98 h 233"/>
                  <a:gd name="T98" fmla="*/ 15 w 202"/>
                  <a:gd name="T99" fmla="*/ 97 h 233"/>
                  <a:gd name="T100" fmla="*/ 11 w 202"/>
                  <a:gd name="T101" fmla="*/ 99 h 233"/>
                  <a:gd name="T102" fmla="*/ 7 w 202"/>
                  <a:gd name="T103" fmla="*/ 103 h 233"/>
                  <a:gd name="T104" fmla="*/ 0 w 202"/>
                  <a:gd name="T105" fmla="*/ 96 h 2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202" h="233">
                    <a:moveTo>
                      <a:pt x="0" y="96"/>
                    </a:moveTo>
                    <a:cubicBezTo>
                      <a:pt x="20" y="58"/>
                      <a:pt x="20" y="58"/>
                      <a:pt x="20" y="58"/>
                    </a:cubicBezTo>
                    <a:cubicBezTo>
                      <a:pt x="27" y="65"/>
                      <a:pt x="27" y="65"/>
                      <a:pt x="27" y="65"/>
                    </a:cubicBezTo>
                    <a:cubicBezTo>
                      <a:pt x="27" y="66"/>
                      <a:pt x="26" y="67"/>
                      <a:pt x="26" y="70"/>
                    </a:cubicBezTo>
                    <a:cubicBezTo>
                      <a:pt x="25" y="72"/>
                      <a:pt x="25" y="74"/>
                      <a:pt x="25" y="75"/>
                    </a:cubicBezTo>
                    <a:cubicBezTo>
                      <a:pt x="25" y="77"/>
                      <a:pt x="26" y="79"/>
                      <a:pt x="27" y="81"/>
                    </a:cubicBezTo>
                    <a:cubicBezTo>
                      <a:pt x="29" y="83"/>
                      <a:pt x="31" y="86"/>
                      <a:pt x="34" y="88"/>
                    </a:cubicBezTo>
                    <a:cubicBezTo>
                      <a:pt x="88" y="137"/>
                      <a:pt x="88" y="137"/>
                      <a:pt x="88" y="137"/>
                    </a:cubicBezTo>
                    <a:cubicBezTo>
                      <a:pt x="110" y="93"/>
                      <a:pt x="110" y="93"/>
                      <a:pt x="110" y="93"/>
                    </a:cubicBezTo>
                    <a:cubicBezTo>
                      <a:pt x="57" y="46"/>
                      <a:pt x="57" y="46"/>
                      <a:pt x="57" y="46"/>
                    </a:cubicBezTo>
                    <a:cubicBezTo>
                      <a:pt x="55" y="44"/>
                      <a:pt x="53" y="42"/>
                      <a:pt x="51" y="41"/>
                    </a:cubicBezTo>
                    <a:cubicBezTo>
                      <a:pt x="49" y="40"/>
                      <a:pt x="47" y="39"/>
                      <a:pt x="45" y="40"/>
                    </a:cubicBezTo>
                    <a:cubicBezTo>
                      <a:pt x="43" y="40"/>
                      <a:pt x="42" y="41"/>
                      <a:pt x="41" y="42"/>
                    </a:cubicBezTo>
                    <a:cubicBezTo>
                      <a:pt x="39" y="43"/>
                      <a:pt x="38" y="44"/>
                      <a:pt x="37" y="46"/>
                    </a:cubicBezTo>
                    <a:cubicBezTo>
                      <a:pt x="30" y="39"/>
                      <a:pt x="30" y="39"/>
                      <a:pt x="30" y="39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57" y="7"/>
                      <a:pt x="57" y="7"/>
                      <a:pt x="57" y="7"/>
                    </a:cubicBezTo>
                    <a:cubicBezTo>
                      <a:pt x="57" y="8"/>
                      <a:pt x="56" y="10"/>
                      <a:pt x="55" y="12"/>
                    </a:cubicBezTo>
                    <a:cubicBezTo>
                      <a:pt x="55" y="14"/>
                      <a:pt x="54" y="16"/>
                      <a:pt x="55" y="17"/>
                    </a:cubicBezTo>
                    <a:cubicBezTo>
                      <a:pt x="55" y="19"/>
                      <a:pt x="56" y="22"/>
                      <a:pt x="57" y="24"/>
                    </a:cubicBezTo>
                    <a:cubicBezTo>
                      <a:pt x="58" y="26"/>
                      <a:pt x="61" y="28"/>
                      <a:pt x="63" y="31"/>
                    </a:cubicBezTo>
                    <a:cubicBezTo>
                      <a:pt x="174" y="129"/>
                      <a:pt x="174" y="129"/>
                      <a:pt x="174" y="129"/>
                    </a:cubicBezTo>
                    <a:cubicBezTo>
                      <a:pt x="176" y="132"/>
                      <a:pt x="178" y="133"/>
                      <a:pt x="180" y="134"/>
                    </a:cubicBezTo>
                    <a:cubicBezTo>
                      <a:pt x="182" y="135"/>
                      <a:pt x="184" y="136"/>
                      <a:pt x="186" y="135"/>
                    </a:cubicBezTo>
                    <a:cubicBezTo>
                      <a:pt x="188" y="135"/>
                      <a:pt x="189" y="134"/>
                      <a:pt x="191" y="133"/>
                    </a:cubicBezTo>
                    <a:cubicBezTo>
                      <a:pt x="193" y="132"/>
                      <a:pt x="194" y="131"/>
                      <a:pt x="194" y="130"/>
                    </a:cubicBezTo>
                    <a:cubicBezTo>
                      <a:pt x="202" y="137"/>
                      <a:pt x="202" y="137"/>
                      <a:pt x="202" y="137"/>
                    </a:cubicBezTo>
                    <a:cubicBezTo>
                      <a:pt x="182" y="175"/>
                      <a:pt x="182" y="175"/>
                      <a:pt x="182" y="175"/>
                    </a:cubicBezTo>
                    <a:cubicBezTo>
                      <a:pt x="175" y="169"/>
                      <a:pt x="175" y="169"/>
                      <a:pt x="175" y="169"/>
                    </a:cubicBezTo>
                    <a:cubicBezTo>
                      <a:pt x="175" y="167"/>
                      <a:pt x="176" y="165"/>
                      <a:pt x="176" y="163"/>
                    </a:cubicBezTo>
                    <a:cubicBezTo>
                      <a:pt x="176" y="161"/>
                      <a:pt x="176" y="159"/>
                      <a:pt x="176" y="158"/>
                    </a:cubicBezTo>
                    <a:cubicBezTo>
                      <a:pt x="176" y="156"/>
                      <a:pt x="175" y="153"/>
                      <a:pt x="174" y="151"/>
                    </a:cubicBezTo>
                    <a:cubicBezTo>
                      <a:pt x="172" y="149"/>
                      <a:pt x="170" y="146"/>
                      <a:pt x="167" y="144"/>
                    </a:cubicBezTo>
                    <a:cubicBezTo>
                      <a:pt x="120" y="102"/>
                      <a:pt x="120" y="102"/>
                      <a:pt x="120" y="102"/>
                    </a:cubicBezTo>
                    <a:cubicBezTo>
                      <a:pt x="98" y="146"/>
                      <a:pt x="98" y="146"/>
                      <a:pt x="98" y="146"/>
                    </a:cubicBezTo>
                    <a:cubicBezTo>
                      <a:pt x="144" y="187"/>
                      <a:pt x="144" y="187"/>
                      <a:pt x="144" y="187"/>
                    </a:cubicBezTo>
                    <a:cubicBezTo>
                      <a:pt x="146" y="189"/>
                      <a:pt x="148" y="191"/>
                      <a:pt x="151" y="192"/>
                    </a:cubicBezTo>
                    <a:cubicBezTo>
                      <a:pt x="153" y="193"/>
                      <a:pt x="155" y="193"/>
                      <a:pt x="157" y="193"/>
                    </a:cubicBezTo>
                    <a:cubicBezTo>
                      <a:pt x="158" y="192"/>
                      <a:pt x="160" y="192"/>
                      <a:pt x="161" y="191"/>
                    </a:cubicBezTo>
                    <a:cubicBezTo>
                      <a:pt x="163" y="190"/>
                      <a:pt x="164" y="189"/>
                      <a:pt x="165" y="188"/>
                    </a:cubicBezTo>
                    <a:cubicBezTo>
                      <a:pt x="172" y="194"/>
                      <a:pt x="172" y="194"/>
                      <a:pt x="172" y="194"/>
                    </a:cubicBezTo>
                    <a:cubicBezTo>
                      <a:pt x="152" y="233"/>
                      <a:pt x="152" y="233"/>
                      <a:pt x="152" y="233"/>
                    </a:cubicBezTo>
                    <a:cubicBezTo>
                      <a:pt x="145" y="226"/>
                      <a:pt x="145" y="226"/>
                      <a:pt x="145" y="226"/>
                    </a:cubicBezTo>
                    <a:cubicBezTo>
                      <a:pt x="145" y="225"/>
                      <a:pt x="146" y="223"/>
                      <a:pt x="146" y="221"/>
                    </a:cubicBezTo>
                    <a:cubicBezTo>
                      <a:pt x="147" y="218"/>
                      <a:pt x="147" y="217"/>
                      <a:pt x="147" y="215"/>
                    </a:cubicBezTo>
                    <a:cubicBezTo>
                      <a:pt x="147" y="213"/>
                      <a:pt x="146" y="211"/>
                      <a:pt x="144" y="208"/>
                    </a:cubicBezTo>
                    <a:cubicBezTo>
                      <a:pt x="142" y="206"/>
                      <a:pt x="140" y="204"/>
                      <a:pt x="138" y="202"/>
                    </a:cubicBezTo>
                    <a:cubicBezTo>
                      <a:pt x="28" y="103"/>
                      <a:pt x="28" y="103"/>
                      <a:pt x="28" y="103"/>
                    </a:cubicBezTo>
                    <a:cubicBezTo>
                      <a:pt x="25" y="101"/>
                      <a:pt x="23" y="99"/>
                      <a:pt x="21" y="98"/>
                    </a:cubicBezTo>
                    <a:cubicBezTo>
                      <a:pt x="19" y="97"/>
                      <a:pt x="17" y="97"/>
                      <a:pt x="15" y="97"/>
                    </a:cubicBezTo>
                    <a:cubicBezTo>
                      <a:pt x="14" y="97"/>
                      <a:pt x="12" y="98"/>
                      <a:pt x="11" y="99"/>
                    </a:cubicBezTo>
                    <a:cubicBezTo>
                      <a:pt x="9" y="101"/>
                      <a:pt x="8" y="102"/>
                      <a:pt x="7" y="103"/>
                    </a:cubicBezTo>
                    <a:lnTo>
                      <a:pt x="0" y="96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2" name="îSļíḍê"/>
              <p:cNvSpPr/>
              <p:nvPr/>
            </p:nvSpPr>
            <p:spPr bwMode="auto">
              <a:xfrm>
                <a:off x="2319338" y="3086101"/>
                <a:ext cx="144463" cy="157163"/>
              </a:xfrm>
              <a:custGeom>
                <a:avLst/>
                <a:gdLst>
                  <a:gd name="T0" fmla="*/ 130 w 185"/>
                  <a:gd name="T1" fmla="*/ 193 h 199"/>
                  <a:gd name="T2" fmla="*/ 132 w 185"/>
                  <a:gd name="T3" fmla="*/ 186 h 199"/>
                  <a:gd name="T4" fmla="*/ 131 w 185"/>
                  <a:gd name="T5" fmla="*/ 177 h 199"/>
                  <a:gd name="T6" fmla="*/ 122 w 185"/>
                  <a:gd name="T7" fmla="*/ 165 h 199"/>
                  <a:gd name="T8" fmla="*/ 103 w 185"/>
                  <a:gd name="T9" fmla="*/ 148 h 199"/>
                  <a:gd name="T10" fmla="*/ 35 w 185"/>
                  <a:gd name="T11" fmla="*/ 91 h 199"/>
                  <a:gd name="T12" fmla="*/ 15 w 185"/>
                  <a:gd name="T13" fmla="*/ 69 h 199"/>
                  <a:gd name="T14" fmla="*/ 3 w 185"/>
                  <a:gd name="T15" fmla="*/ 47 h 199"/>
                  <a:gd name="T16" fmla="*/ 0 w 185"/>
                  <a:gd name="T17" fmla="*/ 29 h 199"/>
                  <a:gd name="T18" fmla="*/ 3 w 185"/>
                  <a:gd name="T19" fmla="*/ 16 h 199"/>
                  <a:gd name="T20" fmla="*/ 14 w 185"/>
                  <a:gd name="T21" fmla="*/ 4 h 199"/>
                  <a:gd name="T22" fmla="*/ 29 w 185"/>
                  <a:gd name="T23" fmla="*/ 1 h 199"/>
                  <a:gd name="T24" fmla="*/ 47 w 185"/>
                  <a:gd name="T25" fmla="*/ 6 h 199"/>
                  <a:gd name="T26" fmla="*/ 65 w 185"/>
                  <a:gd name="T27" fmla="*/ 18 h 199"/>
                  <a:gd name="T28" fmla="*/ 157 w 185"/>
                  <a:gd name="T29" fmla="*/ 95 h 199"/>
                  <a:gd name="T30" fmla="*/ 163 w 185"/>
                  <a:gd name="T31" fmla="*/ 100 h 199"/>
                  <a:gd name="T32" fmla="*/ 170 w 185"/>
                  <a:gd name="T33" fmla="*/ 101 h 199"/>
                  <a:gd name="T34" fmla="*/ 174 w 185"/>
                  <a:gd name="T35" fmla="*/ 99 h 199"/>
                  <a:gd name="T36" fmla="*/ 178 w 185"/>
                  <a:gd name="T37" fmla="*/ 96 h 199"/>
                  <a:gd name="T38" fmla="*/ 185 w 185"/>
                  <a:gd name="T39" fmla="*/ 102 h 199"/>
                  <a:gd name="T40" fmla="*/ 166 w 185"/>
                  <a:gd name="T41" fmla="*/ 141 h 199"/>
                  <a:gd name="T42" fmla="*/ 158 w 185"/>
                  <a:gd name="T43" fmla="*/ 135 h 199"/>
                  <a:gd name="T44" fmla="*/ 160 w 185"/>
                  <a:gd name="T45" fmla="*/ 129 h 199"/>
                  <a:gd name="T46" fmla="*/ 160 w 185"/>
                  <a:gd name="T47" fmla="*/ 124 h 199"/>
                  <a:gd name="T48" fmla="*/ 157 w 185"/>
                  <a:gd name="T49" fmla="*/ 117 h 199"/>
                  <a:gd name="T50" fmla="*/ 151 w 185"/>
                  <a:gd name="T51" fmla="*/ 111 h 199"/>
                  <a:gd name="T52" fmla="*/ 65 w 185"/>
                  <a:gd name="T53" fmla="*/ 38 h 199"/>
                  <a:gd name="T54" fmla="*/ 51 w 185"/>
                  <a:gd name="T55" fmla="*/ 28 h 199"/>
                  <a:gd name="T56" fmla="*/ 37 w 185"/>
                  <a:gd name="T57" fmla="*/ 21 h 199"/>
                  <a:gd name="T58" fmla="*/ 24 w 185"/>
                  <a:gd name="T59" fmla="*/ 19 h 199"/>
                  <a:gd name="T60" fmla="*/ 14 w 185"/>
                  <a:gd name="T61" fmla="*/ 28 h 199"/>
                  <a:gd name="T62" fmla="*/ 12 w 185"/>
                  <a:gd name="T63" fmla="*/ 44 h 199"/>
                  <a:gd name="T64" fmla="*/ 18 w 185"/>
                  <a:gd name="T65" fmla="*/ 60 h 199"/>
                  <a:gd name="T66" fmla="*/ 29 w 185"/>
                  <a:gd name="T67" fmla="*/ 75 h 199"/>
                  <a:gd name="T68" fmla="*/ 41 w 185"/>
                  <a:gd name="T69" fmla="*/ 87 h 199"/>
                  <a:gd name="T70" fmla="*/ 105 w 185"/>
                  <a:gd name="T71" fmla="*/ 140 h 199"/>
                  <a:gd name="T72" fmla="*/ 125 w 185"/>
                  <a:gd name="T73" fmla="*/ 156 h 199"/>
                  <a:gd name="T74" fmla="*/ 137 w 185"/>
                  <a:gd name="T75" fmla="*/ 161 h 199"/>
                  <a:gd name="T76" fmla="*/ 144 w 185"/>
                  <a:gd name="T77" fmla="*/ 159 h 199"/>
                  <a:gd name="T78" fmla="*/ 149 w 185"/>
                  <a:gd name="T79" fmla="*/ 154 h 199"/>
                  <a:gd name="T80" fmla="*/ 157 w 185"/>
                  <a:gd name="T81" fmla="*/ 161 h 199"/>
                  <a:gd name="T82" fmla="*/ 138 w 185"/>
                  <a:gd name="T83" fmla="*/ 199 h 199"/>
                  <a:gd name="T84" fmla="*/ 130 w 185"/>
                  <a:gd name="T85" fmla="*/ 193 h 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85" h="199">
                    <a:moveTo>
                      <a:pt x="130" y="193"/>
                    </a:moveTo>
                    <a:cubicBezTo>
                      <a:pt x="131" y="191"/>
                      <a:pt x="131" y="189"/>
                      <a:pt x="132" y="186"/>
                    </a:cubicBezTo>
                    <a:cubicBezTo>
                      <a:pt x="132" y="183"/>
                      <a:pt x="132" y="180"/>
                      <a:pt x="131" y="177"/>
                    </a:cubicBezTo>
                    <a:cubicBezTo>
                      <a:pt x="130" y="174"/>
                      <a:pt x="127" y="170"/>
                      <a:pt x="122" y="165"/>
                    </a:cubicBezTo>
                    <a:cubicBezTo>
                      <a:pt x="117" y="160"/>
                      <a:pt x="111" y="155"/>
                      <a:pt x="103" y="148"/>
                    </a:cubicBezTo>
                    <a:cubicBezTo>
                      <a:pt x="35" y="91"/>
                      <a:pt x="35" y="91"/>
                      <a:pt x="35" y="91"/>
                    </a:cubicBezTo>
                    <a:cubicBezTo>
                      <a:pt x="27" y="84"/>
                      <a:pt x="20" y="77"/>
                      <a:pt x="15" y="69"/>
                    </a:cubicBezTo>
                    <a:cubicBezTo>
                      <a:pt x="9" y="61"/>
                      <a:pt x="5" y="54"/>
                      <a:pt x="3" y="47"/>
                    </a:cubicBezTo>
                    <a:cubicBezTo>
                      <a:pt x="1" y="40"/>
                      <a:pt x="0" y="34"/>
                      <a:pt x="0" y="29"/>
                    </a:cubicBezTo>
                    <a:cubicBezTo>
                      <a:pt x="0" y="24"/>
                      <a:pt x="1" y="19"/>
                      <a:pt x="3" y="16"/>
                    </a:cubicBezTo>
                    <a:cubicBezTo>
                      <a:pt x="6" y="10"/>
                      <a:pt x="9" y="6"/>
                      <a:pt x="14" y="4"/>
                    </a:cubicBezTo>
                    <a:cubicBezTo>
                      <a:pt x="18" y="1"/>
                      <a:pt x="24" y="0"/>
                      <a:pt x="29" y="1"/>
                    </a:cubicBezTo>
                    <a:cubicBezTo>
                      <a:pt x="35" y="1"/>
                      <a:pt x="41" y="3"/>
                      <a:pt x="47" y="6"/>
                    </a:cubicBezTo>
                    <a:cubicBezTo>
                      <a:pt x="53" y="9"/>
                      <a:pt x="59" y="13"/>
                      <a:pt x="65" y="18"/>
                    </a:cubicBezTo>
                    <a:cubicBezTo>
                      <a:pt x="157" y="95"/>
                      <a:pt x="157" y="95"/>
                      <a:pt x="157" y="95"/>
                    </a:cubicBezTo>
                    <a:cubicBezTo>
                      <a:pt x="159" y="98"/>
                      <a:pt x="162" y="99"/>
                      <a:pt x="163" y="100"/>
                    </a:cubicBezTo>
                    <a:cubicBezTo>
                      <a:pt x="165" y="101"/>
                      <a:pt x="168" y="101"/>
                      <a:pt x="170" y="101"/>
                    </a:cubicBezTo>
                    <a:cubicBezTo>
                      <a:pt x="171" y="101"/>
                      <a:pt x="173" y="100"/>
                      <a:pt x="174" y="99"/>
                    </a:cubicBezTo>
                    <a:cubicBezTo>
                      <a:pt x="176" y="98"/>
                      <a:pt x="177" y="96"/>
                      <a:pt x="178" y="96"/>
                    </a:cubicBezTo>
                    <a:cubicBezTo>
                      <a:pt x="185" y="102"/>
                      <a:pt x="185" y="102"/>
                      <a:pt x="185" y="102"/>
                    </a:cubicBezTo>
                    <a:cubicBezTo>
                      <a:pt x="166" y="141"/>
                      <a:pt x="166" y="141"/>
                      <a:pt x="166" y="141"/>
                    </a:cubicBezTo>
                    <a:cubicBezTo>
                      <a:pt x="158" y="135"/>
                      <a:pt x="158" y="135"/>
                      <a:pt x="158" y="135"/>
                    </a:cubicBezTo>
                    <a:cubicBezTo>
                      <a:pt x="159" y="134"/>
                      <a:pt x="159" y="132"/>
                      <a:pt x="160" y="129"/>
                    </a:cubicBezTo>
                    <a:cubicBezTo>
                      <a:pt x="160" y="127"/>
                      <a:pt x="160" y="125"/>
                      <a:pt x="160" y="124"/>
                    </a:cubicBezTo>
                    <a:cubicBezTo>
                      <a:pt x="160" y="122"/>
                      <a:pt x="159" y="119"/>
                      <a:pt x="157" y="117"/>
                    </a:cubicBezTo>
                    <a:cubicBezTo>
                      <a:pt x="155" y="115"/>
                      <a:pt x="153" y="113"/>
                      <a:pt x="151" y="111"/>
                    </a:cubicBezTo>
                    <a:cubicBezTo>
                      <a:pt x="65" y="38"/>
                      <a:pt x="65" y="38"/>
                      <a:pt x="65" y="38"/>
                    </a:cubicBezTo>
                    <a:cubicBezTo>
                      <a:pt x="61" y="35"/>
                      <a:pt x="56" y="31"/>
                      <a:pt x="51" y="28"/>
                    </a:cubicBezTo>
                    <a:cubicBezTo>
                      <a:pt x="47" y="25"/>
                      <a:pt x="42" y="22"/>
                      <a:pt x="37" y="21"/>
                    </a:cubicBezTo>
                    <a:cubicBezTo>
                      <a:pt x="32" y="19"/>
                      <a:pt x="28" y="19"/>
                      <a:pt x="24" y="19"/>
                    </a:cubicBezTo>
                    <a:cubicBezTo>
                      <a:pt x="20" y="20"/>
                      <a:pt x="16" y="23"/>
                      <a:pt x="14" y="28"/>
                    </a:cubicBezTo>
                    <a:cubicBezTo>
                      <a:pt x="12" y="33"/>
                      <a:pt x="11" y="38"/>
                      <a:pt x="12" y="44"/>
                    </a:cubicBezTo>
                    <a:cubicBezTo>
                      <a:pt x="13" y="49"/>
                      <a:pt x="15" y="55"/>
                      <a:pt x="18" y="60"/>
                    </a:cubicBezTo>
                    <a:cubicBezTo>
                      <a:pt x="21" y="65"/>
                      <a:pt x="25" y="70"/>
                      <a:pt x="29" y="75"/>
                    </a:cubicBezTo>
                    <a:cubicBezTo>
                      <a:pt x="32" y="79"/>
                      <a:pt x="37" y="83"/>
                      <a:pt x="41" y="87"/>
                    </a:cubicBezTo>
                    <a:cubicBezTo>
                      <a:pt x="105" y="140"/>
                      <a:pt x="105" y="140"/>
                      <a:pt x="105" y="140"/>
                    </a:cubicBezTo>
                    <a:cubicBezTo>
                      <a:pt x="113" y="147"/>
                      <a:pt x="120" y="152"/>
                      <a:pt x="125" y="156"/>
                    </a:cubicBezTo>
                    <a:cubicBezTo>
                      <a:pt x="131" y="160"/>
                      <a:pt x="135" y="161"/>
                      <a:pt x="137" y="161"/>
                    </a:cubicBezTo>
                    <a:cubicBezTo>
                      <a:pt x="140" y="161"/>
                      <a:pt x="142" y="161"/>
                      <a:pt x="144" y="159"/>
                    </a:cubicBezTo>
                    <a:cubicBezTo>
                      <a:pt x="147" y="157"/>
                      <a:pt x="148" y="155"/>
                      <a:pt x="149" y="154"/>
                    </a:cubicBezTo>
                    <a:cubicBezTo>
                      <a:pt x="157" y="161"/>
                      <a:pt x="157" y="161"/>
                      <a:pt x="157" y="161"/>
                    </a:cubicBezTo>
                    <a:cubicBezTo>
                      <a:pt x="138" y="199"/>
                      <a:pt x="138" y="199"/>
                      <a:pt x="138" y="199"/>
                    </a:cubicBezTo>
                    <a:lnTo>
                      <a:pt x="130" y="193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3" name="ïşḻiḑe"/>
              <p:cNvSpPr/>
              <p:nvPr/>
            </p:nvSpPr>
            <p:spPr bwMode="auto">
              <a:xfrm>
                <a:off x="2279651" y="3140076"/>
                <a:ext cx="147638" cy="127000"/>
              </a:xfrm>
              <a:custGeom>
                <a:avLst/>
                <a:gdLst>
                  <a:gd name="T0" fmla="*/ 0 w 189"/>
                  <a:gd name="T1" fmla="*/ 104 h 161"/>
                  <a:gd name="T2" fmla="*/ 15 w 189"/>
                  <a:gd name="T3" fmla="*/ 62 h 161"/>
                  <a:gd name="T4" fmla="*/ 23 w 189"/>
                  <a:gd name="T5" fmla="*/ 67 h 161"/>
                  <a:gd name="T6" fmla="*/ 22 w 189"/>
                  <a:gd name="T7" fmla="*/ 78 h 161"/>
                  <a:gd name="T8" fmla="*/ 25 w 189"/>
                  <a:gd name="T9" fmla="*/ 84 h 161"/>
                  <a:gd name="T10" fmla="*/ 28 w 189"/>
                  <a:gd name="T11" fmla="*/ 86 h 161"/>
                  <a:gd name="T12" fmla="*/ 31 w 189"/>
                  <a:gd name="T13" fmla="*/ 87 h 161"/>
                  <a:gd name="T14" fmla="*/ 71 w 189"/>
                  <a:gd name="T15" fmla="*/ 102 h 161"/>
                  <a:gd name="T16" fmla="*/ 84 w 189"/>
                  <a:gd name="T17" fmla="*/ 66 h 161"/>
                  <a:gd name="T18" fmla="*/ 71 w 189"/>
                  <a:gd name="T19" fmla="*/ 54 h 161"/>
                  <a:gd name="T20" fmla="*/ 60 w 189"/>
                  <a:gd name="T21" fmla="*/ 45 h 161"/>
                  <a:gd name="T22" fmla="*/ 53 w 189"/>
                  <a:gd name="T23" fmla="*/ 38 h 161"/>
                  <a:gd name="T24" fmla="*/ 48 w 189"/>
                  <a:gd name="T25" fmla="*/ 35 h 161"/>
                  <a:gd name="T26" fmla="*/ 39 w 189"/>
                  <a:gd name="T27" fmla="*/ 35 h 161"/>
                  <a:gd name="T28" fmla="*/ 32 w 189"/>
                  <a:gd name="T29" fmla="*/ 43 h 161"/>
                  <a:gd name="T30" fmla="*/ 24 w 189"/>
                  <a:gd name="T31" fmla="*/ 38 h 161"/>
                  <a:gd name="T32" fmla="*/ 37 w 189"/>
                  <a:gd name="T33" fmla="*/ 0 h 161"/>
                  <a:gd name="T34" fmla="*/ 46 w 189"/>
                  <a:gd name="T35" fmla="*/ 5 h 161"/>
                  <a:gd name="T36" fmla="*/ 46 w 189"/>
                  <a:gd name="T37" fmla="*/ 10 h 161"/>
                  <a:gd name="T38" fmla="*/ 47 w 189"/>
                  <a:gd name="T39" fmla="*/ 17 h 161"/>
                  <a:gd name="T40" fmla="*/ 52 w 189"/>
                  <a:gd name="T41" fmla="*/ 25 h 161"/>
                  <a:gd name="T42" fmla="*/ 60 w 189"/>
                  <a:gd name="T43" fmla="*/ 34 h 161"/>
                  <a:gd name="T44" fmla="*/ 125 w 189"/>
                  <a:gd name="T45" fmla="*/ 95 h 161"/>
                  <a:gd name="T46" fmla="*/ 189 w 189"/>
                  <a:gd name="T47" fmla="*/ 156 h 161"/>
                  <a:gd name="T48" fmla="*/ 186 w 189"/>
                  <a:gd name="T49" fmla="*/ 161 h 161"/>
                  <a:gd name="T50" fmla="*/ 30 w 189"/>
                  <a:gd name="T51" fmla="*/ 105 h 161"/>
                  <a:gd name="T52" fmla="*/ 22 w 189"/>
                  <a:gd name="T53" fmla="*/ 103 h 161"/>
                  <a:gd name="T54" fmla="*/ 15 w 189"/>
                  <a:gd name="T55" fmla="*/ 103 h 161"/>
                  <a:gd name="T56" fmla="*/ 11 w 189"/>
                  <a:gd name="T57" fmla="*/ 106 h 161"/>
                  <a:gd name="T58" fmla="*/ 8 w 189"/>
                  <a:gd name="T59" fmla="*/ 109 h 161"/>
                  <a:gd name="T60" fmla="*/ 0 w 189"/>
                  <a:gd name="T61" fmla="*/ 104 h 161"/>
                  <a:gd name="T62" fmla="*/ 83 w 189"/>
                  <a:gd name="T63" fmla="*/ 106 h 161"/>
                  <a:gd name="T64" fmla="*/ 153 w 189"/>
                  <a:gd name="T65" fmla="*/ 131 h 161"/>
                  <a:gd name="T66" fmla="*/ 94 w 189"/>
                  <a:gd name="T67" fmla="*/ 75 h 161"/>
                  <a:gd name="T68" fmla="*/ 83 w 189"/>
                  <a:gd name="T69" fmla="*/ 106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89" h="161">
                    <a:moveTo>
                      <a:pt x="0" y="104"/>
                    </a:moveTo>
                    <a:cubicBezTo>
                      <a:pt x="15" y="62"/>
                      <a:pt x="15" y="62"/>
                      <a:pt x="15" y="62"/>
                    </a:cubicBezTo>
                    <a:cubicBezTo>
                      <a:pt x="23" y="67"/>
                      <a:pt x="23" y="67"/>
                      <a:pt x="23" y="67"/>
                    </a:cubicBezTo>
                    <a:cubicBezTo>
                      <a:pt x="22" y="71"/>
                      <a:pt x="22" y="75"/>
                      <a:pt x="22" y="78"/>
                    </a:cubicBezTo>
                    <a:cubicBezTo>
                      <a:pt x="23" y="81"/>
                      <a:pt x="24" y="83"/>
                      <a:pt x="25" y="84"/>
                    </a:cubicBezTo>
                    <a:cubicBezTo>
                      <a:pt x="26" y="85"/>
                      <a:pt x="27" y="85"/>
                      <a:pt x="28" y="86"/>
                    </a:cubicBezTo>
                    <a:cubicBezTo>
                      <a:pt x="29" y="86"/>
                      <a:pt x="30" y="87"/>
                      <a:pt x="31" y="87"/>
                    </a:cubicBezTo>
                    <a:cubicBezTo>
                      <a:pt x="71" y="102"/>
                      <a:pt x="71" y="102"/>
                      <a:pt x="71" y="102"/>
                    </a:cubicBezTo>
                    <a:cubicBezTo>
                      <a:pt x="84" y="66"/>
                      <a:pt x="84" y="66"/>
                      <a:pt x="84" y="66"/>
                    </a:cubicBezTo>
                    <a:cubicBezTo>
                      <a:pt x="79" y="62"/>
                      <a:pt x="75" y="58"/>
                      <a:pt x="71" y="54"/>
                    </a:cubicBezTo>
                    <a:cubicBezTo>
                      <a:pt x="67" y="51"/>
                      <a:pt x="64" y="48"/>
                      <a:pt x="60" y="45"/>
                    </a:cubicBezTo>
                    <a:cubicBezTo>
                      <a:pt x="57" y="42"/>
                      <a:pt x="55" y="40"/>
                      <a:pt x="53" y="38"/>
                    </a:cubicBezTo>
                    <a:cubicBezTo>
                      <a:pt x="51" y="37"/>
                      <a:pt x="49" y="36"/>
                      <a:pt x="48" y="35"/>
                    </a:cubicBezTo>
                    <a:cubicBezTo>
                      <a:pt x="45" y="33"/>
                      <a:pt x="42" y="33"/>
                      <a:pt x="39" y="35"/>
                    </a:cubicBezTo>
                    <a:cubicBezTo>
                      <a:pt x="36" y="37"/>
                      <a:pt x="34" y="39"/>
                      <a:pt x="32" y="43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46" y="5"/>
                      <a:pt x="46" y="5"/>
                      <a:pt x="46" y="5"/>
                    </a:cubicBezTo>
                    <a:cubicBezTo>
                      <a:pt x="46" y="6"/>
                      <a:pt x="45" y="8"/>
                      <a:pt x="46" y="10"/>
                    </a:cubicBezTo>
                    <a:cubicBezTo>
                      <a:pt x="46" y="13"/>
                      <a:pt x="46" y="15"/>
                      <a:pt x="47" y="17"/>
                    </a:cubicBezTo>
                    <a:cubicBezTo>
                      <a:pt x="48" y="20"/>
                      <a:pt x="50" y="23"/>
                      <a:pt x="52" y="25"/>
                    </a:cubicBezTo>
                    <a:cubicBezTo>
                      <a:pt x="54" y="28"/>
                      <a:pt x="57" y="31"/>
                      <a:pt x="60" y="34"/>
                    </a:cubicBezTo>
                    <a:cubicBezTo>
                      <a:pt x="79" y="53"/>
                      <a:pt x="101" y="73"/>
                      <a:pt x="125" y="95"/>
                    </a:cubicBezTo>
                    <a:cubicBezTo>
                      <a:pt x="149" y="118"/>
                      <a:pt x="170" y="138"/>
                      <a:pt x="189" y="156"/>
                    </a:cubicBezTo>
                    <a:cubicBezTo>
                      <a:pt x="186" y="161"/>
                      <a:pt x="186" y="161"/>
                      <a:pt x="186" y="161"/>
                    </a:cubicBezTo>
                    <a:cubicBezTo>
                      <a:pt x="30" y="105"/>
                      <a:pt x="30" y="105"/>
                      <a:pt x="30" y="105"/>
                    </a:cubicBezTo>
                    <a:cubicBezTo>
                      <a:pt x="27" y="104"/>
                      <a:pt x="24" y="103"/>
                      <a:pt x="22" y="103"/>
                    </a:cubicBezTo>
                    <a:cubicBezTo>
                      <a:pt x="20" y="102"/>
                      <a:pt x="18" y="102"/>
                      <a:pt x="15" y="103"/>
                    </a:cubicBezTo>
                    <a:cubicBezTo>
                      <a:pt x="14" y="103"/>
                      <a:pt x="12" y="104"/>
                      <a:pt x="11" y="106"/>
                    </a:cubicBezTo>
                    <a:cubicBezTo>
                      <a:pt x="10" y="107"/>
                      <a:pt x="9" y="108"/>
                      <a:pt x="8" y="109"/>
                    </a:cubicBezTo>
                    <a:cubicBezTo>
                      <a:pt x="0" y="104"/>
                      <a:pt x="0" y="104"/>
                      <a:pt x="0" y="104"/>
                    </a:cubicBezTo>
                    <a:close/>
                    <a:moveTo>
                      <a:pt x="83" y="106"/>
                    </a:moveTo>
                    <a:cubicBezTo>
                      <a:pt x="153" y="131"/>
                      <a:pt x="153" y="131"/>
                      <a:pt x="153" y="131"/>
                    </a:cubicBezTo>
                    <a:cubicBezTo>
                      <a:pt x="94" y="75"/>
                      <a:pt x="94" y="75"/>
                      <a:pt x="94" y="75"/>
                    </a:cubicBezTo>
                    <a:lnTo>
                      <a:pt x="83" y="106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4" name="ïṡļiḑê"/>
              <p:cNvSpPr/>
              <p:nvPr/>
            </p:nvSpPr>
            <p:spPr bwMode="auto">
              <a:xfrm>
                <a:off x="2266951" y="3238501"/>
                <a:ext cx="152400" cy="103188"/>
              </a:xfrm>
              <a:custGeom>
                <a:avLst/>
                <a:gdLst>
                  <a:gd name="T0" fmla="*/ 56 w 193"/>
                  <a:gd name="T1" fmla="*/ 105 h 132"/>
                  <a:gd name="T2" fmla="*/ 0 w 193"/>
                  <a:gd name="T3" fmla="*/ 89 h 132"/>
                  <a:gd name="T4" fmla="*/ 12 w 193"/>
                  <a:gd name="T5" fmla="*/ 0 h 132"/>
                  <a:gd name="T6" fmla="*/ 16 w 193"/>
                  <a:gd name="T7" fmla="*/ 1 h 132"/>
                  <a:gd name="T8" fmla="*/ 175 w 193"/>
                  <a:gd name="T9" fmla="*/ 108 h 132"/>
                  <a:gd name="T10" fmla="*/ 178 w 193"/>
                  <a:gd name="T11" fmla="*/ 83 h 132"/>
                  <a:gd name="T12" fmla="*/ 179 w 193"/>
                  <a:gd name="T13" fmla="*/ 75 h 132"/>
                  <a:gd name="T14" fmla="*/ 178 w 193"/>
                  <a:gd name="T15" fmla="*/ 70 h 132"/>
                  <a:gd name="T16" fmla="*/ 166 w 193"/>
                  <a:gd name="T17" fmla="*/ 55 h 132"/>
                  <a:gd name="T18" fmla="*/ 141 w 193"/>
                  <a:gd name="T19" fmla="*/ 39 h 132"/>
                  <a:gd name="T20" fmla="*/ 142 w 193"/>
                  <a:gd name="T21" fmla="*/ 34 h 132"/>
                  <a:gd name="T22" fmla="*/ 193 w 193"/>
                  <a:gd name="T23" fmla="*/ 49 h 132"/>
                  <a:gd name="T24" fmla="*/ 182 w 193"/>
                  <a:gd name="T25" fmla="*/ 132 h 132"/>
                  <a:gd name="T26" fmla="*/ 177 w 193"/>
                  <a:gd name="T27" fmla="*/ 131 h 132"/>
                  <a:gd name="T28" fmla="*/ 19 w 193"/>
                  <a:gd name="T29" fmla="*/ 23 h 132"/>
                  <a:gd name="T30" fmla="*/ 16 w 193"/>
                  <a:gd name="T31" fmla="*/ 50 h 132"/>
                  <a:gd name="T32" fmla="*/ 15 w 193"/>
                  <a:gd name="T33" fmla="*/ 64 h 132"/>
                  <a:gd name="T34" fmla="*/ 19 w 193"/>
                  <a:gd name="T35" fmla="*/ 75 h 132"/>
                  <a:gd name="T36" fmla="*/ 38 w 193"/>
                  <a:gd name="T37" fmla="*/ 89 h 132"/>
                  <a:gd name="T38" fmla="*/ 57 w 193"/>
                  <a:gd name="T39" fmla="*/ 100 h 132"/>
                  <a:gd name="T40" fmla="*/ 56 w 193"/>
                  <a:gd name="T41" fmla="*/ 105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93" h="132">
                    <a:moveTo>
                      <a:pt x="56" y="105"/>
                    </a:moveTo>
                    <a:cubicBezTo>
                      <a:pt x="0" y="89"/>
                      <a:pt x="0" y="89"/>
                      <a:pt x="0" y="89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6" y="1"/>
                      <a:pt x="16" y="1"/>
                      <a:pt x="16" y="1"/>
                    </a:cubicBezTo>
                    <a:cubicBezTo>
                      <a:pt x="175" y="108"/>
                      <a:pt x="175" y="108"/>
                      <a:pt x="175" y="108"/>
                    </a:cubicBezTo>
                    <a:cubicBezTo>
                      <a:pt x="178" y="83"/>
                      <a:pt x="178" y="83"/>
                      <a:pt x="178" y="83"/>
                    </a:cubicBezTo>
                    <a:cubicBezTo>
                      <a:pt x="178" y="80"/>
                      <a:pt x="178" y="77"/>
                      <a:pt x="179" y="75"/>
                    </a:cubicBezTo>
                    <a:cubicBezTo>
                      <a:pt x="179" y="73"/>
                      <a:pt x="179" y="71"/>
                      <a:pt x="178" y="70"/>
                    </a:cubicBezTo>
                    <a:cubicBezTo>
                      <a:pt x="178" y="66"/>
                      <a:pt x="173" y="61"/>
                      <a:pt x="166" y="55"/>
                    </a:cubicBezTo>
                    <a:cubicBezTo>
                      <a:pt x="158" y="49"/>
                      <a:pt x="150" y="44"/>
                      <a:pt x="141" y="39"/>
                    </a:cubicBezTo>
                    <a:cubicBezTo>
                      <a:pt x="142" y="34"/>
                      <a:pt x="142" y="34"/>
                      <a:pt x="142" y="34"/>
                    </a:cubicBezTo>
                    <a:cubicBezTo>
                      <a:pt x="193" y="49"/>
                      <a:pt x="193" y="49"/>
                      <a:pt x="193" y="49"/>
                    </a:cubicBezTo>
                    <a:cubicBezTo>
                      <a:pt x="182" y="132"/>
                      <a:pt x="182" y="132"/>
                      <a:pt x="182" y="132"/>
                    </a:cubicBezTo>
                    <a:cubicBezTo>
                      <a:pt x="177" y="131"/>
                      <a:pt x="177" y="131"/>
                      <a:pt x="177" y="131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6" y="50"/>
                      <a:pt x="16" y="50"/>
                      <a:pt x="16" y="50"/>
                    </a:cubicBezTo>
                    <a:cubicBezTo>
                      <a:pt x="15" y="54"/>
                      <a:pt x="15" y="59"/>
                      <a:pt x="15" y="64"/>
                    </a:cubicBezTo>
                    <a:cubicBezTo>
                      <a:pt x="16" y="69"/>
                      <a:pt x="17" y="73"/>
                      <a:pt x="19" y="75"/>
                    </a:cubicBezTo>
                    <a:cubicBezTo>
                      <a:pt x="24" y="80"/>
                      <a:pt x="30" y="84"/>
                      <a:pt x="38" y="89"/>
                    </a:cubicBezTo>
                    <a:cubicBezTo>
                      <a:pt x="45" y="94"/>
                      <a:pt x="51" y="97"/>
                      <a:pt x="57" y="100"/>
                    </a:cubicBezTo>
                    <a:lnTo>
                      <a:pt x="56" y="105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5" name="ï$ḷiḋe"/>
              <p:cNvSpPr/>
              <p:nvPr/>
            </p:nvSpPr>
            <p:spPr bwMode="auto">
              <a:xfrm>
                <a:off x="2251076" y="3325813"/>
                <a:ext cx="152400" cy="112713"/>
              </a:xfrm>
              <a:custGeom>
                <a:avLst/>
                <a:gdLst>
                  <a:gd name="T0" fmla="*/ 0 w 194"/>
                  <a:gd name="T1" fmla="*/ 115 h 143"/>
                  <a:gd name="T2" fmla="*/ 4 w 194"/>
                  <a:gd name="T3" fmla="*/ 69 h 143"/>
                  <a:gd name="T4" fmla="*/ 13 w 194"/>
                  <a:gd name="T5" fmla="*/ 70 h 143"/>
                  <a:gd name="T6" fmla="*/ 14 w 194"/>
                  <a:gd name="T7" fmla="*/ 76 h 143"/>
                  <a:gd name="T8" fmla="*/ 15 w 194"/>
                  <a:gd name="T9" fmla="*/ 81 h 143"/>
                  <a:gd name="T10" fmla="*/ 19 w 194"/>
                  <a:gd name="T11" fmla="*/ 85 h 143"/>
                  <a:gd name="T12" fmla="*/ 27 w 194"/>
                  <a:gd name="T13" fmla="*/ 87 h 143"/>
                  <a:gd name="T14" fmla="*/ 92 w 194"/>
                  <a:gd name="T15" fmla="*/ 97 h 143"/>
                  <a:gd name="T16" fmla="*/ 97 w 194"/>
                  <a:gd name="T17" fmla="*/ 45 h 143"/>
                  <a:gd name="T18" fmla="*/ 33 w 194"/>
                  <a:gd name="T19" fmla="*/ 35 h 143"/>
                  <a:gd name="T20" fmla="*/ 25 w 194"/>
                  <a:gd name="T21" fmla="*/ 35 h 143"/>
                  <a:gd name="T22" fmla="*/ 20 w 194"/>
                  <a:gd name="T23" fmla="*/ 38 h 143"/>
                  <a:gd name="T24" fmla="*/ 17 w 194"/>
                  <a:gd name="T25" fmla="*/ 42 h 143"/>
                  <a:gd name="T26" fmla="*/ 15 w 194"/>
                  <a:gd name="T27" fmla="*/ 47 h 143"/>
                  <a:gd name="T28" fmla="*/ 6 w 194"/>
                  <a:gd name="T29" fmla="*/ 46 h 143"/>
                  <a:gd name="T30" fmla="*/ 10 w 194"/>
                  <a:gd name="T31" fmla="*/ 0 h 143"/>
                  <a:gd name="T32" fmla="*/ 19 w 194"/>
                  <a:gd name="T33" fmla="*/ 1 h 143"/>
                  <a:gd name="T34" fmla="*/ 20 w 194"/>
                  <a:gd name="T35" fmla="*/ 7 h 143"/>
                  <a:gd name="T36" fmla="*/ 21 w 194"/>
                  <a:gd name="T37" fmla="*/ 12 h 143"/>
                  <a:gd name="T38" fmla="*/ 25 w 194"/>
                  <a:gd name="T39" fmla="*/ 16 h 143"/>
                  <a:gd name="T40" fmla="*/ 33 w 194"/>
                  <a:gd name="T41" fmla="*/ 18 h 143"/>
                  <a:gd name="T42" fmla="*/ 166 w 194"/>
                  <a:gd name="T43" fmla="*/ 38 h 143"/>
                  <a:gd name="T44" fmla="*/ 173 w 194"/>
                  <a:gd name="T45" fmla="*/ 38 h 143"/>
                  <a:gd name="T46" fmla="*/ 179 w 194"/>
                  <a:gd name="T47" fmla="*/ 36 h 143"/>
                  <a:gd name="T48" fmla="*/ 182 w 194"/>
                  <a:gd name="T49" fmla="*/ 31 h 143"/>
                  <a:gd name="T50" fmla="*/ 184 w 194"/>
                  <a:gd name="T51" fmla="*/ 26 h 143"/>
                  <a:gd name="T52" fmla="*/ 194 w 194"/>
                  <a:gd name="T53" fmla="*/ 27 h 143"/>
                  <a:gd name="T54" fmla="*/ 189 w 194"/>
                  <a:gd name="T55" fmla="*/ 74 h 143"/>
                  <a:gd name="T56" fmla="*/ 180 w 194"/>
                  <a:gd name="T57" fmla="*/ 72 h 143"/>
                  <a:gd name="T58" fmla="*/ 180 w 194"/>
                  <a:gd name="T59" fmla="*/ 67 h 143"/>
                  <a:gd name="T60" fmla="*/ 178 w 194"/>
                  <a:gd name="T61" fmla="*/ 62 h 143"/>
                  <a:gd name="T62" fmla="*/ 173 w 194"/>
                  <a:gd name="T63" fmla="*/ 57 h 143"/>
                  <a:gd name="T64" fmla="*/ 165 w 194"/>
                  <a:gd name="T65" fmla="*/ 55 h 143"/>
                  <a:gd name="T66" fmla="*/ 109 w 194"/>
                  <a:gd name="T67" fmla="*/ 47 h 143"/>
                  <a:gd name="T68" fmla="*/ 104 w 194"/>
                  <a:gd name="T69" fmla="*/ 99 h 143"/>
                  <a:gd name="T70" fmla="*/ 160 w 194"/>
                  <a:gd name="T71" fmla="*/ 107 h 143"/>
                  <a:gd name="T72" fmla="*/ 167 w 194"/>
                  <a:gd name="T73" fmla="*/ 107 h 143"/>
                  <a:gd name="T74" fmla="*/ 173 w 194"/>
                  <a:gd name="T75" fmla="*/ 105 h 143"/>
                  <a:gd name="T76" fmla="*/ 176 w 194"/>
                  <a:gd name="T77" fmla="*/ 100 h 143"/>
                  <a:gd name="T78" fmla="*/ 178 w 194"/>
                  <a:gd name="T79" fmla="*/ 95 h 143"/>
                  <a:gd name="T80" fmla="*/ 188 w 194"/>
                  <a:gd name="T81" fmla="*/ 96 h 143"/>
                  <a:gd name="T82" fmla="*/ 183 w 194"/>
                  <a:gd name="T83" fmla="*/ 143 h 143"/>
                  <a:gd name="T84" fmla="*/ 174 w 194"/>
                  <a:gd name="T85" fmla="*/ 141 h 143"/>
                  <a:gd name="T86" fmla="*/ 174 w 194"/>
                  <a:gd name="T87" fmla="*/ 136 h 143"/>
                  <a:gd name="T88" fmla="*/ 172 w 194"/>
                  <a:gd name="T89" fmla="*/ 131 h 143"/>
                  <a:gd name="T90" fmla="*/ 167 w 194"/>
                  <a:gd name="T91" fmla="*/ 126 h 143"/>
                  <a:gd name="T92" fmla="*/ 159 w 194"/>
                  <a:gd name="T93" fmla="*/ 124 h 143"/>
                  <a:gd name="T94" fmla="*/ 27 w 194"/>
                  <a:gd name="T95" fmla="*/ 104 h 143"/>
                  <a:gd name="T96" fmla="*/ 19 w 194"/>
                  <a:gd name="T97" fmla="*/ 104 h 143"/>
                  <a:gd name="T98" fmla="*/ 14 w 194"/>
                  <a:gd name="T99" fmla="*/ 107 h 143"/>
                  <a:gd name="T100" fmla="*/ 11 w 194"/>
                  <a:gd name="T101" fmla="*/ 111 h 143"/>
                  <a:gd name="T102" fmla="*/ 9 w 194"/>
                  <a:gd name="T103" fmla="*/ 116 h 143"/>
                  <a:gd name="T104" fmla="*/ 0 w 194"/>
                  <a:gd name="T105" fmla="*/ 115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94" h="143">
                    <a:moveTo>
                      <a:pt x="0" y="115"/>
                    </a:moveTo>
                    <a:cubicBezTo>
                      <a:pt x="4" y="69"/>
                      <a:pt x="4" y="69"/>
                      <a:pt x="4" y="69"/>
                    </a:cubicBezTo>
                    <a:cubicBezTo>
                      <a:pt x="13" y="70"/>
                      <a:pt x="13" y="70"/>
                      <a:pt x="13" y="70"/>
                    </a:cubicBezTo>
                    <a:cubicBezTo>
                      <a:pt x="13" y="72"/>
                      <a:pt x="13" y="73"/>
                      <a:pt x="14" y="76"/>
                    </a:cubicBezTo>
                    <a:cubicBezTo>
                      <a:pt x="14" y="78"/>
                      <a:pt x="14" y="80"/>
                      <a:pt x="15" y="81"/>
                    </a:cubicBezTo>
                    <a:cubicBezTo>
                      <a:pt x="16" y="83"/>
                      <a:pt x="17" y="84"/>
                      <a:pt x="19" y="85"/>
                    </a:cubicBezTo>
                    <a:cubicBezTo>
                      <a:pt x="21" y="86"/>
                      <a:pt x="24" y="87"/>
                      <a:pt x="27" y="87"/>
                    </a:cubicBezTo>
                    <a:cubicBezTo>
                      <a:pt x="92" y="97"/>
                      <a:pt x="92" y="97"/>
                      <a:pt x="92" y="97"/>
                    </a:cubicBezTo>
                    <a:cubicBezTo>
                      <a:pt x="97" y="45"/>
                      <a:pt x="97" y="45"/>
                      <a:pt x="97" y="45"/>
                    </a:cubicBezTo>
                    <a:cubicBezTo>
                      <a:pt x="33" y="35"/>
                      <a:pt x="33" y="35"/>
                      <a:pt x="33" y="35"/>
                    </a:cubicBezTo>
                    <a:cubicBezTo>
                      <a:pt x="30" y="35"/>
                      <a:pt x="28" y="35"/>
                      <a:pt x="25" y="35"/>
                    </a:cubicBezTo>
                    <a:cubicBezTo>
                      <a:pt x="23" y="35"/>
                      <a:pt x="21" y="36"/>
                      <a:pt x="20" y="38"/>
                    </a:cubicBezTo>
                    <a:cubicBezTo>
                      <a:pt x="19" y="39"/>
                      <a:pt x="18" y="40"/>
                      <a:pt x="17" y="42"/>
                    </a:cubicBezTo>
                    <a:cubicBezTo>
                      <a:pt x="16" y="44"/>
                      <a:pt x="15" y="46"/>
                      <a:pt x="15" y="47"/>
                    </a:cubicBezTo>
                    <a:cubicBezTo>
                      <a:pt x="6" y="46"/>
                      <a:pt x="6" y="46"/>
                      <a:pt x="6" y="46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9" y="1"/>
                      <a:pt x="19" y="1"/>
                      <a:pt x="19" y="1"/>
                    </a:cubicBezTo>
                    <a:cubicBezTo>
                      <a:pt x="19" y="2"/>
                      <a:pt x="19" y="4"/>
                      <a:pt x="20" y="7"/>
                    </a:cubicBezTo>
                    <a:cubicBezTo>
                      <a:pt x="20" y="9"/>
                      <a:pt x="20" y="11"/>
                      <a:pt x="21" y="12"/>
                    </a:cubicBezTo>
                    <a:cubicBezTo>
                      <a:pt x="22" y="14"/>
                      <a:pt x="23" y="15"/>
                      <a:pt x="25" y="16"/>
                    </a:cubicBezTo>
                    <a:cubicBezTo>
                      <a:pt x="27" y="17"/>
                      <a:pt x="30" y="18"/>
                      <a:pt x="33" y="18"/>
                    </a:cubicBezTo>
                    <a:cubicBezTo>
                      <a:pt x="166" y="38"/>
                      <a:pt x="166" y="38"/>
                      <a:pt x="166" y="38"/>
                    </a:cubicBezTo>
                    <a:cubicBezTo>
                      <a:pt x="168" y="39"/>
                      <a:pt x="171" y="39"/>
                      <a:pt x="173" y="38"/>
                    </a:cubicBezTo>
                    <a:cubicBezTo>
                      <a:pt x="176" y="38"/>
                      <a:pt x="177" y="37"/>
                      <a:pt x="179" y="36"/>
                    </a:cubicBezTo>
                    <a:cubicBezTo>
                      <a:pt x="180" y="34"/>
                      <a:pt x="181" y="33"/>
                      <a:pt x="182" y="31"/>
                    </a:cubicBezTo>
                    <a:cubicBezTo>
                      <a:pt x="183" y="29"/>
                      <a:pt x="184" y="27"/>
                      <a:pt x="184" y="26"/>
                    </a:cubicBezTo>
                    <a:cubicBezTo>
                      <a:pt x="194" y="27"/>
                      <a:pt x="194" y="27"/>
                      <a:pt x="194" y="27"/>
                    </a:cubicBezTo>
                    <a:cubicBezTo>
                      <a:pt x="189" y="74"/>
                      <a:pt x="189" y="74"/>
                      <a:pt x="189" y="74"/>
                    </a:cubicBezTo>
                    <a:cubicBezTo>
                      <a:pt x="180" y="72"/>
                      <a:pt x="180" y="72"/>
                      <a:pt x="180" y="72"/>
                    </a:cubicBezTo>
                    <a:cubicBezTo>
                      <a:pt x="180" y="71"/>
                      <a:pt x="180" y="69"/>
                      <a:pt x="180" y="67"/>
                    </a:cubicBezTo>
                    <a:cubicBezTo>
                      <a:pt x="179" y="64"/>
                      <a:pt x="179" y="63"/>
                      <a:pt x="178" y="62"/>
                    </a:cubicBezTo>
                    <a:cubicBezTo>
                      <a:pt x="177" y="60"/>
                      <a:pt x="176" y="58"/>
                      <a:pt x="173" y="57"/>
                    </a:cubicBezTo>
                    <a:cubicBezTo>
                      <a:pt x="171" y="56"/>
                      <a:pt x="168" y="56"/>
                      <a:pt x="165" y="55"/>
                    </a:cubicBezTo>
                    <a:cubicBezTo>
                      <a:pt x="109" y="47"/>
                      <a:pt x="109" y="47"/>
                      <a:pt x="109" y="47"/>
                    </a:cubicBezTo>
                    <a:cubicBezTo>
                      <a:pt x="104" y="99"/>
                      <a:pt x="104" y="99"/>
                      <a:pt x="104" y="99"/>
                    </a:cubicBezTo>
                    <a:cubicBezTo>
                      <a:pt x="160" y="107"/>
                      <a:pt x="160" y="107"/>
                      <a:pt x="160" y="107"/>
                    </a:cubicBezTo>
                    <a:cubicBezTo>
                      <a:pt x="162" y="108"/>
                      <a:pt x="165" y="108"/>
                      <a:pt x="167" y="107"/>
                    </a:cubicBezTo>
                    <a:cubicBezTo>
                      <a:pt x="170" y="107"/>
                      <a:pt x="171" y="106"/>
                      <a:pt x="173" y="105"/>
                    </a:cubicBezTo>
                    <a:cubicBezTo>
                      <a:pt x="174" y="104"/>
                      <a:pt x="175" y="102"/>
                      <a:pt x="176" y="100"/>
                    </a:cubicBezTo>
                    <a:cubicBezTo>
                      <a:pt x="177" y="98"/>
                      <a:pt x="178" y="97"/>
                      <a:pt x="178" y="95"/>
                    </a:cubicBezTo>
                    <a:cubicBezTo>
                      <a:pt x="188" y="96"/>
                      <a:pt x="188" y="96"/>
                      <a:pt x="188" y="96"/>
                    </a:cubicBezTo>
                    <a:cubicBezTo>
                      <a:pt x="183" y="143"/>
                      <a:pt x="183" y="143"/>
                      <a:pt x="183" y="143"/>
                    </a:cubicBezTo>
                    <a:cubicBezTo>
                      <a:pt x="174" y="141"/>
                      <a:pt x="174" y="141"/>
                      <a:pt x="174" y="141"/>
                    </a:cubicBezTo>
                    <a:cubicBezTo>
                      <a:pt x="174" y="140"/>
                      <a:pt x="174" y="138"/>
                      <a:pt x="174" y="136"/>
                    </a:cubicBezTo>
                    <a:cubicBezTo>
                      <a:pt x="173" y="134"/>
                      <a:pt x="173" y="132"/>
                      <a:pt x="172" y="131"/>
                    </a:cubicBezTo>
                    <a:cubicBezTo>
                      <a:pt x="171" y="129"/>
                      <a:pt x="170" y="127"/>
                      <a:pt x="167" y="126"/>
                    </a:cubicBezTo>
                    <a:cubicBezTo>
                      <a:pt x="165" y="125"/>
                      <a:pt x="162" y="125"/>
                      <a:pt x="159" y="124"/>
                    </a:cubicBezTo>
                    <a:cubicBezTo>
                      <a:pt x="27" y="104"/>
                      <a:pt x="27" y="104"/>
                      <a:pt x="27" y="104"/>
                    </a:cubicBezTo>
                    <a:cubicBezTo>
                      <a:pt x="24" y="104"/>
                      <a:pt x="22" y="104"/>
                      <a:pt x="19" y="104"/>
                    </a:cubicBezTo>
                    <a:cubicBezTo>
                      <a:pt x="17" y="104"/>
                      <a:pt x="15" y="105"/>
                      <a:pt x="14" y="107"/>
                    </a:cubicBezTo>
                    <a:cubicBezTo>
                      <a:pt x="13" y="108"/>
                      <a:pt x="12" y="109"/>
                      <a:pt x="11" y="111"/>
                    </a:cubicBezTo>
                    <a:cubicBezTo>
                      <a:pt x="10" y="113"/>
                      <a:pt x="9" y="115"/>
                      <a:pt x="9" y="116"/>
                    </a:cubicBezTo>
                    <a:lnTo>
                      <a:pt x="0" y="115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6" name="iś1íḋè"/>
              <p:cNvSpPr/>
              <p:nvPr/>
            </p:nvSpPr>
            <p:spPr bwMode="auto">
              <a:xfrm>
                <a:off x="2252663" y="3433763"/>
                <a:ext cx="150813" cy="87313"/>
              </a:xfrm>
              <a:custGeom>
                <a:avLst/>
                <a:gdLst>
                  <a:gd name="T0" fmla="*/ 169 w 193"/>
                  <a:gd name="T1" fmla="*/ 85 h 111"/>
                  <a:gd name="T2" fmla="*/ 140 w 193"/>
                  <a:gd name="T3" fmla="*/ 100 h 111"/>
                  <a:gd name="T4" fmla="*/ 100 w 193"/>
                  <a:gd name="T5" fmla="*/ 109 h 111"/>
                  <a:gd name="T6" fmla="*/ 60 w 193"/>
                  <a:gd name="T7" fmla="*/ 110 h 111"/>
                  <a:gd name="T8" fmla="*/ 29 w 193"/>
                  <a:gd name="T9" fmla="*/ 102 h 111"/>
                  <a:gd name="T10" fmla="*/ 8 w 193"/>
                  <a:gd name="T11" fmla="*/ 87 h 111"/>
                  <a:gd name="T12" fmla="*/ 0 w 193"/>
                  <a:gd name="T13" fmla="*/ 68 h 111"/>
                  <a:gd name="T14" fmla="*/ 6 w 193"/>
                  <a:gd name="T15" fmla="*/ 45 h 111"/>
                  <a:gd name="T16" fmla="*/ 25 w 193"/>
                  <a:gd name="T17" fmla="*/ 26 h 111"/>
                  <a:gd name="T18" fmla="*/ 54 w 193"/>
                  <a:gd name="T19" fmla="*/ 11 h 111"/>
                  <a:gd name="T20" fmla="*/ 92 w 193"/>
                  <a:gd name="T21" fmla="*/ 2 h 111"/>
                  <a:gd name="T22" fmla="*/ 133 w 193"/>
                  <a:gd name="T23" fmla="*/ 1 h 111"/>
                  <a:gd name="T24" fmla="*/ 164 w 193"/>
                  <a:gd name="T25" fmla="*/ 9 h 111"/>
                  <a:gd name="T26" fmla="*/ 185 w 193"/>
                  <a:gd name="T27" fmla="*/ 24 h 111"/>
                  <a:gd name="T28" fmla="*/ 193 w 193"/>
                  <a:gd name="T29" fmla="*/ 43 h 111"/>
                  <a:gd name="T30" fmla="*/ 188 w 193"/>
                  <a:gd name="T31" fmla="*/ 65 h 111"/>
                  <a:gd name="T32" fmla="*/ 169 w 193"/>
                  <a:gd name="T33" fmla="*/ 85 h 111"/>
                  <a:gd name="T34" fmla="*/ 38 w 193"/>
                  <a:gd name="T35" fmla="*/ 89 h 111"/>
                  <a:gd name="T36" fmla="*/ 65 w 193"/>
                  <a:gd name="T37" fmla="*/ 92 h 111"/>
                  <a:gd name="T38" fmla="*/ 99 w 193"/>
                  <a:gd name="T39" fmla="*/ 90 h 111"/>
                  <a:gd name="T40" fmla="*/ 133 w 193"/>
                  <a:gd name="T41" fmla="*/ 84 h 111"/>
                  <a:gd name="T42" fmla="*/ 160 w 193"/>
                  <a:gd name="T43" fmla="*/ 74 h 111"/>
                  <a:gd name="T44" fmla="*/ 176 w 193"/>
                  <a:gd name="T45" fmla="*/ 61 h 111"/>
                  <a:gd name="T46" fmla="*/ 181 w 193"/>
                  <a:gd name="T47" fmla="*/ 45 h 111"/>
                  <a:gd name="T48" fmla="*/ 173 w 193"/>
                  <a:gd name="T49" fmla="*/ 30 h 111"/>
                  <a:gd name="T50" fmla="*/ 153 w 193"/>
                  <a:gd name="T51" fmla="*/ 21 h 111"/>
                  <a:gd name="T52" fmla="*/ 126 w 193"/>
                  <a:gd name="T53" fmla="*/ 19 h 111"/>
                  <a:gd name="T54" fmla="*/ 94 w 193"/>
                  <a:gd name="T55" fmla="*/ 21 h 111"/>
                  <a:gd name="T56" fmla="*/ 60 w 193"/>
                  <a:gd name="T57" fmla="*/ 27 h 111"/>
                  <a:gd name="T58" fmla="*/ 34 w 193"/>
                  <a:gd name="T59" fmla="*/ 37 h 111"/>
                  <a:gd name="T60" fmla="*/ 17 w 193"/>
                  <a:gd name="T61" fmla="*/ 50 h 111"/>
                  <a:gd name="T62" fmla="*/ 12 w 193"/>
                  <a:gd name="T63" fmla="*/ 66 h 111"/>
                  <a:gd name="T64" fmla="*/ 19 w 193"/>
                  <a:gd name="T65" fmla="*/ 81 h 111"/>
                  <a:gd name="T66" fmla="*/ 38 w 193"/>
                  <a:gd name="T67" fmla="*/ 89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93" h="111">
                    <a:moveTo>
                      <a:pt x="169" y="85"/>
                    </a:moveTo>
                    <a:cubicBezTo>
                      <a:pt x="161" y="91"/>
                      <a:pt x="151" y="96"/>
                      <a:pt x="140" y="100"/>
                    </a:cubicBezTo>
                    <a:cubicBezTo>
                      <a:pt x="128" y="104"/>
                      <a:pt x="115" y="107"/>
                      <a:pt x="100" y="109"/>
                    </a:cubicBezTo>
                    <a:cubicBezTo>
                      <a:pt x="86" y="111"/>
                      <a:pt x="72" y="111"/>
                      <a:pt x="60" y="110"/>
                    </a:cubicBezTo>
                    <a:cubicBezTo>
                      <a:pt x="48" y="109"/>
                      <a:pt x="38" y="106"/>
                      <a:pt x="29" y="102"/>
                    </a:cubicBezTo>
                    <a:cubicBezTo>
                      <a:pt x="20" y="98"/>
                      <a:pt x="13" y="93"/>
                      <a:pt x="8" y="87"/>
                    </a:cubicBezTo>
                    <a:cubicBezTo>
                      <a:pt x="3" y="82"/>
                      <a:pt x="1" y="75"/>
                      <a:pt x="0" y="68"/>
                    </a:cubicBezTo>
                    <a:cubicBezTo>
                      <a:pt x="0" y="60"/>
                      <a:pt x="2" y="52"/>
                      <a:pt x="6" y="45"/>
                    </a:cubicBezTo>
                    <a:cubicBezTo>
                      <a:pt x="10" y="38"/>
                      <a:pt x="16" y="32"/>
                      <a:pt x="25" y="26"/>
                    </a:cubicBezTo>
                    <a:cubicBezTo>
                      <a:pt x="33" y="20"/>
                      <a:pt x="43" y="15"/>
                      <a:pt x="54" y="11"/>
                    </a:cubicBezTo>
                    <a:cubicBezTo>
                      <a:pt x="66" y="7"/>
                      <a:pt x="79" y="4"/>
                      <a:pt x="92" y="2"/>
                    </a:cubicBezTo>
                    <a:cubicBezTo>
                      <a:pt x="107" y="0"/>
                      <a:pt x="121" y="0"/>
                      <a:pt x="133" y="1"/>
                    </a:cubicBezTo>
                    <a:cubicBezTo>
                      <a:pt x="145" y="2"/>
                      <a:pt x="155" y="5"/>
                      <a:pt x="164" y="9"/>
                    </a:cubicBezTo>
                    <a:cubicBezTo>
                      <a:pt x="173" y="13"/>
                      <a:pt x="180" y="18"/>
                      <a:pt x="185" y="24"/>
                    </a:cubicBezTo>
                    <a:cubicBezTo>
                      <a:pt x="190" y="30"/>
                      <a:pt x="192" y="36"/>
                      <a:pt x="193" y="43"/>
                    </a:cubicBezTo>
                    <a:cubicBezTo>
                      <a:pt x="193" y="51"/>
                      <a:pt x="192" y="58"/>
                      <a:pt x="188" y="65"/>
                    </a:cubicBezTo>
                    <a:cubicBezTo>
                      <a:pt x="183" y="72"/>
                      <a:pt x="177" y="79"/>
                      <a:pt x="169" y="85"/>
                    </a:cubicBezTo>
                    <a:close/>
                    <a:moveTo>
                      <a:pt x="38" y="89"/>
                    </a:moveTo>
                    <a:cubicBezTo>
                      <a:pt x="46" y="91"/>
                      <a:pt x="55" y="92"/>
                      <a:pt x="65" y="92"/>
                    </a:cubicBezTo>
                    <a:cubicBezTo>
                      <a:pt x="75" y="92"/>
                      <a:pt x="87" y="92"/>
                      <a:pt x="99" y="90"/>
                    </a:cubicBezTo>
                    <a:cubicBezTo>
                      <a:pt x="111" y="89"/>
                      <a:pt x="123" y="86"/>
                      <a:pt x="133" y="84"/>
                    </a:cubicBezTo>
                    <a:cubicBezTo>
                      <a:pt x="144" y="81"/>
                      <a:pt x="153" y="77"/>
                      <a:pt x="160" y="74"/>
                    </a:cubicBezTo>
                    <a:cubicBezTo>
                      <a:pt x="167" y="70"/>
                      <a:pt x="173" y="65"/>
                      <a:pt x="176" y="61"/>
                    </a:cubicBezTo>
                    <a:cubicBezTo>
                      <a:pt x="180" y="56"/>
                      <a:pt x="182" y="50"/>
                      <a:pt x="181" y="45"/>
                    </a:cubicBezTo>
                    <a:cubicBezTo>
                      <a:pt x="181" y="39"/>
                      <a:pt x="178" y="34"/>
                      <a:pt x="173" y="30"/>
                    </a:cubicBezTo>
                    <a:cubicBezTo>
                      <a:pt x="168" y="26"/>
                      <a:pt x="161" y="23"/>
                      <a:pt x="153" y="21"/>
                    </a:cubicBezTo>
                    <a:cubicBezTo>
                      <a:pt x="145" y="20"/>
                      <a:pt x="136" y="19"/>
                      <a:pt x="126" y="19"/>
                    </a:cubicBezTo>
                    <a:cubicBezTo>
                      <a:pt x="116" y="19"/>
                      <a:pt x="105" y="20"/>
                      <a:pt x="94" y="21"/>
                    </a:cubicBezTo>
                    <a:cubicBezTo>
                      <a:pt x="81" y="23"/>
                      <a:pt x="70" y="25"/>
                      <a:pt x="60" y="27"/>
                    </a:cubicBezTo>
                    <a:cubicBezTo>
                      <a:pt x="50" y="30"/>
                      <a:pt x="42" y="33"/>
                      <a:pt x="34" y="37"/>
                    </a:cubicBezTo>
                    <a:cubicBezTo>
                      <a:pt x="27" y="41"/>
                      <a:pt x="21" y="45"/>
                      <a:pt x="17" y="50"/>
                    </a:cubicBezTo>
                    <a:cubicBezTo>
                      <a:pt x="13" y="55"/>
                      <a:pt x="11" y="60"/>
                      <a:pt x="12" y="66"/>
                    </a:cubicBezTo>
                    <a:cubicBezTo>
                      <a:pt x="12" y="72"/>
                      <a:pt x="15" y="77"/>
                      <a:pt x="19" y="81"/>
                    </a:cubicBezTo>
                    <a:cubicBezTo>
                      <a:pt x="24" y="85"/>
                      <a:pt x="30" y="87"/>
                      <a:pt x="38" y="89"/>
                    </a:cubicBez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7" name="ïšlíďe"/>
              <p:cNvSpPr/>
              <p:nvPr/>
            </p:nvSpPr>
            <p:spPr bwMode="auto">
              <a:xfrm>
                <a:off x="2262188" y="3495676"/>
                <a:ext cx="158750" cy="122238"/>
              </a:xfrm>
              <a:custGeom>
                <a:avLst/>
                <a:gdLst>
                  <a:gd name="T0" fmla="*/ 192 w 201"/>
                  <a:gd name="T1" fmla="*/ 120 h 156"/>
                  <a:gd name="T2" fmla="*/ 188 w 201"/>
                  <a:gd name="T3" fmla="*/ 114 h 156"/>
                  <a:gd name="T4" fmla="*/ 183 w 201"/>
                  <a:gd name="T5" fmla="*/ 109 h 156"/>
                  <a:gd name="T6" fmla="*/ 170 w 201"/>
                  <a:gd name="T7" fmla="*/ 109 h 156"/>
                  <a:gd name="T8" fmla="*/ 147 w 201"/>
                  <a:gd name="T9" fmla="*/ 115 h 156"/>
                  <a:gd name="T10" fmla="*/ 16 w 201"/>
                  <a:gd name="T11" fmla="*/ 156 h 156"/>
                  <a:gd name="T12" fmla="*/ 15 w 201"/>
                  <a:gd name="T13" fmla="*/ 149 h 156"/>
                  <a:gd name="T14" fmla="*/ 150 w 201"/>
                  <a:gd name="T15" fmla="*/ 38 h 156"/>
                  <a:gd name="T16" fmla="*/ 57 w 201"/>
                  <a:gd name="T17" fmla="*/ 66 h 156"/>
                  <a:gd name="T18" fmla="*/ 33 w 201"/>
                  <a:gd name="T19" fmla="*/ 75 h 156"/>
                  <a:gd name="T20" fmla="*/ 22 w 201"/>
                  <a:gd name="T21" fmla="*/ 82 h 156"/>
                  <a:gd name="T22" fmla="*/ 18 w 201"/>
                  <a:gd name="T23" fmla="*/ 91 h 156"/>
                  <a:gd name="T24" fmla="*/ 17 w 201"/>
                  <a:gd name="T25" fmla="*/ 99 h 156"/>
                  <a:gd name="T26" fmla="*/ 8 w 201"/>
                  <a:gd name="T27" fmla="*/ 102 h 156"/>
                  <a:gd name="T28" fmla="*/ 0 w 201"/>
                  <a:gd name="T29" fmla="*/ 57 h 156"/>
                  <a:gd name="T30" fmla="*/ 9 w 201"/>
                  <a:gd name="T31" fmla="*/ 55 h 156"/>
                  <a:gd name="T32" fmla="*/ 13 w 201"/>
                  <a:gd name="T33" fmla="*/ 61 h 156"/>
                  <a:gd name="T34" fmla="*/ 18 w 201"/>
                  <a:gd name="T35" fmla="*/ 66 h 156"/>
                  <a:gd name="T36" fmla="*/ 29 w 201"/>
                  <a:gd name="T37" fmla="*/ 66 h 156"/>
                  <a:gd name="T38" fmla="*/ 54 w 201"/>
                  <a:gd name="T39" fmla="*/ 59 h 156"/>
                  <a:gd name="T40" fmla="*/ 143 w 201"/>
                  <a:gd name="T41" fmla="*/ 32 h 156"/>
                  <a:gd name="T42" fmla="*/ 154 w 201"/>
                  <a:gd name="T43" fmla="*/ 27 h 156"/>
                  <a:gd name="T44" fmla="*/ 163 w 201"/>
                  <a:gd name="T45" fmla="*/ 21 h 156"/>
                  <a:gd name="T46" fmla="*/ 169 w 201"/>
                  <a:gd name="T47" fmla="*/ 11 h 156"/>
                  <a:gd name="T48" fmla="*/ 170 w 201"/>
                  <a:gd name="T49" fmla="*/ 3 h 156"/>
                  <a:gd name="T50" fmla="*/ 179 w 201"/>
                  <a:gd name="T51" fmla="*/ 0 h 156"/>
                  <a:gd name="T52" fmla="*/ 185 w 201"/>
                  <a:gd name="T53" fmla="*/ 31 h 156"/>
                  <a:gd name="T54" fmla="*/ 59 w 201"/>
                  <a:gd name="T55" fmla="*/ 135 h 156"/>
                  <a:gd name="T56" fmla="*/ 144 w 201"/>
                  <a:gd name="T57" fmla="*/ 108 h 156"/>
                  <a:gd name="T58" fmla="*/ 168 w 201"/>
                  <a:gd name="T59" fmla="*/ 100 h 156"/>
                  <a:gd name="T60" fmla="*/ 179 w 201"/>
                  <a:gd name="T61" fmla="*/ 93 h 156"/>
                  <a:gd name="T62" fmla="*/ 182 w 201"/>
                  <a:gd name="T63" fmla="*/ 84 h 156"/>
                  <a:gd name="T64" fmla="*/ 184 w 201"/>
                  <a:gd name="T65" fmla="*/ 76 h 156"/>
                  <a:gd name="T66" fmla="*/ 193 w 201"/>
                  <a:gd name="T67" fmla="*/ 73 h 156"/>
                  <a:gd name="T68" fmla="*/ 201 w 201"/>
                  <a:gd name="T69" fmla="*/ 118 h 156"/>
                  <a:gd name="T70" fmla="*/ 192 w 201"/>
                  <a:gd name="T71" fmla="*/ 120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01" h="156">
                    <a:moveTo>
                      <a:pt x="192" y="120"/>
                    </a:moveTo>
                    <a:cubicBezTo>
                      <a:pt x="191" y="119"/>
                      <a:pt x="190" y="117"/>
                      <a:pt x="188" y="114"/>
                    </a:cubicBezTo>
                    <a:cubicBezTo>
                      <a:pt x="187" y="112"/>
                      <a:pt x="185" y="110"/>
                      <a:pt x="183" y="109"/>
                    </a:cubicBezTo>
                    <a:cubicBezTo>
                      <a:pt x="181" y="108"/>
                      <a:pt x="177" y="108"/>
                      <a:pt x="170" y="109"/>
                    </a:cubicBezTo>
                    <a:cubicBezTo>
                      <a:pt x="164" y="110"/>
                      <a:pt x="157" y="113"/>
                      <a:pt x="147" y="115"/>
                    </a:cubicBezTo>
                    <a:cubicBezTo>
                      <a:pt x="16" y="156"/>
                      <a:pt x="16" y="156"/>
                      <a:pt x="16" y="156"/>
                    </a:cubicBezTo>
                    <a:cubicBezTo>
                      <a:pt x="15" y="149"/>
                      <a:pt x="15" y="149"/>
                      <a:pt x="15" y="149"/>
                    </a:cubicBezTo>
                    <a:cubicBezTo>
                      <a:pt x="150" y="38"/>
                      <a:pt x="150" y="38"/>
                      <a:pt x="150" y="38"/>
                    </a:cubicBezTo>
                    <a:cubicBezTo>
                      <a:pt x="57" y="66"/>
                      <a:pt x="57" y="66"/>
                      <a:pt x="57" y="66"/>
                    </a:cubicBezTo>
                    <a:cubicBezTo>
                      <a:pt x="47" y="70"/>
                      <a:pt x="39" y="73"/>
                      <a:pt x="33" y="75"/>
                    </a:cubicBezTo>
                    <a:cubicBezTo>
                      <a:pt x="28" y="78"/>
                      <a:pt x="24" y="80"/>
                      <a:pt x="22" y="82"/>
                    </a:cubicBezTo>
                    <a:cubicBezTo>
                      <a:pt x="21" y="84"/>
                      <a:pt x="19" y="87"/>
                      <a:pt x="18" y="91"/>
                    </a:cubicBezTo>
                    <a:cubicBezTo>
                      <a:pt x="17" y="95"/>
                      <a:pt x="17" y="98"/>
                      <a:pt x="17" y="99"/>
                    </a:cubicBezTo>
                    <a:cubicBezTo>
                      <a:pt x="8" y="102"/>
                      <a:pt x="8" y="102"/>
                      <a:pt x="8" y="102"/>
                    </a:cubicBezTo>
                    <a:cubicBezTo>
                      <a:pt x="0" y="57"/>
                      <a:pt x="0" y="57"/>
                      <a:pt x="0" y="57"/>
                    </a:cubicBezTo>
                    <a:cubicBezTo>
                      <a:pt x="9" y="55"/>
                      <a:pt x="9" y="55"/>
                      <a:pt x="9" y="55"/>
                    </a:cubicBezTo>
                    <a:cubicBezTo>
                      <a:pt x="9" y="56"/>
                      <a:pt x="11" y="58"/>
                      <a:pt x="13" y="61"/>
                    </a:cubicBezTo>
                    <a:cubicBezTo>
                      <a:pt x="15" y="64"/>
                      <a:pt x="16" y="65"/>
                      <a:pt x="18" y="66"/>
                    </a:cubicBezTo>
                    <a:cubicBezTo>
                      <a:pt x="21" y="67"/>
                      <a:pt x="24" y="67"/>
                      <a:pt x="29" y="66"/>
                    </a:cubicBezTo>
                    <a:cubicBezTo>
                      <a:pt x="34" y="65"/>
                      <a:pt x="43" y="63"/>
                      <a:pt x="54" y="59"/>
                    </a:cubicBezTo>
                    <a:cubicBezTo>
                      <a:pt x="143" y="32"/>
                      <a:pt x="143" y="32"/>
                      <a:pt x="143" y="32"/>
                    </a:cubicBezTo>
                    <a:cubicBezTo>
                      <a:pt x="147" y="31"/>
                      <a:pt x="151" y="29"/>
                      <a:pt x="154" y="27"/>
                    </a:cubicBezTo>
                    <a:cubicBezTo>
                      <a:pt x="158" y="25"/>
                      <a:pt x="161" y="23"/>
                      <a:pt x="163" y="21"/>
                    </a:cubicBezTo>
                    <a:cubicBezTo>
                      <a:pt x="165" y="18"/>
                      <a:pt x="167" y="15"/>
                      <a:pt x="169" y="11"/>
                    </a:cubicBezTo>
                    <a:cubicBezTo>
                      <a:pt x="170" y="8"/>
                      <a:pt x="171" y="5"/>
                      <a:pt x="170" y="3"/>
                    </a:cubicBezTo>
                    <a:cubicBezTo>
                      <a:pt x="179" y="0"/>
                      <a:pt x="179" y="0"/>
                      <a:pt x="179" y="0"/>
                    </a:cubicBezTo>
                    <a:cubicBezTo>
                      <a:pt x="185" y="31"/>
                      <a:pt x="185" y="31"/>
                      <a:pt x="185" y="31"/>
                    </a:cubicBezTo>
                    <a:cubicBezTo>
                      <a:pt x="59" y="135"/>
                      <a:pt x="59" y="135"/>
                      <a:pt x="59" y="135"/>
                    </a:cubicBezTo>
                    <a:cubicBezTo>
                      <a:pt x="144" y="108"/>
                      <a:pt x="144" y="108"/>
                      <a:pt x="144" y="108"/>
                    </a:cubicBezTo>
                    <a:cubicBezTo>
                      <a:pt x="155" y="105"/>
                      <a:pt x="163" y="102"/>
                      <a:pt x="168" y="100"/>
                    </a:cubicBezTo>
                    <a:cubicBezTo>
                      <a:pt x="174" y="97"/>
                      <a:pt x="177" y="95"/>
                      <a:pt x="179" y="93"/>
                    </a:cubicBezTo>
                    <a:cubicBezTo>
                      <a:pt x="180" y="91"/>
                      <a:pt x="181" y="88"/>
                      <a:pt x="182" y="84"/>
                    </a:cubicBezTo>
                    <a:cubicBezTo>
                      <a:pt x="183" y="80"/>
                      <a:pt x="184" y="78"/>
                      <a:pt x="184" y="76"/>
                    </a:cubicBezTo>
                    <a:cubicBezTo>
                      <a:pt x="193" y="73"/>
                      <a:pt x="193" y="73"/>
                      <a:pt x="193" y="73"/>
                    </a:cubicBezTo>
                    <a:cubicBezTo>
                      <a:pt x="201" y="118"/>
                      <a:pt x="201" y="118"/>
                      <a:pt x="201" y="118"/>
                    </a:cubicBezTo>
                    <a:lnTo>
                      <a:pt x="192" y="120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" name="ï$ļîďe"/>
              <p:cNvSpPr/>
              <p:nvPr/>
            </p:nvSpPr>
            <p:spPr bwMode="auto">
              <a:xfrm>
                <a:off x="2287588" y="3595688"/>
                <a:ext cx="146050" cy="122238"/>
              </a:xfrm>
              <a:custGeom>
                <a:avLst/>
                <a:gdLst>
                  <a:gd name="T0" fmla="*/ 91 w 186"/>
                  <a:gd name="T1" fmla="*/ 134 h 155"/>
                  <a:gd name="T2" fmla="*/ 88 w 186"/>
                  <a:gd name="T3" fmla="*/ 130 h 155"/>
                  <a:gd name="T4" fmla="*/ 84 w 186"/>
                  <a:gd name="T5" fmla="*/ 127 h 155"/>
                  <a:gd name="T6" fmla="*/ 78 w 186"/>
                  <a:gd name="T7" fmla="*/ 127 h 155"/>
                  <a:gd name="T8" fmla="*/ 70 w 186"/>
                  <a:gd name="T9" fmla="*/ 130 h 155"/>
                  <a:gd name="T10" fmla="*/ 57 w 186"/>
                  <a:gd name="T11" fmla="*/ 138 h 155"/>
                  <a:gd name="T12" fmla="*/ 38 w 186"/>
                  <a:gd name="T13" fmla="*/ 150 h 155"/>
                  <a:gd name="T14" fmla="*/ 30 w 186"/>
                  <a:gd name="T15" fmla="*/ 155 h 155"/>
                  <a:gd name="T16" fmla="*/ 12 w 186"/>
                  <a:gd name="T17" fmla="*/ 143 h 155"/>
                  <a:gd name="T18" fmla="*/ 2 w 186"/>
                  <a:gd name="T19" fmla="*/ 127 h 155"/>
                  <a:gd name="T20" fmla="*/ 1 w 186"/>
                  <a:gd name="T21" fmla="*/ 104 h 155"/>
                  <a:gd name="T22" fmla="*/ 13 w 186"/>
                  <a:gd name="T23" fmla="*/ 78 h 155"/>
                  <a:gd name="T24" fmla="*/ 36 w 186"/>
                  <a:gd name="T25" fmla="*/ 51 h 155"/>
                  <a:gd name="T26" fmla="*/ 71 w 186"/>
                  <a:gd name="T27" fmla="*/ 25 h 155"/>
                  <a:gd name="T28" fmla="*/ 108 w 186"/>
                  <a:gd name="T29" fmla="*/ 7 h 155"/>
                  <a:gd name="T30" fmla="*/ 140 w 186"/>
                  <a:gd name="T31" fmla="*/ 0 h 155"/>
                  <a:gd name="T32" fmla="*/ 164 w 186"/>
                  <a:gd name="T33" fmla="*/ 5 h 155"/>
                  <a:gd name="T34" fmla="*/ 178 w 186"/>
                  <a:gd name="T35" fmla="*/ 21 h 155"/>
                  <a:gd name="T36" fmla="*/ 180 w 186"/>
                  <a:gd name="T37" fmla="*/ 38 h 155"/>
                  <a:gd name="T38" fmla="*/ 175 w 186"/>
                  <a:gd name="T39" fmla="*/ 55 h 155"/>
                  <a:gd name="T40" fmla="*/ 184 w 186"/>
                  <a:gd name="T41" fmla="*/ 53 h 155"/>
                  <a:gd name="T42" fmla="*/ 186 w 186"/>
                  <a:gd name="T43" fmla="*/ 58 h 155"/>
                  <a:gd name="T44" fmla="*/ 128 w 186"/>
                  <a:gd name="T45" fmla="*/ 95 h 155"/>
                  <a:gd name="T46" fmla="*/ 126 w 186"/>
                  <a:gd name="T47" fmla="*/ 89 h 155"/>
                  <a:gd name="T48" fmla="*/ 144 w 186"/>
                  <a:gd name="T49" fmla="*/ 74 h 155"/>
                  <a:gd name="T50" fmla="*/ 159 w 186"/>
                  <a:gd name="T51" fmla="*/ 58 h 155"/>
                  <a:gd name="T52" fmla="*/ 167 w 186"/>
                  <a:gd name="T53" fmla="*/ 42 h 155"/>
                  <a:gd name="T54" fmla="*/ 167 w 186"/>
                  <a:gd name="T55" fmla="*/ 27 h 155"/>
                  <a:gd name="T56" fmla="*/ 158 w 186"/>
                  <a:gd name="T57" fmla="*/ 16 h 155"/>
                  <a:gd name="T58" fmla="*/ 139 w 186"/>
                  <a:gd name="T59" fmla="*/ 15 h 155"/>
                  <a:gd name="T60" fmla="*/ 112 w 186"/>
                  <a:gd name="T61" fmla="*/ 24 h 155"/>
                  <a:gd name="T62" fmla="*/ 78 w 186"/>
                  <a:gd name="T63" fmla="*/ 41 h 155"/>
                  <a:gd name="T64" fmla="*/ 49 w 186"/>
                  <a:gd name="T65" fmla="*/ 62 h 155"/>
                  <a:gd name="T66" fmla="*/ 27 w 186"/>
                  <a:gd name="T67" fmla="*/ 84 h 155"/>
                  <a:gd name="T68" fmla="*/ 14 w 186"/>
                  <a:gd name="T69" fmla="*/ 105 h 155"/>
                  <a:gd name="T70" fmla="*/ 14 w 186"/>
                  <a:gd name="T71" fmla="*/ 124 h 155"/>
                  <a:gd name="T72" fmla="*/ 21 w 186"/>
                  <a:gd name="T73" fmla="*/ 133 h 155"/>
                  <a:gd name="T74" fmla="*/ 30 w 186"/>
                  <a:gd name="T75" fmla="*/ 136 h 155"/>
                  <a:gd name="T76" fmla="*/ 43 w 186"/>
                  <a:gd name="T77" fmla="*/ 129 h 155"/>
                  <a:gd name="T78" fmla="*/ 54 w 186"/>
                  <a:gd name="T79" fmla="*/ 123 h 155"/>
                  <a:gd name="T80" fmla="*/ 63 w 186"/>
                  <a:gd name="T81" fmla="*/ 117 h 155"/>
                  <a:gd name="T82" fmla="*/ 71 w 186"/>
                  <a:gd name="T83" fmla="*/ 111 h 155"/>
                  <a:gd name="T84" fmla="*/ 76 w 186"/>
                  <a:gd name="T85" fmla="*/ 104 h 155"/>
                  <a:gd name="T86" fmla="*/ 76 w 186"/>
                  <a:gd name="T87" fmla="*/ 96 h 155"/>
                  <a:gd name="T88" fmla="*/ 75 w 186"/>
                  <a:gd name="T89" fmla="*/ 89 h 155"/>
                  <a:gd name="T90" fmla="*/ 84 w 186"/>
                  <a:gd name="T91" fmla="*/ 84 h 155"/>
                  <a:gd name="T92" fmla="*/ 99 w 186"/>
                  <a:gd name="T93" fmla="*/ 129 h 155"/>
                  <a:gd name="T94" fmla="*/ 91 w 186"/>
                  <a:gd name="T95" fmla="*/ 134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86" h="155">
                    <a:moveTo>
                      <a:pt x="91" y="134"/>
                    </a:moveTo>
                    <a:cubicBezTo>
                      <a:pt x="90" y="133"/>
                      <a:pt x="89" y="132"/>
                      <a:pt x="88" y="130"/>
                    </a:cubicBezTo>
                    <a:cubicBezTo>
                      <a:pt x="87" y="128"/>
                      <a:pt x="86" y="127"/>
                      <a:pt x="84" y="127"/>
                    </a:cubicBezTo>
                    <a:cubicBezTo>
                      <a:pt x="82" y="126"/>
                      <a:pt x="80" y="126"/>
                      <a:pt x="78" y="127"/>
                    </a:cubicBezTo>
                    <a:cubicBezTo>
                      <a:pt x="76" y="127"/>
                      <a:pt x="73" y="129"/>
                      <a:pt x="70" y="130"/>
                    </a:cubicBezTo>
                    <a:cubicBezTo>
                      <a:pt x="57" y="138"/>
                      <a:pt x="57" y="138"/>
                      <a:pt x="57" y="138"/>
                    </a:cubicBezTo>
                    <a:cubicBezTo>
                      <a:pt x="48" y="144"/>
                      <a:pt x="41" y="148"/>
                      <a:pt x="38" y="150"/>
                    </a:cubicBezTo>
                    <a:cubicBezTo>
                      <a:pt x="35" y="152"/>
                      <a:pt x="32" y="154"/>
                      <a:pt x="30" y="155"/>
                    </a:cubicBezTo>
                    <a:cubicBezTo>
                      <a:pt x="23" y="152"/>
                      <a:pt x="17" y="148"/>
                      <a:pt x="12" y="143"/>
                    </a:cubicBezTo>
                    <a:cubicBezTo>
                      <a:pt x="8" y="138"/>
                      <a:pt x="4" y="133"/>
                      <a:pt x="2" y="127"/>
                    </a:cubicBezTo>
                    <a:cubicBezTo>
                      <a:pt x="0" y="120"/>
                      <a:pt x="0" y="113"/>
                      <a:pt x="1" y="104"/>
                    </a:cubicBezTo>
                    <a:cubicBezTo>
                      <a:pt x="3" y="96"/>
                      <a:pt x="7" y="87"/>
                      <a:pt x="13" y="78"/>
                    </a:cubicBezTo>
                    <a:cubicBezTo>
                      <a:pt x="19" y="69"/>
                      <a:pt x="27" y="60"/>
                      <a:pt x="36" y="51"/>
                    </a:cubicBezTo>
                    <a:cubicBezTo>
                      <a:pt x="46" y="41"/>
                      <a:pt x="58" y="33"/>
                      <a:pt x="71" y="25"/>
                    </a:cubicBezTo>
                    <a:cubicBezTo>
                      <a:pt x="84" y="17"/>
                      <a:pt x="96" y="11"/>
                      <a:pt x="108" y="7"/>
                    </a:cubicBezTo>
                    <a:cubicBezTo>
                      <a:pt x="119" y="3"/>
                      <a:pt x="130" y="0"/>
                      <a:pt x="140" y="0"/>
                    </a:cubicBezTo>
                    <a:cubicBezTo>
                      <a:pt x="149" y="0"/>
                      <a:pt x="157" y="2"/>
                      <a:pt x="164" y="5"/>
                    </a:cubicBezTo>
                    <a:cubicBezTo>
                      <a:pt x="171" y="9"/>
                      <a:pt x="175" y="14"/>
                      <a:pt x="178" y="21"/>
                    </a:cubicBezTo>
                    <a:cubicBezTo>
                      <a:pt x="180" y="27"/>
                      <a:pt x="180" y="33"/>
                      <a:pt x="180" y="38"/>
                    </a:cubicBezTo>
                    <a:cubicBezTo>
                      <a:pt x="179" y="44"/>
                      <a:pt x="177" y="49"/>
                      <a:pt x="175" y="55"/>
                    </a:cubicBezTo>
                    <a:cubicBezTo>
                      <a:pt x="184" y="53"/>
                      <a:pt x="184" y="53"/>
                      <a:pt x="184" y="53"/>
                    </a:cubicBezTo>
                    <a:cubicBezTo>
                      <a:pt x="186" y="58"/>
                      <a:pt x="186" y="58"/>
                      <a:pt x="186" y="58"/>
                    </a:cubicBezTo>
                    <a:cubicBezTo>
                      <a:pt x="128" y="95"/>
                      <a:pt x="128" y="95"/>
                      <a:pt x="128" y="95"/>
                    </a:cubicBezTo>
                    <a:cubicBezTo>
                      <a:pt x="126" y="89"/>
                      <a:pt x="126" y="89"/>
                      <a:pt x="126" y="89"/>
                    </a:cubicBezTo>
                    <a:cubicBezTo>
                      <a:pt x="132" y="84"/>
                      <a:pt x="138" y="79"/>
                      <a:pt x="144" y="74"/>
                    </a:cubicBezTo>
                    <a:cubicBezTo>
                      <a:pt x="149" y="68"/>
                      <a:pt x="154" y="63"/>
                      <a:pt x="159" y="58"/>
                    </a:cubicBezTo>
                    <a:cubicBezTo>
                      <a:pt x="163" y="52"/>
                      <a:pt x="166" y="47"/>
                      <a:pt x="167" y="42"/>
                    </a:cubicBezTo>
                    <a:cubicBezTo>
                      <a:pt x="169" y="37"/>
                      <a:pt x="169" y="32"/>
                      <a:pt x="167" y="27"/>
                    </a:cubicBezTo>
                    <a:cubicBezTo>
                      <a:pt x="166" y="22"/>
                      <a:pt x="162" y="18"/>
                      <a:pt x="158" y="16"/>
                    </a:cubicBezTo>
                    <a:cubicBezTo>
                      <a:pt x="153" y="15"/>
                      <a:pt x="146" y="14"/>
                      <a:pt x="139" y="15"/>
                    </a:cubicBezTo>
                    <a:cubicBezTo>
                      <a:pt x="131" y="16"/>
                      <a:pt x="122" y="19"/>
                      <a:pt x="112" y="24"/>
                    </a:cubicBezTo>
                    <a:cubicBezTo>
                      <a:pt x="101" y="28"/>
                      <a:pt x="90" y="34"/>
                      <a:pt x="78" y="41"/>
                    </a:cubicBezTo>
                    <a:cubicBezTo>
                      <a:pt x="68" y="48"/>
                      <a:pt x="58" y="55"/>
                      <a:pt x="49" y="62"/>
                    </a:cubicBezTo>
                    <a:cubicBezTo>
                      <a:pt x="40" y="69"/>
                      <a:pt x="33" y="76"/>
                      <a:pt x="27" y="84"/>
                    </a:cubicBezTo>
                    <a:cubicBezTo>
                      <a:pt x="21" y="91"/>
                      <a:pt x="17" y="98"/>
                      <a:pt x="14" y="105"/>
                    </a:cubicBezTo>
                    <a:cubicBezTo>
                      <a:pt x="12" y="112"/>
                      <a:pt x="12" y="118"/>
                      <a:pt x="14" y="124"/>
                    </a:cubicBezTo>
                    <a:cubicBezTo>
                      <a:pt x="15" y="128"/>
                      <a:pt x="18" y="131"/>
                      <a:pt x="21" y="133"/>
                    </a:cubicBezTo>
                    <a:cubicBezTo>
                      <a:pt x="24" y="135"/>
                      <a:pt x="28" y="136"/>
                      <a:pt x="30" y="136"/>
                    </a:cubicBezTo>
                    <a:cubicBezTo>
                      <a:pt x="35" y="134"/>
                      <a:pt x="39" y="132"/>
                      <a:pt x="43" y="129"/>
                    </a:cubicBezTo>
                    <a:cubicBezTo>
                      <a:pt x="47" y="127"/>
                      <a:pt x="51" y="125"/>
                      <a:pt x="54" y="123"/>
                    </a:cubicBezTo>
                    <a:cubicBezTo>
                      <a:pt x="63" y="117"/>
                      <a:pt x="63" y="117"/>
                      <a:pt x="63" y="117"/>
                    </a:cubicBezTo>
                    <a:cubicBezTo>
                      <a:pt x="66" y="115"/>
                      <a:pt x="69" y="113"/>
                      <a:pt x="71" y="111"/>
                    </a:cubicBezTo>
                    <a:cubicBezTo>
                      <a:pt x="74" y="109"/>
                      <a:pt x="75" y="107"/>
                      <a:pt x="76" y="104"/>
                    </a:cubicBezTo>
                    <a:cubicBezTo>
                      <a:pt x="76" y="102"/>
                      <a:pt x="76" y="99"/>
                      <a:pt x="76" y="96"/>
                    </a:cubicBezTo>
                    <a:cubicBezTo>
                      <a:pt x="76" y="93"/>
                      <a:pt x="75" y="91"/>
                      <a:pt x="75" y="89"/>
                    </a:cubicBezTo>
                    <a:cubicBezTo>
                      <a:pt x="84" y="84"/>
                      <a:pt x="84" y="84"/>
                      <a:pt x="84" y="84"/>
                    </a:cubicBezTo>
                    <a:cubicBezTo>
                      <a:pt x="99" y="129"/>
                      <a:pt x="99" y="129"/>
                      <a:pt x="99" y="129"/>
                    </a:cubicBezTo>
                    <a:lnTo>
                      <a:pt x="91" y="134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" name="ïs1îḓè"/>
              <p:cNvSpPr/>
              <p:nvPr/>
            </p:nvSpPr>
            <p:spPr bwMode="auto">
              <a:xfrm>
                <a:off x="2362201" y="3686176"/>
                <a:ext cx="141288" cy="166688"/>
              </a:xfrm>
              <a:custGeom>
                <a:avLst/>
                <a:gdLst>
                  <a:gd name="T0" fmla="*/ 173 w 180"/>
                  <a:gd name="T1" fmla="*/ 97 h 212"/>
                  <a:gd name="T2" fmla="*/ 169 w 180"/>
                  <a:gd name="T3" fmla="*/ 93 h 212"/>
                  <a:gd name="T4" fmla="*/ 162 w 180"/>
                  <a:gd name="T5" fmla="*/ 91 h 212"/>
                  <a:gd name="T6" fmla="*/ 151 w 180"/>
                  <a:gd name="T7" fmla="*/ 99 h 212"/>
                  <a:gd name="T8" fmla="*/ 132 w 180"/>
                  <a:gd name="T9" fmla="*/ 117 h 212"/>
                  <a:gd name="T10" fmla="*/ 71 w 180"/>
                  <a:gd name="T11" fmla="*/ 185 h 212"/>
                  <a:gd name="T12" fmla="*/ 48 w 180"/>
                  <a:gd name="T13" fmla="*/ 204 h 212"/>
                  <a:gd name="T14" fmla="*/ 29 w 180"/>
                  <a:gd name="T15" fmla="*/ 212 h 212"/>
                  <a:gd name="T16" fmla="*/ 15 w 180"/>
                  <a:gd name="T17" fmla="*/ 210 h 212"/>
                  <a:gd name="T18" fmla="*/ 6 w 180"/>
                  <a:gd name="T19" fmla="*/ 202 h 212"/>
                  <a:gd name="T20" fmla="*/ 1 w 180"/>
                  <a:gd name="T21" fmla="*/ 185 h 212"/>
                  <a:gd name="T22" fmla="*/ 3 w 180"/>
                  <a:gd name="T23" fmla="*/ 165 h 212"/>
                  <a:gd name="T24" fmla="*/ 12 w 180"/>
                  <a:gd name="T25" fmla="*/ 144 h 212"/>
                  <a:gd name="T26" fmla="*/ 27 w 180"/>
                  <a:gd name="T27" fmla="*/ 125 h 212"/>
                  <a:gd name="T28" fmla="*/ 111 w 180"/>
                  <a:gd name="T29" fmla="*/ 34 h 212"/>
                  <a:gd name="T30" fmla="*/ 116 w 180"/>
                  <a:gd name="T31" fmla="*/ 27 h 212"/>
                  <a:gd name="T32" fmla="*/ 119 w 180"/>
                  <a:gd name="T33" fmla="*/ 19 h 212"/>
                  <a:gd name="T34" fmla="*/ 119 w 180"/>
                  <a:gd name="T35" fmla="*/ 13 h 212"/>
                  <a:gd name="T36" fmla="*/ 117 w 180"/>
                  <a:gd name="T37" fmla="*/ 8 h 212"/>
                  <a:gd name="T38" fmla="*/ 124 w 180"/>
                  <a:gd name="T39" fmla="*/ 0 h 212"/>
                  <a:gd name="T40" fmla="*/ 147 w 180"/>
                  <a:gd name="T41" fmla="*/ 36 h 212"/>
                  <a:gd name="T42" fmla="*/ 140 w 180"/>
                  <a:gd name="T43" fmla="*/ 44 h 212"/>
                  <a:gd name="T44" fmla="*/ 136 w 180"/>
                  <a:gd name="T45" fmla="*/ 41 h 212"/>
                  <a:gd name="T46" fmla="*/ 132 w 180"/>
                  <a:gd name="T47" fmla="*/ 38 h 212"/>
                  <a:gd name="T48" fmla="*/ 127 w 180"/>
                  <a:gd name="T49" fmla="*/ 40 h 212"/>
                  <a:gd name="T50" fmla="*/ 120 w 180"/>
                  <a:gd name="T51" fmla="*/ 46 h 212"/>
                  <a:gd name="T52" fmla="*/ 41 w 180"/>
                  <a:gd name="T53" fmla="*/ 131 h 212"/>
                  <a:gd name="T54" fmla="*/ 30 w 180"/>
                  <a:gd name="T55" fmla="*/ 145 h 212"/>
                  <a:gd name="T56" fmla="*/ 20 w 180"/>
                  <a:gd name="T57" fmla="*/ 161 h 212"/>
                  <a:gd name="T58" fmla="*/ 15 w 180"/>
                  <a:gd name="T59" fmla="*/ 177 h 212"/>
                  <a:gd name="T60" fmla="*/ 19 w 180"/>
                  <a:gd name="T61" fmla="*/ 192 h 212"/>
                  <a:gd name="T62" fmla="*/ 29 w 180"/>
                  <a:gd name="T63" fmla="*/ 200 h 212"/>
                  <a:gd name="T64" fmla="*/ 43 w 180"/>
                  <a:gd name="T65" fmla="*/ 197 h 212"/>
                  <a:gd name="T66" fmla="*/ 56 w 180"/>
                  <a:gd name="T67" fmla="*/ 188 h 212"/>
                  <a:gd name="T68" fmla="*/ 69 w 180"/>
                  <a:gd name="T69" fmla="*/ 176 h 212"/>
                  <a:gd name="T70" fmla="*/ 127 w 180"/>
                  <a:gd name="T71" fmla="*/ 113 h 212"/>
                  <a:gd name="T72" fmla="*/ 145 w 180"/>
                  <a:gd name="T73" fmla="*/ 92 h 212"/>
                  <a:gd name="T74" fmla="*/ 152 w 180"/>
                  <a:gd name="T75" fmla="*/ 79 h 212"/>
                  <a:gd name="T76" fmla="*/ 153 w 180"/>
                  <a:gd name="T77" fmla="*/ 69 h 212"/>
                  <a:gd name="T78" fmla="*/ 151 w 180"/>
                  <a:gd name="T79" fmla="*/ 62 h 212"/>
                  <a:gd name="T80" fmla="*/ 158 w 180"/>
                  <a:gd name="T81" fmla="*/ 54 h 212"/>
                  <a:gd name="T82" fmla="*/ 180 w 180"/>
                  <a:gd name="T83" fmla="*/ 89 h 212"/>
                  <a:gd name="T84" fmla="*/ 173 w 180"/>
                  <a:gd name="T85" fmla="*/ 97 h 2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80" h="212">
                    <a:moveTo>
                      <a:pt x="173" y="97"/>
                    </a:moveTo>
                    <a:cubicBezTo>
                      <a:pt x="172" y="96"/>
                      <a:pt x="171" y="95"/>
                      <a:pt x="169" y="93"/>
                    </a:cubicBezTo>
                    <a:cubicBezTo>
                      <a:pt x="167" y="92"/>
                      <a:pt x="164" y="91"/>
                      <a:pt x="162" y="91"/>
                    </a:cubicBezTo>
                    <a:cubicBezTo>
                      <a:pt x="160" y="92"/>
                      <a:pt x="156" y="94"/>
                      <a:pt x="151" y="99"/>
                    </a:cubicBezTo>
                    <a:cubicBezTo>
                      <a:pt x="145" y="104"/>
                      <a:pt x="139" y="110"/>
                      <a:pt x="132" y="117"/>
                    </a:cubicBezTo>
                    <a:cubicBezTo>
                      <a:pt x="71" y="185"/>
                      <a:pt x="71" y="185"/>
                      <a:pt x="71" y="185"/>
                    </a:cubicBezTo>
                    <a:cubicBezTo>
                      <a:pt x="63" y="193"/>
                      <a:pt x="55" y="200"/>
                      <a:pt x="48" y="204"/>
                    </a:cubicBezTo>
                    <a:cubicBezTo>
                      <a:pt x="41" y="208"/>
                      <a:pt x="35" y="211"/>
                      <a:pt x="29" y="212"/>
                    </a:cubicBezTo>
                    <a:cubicBezTo>
                      <a:pt x="23" y="212"/>
                      <a:pt x="18" y="212"/>
                      <a:pt x="15" y="210"/>
                    </a:cubicBezTo>
                    <a:cubicBezTo>
                      <a:pt x="11" y="208"/>
                      <a:pt x="8" y="206"/>
                      <a:pt x="6" y="202"/>
                    </a:cubicBezTo>
                    <a:cubicBezTo>
                      <a:pt x="3" y="197"/>
                      <a:pt x="1" y="191"/>
                      <a:pt x="1" y="185"/>
                    </a:cubicBezTo>
                    <a:cubicBezTo>
                      <a:pt x="0" y="178"/>
                      <a:pt x="1" y="172"/>
                      <a:pt x="3" y="165"/>
                    </a:cubicBezTo>
                    <a:cubicBezTo>
                      <a:pt x="5" y="158"/>
                      <a:pt x="8" y="151"/>
                      <a:pt x="12" y="144"/>
                    </a:cubicBezTo>
                    <a:cubicBezTo>
                      <a:pt x="16" y="138"/>
                      <a:pt x="21" y="131"/>
                      <a:pt x="27" y="125"/>
                    </a:cubicBezTo>
                    <a:cubicBezTo>
                      <a:pt x="111" y="34"/>
                      <a:pt x="111" y="34"/>
                      <a:pt x="111" y="34"/>
                    </a:cubicBezTo>
                    <a:cubicBezTo>
                      <a:pt x="113" y="31"/>
                      <a:pt x="115" y="29"/>
                      <a:pt x="116" y="27"/>
                    </a:cubicBezTo>
                    <a:cubicBezTo>
                      <a:pt x="117" y="25"/>
                      <a:pt x="118" y="22"/>
                      <a:pt x="119" y="19"/>
                    </a:cubicBezTo>
                    <a:cubicBezTo>
                      <a:pt x="119" y="17"/>
                      <a:pt x="119" y="15"/>
                      <a:pt x="119" y="13"/>
                    </a:cubicBezTo>
                    <a:cubicBezTo>
                      <a:pt x="118" y="11"/>
                      <a:pt x="118" y="9"/>
                      <a:pt x="117" y="8"/>
                    </a:cubicBezTo>
                    <a:cubicBezTo>
                      <a:pt x="124" y="0"/>
                      <a:pt x="124" y="0"/>
                      <a:pt x="124" y="0"/>
                    </a:cubicBezTo>
                    <a:cubicBezTo>
                      <a:pt x="147" y="36"/>
                      <a:pt x="147" y="36"/>
                      <a:pt x="147" y="36"/>
                    </a:cubicBezTo>
                    <a:cubicBezTo>
                      <a:pt x="140" y="44"/>
                      <a:pt x="140" y="44"/>
                      <a:pt x="140" y="44"/>
                    </a:cubicBezTo>
                    <a:cubicBezTo>
                      <a:pt x="139" y="43"/>
                      <a:pt x="138" y="42"/>
                      <a:pt x="136" y="41"/>
                    </a:cubicBezTo>
                    <a:cubicBezTo>
                      <a:pt x="135" y="40"/>
                      <a:pt x="133" y="39"/>
                      <a:pt x="132" y="38"/>
                    </a:cubicBezTo>
                    <a:cubicBezTo>
                      <a:pt x="131" y="38"/>
                      <a:pt x="129" y="39"/>
                      <a:pt x="127" y="40"/>
                    </a:cubicBezTo>
                    <a:cubicBezTo>
                      <a:pt x="124" y="42"/>
                      <a:pt x="122" y="44"/>
                      <a:pt x="120" y="46"/>
                    </a:cubicBezTo>
                    <a:cubicBezTo>
                      <a:pt x="41" y="131"/>
                      <a:pt x="41" y="131"/>
                      <a:pt x="41" y="131"/>
                    </a:cubicBezTo>
                    <a:cubicBezTo>
                      <a:pt x="37" y="136"/>
                      <a:pt x="34" y="140"/>
                      <a:pt x="30" y="145"/>
                    </a:cubicBezTo>
                    <a:cubicBezTo>
                      <a:pt x="26" y="150"/>
                      <a:pt x="23" y="156"/>
                      <a:pt x="20" y="161"/>
                    </a:cubicBezTo>
                    <a:cubicBezTo>
                      <a:pt x="17" y="167"/>
                      <a:pt x="16" y="172"/>
                      <a:pt x="15" y="177"/>
                    </a:cubicBezTo>
                    <a:cubicBezTo>
                      <a:pt x="14" y="183"/>
                      <a:pt x="16" y="187"/>
                      <a:pt x="19" y="192"/>
                    </a:cubicBezTo>
                    <a:cubicBezTo>
                      <a:pt x="21" y="197"/>
                      <a:pt x="25" y="199"/>
                      <a:pt x="29" y="200"/>
                    </a:cubicBezTo>
                    <a:cubicBezTo>
                      <a:pt x="33" y="200"/>
                      <a:pt x="38" y="199"/>
                      <a:pt x="43" y="197"/>
                    </a:cubicBezTo>
                    <a:cubicBezTo>
                      <a:pt x="47" y="195"/>
                      <a:pt x="52" y="192"/>
                      <a:pt x="56" y="188"/>
                    </a:cubicBezTo>
                    <a:cubicBezTo>
                      <a:pt x="61" y="184"/>
                      <a:pt x="65" y="180"/>
                      <a:pt x="69" y="176"/>
                    </a:cubicBezTo>
                    <a:cubicBezTo>
                      <a:pt x="127" y="113"/>
                      <a:pt x="127" y="113"/>
                      <a:pt x="127" y="113"/>
                    </a:cubicBezTo>
                    <a:cubicBezTo>
                      <a:pt x="135" y="105"/>
                      <a:pt x="141" y="98"/>
                      <a:pt x="145" y="92"/>
                    </a:cubicBezTo>
                    <a:cubicBezTo>
                      <a:pt x="149" y="86"/>
                      <a:pt x="152" y="82"/>
                      <a:pt x="152" y="79"/>
                    </a:cubicBezTo>
                    <a:cubicBezTo>
                      <a:pt x="153" y="76"/>
                      <a:pt x="153" y="72"/>
                      <a:pt x="153" y="69"/>
                    </a:cubicBezTo>
                    <a:cubicBezTo>
                      <a:pt x="152" y="65"/>
                      <a:pt x="152" y="63"/>
                      <a:pt x="151" y="62"/>
                    </a:cubicBezTo>
                    <a:cubicBezTo>
                      <a:pt x="158" y="54"/>
                      <a:pt x="158" y="54"/>
                      <a:pt x="158" y="54"/>
                    </a:cubicBezTo>
                    <a:cubicBezTo>
                      <a:pt x="180" y="89"/>
                      <a:pt x="180" y="89"/>
                      <a:pt x="180" y="89"/>
                    </a:cubicBezTo>
                    <a:lnTo>
                      <a:pt x="173" y="97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" name="iṣľíďê"/>
              <p:cNvSpPr/>
              <p:nvPr/>
            </p:nvSpPr>
            <p:spPr bwMode="auto">
              <a:xfrm>
                <a:off x="2403476" y="3760788"/>
                <a:ext cx="155575" cy="190500"/>
              </a:xfrm>
              <a:custGeom>
                <a:avLst/>
                <a:gdLst>
                  <a:gd name="T0" fmla="*/ 190 w 197"/>
                  <a:gd name="T1" fmla="*/ 97 h 243"/>
                  <a:gd name="T2" fmla="*/ 185 w 197"/>
                  <a:gd name="T3" fmla="*/ 94 h 243"/>
                  <a:gd name="T4" fmla="*/ 179 w 197"/>
                  <a:gd name="T5" fmla="*/ 93 h 243"/>
                  <a:gd name="T6" fmla="*/ 168 w 197"/>
                  <a:gd name="T7" fmla="*/ 101 h 243"/>
                  <a:gd name="T8" fmla="*/ 150 w 197"/>
                  <a:gd name="T9" fmla="*/ 121 h 243"/>
                  <a:gd name="T10" fmla="*/ 51 w 197"/>
                  <a:gd name="T11" fmla="*/ 243 h 243"/>
                  <a:gd name="T12" fmla="*/ 48 w 197"/>
                  <a:gd name="T13" fmla="*/ 238 h 243"/>
                  <a:gd name="T14" fmla="*/ 123 w 197"/>
                  <a:gd name="T15" fmla="*/ 52 h 243"/>
                  <a:gd name="T16" fmla="*/ 53 w 197"/>
                  <a:gd name="T17" fmla="*/ 138 h 243"/>
                  <a:gd name="T18" fmla="*/ 36 w 197"/>
                  <a:gd name="T19" fmla="*/ 161 h 243"/>
                  <a:gd name="T20" fmla="*/ 29 w 197"/>
                  <a:gd name="T21" fmla="*/ 175 h 243"/>
                  <a:gd name="T22" fmla="*/ 29 w 197"/>
                  <a:gd name="T23" fmla="*/ 185 h 243"/>
                  <a:gd name="T24" fmla="*/ 31 w 197"/>
                  <a:gd name="T25" fmla="*/ 193 h 243"/>
                  <a:gd name="T26" fmla="*/ 24 w 197"/>
                  <a:gd name="T27" fmla="*/ 201 h 243"/>
                  <a:gd name="T28" fmla="*/ 0 w 197"/>
                  <a:gd name="T29" fmla="*/ 168 h 243"/>
                  <a:gd name="T30" fmla="*/ 7 w 197"/>
                  <a:gd name="T31" fmla="*/ 159 h 243"/>
                  <a:gd name="T32" fmla="*/ 12 w 197"/>
                  <a:gd name="T33" fmla="*/ 162 h 243"/>
                  <a:gd name="T34" fmla="*/ 19 w 197"/>
                  <a:gd name="T35" fmla="*/ 163 h 243"/>
                  <a:gd name="T36" fmla="*/ 29 w 197"/>
                  <a:gd name="T37" fmla="*/ 156 h 243"/>
                  <a:gd name="T38" fmla="*/ 48 w 197"/>
                  <a:gd name="T39" fmla="*/ 134 h 243"/>
                  <a:gd name="T40" fmla="*/ 114 w 197"/>
                  <a:gd name="T41" fmla="*/ 52 h 243"/>
                  <a:gd name="T42" fmla="*/ 123 w 197"/>
                  <a:gd name="T43" fmla="*/ 40 h 243"/>
                  <a:gd name="T44" fmla="*/ 128 w 197"/>
                  <a:gd name="T45" fmla="*/ 29 h 243"/>
                  <a:gd name="T46" fmla="*/ 129 w 197"/>
                  <a:gd name="T47" fmla="*/ 17 h 243"/>
                  <a:gd name="T48" fmla="*/ 127 w 197"/>
                  <a:gd name="T49" fmla="*/ 8 h 243"/>
                  <a:gd name="T50" fmla="*/ 134 w 197"/>
                  <a:gd name="T51" fmla="*/ 0 h 243"/>
                  <a:gd name="T52" fmla="*/ 151 w 197"/>
                  <a:gd name="T53" fmla="*/ 24 h 243"/>
                  <a:gd name="T54" fmla="*/ 81 w 197"/>
                  <a:gd name="T55" fmla="*/ 196 h 243"/>
                  <a:gd name="T56" fmla="*/ 145 w 197"/>
                  <a:gd name="T57" fmla="*/ 117 h 243"/>
                  <a:gd name="T58" fmla="*/ 162 w 197"/>
                  <a:gd name="T59" fmla="*/ 94 h 243"/>
                  <a:gd name="T60" fmla="*/ 169 w 197"/>
                  <a:gd name="T61" fmla="*/ 81 h 243"/>
                  <a:gd name="T62" fmla="*/ 168 w 197"/>
                  <a:gd name="T63" fmla="*/ 71 h 243"/>
                  <a:gd name="T64" fmla="*/ 166 w 197"/>
                  <a:gd name="T65" fmla="*/ 63 h 243"/>
                  <a:gd name="T66" fmla="*/ 173 w 197"/>
                  <a:gd name="T67" fmla="*/ 55 h 243"/>
                  <a:gd name="T68" fmla="*/ 197 w 197"/>
                  <a:gd name="T69" fmla="*/ 88 h 243"/>
                  <a:gd name="T70" fmla="*/ 190 w 197"/>
                  <a:gd name="T71" fmla="*/ 97 h 2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97" h="243">
                    <a:moveTo>
                      <a:pt x="190" y="97"/>
                    </a:moveTo>
                    <a:cubicBezTo>
                      <a:pt x="189" y="96"/>
                      <a:pt x="188" y="95"/>
                      <a:pt x="185" y="94"/>
                    </a:cubicBezTo>
                    <a:cubicBezTo>
                      <a:pt x="182" y="93"/>
                      <a:pt x="180" y="92"/>
                      <a:pt x="179" y="93"/>
                    </a:cubicBezTo>
                    <a:cubicBezTo>
                      <a:pt x="176" y="93"/>
                      <a:pt x="172" y="96"/>
                      <a:pt x="168" y="101"/>
                    </a:cubicBezTo>
                    <a:cubicBezTo>
                      <a:pt x="163" y="106"/>
                      <a:pt x="157" y="113"/>
                      <a:pt x="150" y="121"/>
                    </a:cubicBezTo>
                    <a:cubicBezTo>
                      <a:pt x="51" y="243"/>
                      <a:pt x="51" y="243"/>
                      <a:pt x="51" y="243"/>
                    </a:cubicBezTo>
                    <a:cubicBezTo>
                      <a:pt x="48" y="238"/>
                      <a:pt x="48" y="238"/>
                      <a:pt x="48" y="238"/>
                    </a:cubicBezTo>
                    <a:cubicBezTo>
                      <a:pt x="123" y="52"/>
                      <a:pt x="123" y="52"/>
                      <a:pt x="123" y="52"/>
                    </a:cubicBezTo>
                    <a:cubicBezTo>
                      <a:pt x="53" y="138"/>
                      <a:pt x="53" y="138"/>
                      <a:pt x="53" y="138"/>
                    </a:cubicBezTo>
                    <a:cubicBezTo>
                      <a:pt x="45" y="148"/>
                      <a:pt x="40" y="155"/>
                      <a:pt x="36" y="161"/>
                    </a:cubicBezTo>
                    <a:cubicBezTo>
                      <a:pt x="32" y="167"/>
                      <a:pt x="30" y="171"/>
                      <a:pt x="29" y="175"/>
                    </a:cubicBezTo>
                    <a:cubicBezTo>
                      <a:pt x="28" y="177"/>
                      <a:pt x="28" y="181"/>
                      <a:pt x="29" y="185"/>
                    </a:cubicBezTo>
                    <a:cubicBezTo>
                      <a:pt x="30" y="189"/>
                      <a:pt x="30" y="192"/>
                      <a:pt x="31" y="193"/>
                    </a:cubicBezTo>
                    <a:cubicBezTo>
                      <a:pt x="24" y="201"/>
                      <a:pt x="24" y="201"/>
                      <a:pt x="24" y="201"/>
                    </a:cubicBezTo>
                    <a:cubicBezTo>
                      <a:pt x="0" y="168"/>
                      <a:pt x="0" y="168"/>
                      <a:pt x="0" y="168"/>
                    </a:cubicBezTo>
                    <a:cubicBezTo>
                      <a:pt x="7" y="159"/>
                      <a:pt x="7" y="159"/>
                      <a:pt x="7" y="159"/>
                    </a:cubicBezTo>
                    <a:cubicBezTo>
                      <a:pt x="8" y="160"/>
                      <a:pt x="10" y="161"/>
                      <a:pt x="12" y="162"/>
                    </a:cubicBezTo>
                    <a:cubicBezTo>
                      <a:pt x="15" y="163"/>
                      <a:pt x="17" y="164"/>
                      <a:pt x="19" y="163"/>
                    </a:cubicBezTo>
                    <a:cubicBezTo>
                      <a:pt x="21" y="162"/>
                      <a:pt x="25" y="160"/>
                      <a:pt x="29" y="156"/>
                    </a:cubicBezTo>
                    <a:cubicBezTo>
                      <a:pt x="33" y="152"/>
                      <a:pt x="39" y="145"/>
                      <a:pt x="48" y="134"/>
                    </a:cubicBezTo>
                    <a:cubicBezTo>
                      <a:pt x="114" y="52"/>
                      <a:pt x="114" y="52"/>
                      <a:pt x="114" y="52"/>
                    </a:cubicBezTo>
                    <a:cubicBezTo>
                      <a:pt x="117" y="48"/>
                      <a:pt x="120" y="44"/>
                      <a:pt x="123" y="40"/>
                    </a:cubicBezTo>
                    <a:cubicBezTo>
                      <a:pt x="125" y="36"/>
                      <a:pt x="127" y="32"/>
                      <a:pt x="128" y="29"/>
                    </a:cubicBezTo>
                    <a:cubicBezTo>
                      <a:pt x="129" y="25"/>
                      <a:pt x="129" y="21"/>
                      <a:pt x="129" y="17"/>
                    </a:cubicBezTo>
                    <a:cubicBezTo>
                      <a:pt x="129" y="13"/>
                      <a:pt x="128" y="10"/>
                      <a:pt x="127" y="8"/>
                    </a:cubicBezTo>
                    <a:cubicBezTo>
                      <a:pt x="134" y="0"/>
                      <a:pt x="134" y="0"/>
                      <a:pt x="134" y="0"/>
                    </a:cubicBezTo>
                    <a:cubicBezTo>
                      <a:pt x="151" y="24"/>
                      <a:pt x="151" y="24"/>
                      <a:pt x="151" y="24"/>
                    </a:cubicBezTo>
                    <a:cubicBezTo>
                      <a:pt x="81" y="196"/>
                      <a:pt x="81" y="196"/>
                      <a:pt x="81" y="196"/>
                    </a:cubicBezTo>
                    <a:cubicBezTo>
                      <a:pt x="145" y="117"/>
                      <a:pt x="145" y="117"/>
                      <a:pt x="145" y="117"/>
                    </a:cubicBezTo>
                    <a:cubicBezTo>
                      <a:pt x="153" y="108"/>
                      <a:pt x="158" y="100"/>
                      <a:pt x="162" y="94"/>
                    </a:cubicBezTo>
                    <a:cubicBezTo>
                      <a:pt x="166" y="88"/>
                      <a:pt x="168" y="84"/>
                      <a:pt x="169" y="81"/>
                    </a:cubicBezTo>
                    <a:cubicBezTo>
                      <a:pt x="169" y="78"/>
                      <a:pt x="169" y="75"/>
                      <a:pt x="168" y="71"/>
                    </a:cubicBezTo>
                    <a:cubicBezTo>
                      <a:pt x="168" y="68"/>
                      <a:pt x="167" y="65"/>
                      <a:pt x="166" y="63"/>
                    </a:cubicBezTo>
                    <a:cubicBezTo>
                      <a:pt x="173" y="55"/>
                      <a:pt x="173" y="55"/>
                      <a:pt x="173" y="55"/>
                    </a:cubicBezTo>
                    <a:cubicBezTo>
                      <a:pt x="197" y="88"/>
                      <a:pt x="197" y="88"/>
                      <a:pt x="197" y="88"/>
                    </a:cubicBezTo>
                    <a:lnTo>
                      <a:pt x="190" y="97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" name="iŝḷíde"/>
              <p:cNvSpPr/>
              <p:nvPr/>
            </p:nvSpPr>
            <p:spPr bwMode="auto">
              <a:xfrm>
                <a:off x="2476501" y="3825876"/>
                <a:ext cx="107950" cy="179388"/>
              </a:xfrm>
              <a:custGeom>
                <a:avLst/>
                <a:gdLst>
                  <a:gd name="T0" fmla="*/ 31 w 137"/>
                  <a:gd name="T1" fmla="*/ 228 h 228"/>
                  <a:gd name="T2" fmla="*/ 0 w 137"/>
                  <a:gd name="T3" fmla="*/ 199 h 228"/>
                  <a:gd name="T4" fmla="*/ 5 w 137"/>
                  <a:gd name="T5" fmla="*/ 189 h 228"/>
                  <a:gd name="T6" fmla="*/ 9 w 137"/>
                  <a:gd name="T7" fmla="*/ 191 h 228"/>
                  <a:gd name="T8" fmla="*/ 14 w 137"/>
                  <a:gd name="T9" fmla="*/ 193 h 228"/>
                  <a:gd name="T10" fmla="*/ 19 w 137"/>
                  <a:gd name="T11" fmla="*/ 190 h 228"/>
                  <a:gd name="T12" fmla="*/ 24 w 137"/>
                  <a:gd name="T13" fmla="*/ 182 h 228"/>
                  <a:gd name="T14" fmla="*/ 101 w 137"/>
                  <a:gd name="T15" fmla="*/ 38 h 228"/>
                  <a:gd name="T16" fmla="*/ 105 w 137"/>
                  <a:gd name="T17" fmla="*/ 30 h 228"/>
                  <a:gd name="T18" fmla="*/ 105 w 137"/>
                  <a:gd name="T19" fmla="*/ 22 h 228"/>
                  <a:gd name="T20" fmla="*/ 103 w 137"/>
                  <a:gd name="T21" fmla="*/ 15 h 228"/>
                  <a:gd name="T22" fmla="*/ 101 w 137"/>
                  <a:gd name="T23" fmla="*/ 10 h 228"/>
                  <a:gd name="T24" fmla="*/ 106 w 137"/>
                  <a:gd name="T25" fmla="*/ 0 h 228"/>
                  <a:gd name="T26" fmla="*/ 137 w 137"/>
                  <a:gd name="T27" fmla="*/ 29 h 228"/>
                  <a:gd name="T28" fmla="*/ 132 w 137"/>
                  <a:gd name="T29" fmla="*/ 39 h 228"/>
                  <a:gd name="T30" fmla="*/ 128 w 137"/>
                  <a:gd name="T31" fmla="*/ 37 h 228"/>
                  <a:gd name="T32" fmla="*/ 123 w 137"/>
                  <a:gd name="T33" fmla="*/ 36 h 228"/>
                  <a:gd name="T34" fmla="*/ 118 w 137"/>
                  <a:gd name="T35" fmla="*/ 39 h 228"/>
                  <a:gd name="T36" fmla="*/ 112 w 137"/>
                  <a:gd name="T37" fmla="*/ 47 h 228"/>
                  <a:gd name="T38" fmla="*/ 35 w 137"/>
                  <a:gd name="T39" fmla="*/ 190 h 228"/>
                  <a:gd name="T40" fmla="*/ 32 w 137"/>
                  <a:gd name="T41" fmla="*/ 199 h 228"/>
                  <a:gd name="T42" fmla="*/ 31 w 137"/>
                  <a:gd name="T43" fmla="*/ 207 h 228"/>
                  <a:gd name="T44" fmla="*/ 33 w 137"/>
                  <a:gd name="T45" fmla="*/ 213 h 228"/>
                  <a:gd name="T46" fmla="*/ 36 w 137"/>
                  <a:gd name="T47" fmla="*/ 218 h 228"/>
                  <a:gd name="T48" fmla="*/ 31 w 137"/>
                  <a:gd name="T49" fmla="*/ 228 h 2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37" h="228">
                    <a:moveTo>
                      <a:pt x="31" y="228"/>
                    </a:moveTo>
                    <a:cubicBezTo>
                      <a:pt x="0" y="199"/>
                      <a:pt x="0" y="199"/>
                      <a:pt x="0" y="199"/>
                    </a:cubicBezTo>
                    <a:cubicBezTo>
                      <a:pt x="5" y="189"/>
                      <a:pt x="5" y="189"/>
                      <a:pt x="5" y="189"/>
                    </a:cubicBezTo>
                    <a:cubicBezTo>
                      <a:pt x="6" y="189"/>
                      <a:pt x="7" y="190"/>
                      <a:pt x="9" y="191"/>
                    </a:cubicBezTo>
                    <a:cubicBezTo>
                      <a:pt x="11" y="193"/>
                      <a:pt x="13" y="193"/>
                      <a:pt x="14" y="193"/>
                    </a:cubicBezTo>
                    <a:cubicBezTo>
                      <a:pt x="15" y="193"/>
                      <a:pt x="17" y="192"/>
                      <a:pt x="19" y="190"/>
                    </a:cubicBezTo>
                    <a:cubicBezTo>
                      <a:pt x="20" y="189"/>
                      <a:pt x="22" y="186"/>
                      <a:pt x="24" y="182"/>
                    </a:cubicBezTo>
                    <a:cubicBezTo>
                      <a:pt x="101" y="38"/>
                      <a:pt x="101" y="38"/>
                      <a:pt x="101" y="38"/>
                    </a:cubicBezTo>
                    <a:cubicBezTo>
                      <a:pt x="103" y="35"/>
                      <a:pt x="104" y="32"/>
                      <a:pt x="105" y="30"/>
                    </a:cubicBezTo>
                    <a:cubicBezTo>
                      <a:pt x="106" y="27"/>
                      <a:pt x="106" y="24"/>
                      <a:pt x="105" y="22"/>
                    </a:cubicBezTo>
                    <a:cubicBezTo>
                      <a:pt x="105" y="20"/>
                      <a:pt x="104" y="18"/>
                      <a:pt x="103" y="15"/>
                    </a:cubicBezTo>
                    <a:cubicBezTo>
                      <a:pt x="103" y="13"/>
                      <a:pt x="102" y="11"/>
                      <a:pt x="101" y="10"/>
                    </a:cubicBezTo>
                    <a:cubicBezTo>
                      <a:pt x="106" y="0"/>
                      <a:pt x="106" y="0"/>
                      <a:pt x="106" y="0"/>
                    </a:cubicBezTo>
                    <a:cubicBezTo>
                      <a:pt x="137" y="29"/>
                      <a:pt x="137" y="29"/>
                      <a:pt x="137" y="29"/>
                    </a:cubicBezTo>
                    <a:cubicBezTo>
                      <a:pt x="132" y="39"/>
                      <a:pt x="132" y="39"/>
                      <a:pt x="132" y="39"/>
                    </a:cubicBezTo>
                    <a:cubicBezTo>
                      <a:pt x="131" y="38"/>
                      <a:pt x="130" y="37"/>
                      <a:pt x="128" y="37"/>
                    </a:cubicBezTo>
                    <a:cubicBezTo>
                      <a:pt x="126" y="36"/>
                      <a:pt x="125" y="36"/>
                      <a:pt x="123" y="36"/>
                    </a:cubicBezTo>
                    <a:cubicBezTo>
                      <a:pt x="121" y="36"/>
                      <a:pt x="119" y="37"/>
                      <a:pt x="118" y="39"/>
                    </a:cubicBezTo>
                    <a:cubicBezTo>
                      <a:pt x="116" y="41"/>
                      <a:pt x="114" y="44"/>
                      <a:pt x="112" y="47"/>
                    </a:cubicBezTo>
                    <a:cubicBezTo>
                      <a:pt x="35" y="190"/>
                      <a:pt x="35" y="190"/>
                      <a:pt x="35" y="190"/>
                    </a:cubicBezTo>
                    <a:cubicBezTo>
                      <a:pt x="34" y="193"/>
                      <a:pt x="33" y="196"/>
                      <a:pt x="32" y="199"/>
                    </a:cubicBezTo>
                    <a:cubicBezTo>
                      <a:pt x="31" y="202"/>
                      <a:pt x="31" y="205"/>
                      <a:pt x="31" y="207"/>
                    </a:cubicBezTo>
                    <a:cubicBezTo>
                      <a:pt x="31" y="209"/>
                      <a:pt x="32" y="210"/>
                      <a:pt x="33" y="213"/>
                    </a:cubicBezTo>
                    <a:cubicBezTo>
                      <a:pt x="34" y="215"/>
                      <a:pt x="35" y="217"/>
                      <a:pt x="36" y="218"/>
                    </a:cubicBezTo>
                    <a:lnTo>
                      <a:pt x="31" y="228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" name="îṡḷíḍé"/>
              <p:cNvSpPr/>
              <p:nvPr/>
            </p:nvSpPr>
            <p:spPr bwMode="auto">
              <a:xfrm>
                <a:off x="2533651" y="3856038"/>
                <a:ext cx="112713" cy="187325"/>
              </a:xfrm>
              <a:custGeom>
                <a:avLst/>
                <a:gdLst>
                  <a:gd name="T0" fmla="*/ 139 w 144"/>
                  <a:gd name="T1" fmla="*/ 75 h 237"/>
                  <a:gd name="T2" fmla="*/ 135 w 144"/>
                  <a:gd name="T3" fmla="*/ 73 h 237"/>
                  <a:gd name="T4" fmla="*/ 130 w 144"/>
                  <a:gd name="T5" fmla="*/ 74 h 237"/>
                  <a:gd name="T6" fmla="*/ 123 w 144"/>
                  <a:gd name="T7" fmla="*/ 80 h 237"/>
                  <a:gd name="T8" fmla="*/ 116 w 144"/>
                  <a:gd name="T9" fmla="*/ 89 h 237"/>
                  <a:gd name="T10" fmla="*/ 69 w 144"/>
                  <a:gd name="T11" fmla="*/ 150 h 237"/>
                  <a:gd name="T12" fmla="*/ 4 w 144"/>
                  <a:gd name="T13" fmla="*/ 237 h 237"/>
                  <a:gd name="T14" fmla="*/ 0 w 144"/>
                  <a:gd name="T15" fmla="*/ 234 h 237"/>
                  <a:gd name="T16" fmla="*/ 41 w 144"/>
                  <a:gd name="T17" fmla="*/ 116 h 237"/>
                  <a:gd name="T18" fmla="*/ 67 w 144"/>
                  <a:gd name="T19" fmla="*/ 39 h 237"/>
                  <a:gd name="T20" fmla="*/ 70 w 144"/>
                  <a:gd name="T21" fmla="*/ 30 h 237"/>
                  <a:gd name="T22" fmla="*/ 70 w 144"/>
                  <a:gd name="T23" fmla="*/ 21 h 237"/>
                  <a:gd name="T24" fmla="*/ 69 w 144"/>
                  <a:gd name="T25" fmla="*/ 15 h 237"/>
                  <a:gd name="T26" fmla="*/ 67 w 144"/>
                  <a:gd name="T27" fmla="*/ 11 h 237"/>
                  <a:gd name="T28" fmla="*/ 72 w 144"/>
                  <a:gd name="T29" fmla="*/ 0 h 237"/>
                  <a:gd name="T30" fmla="*/ 101 w 144"/>
                  <a:gd name="T31" fmla="*/ 26 h 237"/>
                  <a:gd name="T32" fmla="*/ 96 w 144"/>
                  <a:gd name="T33" fmla="*/ 37 h 237"/>
                  <a:gd name="T34" fmla="*/ 89 w 144"/>
                  <a:gd name="T35" fmla="*/ 33 h 237"/>
                  <a:gd name="T36" fmla="*/ 83 w 144"/>
                  <a:gd name="T37" fmla="*/ 36 h 237"/>
                  <a:gd name="T38" fmla="*/ 82 w 144"/>
                  <a:gd name="T39" fmla="*/ 40 h 237"/>
                  <a:gd name="T40" fmla="*/ 80 w 144"/>
                  <a:gd name="T41" fmla="*/ 44 h 237"/>
                  <a:gd name="T42" fmla="*/ 63 w 144"/>
                  <a:gd name="T43" fmla="*/ 94 h 237"/>
                  <a:gd name="T44" fmla="*/ 29 w 144"/>
                  <a:gd name="T45" fmla="*/ 194 h 237"/>
                  <a:gd name="T46" fmla="*/ 69 w 144"/>
                  <a:gd name="T47" fmla="*/ 140 h 237"/>
                  <a:gd name="T48" fmla="*/ 101 w 144"/>
                  <a:gd name="T49" fmla="*/ 97 h 237"/>
                  <a:gd name="T50" fmla="*/ 112 w 144"/>
                  <a:gd name="T51" fmla="*/ 81 h 237"/>
                  <a:gd name="T52" fmla="*/ 117 w 144"/>
                  <a:gd name="T53" fmla="*/ 73 h 237"/>
                  <a:gd name="T54" fmla="*/ 118 w 144"/>
                  <a:gd name="T55" fmla="*/ 67 h 237"/>
                  <a:gd name="T56" fmla="*/ 118 w 144"/>
                  <a:gd name="T57" fmla="*/ 60 h 237"/>
                  <a:gd name="T58" fmla="*/ 115 w 144"/>
                  <a:gd name="T59" fmla="*/ 55 h 237"/>
                  <a:gd name="T60" fmla="*/ 112 w 144"/>
                  <a:gd name="T61" fmla="*/ 51 h 237"/>
                  <a:gd name="T62" fmla="*/ 118 w 144"/>
                  <a:gd name="T63" fmla="*/ 41 h 237"/>
                  <a:gd name="T64" fmla="*/ 144 w 144"/>
                  <a:gd name="T65" fmla="*/ 64 h 237"/>
                  <a:gd name="T66" fmla="*/ 139 w 144"/>
                  <a:gd name="T67" fmla="*/ 75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44" h="237">
                    <a:moveTo>
                      <a:pt x="139" y="75"/>
                    </a:moveTo>
                    <a:cubicBezTo>
                      <a:pt x="138" y="74"/>
                      <a:pt x="137" y="73"/>
                      <a:pt x="135" y="73"/>
                    </a:cubicBezTo>
                    <a:cubicBezTo>
                      <a:pt x="133" y="73"/>
                      <a:pt x="131" y="74"/>
                      <a:pt x="130" y="74"/>
                    </a:cubicBezTo>
                    <a:cubicBezTo>
                      <a:pt x="128" y="75"/>
                      <a:pt x="126" y="77"/>
                      <a:pt x="123" y="80"/>
                    </a:cubicBezTo>
                    <a:cubicBezTo>
                      <a:pt x="121" y="82"/>
                      <a:pt x="118" y="85"/>
                      <a:pt x="116" y="89"/>
                    </a:cubicBezTo>
                    <a:cubicBezTo>
                      <a:pt x="106" y="102"/>
                      <a:pt x="90" y="122"/>
                      <a:pt x="69" y="150"/>
                    </a:cubicBezTo>
                    <a:cubicBezTo>
                      <a:pt x="49" y="178"/>
                      <a:pt x="27" y="207"/>
                      <a:pt x="4" y="237"/>
                    </a:cubicBezTo>
                    <a:cubicBezTo>
                      <a:pt x="0" y="234"/>
                      <a:pt x="0" y="234"/>
                      <a:pt x="0" y="234"/>
                    </a:cubicBezTo>
                    <a:cubicBezTo>
                      <a:pt x="14" y="193"/>
                      <a:pt x="28" y="154"/>
                      <a:pt x="41" y="116"/>
                    </a:cubicBezTo>
                    <a:cubicBezTo>
                      <a:pt x="54" y="78"/>
                      <a:pt x="63" y="52"/>
                      <a:pt x="67" y="39"/>
                    </a:cubicBezTo>
                    <a:cubicBezTo>
                      <a:pt x="68" y="36"/>
                      <a:pt x="69" y="32"/>
                      <a:pt x="70" y="30"/>
                    </a:cubicBezTo>
                    <a:cubicBezTo>
                      <a:pt x="70" y="27"/>
                      <a:pt x="70" y="24"/>
                      <a:pt x="70" y="21"/>
                    </a:cubicBezTo>
                    <a:cubicBezTo>
                      <a:pt x="70" y="19"/>
                      <a:pt x="70" y="16"/>
                      <a:pt x="69" y="15"/>
                    </a:cubicBezTo>
                    <a:cubicBezTo>
                      <a:pt x="68" y="13"/>
                      <a:pt x="68" y="12"/>
                      <a:pt x="67" y="11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101" y="26"/>
                      <a:pt x="101" y="26"/>
                      <a:pt x="101" y="26"/>
                    </a:cubicBezTo>
                    <a:cubicBezTo>
                      <a:pt x="96" y="37"/>
                      <a:pt x="96" y="37"/>
                      <a:pt x="96" y="37"/>
                    </a:cubicBezTo>
                    <a:cubicBezTo>
                      <a:pt x="93" y="35"/>
                      <a:pt x="91" y="33"/>
                      <a:pt x="89" y="33"/>
                    </a:cubicBezTo>
                    <a:cubicBezTo>
                      <a:pt x="86" y="33"/>
                      <a:pt x="85" y="34"/>
                      <a:pt x="83" y="36"/>
                    </a:cubicBezTo>
                    <a:cubicBezTo>
                      <a:pt x="83" y="37"/>
                      <a:pt x="82" y="39"/>
                      <a:pt x="82" y="40"/>
                    </a:cubicBezTo>
                    <a:cubicBezTo>
                      <a:pt x="81" y="42"/>
                      <a:pt x="81" y="43"/>
                      <a:pt x="80" y="44"/>
                    </a:cubicBezTo>
                    <a:cubicBezTo>
                      <a:pt x="77" y="54"/>
                      <a:pt x="71" y="71"/>
                      <a:pt x="63" y="94"/>
                    </a:cubicBezTo>
                    <a:cubicBezTo>
                      <a:pt x="55" y="118"/>
                      <a:pt x="43" y="151"/>
                      <a:pt x="29" y="194"/>
                    </a:cubicBezTo>
                    <a:cubicBezTo>
                      <a:pt x="40" y="179"/>
                      <a:pt x="54" y="161"/>
                      <a:pt x="69" y="140"/>
                    </a:cubicBezTo>
                    <a:cubicBezTo>
                      <a:pt x="85" y="119"/>
                      <a:pt x="95" y="105"/>
                      <a:pt x="101" y="97"/>
                    </a:cubicBezTo>
                    <a:cubicBezTo>
                      <a:pt x="107" y="89"/>
                      <a:pt x="110" y="84"/>
                      <a:pt x="112" y="81"/>
                    </a:cubicBezTo>
                    <a:cubicBezTo>
                      <a:pt x="114" y="78"/>
                      <a:pt x="115" y="75"/>
                      <a:pt x="117" y="73"/>
                    </a:cubicBezTo>
                    <a:cubicBezTo>
                      <a:pt x="118" y="71"/>
                      <a:pt x="118" y="69"/>
                      <a:pt x="118" y="67"/>
                    </a:cubicBezTo>
                    <a:cubicBezTo>
                      <a:pt x="118" y="65"/>
                      <a:pt x="118" y="62"/>
                      <a:pt x="118" y="60"/>
                    </a:cubicBezTo>
                    <a:cubicBezTo>
                      <a:pt x="117" y="59"/>
                      <a:pt x="116" y="57"/>
                      <a:pt x="115" y="55"/>
                    </a:cubicBezTo>
                    <a:cubicBezTo>
                      <a:pt x="114" y="54"/>
                      <a:pt x="113" y="52"/>
                      <a:pt x="112" y="51"/>
                    </a:cubicBezTo>
                    <a:cubicBezTo>
                      <a:pt x="118" y="41"/>
                      <a:pt x="118" y="41"/>
                      <a:pt x="118" y="41"/>
                    </a:cubicBezTo>
                    <a:cubicBezTo>
                      <a:pt x="144" y="64"/>
                      <a:pt x="144" y="64"/>
                      <a:pt x="144" y="64"/>
                    </a:cubicBezTo>
                    <a:lnTo>
                      <a:pt x="139" y="75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" name="ïṡľîdè"/>
              <p:cNvSpPr/>
              <p:nvPr/>
            </p:nvSpPr>
            <p:spPr bwMode="auto">
              <a:xfrm>
                <a:off x="2578101" y="3905251"/>
                <a:ext cx="119063" cy="201613"/>
              </a:xfrm>
              <a:custGeom>
                <a:avLst/>
                <a:gdLst>
                  <a:gd name="T0" fmla="*/ 90 w 152"/>
                  <a:gd name="T1" fmla="*/ 196 h 257"/>
                  <a:gd name="T2" fmla="*/ 61 w 152"/>
                  <a:gd name="T3" fmla="*/ 257 h 257"/>
                  <a:gd name="T4" fmla="*/ 0 w 152"/>
                  <a:gd name="T5" fmla="*/ 209 h 257"/>
                  <a:gd name="T6" fmla="*/ 5 w 152"/>
                  <a:gd name="T7" fmla="*/ 198 h 257"/>
                  <a:gd name="T8" fmla="*/ 9 w 152"/>
                  <a:gd name="T9" fmla="*/ 200 h 257"/>
                  <a:gd name="T10" fmla="*/ 14 w 152"/>
                  <a:gd name="T11" fmla="*/ 201 h 257"/>
                  <a:gd name="T12" fmla="*/ 19 w 152"/>
                  <a:gd name="T13" fmla="*/ 197 h 257"/>
                  <a:gd name="T14" fmla="*/ 23 w 152"/>
                  <a:gd name="T15" fmla="*/ 189 h 257"/>
                  <a:gd name="T16" fmla="*/ 92 w 152"/>
                  <a:gd name="T17" fmla="*/ 39 h 257"/>
                  <a:gd name="T18" fmla="*/ 95 w 152"/>
                  <a:gd name="T19" fmla="*/ 30 h 257"/>
                  <a:gd name="T20" fmla="*/ 95 w 152"/>
                  <a:gd name="T21" fmla="*/ 22 h 257"/>
                  <a:gd name="T22" fmla="*/ 93 w 152"/>
                  <a:gd name="T23" fmla="*/ 16 h 257"/>
                  <a:gd name="T24" fmla="*/ 90 w 152"/>
                  <a:gd name="T25" fmla="*/ 11 h 257"/>
                  <a:gd name="T26" fmla="*/ 95 w 152"/>
                  <a:gd name="T27" fmla="*/ 0 h 257"/>
                  <a:gd name="T28" fmla="*/ 152 w 152"/>
                  <a:gd name="T29" fmla="*/ 45 h 257"/>
                  <a:gd name="T30" fmla="*/ 129 w 152"/>
                  <a:gd name="T31" fmla="*/ 95 h 257"/>
                  <a:gd name="T32" fmla="*/ 125 w 152"/>
                  <a:gd name="T33" fmla="*/ 92 h 257"/>
                  <a:gd name="T34" fmla="*/ 131 w 152"/>
                  <a:gd name="T35" fmla="*/ 65 h 257"/>
                  <a:gd name="T36" fmla="*/ 131 w 152"/>
                  <a:gd name="T37" fmla="*/ 46 h 257"/>
                  <a:gd name="T38" fmla="*/ 128 w 152"/>
                  <a:gd name="T39" fmla="*/ 42 h 257"/>
                  <a:gd name="T40" fmla="*/ 123 w 152"/>
                  <a:gd name="T41" fmla="*/ 38 h 257"/>
                  <a:gd name="T42" fmla="*/ 111 w 152"/>
                  <a:gd name="T43" fmla="*/ 29 h 257"/>
                  <a:gd name="T44" fmla="*/ 73 w 152"/>
                  <a:gd name="T45" fmla="*/ 112 h 257"/>
                  <a:gd name="T46" fmla="*/ 82 w 152"/>
                  <a:gd name="T47" fmla="*/ 118 h 257"/>
                  <a:gd name="T48" fmla="*/ 88 w 152"/>
                  <a:gd name="T49" fmla="*/ 121 h 257"/>
                  <a:gd name="T50" fmla="*/ 95 w 152"/>
                  <a:gd name="T51" fmla="*/ 116 h 257"/>
                  <a:gd name="T52" fmla="*/ 102 w 152"/>
                  <a:gd name="T53" fmla="*/ 106 h 257"/>
                  <a:gd name="T54" fmla="*/ 109 w 152"/>
                  <a:gd name="T55" fmla="*/ 94 h 257"/>
                  <a:gd name="T56" fmla="*/ 113 w 152"/>
                  <a:gd name="T57" fmla="*/ 97 h 257"/>
                  <a:gd name="T58" fmla="*/ 76 w 152"/>
                  <a:gd name="T59" fmla="*/ 178 h 257"/>
                  <a:gd name="T60" fmla="*/ 72 w 152"/>
                  <a:gd name="T61" fmla="*/ 175 h 257"/>
                  <a:gd name="T62" fmla="*/ 78 w 152"/>
                  <a:gd name="T63" fmla="*/ 159 h 257"/>
                  <a:gd name="T64" fmla="*/ 81 w 152"/>
                  <a:gd name="T65" fmla="*/ 146 h 257"/>
                  <a:gd name="T66" fmla="*/ 81 w 152"/>
                  <a:gd name="T67" fmla="*/ 136 h 257"/>
                  <a:gd name="T68" fmla="*/ 76 w 152"/>
                  <a:gd name="T69" fmla="*/ 130 h 257"/>
                  <a:gd name="T70" fmla="*/ 68 w 152"/>
                  <a:gd name="T71" fmla="*/ 124 h 257"/>
                  <a:gd name="T72" fmla="*/ 39 w 152"/>
                  <a:gd name="T73" fmla="*/ 186 h 257"/>
                  <a:gd name="T74" fmla="*/ 33 w 152"/>
                  <a:gd name="T75" fmla="*/ 201 h 257"/>
                  <a:gd name="T76" fmla="*/ 31 w 152"/>
                  <a:gd name="T77" fmla="*/ 211 h 257"/>
                  <a:gd name="T78" fmla="*/ 33 w 152"/>
                  <a:gd name="T79" fmla="*/ 218 h 257"/>
                  <a:gd name="T80" fmla="*/ 39 w 152"/>
                  <a:gd name="T81" fmla="*/ 224 h 257"/>
                  <a:gd name="T82" fmla="*/ 44 w 152"/>
                  <a:gd name="T83" fmla="*/ 227 h 257"/>
                  <a:gd name="T84" fmla="*/ 49 w 152"/>
                  <a:gd name="T85" fmla="*/ 230 h 257"/>
                  <a:gd name="T86" fmla="*/ 54 w 152"/>
                  <a:gd name="T87" fmla="*/ 231 h 257"/>
                  <a:gd name="T88" fmla="*/ 59 w 152"/>
                  <a:gd name="T89" fmla="*/ 229 h 257"/>
                  <a:gd name="T90" fmla="*/ 73 w 152"/>
                  <a:gd name="T91" fmla="*/ 212 h 257"/>
                  <a:gd name="T92" fmla="*/ 86 w 152"/>
                  <a:gd name="T93" fmla="*/ 193 h 257"/>
                  <a:gd name="T94" fmla="*/ 90 w 152"/>
                  <a:gd name="T95" fmla="*/ 196 h 2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52" h="257">
                    <a:moveTo>
                      <a:pt x="90" y="196"/>
                    </a:moveTo>
                    <a:cubicBezTo>
                      <a:pt x="61" y="257"/>
                      <a:pt x="61" y="257"/>
                      <a:pt x="61" y="257"/>
                    </a:cubicBezTo>
                    <a:cubicBezTo>
                      <a:pt x="0" y="209"/>
                      <a:pt x="0" y="209"/>
                      <a:pt x="0" y="209"/>
                    </a:cubicBezTo>
                    <a:cubicBezTo>
                      <a:pt x="5" y="198"/>
                      <a:pt x="5" y="198"/>
                      <a:pt x="5" y="198"/>
                    </a:cubicBezTo>
                    <a:cubicBezTo>
                      <a:pt x="6" y="199"/>
                      <a:pt x="7" y="200"/>
                      <a:pt x="9" y="200"/>
                    </a:cubicBezTo>
                    <a:cubicBezTo>
                      <a:pt x="12" y="201"/>
                      <a:pt x="13" y="201"/>
                      <a:pt x="14" y="201"/>
                    </a:cubicBezTo>
                    <a:cubicBezTo>
                      <a:pt x="16" y="200"/>
                      <a:pt x="17" y="199"/>
                      <a:pt x="19" y="197"/>
                    </a:cubicBezTo>
                    <a:cubicBezTo>
                      <a:pt x="20" y="195"/>
                      <a:pt x="22" y="192"/>
                      <a:pt x="23" y="189"/>
                    </a:cubicBezTo>
                    <a:cubicBezTo>
                      <a:pt x="92" y="39"/>
                      <a:pt x="92" y="39"/>
                      <a:pt x="92" y="39"/>
                    </a:cubicBezTo>
                    <a:cubicBezTo>
                      <a:pt x="93" y="36"/>
                      <a:pt x="94" y="33"/>
                      <a:pt x="95" y="30"/>
                    </a:cubicBezTo>
                    <a:cubicBezTo>
                      <a:pt x="96" y="27"/>
                      <a:pt x="96" y="24"/>
                      <a:pt x="95" y="22"/>
                    </a:cubicBezTo>
                    <a:cubicBezTo>
                      <a:pt x="95" y="20"/>
                      <a:pt x="94" y="18"/>
                      <a:pt x="93" y="16"/>
                    </a:cubicBezTo>
                    <a:cubicBezTo>
                      <a:pt x="92" y="13"/>
                      <a:pt x="91" y="12"/>
                      <a:pt x="90" y="11"/>
                    </a:cubicBezTo>
                    <a:cubicBezTo>
                      <a:pt x="95" y="0"/>
                      <a:pt x="95" y="0"/>
                      <a:pt x="95" y="0"/>
                    </a:cubicBezTo>
                    <a:cubicBezTo>
                      <a:pt x="152" y="45"/>
                      <a:pt x="152" y="45"/>
                      <a:pt x="152" y="45"/>
                    </a:cubicBezTo>
                    <a:cubicBezTo>
                      <a:pt x="129" y="95"/>
                      <a:pt x="129" y="95"/>
                      <a:pt x="129" y="95"/>
                    </a:cubicBezTo>
                    <a:cubicBezTo>
                      <a:pt x="125" y="92"/>
                      <a:pt x="125" y="92"/>
                      <a:pt x="125" y="92"/>
                    </a:cubicBezTo>
                    <a:cubicBezTo>
                      <a:pt x="128" y="84"/>
                      <a:pt x="130" y="75"/>
                      <a:pt x="131" y="65"/>
                    </a:cubicBezTo>
                    <a:cubicBezTo>
                      <a:pt x="133" y="55"/>
                      <a:pt x="133" y="49"/>
                      <a:pt x="131" y="46"/>
                    </a:cubicBezTo>
                    <a:cubicBezTo>
                      <a:pt x="130" y="45"/>
                      <a:pt x="129" y="44"/>
                      <a:pt x="128" y="42"/>
                    </a:cubicBezTo>
                    <a:cubicBezTo>
                      <a:pt x="126" y="41"/>
                      <a:pt x="125" y="39"/>
                      <a:pt x="123" y="38"/>
                    </a:cubicBezTo>
                    <a:cubicBezTo>
                      <a:pt x="111" y="29"/>
                      <a:pt x="111" y="29"/>
                      <a:pt x="111" y="29"/>
                    </a:cubicBezTo>
                    <a:cubicBezTo>
                      <a:pt x="73" y="112"/>
                      <a:pt x="73" y="112"/>
                      <a:pt x="73" y="112"/>
                    </a:cubicBezTo>
                    <a:cubicBezTo>
                      <a:pt x="82" y="118"/>
                      <a:pt x="82" y="118"/>
                      <a:pt x="82" y="118"/>
                    </a:cubicBezTo>
                    <a:cubicBezTo>
                      <a:pt x="84" y="120"/>
                      <a:pt x="87" y="121"/>
                      <a:pt x="88" y="121"/>
                    </a:cubicBezTo>
                    <a:cubicBezTo>
                      <a:pt x="90" y="120"/>
                      <a:pt x="92" y="119"/>
                      <a:pt x="95" y="116"/>
                    </a:cubicBezTo>
                    <a:cubicBezTo>
                      <a:pt x="97" y="114"/>
                      <a:pt x="99" y="111"/>
                      <a:pt x="102" y="106"/>
                    </a:cubicBezTo>
                    <a:cubicBezTo>
                      <a:pt x="105" y="102"/>
                      <a:pt x="107" y="98"/>
                      <a:pt x="109" y="94"/>
                    </a:cubicBezTo>
                    <a:cubicBezTo>
                      <a:pt x="113" y="97"/>
                      <a:pt x="113" y="97"/>
                      <a:pt x="113" y="97"/>
                    </a:cubicBezTo>
                    <a:cubicBezTo>
                      <a:pt x="76" y="178"/>
                      <a:pt x="76" y="178"/>
                      <a:pt x="76" y="178"/>
                    </a:cubicBezTo>
                    <a:cubicBezTo>
                      <a:pt x="72" y="175"/>
                      <a:pt x="72" y="175"/>
                      <a:pt x="72" y="175"/>
                    </a:cubicBezTo>
                    <a:cubicBezTo>
                      <a:pt x="74" y="170"/>
                      <a:pt x="76" y="165"/>
                      <a:pt x="78" y="159"/>
                    </a:cubicBezTo>
                    <a:cubicBezTo>
                      <a:pt x="79" y="154"/>
                      <a:pt x="81" y="149"/>
                      <a:pt x="81" y="146"/>
                    </a:cubicBezTo>
                    <a:cubicBezTo>
                      <a:pt x="82" y="142"/>
                      <a:pt x="82" y="138"/>
                      <a:pt x="81" y="136"/>
                    </a:cubicBezTo>
                    <a:cubicBezTo>
                      <a:pt x="80" y="134"/>
                      <a:pt x="78" y="132"/>
                      <a:pt x="76" y="130"/>
                    </a:cubicBezTo>
                    <a:cubicBezTo>
                      <a:pt x="68" y="124"/>
                      <a:pt x="68" y="124"/>
                      <a:pt x="68" y="124"/>
                    </a:cubicBezTo>
                    <a:cubicBezTo>
                      <a:pt x="39" y="186"/>
                      <a:pt x="39" y="186"/>
                      <a:pt x="39" y="186"/>
                    </a:cubicBezTo>
                    <a:cubicBezTo>
                      <a:pt x="37" y="192"/>
                      <a:pt x="34" y="198"/>
                      <a:pt x="33" y="201"/>
                    </a:cubicBezTo>
                    <a:cubicBezTo>
                      <a:pt x="32" y="205"/>
                      <a:pt x="31" y="208"/>
                      <a:pt x="31" y="211"/>
                    </a:cubicBezTo>
                    <a:cubicBezTo>
                      <a:pt x="31" y="214"/>
                      <a:pt x="32" y="216"/>
                      <a:pt x="33" y="218"/>
                    </a:cubicBezTo>
                    <a:cubicBezTo>
                      <a:pt x="35" y="219"/>
                      <a:pt x="37" y="221"/>
                      <a:pt x="39" y="224"/>
                    </a:cubicBezTo>
                    <a:cubicBezTo>
                      <a:pt x="41" y="224"/>
                      <a:pt x="42" y="226"/>
                      <a:pt x="44" y="227"/>
                    </a:cubicBezTo>
                    <a:cubicBezTo>
                      <a:pt x="46" y="229"/>
                      <a:pt x="47" y="230"/>
                      <a:pt x="49" y="230"/>
                    </a:cubicBezTo>
                    <a:cubicBezTo>
                      <a:pt x="50" y="231"/>
                      <a:pt x="52" y="231"/>
                      <a:pt x="54" y="231"/>
                    </a:cubicBezTo>
                    <a:cubicBezTo>
                      <a:pt x="56" y="231"/>
                      <a:pt x="57" y="231"/>
                      <a:pt x="59" y="229"/>
                    </a:cubicBezTo>
                    <a:cubicBezTo>
                      <a:pt x="62" y="226"/>
                      <a:pt x="67" y="220"/>
                      <a:pt x="73" y="212"/>
                    </a:cubicBezTo>
                    <a:cubicBezTo>
                      <a:pt x="80" y="204"/>
                      <a:pt x="84" y="198"/>
                      <a:pt x="86" y="193"/>
                    </a:cubicBezTo>
                    <a:lnTo>
                      <a:pt x="90" y="196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" name="íślîde"/>
              <p:cNvSpPr/>
              <p:nvPr/>
            </p:nvSpPr>
            <p:spPr bwMode="auto">
              <a:xfrm>
                <a:off x="2633663" y="3940176"/>
                <a:ext cx="107950" cy="209550"/>
              </a:xfrm>
              <a:custGeom>
                <a:avLst/>
                <a:gdLst>
                  <a:gd name="T0" fmla="*/ 72 w 138"/>
                  <a:gd name="T1" fmla="*/ 266 h 266"/>
                  <a:gd name="T2" fmla="*/ 52 w 138"/>
                  <a:gd name="T3" fmla="*/ 251 h 266"/>
                  <a:gd name="T4" fmla="*/ 63 w 138"/>
                  <a:gd name="T5" fmla="*/ 190 h 266"/>
                  <a:gd name="T6" fmla="*/ 70 w 138"/>
                  <a:gd name="T7" fmla="*/ 137 h 266"/>
                  <a:gd name="T8" fmla="*/ 63 w 138"/>
                  <a:gd name="T9" fmla="*/ 132 h 266"/>
                  <a:gd name="T10" fmla="*/ 34 w 138"/>
                  <a:gd name="T11" fmla="*/ 199 h 266"/>
                  <a:gd name="T12" fmla="*/ 30 w 138"/>
                  <a:gd name="T13" fmla="*/ 208 h 266"/>
                  <a:gd name="T14" fmla="*/ 30 w 138"/>
                  <a:gd name="T15" fmla="*/ 216 h 266"/>
                  <a:gd name="T16" fmla="*/ 33 w 138"/>
                  <a:gd name="T17" fmla="*/ 220 h 266"/>
                  <a:gd name="T18" fmla="*/ 36 w 138"/>
                  <a:gd name="T19" fmla="*/ 224 h 266"/>
                  <a:gd name="T20" fmla="*/ 32 w 138"/>
                  <a:gd name="T21" fmla="*/ 235 h 266"/>
                  <a:gd name="T22" fmla="*/ 0 w 138"/>
                  <a:gd name="T23" fmla="*/ 212 h 266"/>
                  <a:gd name="T24" fmla="*/ 5 w 138"/>
                  <a:gd name="T25" fmla="*/ 201 h 266"/>
                  <a:gd name="T26" fmla="*/ 9 w 138"/>
                  <a:gd name="T27" fmla="*/ 203 h 266"/>
                  <a:gd name="T28" fmla="*/ 13 w 138"/>
                  <a:gd name="T29" fmla="*/ 203 h 266"/>
                  <a:gd name="T30" fmla="*/ 18 w 138"/>
                  <a:gd name="T31" fmla="*/ 199 h 266"/>
                  <a:gd name="T32" fmla="*/ 23 w 138"/>
                  <a:gd name="T33" fmla="*/ 190 h 266"/>
                  <a:gd name="T34" fmla="*/ 89 w 138"/>
                  <a:gd name="T35" fmla="*/ 38 h 266"/>
                  <a:gd name="T36" fmla="*/ 92 w 138"/>
                  <a:gd name="T37" fmla="*/ 28 h 266"/>
                  <a:gd name="T38" fmla="*/ 92 w 138"/>
                  <a:gd name="T39" fmla="*/ 20 h 266"/>
                  <a:gd name="T40" fmla="*/ 90 w 138"/>
                  <a:gd name="T41" fmla="*/ 15 h 266"/>
                  <a:gd name="T42" fmla="*/ 87 w 138"/>
                  <a:gd name="T43" fmla="*/ 11 h 266"/>
                  <a:gd name="T44" fmla="*/ 92 w 138"/>
                  <a:gd name="T45" fmla="*/ 0 h 266"/>
                  <a:gd name="T46" fmla="*/ 126 w 138"/>
                  <a:gd name="T47" fmla="*/ 26 h 266"/>
                  <a:gd name="T48" fmla="*/ 134 w 138"/>
                  <a:gd name="T49" fmla="*/ 35 h 266"/>
                  <a:gd name="T50" fmla="*/ 137 w 138"/>
                  <a:gd name="T51" fmla="*/ 50 h 266"/>
                  <a:gd name="T52" fmla="*/ 136 w 138"/>
                  <a:gd name="T53" fmla="*/ 69 h 266"/>
                  <a:gd name="T54" fmla="*/ 128 w 138"/>
                  <a:gd name="T55" fmla="*/ 94 h 266"/>
                  <a:gd name="T56" fmla="*/ 117 w 138"/>
                  <a:gd name="T57" fmla="*/ 114 h 266"/>
                  <a:gd name="T58" fmla="*/ 106 w 138"/>
                  <a:gd name="T59" fmla="*/ 128 h 266"/>
                  <a:gd name="T60" fmla="*/ 96 w 138"/>
                  <a:gd name="T61" fmla="*/ 135 h 266"/>
                  <a:gd name="T62" fmla="*/ 85 w 138"/>
                  <a:gd name="T63" fmla="*/ 137 h 266"/>
                  <a:gd name="T64" fmla="*/ 79 w 138"/>
                  <a:gd name="T65" fmla="*/ 179 h 266"/>
                  <a:gd name="T66" fmla="*/ 73 w 138"/>
                  <a:gd name="T67" fmla="*/ 220 h 266"/>
                  <a:gd name="T68" fmla="*/ 71 w 138"/>
                  <a:gd name="T69" fmla="*/ 236 h 266"/>
                  <a:gd name="T70" fmla="*/ 72 w 138"/>
                  <a:gd name="T71" fmla="*/ 246 h 266"/>
                  <a:gd name="T72" fmla="*/ 74 w 138"/>
                  <a:gd name="T73" fmla="*/ 251 h 266"/>
                  <a:gd name="T74" fmla="*/ 77 w 138"/>
                  <a:gd name="T75" fmla="*/ 255 h 266"/>
                  <a:gd name="T76" fmla="*/ 72 w 138"/>
                  <a:gd name="T77" fmla="*/ 266 h 266"/>
                  <a:gd name="T78" fmla="*/ 113 w 138"/>
                  <a:gd name="T79" fmla="*/ 88 h 266"/>
                  <a:gd name="T80" fmla="*/ 122 w 138"/>
                  <a:gd name="T81" fmla="*/ 54 h 266"/>
                  <a:gd name="T82" fmla="*/ 116 w 138"/>
                  <a:gd name="T83" fmla="*/ 35 h 266"/>
                  <a:gd name="T84" fmla="*/ 108 w 138"/>
                  <a:gd name="T85" fmla="*/ 28 h 266"/>
                  <a:gd name="T86" fmla="*/ 68 w 138"/>
                  <a:gd name="T87" fmla="*/ 119 h 266"/>
                  <a:gd name="T88" fmla="*/ 75 w 138"/>
                  <a:gd name="T89" fmla="*/ 124 h 266"/>
                  <a:gd name="T90" fmla="*/ 93 w 138"/>
                  <a:gd name="T91" fmla="*/ 120 h 266"/>
                  <a:gd name="T92" fmla="*/ 113 w 138"/>
                  <a:gd name="T93" fmla="*/ 88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138" h="266">
                    <a:moveTo>
                      <a:pt x="72" y="266"/>
                    </a:moveTo>
                    <a:cubicBezTo>
                      <a:pt x="52" y="251"/>
                      <a:pt x="52" y="251"/>
                      <a:pt x="52" y="251"/>
                    </a:cubicBezTo>
                    <a:cubicBezTo>
                      <a:pt x="57" y="228"/>
                      <a:pt x="60" y="208"/>
                      <a:pt x="63" y="190"/>
                    </a:cubicBezTo>
                    <a:cubicBezTo>
                      <a:pt x="65" y="173"/>
                      <a:pt x="68" y="156"/>
                      <a:pt x="70" y="137"/>
                    </a:cubicBezTo>
                    <a:cubicBezTo>
                      <a:pt x="63" y="132"/>
                      <a:pt x="63" y="132"/>
                      <a:pt x="63" y="132"/>
                    </a:cubicBezTo>
                    <a:cubicBezTo>
                      <a:pt x="34" y="199"/>
                      <a:pt x="34" y="199"/>
                      <a:pt x="34" y="199"/>
                    </a:cubicBezTo>
                    <a:cubicBezTo>
                      <a:pt x="32" y="202"/>
                      <a:pt x="31" y="205"/>
                      <a:pt x="30" y="208"/>
                    </a:cubicBezTo>
                    <a:cubicBezTo>
                      <a:pt x="30" y="211"/>
                      <a:pt x="30" y="214"/>
                      <a:pt x="30" y="216"/>
                    </a:cubicBezTo>
                    <a:cubicBezTo>
                      <a:pt x="31" y="217"/>
                      <a:pt x="31" y="219"/>
                      <a:pt x="33" y="220"/>
                    </a:cubicBezTo>
                    <a:cubicBezTo>
                      <a:pt x="34" y="222"/>
                      <a:pt x="35" y="224"/>
                      <a:pt x="36" y="224"/>
                    </a:cubicBezTo>
                    <a:cubicBezTo>
                      <a:pt x="32" y="235"/>
                      <a:pt x="32" y="235"/>
                      <a:pt x="32" y="235"/>
                    </a:cubicBezTo>
                    <a:cubicBezTo>
                      <a:pt x="0" y="212"/>
                      <a:pt x="0" y="212"/>
                      <a:pt x="0" y="212"/>
                    </a:cubicBezTo>
                    <a:cubicBezTo>
                      <a:pt x="5" y="201"/>
                      <a:pt x="5" y="201"/>
                      <a:pt x="5" y="201"/>
                    </a:cubicBezTo>
                    <a:cubicBezTo>
                      <a:pt x="6" y="201"/>
                      <a:pt x="7" y="202"/>
                      <a:pt x="9" y="203"/>
                    </a:cubicBezTo>
                    <a:cubicBezTo>
                      <a:pt x="11" y="203"/>
                      <a:pt x="12" y="204"/>
                      <a:pt x="13" y="203"/>
                    </a:cubicBezTo>
                    <a:cubicBezTo>
                      <a:pt x="15" y="203"/>
                      <a:pt x="16" y="201"/>
                      <a:pt x="18" y="199"/>
                    </a:cubicBezTo>
                    <a:cubicBezTo>
                      <a:pt x="19" y="197"/>
                      <a:pt x="21" y="194"/>
                      <a:pt x="23" y="190"/>
                    </a:cubicBezTo>
                    <a:cubicBezTo>
                      <a:pt x="89" y="38"/>
                      <a:pt x="89" y="38"/>
                      <a:pt x="89" y="38"/>
                    </a:cubicBezTo>
                    <a:cubicBezTo>
                      <a:pt x="90" y="34"/>
                      <a:pt x="91" y="31"/>
                      <a:pt x="92" y="28"/>
                    </a:cubicBezTo>
                    <a:cubicBezTo>
                      <a:pt x="93" y="25"/>
                      <a:pt x="93" y="22"/>
                      <a:pt x="92" y="20"/>
                    </a:cubicBezTo>
                    <a:cubicBezTo>
                      <a:pt x="92" y="18"/>
                      <a:pt x="91" y="17"/>
                      <a:pt x="90" y="15"/>
                    </a:cubicBezTo>
                    <a:cubicBezTo>
                      <a:pt x="89" y="13"/>
                      <a:pt x="88" y="12"/>
                      <a:pt x="87" y="11"/>
                    </a:cubicBezTo>
                    <a:cubicBezTo>
                      <a:pt x="92" y="0"/>
                      <a:pt x="92" y="0"/>
                      <a:pt x="92" y="0"/>
                    </a:cubicBezTo>
                    <a:cubicBezTo>
                      <a:pt x="126" y="26"/>
                      <a:pt x="126" y="26"/>
                      <a:pt x="126" y="26"/>
                    </a:cubicBezTo>
                    <a:cubicBezTo>
                      <a:pt x="129" y="28"/>
                      <a:pt x="132" y="31"/>
                      <a:pt x="134" y="35"/>
                    </a:cubicBezTo>
                    <a:cubicBezTo>
                      <a:pt x="135" y="39"/>
                      <a:pt x="137" y="44"/>
                      <a:pt x="137" y="50"/>
                    </a:cubicBezTo>
                    <a:cubicBezTo>
                      <a:pt x="138" y="55"/>
                      <a:pt x="137" y="62"/>
                      <a:pt x="136" y="69"/>
                    </a:cubicBezTo>
                    <a:cubicBezTo>
                      <a:pt x="134" y="77"/>
                      <a:pt x="131" y="85"/>
                      <a:pt x="128" y="94"/>
                    </a:cubicBezTo>
                    <a:cubicBezTo>
                      <a:pt x="124" y="102"/>
                      <a:pt x="120" y="109"/>
                      <a:pt x="117" y="114"/>
                    </a:cubicBezTo>
                    <a:cubicBezTo>
                      <a:pt x="113" y="120"/>
                      <a:pt x="110" y="124"/>
                      <a:pt x="106" y="128"/>
                    </a:cubicBezTo>
                    <a:cubicBezTo>
                      <a:pt x="103" y="131"/>
                      <a:pt x="99" y="133"/>
                      <a:pt x="96" y="135"/>
                    </a:cubicBezTo>
                    <a:cubicBezTo>
                      <a:pt x="92" y="136"/>
                      <a:pt x="88" y="137"/>
                      <a:pt x="85" y="137"/>
                    </a:cubicBezTo>
                    <a:cubicBezTo>
                      <a:pt x="83" y="154"/>
                      <a:pt x="81" y="168"/>
                      <a:pt x="79" y="179"/>
                    </a:cubicBezTo>
                    <a:cubicBezTo>
                      <a:pt x="77" y="190"/>
                      <a:pt x="75" y="204"/>
                      <a:pt x="73" y="220"/>
                    </a:cubicBezTo>
                    <a:cubicBezTo>
                      <a:pt x="72" y="227"/>
                      <a:pt x="71" y="232"/>
                      <a:pt x="71" y="236"/>
                    </a:cubicBezTo>
                    <a:cubicBezTo>
                      <a:pt x="71" y="240"/>
                      <a:pt x="72" y="243"/>
                      <a:pt x="72" y="246"/>
                    </a:cubicBezTo>
                    <a:cubicBezTo>
                      <a:pt x="72" y="248"/>
                      <a:pt x="73" y="250"/>
                      <a:pt x="74" y="251"/>
                    </a:cubicBezTo>
                    <a:cubicBezTo>
                      <a:pt x="75" y="253"/>
                      <a:pt x="76" y="254"/>
                      <a:pt x="77" y="255"/>
                    </a:cubicBezTo>
                    <a:cubicBezTo>
                      <a:pt x="72" y="266"/>
                      <a:pt x="72" y="266"/>
                      <a:pt x="72" y="266"/>
                    </a:cubicBezTo>
                    <a:close/>
                    <a:moveTo>
                      <a:pt x="113" y="88"/>
                    </a:moveTo>
                    <a:cubicBezTo>
                      <a:pt x="119" y="75"/>
                      <a:pt x="122" y="64"/>
                      <a:pt x="122" y="54"/>
                    </a:cubicBezTo>
                    <a:cubicBezTo>
                      <a:pt x="123" y="45"/>
                      <a:pt x="121" y="38"/>
                      <a:pt x="116" y="35"/>
                    </a:cubicBezTo>
                    <a:cubicBezTo>
                      <a:pt x="108" y="28"/>
                      <a:pt x="108" y="28"/>
                      <a:pt x="108" y="28"/>
                    </a:cubicBezTo>
                    <a:cubicBezTo>
                      <a:pt x="68" y="119"/>
                      <a:pt x="68" y="119"/>
                      <a:pt x="68" y="119"/>
                    </a:cubicBezTo>
                    <a:cubicBezTo>
                      <a:pt x="75" y="124"/>
                      <a:pt x="75" y="124"/>
                      <a:pt x="75" y="124"/>
                    </a:cubicBezTo>
                    <a:cubicBezTo>
                      <a:pt x="80" y="128"/>
                      <a:pt x="86" y="126"/>
                      <a:pt x="93" y="120"/>
                    </a:cubicBezTo>
                    <a:cubicBezTo>
                      <a:pt x="100" y="113"/>
                      <a:pt x="107" y="103"/>
                      <a:pt x="113" y="88"/>
                    </a:cubicBez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5" name="iŝļîḍé"/>
              <p:cNvSpPr/>
              <p:nvPr/>
            </p:nvSpPr>
            <p:spPr bwMode="auto">
              <a:xfrm>
                <a:off x="2703513" y="3976688"/>
                <a:ext cx="84138" cy="193675"/>
              </a:xfrm>
              <a:custGeom>
                <a:avLst/>
                <a:gdLst>
                  <a:gd name="T0" fmla="*/ 76 w 108"/>
                  <a:gd name="T1" fmla="*/ 142 h 247"/>
                  <a:gd name="T2" fmla="*/ 76 w 108"/>
                  <a:gd name="T3" fmla="*/ 162 h 247"/>
                  <a:gd name="T4" fmla="*/ 71 w 108"/>
                  <a:gd name="T5" fmla="*/ 185 h 247"/>
                  <a:gd name="T6" fmla="*/ 51 w 108"/>
                  <a:gd name="T7" fmla="*/ 232 h 247"/>
                  <a:gd name="T8" fmla="*/ 27 w 108"/>
                  <a:gd name="T9" fmla="*/ 244 h 247"/>
                  <a:gd name="T10" fmla="*/ 17 w 108"/>
                  <a:gd name="T11" fmla="*/ 234 h 247"/>
                  <a:gd name="T12" fmla="*/ 10 w 108"/>
                  <a:gd name="T13" fmla="*/ 219 h 247"/>
                  <a:gd name="T14" fmla="*/ 5 w 108"/>
                  <a:gd name="T15" fmla="*/ 229 h 247"/>
                  <a:gd name="T16" fmla="*/ 0 w 108"/>
                  <a:gd name="T17" fmla="*/ 228 h 247"/>
                  <a:gd name="T18" fmla="*/ 19 w 108"/>
                  <a:gd name="T19" fmla="*/ 148 h 247"/>
                  <a:gd name="T20" fmla="*/ 23 w 108"/>
                  <a:gd name="T21" fmla="*/ 150 h 247"/>
                  <a:gd name="T22" fmla="*/ 20 w 108"/>
                  <a:gd name="T23" fmla="*/ 178 h 247"/>
                  <a:gd name="T24" fmla="*/ 20 w 108"/>
                  <a:gd name="T25" fmla="*/ 202 h 247"/>
                  <a:gd name="T26" fmla="*/ 23 w 108"/>
                  <a:gd name="T27" fmla="*/ 220 h 247"/>
                  <a:gd name="T28" fmla="*/ 31 w 108"/>
                  <a:gd name="T29" fmla="*/ 230 h 247"/>
                  <a:gd name="T30" fmla="*/ 39 w 108"/>
                  <a:gd name="T31" fmla="*/ 230 h 247"/>
                  <a:gd name="T32" fmla="*/ 46 w 108"/>
                  <a:gd name="T33" fmla="*/ 223 h 247"/>
                  <a:gd name="T34" fmla="*/ 51 w 108"/>
                  <a:gd name="T35" fmla="*/ 212 h 247"/>
                  <a:gd name="T36" fmla="*/ 56 w 108"/>
                  <a:gd name="T37" fmla="*/ 196 h 247"/>
                  <a:gd name="T38" fmla="*/ 60 w 108"/>
                  <a:gd name="T39" fmla="*/ 169 h 247"/>
                  <a:gd name="T40" fmla="*/ 56 w 108"/>
                  <a:gd name="T41" fmla="*/ 147 h 247"/>
                  <a:gd name="T42" fmla="*/ 50 w 108"/>
                  <a:gd name="T43" fmla="*/ 134 h 247"/>
                  <a:gd name="T44" fmla="*/ 44 w 108"/>
                  <a:gd name="T45" fmla="*/ 121 h 247"/>
                  <a:gd name="T46" fmla="*/ 39 w 108"/>
                  <a:gd name="T47" fmla="*/ 93 h 247"/>
                  <a:gd name="T48" fmla="*/ 44 w 108"/>
                  <a:gd name="T49" fmla="*/ 54 h 247"/>
                  <a:gd name="T50" fmla="*/ 52 w 108"/>
                  <a:gd name="T51" fmla="*/ 30 h 247"/>
                  <a:gd name="T52" fmla="*/ 62 w 108"/>
                  <a:gd name="T53" fmla="*/ 12 h 247"/>
                  <a:gd name="T54" fmla="*/ 73 w 108"/>
                  <a:gd name="T55" fmla="*/ 2 h 247"/>
                  <a:gd name="T56" fmla="*/ 84 w 108"/>
                  <a:gd name="T57" fmla="*/ 1 h 247"/>
                  <a:gd name="T58" fmla="*/ 93 w 108"/>
                  <a:gd name="T59" fmla="*/ 11 h 247"/>
                  <a:gd name="T60" fmla="*/ 98 w 108"/>
                  <a:gd name="T61" fmla="*/ 25 h 247"/>
                  <a:gd name="T62" fmla="*/ 103 w 108"/>
                  <a:gd name="T63" fmla="*/ 15 h 247"/>
                  <a:gd name="T64" fmla="*/ 108 w 108"/>
                  <a:gd name="T65" fmla="*/ 17 h 247"/>
                  <a:gd name="T66" fmla="*/ 89 w 108"/>
                  <a:gd name="T67" fmla="*/ 94 h 247"/>
                  <a:gd name="T68" fmla="*/ 85 w 108"/>
                  <a:gd name="T69" fmla="*/ 92 h 247"/>
                  <a:gd name="T70" fmla="*/ 88 w 108"/>
                  <a:gd name="T71" fmla="*/ 66 h 247"/>
                  <a:gd name="T72" fmla="*/ 89 w 108"/>
                  <a:gd name="T73" fmla="*/ 42 h 247"/>
                  <a:gd name="T74" fmla="*/ 87 w 108"/>
                  <a:gd name="T75" fmla="*/ 25 h 247"/>
                  <a:gd name="T76" fmla="*/ 80 w 108"/>
                  <a:gd name="T77" fmla="*/ 15 h 247"/>
                  <a:gd name="T78" fmla="*/ 68 w 108"/>
                  <a:gd name="T79" fmla="*/ 21 h 247"/>
                  <a:gd name="T80" fmla="*/ 58 w 108"/>
                  <a:gd name="T81" fmla="*/ 44 h 247"/>
                  <a:gd name="T82" fmla="*/ 55 w 108"/>
                  <a:gd name="T83" fmla="*/ 70 h 247"/>
                  <a:gd name="T84" fmla="*/ 58 w 108"/>
                  <a:gd name="T85" fmla="*/ 89 h 247"/>
                  <a:gd name="T86" fmla="*/ 64 w 108"/>
                  <a:gd name="T87" fmla="*/ 103 h 247"/>
                  <a:gd name="T88" fmla="*/ 69 w 108"/>
                  <a:gd name="T89" fmla="*/ 115 h 247"/>
                  <a:gd name="T90" fmla="*/ 74 w 108"/>
                  <a:gd name="T91" fmla="*/ 127 h 247"/>
                  <a:gd name="T92" fmla="*/ 76 w 108"/>
                  <a:gd name="T93" fmla="*/ 142 h 2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108" h="247">
                    <a:moveTo>
                      <a:pt x="76" y="142"/>
                    </a:moveTo>
                    <a:cubicBezTo>
                      <a:pt x="76" y="148"/>
                      <a:pt x="76" y="155"/>
                      <a:pt x="76" y="162"/>
                    </a:cubicBezTo>
                    <a:cubicBezTo>
                      <a:pt x="75" y="168"/>
                      <a:pt x="73" y="176"/>
                      <a:pt x="71" y="185"/>
                    </a:cubicBezTo>
                    <a:cubicBezTo>
                      <a:pt x="66" y="205"/>
                      <a:pt x="60" y="221"/>
                      <a:pt x="51" y="232"/>
                    </a:cubicBezTo>
                    <a:cubicBezTo>
                      <a:pt x="43" y="243"/>
                      <a:pt x="34" y="247"/>
                      <a:pt x="27" y="244"/>
                    </a:cubicBezTo>
                    <a:cubicBezTo>
                      <a:pt x="23" y="242"/>
                      <a:pt x="20" y="239"/>
                      <a:pt x="17" y="234"/>
                    </a:cubicBezTo>
                    <a:cubicBezTo>
                      <a:pt x="14" y="229"/>
                      <a:pt x="12" y="224"/>
                      <a:pt x="10" y="219"/>
                    </a:cubicBezTo>
                    <a:cubicBezTo>
                      <a:pt x="5" y="229"/>
                      <a:pt x="5" y="229"/>
                      <a:pt x="5" y="229"/>
                    </a:cubicBezTo>
                    <a:cubicBezTo>
                      <a:pt x="0" y="228"/>
                      <a:pt x="0" y="228"/>
                      <a:pt x="0" y="228"/>
                    </a:cubicBezTo>
                    <a:cubicBezTo>
                      <a:pt x="19" y="148"/>
                      <a:pt x="19" y="148"/>
                      <a:pt x="19" y="148"/>
                    </a:cubicBezTo>
                    <a:cubicBezTo>
                      <a:pt x="23" y="150"/>
                      <a:pt x="23" y="150"/>
                      <a:pt x="23" y="150"/>
                    </a:cubicBezTo>
                    <a:cubicBezTo>
                      <a:pt x="22" y="160"/>
                      <a:pt x="21" y="169"/>
                      <a:pt x="20" y="178"/>
                    </a:cubicBezTo>
                    <a:cubicBezTo>
                      <a:pt x="20" y="186"/>
                      <a:pt x="20" y="194"/>
                      <a:pt x="20" y="202"/>
                    </a:cubicBezTo>
                    <a:cubicBezTo>
                      <a:pt x="20" y="209"/>
                      <a:pt x="22" y="215"/>
                      <a:pt x="23" y="220"/>
                    </a:cubicBezTo>
                    <a:cubicBezTo>
                      <a:pt x="25" y="225"/>
                      <a:pt x="28" y="228"/>
                      <a:pt x="31" y="230"/>
                    </a:cubicBezTo>
                    <a:cubicBezTo>
                      <a:pt x="34" y="231"/>
                      <a:pt x="36" y="231"/>
                      <a:pt x="39" y="230"/>
                    </a:cubicBezTo>
                    <a:cubicBezTo>
                      <a:pt x="41" y="229"/>
                      <a:pt x="43" y="226"/>
                      <a:pt x="46" y="223"/>
                    </a:cubicBezTo>
                    <a:cubicBezTo>
                      <a:pt x="48" y="220"/>
                      <a:pt x="50" y="217"/>
                      <a:pt x="51" y="212"/>
                    </a:cubicBezTo>
                    <a:cubicBezTo>
                      <a:pt x="53" y="207"/>
                      <a:pt x="55" y="202"/>
                      <a:pt x="56" y="196"/>
                    </a:cubicBezTo>
                    <a:cubicBezTo>
                      <a:pt x="58" y="186"/>
                      <a:pt x="60" y="177"/>
                      <a:pt x="60" y="169"/>
                    </a:cubicBezTo>
                    <a:cubicBezTo>
                      <a:pt x="60" y="160"/>
                      <a:pt x="59" y="153"/>
                      <a:pt x="56" y="147"/>
                    </a:cubicBezTo>
                    <a:cubicBezTo>
                      <a:pt x="54" y="143"/>
                      <a:pt x="52" y="139"/>
                      <a:pt x="50" y="134"/>
                    </a:cubicBezTo>
                    <a:cubicBezTo>
                      <a:pt x="47" y="129"/>
                      <a:pt x="45" y="125"/>
                      <a:pt x="44" y="121"/>
                    </a:cubicBezTo>
                    <a:cubicBezTo>
                      <a:pt x="41" y="113"/>
                      <a:pt x="39" y="104"/>
                      <a:pt x="39" y="93"/>
                    </a:cubicBezTo>
                    <a:cubicBezTo>
                      <a:pt x="38" y="83"/>
                      <a:pt x="40" y="70"/>
                      <a:pt x="44" y="54"/>
                    </a:cubicBezTo>
                    <a:cubicBezTo>
                      <a:pt x="46" y="46"/>
                      <a:pt x="49" y="38"/>
                      <a:pt x="52" y="30"/>
                    </a:cubicBezTo>
                    <a:cubicBezTo>
                      <a:pt x="55" y="23"/>
                      <a:pt x="58" y="17"/>
                      <a:pt x="62" y="12"/>
                    </a:cubicBezTo>
                    <a:cubicBezTo>
                      <a:pt x="66" y="8"/>
                      <a:pt x="69" y="4"/>
                      <a:pt x="73" y="2"/>
                    </a:cubicBezTo>
                    <a:cubicBezTo>
                      <a:pt x="77" y="0"/>
                      <a:pt x="80" y="0"/>
                      <a:pt x="84" y="1"/>
                    </a:cubicBezTo>
                    <a:cubicBezTo>
                      <a:pt x="88" y="3"/>
                      <a:pt x="90" y="6"/>
                      <a:pt x="93" y="11"/>
                    </a:cubicBezTo>
                    <a:cubicBezTo>
                      <a:pt x="95" y="15"/>
                      <a:pt x="97" y="20"/>
                      <a:pt x="98" y="25"/>
                    </a:cubicBezTo>
                    <a:cubicBezTo>
                      <a:pt x="103" y="15"/>
                      <a:pt x="103" y="15"/>
                      <a:pt x="103" y="15"/>
                    </a:cubicBezTo>
                    <a:cubicBezTo>
                      <a:pt x="108" y="17"/>
                      <a:pt x="108" y="17"/>
                      <a:pt x="108" y="17"/>
                    </a:cubicBezTo>
                    <a:cubicBezTo>
                      <a:pt x="89" y="94"/>
                      <a:pt x="89" y="94"/>
                      <a:pt x="89" y="94"/>
                    </a:cubicBezTo>
                    <a:cubicBezTo>
                      <a:pt x="85" y="92"/>
                      <a:pt x="85" y="92"/>
                      <a:pt x="85" y="92"/>
                    </a:cubicBezTo>
                    <a:cubicBezTo>
                      <a:pt x="86" y="83"/>
                      <a:pt x="87" y="74"/>
                      <a:pt x="88" y="66"/>
                    </a:cubicBezTo>
                    <a:cubicBezTo>
                      <a:pt x="89" y="57"/>
                      <a:pt x="89" y="49"/>
                      <a:pt x="89" y="42"/>
                    </a:cubicBezTo>
                    <a:cubicBezTo>
                      <a:pt x="89" y="35"/>
                      <a:pt x="88" y="29"/>
                      <a:pt x="87" y="25"/>
                    </a:cubicBezTo>
                    <a:cubicBezTo>
                      <a:pt x="85" y="20"/>
                      <a:pt x="83" y="17"/>
                      <a:pt x="80" y="15"/>
                    </a:cubicBezTo>
                    <a:cubicBezTo>
                      <a:pt x="76" y="14"/>
                      <a:pt x="72" y="16"/>
                      <a:pt x="68" y="21"/>
                    </a:cubicBezTo>
                    <a:cubicBezTo>
                      <a:pt x="64" y="27"/>
                      <a:pt x="60" y="35"/>
                      <a:pt x="58" y="44"/>
                    </a:cubicBezTo>
                    <a:cubicBezTo>
                      <a:pt x="56" y="54"/>
                      <a:pt x="55" y="63"/>
                      <a:pt x="55" y="70"/>
                    </a:cubicBezTo>
                    <a:cubicBezTo>
                      <a:pt x="55" y="77"/>
                      <a:pt x="56" y="84"/>
                      <a:pt x="58" y="89"/>
                    </a:cubicBezTo>
                    <a:cubicBezTo>
                      <a:pt x="60" y="94"/>
                      <a:pt x="62" y="99"/>
                      <a:pt x="64" y="103"/>
                    </a:cubicBezTo>
                    <a:cubicBezTo>
                      <a:pt x="66" y="106"/>
                      <a:pt x="68" y="111"/>
                      <a:pt x="69" y="115"/>
                    </a:cubicBezTo>
                    <a:cubicBezTo>
                      <a:pt x="71" y="119"/>
                      <a:pt x="72" y="123"/>
                      <a:pt x="74" y="127"/>
                    </a:cubicBezTo>
                    <a:cubicBezTo>
                      <a:pt x="75" y="132"/>
                      <a:pt x="76" y="137"/>
                      <a:pt x="76" y="142"/>
                    </a:cubicBez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6" name="iṩḻíḋè"/>
              <p:cNvSpPr/>
              <p:nvPr/>
            </p:nvSpPr>
            <p:spPr bwMode="auto">
              <a:xfrm>
                <a:off x="2749551" y="3994151"/>
                <a:ext cx="73025" cy="193675"/>
              </a:xfrm>
              <a:custGeom>
                <a:avLst/>
                <a:gdLst>
                  <a:gd name="T0" fmla="*/ 36 w 94"/>
                  <a:gd name="T1" fmla="*/ 247 h 247"/>
                  <a:gd name="T2" fmla="*/ 0 w 94"/>
                  <a:gd name="T3" fmla="*/ 231 h 247"/>
                  <a:gd name="T4" fmla="*/ 3 w 94"/>
                  <a:gd name="T5" fmla="*/ 219 h 247"/>
                  <a:gd name="T6" fmla="*/ 7 w 94"/>
                  <a:gd name="T7" fmla="*/ 220 h 247"/>
                  <a:gd name="T8" fmla="*/ 12 w 94"/>
                  <a:gd name="T9" fmla="*/ 220 h 247"/>
                  <a:gd name="T10" fmla="*/ 16 w 94"/>
                  <a:gd name="T11" fmla="*/ 215 h 247"/>
                  <a:gd name="T12" fmla="*/ 20 w 94"/>
                  <a:gd name="T13" fmla="*/ 206 h 247"/>
                  <a:gd name="T14" fmla="*/ 62 w 94"/>
                  <a:gd name="T15" fmla="*/ 38 h 247"/>
                  <a:gd name="T16" fmla="*/ 63 w 94"/>
                  <a:gd name="T17" fmla="*/ 29 h 247"/>
                  <a:gd name="T18" fmla="*/ 62 w 94"/>
                  <a:gd name="T19" fmla="*/ 21 h 247"/>
                  <a:gd name="T20" fmla="*/ 59 w 94"/>
                  <a:gd name="T21" fmla="*/ 15 h 247"/>
                  <a:gd name="T22" fmla="*/ 55 w 94"/>
                  <a:gd name="T23" fmla="*/ 11 h 247"/>
                  <a:gd name="T24" fmla="*/ 58 w 94"/>
                  <a:gd name="T25" fmla="*/ 0 h 247"/>
                  <a:gd name="T26" fmla="*/ 94 w 94"/>
                  <a:gd name="T27" fmla="*/ 16 h 247"/>
                  <a:gd name="T28" fmla="*/ 91 w 94"/>
                  <a:gd name="T29" fmla="*/ 27 h 247"/>
                  <a:gd name="T30" fmla="*/ 87 w 94"/>
                  <a:gd name="T31" fmla="*/ 27 h 247"/>
                  <a:gd name="T32" fmla="*/ 82 w 94"/>
                  <a:gd name="T33" fmla="*/ 28 h 247"/>
                  <a:gd name="T34" fmla="*/ 77 w 94"/>
                  <a:gd name="T35" fmla="*/ 33 h 247"/>
                  <a:gd name="T36" fmla="*/ 74 w 94"/>
                  <a:gd name="T37" fmla="*/ 42 h 247"/>
                  <a:gd name="T38" fmla="*/ 32 w 94"/>
                  <a:gd name="T39" fmla="*/ 209 h 247"/>
                  <a:gd name="T40" fmla="*/ 31 w 94"/>
                  <a:gd name="T41" fmla="*/ 219 h 247"/>
                  <a:gd name="T42" fmla="*/ 32 w 94"/>
                  <a:gd name="T43" fmla="*/ 227 h 247"/>
                  <a:gd name="T44" fmla="*/ 35 w 94"/>
                  <a:gd name="T45" fmla="*/ 231 h 247"/>
                  <a:gd name="T46" fmla="*/ 39 w 94"/>
                  <a:gd name="T47" fmla="*/ 235 h 247"/>
                  <a:gd name="T48" fmla="*/ 36 w 94"/>
                  <a:gd name="T49" fmla="*/ 247 h 2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94" h="247">
                    <a:moveTo>
                      <a:pt x="36" y="247"/>
                    </a:moveTo>
                    <a:cubicBezTo>
                      <a:pt x="0" y="231"/>
                      <a:pt x="0" y="231"/>
                      <a:pt x="0" y="231"/>
                    </a:cubicBezTo>
                    <a:cubicBezTo>
                      <a:pt x="3" y="219"/>
                      <a:pt x="3" y="219"/>
                      <a:pt x="3" y="219"/>
                    </a:cubicBezTo>
                    <a:cubicBezTo>
                      <a:pt x="4" y="219"/>
                      <a:pt x="5" y="220"/>
                      <a:pt x="7" y="220"/>
                    </a:cubicBezTo>
                    <a:cubicBezTo>
                      <a:pt x="9" y="221"/>
                      <a:pt x="11" y="220"/>
                      <a:pt x="12" y="220"/>
                    </a:cubicBezTo>
                    <a:cubicBezTo>
                      <a:pt x="14" y="219"/>
                      <a:pt x="15" y="218"/>
                      <a:pt x="16" y="215"/>
                    </a:cubicBezTo>
                    <a:cubicBezTo>
                      <a:pt x="17" y="213"/>
                      <a:pt x="18" y="210"/>
                      <a:pt x="20" y="206"/>
                    </a:cubicBezTo>
                    <a:cubicBezTo>
                      <a:pt x="62" y="38"/>
                      <a:pt x="62" y="38"/>
                      <a:pt x="62" y="38"/>
                    </a:cubicBezTo>
                    <a:cubicBezTo>
                      <a:pt x="63" y="35"/>
                      <a:pt x="63" y="31"/>
                      <a:pt x="63" y="29"/>
                    </a:cubicBezTo>
                    <a:cubicBezTo>
                      <a:pt x="64" y="26"/>
                      <a:pt x="63" y="23"/>
                      <a:pt x="62" y="21"/>
                    </a:cubicBezTo>
                    <a:cubicBezTo>
                      <a:pt x="61" y="19"/>
                      <a:pt x="60" y="17"/>
                      <a:pt x="59" y="15"/>
                    </a:cubicBezTo>
                    <a:cubicBezTo>
                      <a:pt x="57" y="13"/>
                      <a:pt x="56" y="12"/>
                      <a:pt x="55" y="11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94" y="16"/>
                      <a:pt x="94" y="16"/>
                      <a:pt x="94" y="16"/>
                    </a:cubicBezTo>
                    <a:cubicBezTo>
                      <a:pt x="91" y="27"/>
                      <a:pt x="91" y="27"/>
                      <a:pt x="91" y="27"/>
                    </a:cubicBezTo>
                    <a:cubicBezTo>
                      <a:pt x="90" y="27"/>
                      <a:pt x="89" y="27"/>
                      <a:pt x="87" y="27"/>
                    </a:cubicBezTo>
                    <a:cubicBezTo>
                      <a:pt x="85" y="27"/>
                      <a:pt x="83" y="27"/>
                      <a:pt x="82" y="28"/>
                    </a:cubicBezTo>
                    <a:cubicBezTo>
                      <a:pt x="80" y="28"/>
                      <a:pt x="79" y="30"/>
                      <a:pt x="77" y="33"/>
                    </a:cubicBezTo>
                    <a:cubicBezTo>
                      <a:pt x="76" y="35"/>
                      <a:pt x="75" y="39"/>
                      <a:pt x="74" y="42"/>
                    </a:cubicBezTo>
                    <a:cubicBezTo>
                      <a:pt x="32" y="209"/>
                      <a:pt x="32" y="209"/>
                      <a:pt x="32" y="209"/>
                    </a:cubicBezTo>
                    <a:cubicBezTo>
                      <a:pt x="31" y="213"/>
                      <a:pt x="31" y="216"/>
                      <a:pt x="31" y="219"/>
                    </a:cubicBezTo>
                    <a:cubicBezTo>
                      <a:pt x="30" y="222"/>
                      <a:pt x="31" y="225"/>
                      <a:pt x="32" y="227"/>
                    </a:cubicBezTo>
                    <a:cubicBezTo>
                      <a:pt x="32" y="228"/>
                      <a:pt x="33" y="229"/>
                      <a:pt x="35" y="231"/>
                    </a:cubicBezTo>
                    <a:cubicBezTo>
                      <a:pt x="36" y="233"/>
                      <a:pt x="38" y="234"/>
                      <a:pt x="39" y="235"/>
                    </a:cubicBezTo>
                    <a:lnTo>
                      <a:pt x="36" y="247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7" name="iṥ1íďé"/>
              <p:cNvSpPr/>
              <p:nvPr/>
            </p:nvSpPr>
            <p:spPr bwMode="auto">
              <a:xfrm>
                <a:off x="2803526" y="4005263"/>
                <a:ext cx="80963" cy="200025"/>
              </a:xfrm>
              <a:custGeom>
                <a:avLst/>
                <a:gdLst>
                  <a:gd name="T0" fmla="*/ 90 w 103"/>
                  <a:gd name="T1" fmla="*/ 89 h 254"/>
                  <a:gd name="T2" fmla="*/ 86 w 103"/>
                  <a:gd name="T3" fmla="*/ 87 h 254"/>
                  <a:gd name="T4" fmla="*/ 87 w 103"/>
                  <a:gd name="T5" fmla="*/ 72 h 254"/>
                  <a:gd name="T6" fmla="*/ 87 w 103"/>
                  <a:gd name="T7" fmla="*/ 56 h 254"/>
                  <a:gd name="T8" fmla="*/ 86 w 103"/>
                  <a:gd name="T9" fmla="*/ 41 h 254"/>
                  <a:gd name="T10" fmla="*/ 83 w 103"/>
                  <a:gd name="T11" fmla="*/ 33 h 254"/>
                  <a:gd name="T12" fmla="*/ 79 w 103"/>
                  <a:gd name="T13" fmla="*/ 31 h 254"/>
                  <a:gd name="T14" fmla="*/ 74 w 103"/>
                  <a:gd name="T15" fmla="*/ 29 h 254"/>
                  <a:gd name="T16" fmla="*/ 71 w 103"/>
                  <a:gd name="T17" fmla="*/ 27 h 254"/>
                  <a:gd name="T18" fmla="*/ 33 w 103"/>
                  <a:gd name="T19" fmla="*/ 215 h 254"/>
                  <a:gd name="T20" fmla="*/ 31 w 103"/>
                  <a:gd name="T21" fmla="*/ 225 h 254"/>
                  <a:gd name="T22" fmla="*/ 33 w 103"/>
                  <a:gd name="T23" fmla="*/ 233 h 254"/>
                  <a:gd name="T24" fmla="*/ 36 w 103"/>
                  <a:gd name="T25" fmla="*/ 238 h 254"/>
                  <a:gd name="T26" fmla="*/ 41 w 103"/>
                  <a:gd name="T27" fmla="*/ 242 h 254"/>
                  <a:gd name="T28" fmla="*/ 39 w 103"/>
                  <a:gd name="T29" fmla="*/ 254 h 254"/>
                  <a:gd name="T30" fmla="*/ 0 w 103"/>
                  <a:gd name="T31" fmla="*/ 240 h 254"/>
                  <a:gd name="T32" fmla="*/ 2 w 103"/>
                  <a:gd name="T33" fmla="*/ 228 h 254"/>
                  <a:gd name="T34" fmla="*/ 8 w 103"/>
                  <a:gd name="T35" fmla="*/ 229 h 254"/>
                  <a:gd name="T36" fmla="*/ 13 w 103"/>
                  <a:gd name="T37" fmla="*/ 228 h 254"/>
                  <a:gd name="T38" fmla="*/ 17 w 103"/>
                  <a:gd name="T39" fmla="*/ 223 h 254"/>
                  <a:gd name="T40" fmla="*/ 20 w 103"/>
                  <a:gd name="T41" fmla="*/ 212 h 254"/>
                  <a:gd name="T42" fmla="*/ 58 w 103"/>
                  <a:gd name="T43" fmla="*/ 23 h 254"/>
                  <a:gd name="T44" fmla="*/ 55 w 103"/>
                  <a:gd name="T45" fmla="*/ 22 h 254"/>
                  <a:gd name="T46" fmla="*/ 50 w 103"/>
                  <a:gd name="T47" fmla="*/ 21 h 254"/>
                  <a:gd name="T48" fmla="*/ 45 w 103"/>
                  <a:gd name="T49" fmla="*/ 20 h 254"/>
                  <a:gd name="T50" fmla="*/ 40 w 103"/>
                  <a:gd name="T51" fmla="*/ 25 h 254"/>
                  <a:gd name="T52" fmla="*/ 33 w 103"/>
                  <a:gd name="T53" fmla="*/ 37 h 254"/>
                  <a:gd name="T54" fmla="*/ 27 w 103"/>
                  <a:gd name="T55" fmla="*/ 52 h 254"/>
                  <a:gd name="T56" fmla="*/ 22 w 103"/>
                  <a:gd name="T57" fmla="*/ 65 h 254"/>
                  <a:gd name="T58" fmla="*/ 18 w 103"/>
                  <a:gd name="T59" fmla="*/ 63 h 254"/>
                  <a:gd name="T60" fmla="*/ 31 w 103"/>
                  <a:gd name="T61" fmla="*/ 0 h 254"/>
                  <a:gd name="T62" fmla="*/ 103 w 103"/>
                  <a:gd name="T63" fmla="*/ 25 h 254"/>
                  <a:gd name="T64" fmla="*/ 90 w 103"/>
                  <a:gd name="T65" fmla="*/ 89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03" h="254">
                    <a:moveTo>
                      <a:pt x="90" y="89"/>
                    </a:moveTo>
                    <a:cubicBezTo>
                      <a:pt x="86" y="87"/>
                      <a:pt x="86" y="87"/>
                      <a:pt x="86" y="87"/>
                    </a:cubicBezTo>
                    <a:cubicBezTo>
                      <a:pt x="86" y="83"/>
                      <a:pt x="87" y="78"/>
                      <a:pt x="87" y="72"/>
                    </a:cubicBezTo>
                    <a:cubicBezTo>
                      <a:pt x="87" y="67"/>
                      <a:pt x="87" y="61"/>
                      <a:pt x="87" y="56"/>
                    </a:cubicBezTo>
                    <a:cubicBezTo>
                      <a:pt x="87" y="50"/>
                      <a:pt x="87" y="45"/>
                      <a:pt x="86" y="41"/>
                    </a:cubicBezTo>
                    <a:cubicBezTo>
                      <a:pt x="85" y="37"/>
                      <a:pt x="84" y="34"/>
                      <a:pt x="83" y="33"/>
                    </a:cubicBezTo>
                    <a:cubicBezTo>
                      <a:pt x="82" y="32"/>
                      <a:pt x="81" y="32"/>
                      <a:pt x="79" y="31"/>
                    </a:cubicBezTo>
                    <a:cubicBezTo>
                      <a:pt x="77" y="30"/>
                      <a:pt x="76" y="29"/>
                      <a:pt x="74" y="29"/>
                    </a:cubicBezTo>
                    <a:cubicBezTo>
                      <a:pt x="71" y="27"/>
                      <a:pt x="71" y="27"/>
                      <a:pt x="71" y="27"/>
                    </a:cubicBezTo>
                    <a:cubicBezTo>
                      <a:pt x="33" y="215"/>
                      <a:pt x="33" y="215"/>
                      <a:pt x="33" y="215"/>
                    </a:cubicBezTo>
                    <a:cubicBezTo>
                      <a:pt x="32" y="219"/>
                      <a:pt x="31" y="222"/>
                      <a:pt x="31" y="225"/>
                    </a:cubicBezTo>
                    <a:cubicBezTo>
                      <a:pt x="31" y="229"/>
                      <a:pt x="32" y="231"/>
                      <a:pt x="33" y="233"/>
                    </a:cubicBezTo>
                    <a:cubicBezTo>
                      <a:pt x="33" y="235"/>
                      <a:pt x="35" y="236"/>
                      <a:pt x="36" y="238"/>
                    </a:cubicBezTo>
                    <a:cubicBezTo>
                      <a:pt x="38" y="240"/>
                      <a:pt x="40" y="242"/>
                      <a:pt x="41" y="242"/>
                    </a:cubicBezTo>
                    <a:cubicBezTo>
                      <a:pt x="39" y="254"/>
                      <a:pt x="39" y="254"/>
                      <a:pt x="39" y="254"/>
                    </a:cubicBezTo>
                    <a:cubicBezTo>
                      <a:pt x="0" y="240"/>
                      <a:pt x="0" y="240"/>
                      <a:pt x="0" y="240"/>
                    </a:cubicBezTo>
                    <a:cubicBezTo>
                      <a:pt x="2" y="228"/>
                      <a:pt x="2" y="228"/>
                      <a:pt x="2" y="228"/>
                    </a:cubicBezTo>
                    <a:cubicBezTo>
                      <a:pt x="3" y="229"/>
                      <a:pt x="5" y="229"/>
                      <a:pt x="8" y="229"/>
                    </a:cubicBezTo>
                    <a:cubicBezTo>
                      <a:pt x="10" y="229"/>
                      <a:pt x="12" y="229"/>
                      <a:pt x="13" y="228"/>
                    </a:cubicBezTo>
                    <a:cubicBezTo>
                      <a:pt x="14" y="227"/>
                      <a:pt x="16" y="225"/>
                      <a:pt x="17" y="223"/>
                    </a:cubicBezTo>
                    <a:cubicBezTo>
                      <a:pt x="18" y="220"/>
                      <a:pt x="19" y="217"/>
                      <a:pt x="20" y="212"/>
                    </a:cubicBezTo>
                    <a:cubicBezTo>
                      <a:pt x="58" y="23"/>
                      <a:pt x="58" y="23"/>
                      <a:pt x="58" y="23"/>
                    </a:cubicBezTo>
                    <a:cubicBezTo>
                      <a:pt x="55" y="22"/>
                      <a:pt x="55" y="22"/>
                      <a:pt x="55" y="22"/>
                    </a:cubicBezTo>
                    <a:cubicBezTo>
                      <a:pt x="54" y="21"/>
                      <a:pt x="52" y="21"/>
                      <a:pt x="50" y="21"/>
                    </a:cubicBezTo>
                    <a:cubicBezTo>
                      <a:pt x="49" y="20"/>
                      <a:pt x="47" y="20"/>
                      <a:pt x="45" y="20"/>
                    </a:cubicBezTo>
                    <a:cubicBezTo>
                      <a:pt x="44" y="20"/>
                      <a:pt x="42" y="21"/>
                      <a:pt x="40" y="25"/>
                    </a:cubicBezTo>
                    <a:cubicBezTo>
                      <a:pt x="38" y="28"/>
                      <a:pt x="35" y="32"/>
                      <a:pt x="33" y="37"/>
                    </a:cubicBezTo>
                    <a:cubicBezTo>
                      <a:pt x="31" y="41"/>
                      <a:pt x="29" y="46"/>
                      <a:pt x="27" y="52"/>
                    </a:cubicBezTo>
                    <a:cubicBezTo>
                      <a:pt x="25" y="57"/>
                      <a:pt x="23" y="61"/>
                      <a:pt x="22" y="65"/>
                    </a:cubicBezTo>
                    <a:cubicBezTo>
                      <a:pt x="18" y="63"/>
                      <a:pt x="18" y="63"/>
                      <a:pt x="18" y="63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103" y="25"/>
                      <a:pt x="103" y="25"/>
                      <a:pt x="103" y="25"/>
                    </a:cubicBezTo>
                    <a:lnTo>
                      <a:pt x="90" y="89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8" name="íṥḷíḑè"/>
              <p:cNvSpPr/>
              <p:nvPr/>
            </p:nvSpPr>
            <p:spPr bwMode="auto">
              <a:xfrm>
                <a:off x="2876551" y="4029076"/>
                <a:ext cx="74613" cy="200025"/>
              </a:xfrm>
              <a:custGeom>
                <a:avLst/>
                <a:gdLst>
                  <a:gd name="T0" fmla="*/ 95 w 96"/>
                  <a:gd name="T1" fmla="*/ 33 h 254"/>
                  <a:gd name="T2" fmla="*/ 91 w 96"/>
                  <a:gd name="T3" fmla="*/ 34 h 254"/>
                  <a:gd name="T4" fmla="*/ 87 w 96"/>
                  <a:gd name="T5" fmla="*/ 37 h 254"/>
                  <a:gd name="T6" fmla="*/ 83 w 96"/>
                  <a:gd name="T7" fmla="*/ 43 h 254"/>
                  <a:gd name="T8" fmla="*/ 78 w 96"/>
                  <a:gd name="T9" fmla="*/ 53 h 254"/>
                  <a:gd name="T10" fmla="*/ 64 w 96"/>
                  <a:gd name="T11" fmla="*/ 89 h 254"/>
                  <a:gd name="T12" fmla="*/ 47 w 96"/>
                  <a:gd name="T13" fmla="*/ 134 h 254"/>
                  <a:gd name="T14" fmla="*/ 42 w 96"/>
                  <a:gd name="T15" fmla="*/ 151 h 254"/>
                  <a:gd name="T16" fmla="*/ 38 w 96"/>
                  <a:gd name="T17" fmla="*/ 170 h 254"/>
                  <a:gd name="T18" fmla="*/ 31 w 96"/>
                  <a:gd name="T19" fmla="*/ 215 h 254"/>
                  <a:gd name="T20" fmla="*/ 31 w 96"/>
                  <a:gd name="T21" fmla="*/ 226 h 254"/>
                  <a:gd name="T22" fmla="*/ 33 w 96"/>
                  <a:gd name="T23" fmla="*/ 234 h 254"/>
                  <a:gd name="T24" fmla="*/ 37 w 96"/>
                  <a:gd name="T25" fmla="*/ 238 h 254"/>
                  <a:gd name="T26" fmla="*/ 41 w 96"/>
                  <a:gd name="T27" fmla="*/ 242 h 254"/>
                  <a:gd name="T28" fmla="*/ 40 w 96"/>
                  <a:gd name="T29" fmla="*/ 254 h 254"/>
                  <a:gd name="T30" fmla="*/ 0 w 96"/>
                  <a:gd name="T31" fmla="*/ 244 h 254"/>
                  <a:gd name="T32" fmla="*/ 2 w 96"/>
                  <a:gd name="T33" fmla="*/ 232 h 254"/>
                  <a:gd name="T34" fmla="*/ 7 w 96"/>
                  <a:gd name="T35" fmla="*/ 232 h 254"/>
                  <a:gd name="T36" fmla="*/ 12 w 96"/>
                  <a:gd name="T37" fmla="*/ 230 h 254"/>
                  <a:gd name="T38" fmla="*/ 16 w 96"/>
                  <a:gd name="T39" fmla="*/ 224 h 254"/>
                  <a:gd name="T40" fmla="*/ 19 w 96"/>
                  <a:gd name="T41" fmla="*/ 214 h 254"/>
                  <a:gd name="T42" fmla="*/ 27 w 96"/>
                  <a:gd name="T43" fmla="*/ 156 h 254"/>
                  <a:gd name="T44" fmla="*/ 28 w 96"/>
                  <a:gd name="T45" fmla="*/ 146 h 254"/>
                  <a:gd name="T46" fmla="*/ 27 w 96"/>
                  <a:gd name="T47" fmla="*/ 129 h 254"/>
                  <a:gd name="T48" fmla="*/ 26 w 96"/>
                  <a:gd name="T49" fmla="*/ 85 h 254"/>
                  <a:gd name="T50" fmla="*/ 24 w 96"/>
                  <a:gd name="T51" fmla="*/ 44 h 254"/>
                  <a:gd name="T52" fmla="*/ 23 w 96"/>
                  <a:gd name="T53" fmla="*/ 29 h 254"/>
                  <a:gd name="T54" fmla="*/ 21 w 96"/>
                  <a:gd name="T55" fmla="*/ 19 h 254"/>
                  <a:gd name="T56" fmla="*/ 18 w 96"/>
                  <a:gd name="T57" fmla="*/ 15 h 254"/>
                  <a:gd name="T58" fmla="*/ 14 w 96"/>
                  <a:gd name="T59" fmla="*/ 12 h 254"/>
                  <a:gd name="T60" fmla="*/ 16 w 96"/>
                  <a:gd name="T61" fmla="*/ 0 h 254"/>
                  <a:gd name="T62" fmla="*/ 52 w 96"/>
                  <a:gd name="T63" fmla="*/ 9 h 254"/>
                  <a:gd name="T64" fmla="*/ 50 w 96"/>
                  <a:gd name="T65" fmla="*/ 21 h 254"/>
                  <a:gd name="T66" fmla="*/ 41 w 96"/>
                  <a:gd name="T67" fmla="*/ 21 h 254"/>
                  <a:gd name="T68" fmla="*/ 38 w 96"/>
                  <a:gd name="T69" fmla="*/ 26 h 254"/>
                  <a:gd name="T70" fmla="*/ 38 w 96"/>
                  <a:gd name="T71" fmla="*/ 30 h 254"/>
                  <a:gd name="T72" fmla="*/ 38 w 96"/>
                  <a:gd name="T73" fmla="*/ 37 h 254"/>
                  <a:gd name="T74" fmla="*/ 38 w 96"/>
                  <a:gd name="T75" fmla="*/ 47 h 254"/>
                  <a:gd name="T76" fmla="*/ 39 w 96"/>
                  <a:gd name="T77" fmla="*/ 58 h 254"/>
                  <a:gd name="T78" fmla="*/ 40 w 96"/>
                  <a:gd name="T79" fmla="*/ 90 h 254"/>
                  <a:gd name="T80" fmla="*/ 42 w 96"/>
                  <a:gd name="T81" fmla="*/ 130 h 254"/>
                  <a:gd name="T82" fmla="*/ 66 w 96"/>
                  <a:gd name="T83" fmla="*/ 68 h 254"/>
                  <a:gd name="T84" fmla="*/ 75 w 96"/>
                  <a:gd name="T85" fmla="*/ 41 h 254"/>
                  <a:gd name="T86" fmla="*/ 75 w 96"/>
                  <a:gd name="T87" fmla="*/ 34 h 254"/>
                  <a:gd name="T88" fmla="*/ 72 w 96"/>
                  <a:gd name="T89" fmla="*/ 30 h 254"/>
                  <a:gd name="T90" fmla="*/ 69 w 96"/>
                  <a:gd name="T91" fmla="*/ 27 h 254"/>
                  <a:gd name="T92" fmla="*/ 65 w 96"/>
                  <a:gd name="T93" fmla="*/ 25 h 254"/>
                  <a:gd name="T94" fmla="*/ 67 w 96"/>
                  <a:gd name="T95" fmla="*/ 13 h 254"/>
                  <a:gd name="T96" fmla="*/ 96 w 96"/>
                  <a:gd name="T97" fmla="*/ 21 h 254"/>
                  <a:gd name="T98" fmla="*/ 95 w 96"/>
                  <a:gd name="T99" fmla="*/ 33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96" h="254">
                    <a:moveTo>
                      <a:pt x="95" y="33"/>
                    </a:moveTo>
                    <a:cubicBezTo>
                      <a:pt x="94" y="33"/>
                      <a:pt x="93" y="33"/>
                      <a:pt x="91" y="34"/>
                    </a:cubicBezTo>
                    <a:cubicBezTo>
                      <a:pt x="89" y="35"/>
                      <a:pt x="88" y="36"/>
                      <a:pt x="87" y="37"/>
                    </a:cubicBezTo>
                    <a:cubicBezTo>
                      <a:pt x="85" y="40"/>
                      <a:pt x="84" y="41"/>
                      <a:pt x="83" y="43"/>
                    </a:cubicBezTo>
                    <a:cubicBezTo>
                      <a:pt x="82" y="44"/>
                      <a:pt x="81" y="48"/>
                      <a:pt x="78" y="53"/>
                    </a:cubicBezTo>
                    <a:cubicBezTo>
                      <a:pt x="73" y="65"/>
                      <a:pt x="69" y="77"/>
                      <a:pt x="64" y="89"/>
                    </a:cubicBezTo>
                    <a:cubicBezTo>
                      <a:pt x="60" y="101"/>
                      <a:pt x="54" y="116"/>
                      <a:pt x="47" y="134"/>
                    </a:cubicBezTo>
                    <a:cubicBezTo>
                      <a:pt x="45" y="141"/>
                      <a:pt x="43" y="147"/>
                      <a:pt x="42" y="151"/>
                    </a:cubicBezTo>
                    <a:cubicBezTo>
                      <a:pt x="41" y="155"/>
                      <a:pt x="40" y="161"/>
                      <a:pt x="38" y="170"/>
                    </a:cubicBezTo>
                    <a:cubicBezTo>
                      <a:pt x="31" y="215"/>
                      <a:pt x="31" y="215"/>
                      <a:pt x="31" y="215"/>
                    </a:cubicBezTo>
                    <a:cubicBezTo>
                      <a:pt x="31" y="219"/>
                      <a:pt x="31" y="223"/>
                      <a:pt x="31" y="226"/>
                    </a:cubicBezTo>
                    <a:cubicBezTo>
                      <a:pt x="31" y="229"/>
                      <a:pt x="32" y="232"/>
                      <a:pt x="33" y="234"/>
                    </a:cubicBezTo>
                    <a:cubicBezTo>
                      <a:pt x="33" y="235"/>
                      <a:pt x="35" y="236"/>
                      <a:pt x="37" y="238"/>
                    </a:cubicBezTo>
                    <a:cubicBezTo>
                      <a:pt x="38" y="240"/>
                      <a:pt x="40" y="241"/>
                      <a:pt x="41" y="242"/>
                    </a:cubicBezTo>
                    <a:cubicBezTo>
                      <a:pt x="40" y="254"/>
                      <a:pt x="40" y="254"/>
                      <a:pt x="40" y="254"/>
                    </a:cubicBezTo>
                    <a:cubicBezTo>
                      <a:pt x="0" y="244"/>
                      <a:pt x="0" y="244"/>
                      <a:pt x="0" y="244"/>
                    </a:cubicBezTo>
                    <a:cubicBezTo>
                      <a:pt x="2" y="232"/>
                      <a:pt x="2" y="232"/>
                      <a:pt x="2" y="232"/>
                    </a:cubicBezTo>
                    <a:cubicBezTo>
                      <a:pt x="3" y="232"/>
                      <a:pt x="5" y="232"/>
                      <a:pt x="7" y="232"/>
                    </a:cubicBezTo>
                    <a:cubicBezTo>
                      <a:pt x="10" y="232"/>
                      <a:pt x="11" y="231"/>
                      <a:pt x="12" y="230"/>
                    </a:cubicBezTo>
                    <a:cubicBezTo>
                      <a:pt x="14" y="229"/>
                      <a:pt x="15" y="227"/>
                      <a:pt x="16" y="224"/>
                    </a:cubicBezTo>
                    <a:cubicBezTo>
                      <a:pt x="17" y="222"/>
                      <a:pt x="18" y="218"/>
                      <a:pt x="19" y="214"/>
                    </a:cubicBezTo>
                    <a:cubicBezTo>
                      <a:pt x="27" y="156"/>
                      <a:pt x="27" y="156"/>
                      <a:pt x="27" y="156"/>
                    </a:cubicBezTo>
                    <a:cubicBezTo>
                      <a:pt x="28" y="154"/>
                      <a:pt x="28" y="151"/>
                      <a:pt x="28" y="146"/>
                    </a:cubicBezTo>
                    <a:cubicBezTo>
                      <a:pt x="28" y="141"/>
                      <a:pt x="27" y="135"/>
                      <a:pt x="27" y="129"/>
                    </a:cubicBezTo>
                    <a:cubicBezTo>
                      <a:pt x="27" y="115"/>
                      <a:pt x="26" y="101"/>
                      <a:pt x="26" y="85"/>
                    </a:cubicBezTo>
                    <a:cubicBezTo>
                      <a:pt x="25" y="69"/>
                      <a:pt x="25" y="55"/>
                      <a:pt x="24" y="44"/>
                    </a:cubicBezTo>
                    <a:cubicBezTo>
                      <a:pt x="24" y="37"/>
                      <a:pt x="23" y="32"/>
                      <a:pt x="23" y="29"/>
                    </a:cubicBezTo>
                    <a:cubicBezTo>
                      <a:pt x="22" y="25"/>
                      <a:pt x="22" y="22"/>
                      <a:pt x="21" y="19"/>
                    </a:cubicBezTo>
                    <a:cubicBezTo>
                      <a:pt x="20" y="17"/>
                      <a:pt x="19" y="16"/>
                      <a:pt x="18" y="15"/>
                    </a:cubicBezTo>
                    <a:cubicBezTo>
                      <a:pt x="17" y="13"/>
                      <a:pt x="16" y="12"/>
                      <a:pt x="14" y="12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52" y="9"/>
                      <a:pt x="52" y="9"/>
                      <a:pt x="52" y="9"/>
                    </a:cubicBezTo>
                    <a:cubicBezTo>
                      <a:pt x="50" y="21"/>
                      <a:pt x="50" y="21"/>
                      <a:pt x="50" y="21"/>
                    </a:cubicBezTo>
                    <a:cubicBezTo>
                      <a:pt x="46" y="20"/>
                      <a:pt x="43" y="20"/>
                      <a:pt x="41" y="21"/>
                    </a:cubicBezTo>
                    <a:cubicBezTo>
                      <a:pt x="39" y="22"/>
                      <a:pt x="38" y="24"/>
                      <a:pt x="38" y="26"/>
                    </a:cubicBezTo>
                    <a:cubicBezTo>
                      <a:pt x="38" y="27"/>
                      <a:pt x="38" y="28"/>
                      <a:pt x="38" y="30"/>
                    </a:cubicBezTo>
                    <a:cubicBezTo>
                      <a:pt x="38" y="32"/>
                      <a:pt x="38" y="34"/>
                      <a:pt x="38" y="37"/>
                    </a:cubicBezTo>
                    <a:cubicBezTo>
                      <a:pt x="38" y="40"/>
                      <a:pt x="38" y="43"/>
                      <a:pt x="38" y="47"/>
                    </a:cubicBezTo>
                    <a:cubicBezTo>
                      <a:pt x="38" y="51"/>
                      <a:pt x="38" y="55"/>
                      <a:pt x="39" y="58"/>
                    </a:cubicBezTo>
                    <a:cubicBezTo>
                      <a:pt x="39" y="69"/>
                      <a:pt x="39" y="79"/>
                      <a:pt x="40" y="90"/>
                    </a:cubicBezTo>
                    <a:cubicBezTo>
                      <a:pt x="40" y="100"/>
                      <a:pt x="41" y="114"/>
                      <a:pt x="42" y="130"/>
                    </a:cubicBezTo>
                    <a:cubicBezTo>
                      <a:pt x="52" y="104"/>
                      <a:pt x="60" y="83"/>
                      <a:pt x="66" y="68"/>
                    </a:cubicBezTo>
                    <a:cubicBezTo>
                      <a:pt x="71" y="53"/>
                      <a:pt x="74" y="44"/>
                      <a:pt x="75" y="41"/>
                    </a:cubicBezTo>
                    <a:cubicBezTo>
                      <a:pt x="75" y="38"/>
                      <a:pt x="75" y="36"/>
                      <a:pt x="75" y="34"/>
                    </a:cubicBezTo>
                    <a:cubicBezTo>
                      <a:pt x="74" y="32"/>
                      <a:pt x="73" y="31"/>
                      <a:pt x="72" y="30"/>
                    </a:cubicBezTo>
                    <a:cubicBezTo>
                      <a:pt x="72" y="29"/>
                      <a:pt x="70" y="28"/>
                      <a:pt x="69" y="27"/>
                    </a:cubicBezTo>
                    <a:cubicBezTo>
                      <a:pt x="68" y="26"/>
                      <a:pt x="67" y="26"/>
                      <a:pt x="65" y="25"/>
                    </a:cubicBezTo>
                    <a:cubicBezTo>
                      <a:pt x="67" y="13"/>
                      <a:pt x="67" y="13"/>
                      <a:pt x="67" y="13"/>
                    </a:cubicBezTo>
                    <a:cubicBezTo>
                      <a:pt x="96" y="21"/>
                      <a:pt x="96" y="21"/>
                      <a:pt x="96" y="21"/>
                    </a:cubicBezTo>
                    <a:lnTo>
                      <a:pt x="95" y="33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9" name="iṡļiďé"/>
              <p:cNvSpPr/>
              <p:nvPr/>
            </p:nvSpPr>
            <p:spPr bwMode="auto">
              <a:xfrm>
                <a:off x="2973388" y="4051301"/>
                <a:ext cx="65088" cy="200025"/>
              </a:xfrm>
              <a:custGeom>
                <a:avLst/>
                <a:gdLst>
                  <a:gd name="T0" fmla="*/ 74 w 83"/>
                  <a:gd name="T1" fmla="*/ 37 h 255"/>
                  <a:gd name="T2" fmla="*/ 81 w 83"/>
                  <a:gd name="T3" fmla="*/ 78 h 255"/>
                  <a:gd name="T4" fmla="*/ 82 w 83"/>
                  <a:gd name="T5" fmla="*/ 131 h 255"/>
                  <a:gd name="T6" fmla="*/ 77 w 83"/>
                  <a:gd name="T7" fmla="*/ 183 h 255"/>
                  <a:gd name="T8" fmla="*/ 66 w 83"/>
                  <a:gd name="T9" fmla="*/ 222 h 255"/>
                  <a:gd name="T10" fmla="*/ 52 w 83"/>
                  <a:gd name="T11" fmla="*/ 247 h 255"/>
                  <a:gd name="T12" fmla="*/ 36 w 83"/>
                  <a:gd name="T13" fmla="*/ 254 h 255"/>
                  <a:gd name="T14" fmla="*/ 20 w 83"/>
                  <a:gd name="T15" fmla="*/ 244 h 255"/>
                  <a:gd name="T16" fmla="*/ 8 w 83"/>
                  <a:gd name="T17" fmla="*/ 216 h 255"/>
                  <a:gd name="T18" fmla="*/ 1 w 83"/>
                  <a:gd name="T19" fmla="*/ 175 h 255"/>
                  <a:gd name="T20" fmla="*/ 0 w 83"/>
                  <a:gd name="T21" fmla="*/ 124 h 255"/>
                  <a:gd name="T22" fmla="*/ 6 w 83"/>
                  <a:gd name="T23" fmla="*/ 72 h 255"/>
                  <a:gd name="T24" fmla="*/ 17 w 83"/>
                  <a:gd name="T25" fmla="*/ 33 h 255"/>
                  <a:gd name="T26" fmla="*/ 31 w 83"/>
                  <a:gd name="T27" fmla="*/ 8 h 255"/>
                  <a:gd name="T28" fmla="*/ 47 w 83"/>
                  <a:gd name="T29" fmla="*/ 0 h 255"/>
                  <a:gd name="T30" fmla="*/ 62 w 83"/>
                  <a:gd name="T31" fmla="*/ 10 h 255"/>
                  <a:gd name="T32" fmla="*/ 74 w 83"/>
                  <a:gd name="T33" fmla="*/ 37 h 255"/>
                  <a:gd name="T34" fmla="*/ 58 w 83"/>
                  <a:gd name="T35" fmla="*/ 208 h 255"/>
                  <a:gd name="T36" fmla="*/ 64 w 83"/>
                  <a:gd name="T37" fmla="*/ 173 h 255"/>
                  <a:gd name="T38" fmla="*/ 68 w 83"/>
                  <a:gd name="T39" fmla="*/ 130 h 255"/>
                  <a:gd name="T40" fmla="*/ 68 w 83"/>
                  <a:gd name="T41" fmla="*/ 84 h 255"/>
                  <a:gd name="T42" fmla="*/ 65 w 83"/>
                  <a:gd name="T43" fmla="*/ 48 h 255"/>
                  <a:gd name="T44" fmla="*/ 57 w 83"/>
                  <a:gd name="T45" fmla="*/ 24 h 255"/>
                  <a:gd name="T46" fmla="*/ 46 w 83"/>
                  <a:gd name="T47" fmla="*/ 15 h 255"/>
                  <a:gd name="T48" fmla="*/ 34 w 83"/>
                  <a:gd name="T49" fmla="*/ 24 h 255"/>
                  <a:gd name="T50" fmla="*/ 24 w 83"/>
                  <a:gd name="T51" fmla="*/ 48 h 255"/>
                  <a:gd name="T52" fmla="*/ 18 w 83"/>
                  <a:gd name="T53" fmla="*/ 83 h 255"/>
                  <a:gd name="T54" fmla="*/ 15 w 83"/>
                  <a:gd name="T55" fmla="*/ 126 h 255"/>
                  <a:gd name="T56" fmla="*/ 14 w 83"/>
                  <a:gd name="T57" fmla="*/ 170 h 255"/>
                  <a:gd name="T58" fmla="*/ 18 w 83"/>
                  <a:gd name="T59" fmla="*/ 206 h 255"/>
                  <a:gd name="T60" fmla="*/ 25 w 83"/>
                  <a:gd name="T61" fmla="*/ 230 h 255"/>
                  <a:gd name="T62" fmla="*/ 36 w 83"/>
                  <a:gd name="T63" fmla="*/ 239 h 255"/>
                  <a:gd name="T64" fmla="*/ 48 w 83"/>
                  <a:gd name="T65" fmla="*/ 232 h 255"/>
                  <a:gd name="T66" fmla="*/ 58 w 83"/>
                  <a:gd name="T67" fmla="*/ 208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83" h="255">
                    <a:moveTo>
                      <a:pt x="74" y="37"/>
                    </a:moveTo>
                    <a:cubicBezTo>
                      <a:pt x="78" y="48"/>
                      <a:pt x="80" y="62"/>
                      <a:pt x="81" y="78"/>
                    </a:cubicBezTo>
                    <a:cubicBezTo>
                      <a:pt x="83" y="94"/>
                      <a:pt x="83" y="112"/>
                      <a:pt x="82" y="131"/>
                    </a:cubicBezTo>
                    <a:cubicBezTo>
                      <a:pt x="81" y="150"/>
                      <a:pt x="79" y="167"/>
                      <a:pt x="77" y="183"/>
                    </a:cubicBezTo>
                    <a:cubicBezTo>
                      <a:pt x="74" y="199"/>
                      <a:pt x="70" y="212"/>
                      <a:pt x="66" y="222"/>
                    </a:cubicBezTo>
                    <a:cubicBezTo>
                      <a:pt x="62" y="233"/>
                      <a:pt x="57" y="241"/>
                      <a:pt x="52" y="247"/>
                    </a:cubicBezTo>
                    <a:cubicBezTo>
                      <a:pt x="47" y="252"/>
                      <a:pt x="41" y="255"/>
                      <a:pt x="36" y="254"/>
                    </a:cubicBezTo>
                    <a:cubicBezTo>
                      <a:pt x="30" y="254"/>
                      <a:pt x="24" y="250"/>
                      <a:pt x="20" y="244"/>
                    </a:cubicBezTo>
                    <a:cubicBezTo>
                      <a:pt x="15" y="237"/>
                      <a:pt x="11" y="228"/>
                      <a:pt x="8" y="216"/>
                    </a:cubicBezTo>
                    <a:cubicBezTo>
                      <a:pt x="5" y="205"/>
                      <a:pt x="3" y="191"/>
                      <a:pt x="1" y="175"/>
                    </a:cubicBezTo>
                    <a:cubicBezTo>
                      <a:pt x="0" y="159"/>
                      <a:pt x="0" y="142"/>
                      <a:pt x="0" y="124"/>
                    </a:cubicBezTo>
                    <a:cubicBezTo>
                      <a:pt x="1" y="105"/>
                      <a:pt x="3" y="87"/>
                      <a:pt x="6" y="72"/>
                    </a:cubicBezTo>
                    <a:cubicBezTo>
                      <a:pt x="9" y="57"/>
                      <a:pt x="12" y="44"/>
                      <a:pt x="17" y="33"/>
                    </a:cubicBezTo>
                    <a:cubicBezTo>
                      <a:pt x="21" y="22"/>
                      <a:pt x="26" y="13"/>
                      <a:pt x="31" y="8"/>
                    </a:cubicBezTo>
                    <a:cubicBezTo>
                      <a:pt x="36" y="2"/>
                      <a:pt x="41" y="0"/>
                      <a:pt x="47" y="0"/>
                    </a:cubicBezTo>
                    <a:cubicBezTo>
                      <a:pt x="53" y="1"/>
                      <a:pt x="58" y="4"/>
                      <a:pt x="62" y="10"/>
                    </a:cubicBezTo>
                    <a:cubicBezTo>
                      <a:pt x="67" y="17"/>
                      <a:pt x="71" y="26"/>
                      <a:pt x="74" y="37"/>
                    </a:cubicBezTo>
                    <a:close/>
                    <a:moveTo>
                      <a:pt x="58" y="208"/>
                    </a:moveTo>
                    <a:cubicBezTo>
                      <a:pt x="60" y="198"/>
                      <a:pt x="63" y="186"/>
                      <a:pt x="64" y="173"/>
                    </a:cubicBezTo>
                    <a:cubicBezTo>
                      <a:pt x="66" y="160"/>
                      <a:pt x="67" y="146"/>
                      <a:pt x="68" y="130"/>
                    </a:cubicBezTo>
                    <a:cubicBezTo>
                      <a:pt x="68" y="113"/>
                      <a:pt x="68" y="98"/>
                      <a:pt x="68" y="84"/>
                    </a:cubicBezTo>
                    <a:cubicBezTo>
                      <a:pt x="67" y="70"/>
                      <a:pt x="66" y="58"/>
                      <a:pt x="65" y="48"/>
                    </a:cubicBezTo>
                    <a:cubicBezTo>
                      <a:pt x="63" y="38"/>
                      <a:pt x="60" y="30"/>
                      <a:pt x="57" y="24"/>
                    </a:cubicBezTo>
                    <a:cubicBezTo>
                      <a:pt x="54" y="19"/>
                      <a:pt x="50" y="16"/>
                      <a:pt x="46" y="15"/>
                    </a:cubicBezTo>
                    <a:cubicBezTo>
                      <a:pt x="41" y="15"/>
                      <a:pt x="37" y="18"/>
                      <a:pt x="34" y="24"/>
                    </a:cubicBezTo>
                    <a:cubicBezTo>
                      <a:pt x="30" y="30"/>
                      <a:pt x="27" y="38"/>
                      <a:pt x="24" y="48"/>
                    </a:cubicBezTo>
                    <a:cubicBezTo>
                      <a:pt x="22" y="58"/>
                      <a:pt x="20" y="70"/>
                      <a:pt x="18" y="83"/>
                    </a:cubicBezTo>
                    <a:cubicBezTo>
                      <a:pt x="17" y="97"/>
                      <a:pt x="16" y="111"/>
                      <a:pt x="15" y="126"/>
                    </a:cubicBezTo>
                    <a:cubicBezTo>
                      <a:pt x="14" y="142"/>
                      <a:pt x="14" y="157"/>
                      <a:pt x="14" y="170"/>
                    </a:cubicBezTo>
                    <a:cubicBezTo>
                      <a:pt x="15" y="183"/>
                      <a:pt x="16" y="195"/>
                      <a:pt x="18" y="206"/>
                    </a:cubicBezTo>
                    <a:cubicBezTo>
                      <a:pt x="20" y="216"/>
                      <a:pt x="22" y="224"/>
                      <a:pt x="25" y="230"/>
                    </a:cubicBezTo>
                    <a:cubicBezTo>
                      <a:pt x="28" y="236"/>
                      <a:pt x="32" y="239"/>
                      <a:pt x="36" y="239"/>
                    </a:cubicBezTo>
                    <a:cubicBezTo>
                      <a:pt x="41" y="240"/>
                      <a:pt x="45" y="237"/>
                      <a:pt x="48" y="232"/>
                    </a:cubicBezTo>
                    <a:cubicBezTo>
                      <a:pt x="52" y="226"/>
                      <a:pt x="55" y="218"/>
                      <a:pt x="58" y="208"/>
                    </a:cubicBez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0" name="îṥļîḍè"/>
              <p:cNvSpPr/>
              <p:nvPr/>
            </p:nvSpPr>
            <p:spPr bwMode="auto">
              <a:xfrm>
                <a:off x="3033713" y="4057651"/>
                <a:ext cx="52388" cy="190500"/>
              </a:xfrm>
              <a:custGeom>
                <a:avLst/>
                <a:gdLst>
                  <a:gd name="T0" fmla="*/ 67 w 67"/>
                  <a:gd name="T1" fmla="*/ 61 h 243"/>
                  <a:gd name="T2" fmla="*/ 62 w 67"/>
                  <a:gd name="T3" fmla="*/ 61 h 243"/>
                  <a:gd name="T4" fmla="*/ 57 w 67"/>
                  <a:gd name="T5" fmla="*/ 32 h 243"/>
                  <a:gd name="T6" fmla="*/ 50 w 67"/>
                  <a:gd name="T7" fmla="*/ 15 h 243"/>
                  <a:gd name="T8" fmla="*/ 45 w 67"/>
                  <a:gd name="T9" fmla="*/ 14 h 243"/>
                  <a:gd name="T10" fmla="*/ 39 w 67"/>
                  <a:gd name="T11" fmla="*/ 14 h 243"/>
                  <a:gd name="T12" fmla="*/ 25 w 67"/>
                  <a:gd name="T13" fmla="*/ 14 h 243"/>
                  <a:gd name="T14" fmla="*/ 25 w 67"/>
                  <a:gd name="T15" fmla="*/ 111 h 243"/>
                  <a:gd name="T16" fmla="*/ 35 w 67"/>
                  <a:gd name="T17" fmla="*/ 111 h 243"/>
                  <a:gd name="T18" fmla="*/ 42 w 67"/>
                  <a:gd name="T19" fmla="*/ 109 h 243"/>
                  <a:gd name="T20" fmla="*/ 46 w 67"/>
                  <a:gd name="T21" fmla="*/ 101 h 243"/>
                  <a:gd name="T22" fmla="*/ 48 w 67"/>
                  <a:gd name="T23" fmla="*/ 89 h 243"/>
                  <a:gd name="T24" fmla="*/ 49 w 67"/>
                  <a:gd name="T25" fmla="*/ 72 h 243"/>
                  <a:gd name="T26" fmla="*/ 54 w 67"/>
                  <a:gd name="T27" fmla="*/ 72 h 243"/>
                  <a:gd name="T28" fmla="*/ 54 w 67"/>
                  <a:gd name="T29" fmla="*/ 167 h 243"/>
                  <a:gd name="T30" fmla="*/ 49 w 67"/>
                  <a:gd name="T31" fmla="*/ 167 h 243"/>
                  <a:gd name="T32" fmla="*/ 48 w 67"/>
                  <a:gd name="T33" fmla="*/ 150 h 243"/>
                  <a:gd name="T34" fmla="*/ 46 w 67"/>
                  <a:gd name="T35" fmla="*/ 136 h 243"/>
                  <a:gd name="T36" fmla="*/ 41 w 67"/>
                  <a:gd name="T37" fmla="*/ 128 h 243"/>
                  <a:gd name="T38" fmla="*/ 35 w 67"/>
                  <a:gd name="T39" fmla="*/ 125 h 243"/>
                  <a:gd name="T40" fmla="*/ 25 w 67"/>
                  <a:gd name="T41" fmla="*/ 125 h 243"/>
                  <a:gd name="T42" fmla="*/ 25 w 67"/>
                  <a:gd name="T43" fmla="*/ 209 h 243"/>
                  <a:gd name="T44" fmla="*/ 26 w 67"/>
                  <a:gd name="T45" fmla="*/ 219 h 243"/>
                  <a:gd name="T46" fmla="*/ 29 w 67"/>
                  <a:gd name="T47" fmla="*/ 226 h 243"/>
                  <a:gd name="T48" fmla="*/ 32 w 67"/>
                  <a:gd name="T49" fmla="*/ 229 h 243"/>
                  <a:gd name="T50" fmla="*/ 37 w 67"/>
                  <a:gd name="T51" fmla="*/ 231 h 243"/>
                  <a:gd name="T52" fmla="*/ 37 w 67"/>
                  <a:gd name="T53" fmla="*/ 243 h 243"/>
                  <a:gd name="T54" fmla="*/ 0 w 67"/>
                  <a:gd name="T55" fmla="*/ 243 h 243"/>
                  <a:gd name="T56" fmla="*/ 0 w 67"/>
                  <a:gd name="T57" fmla="*/ 231 h 243"/>
                  <a:gd name="T58" fmla="*/ 5 w 67"/>
                  <a:gd name="T59" fmla="*/ 230 h 243"/>
                  <a:gd name="T60" fmla="*/ 9 w 67"/>
                  <a:gd name="T61" fmla="*/ 228 h 243"/>
                  <a:gd name="T62" fmla="*/ 11 w 67"/>
                  <a:gd name="T63" fmla="*/ 221 h 243"/>
                  <a:gd name="T64" fmla="*/ 12 w 67"/>
                  <a:gd name="T65" fmla="*/ 211 h 243"/>
                  <a:gd name="T66" fmla="*/ 12 w 67"/>
                  <a:gd name="T67" fmla="*/ 36 h 243"/>
                  <a:gd name="T68" fmla="*/ 12 w 67"/>
                  <a:gd name="T69" fmla="*/ 26 h 243"/>
                  <a:gd name="T70" fmla="*/ 9 w 67"/>
                  <a:gd name="T71" fmla="*/ 18 h 243"/>
                  <a:gd name="T72" fmla="*/ 4 w 67"/>
                  <a:gd name="T73" fmla="*/ 15 h 243"/>
                  <a:gd name="T74" fmla="*/ 0 w 67"/>
                  <a:gd name="T75" fmla="*/ 12 h 243"/>
                  <a:gd name="T76" fmla="*/ 0 w 67"/>
                  <a:gd name="T77" fmla="*/ 0 h 243"/>
                  <a:gd name="T78" fmla="*/ 67 w 67"/>
                  <a:gd name="T79" fmla="*/ 0 h 243"/>
                  <a:gd name="T80" fmla="*/ 67 w 67"/>
                  <a:gd name="T81" fmla="*/ 61 h 2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67" h="243">
                    <a:moveTo>
                      <a:pt x="67" y="61"/>
                    </a:moveTo>
                    <a:cubicBezTo>
                      <a:pt x="62" y="61"/>
                      <a:pt x="62" y="61"/>
                      <a:pt x="62" y="61"/>
                    </a:cubicBezTo>
                    <a:cubicBezTo>
                      <a:pt x="62" y="52"/>
                      <a:pt x="60" y="42"/>
                      <a:pt x="57" y="32"/>
                    </a:cubicBezTo>
                    <a:cubicBezTo>
                      <a:pt x="55" y="22"/>
                      <a:pt x="52" y="16"/>
                      <a:pt x="50" y="15"/>
                    </a:cubicBezTo>
                    <a:cubicBezTo>
                      <a:pt x="48" y="15"/>
                      <a:pt x="47" y="14"/>
                      <a:pt x="45" y="14"/>
                    </a:cubicBezTo>
                    <a:cubicBezTo>
                      <a:pt x="43" y="14"/>
                      <a:pt x="42" y="14"/>
                      <a:pt x="39" y="14"/>
                    </a:cubicBezTo>
                    <a:cubicBezTo>
                      <a:pt x="25" y="14"/>
                      <a:pt x="25" y="14"/>
                      <a:pt x="25" y="14"/>
                    </a:cubicBezTo>
                    <a:cubicBezTo>
                      <a:pt x="25" y="111"/>
                      <a:pt x="25" y="111"/>
                      <a:pt x="25" y="111"/>
                    </a:cubicBezTo>
                    <a:cubicBezTo>
                      <a:pt x="35" y="111"/>
                      <a:pt x="35" y="111"/>
                      <a:pt x="35" y="111"/>
                    </a:cubicBezTo>
                    <a:cubicBezTo>
                      <a:pt x="38" y="111"/>
                      <a:pt x="40" y="111"/>
                      <a:pt x="42" y="109"/>
                    </a:cubicBezTo>
                    <a:cubicBezTo>
                      <a:pt x="43" y="107"/>
                      <a:pt x="45" y="104"/>
                      <a:pt x="46" y="101"/>
                    </a:cubicBezTo>
                    <a:cubicBezTo>
                      <a:pt x="47" y="98"/>
                      <a:pt x="47" y="94"/>
                      <a:pt x="48" y="89"/>
                    </a:cubicBezTo>
                    <a:cubicBezTo>
                      <a:pt x="49" y="84"/>
                      <a:pt x="49" y="78"/>
                      <a:pt x="49" y="72"/>
                    </a:cubicBezTo>
                    <a:cubicBezTo>
                      <a:pt x="54" y="72"/>
                      <a:pt x="54" y="72"/>
                      <a:pt x="54" y="72"/>
                    </a:cubicBezTo>
                    <a:cubicBezTo>
                      <a:pt x="54" y="167"/>
                      <a:pt x="54" y="167"/>
                      <a:pt x="54" y="167"/>
                    </a:cubicBezTo>
                    <a:cubicBezTo>
                      <a:pt x="49" y="167"/>
                      <a:pt x="49" y="167"/>
                      <a:pt x="49" y="167"/>
                    </a:cubicBezTo>
                    <a:cubicBezTo>
                      <a:pt x="49" y="162"/>
                      <a:pt x="49" y="157"/>
                      <a:pt x="48" y="150"/>
                    </a:cubicBezTo>
                    <a:cubicBezTo>
                      <a:pt x="47" y="144"/>
                      <a:pt x="47" y="139"/>
                      <a:pt x="46" y="136"/>
                    </a:cubicBezTo>
                    <a:cubicBezTo>
                      <a:pt x="45" y="132"/>
                      <a:pt x="43" y="129"/>
                      <a:pt x="41" y="128"/>
                    </a:cubicBezTo>
                    <a:cubicBezTo>
                      <a:pt x="40" y="126"/>
                      <a:pt x="37" y="125"/>
                      <a:pt x="35" y="125"/>
                    </a:cubicBezTo>
                    <a:cubicBezTo>
                      <a:pt x="25" y="125"/>
                      <a:pt x="25" y="125"/>
                      <a:pt x="25" y="125"/>
                    </a:cubicBezTo>
                    <a:cubicBezTo>
                      <a:pt x="25" y="209"/>
                      <a:pt x="25" y="209"/>
                      <a:pt x="25" y="209"/>
                    </a:cubicBezTo>
                    <a:cubicBezTo>
                      <a:pt x="25" y="213"/>
                      <a:pt x="25" y="216"/>
                      <a:pt x="26" y="219"/>
                    </a:cubicBezTo>
                    <a:cubicBezTo>
                      <a:pt x="26" y="222"/>
                      <a:pt x="27" y="225"/>
                      <a:pt x="29" y="226"/>
                    </a:cubicBezTo>
                    <a:cubicBezTo>
                      <a:pt x="29" y="227"/>
                      <a:pt x="30" y="228"/>
                      <a:pt x="32" y="229"/>
                    </a:cubicBezTo>
                    <a:cubicBezTo>
                      <a:pt x="34" y="230"/>
                      <a:pt x="36" y="231"/>
                      <a:pt x="37" y="231"/>
                    </a:cubicBezTo>
                    <a:cubicBezTo>
                      <a:pt x="37" y="243"/>
                      <a:pt x="37" y="243"/>
                      <a:pt x="37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0" y="231"/>
                      <a:pt x="0" y="231"/>
                      <a:pt x="0" y="231"/>
                    </a:cubicBezTo>
                    <a:cubicBezTo>
                      <a:pt x="1" y="231"/>
                      <a:pt x="3" y="231"/>
                      <a:pt x="5" y="230"/>
                    </a:cubicBezTo>
                    <a:cubicBezTo>
                      <a:pt x="7" y="230"/>
                      <a:pt x="8" y="229"/>
                      <a:pt x="9" y="228"/>
                    </a:cubicBezTo>
                    <a:cubicBezTo>
                      <a:pt x="10" y="227"/>
                      <a:pt x="11" y="224"/>
                      <a:pt x="11" y="221"/>
                    </a:cubicBezTo>
                    <a:cubicBezTo>
                      <a:pt x="12" y="219"/>
                      <a:pt x="12" y="215"/>
                      <a:pt x="12" y="211"/>
                    </a:cubicBezTo>
                    <a:cubicBezTo>
                      <a:pt x="12" y="36"/>
                      <a:pt x="12" y="36"/>
                      <a:pt x="12" y="36"/>
                    </a:cubicBezTo>
                    <a:cubicBezTo>
                      <a:pt x="12" y="32"/>
                      <a:pt x="12" y="28"/>
                      <a:pt x="12" y="26"/>
                    </a:cubicBezTo>
                    <a:cubicBezTo>
                      <a:pt x="11" y="23"/>
                      <a:pt x="10" y="20"/>
                      <a:pt x="9" y="18"/>
                    </a:cubicBezTo>
                    <a:cubicBezTo>
                      <a:pt x="8" y="17"/>
                      <a:pt x="6" y="16"/>
                      <a:pt x="4" y="15"/>
                    </a:cubicBezTo>
                    <a:cubicBezTo>
                      <a:pt x="3" y="13"/>
                      <a:pt x="1" y="13"/>
                      <a:pt x="0" y="1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7" y="0"/>
                      <a:pt x="67" y="0"/>
                      <a:pt x="67" y="0"/>
                    </a:cubicBezTo>
                    <a:lnTo>
                      <a:pt x="67" y="61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1" name="îsḻiḍê"/>
              <p:cNvSpPr/>
              <p:nvPr/>
            </p:nvSpPr>
            <p:spPr bwMode="auto">
              <a:xfrm>
                <a:off x="3124201" y="4059238"/>
                <a:ext cx="53975" cy="198438"/>
              </a:xfrm>
              <a:custGeom>
                <a:avLst/>
                <a:gdLst>
                  <a:gd name="T0" fmla="*/ 57 w 68"/>
                  <a:gd name="T1" fmla="*/ 132 h 252"/>
                  <a:gd name="T2" fmla="*/ 63 w 68"/>
                  <a:gd name="T3" fmla="*/ 150 h 252"/>
                  <a:gd name="T4" fmla="*/ 66 w 68"/>
                  <a:gd name="T5" fmla="*/ 174 h 252"/>
                  <a:gd name="T6" fmla="*/ 63 w 68"/>
                  <a:gd name="T7" fmla="*/ 228 h 252"/>
                  <a:gd name="T8" fmla="*/ 44 w 68"/>
                  <a:gd name="T9" fmla="*/ 252 h 252"/>
                  <a:gd name="T10" fmla="*/ 32 w 68"/>
                  <a:gd name="T11" fmla="*/ 248 h 252"/>
                  <a:gd name="T12" fmla="*/ 21 w 68"/>
                  <a:gd name="T13" fmla="*/ 238 h 252"/>
                  <a:gd name="T14" fmla="*/ 20 w 68"/>
                  <a:gd name="T15" fmla="*/ 251 h 252"/>
                  <a:gd name="T16" fmla="*/ 15 w 68"/>
                  <a:gd name="T17" fmla="*/ 251 h 252"/>
                  <a:gd name="T18" fmla="*/ 7 w 68"/>
                  <a:gd name="T19" fmla="*/ 169 h 252"/>
                  <a:gd name="T20" fmla="*/ 12 w 68"/>
                  <a:gd name="T21" fmla="*/ 168 h 252"/>
                  <a:gd name="T22" fmla="*/ 18 w 68"/>
                  <a:gd name="T23" fmla="*/ 195 h 252"/>
                  <a:gd name="T24" fmla="*/ 25 w 68"/>
                  <a:gd name="T25" fmla="*/ 217 h 252"/>
                  <a:gd name="T26" fmla="*/ 34 w 68"/>
                  <a:gd name="T27" fmla="*/ 232 h 252"/>
                  <a:gd name="T28" fmla="*/ 44 w 68"/>
                  <a:gd name="T29" fmla="*/ 237 h 252"/>
                  <a:gd name="T30" fmla="*/ 51 w 68"/>
                  <a:gd name="T31" fmla="*/ 233 h 252"/>
                  <a:gd name="T32" fmla="*/ 55 w 68"/>
                  <a:gd name="T33" fmla="*/ 223 h 252"/>
                  <a:gd name="T34" fmla="*/ 57 w 68"/>
                  <a:gd name="T35" fmla="*/ 210 h 252"/>
                  <a:gd name="T36" fmla="*/ 56 w 68"/>
                  <a:gd name="T37" fmla="*/ 192 h 252"/>
                  <a:gd name="T38" fmla="*/ 51 w 68"/>
                  <a:gd name="T39" fmla="*/ 165 h 252"/>
                  <a:gd name="T40" fmla="*/ 40 w 68"/>
                  <a:gd name="T41" fmla="*/ 148 h 252"/>
                  <a:gd name="T42" fmla="*/ 31 w 68"/>
                  <a:gd name="T43" fmla="*/ 139 h 252"/>
                  <a:gd name="T44" fmla="*/ 21 w 68"/>
                  <a:gd name="T45" fmla="*/ 131 h 252"/>
                  <a:gd name="T46" fmla="*/ 8 w 68"/>
                  <a:gd name="T47" fmla="*/ 108 h 252"/>
                  <a:gd name="T48" fmla="*/ 0 w 68"/>
                  <a:gd name="T49" fmla="*/ 70 h 252"/>
                  <a:gd name="T50" fmla="*/ 0 w 68"/>
                  <a:gd name="T51" fmla="*/ 44 h 252"/>
                  <a:gd name="T52" fmla="*/ 4 w 68"/>
                  <a:gd name="T53" fmla="*/ 22 h 252"/>
                  <a:gd name="T54" fmla="*/ 11 w 68"/>
                  <a:gd name="T55" fmla="*/ 7 h 252"/>
                  <a:gd name="T56" fmla="*/ 20 w 68"/>
                  <a:gd name="T57" fmla="*/ 0 h 252"/>
                  <a:gd name="T58" fmla="*/ 31 w 68"/>
                  <a:gd name="T59" fmla="*/ 4 h 252"/>
                  <a:gd name="T60" fmla="*/ 41 w 68"/>
                  <a:gd name="T61" fmla="*/ 14 h 252"/>
                  <a:gd name="T62" fmla="*/ 42 w 68"/>
                  <a:gd name="T63" fmla="*/ 2 h 252"/>
                  <a:gd name="T64" fmla="*/ 47 w 68"/>
                  <a:gd name="T65" fmla="*/ 2 h 252"/>
                  <a:gd name="T66" fmla="*/ 54 w 68"/>
                  <a:gd name="T67" fmla="*/ 82 h 252"/>
                  <a:gd name="T68" fmla="*/ 50 w 68"/>
                  <a:gd name="T69" fmla="*/ 82 h 252"/>
                  <a:gd name="T70" fmla="*/ 44 w 68"/>
                  <a:gd name="T71" fmla="*/ 57 h 252"/>
                  <a:gd name="T72" fmla="*/ 38 w 68"/>
                  <a:gd name="T73" fmla="*/ 34 h 252"/>
                  <a:gd name="T74" fmla="*/ 30 w 68"/>
                  <a:gd name="T75" fmla="*/ 20 h 252"/>
                  <a:gd name="T76" fmla="*/ 21 w 68"/>
                  <a:gd name="T77" fmla="*/ 15 h 252"/>
                  <a:gd name="T78" fmla="*/ 12 w 68"/>
                  <a:gd name="T79" fmla="*/ 27 h 252"/>
                  <a:gd name="T80" fmla="*/ 10 w 68"/>
                  <a:gd name="T81" fmla="*/ 53 h 252"/>
                  <a:gd name="T82" fmla="*/ 15 w 68"/>
                  <a:gd name="T83" fmla="*/ 78 h 252"/>
                  <a:gd name="T84" fmla="*/ 24 w 68"/>
                  <a:gd name="T85" fmla="*/ 94 h 252"/>
                  <a:gd name="T86" fmla="*/ 34 w 68"/>
                  <a:gd name="T87" fmla="*/ 103 h 252"/>
                  <a:gd name="T88" fmla="*/ 43 w 68"/>
                  <a:gd name="T89" fmla="*/ 111 h 252"/>
                  <a:gd name="T90" fmla="*/ 50 w 68"/>
                  <a:gd name="T91" fmla="*/ 120 h 252"/>
                  <a:gd name="T92" fmla="*/ 57 w 68"/>
                  <a:gd name="T93" fmla="*/ 132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68" h="252">
                    <a:moveTo>
                      <a:pt x="57" y="132"/>
                    </a:moveTo>
                    <a:cubicBezTo>
                      <a:pt x="60" y="138"/>
                      <a:pt x="61" y="144"/>
                      <a:pt x="63" y="150"/>
                    </a:cubicBezTo>
                    <a:cubicBezTo>
                      <a:pt x="64" y="157"/>
                      <a:pt x="65" y="165"/>
                      <a:pt x="66" y="174"/>
                    </a:cubicBezTo>
                    <a:cubicBezTo>
                      <a:pt x="68" y="195"/>
                      <a:pt x="67" y="213"/>
                      <a:pt x="63" y="228"/>
                    </a:cubicBezTo>
                    <a:cubicBezTo>
                      <a:pt x="58" y="243"/>
                      <a:pt x="52" y="250"/>
                      <a:pt x="44" y="252"/>
                    </a:cubicBezTo>
                    <a:cubicBezTo>
                      <a:pt x="40" y="252"/>
                      <a:pt x="36" y="251"/>
                      <a:pt x="32" y="248"/>
                    </a:cubicBezTo>
                    <a:cubicBezTo>
                      <a:pt x="28" y="246"/>
                      <a:pt x="24" y="242"/>
                      <a:pt x="21" y="238"/>
                    </a:cubicBezTo>
                    <a:cubicBezTo>
                      <a:pt x="20" y="251"/>
                      <a:pt x="20" y="251"/>
                      <a:pt x="20" y="251"/>
                    </a:cubicBezTo>
                    <a:cubicBezTo>
                      <a:pt x="15" y="251"/>
                      <a:pt x="15" y="251"/>
                      <a:pt x="15" y="251"/>
                    </a:cubicBezTo>
                    <a:cubicBezTo>
                      <a:pt x="7" y="169"/>
                      <a:pt x="7" y="169"/>
                      <a:pt x="7" y="169"/>
                    </a:cubicBezTo>
                    <a:cubicBezTo>
                      <a:pt x="12" y="168"/>
                      <a:pt x="12" y="168"/>
                      <a:pt x="12" y="168"/>
                    </a:cubicBezTo>
                    <a:cubicBezTo>
                      <a:pt x="14" y="178"/>
                      <a:pt x="16" y="187"/>
                      <a:pt x="18" y="195"/>
                    </a:cubicBezTo>
                    <a:cubicBezTo>
                      <a:pt x="20" y="203"/>
                      <a:pt x="22" y="211"/>
                      <a:pt x="25" y="217"/>
                    </a:cubicBezTo>
                    <a:cubicBezTo>
                      <a:pt x="28" y="224"/>
                      <a:pt x="31" y="229"/>
                      <a:pt x="34" y="232"/>
                    </a:cubicBezTo>
                    <a:cubicBezTo>
                      <a:pt x="37" y="236"/>
                      <a:pt x="40" y="237"/>
                      <a:pt x="44" y="237"/>
                    </a:cubicBezTo>
                    <a:cubicBezTo>
                      <a:pt x="47" y="236"/>
                      <a:pt x="49" y="235"/>
                      <a:pt x="51" y="233"/>
                    </a:cubicBezTo>
                    <a:cubicBezTo>
                      <a:pt x="53" y="230"/>
                      <a:pt x="54" y="227"/>
                      <a:pt x="55" y="223"/>
                    </a:cubicBezTo>
                    <a:cubicBezTo>
                      <a:pt x="56" y="219"/>
                      <a:pt x="56" y="215"/>
                      <a:pt x="57" y="210"/>
                    </a:cubicBezTo>
                    <a:cubicBezTo>
                      <a:pt x="57" y="204"/>
                      <a:pt x="57" y="199"/>
                      <a:pt x="56" y="192"/>
                    </a:cubicBezTo>
                    <a:cubicBezTo>
                      <a:pt x="55" y="182"/>
                      <a:pt x="53" y="173"/>
                      <a:pt x="51" y="165"/>
                    </a:cubicBezTo>
                    <a:cubicBezTo>
                      <a:pt x="48" y="157"/>
                      <a:pt x="45" y="152"/>
                      <a:pt x="40" y="148"/>
                    </a:cubicBezTo>
                    <a:cubicBezTo>
                      <a:pt x="38" y="145"/>
                      <a:pt x="34" y="142"/>
                      <a:pt x="31" y="139"/>
                    </a:cubicBezTo>
                    <a:cubicBezTo>
                      <a:pt x="27" y="136"/>
                      <a:pt x="24" y="133"/>
                      <a:pt x="21" y="131"/>
                    </a:cubicBezTo>
                    <a:cubicBezTo>
                      <a:pt x="16" y="125"/>
                      <a:pt x="11" y="118"/>
                      <a:pt x="8" y="108"/>
                    </a:cubicBezTo>
                    <a:cubicBezTo>
                      <a:pt x="4" y="99"/>
                      <a:pt x="2" y="86"/>
                      <a:pt x="0" y="70"/>
                    </a:cubicBezTo>
                    <a:cubicBezTo>
                      <a:pt x="0" y="61"/>
                      <a:pt x="0" y="52"/>
                      <a:pt x="0" y="44"/>
                    </a:cubicBezTo>
                    <a:cubicBezTo>
                      <a:pt x="1" y="36"/>
                      <a:pt x="2" y="28"/>
                      <a:pt x="4" y="22"/>
                    </a:cubicBezTo>
                    <a:cubicBezTo>
                      <a:pt x="6" y="16"/>
                      <a:pt x="8" y="11"/>
                      <a:pt x="11" y="7"/>
                    </a:cubicBezTo>
                    <a:cubicBezTo>
                      <a:pt x="14" y="3"/>
                      <a:pt x="17" y="1"/>
                      <a:pt x="20" y="0"/>
                    </a:cubicBezTo>
                    <a:cubicBezTo>
                      <a:pt x="24" y="0"/>
                      <a:pt x="28" y="1"/>
                      <a:pt x="31" y="4"/>
                    </a:cubicBezTo>
                    <a:cubicBezTo>
                      <a:pt x="35" y="7"/>
                      <a:pt x="38" y="10"/>
                      <a:pt x="41" y="14"/>
                    </a:cubicBezTo>
                    <a:cubicBezTo>
                      <a:pt x="42" y="2"/>
                      <a:pt x="42" y="2"/>
                      <a:pt x="42" y="2"/>
                    </a:cubicBezTo>
                    <a:cubicBezTo>
                      <a:pt x="47" y="2"/>
                      <a:pt x="47" y="2"/>
                      <a:pt x="47" y="2"/>
                    </a:cubicBezTo>
                    <a:cubicBezTo>
                      <a:pt x="54" y="82"/>
                      <a:pt x="54" y="82"/>
                      <a:pt x="54" y="82"/>
                    </a:cubicBezTo>
                    <a:cubicBezTo>
                      <a:pt x="50" y="82"/>
                      <a:pt x="50" y="82"/>
                      <a:pt x="50" y="82"/>
                    </a:cubicBezTo>
                    <a:cubicBezTo>
                      <a:pt x="48" y="73"/>
                      <a:pt x="46" y="65"/>
                      <a:pt x="44" y="57"/>
                    </a:cubicBezTo>
                    <a:cubicBezTo>
                      <a:pt x="42" y="48"/>
                      <a:pt x="40" y="41"/>
                      <a:pt x="38" y="34"/>
                    </a:cubicBezTo>
                    <a:cubicBezTo>
                      <a:pt x="36" y="28"/>
                      <a:pt x="33" y="23"/>
                      <a:pt x="30" y="20"/>
                    </a:cubicBezTo>
                    <a:cubicBezTo>
                      <a:pt x="28" y="16"/>
                      <a:pt x="24" y="15"/>
                      <a:pt x="21" y="15"/>
                    </a:cubicBezTo>
                    <a:cubicBezTo>
                      <a:pt x="17" y="16"/>
                      <a:pt x="14" y="20"/>
                      <a:pt x="12" y="27"/>
                    </a:cubicBezTo>
                    <a:cubicBezTo>
                      <a:pt x="10" y="34"/>
                      <a:pt x="9" y="43"/>
                      <a:pt x="10" y="53"/>
                    </a:cubicBezTo>
                    <a:cubicBezTo>
                      <a:pt x="11" y="63"/>
                      <a:pt x="13" y="72"/>
                      <a:pt x="15" y="78"/>
                    </a:cubicBezTo>
                    <a:cubicBezTo>
                      <a:pt x="17" y="85"/>
                      <a:pt x="20" y="90"/>
                      <a:pt x="24" y="94"/>
                    </a:cubicBezTo>
                    <a:cubicBezTo>
                      <a:pt x="27" y="98"/>
                      <a:pt x="31" y="101"/>
                      <a:pt x="34" y="103"/>
                    </a:cubicBezTo>
                    <a:cubicBezTo>
                      <a:pt x="37" y="106"/>
                      <a:pt x="40" y="108"/>
                      <a:pt x="43" y="111"/>
                    </a:cubicBezTo>
                    <a:cubicBezTo>
                      <a:pt x="45" y="114"/>
                      <a:pt x="48" y="117"/>
                      <a:pt x="50" y="120"/>
                    </a:cubicBezTo>
                    <a:cubicBezTo>
                      <a:pt x="53" y="124"/>
                      <a:pt x="55" y="128"/>
                      <a:pt x="57" y="132"/>
                    </a:cubicBez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2" name="îṣ1iḍé"/>
              <p:cNvSpPr/>
              <p:nvPr/>
            </p:nvSpPr>
            <p:spPr bwMode="auto">
              <a:xfrm>
                <a:off x="3171826" y="4054476"/>
                <a:ext cx="65088" cy="198438"/>
              </a:xfrm>
              <a:custGeom>
                <a:avLst/>
                <a:gdLst>
                  <a:gd name="T0" fmla="*/ 60 w 84"/>
                  <a:gd name="T1" fmla="*/ 251 h 253"/>
                  <a:gd name="T2" fmla="*/ 44 w 84"/>
                  <a:gd name="T3" fmla="*/ 247 h 253"/>
                  <a:gd name="T4" fmla="*/ 29 w 84"/>
                  <a:gd name="T5" fmla="*/ 225 h 253"/>
                  <a:gd name="T6" fmla="*/ 15 w 84"/>
                  <a:gd name="T7" fmla="*/ 189 h 253"/>
                  <a:gd name="T8" fmla="*/ 4 w 84"/>
                  <a:gd name="T9" fmla="*/ 138 h 253"/>
                  <a:gd name="T10" fmla="*/ 0 w 84"/>
                  <a:gd name="T11" fmla="*/ 85 h 253"/>
                  <a:gd name="T12" fmla="*/ 3 w 84"/>
                  <a:gd name="T13" fmla="*/ 43 h 253"/>
                  <a:gd name="T14" fmla="*/ 12 w 84"/>
                  <a:gd name="T15" fmla="*/ 14 h 253"/>
                  <a:gd name="T16" fmla="*/ 26 w 84"/>
                  <a:gd name="T17" fmla="*/ 1 h 253"/>
                  <a:gd name="T18" fmla="*/ 38 w 84"/>
                  <a:gd name="T19" fmla="*/ 3 h 253"/>
                  <a:gd name="T20" fmla="*/ 49 w 84"/>
                  <a:gd name="T21" fmla="*/ 13 h 253"/>
                  <a:gd name="T22" fmla="*/ 50 w 84"/>
                  <a:gd name="T23" fmla="*/ 1 h 253"/>
                  <a:gd name="T24" fmla="*/ 55 w 84"/>
                  <a:gd name="T25" fmla="*/ 0 h 253"/>
                  <a:gd name="T26" fmla="*/ 68 w 84"/>
                  <a:gd name="T27" fmla="*/ 85 h 253"/>
                  <a:gd name="T28" fmla="*/ 63 w 84"/>
                  <a:gd name="T29" fmla="*/ 86 h 253"/>
                  <a:gd name="T30" fmla="*/ 56 w 84"/>
                  <a:gd name="T31" fmla="*/ 60 h 253"/>
                  <a:gd name="T32" fmla="*/ 48 w 84"/>
                  <a:gd name="T33" fmla="*/ 36 h 253"/>
                  <a:gd name="T34" fmla="*/ 39 w 84"/>
                  <a:gd name="T35" fmla="*/ 20 h 253"/>
                  <a:gd name="T36" fmla="*/ 29 w 84"/>
                  <a:gd name="T37" fmla="*/ 15 h 253"/>
                  <a:gd name="T38" fmla="*/ 19 w 84"/>
                  <a:gd name="T39" fmla="*/ 25 h 253"/>
                  <a:gd name="T40" fmla="*/ 14 w 84"/>
                  <a:gd name="T41" fmla="*/ 49 h 253"/>
                  <a:gd name="T42" fmla="*/ 13 w 84"/>
                  <a:gd name="T43" fmla="*/ 85 h 253"/>
                  <a:gd name="T44" fmla="*/ 18 w 84"/>
                  <a:gd name="T45" fmla="*/ 132 h 253"/>
                  <a:gd name="T46" fmla="*/ 26 w 84"/>
                  <a:gd name="T47" fmla="*/ 174 h 253"/>
                  <a:gd name="T48" fmla="*/ 37 w 84"/>
                  <a:gd name="T49" fmla="*/ 206 h 253"/>
                  <a:gd name="T50" fmla="*/ 49 w 84"/>
                  <a:gd name="T51" fmla="*/ 226 h 253"/>
                  <a:gd name="T52" fmla="*/ 62 w 84"/>
                  <a:gd name="T53" fmla="*/ 231 h 253"/>
                  <a:gd name="T54" fmla="*/ 70 w 84"/>
                  <a:gd name="T55" fmla="*/ 225 h 253"/>
                  <a:gd name="T56" fmla="*/ 75 w 84"/>
                  <a:gd name="T57" fmla="*/ 212 h 253"/>
                  <a:gd name="T58" fmla="*/ 78 w 84"/>
                  <a:gd name="T59" fmla="*/ 194 h 253"/>
                  <a:gd name="T60" fmla="*/ 79 w 84"/>
                  <a:gd name="T61" fmla="*/ 172 h 253"/>
                  <a:gd name="T62" fmla="*/ 84 w 84"/>
                  <a:gd name="T63" fmla="*/ 177 h 253"/>
                  <a:gd name="T64" fmla="*/ 78 w 84"/>
                  <a:gd name="T65" fmla="*/ 231 h 253"/>
                  <a:gd name="T66" fmla="*/ 60 w 84"/>
                  <a:gd name="T67" fmla="*/ 251 h 2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84" h="253">
                    <a:moveTo>
                      <a:pt x="60" y="251"/>
                    </a:moveTo>
                    <a:cubicBezTo>
                      <a:pt x="55" y="253"/>
                      <a:pt x="50" y="251"/>
                      <a:pt x="44" y="247"/>
                    </a:cubicBezTo>
                    <a:cubicBezTo>
                      <a:pt x="39" y="242"/>
                      <a:pt x="34" y="235"/>
                      <a:pt x="29" y="225"/>
                    </a:cubicBezTo>
                    <a:cubicBezTo>
                      <a:pt x="24" y="216"/>
                      <a:pt x="19" y="203"/>
                      <a:pt x="15" y="189"/>
                    </a:cubicBezTo>
                    <a:cubicBezTo>
                      <a:pt x="11" y="174"/>
                      <a:pt x="7" y="157"/>
                      <a:pt x="4" y="138"/>
                    </a:cubicBezTo>
                    <a:cubicBezTo>
                      <a:pt x="2" y="119"/>
                      <a:pt x="0" y="101"/>
                      <a:pt x="0" y="85"/>
                    </a:cubicBezTo>
                    <a:cubicBezTo>
                      <a:pt x="0" y="69"/>
                      <a:pt x="1" y="55"/>
                      <a:pt x="3" y="43"/>
                    </a:cubicBezTo>
                    <a:cubicBezTo>
                      <a:pt x="5" y="31"/>
                      <a:pt x="8" y="22"/>
                      <a:pt x="12" y="14"/>
                    </a:cubicBezTo>
                    <a:cubicBezTo>
                      <a:pt x="16" y="7"/>
                      <a:pt x="21" y="3"/>
                      <a:pt x="26" y="1"/>
                    </a:cubicBezTo>
                    <a:cubicBezTo>
                      <a:pt x="30" y="0"/>
                      <a:pt x="34" y="1"/>
                      <a:pt x="38" y="3"/>
                    </a:cubicBezTo>
                    <a:cubicBezTo>
                      <a:pt x="42" y="5"/>
                      <a:pt x="46" y="8"/>
                      <a:pt x="49" y="13"/>
                    </a:cubicBezTo>
                    <a:cubicBezTo>
                      <a:pt x="50" y="1"/>
                      <a:pt x="50" y="1"/>
                      <a:pt x="50" y="1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68" y="85"/>
                      <a:pt x="68" y="85"/>
                      <a:pt x="68" y="85"/>
                    </a:cubicBezTo>
                    <a:cubicBezTo>
                      <a:pt x="63" y="86"/>
                      <a:pt x="63" y="86"/>
                      <a:pt x="63" y="86"/>
                    </a:cubicBezTo>
                    <a:cubicBezTo>
                      <a:pt x="61" y="78"/>
                      <a:pt x="59" y="69"/>
                      <a:pt x="56" y="60"/>
                    </a:cubicBezTo>
                    <a:cubicBezTo>
                      <a:pt x="53" y="50"/>
                      <a:pt x="51" y="42"/>
                      <a:pt x="48" y="36"/>
                    </a:cubicBezTo>
                    <a:cubicBezTo>
                      <a:pt x="45" y="29"/>
                      <a:pt x="42" y="23"/>
                      <a:pt x="39" y="20"/>
                    </a:cubicBezTo>
                    <a:cubicBezTo>
                      <a:pt x="36" y="16"/>
                      <a:pt x="32" y="15"/>
                      <a:pt x="29" y="15"/>
                    </a:cubicBezTo>
                    <a:cubicBezTo>
                      <a:pt x="25" y="16"/>
                      <a:pt x="22" y="20"/>
                      <a:pt x="19" y="25"/>
                    </a:cubicBezTo>
                    <a:cubicBezTo>
                      <a:pt x="17" y="31"/>
                      <a:pt x="15" y="39"/>
                      <a:pt x="14" y="49"/>
                    </a:cubicBezTo>
                    <a:cubicBezTo>
                      <a:pt x="13" y="58"/>
                      <a:pt x="13" y="70"/>
                      <a:pt x="13" y="85"/>
                    </a:cubicBezTo>
                    <a:cubicBezTo>
                      <a:pt x="14" y="99"/>
                      <a:pt x="16" y="115"/>
                      <a:pt x="18" y="132"/>
                    </a:cubicBezTo>
                    <a:cubicBezTo>
                      <a:pt x="20" y="148"/>
                      <a:pt x="23" y="161"/>
                      <a:pt x="26" y="174"/>
                    </a:cubicBezTo>
                    <a:cubicBezTo>
                      <a:pt x="29" y="186"/>
                      <a:pt x="33" y="197"/>
                      <a:pt x="37" y="206"/>
                    </a:cubicBezTo>
                    <a:cubicBezTo>
                      <a:pt x="41" y="215"/>
                      <a:pt x="45" y="222"/>
                      <a:pt x="49" y="226"/>
                    </a:cubicBezTo>
                    <a:cubicBezTo>
                      <a:pt x="53" y="231"/>
                      <a:pt x="57" y="232"/>
                      <a:pt x="62" y="231"/>
                    </a:cubicBezTo>
                    <a:cubicBezTo>
                      <a:pt x="65" y="231"/>
                      <a:pt x="68" y="228"/>
                      <a:pt x="70" y="225"/>
                    </a:cubicBezTo>
                    <a:cubicBezTo>
                      <a:pt x="72" y="221"/>
                      <a:pt x="74" y="217"/>
                      <a:pt x="75" y="212"/>
                    </a:cubicBezTo>
                    <a:cubicBezTo>
                      <a:pt x="76" y="206"/>
                      <a:pt x="77" y="200"/>
                      <a:pt x="78" y="194"/>
                    </a:cubicBezTo>
                    <a:cubicBezTo>
                      <a:pt x="79" y="187"/>
                      <a:pt x="79" y="180"/>
                      <a:pt x="79" y="172"/>
                    </a:cubicBezTo>
                    <a:cubicBezTo>
                      <a:pt x="84" y="177"/>
                      <a:pt x="84" y="177"/>
                      <a:pt x="84" y="177"/>
                    </a:cubicBezTo>
                    <a:cubicBezTo>
                      <a:pt x="84" y="202"/>
                      <a:pt x="82" y="220"/>
                      <a:pt x="78" y="231"/>
                    </a:cubicBezTo>
                    <a:cubicBezTo>
                      <a:pt x="74" y="243"/>
                      <a:pt x="68" y="250"/>
                      <a:pt x="60" y="251"/>
                    </a:cubicBez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3" name="íşľîḋé"/>
              <p:cNvSpPr/>
              <p:nvPr/>
            </p:nvSpPr>
            <p:spPr bwMode="auto">
              <a:xfrm>
                <a:off x="3222626" y="4043363"/>
                <a:ext cx="57150" cy="195263"/>
              </a:xfrm>
              <a:custGeom>
                <a:avLst/>
                <a:gdLst>
                  <a:gd name="T0" fmla="*/ 73 w 73"/>
                  <a:gd name="T1" fmla="*/ 239 h 248"/>
                  <a:gd name="T2" fmla="*/ 35 w 73"/>
                  <a:gd name="T3" fmla="*/ 248 h 248"/>
                  <a:gd name="T4" fmla="*/ 33 w 73"/>
                  <a:gd name="T5" fmla="*/ 236 h 248"/>
                  <a:gd name="T6" fmla="*/ 38 w 73"/>
                  <a:gd name="T7" fmla="*/ 234 h 248"/>
                  <a:gd name="T8" fmla="*/ 42 w 73"/>
                  <a:gd name="T9" fmla="*/ 231 h 248"/>
                  <a:gd name="T10" fmla="*/ 44 w 73"/>
                  <a:gd name="T11" fmla="*/ 224 h 248"/>
                  <a:gd name="T12" fmla="*/ 43 w 73"/>
                  <a:gd name="T13" fmla="*/ 214 h 248"/>
                  <a:gd name="T14" fmla="*/ 18 w 73"/>
                  <a:gd name="T15" fmla="*/ 41 h 248"/>
                  <a:gd name="T16" fmla="*/ 16 w 73"/>
                  <a:gd name="T17" fmla="*/ 31 h 248"/>
                  <a:gd name="T18" fmla="*/ 12 w 73"/>
                  <a:gd name="T19" fmla="*/ 25 h 248"/>
                  <a:gd name="T20" fmla="*/ 7 w 73"/>
                  <a:gd name="T21" fmla="*/ 22 h 248"/>
                  <a:gd name="T22" fmla="*/ 2 w 73"/>
                  <a:gd name="T23" fmla="*/ 21 h 248"/>
                  <a:gd name="T24" fmla="*/ 0 w 73"/>
                  <a:gd name="T25" fmla="*/ 9 h 248"/>
                  <a:gd name="T26" fmla="*/ 38 w 73"/>
                  <a:gd name="T27" fmla="*/ 0 h 248"/>
                  <a:gd name="T28" fmla="*/ 40 w 73"/>
                  <a:gd name="T29" fmla="*/ 12 h 248"/>
                  <a:gd name="T30" fmla="*/ 35 w 73"/>
                  <a:gd name="T31" fmla="*/ 14 h 248"/>
                  <a:gd name="T32" fmla="*/ 31 w 73"/>
                  <a:gd name="T33" fmla="*/ 18 h 248"/>
                  <a:gd name="T34" fmla="*/ 29 w 73"/>
                  <a:gd name="T35" fmla="*/ 25 h 248"/>
                  <a:gd name="T36" fmla="*/ 30 w 73"/>
                  <a:gd name="T37" fmla="*/ 36 h 248"/>
                  <a:gd name="T38" fmla="*/ 55 w 73"/>
                  <a:gd name="T39" fmla="*/ 208 h 248"/>
                  <a:gd name="T40" fmla="*/ 58 w 73"/>
                  <a:gd name="T41" fmla="*/ 218 h 248"/>
                  <a:gd name="T42" fmla="*/ 61 w 73"/>
                  <a:gd name="T43" fmla="*/ 224 h 248"/>
                  <a:gd name="T44" fmla="*/ 66 w 73"/>
                  <a:gd name="T45" fmla="*/ 226 h 248"/>
                  <a:gd name="T46" fmla="*/ 71 w 73"/>
                  <a:gd name="T47" fmla="*/ 227 h 248"/>
                  <a:gd name="T48" fmla="*/ 73 w 73"/>
                  <a:gd name="T49" fmla="*/ 239 h 2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73" h="248">
                    <a:moveTo>
                      <a:pt x="73" y="239"/>
                    </a:moveTo>
                    <a:cubicBezTo>
                      <a:pt x="35" y="248"/>
                      <a:pt x="35" y="248"/>
                      <a:pt x="35" y="248"/>
                    </a:cubicBezTo>
                    <a:cubicBezTo>
                      <a:pt x="33" y="236"/>
                      <a:pt x="33" y="236"/>
                      <a:pt x="33" y="236"/>
                    </a:cubicBezTo>
                    <a:cubicBezTo>
                      <a:pt x="34" y="236"/>
                      <a:pt x="36" y="235"/>
                      <a:pt x="38" y="234"/>
                    </a:cubicBezTo>
                    <a:cubicBezTo>
                      <a:pt x="40" y="233"/>
                      <a:pt x="41" y="232"/>
                      <a:pt x="42" y="231"/>
                    </a:cubicBezTo>
                    <a:cubicBezTo>
                      <a:pt x="43" y="229"/>
                      <a:pt x="43" y="227"/>
                      <a:pt x="44" y="224"/>
                    </a:cubicBezTo>
                    <a:cubicBezTo>
                      <a:pt x="44" y="222"/>
                      <a:pt x="44" y="218"/>
                      <a:pt x="43" y="214"/>
                    </a:cubicBezTo>
                    <a:cubicBezTo>
                      <a:pt x="18" y="41"/>
                      <a:pt x="18" y="41"/>
                      <a:pt x="18" y="41"/>
                    </a:cubicBezTo>
                    <a:cubicBezTo>
                      <a:pt x="17" y="37"/>
                      <a:pt x="17" y="33"/>
                      <a:pt x="16" y="31"/>
                    </a:cubicBezTo>
                    <a:cubicBezTo>
                      <a:pt x="15" y="28"/>
                      <a:pt x="14" y="26"/>
                      <a:pt x="12" y="25"/>
                    </a:cubicBezTo>
                    <a:cubicBezTo>
                      <a:pt x="10" y="24"/>
                      <a:pt x="9" y="23"/>
                      <a:pt x="7" y="22"/>
                    </a:cubicBezTo>
                    <a:cubicBezTo>
                      <a:pt x="5" y="22"/>
                      <a:pt x="3" y="21"/>
                      <a:pt x="2" y="21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38" y="0"/>
                      <a:pt x="38" y="0"/>
                      <a:pt x="38" y="0"/>
                    </a:cubicBezTo>
                    <a:cubicBezTo>
                      <a:pt x="40" y="12"/>
                      <a:pt x="40" y="12"/>
                      <a:pt x="40" y="12"/>
                    </a:cubicBezTo>
                    <a:cubicBezTo>
                      <a:pt x="38" y="12"/>
                      <a:pt x="37" y="13"/>
                      <a:pt x="35" y="14"/>
                    </a:cubicBezTo>
                    <a:cubicBezTo>
                      <a:pt x="34" y="15"/>
                      <a:pt x="33" y="17"/>
                      <a:pt x="31" y="18"/>
                    </a:cubicBezTo>
                    <a:cubicBezTo>
                      <a:pt x="30" y="20"/>
                      <a:pt x="29" y="22"/>
                      <a:pt x="29" y="25"/>
                    </a:cubicBezTo>
                    <a:cubicBezTo>
                      <a:pt x="29" y="29"/>
                      <a:pt x="30" y="32"/>
                      <a:pt x="30" y="36"/>
                    </a:cubicBezTo>
                    <a:cubicBezTo>
                      <a:pt x="55" y="208"/>
                      <a:pt x="55" y="208"/>
                      <a:pt x="55" y="208"/>
                    </a:cubicBezTo>
                    <a:cubicBezTo>
                      <a:pt x="56" y="212"/>
                      <a:pt x="57" y="215"/>
                      <a:pt x="58" y="218"/>
                    </a:cubicBezTo>
                    <a:cubicBezTo>
                      <a:pt x="59" y="221"/>
                      <a:pt x="60" y="223"/>
                      <a:pt x="61" y="224"/>
                    </a:cubicBezTo>
                    <a:cubicBezTo>
                      <a:pt x="62" y="225"/>
                      <a:pt x="64" y="226"/>
                      <a:pt x="66" y="226"/>
                    </a:cubicBezTo>
                    <a:cubicBezTo>
                      <a:pt x="68" y="227"/>
                      <a:pt x="70" y="227"/>
                      <a:pt x="71" y="227"/>
                    </a:cubicBezTo>
                    <a:lnTo>
                      <a:pt x="73" y="239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4" name="íṣ1iḍe"/>
              <p:cNvSpPr/>
              <p:nvPr/>
            </p:nvSpPr>
            <p:spPr bwMode="auto">
              <a:xfrm>
                <a:off x="3257551" y="4022726"/>
                <a:ext cx="88900" cy="201613"/>
              </a:xfrm>
              <a:custGeom>
                <a:avLst/>
                <a:gdLst>
                  <a:gd name="T0" fmla="*/ 102 w 114"/>
                  <a:gd name="T1" fmla="*/ 164 h 257"/>
                  <a:gd name="T2" fmla="*/ 114 w 114"/>
                  <a:gd name="T3" fmla="*/ 234 h 257"/>
                  <a:gd name="T4" fmla="*/ 45 w 114"/>
                  <a:gd name="T5" fmla="*/ 257 h 257"/>
                  <a:gd name="T6" fmla="*/ 43 w 114"/>
                  <a:gd name="T7" fmla="*/ 245 h 257"/>
                  <a:gd name="T8" fmla="*/ 47 w 114"/>
                  <a:gd name="T9" fmla="*/ 242 h 257"/>
                  <a:gd name="T10" fmla="*/ 50 w 114"/>
                  <a:gd name="T11" fmla="*/ 238 h 257"/>
                  <a:gd name="T12" fmla="*/ 52 w 114"/>
                  <a:gd name="T13" fmla="*/ 231 h 257"/>
                  <a:gd name="T14" fmla="*/ 51 w 114"/>
                  <a:gd name="T15" fmla="*/ 221 h 257"/>
                  <a:gd name="T16" fmla="*/ 19 w 114"/>
                  <a:gd name="T17" fmla="*/ 51 h 257"/>
                  <a:gd name="T18" fmla="*/ 16 w 114"/>
                  <a:gd name="T19" fmla="*/ 42 h 257"/>
                  <a:gd name="T20" fmla="*/ 12 w 114"/>
                  <a:gd name="T21" fmla="*/ 36 h 257"/>
                  <a:gd name="T22" fmla="*/ 7 w 114"/>
                  <a:gd name="T23" fmla="*/ 33 h 257"/>
                  <a:gd name="T24" fmla="*/ 2 w 114"/>
                  <a:gd name="T25" fmla="*/ 33 h 257"/>
                  <a:gd name="T26" fmla="*/ 0 w 114"/>
                  <a:gd name="T27" fmla="*/ 21 h 257"/>
                  <a:gd name="T28" fmla="*/ 64 w 114"/>
                  <a:gd name="T29" fmla="*/ 0 h 257"/>
                  <a:gd name="T30" fmla="*/ 75 w 114"/>
                  <a:gd name="T31" fmla="*/ 57 h 257"/>
                  <a:gd name="T32" fmla="*/ 71 w 114"/>
                  <a:gd name="T33" fmla="*/ 58 h 257"/>
                  <a:gd name="T34" fmla="*/ 61 w 114"/>
                  <a:gd name="T35" fmla="*/ 33 h 257"/>
                  <a:gd name="T36" fmla="*/ 50 w 114"/>
                  <a:gd name="T37" fmla="*/ 20 h 257"/>
                  <a:gd name="T38" fmla="*/ 46 w 114"/>
                  <a:gd name="T39" fmla="*/ 20 h 257"/>
                  <a:gd name="T40" fmla="*/ 40 w 114"/>
                  <a:gd name="T41" fmla="*/ 22 h 257"/>
                  <a:gd name="T42" fmla="*/ 27 w 114"/>
                  <a:gd name="T43" fmla="*/ 26 h 257"/>
                  <a:gd name="T44" fmla="*/ 45 w 114"/>
                  <a:gd name="T45" fmla="*/ 120 h 257"/>
                  <a:gd name="T46" fmla="*/ 54 w 114"/>
                  <a:gd name="T47" fmla="*/ 117 h 257"/>
                  <a:gd name="T48" fmla="*/ 60 w 114"/>
                  <a:gd name="T49" fmla="*/ 112 h 257"/>
                  <a:gd name="T50" fmla="*/ 62 w 114"/>
                  <a:gd name="T51" fmla="*/ 103 h 257"/>
                  <a:gd name="T52" fmla="*/ 62 w 114"/>
                  <a:gd name="T53" fmla="*/ 89 h 257"/>
                  <a:gd name="T54" fmla="*/ 60 w 114"/>
                  <a:gd name="T55" fmla="*/ 74 h 257"/>
                  <a:gd name="T56" fmla="*/ 65 w 114"/>
                  <a:gd name="T57" fmla="*/ 72 h 257"/>
                  <a:gd name="T58" fmla="*/ 82 w 114"/>
                  <a:gd name="T59" fmla="*/ 165 h 257"/>
                  <a:gd name="T60" fmla="*/ 78 w 114"/>
                  <a:gd name="T61" fmla="*/ 166 h 257"/>
                  <a:gd name="T62" fmla="*/ 73 w 114"/>
                  <a:gd name="T63" fmla="*/ 149 h 257"/>
                  <a:gd name="T64" fmla="*/ 69 w 114"/>
                  <a:gd name="T65" fmla="*/ 137 h 257"/>
                  <a:gd name="T66" fmla="*/ 63 w 114"/>
                  <a:gd name="T67" fmla="*/ 130 h 257"/>
                  <a:gd name="T68" fmla="*/ 57 w 114"/>
                  <a:gd name="T69" fmla="*/ 130 h 257"/>
                  <a:gd name="T70" fmla="*/ 47 w 114"/>
                  <a:gd name="T71" fmla="*/ 133 h 257"/>
                  <a:gd name="T72" fmla="*/ 61 w 114"/>
                  <a:gd name="T73" fmla="*/ 204 h 257"/>
                  <a:gd name="T74" fmla="*/ 64 w 114"/>
                  <a:gd name="T75" fmla="*/ 221 h 257"/>
                  <a:gd name="T76" fmla="*/ 68 w 114"/>
                  <a:gd name="T77" fmla="*/ 229 h 257"/>
                  <a:gd name="T78" fmla="*/ 73 w 114"/>
                  <a:gd name="T79" fmla="*/ 232 h 257"/>
                  <a:gd name="T80" fmla="*/ 81 w 114"/>
                  <a:gd name="T81" fmla="*/ 231 h 257"/>
                  <a:gd name="T82" fmla="*/ 86 w 114"/>
                  <a:gd name="T83" fmla="*/ 229 h 257"/>
                  <a:gd name="T84" fmla="*/ 91 w 114"/>
                  <a:gd name="T85" fmla="*/ 226 h 257"/>
                  <a:gd name="T86" fmla="*/ 95 w 114"/>
                  <a:gd name="T87" fmla="*/ 223 h 257"/>
                  <a:gd name="T88" fmla="*/ 97 w 114"/>
                  <a:gd name="T89" fmla="*/ 217 h 257"/>
                  <a:gd name="T90" fmla="*/ 99 w 114"/>
                  <a:gd name="T91" fmla="*/ 191 h 257"/>
                  <a:gd name="T92" fmla="*/ 98 w 114"/>
                  <a:gd name="T93" fmla="*/ 166 h 257"/>
                  <a:gd name="T94" fmla="*/ 102 w 114"/>
                  <a:gd name="T95" fmla="*/ 164 h 2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14" h="257">
                    <a:moveTo>
                      <a:pt x="102" y="164"/>
                    </a:moveTo>
                    <a:cubicBezTo>
                      <a:pt x="114" y="234"/>
                      <a:pt x="114" y="234"/>
                      <a:pt x="114" y="234"/>
                    </a:cubicBezTo>
                    <a:cubicBezTo>
                      <a:pt x="45" y="257"/>
                      <a:pt x="45" y="257"/>
                      <a:pt x="45" y="257"/>
                    </a:cubicBezTo>
                    <a:cubicBezTo>
                      <a:pt x="43" y="245"/>
                      <a:pt x="43" y="245"/>
                      <a:pt x="43" y="245"/>
                    </a:cubicBezTo>
                    <a:cubicBezTo>
                      <a:pt x="44" y="244"/>
                      <a:pt x="45" y="243"/>
                      <a:pt x="47" y="242"/>
                    </a:cubicBezTo>
                    <a:cubicBezTo>
                      <a:pt x="49" y="241"/>
                      <a:pt x="50" y="239"/>
                      <a:pt x="50" y="238"/>
                    </a:cubicBezTo>
                    <a:cubicBezTo>
                      <a:pt x="51" y="236"/>
                      <a:pt x="52" y="234"/>
                      <a:pt x="52" y="231"/>
                    </a:cubicBezTo>
                    <a:cubicBezTo>
                      <a:pt x="52" y="228"/>
                      <a:pt x="51" y="225"/>
                      <a:pt x="51" y="221"/>
                    </a:cubicBezTo>
                    <a:cubicBezTo>
                      <a:pt x="19" y="51"/>
                      <a:pt x="19" y="51"/>
                      <a:pt x="19" y="51"/>
                    </a:cubicBezTo>
                    <a:cubicBezTo>
                      <a:pt x="18" y="48"/>
                      <a:pt x="17" y="44"/>
                      <a:pt x="16" y="42"/>
                    </a:cubicBezTo>
                    <a:cubicBezTo>
                      <a:pt x="15" y="39"/>
                      <a:pt x="14" y="37"/>
                      <a:pt x="12" y="36"/>
                    </a:cubicBezTo>
                    <a:cubicBezTo>
                      <a:pt x="11" y="35"/>
                      <a:pt x="9" y="34"/>
                      <a:pt x="7" y="33"/>
                    </a:cubicBezTo>
                    <a:cubicBezTo>
                      <a:pt x="5" y="33"/>
                      <a:pt x="4" y="33"/>
                      <a:pt x="2" y="33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75" y="57"/>
                      <a:pt x="75" y="57"/>
                      <a:pt x="75" y="57"/>
                    </a:cubicBezTo>
                    <a:cubicBezTo>
                      <a:pt x="71" y="58"/>
                      <a:pt x="71" y="58"/>
                      <a:pt x="71" y="58"/>
                    </a:cubicBezTo>
                    <a:cubicBezTo>
                      <a:pt x="68" y="50"/>
                      <a:pt x="65" y="42"/>
                      <a:pt x="61" y="33"/>
                    </a:cubicBezTo>
                    <a:cubicBezTo>
                      <a:pt x="56" y="24"/>
                      <a:pt x="53" y="20"/>
                      <a:pt x="50" y="20"/>
                    </a:cubicBezTo>
                    <a:cubicBezTo>
                      <a:pt x="49" y="20"/>
                      <a:pt x="47" y="20"/>
                      <a:pt x="46" y="20"/>
                    </a:cubicBezTo>
                    <a:cubicBezTo>
                      <a:pt x="44" y="21"/>
                      <a:pt x="42" y="21"/>
                      <a:pt x="40" y="22"/>
                    </a:cubicBezTo>
                    <a:cubicBezTo>
                      <a:pt x="27" y="26"/>
                      <a:pt x="27" y="26"/>
                      <a:pt x="27" y="26"/>
                    </a:cubicBezTo>
                    <a:cubicBezTo>
                      <a:pt x="45" y="120"/>
                      <a:pt x="45" y="120"/>
                      <a:pt x="45" y="120"/>
                    </a:cubicBezTo>
                    <a:cubicBezTo>
                      <a:pt x="54" y="117"/>
                      <a:pt x="54" y="117"/>
                      <a:pt x="54" y="117"/>
                    </a:cubicBezTo>
                    <a:cubicBezTo>
                      <a:pt x="57" y="116"/>
                      <a:pt x="59" y="114"/>
                      <a:pt x="60" y="112"/>
                    </a:cubicBezTo>
                    <a:cubicBezTo>
                      <a:pt x="61" y="110"/>
                      <a:pt x="62" y="107"/>
                      <a:pt x="62" y="103"/>
                    </a:cubicBezTo>
                    <a:cubicBezTo>
                      <a:pt x="62" y="99"/>
                      <a:pt x="62" y="95"/>
                      <a:pt x="62" y="89"/>
                    </a:cubicBezTo>
                    <a:cubicBezTo>
                      <a:pt x="62" y="84"/>
                      <a:pt x="61" y="79"/>
                      <a:pt x="60" y="74"/>
                    </a:cubicBezTo>
                    <a:cubicBezTo>
                      <a:pt x="65" y="72"/>
                      <a:pt x="65" y="72"/>
                      <a:pt x="65" y="72"/>
                    </a:cubicBezTo>
                    <a:cubicBezTo>
                      <a:pt x="82" y="165"/>
                      <a:pt x="82" y="165"/>
                      <a:pt x="82" y="165"/>
                    </a:cubicBezTo>
                    <a:cubicBezTo>
                      <a:pt x="78" y="166"/>
                      <a:pt x="78" y="166"/>
                      <a:pt x="78" y="166"/>
                    </a:cubicBezTo>
                    <a:cubicBezTo>
                      <a:pt x="77" y="161"/>
                      <a:pt x="75" y="155"/>
                      <a:pt x="73" y="149"/>
                    </a:cubicBezTo>
                    <a:cubicBezTo>
                      <a:pt x="71" y="144"/>
                      <a:pt x="70" y="140"/>
                      <a:pt x="69" y="137"/>
                    </a:cubicBezTo>
                    <a:cubicBezTo>
                      <a:pt x="67" y="133"/>
                      <a:pt x="65" y="131"/>
                      <a:pt x="63" y="130"/>
                    </a:cubicBezTo>
                    <a:cubicBezTo>
                      <a:pt x="61" y="129"/>
                      <a:pt x="59" y="129"/>
                      <a:pt x="57" y="130"/>
                    </a:cubicBezTo>
                    <a:cubicBezTo>
                      <a:pt x="47" y="133"/>
                      <a:pt x="47" y="133"/>
                      <a:pt x="47" y="133"/>
                    </a:cubicBezTo>
                    <a:cubicBezTo>
                      <a:pt x="61" y="204"/>
                      <a:pt x="61" y="204"/>
                      <a:pt x="61" y="204"/>
                    </a:cubicBezTo>
                    <a:cubicBezTo>
                      <a:pt x="62" y="211"/>
                      <a:pt x="63" y="217"/>
                      <a:pt x="64" y="221"/>
                    </a:cubicBezTo>
                    <a:cubicBezTo>
                      <a:pt x="65" y="225"/>
                      <a:pt x="67" y="228"/>
                      <a:pt x="68" y="229"/>
                    </a:cubicBezTo>
                    <a:cubicBezTo>
                      <a:pt x="70" y="231"/>
                      <a:pt x="71" y="232"/>
                      <a:pt x="73" y="232"/>
                    </a:cubicBezTo>
                    <a:cubicBezTo>
                      <a:pt x="75" y="232"/>
                      <a:pt x="77" y="232"/>
                      <a:pt x="81" y="231"/>
                    </a:cubicBezTo>
                    <a:cubicBezTo>
                      <a:pt x="82" y="230"/>
                      <a:pt x="84" y="230"/>
                      <a:pt x="86" y="229"/>
                    </a:cubicBezTo>
                    <a:cubicBezTo>
                      <a:pt x="88" y="228"/>
                      <a:pt x="90" y="227"/>
                      <a:pt x="91" y="226"/>
                    </a:cubicBezTo>
                    <a:cubicBezTo>
                      <a:pt x="92" y="226"/>
                      <a:pt x="94" y="224"/>
                      <a:pt x="95" y="223"/>
                    </a:cubicBezTo>
                    <a:cubicBezTo>
                      <a:pt x="96" y="221"/>
                      <a:pt x="97" y="219"/>
                      <a:pt x="97" y="217"/>
                    </a:cubicBezTo>
                    <a:cubicBezTo>
                      <a:pt x="98" y="211"/>
                      <a:pt x="99" y="202"/>
                      <a:pt x="99" y="191"/>
                    </a:cubicBezTo>
                    <a:cubicBezTo>
                      <a:pt x="98" y="179"/>
                      <a:pt x="98" y="171"/>
                      <a:pt x="98" y="166"/>
                    </a:cubicBezTo>
                    <a:lnTo>
                      <a:pt x="102" y="164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5" name="işľíḑê"/>
              <p:cNvSpPr/>
              <p:nvPr/>
            </p:nvSpPr>
            <p:spPr bwMode="auto">
              <a:xfrm>
                <a:off x="3314701" y="4000501"/>
                <a:ext cx="95250" cy="207963"/>
              </a:xfrm>
              <a:custGeom>
                <a:avLst/>
                <a:gdLst>
                  <a:gd name="T0" fmla="*/ 91 w 123"/>
                  <a:gd name="T1" fmla="*/ 12 h 265"/>
                  <a:gd name="T2" fmla="*/ 86 w 123"/>
                  <a:gd name="T3" fmla="*/ 16 h 265"/>
                  <a:gd name="T4" fmla="*/ 83 w 123"/>
                  <a:gd name="T5" fmla="*/ 23 h 265"/>
                  <a:gd name="T6" fmla="*/ 83 w 123"/>
                  <a:gd name="T7" fmla="*/ 40 h 265"/>
                  <a:gd name="T8" fmla="*/ 88 w 123"/>
                  <a:gd name="T9" fmla="*/ 70 h 265"/>
                  <a:gd name="T10" fmla="*/ 123 w 123"/>
                  <a:gd name="T11" fmla="*/ 242 h 265"/>
                  <a:gd name="T12" fmla="*/ 118 w 123"/>
                  <a:gd name="T13" fmla="*/ 243 h 265"/>
                  <a:gd name="T14" fmla="*/ 29 w 123"/>
                  <a:gd name="T15" fmla="*/ 69 h 265"/>
                  <a:gd name="T16" fmla="*/ 54 w 123"/>
                  <a:gd name="T17" fmla="*/ 190 h 265"/>
                  <a:gd name="T18" fmla="*/ 61 w 123"/>
                  <a:gd name="T19" fmla="*/ 221 h 265"/>
                  <a:gd name="T20" fmla="*/ 67 w 123"/>
                  <a:gd name="T21" fmla="*/ 236 h 265"/>
                  <a:gd name="T22" fmla="*/ 74 w 123"/>
                  <a:gd name="T23" fmla="*/ 240 h 265"/>
                  <a:gd name="T24" fmla="*/ 80 w 123"/>
                  <a:gd name="T25" fmla="*/ 242 h 265"/>
                  <a:gd name="T26" fmla="*/ 83 w 123"/>
                  <a:gd name="T27" fmla="*/ 254 h 265"/>
                  <a:gd name="T28" fmla="*/ 49 w 123"/>
                  <a:gd name="T29" fmla="*/ 265 h 265"/>
                  <a:gd name="T30" fmla="*/ 46 w 123"/>
                  <a:gd name="T31" fmla="*/ 254 h 265"/>
                  <a:gd name="T32" fmla="*/ 51 w 123"/>
                  <a:gd name="T33" fmla="*/ 249 h 265"/>
                  <a:gd name="T34" fmla="*/ 55 w 123"/>
                  <a:gd name="T35" fmla="*/ 242 h 265"/>
                  <a:gd name="T36" fmla="*/ 55 w 123"/>
                  <a:gd name="T37" fmla="*/ 227 h 265"/>
                  <a:gd name="T38" fmla="*/ 49 w 123"/>
                  <a:gd name="T39" fmla="*/ 194 h 265"/>
                  <a:gd name="T40" fmla="*/ 25 w 123"/>
                  <a:gd name="T41" fmla="*/ 78 h 265"/>
                  <a:gd name="T42" fmla="*/ 21 w 123"/>
                  <a:gd name="T43" fmla="*/ 63 h 265"/>
                  <a:gd name="T44" fmla="*/ 16 w 123"/>
                  <a:gd name="T45" fmla="*/ 52 h 265"/>
                  <a:gd name="T46" fmla="*/ 9 w 123"/>
                  <a:gd name="T47" fmla="*/ 45 h 265"/>
                  <a:gd name="T48" fmla="*/ 2 w 123"/>
                  <a:gd name="T49" fmla="*/ 43 h 265"/>
                  <a:gd name="T50" fmla="*/ 0 w 123"/>
                  <a:gd name="T51" fmla="*/ 31 h 265"/>
                  <a:gd name="T52" fmla="*/ 23 w 123"/>
                  <a:gd name="T53" fmla="*/ 23 h 265"/>
                  <a:gd name="T54" fmla="*/ 106 w 123"/>
                  <a:gd name="T55" fmla="*/ 186 h 265"/>
                  <a:gd name="T56" fmla="*/ 83 w 123"/>
                  <a:gd name="T57" fmla="*/ 74 h 265"/>
                  <a:gd name="T58" fmla="*/ 76 w 123"/>
                  <a:gd name="T59" fmla="*/ 43 h 265"/>
                  <a:gd name="T60" fmla="*/ 70 w 123"/>
                  <a:gd name="T61" fmla="*/ 29 h 265"/>
                  <a:gd name="T62" fmla="*/ 64 w 123"/>
                  <a:gd name="T63" fmla="*/ 25 h 265"/>
                  <a:gd name="T64" fmla="*/ 57 w 123"/>
                  <a:gd name="T65" fmla="*/ 23 h 265"/>
                  <a:gd name="T66" fmla="*/ 55 w 123"/>
                  <a:gd name="T67" fmla="*/ 12 h 265"/>
                  <a:gd name="T68" fmla="*/ 89 w 123"/>
                  <a:gd name="T69" fmla="*/ 0 h 265"/>
                  <a:gd name="T70" fmla="*/ 91 w 123"/>
                  <a:gd name="T71" fmla="*/ 12 h 2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23" h="265">
                    <a:moveTo>
                      <a:pt x="91" y="12"/>
                    </a:moveTo>
                    <a:cubicBezTo>
                      <a:pt x="90" y="12"/>
                      <a:pt x="88" y="14"/>
                      <a:pt x="86" y="16"/>
                    </a:cubicBezTo>
                    <a:cubicBezTo>
                      <a:pt x="85" y="18"/>
                      <a:pt x="83" y="21"/>
                      <a:pt x="83" y="23"/>
                    </a:cubicBezTo>
                    <a:cubicBezTo>
                      <a:pt x="82" y="26"/>
                      <a:pt x="82" y="32"/>
                      <a:pt x="83" y="40"/>
                    </a:cubicBezTo>
                    <a:cubicBezTo>
                      <a:pt x="84" y="48"/>
                      <a:pt x="86" y="58"/>
                      <a:pt x="88" y="70"/>
                    </a:cubicBezTo>
                    <a:cubicBezTo>
                      <a:pt x="123" y="242"/>
                      <a:pt x="123" y="242"/>
                      <a:pt x="123" y="242"/>
                    </a:cubicBezTo>
                    <a:cubicBezTo>
                      <a:pt x="118" y="243"/>
                      <a:pt x="118" y="243"/>
                      <a:pt x="118" y="243"/>
                    </a:cubicBezTo>
                    <a:cubicBezTo>
                      <a:pt x="29" y="69"/>
                      <a:pt x="29" y="69"/>
                      <a:pt x="29" y="69"/>
                    </a:cubicBezTo>
                    <a:cubicBezTo>
                      <a:pt x="54" y="190"/>
                      <a:pt x="54" y="190"/>
                      <a:pt x="54" y="190"/>
                    </a:cubicBezTo>
                    <a:cubicBezTo>
                      <a:pt x="57" y="204"/>
                      <a:pt x="59" y="214"/>
                      <a:pt x="61" y="221"/>
                    </a:cubicBezTo>
                    <a:cubicBezTo>
                      <a:pt x="63" y="228"/>
                      <a:pt x="65" y="233"/>
                      <a:pt x="67" y="236"/>
                    </a:cubicBezTo>
                    <a:cubicBezTo>
                      <a:pt x="69" y="238"/>
                      <a:pt x="71" y="239"/>
                      <a:pt x="74" y="240"/>
                    </a:cubicBezTo>
                    <a:cubicBezTo>
                      <a:pt x="77" y="242"/>
                      <a:pt x="79" y="242"/>
                      <a:pt x="80" y="242"/>
                    </a:cubicBezTo>
                    <a:cubicBezTo>
                      <a:pt x="83" y="254"/>
                      <a:pt x="83" y="254"/>
                      <a:pt x="83" y="254"/>
                    </a:cubicBezTo>
                    <a:cubicBezTo>
                      <a:pt x="49" y="265"/>
                      <a:pt x="49" y="265"/>
                      <a:pt x="49" y="265"/>
                    </a:cubicBezTo>
                    <a:cubicBezTo>
                      <a:pt x="46" y="254"/>
                      <a:pt x="46" y="254"/>
                      <a:pt x="46" y="254"/>
                    </a:cubicBezTo>
                    <a:cubicBezTo>
                      <a:pt x="47" y="253"/>
                      <a:pt x="49" y="251"/>
                      <a:pt x="51" y="249"/>
                    </a:cubicBezTo>
                    <a:cubicBezTo>
                      <a:pt x="53" y="246"/>
                      <a:pt x="54" y="244"/>
                      <a:pt x="55" y="242"/>
                    </a:cubicBezTo>
                    <a:cubicBezTo>
                      <a:pt x="55" y="238"/>
                      <a:pt x="55" y="233"/>
                      <a:pt x="55" y="227"/>
                    </a:cubicBezTo>
                    <a:cubicBezTo>
                      <a:pt x="54" y="220"/>
                      <a:pt x="52" y="209"/>
                      <a:pt x="49" y="194"/>
                    </a:cubicBezTo>
                    <a:cubicBezTo>
                      <a:pt x="25" y="78"/>
                      <a:pt x="25" y="78"/>
                      <a:pt x="25" y="78"/>
                    </a:cubicBezTo>
                    <a:cubicBezTo>
                      <a:pt x="24" y="73"/>
                      <a:pt x="23" y="68"/>
                      <a:pt x="21" y="63"/>
                    </a:cubicBezTo>
                    <a:cubicBezTo>
                      <a:pt x="20" y="58"/>
                      <a:pt x="18" y="55"/>
                      <a:pt x="16" y="52"/>
                    </a:cubicBezTo>
                    <a:cubicBezTo>
                      <a:pt x="14" y="49"/>
                      <a:pt x="12" y="47"/>
                      <a:pt x="9" y="45"/>
                    </a:cubicBezTo>
                    <a:cubicBezTo>
                      <a:pt x="6" y="43"/>
                      <a:pt x="4" y="43"/>
                      <a:pt x="2" y="43"/>
                    </a:cubicBezTo>
                    <a:cubicBezTo>
                      <a:pt x="0" y="31"/>
                      <a:pt x="0" y="31"/>
                      <a:pt x="0" y="31"/>
                    </a:cubicBezTo>
                    <a:cubicBezTo>
                      <a:pt x="23" y="23"/>
                      <a:pt x="23" y="23"/>
                      <a:pt x="23" y="23"/>
                    </a:cubicBezTo>
                    <a:cubicBezTo>
                      <a:pt x="106" y="186"/>
                      <a:pt x="106" y="186"/>
                      <a:pt x="106" y="186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0" y="60"/>
                      <a:pt x="78" y="50"/>
                      <a:pt x="76" y="43"/>
                    </a:cubicBezTo>
                    <a:cubicBezTo>
                      <a:pt x="74" y="36"/>
                      <a:pt x="72" y="31"/>
                      <a:pt x="70" y="29"/>
                    </a:cubicBezTo>
                    <a:cubicBezTo>
                      <a:pt x="69" y="27"/>
                      <a:pt x="67" y="26"/>
                      <a:pt x="64" y="25"/>
                    </a:cubicBezTo>
                    <a:cubicBezTo>
                      <a:pt x="61" y="24"/>
                      <a:pt x="59" y="23"/>
                      <a:pt x="57" y="23"/>
                    </a:cubicBezTo>
                    <a:cubicBezTo>
                      <a:pt x="55" y="12"/>
                      <a:pt x="55" y="12"/>
                      <a:pt x="55" y="12"/>
                    </a:cubicBezTo>
                    <a:cubicBezTo>
                      <a:pt x="89" y="0"/>
                      <a:pt x="89" y="0"/>
                      <a:pt x="89" y="0"/>
                    </a:cubicBezTo>
                    <a:lnTo>
                      <a:pt x="91" y="12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6" name="îṥ1îďê"/>
              <p:cNvSpPr/>
              <p:nvPr/>
            </p:nvSpPr>
            <p:spPr bwMode="auto">
              <a:xfrm>
                <a:off x="3392488" y="3979863"/>
                <a:ext cx="76200" cy="198438"/>
              </a:xfrm>
              <a:custGeom>
                <a:avLst/>
                <a:gdLst>
                  <a:gd name="T0" fmla="*/ 77 w 97"/>
                  <a:gd name="T1" fmla="*/ 249 h 251"/>
                  <a:gd name="T2" fmla="*/ 61 w 97"/>
                  <a:gd name="T3" fmla="*/ 246 h 251"/>
                  <a:gd name="T4" fmla="*/ 44 w 97"/>
                  <a:gd name="T5" fmla="*/ 228 h 251"/>
                  <a:gd name="T6" fmla="*/ 27 w 97"/>
                  <a:gd name="T7" fmla="*/ 194 h 251"/>
                  <a:gd name="T8" fmla="*/ 12 w 97"/>
                  <a:gd name="T9" fmla="*/ 145 h 251"/>
                  <a:gd name="T10" fmla="*/ 2 w 97"/>
                  <a:gd name="T11" fmla="*/ 94 h 251"/>
                  <a:gd name="T12" fmla="*/ 1 w 97"/>
                  <a:gd name="T13" fmla="*/ 51 h 251"/>
                  <a:gd name="T14" fmla="*/ 7 w 97"/>
                  <a:gd name="T15" fmla="*/ 21 h 251"/>
                  <a:gd name="T16" fmla="*/ 20 w 97"/>
                  <a:gd name="T17" fmla="*/ 6 h 251"/>
                  <a:gd name="T18" fmla="*/ 32 w 97"/>
                  <a:gd name="T19" fmla="*/ 6 h 251"/>
                  <a:gd name="T20" fmla="*/ 44 w 97"/>
                  <a:gd name="T21" fmla="*/ 14 h 251"/>
                  <a:gd name="T22" fmla="*/ 44 w 97"/>
                  <a:gd name="T23" fmla="*/ 2 h 251"/>
                  <a:gd name="T24" fmla="*/ 49 w 97"/>
                  <a:gd name="T25" fmla="*/ 0 h 251"/>
                  <a:gd name="T26" fmla="*/ 69 w 97"/>
                  <a:gd name="T27" fmla="*/ 82 h 251"/>
                  <a:gd name="T28" fmla="*/ 64 w 97"/>
                  <a:gd name="T29" fmla="*/ 84 h 251"/>
                  <a:gd name="T30" fmla="*/ 55 w 97"/>
                  <a:gd name="T31" fmla="*/ 59 h 251"/>
                  <a:gd name="T32" fmla="*/ 45 w 97"/>
                  <a:gd name="T33" fmla="*/ 37 h 251"/>
                  <a:gd name="T34" fmla="*/ 34 w 97"/>
                  <a:gd name="T35" fmla="*/ 22 h 251"/>
                  <a:gd name="T36" fmla="*/ 24 w 97"/>
                  <a:gd name="T37" fmla="*/ 19 h 251"/>
                  <a:gd name="T38" fmla="*/ 16 w 97"/>
                  <a:gd name="T39" fmla="*/ 31 h 251"/>
                  <a:gd name="T40" fmla="*/ 12 w 97"/>
                  <a:gd name="T41" fmla="*/ 55 h 251"/>
                  <a:gd name="T42" fmla="*/ 15 w 97"/>
                  <a:gd name="T43" fmla="*/ 91 h 251"/>
                  <a:gd name="T44" fmla="*/ 25 w 97"/>
                  <a:gd name="T45" fmla="*/ 137 h 251"/>
                  <a:gd name="T46" fmla="*/ 37 w 97"/>
                  <a:gd name="T47" fmla="*/ 177 h 251"/>
                  <a:gd name="T48" fmla="*/ 50 w 97"/>
                  <a:gd name="T49" fmla="*/ 207 h 251"/>
                  <a:gd name="T50" fmla="*/ 64 w 97"/>
                  <a:gd name="T51" fmla="*/ 225 h 251"/>
                  <a:gd name="T52" fmla="*/ 77 w 97"/>
                  <a:gd name="T53" fmla="*/ 228 h 251"/>
                  <a:gd name="T54" fmla="*/ 85 w 97"/>
                  <a:gd name="T55" fmla="*/ 221 h 251"/>
                  <a:gd name="T56" fmla="*/ 89 w 97"/>
                  <a:gd name="T57" fmla="*/ 207 h 251"/>
                  <a:gd name="T58" fmla="*/ 90 w 97"/>
                  <a:gd name="T59" fmla="*/ 188 h 251"/>
                  <a:gd name="T60" fmla="*/ 88 w 97"/>
                  <a:gd name="T61" fmla="*/ 167 h 251"/>
                  <a:gd name="T62" fmla="*/ 94 w 97"/>
                  <a:gd name="T63" fmla="*/ 171 h 251"/>
                  <a:gd name="T64" fmla="*/ 93 w 97"/>
                  <a:gd name="T65" fmla="*/ 226 h 251"/>
                  <a:gd name="T66" fmla="*/ 77 w 97"/>
                  <a:gd name="T67" fmla="*/ 249 h 2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97" h="251">
                    <a:moveTo>
                      <a:pt x="77" y="249"/>
                    </a:moveTo>
                    <a:cubicBezTo>
                      <a:pt x="73" y="251"/>
                      <a:pt x="67" y="250"/>
                      <a:pt x="61" y="246"/>
                    </a:cubicBezTo>
                    <a:cubicBezTo>
                      <a:pt x="56" y="243"/>
                      <a:pt x="50" y="237"/>
                      <a:pt x="44" y="228"/>
                    </a:cubicBezTo>
                    <a:cubicBezTo>
                      <a:pt x="38" y="219"/>
                      <a:pt x="32" y="208"/>
                      <a:pt x="27" y="194"/>
                    </a:cubicBezTo>
                    <a:cubicBezTo>
                      <a:pt x="21" y="180"/>
                      <a:pt x="16" y="164"/>
                      <a:pt x="12" y="145"/>
                    </a:cubicBezTo>
                    <a:cubicBezTo>
                      <a:pt x="7" y="127"/>
                      <a:pt x="4" y="110"/>
                      <a:pt x="2" y="94"/>
                    </a:cubicBezTo>
                    <a:cubicBezTo>
                      <a:pt x="1" y="78"/>
                      <a:pt x="0" y="64"/>
                      <a:pt x="1" y="51"/>
                    </a:cubicBezTo>
                    <a:cubicBezTo>
                      <a:pt x="2" y="39"/>
                      <a:pt x="4" y="29"/>
                      <a:pt x="7" y="21"/>
                    </a:cubicBezTo>
                    <a:cubicBezTo>
                      <a:pt x="11" y="13"/>
                      <a:pt x="15" y="8"/>
                      <a:pt x="20" y="6"/>
                    </a:cubicBezTo>
                    <a:cubicBezTo>
                      <a:pt x="24" y="4"/>
                      <a:pt x="28" y="4"/>
                      <a:pt x="32" y="6"/>
                    </a:cubicBezTo>
                    <a:cubicBezTo>
                      <a:pt x="36" y="7"/>
                      <a:pt x="40" y="10"/>
                      <a:pt x="44" y="14"/>
                    </a:cubicBezTo>
                    <a:cubicBezTo>
                      <a:pt x="44" y="2"/>
                      <a:pt x="44" y="2"/>
                      <a:pt x="44" y="2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69" y="82"/>
                      <a:pt x="69" y="82"/>
                      <a:pt x="69" y="82"/>
                    </a:cubicBezTo>
                    <a:cubicBezTo>
                      <a:pt x="64" y="84"/>
                      <a:pt x="64" y="84"/>
                      <a:pt x="64" y="84"/>
                    </a:cubicBezTo>
                    <a:cubicBezTo>
                      <a:pt x="62" y="76"/>
                      <a:pt x="59" y="68"/>
                      <a:pt x="55" y="59"/>
                    </a:cubicBezTo>
                    <a:cubicBezTo>
                      <a:pt x="52" y="50"/>
                      <a:pt x="48" y="43"/>
                      <a:pt x="45" y="37"/>
                    </a:cubicBezTo>
                    <a:cubicBezTo>
                      <a:pt x="42" y="30"/>
                      <a:pt x="38" y="25"/>
                      <a:pt x="34" y="22"/>
                    </a:cubicBezTo>
                    <a:cubicBezTo>
                      <a:pt x="31" y="19"/>
                      <a:pt x="28" y="18"/>
                      <a:pt x="24" y="19"/>
                    </a:cubicBezTo>
                    <a:cubicBezTo>
                      <a:pt x="21" y="21"/>
                      <a:pt x="18" y="25"/>
                      <a:pt x="16" y="31"/>
                    </a:cubicBezTo>
                    <a:cubicBezTo>
                      <a:pt x="14" y="37"/>
                      <a:pt x="13" y="45"/>
                      <a:pt x="12" y="55"/>
                    </a:cubicBezTo>
                    <a:cubicBezTo>
                      <a:pt x="12" y="65"/>
                      <a:pt x="13" y="77"/>
                      <a:pt x="15" y="91"/>
                    </a:cubicBezTo>
                    <a:cubicBezTo>
                      <a:pt x="18" y="105"/>
                      <a:pt x="21" y="120"/>
                      <a:pt x="25" y="137"/>
                    </a:cubicBezTo>
                    <a:cubicBezTo>
                      <a:pt x="28" y="152"/>
                      <a:pt x="32" y="165"/>
                      <a:pt x="37" y="177"/>
                    </a:cubicBezTo>
                    <a:cubicBezTo>
                      <a:pt x="41" y="189"/>
                      <a:pt x="45" y="199"/>
                      <a:pt x="50" y="207"/>
                    </a:cubicBezTo>
                    <a:cubicBezTo>
                      <a:pt x="55" y="215"/>
                      <a:pt x="59" y="221"/>
                      <a:pt x="64" y="225"/>
                    </a:cubicBezTo>
                    <a:cubicBezTo>
                      <a:pt x="69" y="229"/>
                      <a:pt x="73" y="230"/>
                      <a:pt x="77" y="228"/>
                    </a:cubicBezTo>
                    <a:cubicBezTo>
                      <a:pt x="80" y="227"/>
                      <a:pt x="83" y="224"/>
                      <a:pt x="85" y="221"/>
                    </a:cubicBezTo>
                    <a:cubicBezTo>
                      <a:pt x="87" y="217"/>
                      <a:pt x="88" y="212"/>
                      <a:pt x="89" y="207"/>
                    </a:cubicBezTo>
                    <a:cubicBezTo>
                      <a:pt x="89" y="201"/>
                      <a:pt x="90" y="195"/>
                      <a:pt x="90" y="188"/>
                    </a:cubicBezTo>
                    <a:cubicBezTo>
                      <a:pt x="90" y="182"/>
                      <a:pt x="89" y="174"/>
                      <a:pt x="88" y="167"/>
                    </a:cubicBezTo>
                    <a:cubicBezTo>
                      <a:pt x="94" y="171"/>
                      <a:pt x="94" y="171"/>
                      <a:pt x="94" y="171"/>
                    </a:cubicBezTo>
                    <a:cubicBezTo>
                      <a:pt x="97" y="195"/>
                      <a:pt x="96" y="213"/>
                      <a:pt x="93" y="226"/>
                    </a:cubicBezTo>
                    <a:cubicBezTo>
                      <a:pt x="90" y="238"/>
                      <a:pt x="85" y="245"/>
                      <a:pt x="77" y="249"/>
                    </a:cubicBez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7" name="îś1îḓe"/>
              <p:cNvSpPr/>
              <p:nvPr/>
            </p:nvSpPr>
            <p:spPr bwMode="auto">
              <a:xfrm>
                <a:off x="3438526" y="3952876"/>
                <a:ext cx="103188" cy="203200"/>
              </a:xfrm>
              <a:custGeom>
                <a:avLst/>
                <a:gdLst>
                  <a:gd name="T0" fmla="*/ 115 w 133"/>
                  <a:gd name="T1" fmla="*/ 156 h 258"/>
                  <a:gd name="T2" fmla="*/ 133 w 133"/>
                  <a:gd name="T3" fmla="*/ 224 h 258"/>
                  <a:gd name="T4" fmla="*/ 67 w 133"/>
                  <a:gd name="T5" fmla="*/ 258 h 258"/>
                  <a:gd name="T6" fmla="*/ 64 w 133"/>
                  <a:gd name="T7" fmla="*/ 246 h 258"/>
                  <a:gd name="T8" fmla="*/ 68 w 133"/>
                  <a:gd name="T9" fmla="*/ 243 h 258"/>
                  <a:gd name="T10" fmla="*/ 71 w 133"/>
                  <a:gd name="T11" fmla="*/ 239 h 258"/>
                  <a:gd name="T12" fmla="*/ 71 w 133"/>
                  <a:gd name="T13" fmla="*/ 231 h 258"/>
                  <a:gd name="T14" fmla="*/ 69 w 133"/>
                  <a:gd name="T15" fmla="*/ 221 h 258"/>
                  <a:gd name="T16" fmla="*/ 21 w 133"/>
                  <a:gd name="T17" fmla="*/ 58 h 258"/>
                  <a:gd name="T18" fmla="*/ 18 w 133"/>
                  <a:gd name="T19" fmla="*/ 49 h 258"/>
                  <a:gd name="T20" fmla="*/ 13 w 133"/>
                  <a:gd name="T21" fmla="*/ 44 h 258"/>
                  <a:gd name="T22" fmla="*/ 8 w 133"/>
                  <a:gd name="T23" fmla="*/ 42 h 258"/>
                  <a:gd name="T24" fmla="*/ 3 w 133"/>
                  <a:gd name="T25" fmla="*/ 43 h 258"/>
                  <a:gd name="T26" fmla="*/ 0 w 133"/>
                  <a:gd name="T27" fmla="*/ 31 h 258"/>
                  <a:gd name="T28" fmla="*/ 61 w 133"/>
                  <a:gd name="T29" fmla="*/ 0 h 258"/>
                  <a:gd name="T30" fmla="*/ 78 w 133"/>
                  <a:gd name="T31" fmla="*/ 54 h 258"/>
                  <a:gd name="T32" fmla="*/ 73 w 133"/>
                  <a:gd name="T33" fmla="*/ 56 h 258"/>
                  <a:gd name="T34" fmla="*/ 61 w 133"/>
                  <a:gd name="T35" fmla="*/ 33 h 258"/>
                  <a:gd name="T36" fmla="*/ 49 w 133"/>
                  <a:gd name="T37" fmla="*/ 22 h 258"/>
                  <a:gd name="T38" fmla="*/ 45 w 133"/>
                  <a:gd name="T39" fmla="*/ 23 h 258"/>
                  <a:gd name="T40" fmla="*/ 39 w 133"/>
                  <a:gd name="T41" fmla="*/ 25 h 258"/>
                  <a:gd name="T42" fmla="*/ 27 w 133"/>
                  <a:gd name="T43" fmla="*/ 32 h 258"/>
                  <a:gd name="T44" fmla="*/ 54 w 133"/>
                  <a:gd name="T45" fmla="*/ 122 h 258"/>
                  <a:gd name="T46" fmla="*/ 63 w 133"/>
                  <a:gd name="T47" fmla="*/ 117 h 258"/>
                  <a:gd name="T48" fmla="*/ 68 w 133"/>
                  <a:gd name="T49" fmla="*/ 112 h 258"/>
                  <a:gd name="T50" fmla="*/ 69 w 133"/>
                  <a:gd name="T51" fmla="*/ 102 h 258"/>
                  <a:gd name="T52" fmla="*/ 68 w 133"/>
                  <a:gd name="T53" fmla="*/ 89 h 258"/>
                  <a:gd name="T54" fmla="*/ 65 w 133"/>
                  <a:gd name="T55" fmla="*/ 74 h 258"/>
                  <a:gd name="T56" fmla="*/ 69 w 133"/>
                  <a:gd name="T57" fmla="*/ 71 h 258"/>
                  <a:gd name="T58" fmla="*/ 95 w 133"/>
                  <a:gd name="T59" fmla="*/ 160 h 258"/>
                  <a:gd name="T60" fmla="*/ 91 w 133"/>
                  <a:gd name="T61" fmla="*/ 162 h 258"/>
                  <a:gd name="T62" fmla="*/ 85 w 133"/>
                  <a:gd name="T63" fmla="*/ 147 h 258"/>
                  <a:gd name="T64" fmla="*/ 79 w 133"/>
                  <a:gd name="T65" fmla="*/ 135 h 258"/>
                  <a:gd name="T66" fmla="*/ 73 w 133"/>
                  <a:gd name="T67" fmla="*/ 129 h 258"/>
                  <a:gd name="T68" fmla="*/ 66 w 133"/>
                  <a:gd name="T69" fmla="*/ 130 h 258"/>
                  <a:gd name="T70" fmla="*/ 57 w 133"/>
                  <a:gd name="T71" fmla="*/ 135 h 258"/>
                  <a:gd name="T72" fmla="*/ 78 w 133"/>
                  <a:gd name="T73" fmla="*/ 203 h 258"/>
                  <a:gd name="T74" fmla="*/ 83 w 133"/>
                  <a:gd name="T75" fmla="*/ 219 h 258"/>
                  <a:gd name="T76" fmla="*/ 87 w 133"/>
                  <a:gd name="T77" fmla="*/ 227 h 258"/>
                  <a:gd name="T78" fmla="*/ 93 w 133"/>
                  <a:gd name="T79" fmla="*/ 228 h 258"/>
                  <a:gd name="T80" fmla="*/ 100 w 133"/>
                  <a:gd name="T81" fmla="*/ 226 h 258"/>
                  <a:gd name="T82" fmla="*/ 105 w 133"/>
                  <a:gd name="T83" fmla="*/ 223 h 258"/>
                  <a:gd name="T84" fmla="*/ 110 w 133"/>
                  <a:gd name="T85" fmla="*/ 220 h 258"/>
                  <a:gd name="T86" fmla="*/ 114 w 133"/>
                  <a:gd name="T87" fmla="*/ 215 h 258"/>
                  <a:gd name="T88" fmla="*/ 115 w 133"/>
                  <a:gd name="T89" fmla="*/ 209 h 258"/>
                  <a:gd name="T90" fmla="*/ 114 w 133"/>
                  <a:gd name="T91" fmla="*/ 183 h 258"/>
                  <a:gd name="T92" fmla="*/ 111 w 133"/>
                  <a:gd name="T93" fmla="*/ 158 h 258"/>
                  <a:gd name="T94" fmla="*/ 115 w 133"/>
                  <a:gd name="T95" fmla="*/ 156 h 2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33" h="258">
                    <a:moveTo>
                      <a:pt x="115" y="156"/>
                    </a:moveTo>
                    <a:cubicBezTo>
                      <a:pt x="133" y="224"/>
                      <a:pt x="133" y="224"/>
                      <a:pt x="133" y="224"/>
                    </a:cubicBezTo>
                    <a:cubicBezTo>
                      <a:pt x="67" y="258"/>
                      <a:pt x="67" y="258"/>
                      <a:pt x="67" y="258"/>
                    </a:cubicBezTo>
                    <a:cubicBezTo>
                      <a:pt x="64" y="246"/>
                      <a:pt x="64" y="246"/>
                      <a:pt x="64" y="246"/>
                    </a:cubicBezTo>
                    <a:cubicBezTo>
                      <a:pt x="65" y="245"/>
                      <a:pt x="66" y="244"/>
                      <a:pt x="68" y="243"/>
                    </a:cubicBezTo>
                    <a:cubicBezTo>
                      <a:pt x="69" y="241"/>
                      <a:pt x="70" y="240"/>
                      <a:pt x="71" y="239"/>
                    </a:cubicBezTo>
                    <a:cubicBezTo>
                      <a:pt x="72" y="236"/>
                      <a:pt x="72" y="234"/>
                      <a:pt x="71" y="231"/>
                    </a:cubicBezTo>
                    <a:cubicBezTo>
                      <a:pt x="71" y="228"/>
                      <a:pt x="70" y="225"/>
                      <a:pt x="69" y="221"/>
                    </a:cubicBezTo>
                    <a:cubicBezTo>
                      <a:pt x="21" y="58"/>
                      <a:pt x="21" y="58"/>
                      <a:pt x="21" y="58"/>
                    </a:cubicBezTo>
                    <a:cubicBezTo>
                      <a:pt x="20" y="55"/>
                      <a:pt x="19" y="52"/>
                      <a:pt x="18" y="49"/>
                    </a:cubicBezTo>
                    <a:cubicBezTo>
                      <a:pt x="16" y="47"/>
                      <a:pt x="15" y="45"/>
                      <a:pt x="13" y="44"/>
                    </a:cubicBezTo>
                    <a:cubicBezTo>
                      <a:pt x="12" y="43"/>
                      <a:pt x="10" y="43"/>
                      <a:pt x="8" y="42"/>
                    </a:cubicBezTo>
                    <a:cubicBezTo>
                      <a:pt x="6" y="42"/>
                      <a:pt x="4" y="42"/>
                      <a:pt x="3" y="43"/>
                    </a:cubicBezTo>
                    <a:cubicBezTo>
                      <a:pt x="0" y="31"/>
                      <a:pt x="0" y="31"/>
                      <a:pt x="0" y="31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78" y="54"/>
                      <a:pt x="78" y="54"/>
                      <a:pt x="78" y="54"/>
                    </a:cubicBezTo>
                    <a:cubicBezTo>
                      <a:pt x="73" y="56"/>
                      <a:pt x="73" y="56"/>
                      <a:pt x="73" y="56"/>
                    </a:cubicBezTo>
                    <a:cubicBezTo>
                      <a:pt x="70" y="49"/>
                      <a:pt x="66" y="41"/>
                      <a:pt x="61" y="33"/>
                    </a:cubicBezTo>
                    <a:cubicBezTo>
                      <a:pt x="56" y="25"/>
                      <a:pt x="52" y="22"/>
                      <a:pt x="49" y="22"/>
                    </a:cubicBezTo>
                    <a:cubicBezTo>
                      <a:pt x="48" y="22"/>
                      <a:pt x="47" y="22"/>
                      <a:pt x="45" y="23"/>
                    </a:cubicBezTo>
                    <a:cubicBezTo>
                      <a:pt x="43" y="24"/>
                      <a:pt x="41" y="24"/>
                      <a:pt x="39" y="25"/>
                    </a:cubicBezTo>
                    <a:cubicBezTo>
                      <a:pt x="27" y="32"/>
                      <a:pt x="27" y="32"/>
                      <a:pt x="27" y="32"/>
                    </a:cubicBezTo>
                    <a:cubicBezTo>
                      <a:pt x="54" y="122"/>
                      <a:pt x="54" y="122"/>
                      <a:pt x="54" y="122"/>
                    </a:cubicBezTo>
                    <a:cubicBezTo>
                      <a:pt x="63" y="117"/>
                      <a:pt x="63" y="117"/>
                      <a:pt x="63" y="117"/>
                    </a:cubicBezTo>
                    <a:cubicBezTo>
                      <a:pt x="65" y="116"/>
                      <a:pt x="67" y="114"/>
                      <a:pt x="68" y="112"/>
                    </a:cubicBezTo>
                    <a:cubicBezTo>
                      <a:pt x="69" y="110"/>
                      <a:pt x="69" y="106"/>
                      <a:pt x="69" y="102"/>
                    </a:cubicBezTo>
                    <a:cubicBezTo>
                      <a:pt x="69" y="99"/>
                      <a:pt x="69" y="94"/>
                      <a:pt x="68" y="89"/>
                    </a:cubicBezTo>
                    <a:cubicBezTo>
                      <a:pt x="67" y="83"/>
                      <a:pt x="66" y="78"/>
                      <a:pt x="65" y="74"/>
                    </a:cubicBezTo>
                    <a:cubicBezTo>
                      <a:pt x="69" y="71"/>
                      <a:pt x="69" y="71"/>
                      <a:pt x="69" y="71"/>
                    </a:cubicBezTo>
                    <a:cubicBezTo>
                      <a:pt x="95" y="160"/>
                      <a:pt x="95" y="160"/>
                      <a:pt x="95" y="160"/>
                    </a:cubicBezTo>
                    <a:cubicBezTo>
                      <a:pt x="91" y="162"/>
                      <a:pt x="91" y="162"/>
                      <a:pt x="91" y="162"/>
                    </a:cubicBezTo>
                    <a:cubicBezTo>
                      <a:pt x="89" y="157"/>
                      <a:pt x="87" y="152"/>
                      <a:pt x="85" y="147"/>
                    </a:cubicBezTo>
                    <a:cubicBezTo>
                      <a:pt x="83" y="141"/>
                      <a:pt x="81" y="137"/>
                      <a:pt x="79" y="135"/>
                    </a:cubicBezTo>
                    <a:cubicBezTo>
                      <a:pt x="77" y="132"/>
                      <a:pt x="75" y="130"/>
                      <a:pt x="73" y="129"/>
                    </a:cubicBezTo>
                    <a:cubicBezTo>
                      <a:pt x="71" y="129"/>
                      <a:pt x="69" y="129"/>
                      <a:pt x="66" y="130"/>
                    </a:cubicBezTo>
                    <a:cubicBezTo>
                      <a:pt x="57" y="135"/>
                      <a:pt x="57" y="135"/>
                      <a:pt x="57" y="135"/>
                    </a:cubicBezTo>
                    <a:cubicBezTo>
                      <a:pt x="78" y="203"/>
                      <a:pt x="78" y="203"/>
                      <a:pt x="78" y="203"/>
                    </a:cubicBezTo>
                    <a:cubicBezTo>
                      <a:pt x="80" y="210"/>
                      <a:pt x="81" y="215"/>
                      <a:pt x="83" y="219"/>
                    </a:cubicBezTo>
                    <a:cubicBezTo>
                      <a:pt x="84" y="222"/>
                      <a:pt x="86" y="225"/>
                      <a:pt x="87" y="227"/>
                    </a:cubicBezTo>
                    <a:cubicBezTo>
                      <a:pt x="89" y="228"/>
                      <a:pt x="91" y="229"/>
                      <a:pt x="93" y="228"/>
                    </a:cubicBezTo>
                    <a:cubicBezTo>
                      <a:pt x="94" y="228"/>
                      <a:pt x="97" y="227"/>
                      <a:pt x="100" y="226"/>
                    </a:cubicBezTo>
                    <a:cubicBezTo>
                      <a:pt x="101" y="225"/>
                      <a:pt x="103" y="224"/>
                      <a:pt x="105" y="223"/>
                    </a:cubicBezTo>
                    <a:cubicBezTo>
                      <a:pt x="107" y="222"/>
                      <a:pt x="109" y="221"/>
                      <a:pt x="110" y="220"/>
                    </a:cubicBezTo>
                    <a:cubicBezTo>
                      <a:pt x="111" y="219"/>
                      <a:pt x="112" y="217"/>
                      <a:pt x="114" y="215"/>
                    </a:cubicBezTo>
                    <a:cubicBezTo>
                      <a:pt x="115" y="213"/>
                      <a:pt x="115" y="211"/>
                      <a:pt x="115" y="209"/>
                    </a:cubicBezTo>
                    <a:cubicBezTo>
                      <a:pt x="116" y="203"/>
                      <a:pt x="115" y="194"/>
                      <a:pt x="114" y="183"/>
                    </a:cubicBezTo>
                    <a:cubicBezTo>
                      <a:pt x="113" y="172"/>
                      <a:pt x="112" y="164"/>
                      <a:pt x="111" y="158"/>
                    </a:cubicBezTo>
                    <a:lnTo>
                      <a:pt x="115" y="156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8" name="íşḻiḓe"/>
              <p:cNvSpPr/>
              <p:nvPr/>
            </p:nvSpPr>
            <p:spPr bwMode="auto">
              <a:xfrm>
                <a:off x="3540126" y="3905251"/>
                <a:ext cx="101600" cy="193675"/>
              </a:xfrm>
              <a:custGeom>
                <a:avLst/>
                <a:gdLst>
                  <a:gd name="T0" fmla="*/ 131 w 131"/>
                  <a:gd name="T1" fmla="*/ 189 h 245"/>
                  <a:gd name="T2" fmla="*/ 100 w 131"/>
                  <a:gd name="T3" fmla="*/ 212 h 245"/>
                  <a:gd name="T4" fmla="*/ 96 w 131"/>
                  <a:gd name="T5" fmla="*/ 201 h 245"/>
                  <a:gd name="T6" fmla="*/ 101 w 131"/>
                  <a:gd name="T7" fmla="*/ 193 h 245"/>
                  <a:gd name="T8" fmla="*/ 101 w 131"/>
                  <a:gd name="T9" fmla="*/ 186 h 245"/>
                  <a:gd name="T10" fmla="*/ 100 w 131"/>
                  <a:gd name="T11" fmla="*/ 182 h 245"/>
                  <a:gd name="T12" fmla="*/ 98 w 131"/>
                  <a:gd name="T13" fmla="*/ 179 h 245"/>
                  <a:gd name="T14" fmla="*/ 72 w 131"/>
                  <a:gd name="T15" fmla="*/ 136 h 245"/>
                  <a:gd name="T16" fmla="*/ 46 w 131"/>
                  <a:gd name="T17" fmla="*/ 155 h 245"/>
                  <a:gd name="T18" fmla="*/ 51 w 131"/>
                  <a:gd name="T19" fmla="*/ 175 h 245"/>
                  <a:gd name="T20" fmla="*/ 55 w 131"/>
                  <a:gd name="T21" fmla="*/ 191 h 245"/>
                  <a:gd name="T22" fmla="*/ 59 w 131"/>
                  <a:gd name="T23" fmla="*/ 202 h 245"/>
                  <a:gd name="T24" fmla="*/ 61 w 131"/>
                  <a:gd name="T25" fmla="*/ 209 h 245"/>
                  <a:gd name="T26" fmla="*/ 69 w 131"/>
                  <a:gd name="T27" fmla="*/ 216 h 245"/>
                  <a:gd name="T28" fmla="*/ 78 w 131"/>
                  <a:gd name="T29" fmla="*/ 214 h 245"/>
                  <a:gd name="T30" fmla="*/ 82 w 131"/>
                  <a:gd name="T31" fmla="*/ 225 h 245"/>
                  <a:gd name="T32" fmla="*/ 54 w 131"/>
                  <a:gd name="T33" fmla="*/ 245 h 245"/>
                  <a:gd name="T34" fmla="*/ 50 w 131"/>
                  <a:gd name="T35" fmla="*/ 235 h 245"/>
                  <a:gd name="T36" fmla="*/ 52 w 131"/>
                  <a:gd name="T37" fmla="*/ 230 h 245"/>
                  <a:gd name="T38" fmla="*/ 54 w 131"/>
                  <a:gd name="T39" fmla="*/ 224 h 245"/>
                  <a:gd name="T40" fmla="*/ 54 w 131"/>
                  <a:gd name="T41" fmla="*/ 213 h 245"/>
                  <a:gd name="T42" fmla="*/ 51 w 131"/>
                  <a:gd name="T43" fmla="*/ 199 h 245"/>
                  <a:gd name="T44" fmla="*/ 25 w 131"/>
                  <a:gd name="T45" fmla="*/ 101 h 245"/>
                  <a:gd name="T46" fmla="*/ 0 w 131"/>
                  <a:gd name="T47" fmla="*/ 3 h 245"/>
                  <a:gd name="T48" fmla="*/ 4 w 131"/>
                  <a:gd name="T49" fmla="*/ 0 h 245"/>
                  <a:gd name="T50" fmla="*/ 106 w 131"/>
                  <a:gd name="T51" fmla="*/ 165 h 245"/>
                  <a:gd name="T52" fmla="*/ 112 w 131"/>
                  <a:gd name="T53" fmla="*/ 173 h 245"/>
                  <a:gd name="T54" fmla="*/ 118 w 131"/>
                  <a:gd name="T55" fmla="*/ 178 h 245"/>
                  <a:gd name="T56" fmla="*/ 123 w 131"/>
                  <a:gd name="T57" fmla="*/ 179 h 245"/>
                  <a:gd name="T58" fmla="*/ 127 w 131"/>
                  <a:gd name="T59" fmla="*/ 178 h 245"/>
                  <a:gd name="T60" fmla="*/ 131 w 131"/>
                  <a:gd name="T61" fmla="*/ 189 h 245"/>
                  <a:gd name="T62" fmla="*/ 64 w 131"/>
                  <a:gd name="T63" fmla="*/ 124 h 245"/>
                  <a:gd name="T64" fmla="*/ 18 w 131"/>
                  <a:gd name="T65" fmla="*/ 50 h 245"/>
                  <a:gd name="T66" fmla="*/ 42 w 131"/>
                  <a:gd name="T67" fmla="*/ 141 h 245"/>
                  <a:gd name="T68" fmla="*/ 64 w 131"/>
                  <a:gd name="T69" fmla="*/ 124 h 2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31" h="245">
                    <a:moveTo>
                      <a:pt x="131" y="189"/>
                    </a:moveTo>
                    <a:cubicBezTo>
                      <a:pt x="100" y="212"/>
                      <a:pt x="100" y="212"/>
                      <a:pt x="100" y="212"/>
                    </a:cubicBezTo>
                    <a:cubicBezTo>
                      <a:pt x="96" y="201"/>
                      <a:pt x="96" y="201"/>
                      <a:pt x="96" y="201"/>
                    </a:cubicBezTo>
                    <a:cubicBezTo>
                      <a:pt x="98" y="199"/>
                      <a:pt x="100" y="196"/>
                      <a:pt x="101" y="193"/>
                    </a:cubicBezTo>
                    <a:cubicBezTo>
                      <a:pt x="102" y="190"/>
                      <a:pt x="102" y="188"/>
                      <a:pt x="101" y="186"/>
                    </a:cubicBezTo>
                    <a:cubicBezTo>
                      <a:pt x="101" y="185"/>
                      <a:pt x="101" y="184"/>
                      <a:pt x="100" y="182"/>
                    </a:cubicBezTo>
                    <a:cubicBezTo>
                      <a:pt x="99" y="181"/>
                      <a:pt x="99" y="180"/>
                      <a:pt x="98" y="179"/>
                    </a:cubicBezTo>
                    <a:cubicBezTo>
                      <a:pt x="72" y="136"/>
                      <a:pt x="72" y="136"/>
                      <a:pt x="72" y="136"/>
                    </a:cubicBezTo>
                    <a:cubicBezTo>
                      <a:pt x="46" y="155"/>
                      <a:pt x="46" y="155"/>
                      <a:pt x="46" y="155"/>
                    </a:cubicBezTo>
                    <a:cubicBezTo>
                      <a:pt x="48" y="163"/>
                      <a:pt x="49" y="170"/>
                      <a:pt x="51" y="175"/>
                    </a:cubicBezTo>
                    <a:cubicBezTo>
                      <a:pt x="53" y="181"/>
                      <a:pt x="54" y="186"/>
                      <a:pt x="55" y="191"/>
                    </a:cubicBezTo>
                    <a:cubicBezTo>
                      <a:pt x="57" y="196"/>
                      <a:pt x="58" y="199"/>
                      <a:pt x="59" y="202"/>
                    </a:cubicBezTo>
                    <a:cubicBezTo>
                      <a:pt x="60" y="205"/>
                      <a:pt x="61" y="207"/>
                      <a:pt x="61" y="209"/>
                    </a:cubicBezTo>
                    <a:cubicBezTo>
                      <a:pt x="63" y="213"/>
                      <a:pt x="66" y="215"/>
                      <a:pt x="69" y="216"/>
                    </a:cubicBezTo>
                    <a:cubicBezTo>
                      <a:pt x="72" y="216"/>
                      <a:pt x="75" y="216"/>
                      <a:pt x="78" y="214"/>
                    </a:cubicBezTo>
                    <a:cubicBezTo>
                      <a:pt x="82" y="225"/>
                      <a:pt x="82" y="225"/>
                      <a:pt x="82" y="225"/>
                    </a:cubicBezTo>
                    <a:cubicBezTo>
                      <a:pt x="54" y="245"/>
                      <a:pt x="54" y="245"/>
                      <a:pt x="54" y="245"/>
                    </a:cubicBezTo>
                    <a:cubicBezTo>
                      <a:pt x="50" y="235"/>
                      <a:pt x="50" y="235"/>
                      <a:pt x="50" y="235"/>
                    </a:cubicBezTo>
                    <a:cubicBezTo>
                      <a:pt x="51" y="234"/>
                      <a:pt x="51" y="232"/>
                      <a:pt x="52" y="230"/>
                    </a:cubicBezTo>
                    <a:cubicBezTo>
                      <a:pt x="53" y="229"/>
                      <a:pt x="54" y="226"/>
                      <a:pt x="54" y="224"/>
                    </a:cubicBezTo>
                    <a:cubicBezTo>
                      <a:pt x="54" y="220"/>
                      <a:pt x="54" y="217"/>
                      <a:pt x="54" y="213"/>
                    </a:cubicBezTo>
                    <a:cubicBezTo>
                      <a:pt x="53" y="210"/>
                      <a:pt x="52" y="205"/>
                      <a:pt x="51" y="199"/>
                    </a:cubicBezTo>
                    <a:cubicBezTo>
                      <a:pt x="43" y="170"/>
                      <a:pt x="35" y="137"/>
                      <a:pt x="25" y="101"/>
                    </a:cubicBezTo>
                    <a:cubicBezTo>
                      <a:pt x="16" y="64"/>
                      <a:pt x="7" y="32"/>
                      <a:pt x="0" y="3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106" y="165"/>
                      <a:pt x="106" y="165"/>
                      <a:pt x="106" y="165"/>
                    </a:cubicBezTo>
                    <a:cubicBezTo>
                      <a:pt x="109" y="168"/>
                      <a:pt x="111" y="171"/>
                      <a:pt x="112" y="173"/>
                    </a:cubicBezTo>
                    <a:cubicBezTo>
                      <a:pt x="114" y="175"/>
                      <a:pt x="116" y="177"/>
                      <a:pt x="118" y="178"/>
                    </a:cubicBezTo>
                    <a:cubicBezTo>
                      <a:pt x="119" y="179"/>
                      <a:pt x="121" y="179"/>
                      <a:pt x="123" y="179"/>
                    </a:cubicBezTo>
                    <a:cubicBezTo>
                      <a:pt x="124" y="179"/>
                      <a:pt x="126" y="179"/>
                      <a:pt x="127" y="178"/>
                    </a:cubicBezTo>
                    <a:cubicBezTo>
                      <a:pt x="131" y="189"/>
                      <a:pt x="131" y="189"/>
                      <a:pt x="131" y="189"/>
                    </a:cubicBezTo>
                    <a:close/>
                    <a:moveTo>
                      <a:pt x="64" y="124"/>
                    </a:moveTo>
                    <a:cubicBezTo>
                      <a:pt x="18" y="50"/>
                      <a:pt x="18" y="50"/>
                      <a:pt x="18" y="50"/>
                    </a:cubicBezTo>
                    <a:cubicBezTo>
                      <a:pt x="42" y="141"/>
                      <a:pt x="42" y="141"/>
                      <a:pt x="42" y="141"/>
                    </a:cubicBezTo>
                    <a:lnTo>
                      <a:pt x="64" y="124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9" name="iSliḋê"/>
              <p:cNvSpPr/>
              <p:nvPr/>
            </p:nvSpPr>
            <p:spPr bwMode="auto">
              <a:xfrm>
                <a:off x="3557588" y="3838576"/>
                <a:ext cx="133350" cy="211138"/>
              </a:xfrm>
              <a:custGeom>
                <a:avLst/>
                <a:gdLst>
                  <a:gd name="T0" fmla="*/ 81 w 170"/>
                  <a:gd name="T1" fmla="*/ 10 h 268"/>
                  <a:gd name="T2" fmla="*/ 78 w 170"/>
                  <a:gd name="T3" fmla="*/ 16 h 268"/>
                  <a:gd name="T4" fmla="*/ 76 w 170"/>
                  <a:gd name="T5" fmla="*/ 24 h 268"/>
                  <a:gd name="T6" fmla="*/ 81 w 170"/>
                  <a:gd name="T7" fmla="*/ 40 h 268"/>
                  <a:gd name="T8" fmla="*/ 94 w 170"/>
                  <a:gd name="T9" fmla="*/ 66 h 268"/>
                  <a:gd name="T10" fmla="*/ 170 w 170"/>
                  <a:gd name="T11" fmla="*/ 213 h 268"/>
                  <a:gd name="T12" fmla="*/ 166 w 170"/>
                  <a:gd name="T13" fmla="*/ 217 h 268"/>
                  <a:gd name="T14" fmla="*/ 38 w 170"/>
                  <a:gd name="T15" fmla="*/ 91 h 268"/>
                  <a:gd name="T16" fmla="*/ 92 w 170"/>
                  <a:gd name="T17" fmla="*/ 195 h 268"/>
                  <a:gd name="T18" fmla="*/ 106 w 170"/>
                  <a:gd name="T19" fmla="*/ 221 h 268"/>
                  <a:gd name="T20" fmla="*/ 116 w 170"/>
                  <a:gd name="T21" fmla="*/ 232 h 268"/>
                  <a:gd name="T22" fmla="*/ 123 w 170"/>
                  <a:gd name="T23" fmla="*/ 233 h 268"/>
                  <a:gd name="T24" fmla="*/ 129 w 170"/>
                  <a:gd name="T25" fmla="*/ 232 h 268"/>
                  <a:gd name="T26" fmla="*/ 135 w 170"/>
                  <a:gd name="T27" fmla="*/ 242 h 268"/>
                  <a:gd name="T28" fmla="*/ 106 w 170"/>
                  <a:gd name="T29" fmla="*/ 268 h 268"/>
                  <a:gd name="T30" fmla="*/ 101 w 170"/>
                  <a:gd name="T31" fmla="*/ 258 h 268"/>
                  <a:gd name="T32" fmla="*/ 104 w 170"/>
                  <a:gd name="T33" fmla="*/ 251 h 268"/>
                  <a:gd name="T34" fmla="*/ 105 w 170"/>
                  <a:gd name="T35" fmla="*/ 243 h 268"/>
                  <a:gd name="T36" fmla="*/ 101 w 170"/>
                  <a:gd name="T37" fmla="*/ 229 h 268"/>
                  <a:gd name="T38" fmla="*/ 88 w 170"/>
                  <a:gd name="T39" fmla="*/ 200 h 268"/>
                  <a:gd name="T40" fmla="*/ 36 w 170"/>
                  <a:gd name="T41" fmla="*/ 102 h 268"/>
                  <a:gd name="T42" fmla="*/ 29 w 170"/>
                  <a:gd name="T43" fmla="*/ 89 h 268"/>
                  <a:gd name="T44" fmla="*/ 21 w 170"/>
                  <a:gd name="T45" fmla="*/ 81 h 268"/>
                  <a:gd name="T46" fmla="*/ 12 w 170"/>
                  <a:gd name="T47" fmla="*/ 78 h 268"/>
                  <a:gd name="T48" fmla="*/ 5 w 170"/>
                  <a:gd name="T49" fmla="*/ 79 h 268"/>
                  <a:gd name="T50" fmla="*/ 0 w 170"/>
                  <a:gd name="T51" fmla="*/ 69 h 268"/>
                  <a:gd name="T52" fmla="*/ 20 w 170"/>
                  <a:gd name="T53" fmla="*/ 50 h 268"/>
                  <a:gd name="T54" fmla="*/ 139 w 170"/>
                  <a:gd name="T55" fmla="*/ 168 h 268"/>
                  <a:gd name="T56" fmla="*/ 90 w 170"/>
                  <a:gd name="T57" fmla="*/ 72 h 268"/>
                  <a:gd name="T58" fmla="*/ 75 w 170"/>
                  <a:gd name="T59" fmla="*/ 46 h 268"/>
                  <a:gd name="T60" fmla="*/ 66 w 170"/>
                  <a:gd name="T61" fmla="*/ 36 h 268"/>
                  <a:gd name="T62" fmla="*/ 59 w 170"/>
                  <a:gd name="T63" fmla="*/ 34 h 268"/>
                  <a:gd name="T64" fmla="*/ 53 w 170"/>
                  <a:gd name="T65" fmla="*/ 36 h 268"/>
                  <a:gd name="T66" fmla="*/ 47 w 170"/>
                  <a:gd name="T67" fmla="*/ 26 h 268"/>
                  <a:gd name="T68" fmla="*/ 76 w 170"/>
                  <a:gd name="T69" fmla="*/ 0 h 268"/>
                  <a:gd name="T70" fmla="*/ 81 w 170"/>
                  <a:gd name="T71" fmla="*/ 10 h 2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70" h="268">
                    <a:moveTo>
                      <a:pt x="81" y="10"/>
                    </a:moveTo>
                    <a:cubicBezTo>
                      <a:pt x="80" y="11"/>
                      <a:pt x="79" y="13"/>
                      <a:pt x="78" y="16"/>
                    </a:cubicBezTo>
                    <a:cubicBezTo>
                      <a:pt x="77" y="19"/>
                      <a:pt x="76" y="22"/>
                      <a:pt x="76" y="24"/>
                    </a:cubicBezTo>
                    <a:cubicBezTo>
                      <a:pt x="76" y="28"/>
                      <a:pt x="78" y="33"/>
                      <a:pt x="81" y="40"/>
                    </a:cubicBezTo>
                    <a:cubicBezTo>
                      <a:pt x="84" y="47"/>
                      <a:pt x="88" y="56"/>
                      <a:pt x="94" y="66"/>
                    </a:cubicBezTo>
                    <a:cubicBezTo>
                      <a:pt x="170" y="213"/>
                      <a:pt x="170" y="213"/>
                      <a:pt x="170" y="213"/>
                    </a:cubicBezTo>
                    <a:cubicBezTo>
                      <a:pt x="166" y="217"/>
                      <a:pt x="166" y="217"/>
                      <a:pt x="166" y="217"/>
                    </a:cubicBezTo>
                    <a:cubicBezTo>
                      <a:pt x="38" y="91"/>
                      <a:pt x="38" y="91"/>
                      <a:pt x="38" y="91"/>
                    </a:cubicBezTo>
                    <a:cubicBezTo>
                      <a:pt x="92" y="195"/>
                      <a:pt x="92" y="195"/>
                      <a:pt x="92" y="195"/>
                    </a:cubicBezTo>
                    <a:cubicBezTo>
                      <a:pt x="98" y="206"/>
                      <a:pt x="103" y="215"/>
                      <a:pt x="106" y="221"/>
                    </a:cubicBezTo>
                    <a:cubicBezTo>
                      <a:pt x="110" y="226"/>
                      <a:pt x="113" y="230"/>
                      <a:pt x="116" y="232"/>
                    </a:cubicBezTo>
                    <a:cubicBezTo>
                      <a:pt x="117" y="233"/>
                      <a:pt x="120" y="234"/>
                      <a:pt x="123" y="233"/>
                    </a:cubicBezTo>
                    <a:cubicBezTo>
                      <a:pt x="127" y="233"/>
                      <a:pt x="129" y="232"/>
                      <a:pt x="129" y="232"/>
                    </a:cubicBezTo>
                    <a:cubicBezTo>
                      <a:pt x="135" y="242"/>
                      <a:pt x="135" y="242"/>
                      <a:pt x="135" y="242"/>
                    </a:cubicBezTo>
                    <a:cubicBezTo>
                      <a:pt x="106" y="268"/>
                      <a:pt x="106" y="268"/>
                      <a:pt x="106" y="268"/>
                    </a:cubicBezTo>
                    <a:cubicBezTo>
                      <a:pt x="101" y="258"/>
                      <a:pt x="101" y="258"/>
                      <a:pt x="101" y="258"/>
                    </a:cubicBezTo>
                    <a:cubicBezTo>
                      <a:pt x="101" y="257"/>
                      <a:pt x="102" y="255"/>
                      <a:pt x="104" y="251"/>
                    </a:cubicBezTo>
                    <a:cubicBezTo>
                      <a:pt x="105" y="248"/>
                      <a:pt x="106" y="245"/>
                      <a:pt x="105" y="243"/>
                    </a:cubicBezTo>
                    <a:cubicBezTo>
                      <a:pt x="105" y="239"/>
                      <a:pt x="104" y="235"/>
                      <a:pt x="101" y="229"/>
                    </a:cubicBezTo>
                    <a:cubicBezTo>
                      <a:pt x="99" y="223"/>
                      <a:pt x="94" y="214"/>
                      <a:pt x="88" y="200"/>
                    </a:cubicBezTo>
                    <a:cubicBezTo>
                      <a:pt x="36" y="102"/>
                      <a:pt x="36" y="102"/>
                      <a:pt x="36" y="102"/>
                    </a:cubicBezTo>
                    <a:cubicBezTo>
                      <a:pt x="34" y="97"/>
                      <a:pt x="31" y="93"/>
                      <a:pt x="29" y="89"/>
                    </a:cubicBezTo>
                    <a:cubicBezTo>
                      <a:pt x="26" y="86"/>
                      <a:pt x="23" y="83"/>
                      <a:pt x="21" y="81"/>
                    </a:cubicBezTo>
                    <a:cubicBezTo>
                      <a:pt x="18" y="79"/>
                      <a:pt x="15" y="78"/>
                      <a:pt x="12" y="78"/>
                    </a:cubicBezTo>
                    <a:cubicBezTo>
                      <a:pt x="9" y="77"/>
                      <a:pt x="7" y="78"/>
                      <a:pt x="5" y="79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20" y="50"/>
                      <a:pt x="20" y="50"/>
                      <a:pt x="20" y="50"/>
                    </a:cubicBezTo>
                    <a:cubicBezTo>
                      <a:pt x="139" y="168"/>
                      <a:pt x="139" y="168"/>
                      <a:pt x="139" y="168"/>
                    </a:cubicBezTo>
                    <a:cubicBezTo>
                      <a:pt x="90" y="72"/>
                      <a:pt x="90" y="72"/>
                      <a:pt x="90" y="72"/>
                    </a:cubicBezTo>
                    <a:cubicBezTo>
                      <a:pt x="84" y="61"/>
                      <a:pt x="79" y="52"/>
                      <a:pt x="75" y="46"/>
                    </a:cubicBezTo>
                    <a:cubicBezTo>
                      <a:pt x="71" y="40"/>
                      <a:pt x="68" y="37"/>
                      <a:pt x="66" y="36"/>
                    </a:cubicBezTo>
                    <a:cubicBezTo>
                      <a:pt x="64" y="35"/>
                      <a:pt x="62" y="34"/>
                      <a:pt x="59" y="34"/>
                    </a:cubicBezTo>
                    <a:cubicBezTo>
                      <a:pt x="56" y="35"/>
                      <a:pt x="54" y="35"/>
                      <a:pt x="53" y="36"/>
                    </a:cubicBezTo>
                    <a:cubicBezTo>
                      <a:pt x="47" y="26"/>
                      <a:pt x="47" y="26"/>
                      <a:pt x="47" y="26"/>
                    </a:cubicBezTo>
                    <a:cubicBezTo>
                      <a:pt x="76" y="0"/>
                      <a:pt x="76" y="0"/>
                      <a:pt x="76" y="0"/>
                    </a:cubicBezTo>
                    <a:lnTo>
                      <a:pt x="81" y="10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0" name="íṡļïďè"/>
              <p:cNvSpPr/>
              <p:nvPr/>
            </p:nvSpPr>
            <p:spPr bwMode="auto">
              <a:xfrm>
                <a:off x="3624263" y="3802063"/>
                <a:ext cx="112713" cy="185738"/>
              </a:xfrm>
              <a:custGeom>
                <a:avLst/>
                <a:gdLst>
                  <a:gd name="T0" fmla="*/ 119 w 144"/>
                  <a:gd name="T1" fmla="*/ 77 h 236"/>
                  <a:gd name="T2" fmla="*/ 137 w 144"/>
                  <a:gd name="T3" fmla="*/ 125 h 236"/>
                  <a:gd name="T4" fmla="*/ 144 w 144"/>
                  <a:gd name="T5" fmla="*/ 164 h 236"/>
                  <a:gd name="T6" fmla="*/ 140 w 144"/>
                  <a:gd name="T7" fmla="*/ 193 h 236"/>
                  <a:gd name="T8" fmla="*/ 129 w 144"/>
                  <a:gd name="T9" fmla="*/ 211 h 236"/>
                  <a:gd name="T10" fmla="*/ 99 w 144"/>
                  <a:gd name="T11" fmla="*/ 236 h 236"/>
                  <a:gd name="T12" fmla="*/ 94 w 144"/>
                  <a:gd name="T13" fmla="*/ 226 h 236"/>
                  <a:gd name="T14" fmla="*/ 98 w 144"/>
                  <a:gd name="T15" fmla="*/ 222 h 236"/>
                  <a:gd name="T16" fmla="*/ 100 w 144"/>
                  <a:gd name="T17" fmla="*/ 218 h 236"/>
                  <a:gd name="T18" fmla="*/ 99 w 144"/>
                  <a:gd name="T19" fmla="*/ 210 h 236"/>
                  <a:gd name="T20" fmla="*/ 96 w 144"/>
                  <a:gd name="T21" fmla="*/ 201 h 236"/>
                  <a:gd name="T22" fmla="*/ 24 w 144"/>
                  <a:gd name="T23" fmla="*/ 53 h 236"/>
                  <a:gd name="T24" fmla="*/ 19 w 144"/>
                  <a:gd name="T25" fmla="*/ 45 h 236"/>
                  <a:gd name="T26" fmla="*/ 14 w 144"/>
                  <a:gd name="T27" fmla="*/ 41 h 236"/>
                  <a:gd name="T28" fmla="*/ 9 w 144"/>
                  <a:gd name="T29" fmla="*/ 40 h 236"/>
                  <a:gd name="T30" fmla="*/ 5 w 144"/>
                  <a:gd name="T31" fmla="*/ 42 h 236"/>
                  <a:gd name="T32" fmla="*/ 0 w 144"/>
                  <a:gd name="T33" fmla="*/ 31 h 236"/>
                  <a:gd name="T34" fmla="*/ 31 w 144"/>
                  <a:gd name="T35" fmla="*/ 5 h 236"/>
                  <a:gd name="T36" fmla="*/ 47 w 144"/>
                  <a:gd name="T37" fmla="*/ 0 h 236"/>
                  <a:gd name="T38" fmla="*/ 65 w 144"/>
                  <a:gd name="T39" fmla="*/ 6 h 236"/>
                  <a:gd name="T40" fmla="*/ 91 w 144"/>
                  <a:gd name="T41" fmla="*/ 31 h 236"/>
                  <a:gd name="T42" fmla="*/ 119 w 144"/>
                  <a:gd name="T43" fmla="*/ 77 h 236"/>
                  <a:gd name="T44" fmla="*/ 106 w 144"/>
                  <a:gd name="T45" fmla="*/ 87 h 236"/>
                  <a:gd name="T46" fmla="*/ 86 w 144"/>
                  <a:gd name="T47" fmla="*/ 52 h 236"/>
                  <a:gd name="T48" fmla="*/ 67 w 144"/>
                  <a:gd name="T49" fmla="*/ 27 h 236"/>
                  <a:gd name="T50" fmla="*/ 49 w 144"/>
                  <a:gd name="T51" fmla="*/ 16 h 236"/>
                  <a:gd name="T52" fmla="*/ 34 w 144"/>
                  <a:gd name="T53" fmla="*/ 19 h 236"/>
                  <a:gd name="T54" fmla="*/ 30 w 144"/>
                  <a:gd name="T55" fmla="*/ 23 h 236"/>
                  <a:gd name="T56" fmla="*/ 26 w 144"/>
                  <a:gd name="T57" fmla="*/ 27 h 236"/>
                  <a:gd name="T58" fmla="*/ 103 w 144"/>
                  <a:gd name="T59" fmla="*/ 184 h 236"/>
                  <a:gd name="T60" fmla="*/ 114 w 144"/>
                  <a:gd name="T61" fmla="*/ 200 h 236"/>
                  <a:gd name="T62" fmla="*/ 125 w 144"/>
                  <a:gd name="T63" fmla="*/ 198 h 236"/>
                  <a:gd name="T64" fmla="*/ 133 w 144"/>
                  <a:gd name="T65" fmla="*/ 182 h 236"/>
                  <a:gd name="T66" fmla="*/ 132 w 144"/>
                  <a:gd name="T67" fmla="*/ 157 h 236"/>
                  <a:gd name="T68" fmla="*/ 123 w 144"/>
                  <a:gd name="T69" fmla="*/ 125 h 236"/>
                  <a:gd name="T70" fmla="*/ 106 w 144"/>
                  <a:gd name="T71" fmla="*/ 87 h 2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4" h="236">
                    <a:moveTo>
                      <a:pt x="119" y="77"/>
                    </a:moveTo>
                    <a:cubicBezTo>
                      <a:pt x="127" y="94"/>
                      <a:pt x="134" y="110"/>
                      <a:pt x="137" y="125"/>
                    </a:cubicBezTo>
                    <a:cubicBezTo>
                      <a:pt x="141" y="140"/>
                      <a:pt x="144" y="153"/>
                      <a:pt x="144" y="164"/>
                    </a:cubicBezTo>
                    <a:cubicBezTo>
                      <a:pt x="144" y="176"/>
                      <a:pt x="143" y="185"/>
                      <a:pt x="140" y="193"/>
                    </a:cubicBezTo>
                    <a:cubicBezTo>
                      <a:pt x="138" y="201"/>
                      <a:pt x="134" y="207"/>
                      <a:pt x="129" y="211"/>
                    </a:cubicBezTo>
                    <a:cubicBezTo>
                      <a:pt x="99" y="236"/>
                      <a:pt x="99" y="236"/>
                      <a:pt x="99" y="236"/>
                    </a:cubicBezTo>
                    <a:cubicBezTo>
                      <a:pt x="94" y="226"/>
                      <a:pt x="94" y="226"/>
                      <a:pt x="94" y="226"/>
                    </a:cubicBezTo>
                    <a:cubicBezTo>
                      <a:pt x="95" y="225"/>
                      <a:pt x="96" y="224"/>
                      <a:pt x="98" y="222"/>
                    </a:cubicBezTo>
                    <a:cubicBezTo>
                      <a:pt x="99" y="220"/>
                      <a:pt x="100" y="219"/>
                      <a:pt x="100" y="218"/>
                    </a:cubicBezTo>
                    <a:cubicBezTo>
                      <a:pt x="100" y="215"/>
                      <a:pt x="100" y="213"/>
                      <a:pt x="99" y="210"/>
                    </a:cubicBezTo>
                    <a:cubicBezTo>
                      <a:pt x="99" y="207"/>
                      <a:pt x="97" y="204"/>
                      <a:pt x="96" y="201"/>
                    </a:cubicBezTo>
                    <a:cubicBezTo>
                      <a:pt x="24" y="53"/>
                      <a:pt x="24" y="53"/>
                      <a:pt x="24" y="53"/>
                    </a:cubicBezTo>
                    <a:cubicBezTo>
                      <a:pt x="22" y="50"/>
                      <a:pt x="21" y="47"/>
                      <a:pt x="19" y="45"/>
                    </a:cubicBezTo>
                    <a:cubicBezTo>
                      <a:pt x="17" y="43"/>
                      <a:pt x="15" y="41"/>
                      <a:pt x="14" y="41"/>
                    </a:cubicBezTo>
                    <a:cubicBezTo>
                      <a:pt x="12" y="40"/>
                      <a:pt x="10" y="40"/>
                      <a:pt x="9" y="40"/>
                    </a:cubicBezTo>
                    <a:cubicBezTo>
                      <a:pt x="7" y="41"/>
                      <a:pt x="6" y="41"/>
                      <a:pt x="5" y="42"/>
                    </a:cubicBezTo>
                    <a:cubicBezTo>
                      <a:pt x="0" y="31"/>
                      <a:pt x="0" y="31"/>
                      <a:pt x="0" y="31"/>
                    </a:cubicBezTo>
                    <a:cubicBezTo>
                      <a:pt x="31" y="5"/>
                      <a:pt x="31" y="5"/>
                      <a:pt x="31" y="5"/>
                    </a:cubicBezTo>
                    <a:cubicBezTo>
                      <a:pt x="36" y="1"/>
                      <a:pt x="41" y="0"/>
                      <a:pt x="47" y="0"/>
                    </a:cubicBezTo>
                    <a:cubicBezTo>
                      <a:pt x="53" y="0"/>
                      <a:pt x="59" y="2"/>
                      <a:pt x="65" y="6"/>
                    </a:cubicBezTo>
                    <a:cubicBezTo>
                      <a:pt x="74" y="11"/>
                      <a:pt x="82" y="19"/>
                      <a:pt x="91" y="31"/>
                    </a:cubicBezTo>
                    <a:cubicBezTo>
                      <a:pt x="101" y="43"/>
                      <a:pt x="110" y="58"/>
                      <a:pt x="119" y="77"/>
                    </a:cubicBezTo>
                    <a:close/>
                    <a:moveTo>
                      <a:pt x="106" y="87"/>
                    </a:moveTo>
                    <a:cubicBezTo>
                      <a:pt x="100" y="74"/>
                      <a:pt x="93" y="62"/>
                      <a:pt x="86" y="52"/>
                    </a:cubicBezTo>
                    <a:cubicBezTo>
                      <a:pt x="80" y="42"/>
                      <a:pt x="73" y="34"/>
                      <a:pt x="67" y="27"/>
                    </a:cubicBezTo>
                    <a:cubicBezTo>
                      <a:pt x="60" y="21"/>
                      <a:pt x="55" y="18"/>
                      <a:pt x="49" y="16"/>
                    </a:cubicBezTo>
                    <a:cubicBezTo>
                      <a:pt x="43" y="14"/>
                      <a:pt x="38" y="15"/>
                      <a:pt x="34" y="19"/>
                    </a:cubicBezTo>
                    <a:cubicBezTo>
                      <a:pt x="33" y="20"/>
                      <a:pt x="31" y="21"/>
                      <a:pt x="30" y="23"/>
                    </a:cubicBezTo>
                    <a:cubicBezTo>
                      <a:pt x="28" y="25"/>
                      <a:pt x="27" y="26"/>
                      <a:pt x="26" y="27"/>
                    </a:cubicBezTo>
                    <a:cubicBezTo>
                      <a:pt x="103" y="184"/>
                      <a:pt x="103" y="184"/>
                      <a:pt x="103" y="184"/>
                    </a:cubicBezTo>
                    <a:cubicBezTo>
                      <a:pt x="107" y="193"/>
                      <a:pt x="111" y="198"/>
                      <a:pt x="114" y="200"/>
                    </a:cubicBezTo>
                    <a:cubicBezTo>
                      <a:pt x="118" y="202"/>
                      <a:pt x="121" y="201"/>
                      <a:pt x="125" y="198"/>
                    </a:cubicBezTo>
                    <a:cubicBezTo>
                      <a:pt x="129" y="194"/>
                      <a:pt x="132" y="189"/>
                      <a:pt x="133" y="182"/>
                    </a:cubicBezTo>
                    <a:cubicBezTo>
                      <a:pt x="134" y="175"/>
                      <a:pt x="134" y="167"/>
                      <a:pt x="132" y="157"/>
                    </a:cubicBezTo>
                    <a:cubicBezTo>
                      <a:pt x="130" y="148"/>
                      <a:pt x="127" y="137"/>
                      <a:pt x="123" y="125"/>
                    </a:cubicBezTo>
                    <a:cubicBezTo>
                      <a:pt x="119" y="114"/>
                      <a:pt x="113" y="101"/>
                      <a:pt x="106" y="87"/>
                    </a:cubicBez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1" name="íṡ1íḍê"/>
              <p:cNvSpPr/>
              <p:nvPr/>
            </p:nvSpPr>
            <p:spPr bwMode="auto">
              <a:xfrm>
                <a:off x="3683001" y="3697288"/>
                <a:ext cx="142875" cy="160338"/>
              </a:xfrm>
              <a:custGeom>
                <a:avLst/>
                <a:gdLst>
                  <a:gd name="T0" fmla="*/ 84 w 183"/>
                  <a:gd name="T1" fmla="*/ 39 h 204"/>
                  <a:gd name="T2" fmla="*/ 82 w 183"/>
                  <a:gd name="T3" fmla="*/ 43 h 204"/>
                  <a:gd name="T4" fmla="*/ 72 w 183"/>
                  <a:gd name="T5" fmla="*/ 37 h 204"/>
                  <a:gd name="T6" fmla="*/ 60 w 183"/>
                  <a:gd name="T7" fmla="*/ 31 h 204"/>
                  <a:gd name="T8" fmla="*/ 49 w 183"/>
                  <a:gd name="T9" fmla="*/ 27 h 204"/>
                  <a:gd name="T10" fmla="*/ 43 w 183"/>
                  <a:gd name="T11" fmla="*/ 27 h 204"/>
                  <a:gd name="T12" fmla="*/ 39 w 183"/>
                  <a:gd name="T13" fmla="*/ 32 h 204"/>
                  <a:gd name="T14" fmla="*/ 36 w 183"/>
                  <a:gd name="T15" fmla="*/ 37 h 204"/>
                  <a:gd name="T16" fmla="*/ 34 w 183"/>
                  <a:gd name="T17" fmla="*/ 41 h 204"/>
                  <a:gd name="T18" fmla="*/ 154 w 183"/>
                  <a:gd name="T19" fmla="*/ 155 h 204"/>
                  <a:gd name="T20" fmla="*/ 161 w 183"/>
                  <a:gd name="T21" fmla="*/ 160 h 204"/>
                  <a:gd name="T22" fmla="*/ 167 w 183"/>
                  <a:gd name="T23" fmla="*/ 161 h 204"/>
                  <a:gd name="T24" fmla="*/ 171 w 183"/>
                  <a:gd name="T25" fmla="*/ 158 h 204"/>
                  <a:gd name="T26" fmla="*/ 176 w 183"/>
                  <a:gd name="T27" fmla="*/ 153 h 204"/>
                  <a:gd name="T28" fmla="*/ 183 w 183"/>
                  <a:gd name="T29" fmla="*/ 161 h 204"/>
                  <a:gd name="T30" fmla="*/ 160 w 183"/>
                  <a:gd name="T31" fmla="*/ 204 h 204"/>
                  <a:gd name="T32" fmla="*/ 152 w 183"/>
                  <a:gd name="T33" fmla="*/ 196 h 204"/>
                  <a:gd name="T34" fmla="*/ 155 w 183"/>
                  <a:gd name="T35" fmla="*/ 190 h 204"/>
                  <a:gd name="T36" fmla="*/ 156 w 183"/>
                  <a:gd name="T37" fmla="*/ 184 h 204"/>
                  <a:gd name="T38" fmla="*/ 154 w 183"/>
                  <a:gd name="T39" fmla="*/ 177 h 204"/>
                  <a:gd name="T40" fmla="*/ 147 w 183"/>
                  <a:gd name="T41" fmla="*/ 169 h 204"/>
                  <a:gd name="T42" fmla="*/ 26 w 183"/>
                  <a:gd name="T43" fmla="*/ 55 h 204"/>
                  <a:gd name="T44" fmla="*/ 24 w 183"/>
                  <a:gd name="T45" fmla="*/ 58 h 204"/>
                  <a:gd name="T46" fmla="*/ 22 w 183"/>
                  <a:gd name="T47" fmla="*/ 63 h 204"/>
                  <a:gd name="T48" fmla="*/ 19 w 183"/>
                  <a:gd name="T49" fmla="*/ 70 h 204"/>
                  <a:gd name="T50" fmla="*/ 21 w 183"/>
                  <a:gd name="T51" fmla="*/ 78 h 204"/>
                  <a:gd name="T52" fmla="*/ 27 w 183"/>
                  <a:gd name="T53" fmla="*/ 90 h 204"/>
                  <a:gd name="T54" fmla="*/ 36 w 183"/>
                  <a:gd name="T55" fmla="*/ 103 h 204"/>
                  <a:gd name="T56" fmla="*/ 43 w 183"/>
                  <a:gd name="T57" fmla="*/ 114 h 204"/>
                  <a:gd name="T58" fmla="*/ 41 w 183"/>
                  <a:gd name="T59" fmla="*/ 118 h 204"/>
                  <a:gd name="T60" fmla="*/ 0 w 183"/>
                  <a:gd name="T61" fmla="*/ 80 h 204"/>
                  <a:gd name="T62" fmla="*/ 44 w 183"/>
                  <a:gd name="T63" fmla="*/ 0 h 204"/>
                  <a:gd name="T64" fmla="*/ 84 w 183"/>
                  <a:gd name="T65" fmla="*/ 39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83" h="204">
                    <a:moveTo>
                      <a:pt x="84" y="39"/>
                    </a:moveTo>
                    <a:cubicBezTo>
                      <a:pt x="82" y="43"/>
                      <a:pt x="82" y="43"/>
                      <a:pt x="82" y="43"/>
                    </a:cubicBezTo>
                    <a:cubicBezTo>
                      <a:pt x="79" y="41"/>
                      <a:pt x="76" y="39"/>
                      <a:pt x="72" y="37"/>
                    </a:cubicBezTo>
                    <a:cubicBezTo>
                      <a:pt x="68" y="35"/>
                      <a:pt x="64" y="33"/>
                      <a:pt x="60" y="31"/>
                    </a:cubicBezTo>
                    <a:cubicBezTo>
                      <a:pt x="56" y="29"/>
                      <a:pt x="52" y="28"/>
                      <a:pt x="49" y="27"/>
                    </a:cubicBezTo>
                    <a:cubicBezTo>
                      <a:pt x="46" y="26"/>
                      <a:pt x="44" y="26"/>
                      <a:pt x="43" y="27"/>
                    </a:cubicBezTo>
                    <a:cubicBezTo>
                      <a:pt x="42" y="29"/>
                      <a:pt x="40" y="30"/>
                      <a:pt x="39" y="32"/>
                    </a:cubicBezTo>
                    <a:cubicBezTo>
                      <a:pt x="38" y="34"/>
                      <a:pt x="37" y="36"/>
                      <a:pt x="36" y="37"/>
                    </a:cubicBezTo>
                    <a:cubicBezTo>
                      <a:pt x="34" y="41"/>
                      <a:pt x="34" y="41"/>
                      <a:pt x="34" y="41"/>
                    </a:cubicBezTo>
                    <a:cubicBezTo>
                      <a:pt x="154" y="155"/>
                      <a:pt x="154" y="155"/>
                      <a:pt x="154" y="155"/>
                    </a:cubicBezTo>
                    <a:cubicBezTo>
                      <a:pt x="156" y="157"/>
                      <a:pt x="158" y="158"/>
                      <a:pt x="161" y="160"/>
                    </a:cubicBezTo>
                    <a:cubicBezTo>
                      <a:pt x="163" y="161"/>
                      <a:pt x="165" y="161"/>
                      <a:pt x="167" y="161"/>
                    </a:cubicBezTo>
                    <a:cubicBezTo>
                      <a:pt x="168" y="161"/>
                      <a:pt x="169" y="160"/>
                      <a:pt x="171" y="158"/>
                    </a:cubicBezTo>
                    <a:cubicBezTo>
                      <a:pt x="174" y="156"/>
                      <a:pt x="175" y="155"/>
                      <a:pt x="176" y="153"/>
                    </a:cubicBezTo>
                    <a:cubicBezTo>
                      <a:pt x="183" y="161"/>
                      <a:pt x="183" y="161"/>
                      <a:pt x="183" y="161"/>
                    </a:cubicBezTo>
                    <a:cubicBezTo>
                      <a:pt x="160" y="204"/>
                      <a:pt x="160" y="204"/>
                      <a:pt x="160" y="204"/>
                    </a:cubicBezTo>
                    <a:cubicBezTo>
                      <a:pt x="152" y="196"/>
                      <a:pt x="152" y="196"/>
                      <a:pt x="152" y="196"/>
                    </a:cubicBezTo>
                    <a:cubicBezTo>
                      <a:pt x="153" y="195"/>
                      <a:pt x="154" y="193"/>
                      <a:pt x="155" y="190"/>
                    </a:cubicBezTo>
                    <a:cubicBezTo>
                      <a:pt x="156" y="187"/>
                      <a:pt x="156" y="185"/>
                      <a:pt x="156" y="184"/>
                    </a:cubicBezTo>
                    <a:cubicBezTo>
                      <a:pt x="156" y="181"/>
                      <a:pt x="155" y="179"/>
                      <a:pt x="154" y="177"/>
                    </a:cubicBezTo>
                    <a:cubicBezTo>
                      <a:pt x="152" y="174"/>
                      <a:pt x="150" y="172"/>
                      <a:pt x="147" y="169"/>
                    </a:cubicBezTo>
                    <a:cubicBezTo>
                      <a:pt x="26" y="55"/>
                      <a:pt x="26" y="55"/>
                      <a:pt x="26" y="55"/>
                    </a:cubicBezTo>
                    <a:cubicBezTo>
                      <a:pt x="24" y="58"/>
                      <a:pt x="24" y="58"/>
                      <a:pt x="24" y="58"/>
                    </a:cubicBezTo>
                    <a:cubicBezTo>
                      <a:pt x="24" y="60"/>
                      <a:pt x="23" y="61"/>
                      <a:pt x="22" y="63"/>
                    </a:cubicBezTo>
                    <a:cubicBezTo>
                      <a:pt x="21" y="66"/>
                      <a:pt x="20" y="68"/>
                      <a:pt x="19" y="70"/>
                    </a:cubicBezTo>
                    <a:cubicBezTo>
                      <a:pt x="19" y="71"/>
                      <a:pt x="19" y="74"/>
                      <a:pt x="21" y="78"/>
                    </a:cubicBezTo>
                    <a:cubicBezTo>
                      <a:pt x="23" y="82"/>
                      <a:pt x="25" y="86"/>
                      <a:pt x="27" y="90"/>
                    </a:cubicBezTo>
                    <a:cubicBezTo>
                      <a:pt x="30" y="95"/>
                      <a:pt x="33" y="99"/>
                      <a:pt x="36" y="103"/>
                    </a:cubicBezTo>
                    <a:cubicBezTo>
                      <a:pt x="39" y="108"/>
                      <a:pt x="41" y="111"/>
                      <a:pt x="43" y="114"/>
                    </a:cubicBezTo>
                    <a:cubicBezTo>
                      <a:pt x="41" y="118"/>
                      <a:pt x="41" y="118"/>
                      <a:pt x="41" y="118"/>
                    </a:cubicBezTo>
                    <a:cubicBezTo>
                      <a:pt x="0" y="80"/>
                      <a:pt x="0" y="80"/>
                      <a:pt x="0" y="80"/>
                    </a:cubicBezTo>
                    <a:cubicBezTo>
                      <a:pt x="44" y="0"/>
                      <a:pt x="44" y="0"/>
                      <a:pt x="44" y="0"/>
                    </a:cubicBezTo>
                    <a:lnTo>
                      <a:pt x="84" y="39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2" name="íṥ1îdê"/>
              <p:cNvSpPr/>
              <p:nvPr/>
            </p:nvSpPr>
            <p:spPr bwMode="auto">
              <a:xfrm>
                <a:off x="3717926" y="3638551"/>
                <a:ext cx="152400" cy="160338"/>
              </a:xfrm>
              <a:custGeom>
                <a:avLst/>
                <a:gdLst>
                  <a:gd name="T0" fmla="*/ 149 w 194"/>
                  <a:gd name="T1" fmla="*/ 85 h 203"/>
                  <a:gd name="T2" fmla="*/ 194 w 194"/>
                  <a:gd name="T3" fmla="*/ 125 h 203"/>
                  <a:gd name="T4" fmla="*/ 156 w 194"/>
                  <a:gd name="T5" fmla="*/ 203 h 203"/>
                  <a:gd name="T6" fmla="*/ 148 w 194"/>
                  <a:gd name="T7" fmla="*/ 197 h 203"/>
                  <a:gd name="T8" fmla="*/ 150 w 194"/>
                  <a:gd name="T9" fmla="*/ 191 h 203"/>
                  <a:gd name="T10" fmla="*/ 150 w 194"/>
                  <a:gd name="T11" fmla="*/ 185 h 203"/>
                  <a:gd name="T12" fmla="*/ 148 w 194"/>
                  <a:gd name="T13" fmla="*/ 179 h 203"/>
                  <a:gd name="T14" fmla="*/ 141 w 194"/>
                  <a:gd name="T15" fmla="*/ 172 h 203"/>
                  <a:gd name="T16" fmla="*/ 29 w 194"/>
                  <a:gd name="T17" fmla="*/ 79 h 203"/>
                  <a:gd name="T18" fmla="*/ 22 w 194"/>
                  <a:gd name="T19" fmla="*/ 74 h 203"/>
                  <a:gd name="T20" fmla="*/ 16 w 194"/>
                  <a:gd name="T21" fmla="*/ 73 h 203"/>
                  <a:gd name="T22" fmla="*/ 11 w 194"/>
                  <a:gd name="T23" fmla="*/ 76 h 203"/>
                  <a:gd name="T24" fmla="*/ 8 w 194"/>
                  <a:gd name="T25" fmla="*/ 80 h 203"/>
                  <a:gd name="T26" fmla="*/ 0 w 194"/>
                  <a:gd name="T27" fmla="*/ 73 h 203"/>
                  <a:gd name="T28" fmla="*/ 35 w 194"/>
                  <a:gd name="T29" fmla="*/ 0 h 203"/>
                  <a:gd name="T30" fmla="*/ 73 w 194"/>
                  <a:gd name="T31" fmla="*/ 31 h 203"/>
                  <a:gd name="T32" fmla="*/ 70 w 194"/>
                  <a:gd name="T33" fmla="*/ 36 h 203"/>
                  <a:gd name="T34" fmla="*/ 50 w 194"/>
                  <a:gd name="T35" fmla="*/ 27 h 203"/>
                  <a:gd name="T36" fmla="*/ 36 w 194"/>
                  <a:gd name="T37" fmla="*/ 27 h 203"/>
                  <a:gd name="T38" fmla="*/ 32 w 194"/>
                  <a:gd name="T39" fmla="*/ 32 h 203"/>
                  <a:gd name="T40" fmla="*/ 29 w 194"/>
                  <a:gd name="T41" fmla="*/ 38 h 203"/>
                  <a:gd name="T42" fmla="*/ 22 w 194"/>
                  <a:gd name="T43" fmla="*/ 53 h 203"/>
                  <a:gd name="T44" fmla="*/ 84 w 194"/>
                  <a:gd name="T45" fmla="*/ 105 h 203"/>
                  <a:gd name="T46" fmla="*/ 89 w 194"/>
                  <a:gd name="T47" fmla="*/ 94 h 203"/>
                  <a:gd name="T48" fmla="*/ 91 w 194"/>
                  <a:gd name="T49" fmla="*/ 85 h 203"/>
                  <a:gd name="T50" fmla="*/ 88 w 194"/>
                  <a:gd name="T51" fmla="*/ 76 h 203"/>
                  <a:gd name="T52" fmla="*/ 81 w 194"/>
                  <a:gd name="T53" fmla="*/ 67 h 203"/>
                  <a:gd name="T54" fmla="*/ 71 w 194"/>
                  <a:gd name="T55" fmla="*/ 57 h 203"/>
                  <a:gd name="T56" fmla="*/ 74 w 194"/>
                  <a:gd name="T57" fmla="*/ 52 h 203"/>
                  <a:gd name="T58" fmla="*/ 135 w 194"/>
                  <a:gd name="T59" fmla="*/ 103 h 203"/>
                  <a:gd name="T60" fmla="*/ 132 w 194"/>
                  <a:gd name="T61" fmla="*/ 108 h 203"/>
                  <a:gd name="T62" fmla="*/ 120 w 194"/>
                  <a:gd name="T63" fmla="*/ 100 h 203"/>
                  <a:gd name="T64" fmla="*/ 111 w 194"/>
                  <a:gd name="T65" fmla="*/ 95 h 203"/>
                  <a:gd name="T66" fmla="*/ 103 w 194"/>
                  <a:gd name="T67" fmla="*/ 95 h 203"/>
                  <a:gd name="T68" fmla="*/ 98 w 194"/>
                  <a:gd name="T69" fmla="*/ 101 h 203"/>
                  <a:gd name="T70" fmla="*/ 93 w 194"/>
                  <a:gd name="T71" fmla="*/ 112 h 203"/>
                  <a:gd name="T72" fmla="*/ 140 w 194"/>
                  <a:gd name="T73" fmla="*/ 151 h 203"/>
                  <a:gd name="T74" fmla="*/ 151 w 194"/>
                  <a:gd name="T75" fmla="*/ 160 h 203"/>
                  <a:gd name="T76" fmla="*/ 158 w 194"/>
                  <a:gd name="T77" fmla="*/ 163 h 203"/>
                  <a:gd name="T78" fmla="*/ 163 w 194"/>
                  <a:gd name="T79" fmla="*/ 160 h 203"/>
                  <a:gd name="T80" fmla="*/ 168 w 194"/>
                  <a:gd name="T81" fmla="*/ 152 h 203"/>
                  <a:gd name="T82" fmla="*/ 171 w 194"/>
                  <a:gd name="T83" fmla="*/ 146 h 203"/>
                  <a:gd name="T84" fmla="*/ 173 w 194"/>
                  <a:gd name="T85" fmla="*/ 140 h 203"/>
                  <a:gd name="T86" fmla="*/ 174 w 194"/>
                  <a:gd name="T87" fmla="*/ 133 h 203"/>
                  <a:gd name="T88" fmla="*/ 173 w 194"/>
                  <a:gd name="T89" fmla="*/ 127 h 203"/>
                  <a:gd name="T90" fmla="*/ 160 w 194"/>
                  <a:gd name="T91" fmla="*/ 107 h 203"/>
                  <a:gd name="T92" fmla="*/ 146 w 194"/>
                  <a:gd name="T93" fmla="*/ 89 h 203"/>
                  <a:gd name="T94" fmla="*/ 149 w 194"/>
                  <a:gd name="T95" fmla="*/ 85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94" h="203">
                    <a:moveTo>
                      <a:pt x="149" y="85"/>
                    </a:moveTo>
                    <a:cubicBezTo>
                      <a:pt x="194" y="125"/>
                      <a:pt x="194" y="125"/>
                      <a:pt x="194" y="125"/>
                    </a:cubicBezTo>
                    <a:cubicBezTo>
                      <a:pt x="156" y="203"/>
                      <a:pt x="156" y="203"/>
                      <a:pt x="156" y="203"/>
                    </a:cubicBezTo>
                    <a:cubicBezTo>
                      <a:pt x="148" y="197"/>
                      <a:pt x="148" y="197"/>
                      <a:pt x="148" y="197"/>
                    </a:cubicBezTo>
                    <a:cubicBezTo>
                      <a:pt x="149" y="195"/>
                      <a:pt x="149" y="193"/>
                      <a:pt x="150" y="191"/>
                    </a:cubicBezTo>
                    <a:cubicBezTo>
                      <a:pt x="150" y="188"/>
                      <a:pt x="151" y="186"/>
                      <a:pt x="150" y="185"/>
                    </a:cubicBezTo>
                    <a:cubicBezTo>
                      <a:pt x="150" y="183"/>
                      <a:pt x="149" y="181"/>
                      <a:pt x="148" y="179"/>
                    </a:cubicBezTo>
                    <a:cubicBezTo>
                      <a:pt x="146" y="177"/>
                      <a:pt x="144" y="175"/>
                      <a:pt x="141" y="172"/>
                    </a:cubicBezTo>
                    <a:cubicBezTo>
                      <a:pt x="29" y="79"/>
                      <a:pt x="29" y="79"/>
                      <a:pt x="29" y="79"/>
                    </a:cubicBezTo>
                    <a:cubicBezTo>
                      <a:pt x="27" y="77"/>
                      <a:pt x="24" y="75"/>
                      <a:pt x="22" y="74"/>
                    </a:cubicBezTo>
                    <a:cubicBezTo>
                      <a:pt x="20" y="73"/>
                      <a:pt x="18" y="73"/>
                      <a:pt x="16" y="73"/>
                    </a:cubicBezTo>
                    <a:cubicBezTo>
                      <a:pt x="15" y="74"/>
                      <a:pt x="13" y="75"/>
                      <a:pt x="11" y="76"/>
                    </a:cubicBezTo>
                    <a:cubicBezTo>
                      <a:pt x="10" y="78"/>
                      <a:pt x="8" y="79"/>
                      <a:pt x="8" y="80"/>
                    </a:cubicBezTo>
                    <a:cubicBezTo>
                      <a:pt x="0" y="73"/>
                      <a:pt x="0" y="73"/>
                      <a:pt x="0" y="73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73" y="31"/>
                      <a:pt x="73" y="31"/>
                      <a:pt x="73" y="31"/>
                    </a:cubicBezTo>
                    <a:cubicBezTo>
                      <a:pt x="70" y="36"/>
                      <a:pt x="70" y="36"/>
                      <a:pt x="70" y="36"/>
                    </a:cubicBezTo>
                    <a:cubicBezTo>
                      <a:pt x="64" y="33"/>
                      <a:pt x="58" y="30"/>
                      <a:pt x="50" y="27"/>
                    </a:cubicBezTo>
                    <a:cubicBezTo>
                      <a:pt x="42" y="25"/>
                      <a:pt x="37" y="25"/>
                      <a:pt x="36" y="27"/>
                    </a:cubicBezTo>
                    <a:cubicBezTo>
                      <a:pt x="35" y="28"/>
                      <a:pt x="34" y="30"/>
                      <a:pt x="32" y="32"/>
                    </a:cubicBezTo>
                    <a:cubicBezTo>
                      <a:pt x="31" y="33"/>
                      <a:pt x="30" y="36"/>
                      <a:pt x="29" y="38"/>
                    </a:cubicBezTo>
                    <a:cubicBezTo>
                      <a:pt x="22" y="53"/>
                      <a:pt x="22" y="53"/>
                      <a:pt x="22" y="53"/>
                    </a:cubicBezTo>
                    <a:cubicBezTo>
                      <a:pt x="84" y="105"/>
                      <a:pt x="84" y="105"/>
                      <a:pt x="84" y="105"/>
                    </a:cubicBezTo>
                    <a:cubicBezTo>
                      <a:pt x="89" y="94"/>
                      <a:pt x="89" y="94"/>
                      <a:pt x="89" y="94"/>
                    </a:cubicBezTo>
                    <a:cubicBezTo>
                      <a:pt x="91" y="91"/>
                      <a:pt x="91" y="88"/>
                      <a:pt x="91" y="85"/>
                    </a:cubicBezTo>
                    <a:cubicBezTo>
                      <a:pt x="91" y="83"/>
                      <a:pt x="90" y="80"/>
                      <a:pt x="88" y="76"/>
                    </a:cubicBezTo>
                    <a:cubicBezTo>
                      <a:pt x="86" y="74"/>
                      <a:pt x="84" y="71"/>
                      <a:pt x="81" y="67"/>
                    </a:cubicBezTo>
                    <a:cubicBezTo>
                      <a:pt x="77" y="63"/>
                      <a:pt x="74" y="60"/>
                      <a:pt x="71" y="57"/>
                    </a:cubicBezTo>
                    <a:cubicBezTo>
                      <a:pt x="74" y="52"/>
                      <a:pt x="74" y="52"/>
                      <a:pt x="74" y="52"/>
                    </a:cubicBezTo>
                    <a:cubicBezTo>
                      <a:pt x="135" y="103"/>
                      <a:pt x="135" y="103"/>
                      <a:pt x="135" y="103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29" y="105"/>
                      <a:pt x="125" y="103"/>
                      <a:pt x="120" y="100"/>
                    </a:cubicBezTo>
                    <a:cubicBezTo>
                      <a:pt x="116" y="98"/>
                      <a:pt x="113" y="96"/>
                      <a:pt x="111" y="95"/>
                    </a:cubicBezTo>
                    <a:cubicBezTo>
                      <a:pt x="107" y="94"/>
                      <a:pt x="104" y="94"/>
                      <a:pt x="103" y="95"/>
                    </a:cubicBezTo>
                    <a:cubicBezTo>
                      <a:pt x="101" y="96"/>
                      <a:pt x="99" y="98"/>
                      <a:pt x="98" y="101"/>
                    </a:cubicBezTo>
                    <a:cubicBezTo>
                      <a:pt x="93" y="112"/>
                      <a:pt x="93" y="112"/>
                      <a:pt x="93" y="112"/>
                    </a:cubicBezTo>
                    <a:cubicBezTo>
                      <a:pt x="140" y="151"/>
                      <a:pt x="140" y="151"/>
                      <a:pt x="140" y="151"/>
                    </a:cubicBezTo>
                    <a:cubicBezTo>
                      <a:pt x="144" y="155"/>
                      <a:pt x="148" y="158"/>
                      <a:pt x="151" y="160"/>
                    </a:cubicBezTo>
                    <a:cubicBezTo>
                      <a:pt x="154" y="162"/>
                      <a:pt x="156" y="163"/>
                      <a:pt x="158" y="163"/>
                    </a:cubicBezTo>
                    <a:cubicBezTo>
                      <a:pt x="160" y="163"/>
                      <a:pt x="162" y="162"/>
                      <a:pt x="163" y="160"/>
                    </a:cubicBezTo>
                    <a:cubicBezTo>
                      <a:pt x="165" y="158"/>
                      <a:pt x="166" y="156"/>
                      <a:pt x="168" y="152"/>
                    </a:cubicBezTo>
                    <a:cubicBezTo>
                      <a:pt x="169" y="151"/>
                      <a:pt x="170" y="149"/>
                      <a:pt x="171" y="146"/>
                    </a:cubicBezTo>
                    <a:cubicBezTo>
                      <a:pt x="172" y="144"/>
                      <a:pt x="173" y="142"/>
                      <a:pt x="173" y="140"/>
                    </a:cubicBezTo>
                    <a:cubicBezTo>
                      <a:pt x="174" y="138"/>
                      <a:pt x="174" y="136"/>
                      <a:pt x="174" y="133"/>
                    </a:cubicBezTo>
                    <a:cubicBezTo>
                      <a:pt x="174" y="131"/>
                      <a:pt x="174" y="129"/>
                      <a:pt x="173" y="127"/>
                    </a:cubicBezTo>
                    <a:cubicBezTo>
                      <a:pt x="170" y="122"/>
                      <a:pt x="166" y="115"/>
                      <a:pt x="160" y="107"/>
                    </a:cubicBezTo>
                    <a:cubicBezTo>
                      <a:pt x="154" y="99"/>
                      <a:pt x="149" y="93"/>
                      <a:pt x="146" y="89"/>
                    </a:cubicBezTo>
                    <a:lnTo>
                      <a:pt x="149" y="85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3" name="íṧḻïďé"/>
              <p:cNvSpPr/>
              <p:nvPr/>
            </p:nvSpPr>
            <p:spPr bwMode="auto">
              <a:xfrm>
                <a:off x="3756026" y="3581401"/>
                <a:ext cx="144463" cy="115888"/>
              </a:xfrm>
              <a:custGeom>
                <a:avLst/>
                <a:gdLst>
                  <a:gd name="T0" fmla="*/ 182 w 184"/>
                  <a:gd name="T1" fmla="*/ 126 h 148"/>
                  <a:gd name="T2" fmla="*/ 170 w 184"/>
                  <a:gd name="T3" fmla="*/ 141 h 148"/>
                  <a:gd name="T4" fmla="*/ 148 w 184"/>
                  <a:gd name="T5" fmla="*/ 147 h 148"/>
                  <a:gd name="T6" fmla="*/ 117 w 184"/>
                  <a:gd name="T7" fmla="*/ 144 h 148"/>
                  <a:gd name="T8" fmla="*/ 79 w 184"/>
                  <a:gd name="T9" fmla="*/ 129 h 148"/>
                  <a:gd name="T10" fmla="*/ 43 w 184"/>
                  <a:gd name="T11" fmla="*/ 107 h 148"/>
                  <a:gd name="T12" fmla="*/ 17 w 184"/>
                  <a:gd name="T13" fmla="*/ 81 h 148"/>
                  <a:gd name="T14" fmla="*/ 3 w 184"/>
                  <a:gd name="T15" fmla="*/ 56 h 148"/>
                  <a:gd name="T16" fmla="*/ 2 w 184"/>
                  <a:gd name="T17" fmla="*/ 33 h 148"/>
                  <a:gd name="T18" fmla="*/ 9 w 184"/>
                  <a:gd name="T19" fmla="*/ 21 h 148"/>
                  <a:gd name="T20" fmla="*/ 21 w 184"/>
                  <a:gd name="T21" fmla="*/ 13 h 148"/>
                  <a:gd name="T22" fmla="*/ 14 w 184"/>
                  <a:gd name="T23" fmla="*/ 6 h 148"/>
                  <a:gd name="T24" fmla="*/ 16 w 184"/>
                  <a:gd name="T25" fmla="*/ 0 h 148"/>
                  <a:gd name="T26" fmla="*/ 77 w 184"/>
                  <a:gd name="T27" fmla="*/ 30 h 148"/>
                  <a:gd name="T28" fmla="*/ 76 w 184"/>
                  <a:gd name="T29" fmla="*/ 36 h 148"/>
                  <a:gd name="T30" fmla="*/ 55 w 184"/>
                  <a:gd name="T31" fmla="*/ 30 h 148"/>
                  <a:gd name="T32" fmla="*/ 36 w 184"/>
                  <a:gd name="T33" fmla="*/ 27 h 148"/>
                  <a:gd name="T34" fmla="*/ 20 w 184"/>
                  <a:gd name="T35" fmla="*/ 29 h 148"/>
                  <a:gd name="T36" fmla="*/ 12 w 184"/>
                  <a:gd name="T37" fmla="*/ 38 h 148"/>
                  <a:gd name="T38" fmla="*/ 14 w 184"/>
                  <a:gd name="T39" fmla="*/ 54 h 148"/>
                  <a:gd name="T40" fmla="*/ 26 w 184"/>
                  <a:gd name="T41" fmla="*/ 72 h 148"/>
                  <a:gd name="T42" fmla="*/ 49 w 184"/>
                  <a:gd name="T43" fmla="*/ 91 h 148"/>
                  <a:gd name="T44" fmla="*/ 83 w 184"/>
                  <a:gd name="T45" fmla="*/ 111 h 148"/>
                  <a:gd name="T46" fmla="*/ 114 w 184"/>
                  <a:gd name="T47" fmla="*/ 123 h 148"/>
                  <a:gd name="T48" fmla="*/ 140 w 184"/>
                  <a:gd name="T49" fmla="*/ 128 h 148"/>
                  <a:gd name="T50" fmla="*/ 159 w 184"/>
                  <a:gd name="T51" fmla="*/ 125 h 148"/>
                  <a:gd name="T52" fmla="*/ 169 w 184"/>
                  <a:gd name="T53" fmla="*/ 114 h 148"/>
                  <a:gd name="T54" fmla="*/ 170 w 184"/>
                  <a:gd name="T55" fmla="*/ 101 h 148"/>
                  <a:gd name="T56" fmla="*/ 164 w 184"/>
                  <a:gd name="T57" fmla="*/ 88 h 148"/>
                  <a:gd name="T58" fmla="*/ 154 w 184"/>
                  <a:gd name="T59" fmla="*/ 76 h 148"/>
                  <a:gd name="T60" fmla="*/ 140 w 184"/>
                  <a:gd name="T61" fmla="*/ 64 h 148"/>
                  <a:gd name="T62" fmla="*/ 146 w 184"/>
                  <a:gd name="T63" fmla="*/ 60 h 148"/>
                  <a:gd name="T64" fmla="*/ 178 w 184"/>
                  <a:gd name="T65" fmla="*/ 95 h 148"/>
                  <a:gd name="T66" fmla="*/ 182 w 184"/>
                  <a:gd name="T67" fmla="*/ 126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84" h="148">
                    <a:moveTo>
                      <a:pt x="182" y="126"/>
                    </a:moveTo>
                    <a:cubicBezTo>
                      <a:pt x="180" y="132"/>
                      <a:pt x="176" y="137"/>
                      <a:pt x="170" y="141"/>
                    </a:cubicBezTo>
                    <a:cubicBezTo>
                      <a:pt x="165" y="145"/>
                      <a:pt x="157" y="147"/>
                      <a:pt x="148" y="147"/>
                    </a:cubicBezTo>
                    <a:cubicBezTo>
                      <a:pt x="139" y="148"/>
                      <a:pt x="129" y="147"/>
                      <a:pt x="117" y="144"/>
                    </a:cubicBezTo>
                    <a:cubicBezTo>
                      <a:pt x="106" y="141"/>
                      <a:pt x="93" y="136"/>
                      <a:pt x="79" y="129"/>
                    </a:cubicBezTo>
                    <a:cubicBezTo>
                      <a:pt x="65" y="122"/>
                      <a:pt x="53" y="115"/>
                      <a:pt x="43" y="107"/>
                    </a:cubicBezTo>
                    <a:cubicBezTo>
                      <a:pt x="32" y="98"/>
                      <a:pt x="24" y="90"/>
                      <a:pt x="17" y="81"/>
                    </a:cubicBezTo>
                    <a:cubicBezTo>
                      <a:pt x="10" y="73"/>
                      <a:pt x="5" y="64"/>
                      <a:pt x="3" y="56"/>
                    </a:cubicBezTo>
                    <a:cubicBezTo>
                      <a:pt x="0" y="48"/>
                      <a:pt x="0" y="40"/>
                      <a:pt x="2" y="33"/>
                    </a:cubicBezTo>
                    <a:cubicBezTo>
                      <a:pt x="3" y="28"/>
                      <a:pt x="6" y="24"/>
                      <a:pt x="9" y="21"/>
                    </a:cubicBezTo>
                    <a:cubicBezTo>
                      <a:pt x="12" y="18"/>
                      <a:pt x="17" y="15"/>
                      <a:pt x="21" y="13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77" y="30"/>
                      <a:pt x="77" y="30"/>
                      <a:pt x="77" y="30"/>
                    </a:cubicBezTo>
                    <a:cubicBezTo>
                      <a:pt x="76" y="36"/>
                      <a:pt x="76" y="36"/>
                      <a:pt x="76" y="36"/>
                    </a:cubicBezTo>
                    <a:cubicBezTo>
                      <a:pt x="70" y="34"/>
                      <a:pt x="63" y="32"/>
                      <a:pt x="55" y="30"/>
                    </a:cubicBezTo>
                    <a:cubicBezTo>
                      <a:pt x="48" y="28"/>
                      <a:pt x="41" y="27"/>
                      <a:pt x="36" y="27"/>
                    </a:cubicBezTo>
                    <a:cubicBezTo>
                      <a:pt x="30" y="26"/>
                      <a:pt x="24" y="27"/>
                      <a:pt x="20" y="29"/>
                    </a:cubicBezTo>
                    <a:cubicBezTo>
                      <a:pt x="16" y="30"/>
                      <a:pt x="14" y="33"/>
                      <a:pt x="12" y="38"/>
                    </a:cubicBezTo>
                    <a:cubicBezTo>
                      <a:pt x="11" y="42"/>
                      <a:pt x="12" y="48"/>
                      <a:pt x="14" y="54"/>
                    </a:cubicBezTo>
                    <a:cubicBezTo>
                      <a:pt x="16" y="59"/>
                      <a:pt x="20" y="66"/>
                      <a:pt x="26" y="72"/>
                    </a:cubicBezTo>
                    <a:cubicBezTo>
                      <a:pt x="32" y="78"/>
                      <a:pt x="40" y="85"/>
                      <a:pt x="49" y="91"/>
                    </a:cubicBezTo>
                    <a:cubicBezTo>
                      <a:pt x="59" y="98"/>
                      <a:pt x="70" y="104"/>
                      <a:pt x="83" y="111"/>
                    </a:cubicBezTo>
                    <a:cubicBezTo>
                      <a:pt x="94" y="116"/>
                      <a:pt x="104" y="120"/>
                      <a:pt x="114" y="123"/>
                    </a:cubicBezTo>
                    <a:cubicBezTo>
                      <a:pt x="123" y="126"/>
                      <a:pt x="132" y="128"/>
                      <a:pt x="140" y="128"/>
                    </a:cubicBezTo>
                    <a:cubicBezTo>
                      <a:pt x="148" y="129"/>
                      <a:pt x="154" y="127"/>
                      <a:pt x="159" y="125"/>
                    </a:cubicBezTo>
                    <a:cubicBezTo>
                      <a:pt x="165" y="123"/>
                      <a:pt x="168" y="119"/>
                      <a:pt x="169" y="114"/>
                    </a:cubicBezTo>
                    <a:cubicBezTo>
                      <a:pt x="171" y="110"/>
                      <a:pt x="171" y="105"/>
                      <a:pt x="170" y="101"/>
                    </a:cubicBezTo>
                    <a:cubicBezTo>
                      <a:pt x="168" y="97"/>
                      <a:pt x="167" y="92"/>
                      <a:pt x="164" y="88"/>
                    </a:cubicBezTo>
                    <a:cubicBezTo>
                      <a:pt x="161" y="84"/>
                      <a:pt x="158" y="80"/>
                      <a:pt x="154" y="76"/>
                    </a:cubicBezTo>
                    <a:cubicBezTo>
                      <a:pt x="150" y="71"/>
                      <a:pt x="145" y="67"/>
                      <a:pt x="140" y="64"/>
                    </a:cubicBezTo>
                    <a:cubicBezTo>
                      <a:pt x="146" y="60"/>
                      <a:pt x="146" y="60"/>
                      <a:pt x="146" y="60"/>
                    </a:cubicBezTo>
                    <a:cubicBezTo>
                      <a:pt x="162" y="73"/>
                      <a:pt x="172" y="85"/>
                      <a:pt x="178" y="95"/>
                    </a:cubicBezTo>
                    <a:cubicBezTo>
                      <a:pt x="183" y="106"/>
                      <a:pt x="184" y="116"/>
                      <a:pt x="182" y="126"/>
                    </a:cubicBez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4" name="iSlídè"/>
              <p:cNvSpPr/>
              <p:nvPr/>
            </p:nvSpPr>
            <p:spPr bwMode="auto">
              <a:xfrm>
                <a:off x="3767138" y="3487738"/>
                <a:ext cx="155575" cy="131763"/>
              </a:xfrm>
              <a:custGeom>
                <a:avLst/>
                <a:gdLst>
                  <a:gd name="T0" fmla="*/ 199 w 199"/>
                  <a:gd name="T1" fmla="*/ 54 h 167"/>
                  <a:gd name="T2" fmla="*/ 191 w 199"/>
                  <a:gd name="T3" fmla="*/ 99 h 167"/>
                  <a:gd name="T4" fmla="*/ 182 w 199"/>
                  <a:gd name="T5" fmla="*/ 97 h 167"/>
                  <a:gd name="T6" fmla="*/ 183 w 199"/>
                  <a:gd name="T7" fmla="*/ 91 h 167"/>
                  <a:gd name="T8" fmla="*/ 182 w 199"/>
                  <a:gd name="T9" fmla="*/ 86 h 167"/>
                  <a:gd name="T10" fmla="*/ 178 w 199"/>
                  <a:gd name="T11" fmla="*/ 81 h 167"/>
                  <a:gd name="T12" fmla="*/ 170 w 199"/>
                  <a:gd name="T13" fmla="*/ 77 h 167"/>
                  <a:gd name="T14" fmla="*/ 106 w 199"/>
                  <a:gd name="T15" fmla="*/ 58 h 167"/>
                  <a:gd name="T16" fmla="*/ 97 w 199"/>
                  <a:gd name="T17" fmla="*/ 109 h 167"/>
                  <a:gd name="T18" fmla="*/ 160 w 199"/>
                  <a:gd name="T19" fmla="*/ 128 h 167"/>
                  <a:gd name="T20" fmla="*/ 167 w 199"/>
                  <a:gd name="T21" fmla="*/ 130 h 167"/>
                  <a:gd name="T22" fmla="*/ 173 w 199"/>
                  <a:gd name="T23" fmla="*/ 128 h 167"/>
                  <a:gd name="T24" fmla="*/ 176 w 199"/>
                  <a:gd name="T25" fmla="*/ 124 h 167"/>
                  <a:gd name="T26" fmla="*/ 178 w 199"/>
                  <a:gd name="T27" fmla="*/ 119 h 167"/>
                  <a:gd name="T28" fmla="*/ 187 w 199"/>
                  <a:gd name="T29" fmla="*/ 122 h 167"/>
                  <a:gd name="T30" fmla="*/ 180 w 199"/>
                  <a:gd name="T31" fmla="*/ 167 h 167"/>
                  <a:gd name="T32" fmla="*/ 171 w 199"/>
                  <a:gd name="T33" fmla="*/ 164 h 167"/>
                  <a:gd name="T34" fmla="*/ 171 w 199"/>
                  <a:gd name="T35" fmla="*/ 159 h 167"/>
                  <a:gd name="T36" fmla="*/ 170 w 199"/>
                  <a:gd name="T37" fmla="*/ 154 h 167"/>
                  <a:gd name="T38" fmla="*/ 166 w 199"/>
                  <a:gd name="T39" fmla="*/ 149 h 167"/>
                  <a:gd name="T40" fmla="*/ 158 w 199"/>
                  <a:gd name="T41" fmla="*/ 145 h 167"/>
                  <a:gd name="T42" fmla="*/ 28 w 199"/>
                  <a:gd name="T43" fmla="*/ 106 h 167"/>
                  <a:gd name="T44" fmla="*/ 21 w 199"/>
                  <a:gd name="T45" fmla="*/ 105 h 167"/>
                  <a:gd name="T46" fmla="*/ 15 w 199"/>
                  <a:gd name="T47" fmla="*/ 107 h 167"/>
                  <a:gd name="T48" fmla="*/ 11 w 199"/>
                  <a:gd name="T49" fmla="*/ 111 h 167"/>
                  <a:gd name="T50" fmla="*/ 9 w 199"/>
                  <a:gd name="T51" fmla="*/ 115 h 167"/>
                  <a:gd name="T52" fmla="*/ 0 w 199"/>
                  <a:gd name="T53" fmla="*/ 113 h 167"/>
                  <a:gd name="T54" fmla="*/ 7 w 199"/>
                  <a:gd name="T55" fmla="*/ 67 h 167"/>
                  <a:gd name="T56" fmla="*/ 16 w 199"/>
                  <a:gd name="T57" fmla="*/ 70 h 167"/>
                  <a:gd name="T58" fmla="*/ 17 w 199"/>
                  <a:gd name="T59" fmla="*/ 76 h 167"/>
                  <a:gd name="T60" fmla="*/ 18 w 199"/>
                  <a:gd name="T61" fmla="*/ 81 h 167"/>
                  <a:gd name="T62" fmla="*/ 22 w 199"/>
                  <a:gd name="T63" fmla="*/ 86 h 167"/>
                  <a:gd name="T64" fmla="*/ 30 w 199"/>
                  <a:gd name="T65" fmla="*/ 89 h 167"/>
                  <a:gd name="T66" fmla="*/ 86 w 199"/>
                  <a:gd name="T67" fmla="*/ 106 h 167"/>
                  <a:gd name="T68" fmla="*/ 95 w 199"/>
                  <a:gd name="T69" fmla="*/ 55 h 167"/>
                  <a:gd name="T70" fmla="*/ 40 w 199"/>
                  <a:gd name="T71" fmla="*/ 38 h 167"/>
                  <a:gd name="T72" fmla="*/ 32 w 199"/>
                  <a:gd name="T73" fmla="*/ 37 h 167"/>
                  <a:gd name="T74" fmla="*/ 27 w 199"/>
                  <a:gd name="T75" fmla="*/ 39 h 167"/>
                  <a:gd name="T76" fmla="*/ 23 w 199"/>
                  <a:gd name="T77" fmla="*/ 43 h 167"/>
                  <a:gd name="T78" fmla="*/ 20 w 199"/>
                  <a:gd name="T79" fmla="*/ 48 h 167"/>
                  <a:gd name="T80" fmla="*/ 11 w 199"/>
                  <a:gd name="T81" fmla="*/ 45 h 167"/>
                  <a:gd name="T82" fmla="*/ 19 w 199"/>
                  <a:gd name="T83" fmla="*/ 0 h 167"/>
                  <a:gd name="T84" fmla="*/ 28 w 199"/>
                  <a:gd name="T85" fmla="*/ 2 h 167"/>
                  <a:gd name="T86" fmla="*/ 29 w 199"/>
                  <a:gd name="T87" fmla="*/ 8 h 167"/>
                  <a:gd name="T88" fmla="*/ 30 w 199"/>
                  <a:gd name="T89" fmla="*/ 13 h 167"/>
                  <a:gd name="T90" fmla="*/ 34 w 199"/>
                  <a:gd name="T91" fmla="*/ 18 h 167"/>
                  <a:gd name="T92" fmla="*/ 42 w 199"/>
                  <a:gd name="T93" fmla="*/ 21 h 167"/>
                  <a:gd name="T94" fmla="*/ 171 w 199"/>
                  <a:gd name="T95" fmla="*/ 61 h 167"/>
                  <a:gd name="T96" fmla="*/ 179 w 199"/>
                  <a:gd name="T97" fmla="*/ 62 h 167"/>
                  <a:gd name="T98" fmla="*/ 185 w 199"/>
                  <a:gd name="T99" fmla="*/ 60 h 167"/>
                  <a:gd name="T100" fmla="*/ 188 w 199"/>
                  <a:gd name="T101" fmla="*/ 56 h 167"/>
                  <a:gd name="T102" fmla="*/ 190 w 199"/>
                  <a:gd name="T103" fmla="*/ 51 h 167"/>
                  <a:gd name="T104" fmla="*/ 199 w 199"/>
                  <a:gd name="T105" fmla="*/ 54 h 1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99" h="167">
                    <a:moveTo>
                      <a:pt x="199" y="54"/>
                    </a:moveTo>
                    <a:cubicBezTo>
                      <a:pt x="191" y="99"/>
                      <a:pt x="191" y="99"/>
                      <a:pt x="191" y="99"/>
                    </a:cubicBezTo>
                    <a:cubicBezTo>
                      <a:pt x="182" y="97"/>
                      <a:pt x="182" y="97"/>
                      <a:pt x="182" y="97"/>
                    </a:cubicBezTo>
                    <a:cubicBezTo>
                      <a:pt x="182" y="95"/>
                      <a:pt x="182" y="93"/>
                      <a:pt x="183" y="91"/>
                    </a:cubicBezTo>
                    <a:cubicBezTo>
                      <a:pt x="183" y="89"/>
                      <a:pt x="182" y="87"/>
                      <a:pt x="182" y="86"/>
                    </a:cubicBezTo>
                    <a:cubicBezTo>
                      <a:pt x="181" y="84"/>
                      <a:pt x="180" y="82"/>
                      <a:pt x="178" y="81"/>
                    </a:cubicBezTo>
                    <a:cubicBezTo>
                      <a:pt x="176" y="80"/>
                      <a:pt x="173" y="78"/>
                      <a:pt x="170" y="77"/>
                    </a:cubicBezTo>
                    <a:cubicBezTo>
                      <a:pt x="106" y="58"/>
                      <a:pt x="106" y="58"/>
                      <a:pt x="106" y="58"/>
                    </a:cubicBezTo>
                    <a:cubicBezTo>
                      <a:pt x="97" y="109"/>
                      <a:pt x="97" y="109"/>
                      <a:pt x="97" y="109"/>
                    </a:cubicBezTo>
                    <a:cubicBezTo>
                      <a:pt x="160" y="128"/>
                      <a:pt x="160" y="128"/>
                      <a:pt x="160" y="128"/>
                    </a:cubicBezTo>
                    <a:cubicBezTo>
                      <a:pt x="163" y="129"/>
                      <a:pt x="165" y="130"/>
                      <a:pt x="167" y="130"/>
                    </a:cubicBezTo>
                    <a:cubicBezTo>
                      <a:pt x="169" y="130"/>
                      <a:pt x="171" y="129"/>
                      <a:pt x="173" y="128"/>
                    </a:cubicBezTo>
                    <a:cubicBezTo>
                      <a:pt x="174" y="127"/>
                      <a:pt x="175" y="126"/>
                      <a:pt x="176" y="124"/>
                    </a:cubicBezTo>
                    <a:cubicBezTo>
                      <a:pt x="177" y="122"/>
                      <a:pt x="178" y="120"/>
                      <a:pt x="178" y="119"/>
                    </a:cubicBezTo>
                    <a:cubicBezTo>
                      <a:pt x="187" y="122"/>
                      <a:pt x="187" y="122"/>
                      <a:pt x="187" y="122"/>
                    </a:cubicBezTo>
                    <a:cubicBezTo>
                      <a:pt x="180" y="167"/>
                      <a:pt x="180" y="167"/>
                      <a:pt x="180" y="167"/>
                    </a:cubicBezTo>
                    <a:cubicBezTo>
                      <a:pt x="171" y="164"/>
                      <a:pt x="171" y="164"/>
                      <a:pt x="171" y="164"/>
                    </a:cubicBezTo>
                    <a:cubicBezTo>
                      <a:pt x="171" y="163"/>
                      <a:pt x="171" y="161"/>
                      <a:pt x="171" y="159"/>
                    </a:cubicBezTo>
                    <a:cubicBezTo>
                      <a:pt x="171" y="156"/>
                      <a:pt x="171" y="155"/>
                      <a:pt x="170" y="154"/>
                    </a:cubicBezTo>
                    <a:cubicBezTo>
                      <a:pt x="169" y="152"/>
                      <a:pt x="168" y="150"/>
                      <a:pt x="166" y="149"/>
                    </a:cubicBezTo>
                    <a:cubicBezTo>
                      <a:pt x="164" y="147"/>
                      <a:pt x="161" y="146"/>
                      <a:pt x="158" y="145"/>
                    </a:cubicBezTo>
                    <a:cubicBezTo>
                      <a:pt x="28" y="106"/>
                      <a:pt x="28" y="106"/>
                      <a:pt x="28" y="106"/>
                    </a:cubicBezTo>
                    <a:cubicBezTo>
                      <a:pt x="26" y="105"/>
                      <a:pt x="23" y="105"/>
                      <a:pt x="21" y="105"/>
                    </a:cubicBezTo>
                    <a:cubicBezTo>
                      <a:pt x="18" y="105"/>
                      <a:pt x="16" y="105"/>
                      <a:pt x="15" y="107"/>
                    </a:cubicBezTo>
                    <a:cubicBezTo>
                      <a:pt x="13" y="108"/>
                      <a:pt x="12" y="109"/>
                      <a:pt x="11" y="111"/>
                    </a:cubicBezTo>
                    <a:cubicBezTo>
                      <a:pt x="10" y="113"/>
                      <a:pt x="9" y="114"/>
                      <a:pt x="9" y="115"/>
                    </a:cubicBezTo>
                    <a:cubicBezTo>
                      <a:pt x="0" y="113"/>
                      <a:pt x="0" y="113"/>
                      <a:pt x="0" y="113"/>
                    </a:cubicBezTo>
                    <a:cubicBezTo>
                      <a:pt x="7" y="67"/>
                      <a:pt x="7" y="67"/>
                      <a:pt x="7" y="67"/>
                    </a:cubicBezTo>
                    <a:cubicBezTo>
                      <a:pt x="16" y="70"/>
                      <a:pt x="16" y="70"/>
                      <a:pt x="16" y="70"/>
                    </a:cubicBezTo>
                    <a:cubicBezTo>
                      <a:pt x="16" y="72"/>
                      <a:pt x="16" y="73"/>
                      <a:pt x="17" y="76"/>
                    </a:cubicBezTo>
                    <a:cubicBezTo>
                      <a:pt x="17" y="78"/>
                      <a:pt x="17" y="80"/>
                      <a:pt x="18" y="81"/>
                    </a:cubicBezTo>
                    <a:cubicBezTo>
                      <a:pt x="19" y="83"/>
                      <a:pt x="20" y="85"/>
                      <a:pt x="22" y="86"/>
                    </a:cubicBezTo>
                    <a:cubicBezTo>
                      <a:pt x="25" y="87"/>
                      <a:pt x="27" y="88"/>
                      <a:pt x="30" y="89"/>
                    </a:cubicBezTo>
                    <a:cubicBezTo>
                      <a:pt x="86" y="106"/>
                      <a:pt x="86" y="106"/>
                      <a:pt x="86" y="106"/>
                    </a:cubicBezTo>
                    <a:cubicBezTo>
                      <a:pt x="95" y="55"/>
                      <a:pt x="95" y="55"/>
                      <a:pt x="95" y="55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37" y="37"/>
                      <a:pt x="35" y="37"/>
                      <a:pt x="32" y="37"/>
                    </a:cubicBezTo>
                    <a:cubicBezTo>
                      <a:pt x="30" y="37"/>
                      <a:pt x="28" y="38"/>
                      <a:pt x="27" y="39"/>
                    </a:cubicBezTo>
                    <a:cubicBezTo>
                      <a:pt x="25" y="40"/>
                      <a:pt x="24" y="41"/>
                      <a:pt x="23" y="43"/>
                    </a:cubicBezTo>
                    <a:cubicBezTo>
                      <a:pt x="22" y="45"/>
                      <a:pt x="21" y="46"/>
                      <a:pt x="20" y="48"/>
                    </a:cubicBezTo>
                    <a:cubicBezTo>
                      <a:pt x="11" y="45"/>
                      <a:pt x="11" y="45"/>
                      <a:pt x="11" y="45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28" y="2"/>
                      <a:pt x="28" y="2"/>
                      <a:pt x="28" y="2"/>
                    </a:cubicBezTo>
                    <a:cubicBezTo>
                      <a:pt x="28" y="4"/>
                      <a:pt x="28" y="6"/>
                      <a:pt x="29" y="8"/>
                    </a:cubicBezTo>
                    <a:cubicBezTo>
                      <a:pt x="29" y="10"/>
                      <a:pt x="29" y="12"/>
                      <a:pt x="30" y="13"/>
                    </a:cubicBezTo>
                    <a:cubicBezTo>
                      <a:pt x="30" y="15"/>
                      <a:pt x="32" y="17"/>
                      <a:pt x="34" y="18"/>
                    </a:cubicBezTo>
                    <a:cubicBezTo>
                      <a:pt x="36" y="19"/>
                      <a:pt x="39" y="21"/>
                      <a:pt x="42" y="21"/>
                    </a:cubicBezTo>
                    <a:cubicBezTo>
                      <a:pt x="171" y="61"/>
                      <a:pt x="171" y="61"/>
                      <a:pt x="171" y="61"/>
                    </a:cubicBezTo>
                    <a:cubicBezTo>
                      <a:pt x="174" y="62"/>
                      <a:pt x="177" y="62"/>
                      <a:pt x="179" y="62"/>
                    </a:cubicBezTo>
                    <a:cubicBezTo>
                      <a:pt x="181" y="62"/>
                      <a:pt x="183" y="61"/>
                      <a:pt x="185" y="60"/>
                    </a:cubicBezTo>
                    <a:cubicBezTo>
                      <a:pt x="186" y="59"/>
                      <a:pt x="187" y="58"/>
                      <a:pt x="188" y="56"/>
                    </a:cubicBezTo>
                    <a:cubicBezTo>
                      <a:pt x="189" y="54"/>
                      <a:pt x="190" y="52"/>
                      <a:pt x="190" y="51"/>
                    </a:cubicBezTo>
                    <a:lnTo>
                      <a:pt x="199" y="54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5" name="îṣľíḋé"/>
              <p:cNvSpPr/>
              <p:nvPr/>
            </p:nvSpPr>
            <p:spPr bwMode="auto">
              <a:xfrm>
                <a:off x="3783013" y="3394076"/>
                <a:ext cx="147638" cy="96838"/>
              </a:xfrm>
              <a:custGeom>
                <a:avLst/>
                <a:gdLst>
                  <a:gd name="T0" fmla="*/ 11 w 188"/>
                  <a:gd name="T1" fmla="*/ 0 h 124"/>
                  <a:gd name="T2" fmla="*/ 13 w 188"/>
                  <a:gd name="T3" fmla="*/ 7 h 124"/>
                  <a:gd name="T4" fmla="*/ 17 w 188"/>
                  <a:gd name="T5" fmla="*/ 14 h 124"/>
                  <a:gd name="T6" fmla="*/ 29 w 188"/>
                  <a:gd name="T7" fmla="*/ 18 h 124"/>
                  <a:gd name="T8" fmla="*/ 53 w 188"/>
                  <a:gd name="T9" fmla="*/ 20 h 124"/>
                  <a:gd name="T10" fmla="*/ 188 w 188"/>
                  <a:gd name="T11" fmla="*/ 23 h 124"/>
                  <a:gd name="T12" fmla="*/ 188 w 188"/>
                  <a:gd name="T13" fmla="*/ 30 h 124"/>
                  <a:gd name="T14" fmla="*/ 36 w 188"/>
                  <a:gd name="T15" fmla="*/ 94 h 124"/>
                  <a:gd name="T16" fmla="*/ 131 w 188"/>
                  <a:gd name="T17" fmla="*/ 96 h 124"/>
                  <a:gd name="T18" fmla="*/ 156 w 188"/>
                  <a:gd name="T19" fmla="*/ 96 h 124"/>
                  <a:gd name="T20" fmla="*/ 168 w 188"/>
                  <a:gd name="T21" fmla="*/ 92 h 124"/>
                  <a:gd name="T22" fmla="*/ 173 w 188"/>
                  <a:gd name="T23" fmla="*/ 85 h 124"/>
                  <a:gd name="T24" fmla="*/ 176 w 188"/>
                  <a:gd name="T25" fmla="*/ 77 h 124"/>
                  <a:gd name="T26" fmla="*/ 185 w 188"/>
                  <a:gd name="T27" fmla="*/ 78 h 124"/>
                  <a:gd name="T28" fmla="*/ 185 w 188"/>
                  <a:gd name="T29" fmla="*/ 124 h 124"/>
                  <a:gd name="T30" fmla="*/ 176 w 188"/>
                  <a:gd name="T31" fmla="*/ 123 h 124"/>
                  <a:gd name="T32" fmla="*/ 173 w 188"/>
                  <a:gd name="T33" fmla="*/ 116 h 124"/>
                  <a:gd name="T34" fmla="*/ 169 w 188"/>
                  <a:gd name="T35" fmla="*/ 110 h 124"/>
                  <a:gd name="T36" fmla="*/ 158 w 188"/>
                  <a:gd name="T37" fmla="*/ 106 h 124"/>
                  <a:gd name="T38" fmla="*/ 132 w 188"/>
                  <a:gd name="T39" fmla="*/ 104 h 124"/>
                  <a:gd name="T40" fmla="*/ 42 w 188"/>
                  <a:gd name="T41" fmla="*/ 102 h 124"/>
                  <a:gd name="T42" fmla="*/ 29 w 188"/>
                  <a:gd name="T43" fmla="*/ 103 h 124"/>
                  <a:gd name="T44" fmla="*/ 20 w 188"/>
                  <a:gd name="T45" fmla="*/ 106 h 124"/>
                  <a:gd name="T46" fmla="*/ 13 w 188"/>
                  <a:gd name="T47" fmla="*/ 113 h 124"/>
                  <a:gd name="T48" fmla="*/ 9 w 188"/>
                  <a:gd name="T49" fmla="*/ 121 h 124"/>
                  <a:gd name="T50" fmla="*/ 0 w 188"/>
                  <a:gd name="T51" fmla="*/ 121 h 124"/>
                  <a:gd name="T52" fmla="*/ 1 w 188"/>
                  <a:gd name="T53" fmla="*/ 89 h 124"/>
                  <a:gd name="T54" fmla="*/ 142 w 188"/>
                  <a:gd name="T55" fmla="*/ 29 h 124"/>
                  <a:gd name="T56" fmla="*/ 54 w 188"/>
                  <a:gd name="T57" fmla="*/ 27 h 124"/>
                  <a:gd name="T58" fmla="*/ 30 w 188"/>
                  <a:gd name="T59" fmla="*/ 28 h 124"/>
                  <a:gd name="T60" fmla="*/ 18 w 188"/>
                  <a:gd name="T61" fmla="*/ 31 h 124"/>
                  <a:gd name="T62" fmla="*/ 13 w 188"/>
                  <a:gd name="T63" fmla="*/ 38 h 124"/>
                  <a:gd name="T64" fmla="*/ 10 w 188"/>
                  <a:gd name="T65" fmla="*/ 46 h 124"/>
                  <a:gd name="T66" fmla="*/ 1 w 188"/>
                  <a:gd name="T67" fmla="*/ 46 h 124"/>
                  <a:gd name="T68" fmla="*/ 2 w 188"/>
                  <a:gd name="T69" fmla="*/ 0 h 124"/>
                  <a:gd name="T70" fmla="*/ 11 w 188"/>
                  <a:gd name="T71" fmla="*/ 0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88" h="124">
                    <a:moveTo>
                      <a:pt x="11" y="0"/>
                    </a:moveTo>
                    <a:cubicBezTo>
                      <a:pt x="11" y="2"/>
                      <a:pt x="12" y="4"/>
                      <a:pt x="13" y="7"/>
                    </a:cubicBezTo>
                    <a:cubicBezTo>
                      <a:pt x="14" y="10"/>
                      <a:pt x="16" y="12"/>
                      <a:pt x="17" y="14"/>
                    </a:cubicBezTo>
                    <a:cubicBezTo>
                      <a:pt x="19" y="16"/>
                      <a:pt x="23" y="17"/>
                      <a:pt x="29" y="18"/>
                    </a:cubicBezTo>
                    <a:cubicBezTo>
                      <a:pt x="36" y="19"/>
                      <a:pt x="43" y="19"/>
                      <a:pt x="53" y="20"/>
                    </a:cubicBezTo>
                    <a:cubicBezTo>
                      <a:pt x="188" y="23"/>
                      <a:pt x="188" y="23"/>
                      <a:pt x="188" y="23"/>
                    </a:cubicBezTo>
                    <a:cubicBezTo>
                      <a:pt x="188" y="30"/>
                      <a:pt x="188" y="30"/>
                      <a:pt x="188" y="30"/>
                    </a:cubicBezTo>
                    <a:cubicBezTo>
                      <a:pt x="36" y="94"/>
                      <a:pt x="36" y="94"/>
                      <a:pt x="36" y="94"/>
                    </a:cubicBezTo>
                    <a:cubicBezTo>
                      <a:pt x="131" y="96"/>
                      <a:pt x="131" y="96"/>
                      <a:pt x="131" y="96"/>
                    </a:cubicBezTo>
                    <a:cubicBezTo>
                      <a:pt x="142" y="97"/>
                      <a:pt x="150" y="96"/>
                      <a:pt x="156" y="96"/>
                    </a:cubicBezTo>
                    <a:cubicBezTo>
                      <a:pt x="161" y="95"/>
                      <a:pt x="166" y="94"/>
                      <a:pt x="168" y="92"/>
                    </a:cubicBezTo>
                    <a:cubicBezTo>
                      <a:pt x="170" y="91"/>
                      <a:pt x="172" y="89"/>
                      <a:pt x="173" y="85"/>
                    </a:cubicBezTo>
                    <a:cubicBezTo>
                      <a:pt x="175" y="81"/>
                      <a:pt x="176" y="79"/>
                      <a:pt x="176" y="77"/>
                    </a:cubicBezTo>
                    <a:cubicBezTo>
                      <a:pt x="185" y="78"/>
                      <a:pt x="185" y="78"/>
                      <a:pt x="185" y="78"/>
                    </a:cubicBezTo>
                    <a:cubicBezTo>
                      <a:pt x="185" y="124"/>
                      <a:pt x="185" y="124"/>
                      <a:pt x="185" y="124"/>
                    </a:cubicBezTo>
                    <a:cubicBezTo>
                      <a:pt x="176" y="123"/>
                      <a:pt x="176" y="123"/>
                      <a:pt x="176" y="123"/>
                    </a:cubicBezTo>
                    <a:cubicBezTo>
                      <a:pt x="175" y="122"/>
                      <a:pt x="175" y="120"/>
                      <a:pt x="173" y="116"/>
                    </a:cubicBezTo>
                    <a:cubicBezTo>
                      <a:pt x="172" y="113"/>
                      <a:pt x="170" y="111"/>
                      <a:pt x="169" y="110"/>
                    </a:cubicBezTo>
                    <a:cubicBezTo>
                      <a:pt x="167" y="108"/>
                      <a:pt x="163" y="107"/>
                      <a:pt x="158" y="106"/>
                    </a:cubicBezTo>
                    <a:cubicBezTo>
                      <a:pt x="153" y="105"/>
                      <a:pt x="145" y="104"/>
                      <a:pt x="132" y="104"/>
                    </a:cubicBezTo>
                    <a:cubicBezTo>
                      <a:pt x="42" y="102"/>
                      <a:pt x="42" y="102"/>
                      <a:pt x="42" y="102"/>
                    </a:cubicBezTo>
                    <a:cubicBezTo>
                      <a:pt x="38" y="102"/>
                      <a:pt x="34" y="102"/>
                      <a:pt x="29" y="103"/>
                    </a:cubicBezTo>
                    <a:cubicBezTo>
                      <a:pt x="25" y="103"/>
                      <a:pt x="22" y="105"/>
                      <a:pt x="20" y="106"/>
                    </a:cubicBezTo>
                    <a:cubicBezTo>
                      <a:pt x="17" y="108"/>
                      <a:pt x="15" y="110"/>
                      <a:pt x="13" y="113"/>
                    </a:cubicBezTo>
                    <a:cubicBezTo>
                      <a:pt x="11" y="117"/>
                      <a:pt x="10" y="119"/>
                      <a:pt x="9" y="121"/>
                    </a:cubicBezTo>
                    <a:cubicBezTo>
                      <a:pt x="0" y="121"/>
                      <a:pt x="0" y="121"/>
                      <a:pt x="0" y="121"/>
                    </a:cubicBezTo>
                    <a:cubicBezTo>
                      <a:pt x="1" y="89"/>
                      <a:pt x="1" y="89"/>
                      <a:pt x="1" y="89"/>
                    </a:cubicBezTo>
                    <a:cubicBezTo>
                      <a:pt x="142" y="29"/>
                      <a:pt x="142" y="29"/>
                      <a:pt x="142" y="29"/>
                    </a:cubicBezTo>
                    <a:cubicBezTo>
                      <a:pt x="54" y="27"/>
                      <a:pt x="54" y="27"/>
                      <a:pt x="54" y="27"/>
                    </a:cubicBezTo>
                    <a:cubicBezTo>
                      <a:pt x="44" y="27"/>
                      <a:pt x="35" y="27"/>
                      <a:pt x="30" y="28"/>
                    </a:cubicBezTo>
                    <a:cubicBezTo>
                      <a:pt x="24" y="29"/>
                      <a:pt x="20" y="30"/>
                      <a:pt x="18" y="31"/>
                    </a:cubicBezTo>
                    <a:cubicBezTo>
                      <a:pt x="16" y="33"/>
                      <a:pt x="15" y="35"/>
                      <a:pt x="13" y="38"/>
                    </a:cubicBezTo>
                    <a:cubicBezTo>
                      <a:pt x="11" y="42"/>
                      <a:pt x="11" y="44"/>
                      <a:pt x="10" y="46"/>
                    </a:cubicBezTo>
                    <a:cubicBezTo>
                      <a:pt x="1" y="46"/>
                      <a:pt x="1" y="46"/>
                      <a:pt x="1" y="46"/>
                    </a:cubicBezTo>
                    <a:cubicBezTo>
                      <a:pt x="2" y="0"/>
                      <a:pt x="2" y="0"/>
                      <a:pt x="2" y="0"/>
                    </a:cubicBez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6" name="iṧľîḋè"/>
              <p:cNvSpPr/>
              <p:nvPr/>
            </p:nvSpPr>
            <p:spPr bwMode="auto">
              <a:xfrm>
                <a:off x="3779838" y="3303588"/>
                <a:ext cx="152400" cy="88900"/>
              </a:xfrm>
              <a:custGeom>
                <a:avLst/>
                <a:gdLst>
                  <a:gd name="T0" fmla="*/ 23 w 194"/>
                  <a:gd name="T1" fmla="*/ 30 h 113"/>
                  <a:gd name="T2" fmla="*/ 53 w 194"/>
                  <a:gd name="T3" fmla="*/ 13 h 113"/>
                  <a:gd name="T4" fmla="*/ 92 w 194"/>
                  <a:gd name="T5" fmla="*/ 3 h 113"/>
                  <a:gd name="T6" fmla="*/ 132 w 194"/>
                  <a:gd name="T7" fmla="*/ 1 h 113"/>
                  <a:gd name="T8" fmla="*/ 164 w 194"/>
                  <a:gd name="T9" fmla="*/ 8 h 113"/>
                  <a:gd name="T10" fmla="*/ 184 w 194"/>
                  <a:gd name="T11" fmla="*/ 22 h 113"/>
                  <a:gd name="T12" fmla="*/ 193 w 194"/>
                  <a:gd name="T13" fmla="*/ 42 h 113"/>
                  <a:gd name="T14" fmla="*/ 188 w 194"/>
                  <a:gd name="T15" fmla="*/ 64 h 113"/>
                  <a:gd name="T16" fmla="*/ 169 w 194"/>
                  <a:gd name="T17" fmla="*/ 84 h 113"/>
                  <a:gd name="T18" fmla="*/ 140 w 194"/>
                  <a:gd name="T19" fmla="*/ 100 h 113"/>
                  <a:gd name="T20" fmla="*/ 102 w 194"/>
                  <a:gd name="T21" fmla="*/ 110 h 113"/>
                  <a:gd name="T22" fmla="*/ 61 w 194"/>
                  <a:gd name="T23" fmla="*/ 112 h 113"/>
                  <a:gd name="T24" fmla="*/ 30 w 194"/>
                  <a:gd name="T25" fmla="*/ 105 h 113"/>
                  <a:gd name="T26" fmla="*/ 9 w 194"/>
                  <a:gd name="T27" fmla="*/ 91 h 113"/>
                  <a:gd name="T28" fmla="*/ 1 w 194"/>
                  <a:gd name="T29" fmla="*/ 72 h 113"/>
                  <a:gd name="T30" fmla="*/ 6 w 194"/>
                  <a:gd name="T31" fmla="*/ 50 h 113"/>
                  <a:gd name="T32" fmla="*/ 23 w 194"/>
                  <a:gd name="T33" fmla="*/ 30 h 113"/>
                  <a:gd name="T34" fmla="*/ 154 w 194"/>
                  <a:gd name="T35" fmla="*/ 21 h 113"/>
                  <a:gd name="T36" fmla="*/ 127 w 194"/>
                  <a:gd name="T37" fmla="*/ 19 h 113"/>
                  <a:gd name="T38" fmla="*/ 94 w 194"/>
                  <a:gd name="T39" fmla="*/ 22 h 113"/>
                  <a:gd name="T40" fmla="*/ 59 w 194"/>
                  <a:gd name="T41" fmla="*/ 30 h 113"/>
                  <a:gd name="T42" fmla="*/ 33 w 194"/>
                  <a:gd name="T43" fmla="*/ 40 h 113"/>
                  <a:gd name="T44" fmla="*/ 17 w 194"/>
                  <a:gd name="T45" fmla="*/ 54 h 113"/>
                  <a:gd name="T46" fmla="*/ 12 w 194"/>
                  <a:gd name="T47" fmla="*/ 70 h 113"/>
                  <a:gd name="T48" fmla="*/ 21 w 194"/>
                  <a:gd name="T49" fmla="*/ 85 h 113"/>
                  <a:gd name="T50" fmla="*/ 41 w 194"/>
                  <a:gd name="T51" fmla="*/ 92 h 113"/>
                  <a:gd name="T52" fmla="*/ 68 w 194"/>
                  <a:gd name="T53" fmla="*/ 94 h 113"/>
                  <a:gd name="T54" fmla="*/ 100 w 194"/>
                  <a:gd name="T55" fmla="*/ 91 h 113"/>
                  <a:gd name="T56" fmla="*/ 133 w 194"/>
                  <a:gd name="T57" fmla="*/ 84 h 113"/>
                  <a:gd name="T58" fmla="*/ 159 w 194"/>
                  <a:gd name="T59" fmla="*/ 73 h 113"/>
                  <a:gd name="T60" fmla="*/ 176 w 194"/>
                  <a:gd name="T61" fmla="*/ 60 h 113"/>
                  <a:gd name="T62" fmla="*/ 181 w 194"/>
                  <a:gd name="T63" fmla="*/ 44 h 113"/>
                  <a:gd name="T64" fmla="*/ 173 w 194"/>
                  <a:gd name="T65" fmla="*/ 29 h 113"/>
                  <a:gd name="T66" fmla="*/ 154 w 194"/>
                  <a:gd name="T67" fmla="*/ 21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94" h="113">
                    <a:moveTo>
                      <a:pt x="23" y="30"/>
                    </a:moveTo>
                    <a:cubicBezTo>
                      <a:pt x="31" y="23"/>
                      <a:pt x="41" y="18"/>
                      <a:pt x="53" y="13"/>
                    </a:cubicBezTo>
                    <a:cubicBezTo>
                      <a:pt x="65" y="9"/>
                      <a:pt x="78" y="5"/>
                      <a:pt x="92" y="3"/>
                    </a:cubicBezTo>
                    <a:cubicBezTo>
                      <a:pt x="107" y="1"/>
                      <a:pt x="120" y="0"/>
                      <a:pt x="132" y="1"/>
                    </a:cubicBezTo>
                    <a:cubicBezTo>
                      <a:pt x="144" y="2"/>
                      <a:pt x="155" y="5"/>
                      <a:pt x="164" y="8"/>
                    </a:cubicBezTo>
                    <a:cubicBezTo>
                      <a:pt x="172" y="12"/>
                      <a:pt x="179" y="17"/>
                      <a:pt x="184" y="22"/>
                    </a:cubicBezTo>
                    <a:cubicBezTo>
                      <a:pt x="189" y="28"/>
                      <a:pt x="192" y="34"/>
                      <a:pt x="193" y="42"/>
                    </a:cubicBezTo>
                    <a:cubicBezTo>
                      <a:pt x="194" y="50"/>
                      <a:pt x="192" y="57"/>
                      <a:pt x="188" y="64"/>
                    </a:cubicBezTo>
                    <a:cubicBezTo>
                      <a:pt x="183" y="72"/>
                      <a:pt x="177" y="78"/>
                      <a:pt x="169" y="84"/>
                    </a:cubicBezTo>
                    <a:cubicBezTo>
                      <a:pt x="161" y="90"/>
                      <a:pt x="151" y="96"/>
                      <a:pt x="140" y="100"/>
                    </a:cubicBezTo>
                    <a:cubicBezTo>
                      <a:pt x="128" y="105"/>
                      <a:pt x="115" y="108"/>
                      <a:pt x="102" y="110"/>
                    </a:cubicBezTo>
                    <a:cubicBezTo>
                      <a:pt x="87" y="112"/>
                      <a:pt x="73" y="113"/>
                      <a:pt x="61" y="112"/>
                    </a:cubicBezTo>
                    <a:cubicBezTo>
                      <a:pt x="49" y="111"/>
                      <a:pt x="39" y="109"/>
                      <a:pt x="30" y="105"/>
                    </a:cubicBezTo>
                    <a:cubicBezTo>
                      <a:pt x="21" y="101"/>
                      <a:pt x="14" y="97"/>
                      <a:pt x="9" y="91"/>
                    </a:cubicBezTo>
                    <a:cubicBezTo>
                      <a:pt x="4" y="85"/>
                      <a:pt x="1" y="79"/>
                      <a:pt x="1" y="72"/>
                    </a:cubicBezTo>
                    <a:cubicBezTo>
                      <a:pt x="0" y="64"/>
                      <a:pt x="2" y="57"/>
                      <a:pt x="6" y="50"/>
                    </a:cubicBezTo>
                    <a:cubicBezTo>
                      <a:pt x="10" y="42"/>
                      <a:pt x="15" y="36"/>
                      <a:pt x="23" y="30"/>
                    </a:cubicBezTo>
                    <a:close/>
                    <a:moveTo>
                      <a:pt x="154" y="21"/>
                    </a:moveTo>
                    <a:cubicBezTo>
                      <a:pt x="146" y="20"/>
                      <a:pt x="137" y="19"/>
                      <a:pt x="127" y="19"/>
                    </a:cubicBezTo>
                    <a:cubicBezTo>
                      <a:pt x="117" y="19"/>
                      <a:pt x="106" y="20"/>
                      <a:pt x="94" y="22"/>
                    </a:cubicBezTo>
                    <a:cubicBezTo>
                      <a:pt x="81" y="24"/>
                      <a:pt x="70" y="27"/>
                      <a:pt x="59" y="30"/>
                    </a:cubicBezTo>
                    <a:cubicBezTo>
                      <a:pt x="49" y="33"/>
                      <a:pt x="40" y="36"/>
                      <a:pt x="33" y="40"/>
                    </a:cubicBezTo>
                    <a:cubicBezTo>
                      <a:pt x="26" y="44"/>
                      <a:pt x="21" y="49"/>
                      <a:pt x="17" y="54"/>
                    </a:cubicBezTo>
                    <a:cubicBezTo>
                      <a:pt x="13" y="59"/>
                      <a:pt x="12" y="64"/>
                      <a:pt x="12" y="70"/>
                    </a:cubicBezTo>
                    <a:cubicBezTo>
                      <a:pt x="13" y="76"/>
                      <a:pt x="16" y="81"/>
                      <a:pt x="21" y="85"/>
                    </a:cubicBezTo>
                    <a:cubicBezTo>
                      <a:pt x="26" y="88"/>
                      <a:pt x="32" y="91"/>
                      <a:pt x="41" y="92"/>
                    </a:cubicBezTo>
                    <a:cubicBezTo>
                      <a:pt x="48" y="94"/>
                      <a:pt x="57" y="94"/>
                      <a:pt x="68" y="94"/>
                    </a:cubicBezTo>
                    <a:cubicBezTo>
                      <a:pt x="78" y="94"/>
                      <a:pt x="89" y="93"/>
                      <a:pt x="100" y="91"/>
                    </a:cubicBezTo>
                    <a:cubicBezTo>
                      <a:pt x="112" y="89"/>
                      <a:pt x="124" y="87"/>
                      <a:pt x="133" y="84"/>
                    </a:cubicBezTo>
                    <a:cubicBezTo>
                      <a:pt x="143" y="81"/>
                      <a:pt x="152" y="78"/>
                      <a:pt x="159" y="73"/>
                    </a:cubicBezTo>
                    <a:cubicBezTo>
                      <a:pt x="167" y="69"/>
                      <a:pt x="172" y="65"/>
                      <a:pt x="176" y="60"/>
                    </a:cubicBezTo>
                    <a:cubicBezTo>
                      <a:pt x="180" y="55"/>
                      <a:pt x="182" y="50"/>
                      <a:pt x="181" y="44"/>
                    </a:cubicBezTo>
                    <a:cubicBezTo>
                      <a:pt x="181" y="38"/>
                      <a:pt x="178" y="33"/>
                      <a:pt x="173" y="29"/>
                    </a:cubicBezTo>
                    <a:cubicBezTo>
                      <a:pt x="169" y="26"/>
                      <a:pt x="162" y="23"/>
                      <a:pt x="154" y="21"/>
                    </a:cubicBez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7" name="ïSļiḓe"/>
              <p:cNvSpPr/>
              <p:nvPr/>
            </p:nvSpPr>
            <p:spPr bwMode="auto">
              <a:xfrm>
                <a:off x="3770313" y="3214688"/>
                <a:ext cx="147638" cy="112713"/>
              </a:xfrm>
              <a:custGeom>
                <a:avLst/>
                <a:gdLst>
                  <a:gd name="T0" fmla="*/ 118 w 188"/>
                  <a:gd name="T1" fmla="*/ 15 h 143"/>
                  <a:gd name="T2" fmla="*/ 172 w 188"/>
                  <a:gd name="T3" fmla="*/ 0 h 143"/>
                  <a:gd name="T4" fmla="*/ 188 w 188"/>
                  <a:gd name="T5" fmla="*/ 86 h 143"/>
                  <a:gd name="T6" fmla="*/ 179 w 188"/>
                  <a:gd name="T7" fmla="*/ 88 h 143"/>
                  <a:gd name="T8" fmla="*/ 177 w 188"/>
                  <a:gd name="T9" fmla="*/ 83 h 143"/>
                  <a:gd name="T10" fmla="*/ 174 w 188"/>
                  <a:gd name="T11" fmla="*/ 79 h 143"/>
                  <a:gd name="T12" fmla="*/ 169 w 188"/>
                  <a:gd name="T13" fmla="*/ 77 h 143"/>
                  <a:gd name="T14" fmla="*/ 161 w 188"/>
                  <a:gd name="T15" fmla="*/ 79 h 143"/>
                  <a:gd name="T16" fmla="*/ 32 w 188"/>
                  <a:gd name="T17" fmla="*/ 120 h 143"/>
                  <a:gd name="T18" fmla="*/ 25 w 188"/>
                  <a:gd name="T19" fmla="*/ 123 h 143"/>
                  <a:gd name="T20" fmla="*/ 20 w 188"/>
                  <a:gd name="T21" fmla="*/ 128 h 143"/>
                  <a:gd name="T22" fmla="*/ 18 w 188"/>
                  <a:gd name="T23" fmla="*/ 134 h 143"/>
                  <a:gd name="T24" fmla="*/ 17 w 188"/>
                  <a:gd name="T25" fmla="*/ 140 h 143"/>
                  <a:gd name="T26" fmla="*/ 8 w 188"/>
                  <a:gd name="T27" fmla="*/ 143 h 143"/>
                  <a:gd name="T28" fmla="*/ 0 w 188"/>
                  <a:gd name="T29" fmla="*/ 97 h 143"/>
                  <a:gd name="T30" fmla="*/ 9 w 188"/>
                  <a:gd name="T31" fmla="*/ 94 h 143"/>
                  <a:gd name="T32" fmla="*/ 11 w 188"/>
                  <a:gd name="T33" fmla="*/ 99 h 143"/>
                  <a:gd name="T34" fmla="*/ 14 w 188"/>
                  <a:gd name="T35" fmla="*/ 104 h 143"/>
                  <a:gd name="T36" fmla="*/ 20 w 188"/>
                  <a:gd name="T37" fmla="*/ 106 h 143"/>
                  <a:gd name="T38" fmla="*/ 28 w 188"/>
                  <a:gd name="T39" fmla="*/ 104 h 143"/>
                  <a:gd name="T40" fmla="*/ 149 w 188"/>
                  <a:gd name="T41" fmla="*/ 65 h 143"/>
                  <a:gd name="T42" fmla="*/ 161 w 188"/>
                  <a:gd name="T43" fmla="*/ 61 h 143"/>
                  <a:gd name="T44" fmla="*/ 168 w 188"/>
                  <a:gd name="T45" fmla="*/ 56 h 143"/>
                  <a:gd name="T46" fmla="*/ 170 w 188"/>
                  <a:gd name="T47" fmla="*/ 50 h 143"/>
                  <a:gd name="T48" fmla="*/ 169 w 188"/>
                  <a:gd name="T49" fmla="*/ 40 h 143"/>
                  <a:gd name="T50" fmla="*/ 168 w 188"/>
                  <a:gd name="T51" fmla="*/ 34 h 143"/>
                  <a:gd name="T52" fmla="*/ 166 w 188"/>
                  <a:gd name="T53" fmla="*/ 29 h 143"/>
                  <a:gd name="T54" fmla="*/ 163 w 188"/>
                  <a:gd name="T55" fmla="*/ 24 h 143"/>
                  <a:gd name="T56" fmla="*/ 159 w 188"/>
                  <a:gd name="T57" fmla="*/ 22 h 143"/>
                  <a:gd name="T58" fmla="*/ 140 w 188"/>
                  <a:gd name="T59" fmla="*/ 20 h 143"/>
                  <a:gd name="T60" fmla="*/ 119 w 188"/>
                  <a:gd name="T61" fmla="*/ 21 h 143"/>
                  <a:gd name="T62" fmla="*/ 118 w 188"/>
                  <a:gd name="T63" fmla="*/ 15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88" h="143">
                    <a:moveTo>
                      <a:pt x="118" y="15"/>
                    </a:moveTo>
                    <a:cubicBezTo>
                      <a:pt x="172" y="0"/>
                      <a:pt x="172" y="0"/>
                      <a:pt x="172" y="0"/>
                    </a:cubicBezTo>
                    <a:cubicBezTo>
                      <a:pt x="188" y="86"/>
                      <a:pt x="188" y="86"/>
                      <a:pt x="188" y="86"/>
                    </a:cubicBezTo>
                    <a:cubicBezTo>
                      <a:pt x="179" y="88"/>
                      <a:pt x="179" y="88"/>
                      <a:pt x="179" y="88"/>
                    </a:cubicBezTo>
                    <a:cubicBezTo>
                      <a:pt x="179" y="87"/>
                      <a:pt x="178" y="86"/>
                      <a:pt x="177" y="83"/>
                    </a:cubicBezTo>
                    <a:cubicBezTo>
                      <a:pt x="176" y="81"/>
                      <a:pt x="175" y="80"/>
                      <a:pt x="174" y="79"/>
                    </a:cubicBezTo>
                    <a:cubicBezTo>
                      <a:pt x="173" y="78"/>
                      <a:pt x="171" y="77"/>
                      <a:pt x="169" y="77"/>
                    </a:cubicBezTo>
                    <a:cubicBezTo>
                      <a:pt x="167" y="77"/>
                      <a:pt x="164" y="78"/>
                      <a:pt x="161" y="79"/>
                    </a:cubicBezTo>
                    <a:cubicBezTo>
                      <a:pt x="32" y="120"/>
                      <a:pt x="32" y="120"/>
                      <a:pt x="32" y="120"/>
                    </a:cubicBezTo>
                    <a:cubicBezTo>
                      <a:pt x="29" y="121"/>
                      <a:pt x="27" y="122"/>
                      <a:pt x="25" y="123"/>
                    </a:cubicBezTo>
                    <a:cubicBezTo>
                      <a:pt x="23" y="125"/>
                      <a:pt x="21" y="126"/>
                      <a:pt x="20" y="128"/>
                    </a:cubicBezTo>
                    <a:cubicBezTo>
                      <a:pt x="19" y="130"/>
                      <a:pt x="19" y="132"/>
                      <a:pt x="18" y="134"/>
                    </a:cubicBezTo>
                    <a:cubicBezTo>
                      <a:pt x="18" y="137"/>
                      <a:pt x="17" y="139"/>
                      <a:pt x="17" y="140"/>
                    </a:cubicBezTo>
                    <a:cubicBezTo>
                      <a:pt x="8" y="143"/>
                      <a:pt x="8" y="143"/>
                      <a:pt x="8" y="143"/>
                    </a:cubicBezTo>
                    <a:cubicBezTo>
                      <a:pt x="0" y="97"/>
                      <a:pt x="0" y="97"/>
                      <a:pt x="0" y="97"/>
                    </a:cubicBezTo>
                    <a:cubicBezTo>
                      <a:pt x="9" y="94"/>
                      <a:pt x="9" y="94"/>
                      <a:pt x="9" y="94"/>
                    </a:cubicBezTo>
                    <a:cubicBezTo>
                      <a:pt x="9" y="96"/>
                      <a:pt x="10" y="97"/>
                      <a:pt x="11" y="99"/>
                    </a:cubicBezTo>
                    <a:cubicBezTo>
                      <a:pt x="12" y="101"/>
                      <a:pt x="13" y="103"/>
                      <a:pt x="14" y="104"/>
                    </a:cubicBezTo>
                    <a:cubicBezTo>
                      <a:pt x="15" y="105"/>
                      <a:pt x="17" y="106"/>
                      <a:pt x="20" y="106"/>
                    </a:cubicBezTo>
                    <a:cubicBezTo>
                      <a:pt x="23" y="105"/>
                      <a:pt x="25" y="105"/>
                      <a:pt x="28" y="104"/>
                    </a:cubicBezTo>
                    <a:cubicBezTo>
                      <a:pt x="149" y="65"/>
                      <a:pt x="149" y="65"/>
                      <a:pt x="149" y="65"/>
                    </a:cubicBezTo>
                    <a:cubicBezTo>
                      <a:pt x="154" y="64"/>
                      <a:pt x="158" y="62"/>
                      <a:pt x="161" y="61"/>
                    </a:cubicBezTo>
                    <a:cubicBezTo>
                      <a:pt x="164" y="59"/>
                      <a:pt x="167" y="58"/>
                      <a:pt x="168" y="56"/>
                    </a:cubicBezTo>
                    <a:cubicBezTo>
                      <a:pt x="169" y="54"/>
                      <a:pt x="170" y="52"/>
                      <a:pt x="170" y="50"/>
                    </a:cubicBezTo>
                    <a:cubicBezTo>
                      <a:pt x="170" y="47"/>
                      <a:pt x="170" y="44"/>
                      <a:pt x="169" y="40"/>
                    </a:cubicBezTo>
                    <a:cubicBezTo>
                      <a:pt x="169" y="38"/>
                      <a:pt x="168" y="36"/>
                      <a:pt x="168" y="34"/>
                    </a:cubicBezTo>
                    <a:cubicBezTo>
                      <a:pt x="167" y="32"/>
                      <a:pt x="166" y="30"/>
                      <a:pt x="166" y="29"/>
                    </a:cubicBezTo>
                    <a:cubicBezTo>
                      <a:pt x="165" y="27"/>
                      <a:pt x="164" y="25"/>
                      <a:pt x="163" y="24"/>
                    </a:cubicBezTo>
                    <a:cubicBezTo>
                      <a:pt x="161" y="23"/>
                      <a:pt x="160" y="22"/>
                      <a:pt x="159" y="22"/>
                    </a:cubicBezTo>
                    <a:cubicBezTo>
                      <a:pt x="154" y="21"/>
                      <a:pt x="148" y="21"/>
                      <a:pt x="140" y="20"/>
                    </a:cubicBezTo>
                    <a:cubicBezTo>
                      <a:pt x="131" y="20"/>
                      <a:pt x="124" y="20"/>
                      <a:pt x="119" y="21"/>
                    </a:cubicBezTo>
                    <a:lnTo>
                      <a:pt x="118" y="15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8" name="ïṥḻíḑè"/>
              <p:cNvSpPr/>
              <p:nvPr/>
            </p:nvSpPr>
            <p:spPr bwMode="auto">
              <a:xfrm>
                <a:off x="3744913" y="3141663"/>
                <a:ext cx="144463" cy="112713"/>
              </a:xfrm>
              <a:custGeom>
                <a:avLst/>
                <a:gdLst>
                  <a:gd name="T0" fmla="*/ 15 w 183"/>
                  <a:gd name="T1" fmla="*/ 72 h 142"/>
                  <a:gd name="T2" fmla="*/ 40 w 183"/>
                  <a:gd name="T3" fmla="*/ 46 h 142"/>
                  <a:gd name="T4" fmla="*/ 76 w 183"/>
                  <a:gd name="T5" fmla="*/ 21 h 142"/>
                  <a:gd name="T6" fmla="*/ 114 w 183"/>
                  <a:gd name="T7" fmla="*/ 5 h 142"/>
                  <a:gd name="T8" fmla="*/ 146 w 183"/>
                  <a:gd name="T9" fmla="*/ 0 h 142"/>
                  <a:gd name="T10" fmla="*/ 169 w 183"/>
                  <a:gd name="T11" fmla="*/ 6 h 142"/>
                  <a:gd name="T12" fmla="*/ 181 w 183"/>
                  <a:gd name="T13" fmla="*/ 22 h 142"/>
                  <a:gd name="T14" fmla="*/ 181 w 183"/>
                  <a:gd name="T15" fmla="*/ 46 h 142"/>
                  <a:gd name="T16" fmla="*/ 167 w 183"/>
                  <a:gd name="T17" fmla="*/ 72 h 142"/>
                  <a:gd name="T18" fmla="*/ 142 w 183"/>
                  <a:gd name="T19" fmla="*/ 98 h 142"/>
                  <a:gd name="T20" fmla="*/ 108 w 183"/>
                  <a:gd name="T21" fmla="*/ 121 h 142"/>
                  <a:gd name="T22" fmla="*/ 69 w 183"/>
                  <a:gd name="T23" fmla="*/ 137 h 142"/>
                  <a:gd name="T24" fmla="*/ 38 w 183"/>
                  <a:gd name="T25" fmla="*/ 142 h 142"/>
                  <a:gd name="T26" fmla="*/ 15 w 183"/>
                  <a:gd name="T27" fmla="*/ 136 h 142"/>
                  <a:gd name="T28" fmla="*/ 2 w 183"/>
                  <a:gd name="T29" fmla="*/ 120 h 142"/>
                  <a:gd name="T30" fmla="*/ 3 w 183"/>
                  <a:gd name="T31" fmla="*/ 98 h 142"/>
                  <a:gd name="T32" fmla="*/ 15 w 183"/>
                  <a:gd name="T33" fmla="*/ 72 h 142"/>
                  <a:gd name="T34" fmla="*/ 140 w 183"/>
                  <a:gd name="T35" fmla="*/ 16 h 142"/>
                  <a:gd name="T36" fmla="*/ 113 w 183"/>
                  <a:gd name="T37" fmla="*/ 24 h 142"/>
                  <a:gd name="T38" fmla="*/ 82 w 183"/>
                  <a:gd name="T39" fmla="*/ 39 h 142"/>
                  <a:gd name="T40" fmla="*/ 50 w 183"/>
                  <a:gd name="T41" fmla="*/ 59 h 142"/>
                  <a:gd name="T42" fmla="*/ 27 w 183"/>
                  <a:gd name="T43" fmla="*/ 79 h 142"/>
                  <a:gd name="T44" fmla="*/ 14 w 183"/>
                  <a:gd name="T45" fmla="*/ 98 h 142"/>
                  <a:gd name="T46" fmla="*/ 13 w 183"/>
                  <a:gd name="T47" fmla="*/ 115 h 142"/>
                  <a:gd name="T48" fmla="*/ 24 w 183"/>
                  <a:gd name="T49" fmla="*/ 126 h 142"/>
                  <a:gd name="T50" fmla="*/ 45 w 183"/>
                  <a:gd name="T51" fmla="*/ 126 h 142"/>
                  <a:gd name="T52" fmla="*/ 72 w 183"/>
                  <a:gd name="T53" fmla="*/ 118 h 142"/>
                  <a:gd name="T54" fmla="*/ 102 w 183"/>
                  <a:gd name="T55" fmla="*/ 103 h 142"/>
                  <a:gd name="T56" fmla="*/ 133 w 183"/>
                  <a:gd name="T57" fmla="*/ 84 h 142"/>
                  <a:gd name="T58" fmla="*/ 155 w 183"/>
                  <a:gd name="T59" fmla="*/ 65 h 142"/>
                  <a:gd name="T60" fmla="*/ 169 w 183"/>
                  <a:gd name="T61" fmla="*/ 46 h 142"/>
                  <a:gd name="T62" fmla="*/ 170 w 183"/>
                  <a:gd name="T63" fmla="*/ 28 h 142"/>
                  <a:gd name="T64" fmla="*/ 160 w 183"/>
                  <a:gd name="T65" fmla="*/ 17 h 142"/>
                  <a:gd name="T66" fmla="*/ 140 w 183"/>
                  <a:gd name="T67" fmla="*/ 16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83" h="142">
                    <a:moveTo>
                      <a:pt x="15" y="72"/>
                    </a:moveTo>
                    <a:cubicBezTo>
                      <a:pt x="22" y="63"/>
                      <a:pt x="30" y="54"/>
                      <a:pt x="40" y="46"/>
                    </a:cubicBezTo>
                    <a:cubicBezTo>
                      <a:pt x="51" y="37"/>
                      <a:pt x="63" y="29"/>
                      <a:pt x="76" y="21"/>
                    </a:cubicBezTo>
                    <a:cubicBezTo>
                      <a:pt x="90" y="14"/>
                      <a:pt x="102" y="9"/>
                      <a:pt x="114" y="5"/>
                    </a:cubicBezTo>
                    <a:cubicBezTo>
                      <a:pt x="126" y="2"/>
                      <a:pt x="137" y="0"/>
                      <a:pt x="146" y="0"/>
                    </a:cubicBezTo>
                    <a:cubicBezTo>
                      <a:pt x="155" y="1"/>
                      <a:pt x="163" y="3"/>
                      <a:pt x="169" y="6"/>
                    </a:cubicBezTo>
                    <a:cubicBezTo>
                      <a:pt x="175" y="10"/>
                      <a:pt x="179" y="15"/>
                      <a:pt x="181" y="22"/>
                    </a:cubicBezTo>
                    <a:cubicBezTo>
                      <a:pt x="183" y="29"/>
                      <a:pt x="183" y="37"/>
                      <a:pt x="181" y="46"/>
                    </a:cubicBezTo>
                    <a:cubicBezTo>
                      <a:pt x="178" y="54"/>
                      <a:pt x="174" y="63"/>
                      <a:pt x="167" y="72"/>
                    </a:cubicBezTo>
                    <a:cubicBezTo>
                      <a:pt x="161" y="80"/>
                      <a:pt x="152" y="89"/>
                      <a:pt x="142" y="98"/>
                    </a:cubicBezTo>
                    <a:cubicBezTo>
                      <a:pt x="132" y="106"/>
                      <a:pt x="120" y="114"/>
                      <a:pt x="108" y="121"/>
                    </a:cubicBezTo>
                    <a:cubicBezTo>
                      <a:pt x="94" y="129"/>
                      <a:pt x="81" y="134"/>
                      <a:pt x="69" y="137"/>
                    </a:cubicBezTo>
                    <a:cubicBezTo>
                      <a:pt x="58" y="141"/>
                      <a:pt x="47" y="142"/>
                      <a:pt x="38" y="142"/>
                    </a:cubicBezTo>
                    <a:cubicBezTo>
                      <a:pt x="28" y="142"/>
                      <a:pt x="21" y="140"/>
                      <a:pt x="15" y="136"/>
                    </a:cubicBezTo>
                    <a:cubicBezTo>
                      <a:pt x="9" y="132"/>
                      <a:pt x="4" y="127"/>
                      <a:pt x="2" y="120"/>
                    </a:cubicBezTo>
                    <a:cubicBezTo>
                      <a:pt x="0" y="114"/>
                      <a:pt x="0" y="106"/>
                      <a:pt x="3" y="98"/>
                    </a:cubicBezTo>
                    <a:cubicBezTo>
                      <a:pt x="5" y="89"/>
                      <a:pt x="9" y="81"/>
                      <a:pt x="15" y="72"/>
                    </a:cubicBezTo>
                    <a:close/>
                    <a:moveTo>
                      <a:pt x="140" y="16"/>
                    </a:moveTo>
                    <a:cubicBezTo>
                      <a:pt x="132" y="18"/>
                      <a:pt x="123" y="20"/>
                      <a:pt x="113" y="24"/>
                    </a:cubicBezTo>
                    <a:cubicBezTo>
                      <a:pt x="103" y="28"/>
                      <a:pt x="93" y="33"/>
                      <a:pt x="82" y="39"/>
                    </a:cubicBezTo>
                    <a:cubicBezTo>
                      <a:pt x="70" y="46"/>
                      <a:pt x="59" y="52"/>
                      <a:pt x="50" y="59"/>
                    </a:cubicBezTo>
                    <a:cubicBezTo>
                      <a:pt x="41" y="66"/>
                      <a:pt x="33" y="72"/>
                      <a:pt x="27" y="79"/>
                    </a:cubicBezTo>
                    <a:cubicBezTo>
                      <a:pt x="21" y="85"/>
                      <a:pt x="17" y="91"/>
                      <a:pt x="14" y="98"/>
                    </a:cubicBezTo>
                    <a:cubicBezTo>
                      <a:pt x="12" y="104"/>
                      <a:pt x="11" y="109"/>
                      <a:pt x="13" y="115"/>
                    </a:cubicBezTo>
                    <a:cubicBezTo>
                      <a:pt x="15" y="120"/>
                      <a:pt x="19" y="124"/>
                      <a:pt x="24" y="126"/>
                    </a:cubicBezTo>
                    <a:cubicBezTo>
                      <a:pt x="30" y="127"/>
                      <a:pt x="37" y="128"/>
                      <a:pt x="45" y="126"/>
                    </a:cubicBezTo>
                    <a:cubicBezTo>
                      <a:pt x="53" y="125"/>
                      <a:pt x="62" y="122"/>
                      <a:pt x="72" y="118"/>
                    </a:cubicBezTo>
                    <a:cubicBezTo>
                      <a:pt x="82" y="114"/>
                      <a:pt x="92" y="109"/>
                      <a:pt x="102" y="103"/>
                    </a:cubicBezTo>
                    <a:cubicBezTo>
                      <a:pt x="114" y="97"/>
                      <a:pt x="124" y="91"/>
                      <a:pt x="133" y="84"/>
                    </a:cubicBezTo>
                    <a:cubicBezTo>
                      <a:pt x="142" y="78"/>
                      <a:pt x="149" y="71"/>
                      <a:pt x="155" y="65"/>
                    </a:cubicBezTo>
                    <a:cubicBezTo>
                      <a:pt x="162" y="58"/>
                      <a:pt x="166" y="52"/>
                      <a:pt x="169" y="46"/>
                    </a:cubicBezTo>
                    <a:cubicBezTo>
                      <a:pt x="172" y="39"/>
                      <a:pt x="172" y="34"/>
                      <a:pt x="170" y="28"/>
                    </a:cubicBezTo>
                    <a:cubicBezTo>
                      <a:pt x="169" y="23"/>
                      <a:pt x="165" y="19"/>
                      <a:pt x="160" y="17"/>
                    </a:cubicBezTo>
                    <a:cubicBezTo>
                      <a:pt x="154" y="15"/>
                      <a:pt x="148" y="15"/>
                      <a:pt x="140" y="16"/>
                    </a:cubicBez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9" name="ïṩľiḓê"/>
              <p:cNvSpPr/>
              <p:nvPr/>
            </p:nvSpPr>
            <p:spPr bwMode="auto">
              <a:xfrm>
                <a:off x="3713163" y="3041651"/>
                <a:ext cx="139700" cy="138113"/>
              </a:xfrm>
              <a:custGeom>
                <a:avLst/>
                <a:gdLst>
                  <a:gd name="T0" fmla="*/ 87 w 179"/>
                  <a:gd name="T1" fmla="*/ 32 h 175"/>
                  <a:gd name="T2" fmla="*/ 90 w 179"/>
                  <a:gd name="T3" fmla="*/ 35 h 175"/>
                  <a:gd name="T4" fmla="*/ 94 w 179"/>
                  <a:gd name="T5" fmla="*/ 38 h 175"/>
                  <a:gd name="T6" fmla="*/ 100 w 179"/>
                  <a:gd name="T7" fmla="*/ 37 h 175"/>
                  <a:gd name="T8" fmla="*/ 107 w 179"/>
                  <a:gd name="T9" fmla="*/ 32 h 175"/>
                  <a:gd name="T10" fmla="*/ 119 w 179"/>
                  <a:gd name="T11" fmla="*/ 22 h 175"/>
                  <a:gd name="T12" fmla="*/ 137 w 179"/>
                  <a:gd name="T13" fmla="*/ 6 h 175"/>
                  <a:gd name="T14" fmla="*/ 145 w 179"/>
                  <a:gd name="T15" fmla="*/ 0 h 175"/>
                  <a:gd name="T16" fmla="*/ 163 w 179"/>
                  <a:gd name="T17" fmla="*/ 9 h 175"/>
                  <a:gd name="T18" fmla="*/ 175 w 179"/>
                  <a:gd name="T19" fmla="*/ 23 h 175"/>
                  <a:gd name="T20" fmla="*/ 178 w 179"/>
                  <a:gd name="T21" fmla="*/ 45 h 175"/>
                  <a:gd name="T22" fmla="*/ 169 w 179"/>
                  <a:gd name="T23" fmla="*/ 73 h 175"/>
                  <a:gd name="T24" fmla="*/ 149 w 179"/>
                  <a:gd name="T25" fmla="*/ 105 h 175"/>
                  <a:gd name="T26" fmla="*/ 118 w 179"/>
                  <a:gd name="T27" fmla="*/ 137 h 175"/>
                  <a:gd name="T28" fmla="*/ 83 w 179"/>
                  <a:gd name="T29" fmla="*/ 161 h 175"/>
                  <a:gd name="T30" fmla="*/ 52 w 179"/>
                  <a:gd name="T31" fmla="*/ 173 h 175"/>
                  <a:gd name="T32" fmla="*/ 27 w 179"/>
                  <a:gd name="T33" fmla="*/ 173 h 175"/>
                  <a:gd name="T34" fmla="*/ 12 w 179"/>
                  <a:gd name="T35" fmla="*/ 159 h 175"/>
                  <a:gd name="T36" fmla="*/ 9 w 179"/>
                  <a:gd name="T37" fmla="*/ 143 h 175"/>
                  <a:gd name="T38" fmla="*/ 11 w 179"/>
                  <a:gd name="T39" fmla="*/ 126 h 175"/>
                  <a:gd name="T40" fmla="*/ 2 w 179"/>
                  <a:gd name="T41" fmla="*/ 129 h 175"/>
                  <a:gd name="T42" fmla="*/ 0 w 179"/>
                  <a:gd name="T43" fmla="*/ 124 h 175"/>
                  <a:gd name="T44" fmla="*/ 54 w 179"/>
                  <a:gd name="T45" fmla="*/ 77 h 175"/>
                  <a:gd name="T46" fmla="*/ 56 w 179"/>
                  <a:gd name="T47" fmla="*/ 83 h 175"/>
                  <a:gd name="T48" fmla="*/ 40 w 179"/>
                  <a:gd name="T49" fmla="*/ 101 h 175"/>
                  <a:gd name="T50" fmla="*/ 27 w 179"/>
                  <a:gd name="T51" fmla="*/ 120 h 175"/>
                  <a:gd name="T52" fmla="*/ 20 w 179"/>
                  <a:gd name="T53" fmla="*/ 137 h 175"/>
                  <a:gd name="T54" fmla="*/ 22 w 179"/>
                  <a:gd name="T55" fmla="*/ 152 h 175"/>
                  <a:gd name="T56" fmla="*/ 33 w 179"/>
                  <a:gd name="T57" fmla="*/ 160 h 175"/>
                  <a:gd name="T58" fmla="*/ 52 w 179"/>
                  <a:gd name="T59" fmla="*/ 158 h 175"/>
                  <a:gd name="T60" fmla="*/ 77 w 179"/>
                  <a:gd name="T61" fmla="*/ 145 h 175"/>
                  <a:gd name="T62" fmla="*/ 109 w 179"/>
                  <a:gd name="T63" fmla="*/ 122 h 175"/>
                  <a:gd name="T64" fmla="*/ 135 w 179"/>
                  <a:gd name="T65" fmla="*/ 96 h 175"/>
                  <a:gd name="T66" fmla="*/ 155 w 179"/>
                  <a:gd name="T67" fmla="*/ 70 h 175"/>
                  <a:gd name="T68" fmla="*/ 165 w 179"/>
                  <a:gd name="T69" fmla="*/ 47 h 175"/>
                  <a:gd name="T70" fmla="*/ 164 w 179"/>
                  <a:gd name="T71" fmla="*/ 28 h 175"/>
                  <a:gd name="T72" fmla="*/ 156 w 179"/>
                  <a:gd name="T73" fmla="*/ 20 h 175"/>
                  <a:gd name="T74" fmla="*/ 146 w 179"/>
                  <a:gd name="T75" fmla="*/ 19 h 175"/>
                  <a:gd name="T76" fmla="*/ 134 w 179"/>
                  <a:gd name="T77" fmla="*/ 28 h 175"/>
                  <a:gd name="T78" fmla="*/ 125 w 179"/>
                  <a:gd name="T79" fmla="*/ 36 h 175"/>
                  <a:gd name="T80" fmla="*/ 116 w 179"/>
                  <a:gd name="T81" fmla="*/ 43 h 175"/>
                  <a:gd name="T82" fmla="*/ 108 w 179"/>
                  <a:gd name="T83" fmla="*/ 51 h 175"/>
                  <a:gd name="T84" fmla="*/ 105 w 179"/>
                  <a:gd name="T85" fmla="*/ 59 h 175"/>
                  <a:gd name="T86" fmla="*/ 105 w 179"/>
                  <a:gd name="T87" fmla="*/ 67 h 175"/>
                  <a:gd name="T88" fmla="*/ 107 w 179"/>
                  <a:gd name="T89" fmla="*/ 73 h 175"/>
                  <a:gd name="T90" fmla="*/ 99 w 179"/>
                  <a:gd name="T91" fmla="*/ 80 h 175"/>
                  <a:gd name="T92" fmla="*/ 79 w 179"/>
                  <a:gd name="T93" fmla="*/ 39 h 175"/>
                  <a:gd name="T94" fmla="*/ 87 w 179"/>
                  <a:gd name="T95" fmla="*/ 32 h 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79" h="175">
                    <a:moveTo>
                      <a:pt x="87" y="32"/>
                    </a:moveTo>
                    <a:cubicBezTo>
                      <a:pt x="87" y="33"/>
                      <a:pt x="88" y="34"/>
                      <a:pt x="90" y="35"/>
                    </a:cubicBezTo>
                    <a:cubicBezTo>
                      <a:pt x="91" y="37"/>
                      <a:pt x="92" y="38"/>
                      <a:pt x="94" y="38"/>
                    </a:cubicBezTo>
                    <a:cubicBezTo>
                      <a:pt x="96" y="38"/>
                      <a:pt x="98" y="38"/>
                      <a:pt x="100" y="37"/>
                    </a:cubicBezTo>
                    <a:cubicBezTo>
                      <a:pt x="102" y="36"/>
                      <a:pt x="105" y="34"/>
                      <a:pt x="107" y="32"/>
                    </a:cubicBezTo>
                    <a:cubicBezTo>
                      <a:pt x="119" y="22"/>
                      <a:pt x="119" y="22"/>
                      <a:pt x="119" y="22"/>
                    </a:cubicBezTo>
                    <a:cubicBezTo>
                      <a:pt x="128" y="14"/>
                      <a:pt x="134" y="9"/>
                      <a:pt x="137" y="6"/>
                    </a:cubicBezTo>
                    <a:cubicBezTo>
                      <a:pt x="140" y="4"/>
                      <a:pt x="143" y="2"/>
                      <a:pt x="145" y="0"/>
                    </a:cubicBezTo>
                    <a:cubicBezTo>
                      <a:pt x="152" y="2"/>
                      <a:pt x="158" y="5"/>
                      <a:pt x="163" y="9"/>
                    </a:cubicBezTo>
                    <a:cubicBezTo>
                      <a:pt x="168" y="13"/>
                      <a:pt x="172" y="17"/>
                      <a:pt x="175" y="23"/>
                    </a:cubicBezTo>
                    <a:cubicBezTo>
                      <a:pt x="178" y="29"/>
                      <a:pt x="179" y="36"/>
                      <a:pt x="178" y="45"/>
                    </a:cubicBezTo>
                    <a:cubicBezTo>
                      <a:pt x="177" y="54"/>
                      <a:pt x="174" y="63"/>
                      <a:pt x="169" y="73"/>
                    </a:cubicBezTo>
                    <a:cubicBezTo>
                      <a:pt x="165" y="83"/>
                      <a:pt x="158" y="94"/>
                      <a:pt x="149" y="105"/>
                    </a:cubicBezTo>
                    <a:cubicBezTo>
                      <a:pt x="140" y="116"/>
                      <a:pt x="130" y="126"/>
                      <a:pt x="118" y="137"/>
                    </a:cubicBezTo>
                    <a:cubicBezTo>
                      <a:pt x="106" y="147"/>
                      <a:pt x="94" y="155"/>
                      <a:pt x="83" y="161"/>
                    </a:cubicBezTo>
                    <a:cubicBezTo>
                      <a:pt x="72" y="167"/>
                      <a:pt x="61" y="171"/>
                      <a:pt x="52" y="173"/>
                    </a:cubicBezTo>
                    <a:cubicBezTo>
                      <a:pt x="43" y="175"/>
                      <a:pt x="34" y="175"/>
                      <a:pt x="27" y="173"/>
                    </a:cubicBezTo>
                    <a:cubicBezTo>
                      <a:pt x="21" y="170"/>
                      <a:pt x="15" y="166"/>
                      <a:pt x="12" y="159"/>
                    </a:cubicBezTo>
                    <a:cubicBezTo>
                      <a:pt x="10" y="154"/>
                      <a:pt x="8" y="148"/>
                      <a:pt x="9" y="143"/>
                    </a:cubicBezTo>
                    <a:cubicBezTo>
                      <a:pt x="9" y="137"/>
                      <a:pt x="10" y="131"/>
                      <a:pt x="11" y="126"/>
                    </a:cubicBezTo>
                    <a:cubicBezTo>
                      <a:pt x="2" y="129"/>
                      <a:pt x="2" y="129"/>
                      <a:pt x="2" y="129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4" y="77"/>
                      <a:pt x="54" y="77"/>
                      <a:pt x="54" y="77"/>
                    </a:cubicBezTo>
                    <a:cubicBezTo>
                      <a:pt x="56" y="83"/>
                      <a:pt x="56" y="83"/>
                      <a:pt x="56" y="83"/>
                    </a:cubicBezTo>
                    <a:cubicBezTo>
                      <a:pt x="51" y="89"/>
                      <a:pt x="46" y="95"/>
                      <a:pt x="40" y="101"/>
                    </a:cubicBezTo>
                    <a:cubicBezTo>
                      <a:pt x="35" y="108"/>
                      <a:pt x="31" y="114"/>
                      <a:pt x="27" y="120"/>
                    </a:cubicBezTo>
                    <a:cubicBezTo>
                      <a:pt x="24" y="126"/>
                      <a:pt x="22" y="132"/>
                      <a:pt x="20" y="137"/>
                    </a:cubicBezTo>
                    <a:cubicBezTo>
                      <a:pt x="19" y="142"/>
                      <a:pt x="20" y="147"/>
                      <a:pt x="22" y="152"/>
                    </a:cubicBezTo>
                    <a:cubicBezTo>
                      <a:pt x="24" y="156"/>
                      <a:pt x="28" y="159"/>
                      <a:pt x="33" y="160"/>
                    </a:cubicBezTo>
                    <a:cubicBezTo>
                      <a:pt x="38" y="161"/>
                      <a:pt x="44" y="161"/>
                      <a:pt x="52" y="158"/>
                    </a:cubicBezTo>
                    <a:cubicBezTo>
                      <a:pt x="59" y="156"/>
                      <a:pt x="68" y="151"/>
                      <a:pt x="77" y="145"/>
                    </a:cubicBezTo>
                    <a:cubicBezTo>
                      <a:pt x="87" y="139"/>
                      <a:pt x="98" y="131"/>
                      <a:pt x="109" y="122"/>
                    </a:cubicBezTo>
                    <a:cubicBezTo>
                      <a:pt x="119" y="113"/>
                      <a:pt x="127" y="105"/>
                      <a:pt x="135" y="96"/>
                    </a:cubicBezTo>
                    <a:cubicBezTo>
                      <a:pt x="143" y="87"/>
                      <a:pt x="150" y="78"/>
                      <a:pt x="155" y="70"/>
                    </a:cubicBezTo>
                    <a:cubicBezTo>
                      <a:pt x="160" y="62"/>
                      <a:pt x="164" y="54"/>
                      <a:pt x="165" y="47"/>
                    </a:cubicBezTo>
                    <a:cubicBezTo>
                      <a:pt x="167" y="40"/>
                      <a:pt x="166" y="33"/>
                      <a:pt x="164" y="28"/>
                    </a:cubicBezTo>
                    <a:cubicBezTo>
                      <a:pt x="162" y="24"/>
                      <a:pt x="159" y="22"/>
                      <a:pt x="156" y="20"/>
                    </a:cubicBezTo>
                    <a:cubicBezTo>
                      <a:pt x="152" y="18"/>
                      <a:pt x="149" y="18"/>
                      <a:pt x="146" y="19"/>
                    </a:cubicBezTo>
                    <a:cubicBezTo>
                      <a:pt x="142" y="21"/>
                      <a:pt x="138" y="24"/>
                      <a:pt x="134" y="28"/>
                    </a:cubicBezTo>
                    <a:cubicBezTo>
                      <a:pt x="131" y="31"/>
                      <a:pt x="127" y="34"/>
                      <a:pt x="125" y="36"/>
                    </a:cubicBezTo>
                    <a:cubicBezTo>
                      <a:pt x="116" y="43"/>
                      <a:pt x="116" y="43"/>
                      <a:pt x="116" y="43"/>
                    </a:cubicBezTo>
                    <a:cubicBezTo>
                      <a:pt x="113" y="46"/>
                      <a:pt x="110" y="48"/>
                      <a:pt x="108" y="51"/>
                    </a:cubicBezTo>
                    <a:cubicBezTo>
                      <a:pt x="106" y="54"/>
                      <a:pt x="105" y="56"/>
                      <a:pt x="105" y="59"/>
                    </a:cubicBezTo>
                    <a:cubicBezTo>
                      <a:pt x="104" y="61"/>
                      <a:pt x="104" y="64"/>
                      <a:pt x="105" y="67"/>
                    </a:cubicBezTo>
                    <a:cubicBezTo>
                      <a:pt x="106" y="70"/>
                      <a:pt x="106" y="72"/>
                      <a:pt x="107" y="73"/>
                    </a:cubicBezTo>
                    <a:cubicBezTo>
                      <a:pt x="99" y="80"/>
                      <a:pt x="99" y="80"/>
                      <a:pt x="99" y="80"/>
                    </a:cubicBezTo>
                    <a:cubicBezTo>
                      <a:pt x="79" y="39"/>
                      <a:pt x="79" y="39"/>
                      <a:pt x="79" y="39"/>
                    </a:cubicBezTo>
                    <a:lnTo>
                      <a:pt x="87" y="32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0" name="íşlîḓê"/>
              <p:cNvSpPr/>
              <p:nvPr/>
            </p:nvSpPr>
            <p:spPr bwMode="auto">
              <a:xfrm>
                <a:off x="3665538" y="2970213"/>
                <a:ext cx="142875" cy="166688"/>
              </a:xfrm>
              <a:custGeom>
                <a:avLst/>
                <a:gdLst>
                  <a:gd name="T0" fmla="*/ 7 w 182"/>
                  <a:gd name="T1" fmla="*/ 122 h 213"/>
                  <a:gd name="T2" fmla="*/ 10 w 182"/>
                  <a:gd name="T3" fmla="*/ 124 h 213"/>
                  <a:gd name="T4" fmla="*/ 15 w 182"/>
                  <a:gd name="T5" fmla="*/ 124 h 213"/>
                  <a:gd name="T6" fmla="*/ 20 w 182"/>
                  <a:gd name="T7" fmla="*/ 124 h 213"/>
                  <a:gd name="T8" fmla="*/ 29 w 182"/>
                  <a:gd name="T9" fmla="*/ 120 h 213"/>
                  <a:gd name="T10" fmla="*/ 57 w 182"/>
                  <a:gd name="T11" fmla="*/ 105 h 213"/>
                  <a:gd name="T12" fmla="*/ 93 w 182"/>
                  <a:gd name="T13" fmla="*/ 84 h 213"/>
                  <a:gd name="T14" fmla="*/ 105 w 182"/>
                  <a:gd name="T15" fmla="*/ 76 h 213"/>
                  <a:gd name="T16" fmla="*/ 117 w 182"/>
                  <a:gd name="T17" fmla="*/ 65 h 213"/>
                  <a:gd name="T18" fmla="*/ 145 w 182"/>
                  <a:gd name="T19" fmla="*/ 36 h 213"/>
                  <a:gd name="T20" fmla="*/ 150 w 182"/>
                  <a:gd name="T21" fmla="*/ 28 h 213"/>
                  <a:gd name="T22" fmla="*/ 153 w 182"/>
                  <a:gd name="T23" fmla="*/ 21 h 213"/>
                  <a:gd name="T24" fmla="*/ 152 w 182"/>
                  <a:gd name="T25" fmla="*/ 14 h 213"/>
                  <a:gd name="T26" fmla="*/ 150 w 182"/>
                  <a:gd name="T27" fmla="*/ 7 h 213"/>
                  <a:gd name="T28" fmla="*/ 157 w 182"/>
                  <a:gd name="T29" fmla="*/ 0 h 213"/>
                  <a:gd name="T30" fmla="*/ 182 w 182"/>
                  <a:gd name="T31" fmla="*/ 41 h 213"/>
                  <a:gd name="T32" fmla="*/ 175 w 182"/>
                  <a:gd name="T33" fmla="*/ 48 h 213"/>
                  <a:gd name="T34" fmla="*/ 171 w 182"/>
                  <a:gd name="T35" fmla="*/ 44 h 213"/>
                  <a:gd name="T36" fmla="*/ 167 w 182"/>
                  <a:gd name="T37" fmla="*/ 41 h 213"/>
                  <a:gd name="T38" fmla="*/ 161 w 182"/>
                  <a:gd name="T39" fmla="*/ 42 h 213"/>
                  <a:gd name="T40" fmla="*/ 154 w 182"/>
                  <a:gd name="T41" fmla="*/ 48 h 213"/>
                  <a:gd name="T42" fmla="*/ 119 w 182"/>
                  <a:gd name="T43" fmla="*/ 85 h 213"/>
                  <a:gd name="T44" fmla="*/ 113 w 182"/>
                  <a:gd name="T45" fmla="*/ 92 h 213"/>
                  <a:gd name="T46" fmla="*/ 105 w 182"/>
                  <a:gd name="T47" fmla="*/ 105 h 213"/>
                  <a:gd name="T48" fmla="*/ 85 w 182"/>
                  <a:gd name="T49" fmla="*/ 140 h 213"/>
                  <a:gd name="T50" fmla="*/ 66 w 182"/>
                  <a:gd name="T51" fmla="*/ 173 h 213"/>
                  <a:gd name="T52" fmla="*/ 60 w 182"/>
                  <a:gd name="T53" fmla="*/ 186 h 213"/>
                  <a:gd name="T54" fmla="*/ 57 w 182"/>
                  <a:gd name="T55" fmla="*/ 195 h 213"/>
                  <a:gd name="T56" fmla="*/ 57 w 182"/>
                  <a:gd name="T57" fmla="*/ 201 h 213"/>
                  <a:gd name="T58" fmla="*/ 58 w 182"/>
                  <a:gd name="T59" fmla="*/ 206 h 213"/>
                  <a:gd name="T60" fmla="*/ 51 w 182"/>
                  <a:gd name="T61" fmla="*/ 213 h 213"/>
                  <a:gd name="T62" fmla="*/ 28 w 182"/>
                  <a:gd name="T63" fmla="*/ 176 h 213"/>
                  <a:gd name="T64" fmla="*/ 35 w 182"/>
                  <a:gd name="T65" fmla="*/ 168 h 213"/>
                  <a:gd name="T66" fmla="*/ 42 w 182"/>
                  <a:gd name="T67" fmla="*/ 176 h 213"/>
                  <a:gd name="T68" fmla="*/ 47 w 182"/>
                  <a:gd name="T69" fmla="*/ 175 h 213"/>
                  <a:gd name="T70" fmla="*/ 49 w 182"/>
                  <a:gd name="T71" fmla="*/ 172 h 213"/>
                  <a:gd name="T72" fmla="*/ 52 w 182"/>
                  <a:gd name="T73" fmla="*/ 167 h 213"/>
                  <a:gd name="T74" fmla="*/ 57 w 182"/>
                  <a:gd name="T75" fmla="*/ 159 h 213"/>
                  <a:gd name="T76" fmla="*/ 62 w 182"/>
                  <a:gd name="T77" fmla="*/ 150 h 213"/>
                  <a:gd name="T78" fmla="*/ 77 w 182"/>
                  <a:gd name="T79" fmla="*/ 125 h 213"/>
                  <a:gd name="T80" fmla="*/ 95 w 182"/>
                  <a:gd name="T81" fmla="*/ 92 h 213"/>
                  <a:gd name="T82" fmla="*/ 46 w 182"/>
                  <a:gd name="T83" fmla="*/ 120 h 213"/>
                  <a:gd name="T84" fmla="*/ 26 w 182"/>
                  <a:gd name="T85" fmla="*/ 133 h 213"/>
                  <a:gd name="T86" fmla="*/ 23 w 182"/>
                  <a:gd name="T87" fmla="*/ 138 h 213"/>
                  <a:gd name="T88" fmla="*/ 22 w 182"/>
                  <a:gd name="T89" fmla="*/ 143 h 213"/>
                  <a:gd name="T90" fmla="*/ 24 w 182"/>
                  <a:gd name="T91" fmla="*/ 148 h 213"/>
                  <a:gd name="T92" fmla="*/ 25 w 182"/>
                  <a:gd name="T93" fmla="*/ 152 h 213"/>
                  <a:gd name="T94" fmla="*/ 18 w 182"/>
                  <a:gd name="T95" fmla="*/ 160 h 213"/>
                  <a:gd name="T96" fmla="*/ 0 w 182"/>
                  <a:gd name="T97" fmla="*/ 129 h 213"/>
                  <a:gd name="T98" fmla="*/ 7 w 182"/>
                  <a:gd name="T99" fmla="*/ 122 h 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82" h="213">
                    <a:moveTo>
                      <a:pt x="7" y="122"/>
                    </a:moveTo>
                    <a:cubicBezTo>
                      <a:pt x="7" y="123"/>
                      <a:pt x="8" y="123"/>
                      <a:pt x="10" y="124"/>
                    </a:cubicBezTo>
                    <a:cubicBezTo>
                      <a:pt x="12" y="124"/>
                      <a:pt x="13" y="125"/>
                      <a:pt x="15" y="124"/>
                    </a:cubicBezTo>
                    <a:cubicBezTo>
                      <a:pt x="17" y="124"/>
                      <a:pt x="19" y="124"/>
                      <a:pt x="20" y="124"/>
                    </a:cubicBezTo>
                    <a:cubicBezTo>
                      <a:pt x="22" y="123"/>
                      <a:pt x="25" y="122"/>
                      <a:pt x="29" y="120"/>
                    </a:cubicBezTo>
                    <a:cubicBezTo>
                      <a:pt x="39" y="115"/>
                      <a:pt x="48" y="110"/>
                      <a:pt x="57" y="105"/>
                    </a:cubicBezTo>
                    <a:cubicBezTo>
                      <a:pt x="67" y="99"/>
                      <a:pt x="79" y="93"/>
                      <a:pt x="93" y="84"/>
                    </a:cubicBezTo>
                    <a:cubicBezTo>
                      <a:pt x="98" y="81"/>
                      <a:pt x="102" y="79"/>
                      <a:pt x="105" y="76"/>
                    </a:cubicBezTo>
                    <a:cubicBezTo>
                      <a:pt x="108" y="74"/>
                      <a:pt x="112" y="70"/>
                      <a:pt x="117" y="65"/>
                    </a:cubicBezTo>
                    <a:cubicBezTo>
                      <a:pt x="145" y="36"/>
                      <a:pt x="145" y="36"/>
                      <a:pt x="145" y="36"/>
                    </a:cubicBezTo>
                    <a:cubicBezTo>
                      <a:pt x="147" y="33"/>
                      <a:pt x="149" y="31"/>
                      <a:pt x="150" y="28"/>
                    </a:cubicBezTo>
                    <a:cubicBezTo>
                      <a:pt x="152" y="26"/>
                      <a:pt x="153" y="23"/>
                      <a:pt x="153" y="21"/>
                    </a:cubicBezTo>
                    <a:cubicBezTo>
                      <a:pt x="153" y="19"/>
                      <a:pt x="153" y="17"/>
                      <a:pt x="152" y="14"/>
                    </a:cubicBezTo>
                    <a:cubicBezTo>
                      <a:pt x="151" y="11"/>
                      <a:pt x="151" y="9"/>
                      <a:pt x="150" y="7"/>
                    </a:cubicBezTo>
                    <a:cubicBezTo>
                      <a:pt x="157" y="0"/>
                      <a:pt x="157" y="0"/>
                      <a:pt x="157" y="0"/>
                    </a:cubicBezTo>
                    <a:cubicBezTo>
                      <a:pt x="182" y="41"/>
                      <a:pt x="182" y="41"/>
                      <a:pt x="182" y="41"/>
                    </a:cubicBezTo>
                    <a:cubicBezTo>
                      <a:pt x="175" y="48"/>
                      <a:pt x="175" y="48"/>
                      <a:pt x="175" y="48"/>
                    </a:cubicBezTo>
                    <a:cubicBezTo>
                      <a:pt x="174" y="47"/>
                      <a:pt x="173" y="46"/>
                      <a:pt x="171" y="44"/>
                    </a:cubicBezTo>
                    <a:cubicBezTo>
                      <a:pt x="169" y="42"/>
                      <a:pt x="168" y="41"/>
                      <a:pt x="167" y="41"/>
                    </a:cubicBezTo>
                    <a:cubicBezTo>
                      <a:pt x="165" y="40"/>
                      <a:pt x="163" y="41"/>
                      <a:pt x="161" y="42"/>
                    </a:cubicBezTo>
                    <a:cubicBezTo>
                      <a:pt x="159" y="43"/>
                      <a:pt x="156" y="45"/>
                      <a:pt x="154" y="48"/>
                    </a:cubicBezTo>
                    <a:cubicBezTo>
                      <a:pt x="119" y="85"/>
                      <a:pt x="119" y="85"/>
                      <a:pt x="119" y="85"/>
                    </a:cubicBezTo>
                    <a:cubicBezTo>
                      <a:pt x="117" y="86"/>
                      <a:pt x="116" y="89"/>
                      <a:pt x="113" y="92"/>
                    </a:cubicBezTo>
                    <a:cubicBezTo>
                      <a:pt x="111" y="96"/>
                      <a:pt x="108" y="101"/>
                      <a:pt x="105" y="105"/>
                    </a:cubicBezTo>
                    <a:cubicBezTo>
                      <a:pt x="99" y="116"/>
                      <a:pt x="92" y="128"/>
                      <a:pt x="85" y="140"/>
                    </a:cubicBezTo>
                    <a:cubicBezTo>
                      <a:pt x="78" y="153"/>
                      <a:pt x="71" y="164"/>
                      <a:pt x="66" y="173"/>
                    </a:cubicBezTo>
                    <a:cubicBezTo>
                      <a:pt x="63" y="178"/>
                      <a:pt x="61" y="183"/>
                      <a:pt x="60" y="186"/>
                    </a:cubicBezTo>
                    <a:cubicBezTo>
                      <a:pt x="58" y="189"/>
                      <a:pt x="57" y="192"/>
                      <a:pt x="57" y="195"/>
                    </a:cubicBezTo>
                    <a:cubicBezTo>
                      <a:pt x="56" y="197"/>
                      <a:pt x="56" y="199"/>
                      <a:pt x="57" y="201"/>
                    </a:cubicBezTo>
                    <a:cubicBezTo>
                      <a:pt x="57" y="203"/>
                      <a:pt x="57" y="204"/>
                      <a:pt x="58" y="206"/>
                    </a:cubicBezTo>
                    <a:cubicBezTo>
                      <a:pt x="51" y="213"/>
                      <a:pt x="51" y="213"/>
                      <a:pt x="51" y="213"/>
                    </a:cubicBezTo>
                    <a:cubicBezTo>
                      <a:pt x="28" y="176"/>
                      <a:pt x="28" y="176"/>
                      <a:pt x="28" y="176"/>
                    </a:cubicBezTo>
                    <a:cubicBezTo>
                      <a:pt x="35" y="168"/>
                      <a:pt x="35" y="168"/>
                      <a:pt x="35" y="168"/>
                    </a:cubicBezTo>
                    <a:cubicBezTo>
                      <a:pt x="38" y="172"/>
                      <a:pt x="40" y="175"/>
                      <a:pt x="42" y="176"/>
                    </a:cubicBezTo>
                    <a:cubicBezTo>
                      <a:pt x="44" y="177"/>
                      <a:pt x="45" y="176"/>
                      <a:pt x="47" y="175"/>
                    </a:cubicBezTo>
                    <a:cubicBezTo>
                      <a:pt x="47" y="174"/>
                      <a:pt x="48" y="173"/>
                      <a:pt x="49" y="172"/>
                    </a:cubicBezTo>
                    <a:cubicBezTo>
                      <a:pt x="50" y="171"/>
                      <a:pt x="51" y="169"/>
                      <a:pt x="52" y="167"/>
                    </a:cubicBezTo>
                    <a:cubicBezTo>
                      <a:pt x="54" y="165"/>
                      <a:pt x="55" y="162"/>
                      <a:pt x="57" y="159"/>
                    </a:cubicBezTo>
                    <a:cubicBezTo>
                      <a:pt x="59" y="156"/>
                      <a:pt x="61" y="153"/>
                      <a:pt x="62" y="150"/>
                    </a:cubicBezTo>
                    <a:cubicBezTo>
                      <a:pt x="67" y="141"/>
                      <a:pt x="72" y="133"/>
                      <a:pt x="77" y="125"/>
                    </a:cubicBezTo>
                    <a:cubicBezTo>
                      <a:pt x="81" y="116"/>
                      <a:pt x="88" y="106"/>
                      <a:pt x="95" y="92"/>
                    </a:cubicBezTo>
                    <a:cubicBezTo>
                      <a:pt x="74" y="104"/>
                      <a:pt x="58" y="113"/>
                      <a:pt x="46" y="120"/>
                    </a:cubicBezTo>
                    <a:cubicBezTo>
                      <a:pt x="35" y="126"/>
                      <a:pt x="28" y="131"/>
                      <a:pt x="26" y="133"/>
                    </a:cubicBezTo>
                    <a:cubicBezTo>
                      <a:pt x="24" y="134"/>
                      <a:pt x="23" y="136"/>
                      <a:pt x="23" y="138"/>
                    </a:cubicBezTo>
                    <a:cubicBezTo>
                      <a:pt x="22" y="139"/>
                      <a:pt x="22" y="141"/>
                      <a:pt x="22" y="143"/>
                    </a:cubicBezTo>
                    <a:cubicBezTo>
                      <a:pt x="22" y="145"/>
                      <a:pt x="23" y="146"/>
                      <a:pt x="24" y="148"/>
                    </a:cubicBezTo>
                    <a:cubicBezTo>
                      <a:pt x="24" y="149"/>
                      <a:pt x="25" y="151"/>
                      <a:pt x="25" y="152"/>
                    </a:cubicBezTo>
                    <a:cubicBezTo>
                      <a:pt x="18" y="160"/>
                      <a:pt x="18" y="160"/>
                      <a:pt x="18" y="160"/>
                    </a:cubicBezTo>
                    <a:cubicBezTo>
                      <a:pt x="0" y="129"/>
                      <a:pt x="0" y="129"/>
                      <a:pt x="0" y="129"/>
                    </a:cubicBezTo>
                    <a:lnTo>
                      <a:pt x="7" y="122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1" name="íşlîḍè"/>
              <p:cNvSpPr/>
              <p:nvPr/>
            </p:nvSpPr>
            <p:spPr bwMode="auto">
              <a:xfrm>
                <a:off x="2770188" y="3314701"/>
                <a:ext cx="93663" cy="185738"/>
              </a:xfrm>
              <a:custGeom>
                <a:avLst/>
                <a:gdLst>
                  <a:gd name="T0" fmla="*/ 27 w 59"/>
                  <a:gd name="T1" fmla="*/ 0 h 117"/>
                  <a:gd name="T2" fmla="*/ 59 w 59"/>
                  <a:gd name="T3" fmla="*/ 0 h 117"/>
                  <a:gd name="T4" fmla="*/ 33 w 59"/>
                  <a:gd name="T5" fmla="*/ 117 h 117"/>
                  <a:gd name="T6" fmla="*/ 0 w 59"/>
                  <a:gd name="T7" fmla="*/ 117 h 117"/>
                  <a:gd name="T8" fmla="*/ 27 w 59"/>
                  <a:gd name="T9" fmla="*/ 0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9" h="117">
                    <a:moveTo>
                      <a:pt x="27" y="0"/>
                    </a:moveTo>
                    <a:lnTo>
                      <a:pt x="59" y="0"/>
                    </a:lnTo>
                    <a:lnTo>
                      <a:pt x="33" y="117"/>
                    </a:lnTo>
                    <a:lnTo>
                      <a:pt x="0" y="117"/>
                    </a:lnTo>
                    <a:lnTo>
                      <a:pt x="2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2" name="îšļîďê"/>
              <p:cNvSpPr/>
              <p:nvPr/>
            </p:nvSpPr>
            <p:spPr bwMode="auto">
              <a:xfrm>
                <a:off x="2841626" y="3314701"/>
                <a:ext cx="100013" cy="185738"/>
              </a:xfrm>
              <a:custGeom>
                <a:avLst/>
                <a:gdLst>
                  <a:gd name="T0" fmla="*/ 27 w 63"/>
                  <a:gd name="T1" fmla="*/ 0 h 117"/>
                  <a:gd name="T2" fmla="*/ 63 w 63"/>
                  <a:gd name="T3" fmla="*/ 0 h 117"/>
                  <a:gd name="T4" fmla="*/ 36 w 63"/>
                  <a:gd name="T5" fmla="*/ 117 h 117"/>
                  <a:gd name="T6" fmla="*/ 0 w 63"/>
                  <a:gd name="T7" fmla="*/ 117 h 117"/>
                  <a:gd name="T8" fmla="*/ 27 w 63"/>
                  <a:gd name="T9" fmla="*/ 0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3" h="117">
                    <a:moveTo>
                      <a:pt x="27" y="0"/>
                    </a:moveTo>
                    <a:lnTo>
                      <a:pt x="63" y="0"/>
                    </a:lnTo>
                    <a:lnTo>
                      <a:pt x="36" y="117"/>
                    </a:lnTo>
                    <a:lnTo>
                      <a:pt x="0" y="117"/>
                    </a:lnTo>
                    <a:lnTo>
                      <a:pt x="2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3" name="ïSľïḑé"/>
              <p:cNvSpPr/>
              <p:nvPr/>
            </p:nvSpPr>
            <p:spPr bwMode="auto">
              <a:xfrm>
                <a:off x="2825751" y="3427413"/>
                <a:ext cx="39688" cy="238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4" name="í$ḻïḍê"/>
              <p:cNvSpPr/>
              <p:nvPr/>
            </p:nvSpPr>
            <p:spPr bwMode="auto">
              <a:xfrm>
                <a:off x="2916238" y="3314701"/>
                <a:ext cx="95250" cy="185738"/>
              </a:xfrm>
              <a:custGeom>
                <a:avLst/>
                <a:gdLst>
                  <a:gd name="T0" fmla="*/ 25 w 60"/>
                  <a:gd name="T1" fmla="*/ 0 h 117"/>
                  <a:gd name="T2" fmla="*/ 60 w 60"/>
                  <a:gd name="T3" fmla="*/ 0 h 117"/>
                  <a:gd name="T4" fmla="*/ 34 w 60"/>
                  <a:gd name="T5" fmla="*/ 117 h 117"/>
                  <a:gd name="T6" fmla="*/ 0 w 60"/>
                  <a:gd name="T7" fmla="*/ 117 h 117"/>
                  <a:gd name="T8" fmla="*/ 25 w 60"/>
                  <a:gd name="T9" fmla="*/ 0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0" h="117">
                    <a:moveTo>
                      <a:pt x="25" y="0"/>
                    </a:moveTo>
                    <a:lnTo>
                      <a:pt x="60" y="0"/>
                    </a:lnTo>
                    <a:lnTo>
                      <a:pt x="34" y="117"/>
                    </a:lnTo>
                    <a:lnTo>
                      <a:pt x="0" y="117"/>
                    </a:lnTo>
                    <a:lnTo>
                      <a:pt x="25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5" name="is1íḋe"/>
              <p:cNvSpPr/>
              <p:nvPr/>
            </p:nvSpPr>
            <p:spPr bwMode="auto">
              <a:xfrm>
                <a:off x="2987676" y="3314701"/>
                <a:ext cx="93663" cy="185738"/>
              </a:xfrm>
              <a:custGeom>
                <a:avLst/>
                <a:gdLst>
                  <a:gd name="T0" fmla="*/ 25 w 59"/>
                  <a:gd name="T1" fmla="*/ 0 h 117"/>
                  <a:gd name="T2" fmla="*/ 59 w 59"/>
                  <a:gd name="T3" fmla="*/ 0 h 117"/>
                  <a:gd name="T4" fmla="*/ 34 w 59"/>
                  <a:gd name="T5" fmla="*/ 117 h 117"/>
                  <a:gd name="T6" fmla="*/ 0 w 59"/>
                  <a:gd name="T7" fmla="*/ 117 h 117"/>
                  <a:gd name="T8" fmla="*/ 25 w 59"/>
                  <a:gd name="T9" fmla="*/ 0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9" h="117">
                    <a:moveTo>
                      <a:pt x="25" y="0"/>
                    </a:moveTo>
                    <a:lnTo>
                      <a:pt x="59" y="0"/>
                    </a:lnTo>
                    <a:lnTo>
                      <a:pt x="34" y="117"/>
                    </a:lnTo>
                    <a:lnTo>
                      <a:pt x="0" y="117"/>
                    </a:lnTo>
                    <a:lnTo>
                      <a:pt x="25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6" name="iṩlîḓé"/>
              <p:cNvSpPr/>
              <p:nvPr/>
            </p:nvSpPr>
            <p:spPr bwMode="auto">
              <a:xfrm>
                <a:off x="2965451" y="3475038"/>
                <a:ext cx="39688" cy="2540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7" name="ïṩ1îḑê"/>
              <p:cNvSpPr/>
              <p:nvPr/>
            </p:nvSpPr>
            <p:spPr bwMode="auto">
              <a:xfrm>
                <a:off x="2700338" y="3032126"/>
                <a:ext cx="776288" cy="519113"/>
              </a:xfrm>
              <a:custGeom>
                <a:avLst/>
                <a:gdLst>
                  <a:gd name="T0" fmla="*/ 0 w 989"/>
                  <a:gd name="T1" fmla="*/ 662 h 662"/>
                  <a:gd name="T2" fmla="*/ 572 w 989"/>
                  <a:gd name="T3" fmla="*/ 662 h 662"/>
                  <a:gd name="T4" fmla="*/ 643 w 989"/>
                  <a:gd name="T5" fmla="*/ 503 h 662"/>
                  <a:gd name="T6" fmla="*/ 545 w 989"/>
                  <a:gd name="T7" fmla="*/ 374 h 662"/>
                  <a:gd name="T8" fmla="*/ 343 w 989"/>
                  <a:gd name="T9" fmla="*/ 134 h 662"/>
                  <a:gd name="T10" fmla="*/ 821 w 989"/>
                  <a:gd name="T11" fmla="*/ 251 h 662"/>
                  <a:gd name="T12" fmla="*/ 800 w 989"/>
                  <a:gd name="T13" fmla="*/ 283 h 662"/>
                  <a:gd name="T14" fmla="*/ 620 w 989"/>
                  <a:gd name="T15" fmla="*/ 357 h 662"/>
                  <a:gd name="T16" fmla="*/ 871 w 989"/>
                  <a:gd name="T17" fmla="*/ 297 h 662"/>
                  <a:gd name="T18" fmla="*/ 751 w 989"/>
                  <a:gd name="T19" fmla="*/ 55 h 662"/>
                  <a:gd name="T20" fmla="*/ 341 w 989"/>
                  <a:gd name="T21" fmla="*/ 118 h 662"/>
                  <a:gd name="T22" fmla="*/ 322 w 989"/>
                  <a:gd name="T23" fmla="*/ 249 h 662"/>
                  <a:gd name="T24" fmla="*/ 545 w 989"/>
                  <a:gd name="T25" fmla="*/ 406 h 662"/>
                  <a:gd name="T26" fmla="*/ 349 w 989"/>
                  <a:gd name="T27" fmla="*/ 622 h 662"/>
                  <a:gd name="T28" fmla="*/ 93 w 989"/>
                  <a:gd name="T29" fmla="*/ 621 h 662"/>
                  <a:gd name="T30" fmla="*/ 0 w 989"/>
                  <a:gd name="T31" fmla="*/ 662 h 6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989" h="662">
                    <a:moveTo>
                      <a:pt x="0" y="662"/>
                    </a:moveTo>
                    <a:cubicBezTo>
                      <a:pt x="572" y="662"/>
                      <a:pt x="572" y="662"/>
                      <a:pt x="572" y="662"/>
                    </a:cubicBezTo>
                    <a:cubicBezTo>
                      <a:pt x="580" y="662"/>
                      <a:pt x="643" y="581"/>
                      <a:pt x="643" y="503"/>
                    </a:cubicBezTo>
                    <a:cubicBezTo>
                      <a:pt x="643" y="456"/>
                      <a:pt x="585" y="416"/>
                      <a:pt x="545" y="374"/>
                    </a:cubicBezTo>
                    <a:cubicBezTo>
                      <a:pt x="470" y="245"/>
                      <a:pt x="301" y="204"/>
                      <a:pt x="343" y="134"/>
                    </a:cubicBezTo>
                    <a:cubicBezTo>
                      <a:pt x="369" y="66"/>
                      <a:pt x="740" y="197"/>
                      <a:pt x="821" y="251"/>
                    </a:cubicBezTo>
                    <a:cubicBezTo>
                      <a:pt x="870" y="284"/>
                      <a:pt x="858" y="291"/>
                      <a:pt x="800" y="283"/>
                    </a:cubicBezTo>
                    <a:cubicBezTo>
                      <a:pt x="706" y="284"/>
                      <a:pt x="656" y="271"/>
                      <a:pt x="620" y="357"/>
                    </a:cubicBezTo>
                    <a:cubicBezTo>
                      <a:pt x="776" y="351"/>
                      <a:pt x="840" y="364"/>
                      <a:pt x="871" y="297"/>
                    </a:cubicBezTo>
                    <a:cubicBezTo>
                      <a:pt x="989" y="132"/>
                      <a:pt x="901" y="86"/>
                      <a:pt x="751" y="55"/>
                    </a:cubicBezTo>
                    <a:cubicBezTo>
                      <a:pt x="480" y="0"/>
                      <a:pt x="375" y="65"/>
                      <a:pt x="341" y="118"/>
                    </a:cubicBezTo>
                    <a:cubicBezTo>
                      <a:pt x="245" y="121"/>
                      <a:pt x="212" y="179"/>
                      <a:pt x="322" y="249"/>
                    </a:cubicBezTo>
                    <a:cubicBezTo>
                      <a:pt x="441" y="324"/>
                      <a:pt x="539" y="351"/>
                      <a:pt x="545" y="406"/>
                    </a:cubicBezTo>
                    <a:cubicBezTo>
                      <a:pt x="555" y="526"/>
                      <a:pt x="481" y="610"/>
                      <a:pt x="349" y="622"/>
                    </a:cubicBezTo>
                    <a:cubicBezTo>
                      <a:pt x="264" y="630"/>
                      <a:pt x="178" y="630"/>
                      <a:pt x="93" y="621"/>
                    </a:cubicBezTo>
                    <a:cubicBezTo>
                      <a:pt x="53" y="617"/>
                      <a:pt x="31" y="649"/>
                      <a:pt x="0" y="66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8" name="ïṡľîdé"/>
              <p:cNvSpPr/>
              <p:nvPr/>
            </p:nvSpPr>
            <p:spPr bwMode="auto">
              <a:xfrm>
                <a:off x="3200401" y="3295651"/>
                <a:ext cx="111125" cy="250825"/>
              </a:xfrm>
              <a:custGeom>
                <a:avLst/>
                <a:gdLst>
                  <a:gd name="T0" fmla="*/ 31 w 70"/>
                  <a:gd name="T1" fmla="*/ 0 h 158"/>
                  <a:gd name="T2" fmla="*/ 70 w 70"/>
                  <a:gd name="T3" fmla="*/ 0 h 158"/>
                  <a:gd name="T4" fmla="*/ 39 w 70"/>
                  <a:gd name="T5" fmla="*/ 158 h 158"/>
                  <a:gd name="T6" fmla="*/ 0 w 70"/>
                  <a:gd name="T7" fmla="*/ 158 h 158"/>
                  <a:gd name="T8" fmla="*/ 31 w 70"/>
                  <a:gd name="T9" fmla="*/ 0 h 1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0" h="158">
                    <a:moveTo>
                      <a:pt x="31" y="0"/>
                    </a:moveTo>
                    <a:lnTo>
                      <a:pt x="70" y="0"/>
                    </a:lnTo>
                    <a:lnTo>
                      <a:pt x="39" y="158"/>
                    </a:lnTo>
                    <a:lnTo>
                      <a:pt x="0" y="158"/>
                    </a:lnTo>
                    <a:lnTo>
                      <a:pt x="3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9" name="îśľîdé"/>
              <p:cNvSpPr/>
              <p:nvPr/>
            </p:nvSpPr>
            <p:spPr bwMode="auto">
              <a:xfrm>
                <a:off x="3097213" y="2620963"/>
                <a:ext cx="166688" cy="196850"/>
              </a:xfrm>
              <a:custGeom>
                <a:avLst/>
                <a:gdLst>
                  <a:gd name="T0" fmla="*/ 55 w 212"/>
                  <a:gd name="T1" fmla="*/ 251 h 251"/>
                  <a:gd name="T2" fmla="*/ 38 w 212"/>
                  <a:gd name="T3" fmla="*/ 231 h 251"/>
                  <a:gd name="T4" fmla="*/ 23 w 212"/>
                  <a:gd name="T5" fmla="*/ 219 h 251"/>
                  <a:gd name="T6" fmla="*/ 50 w 212"/>
                  <a:gd name="T7" fmla="*/ 216 h 251"/>
                  <a:gd name="T8" fmla="*/ 58 w 212"/>
                  <a:gd name="T9" fmla="*/ 153 h 251"/>
                  <a:gd name="T10" fmla="*/ 61 w 212"/>
                  <a:gd name="T11" fmla="*/ 136 h 251"/>
                  <a:gd name="T12" fmla="*/ 59 w 212"/>
                  <a:gd name="T13" fmla="*/ 133 h 251"/>
                  <a:gd name="T14" fmla="*/ 13 w 212"/>
                  <a:gd name="T15" fmla="*/ 197 h 251"/>
                  <a:gd name="T16" fmla="*/ 13 w 212"/>
                  <a:gd name="T17" fmla="*/ 195 h 251"/>
                  <a:gd name="T18" fmla="*/ 0 w 212"/>
                  <a:gd name="T19" fmla="*/ 178 h 251"/>
                  <a:gd name="T20" fmla="*/ 26 w 212"/>
                  <a:gd name="T21" fmla="*/ 154 h 251"/>
                  <a:gd name="T22" fmla="*/ 61 w 212"/>
                  <a:gd name="T23" fmla="*/ 114 h 251"/>
                  <a:gd name="T24" fmla="*/ 68 w 212"/>
                  <a:gd name="T25" fmla="*/ 80 h 251"/>
                  <a:gd name="T26" fmla="*/ 67 w 212"/>
                  <a:gd name="T27" fmla="*/ 79 h 251"/>
                  <a:gd name="T28" fmla="*/ 64 w 212"/>
                  <a:gd name="T29" fmla="*/ 84 h 251"/>
                  <a:gd name="T30" fmla="*/ 48 w 212"/>
                  <a:gd name="T31" fmla="*/ 60 h 251"/>
                  <a:gd name="T32" fmla="*/ 66 w 212"/>
                  <a:gd name="T33" fmla="*/ 54 h 251"/>
                  <a:gd name="T34" fmla="*/ 76 w 212"/>
                  <a:gd name="T35" fmla="*/ 45 h 251"/>
                  <a:gd name="T36" fmla="*/ 84 w 212"/>
                  <a:gd name="T37" fmla="*/ 6 h 251"/>
                  <a:gd name="T38" fmla="*/ 101 w 212"/>
                  <a:gd name="T39" fmla="*/ 11 h 251"/>
                  <a:gd name="T40" fmla="*/ 109 w 212"/>
                  <a:gd name="T41" fmla="*/ 24 h 251"/>
                  <a:gd name="T42" fmla="*/ 107 w 212"/>
                  <a:gd name="T43" fmla="*/ 31 h 251"/>
                  <a:gd name="T44" fmla="*/ 116 w 212"/>
                  <a:gd name="T45" fmla="*/ 46 h 251"/>
                  <a:gd name="T46" fmla="*/ 86 w 212"/>
                  <a:gd name="T47" fmla="*/ 97 h 251"/>
                  <a:gd name="T48" fmla="*/ 71 w 212"/>
                  <a:gd name="T49" fmla="*/ 216 h 251"/>
                  <a:gd name="T50" fmla="*/ 108 w 212"/>
                  <a:gd name="T51" fmla="*/ 198 h 251"/>
                  <a:gd name="T52" fmla="*/ 120 w 212"/>
                  <a:gd name="T53" fmla="*/ 172 h 251"/>
                  <a:gd name="T54" fmla="*/ 109 w 212"/>
                  <a:gd name="T55" fmla="*/ 138 h 251"/>
                  <a:gd name="T56" fmla="*/ 128 w 212"/>
                  <a:gd name="T57" fmla="*/ 153 h 251"/>
                  <a:gd name="T58" fmla="*/ 133 w 212"/>
                  <a:gd name="T59" fmla="*/ 154 h 251"/>
                  <a:gd name="T60" fmla="*/ 142 w 212"/>
                  <a:gd name="T61" fmla="*/ 130 h 251"/>
                  <a:gd name="T62" fmla="*/ 126 w 212"/>
                  <a:gd name="T63" fmla="*/ 131 h 251"/>
                  <a:gd name="T64" fmla="*/ 123 w 212"/>
                  <a:gd name="T65" fmla="*/ 118 h 251"/>
                  <a:gd name="T66" fmla="*/ 137 w 212"/>
                  <a:gd name="T67" fmla="*/ 76 h 251"/>
                  <a:gd name="T68" fmla="*/ 108 w 212"/>
                  <a:gd name="T69" fmla="*/ 92 h 251"/>
                  <a:gd name="T70" fmla="*/ 100 w 212"/>
                  <a:gd name="T71" fmla="*/ 89 h 251"/>
                  <a:gd name="T72" fmla="*/ 100 w 212"/>
                  <a:gd name="T73" fmla="*/ 86 h 251"/>
                  <a:gd name="T74" fmla="*/ 96 w 212"/>
                  <a:gd name="T75" fmla="*/ 83 h 251"/>
                  <a:gd name="T76" fmla="*/ 96 w 212"/>
                  <a:gd name="T77" fmla="*/ 80 h 251"/>
                  <a:gd name="T78" fmla="*/ 139 w 212"/>
                  <a:gd name="T79" fmla="*/ 51 h 251"/>
                  <a:gd name="T80" fmla="*/ 157 w 212"/>
                  <a:gd name="T81" fmla="*/ 0 h 251"/>
                  <a:gd name="T82" fmla="*/ 179 w 212"/>
                  <a:gd name="T83" fmla="*/ 16 h 251"/>
                  <a:gd name="T84" fmla="*/ 180 w 212"/>
                  <a:gd name="T85" fmla="*/ 27 h 251"/>
                  <a:gd name="T86" fmla="*/ 186 w 212"/>
                  <a:gd name="T87" fmla="*/ 34 h 251"/>
                  <a:gd name="T88" fmla="*/ 189 w 212"/>
                  <a:gd name="T89" fmla="*/ 35 h 251"/>
                  <a:gd name="T90" fmla="*/ 190 w 212"/>
                  <a:gd name="T91" fmla="*/ 43 h 251"/>
                  <a:gd name="T92" fmla="*/ 176 w 212"/>
                  <a:gd name="T93" fmla="*/ 51 h 251"/>
                  <a:gd name="T94" fmla="*/ 176 w 212"/>
                  <a:gd name="T95" fmla="*/ 54 h 251"/>
                  <a:gd name="T96" fmla="*/ 170 w 212"/>
                  <a:gd name="T97" fmla="*/ 56 h 251"/>
                  <a:gd name="T98" fmla="*/ 148 w 212"/>
                  <a:gd name="T99" fmla="*/ 113 h 251"/>
                  <a:gd name="T100" fmla="*/ 165 w 212"/>
                  <a:gd name="T101" fmla="*/ 138 h 251"/>
                  <a:gd name="T102" fmla="*/ 147 w 212"/>
                  <a:gd name="T103" fmla="*/ 174 h 251"/>
                  <a:gd name="T104" fmla="*/ 169 w 212"/>
                  <a:gd name="T105" fmla="*/ 200 h 251"/>
                  <a:gd name="T106" fmla="*/ 211 w 212"/>
                  <a:gd name="T107" fmla="*/ 211 h 251"/>
                  <a:gd name="T108" fmla="*/ 212 w 212"/>
                  <a:gd name="T109" fmla="*/ 215 h 251"/>
                  <a:gd name="T110" fmla="*/ 151 w 212"/>
                  <a:gd name="T111" fmla="*/ 234 h 251"/>
                  <a:gd name="T112" fmla="*/ 131 w 212"/>
                  <a:gd name="T113" fmla="*/ 196 h 251"/>
                  <a:gd name="T114" fmla="*/ 78 w 212"/>
                  <a:gd name="T115" fmla="*/ 241 h 251"/>
                  <a:gd name="T116" fmla="*/ 70 w 212"/>
                  <a:gd name="T117" fmla="*/ 231 h 251"/>
                  <a:gd name="T118" fmla="*/ 55 w 212"/>
                  <a:gd name="T119" fmla="*/ 251 h 2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2" h="251">
                    <a:moveTo>
                      <a:pt x="55" y="251"/>
                    </a:moveTo>
                    <a:cubicBezTo>
                      <a:pt x="49" y="241"/>
                      <a:pt x="45" y="236"/>
                      <a:pt x="38" y="231"/>
                    </a:cubicBezTo>
                    <a:cubicBezTo>
                      <a:pt x="35" y="221"/>
                      <a:pt x="26" y="223"/>
                      <a:pt x="23" y="219"/>
                    </a:cubicBezTo>
                    <a:cubicBezTo>
                      <a:pt x="23" y="210"/>
                      <a:pt x="40" y="220"/>
                      <a:pt x="50" y="216"/>
                    </a:cubicBezTo>
                    <a:cubicBezTo>
                      <a:pt x="51" y="212"/>
                      <a:pt x="51" y="212"/>
                      <a:pt x="58" y="153"/>
                    </a:cubicBezTo>
                    <a:cubicBezTo>
                      <a:pt x="59" y="147"/>
                      <a:pt x="60" y="141"/>
                      <a:pt x="61" y="136"/>
                    </a:cubicBezTo>
                    <a:cubicBezTo>
                      <a:pt x="60" y="135"/>
                      <a:pt x="60" y="134"/>
                      <a:pt x="59" y="133"/>
                    </a:cubicBezTo>
                    <a:cubicBezTo>
                      <a:pt x="53" y="145"/>
                      <a:pt x="26" y="199"/>
                      <a:pt x="13" y="197"/>
                    </a:cubicBezTo>
                    <a:cubicBezTo>
                      <a:pt x="13" y="196"/>
                      <a:pt x="13" y="195"/>
                      <a:pt x="13" y="195"/>
                    </a:cubicBezTo>
                    <a:cubicBezTo>
                      <a:pt x="5" y="192"/>
                      <a:pt x="0" y="184"/>
                      <a:pt x="0" y="178"/>
                    </a:cubicBezTo>
                    <a:cubicBezTo>
                      <a:pt x="6" y="171"/>
                      <a:pt x="23" y="166"/>
                      <a:pt x="26" y="154"/>
                    </a:cubicBezTo>
                    <a:cubicBezTo>
                      <a:pt x="37" y="143"/>
                      <a:pt x="49" y="120"/>
                      <a:pt x="61" y="114"/>
                    </a:cubicBezTo>
                    <a:cubicBezTo>
                      <a:pt x="65" y="101"/>
                      <a:pt x="66" y="92"/>
                      <a:pt x="68" y="80"/>
                    </a:cubicBezTo>
                    <a:cubicBezTo>
                      <a:pt x="68" y="80"/>
                      <a:pt x="67" y="79"/>
                      <a:pt x="67" y="79"/>
                    </a:cubicBezTo>
                    <a:cubicBezTo>
                      <a:pt x="65" y="81"/>
                      <a:pt x="65" y="81"/>
                      <a:pt x="64" y="84"/>
                    </a:cubicBezTo>
                    <a:cubicBezTo>
                      <a:pt x="57" y="82"/>
                      <a:pt x="46" y="67"/>
                      <a:pt x="48" y="60"/>
                    </a:cubicBezTo>
                    <a:cubicBezTo>
                      <a:pt x="63" y="54"/>
                      <a:pt x="63" y="54"/>
                      <a:pt x="66" y="54"/>
                    </a:cubicBezTo>
                    <a:cubicBezTo>
                      <a:pt x="69" y="48"/>
                      <a:pt x="73" y="50"/>
                      <a:pt x="76" y="45"/>
                    </a:cubicBezTo>
                    <a:cubicBezTo>
                      <a:pt x="79" y="32"/>
                      <a:pt x="82" y="19"/>
                      <a:pt x="84" y="6"/>
                    </a:cubicBezTo>
                    <a:cubicBezTo>
                      <a:pt x="91" y="0"/>
                      <a:pt x="92" y="2"/>
                      <a:pt x="101" y="11"/>
                    </a:cubicBezTo>
                    <a:cubicBezTo>
                      <a:pt x="102" y="14"/>
                      <a:pt x="104" y="21"/>
                      <a:pt x="109" y="24"/>
                    </a:cubicBezTo>
                    <a:cubicBezTo>
                      <a:pt x="109" y="26"/>
                      <a:pt x="108" y="29"/>
                      <a:pt x="107" y="31"/>
                    </a:cubicBezTo>
                    <a:cubicBezTo>
                      <a:pt x="114" y="33"/>
                      <a:pt x="115" y="32"/>
                      <a:pt x="116" y="46"/>
                    </a:cubicBezTo>
                    <a:cubicBezTo>
                      <a:pt x="93" y="68"/>
                      <a:pt x="95" y="61"/>
                      <a:pt x="86" y="97"/>
                    </a:cubicBezTo>
                    <a:cubicBezTo>
                      <a:pt x="80" y="134"/>
                      <a:pt x="75" y="175"/>
                      <a:pt x="71" y="216"/>
                    </a:cubicBezTo>
                    <a:cubicBezTo>
                      <a:pt x="78" y="233"/>
                      <a:pt x="102" y="203"/>
                      <a:pt x="108" y="198"/>
                    </a:cubicBezTo>
                    <a:cubicBezTo>
                      <a:pt x="114" y="189"/>
                      <a:pt x="119" y="182"/>
                      <a:pt x="120" y="172"/>
                    </a:cubicBezTo>
                    <a:cubicBezTo>
                      <a:pt x="114" y="160"/>
                      <a:pt x="109" y="149"/>
                      <a:pt x="109" y="138"/>
                    </a:cubicBezTo>
                    <a:cubicBezTo>
                      <a:pt x="115" y="140"/>
                      <a:pt x="124" y="142"/>
                      <a:pt x="128" y="153"/>
                    </a:cubicBezTo>
                    <a:cubicBezTo>
                      <a:pt x="130" y="153"/>
                      <a:pt x="131" y="154"/>
                      <a:pt x="133" y="154"/>
                    </a:cubicBezTo>
                    <a:cubicBezTo>
                      <a:pt x="141" y="135"/>
                      <a:pt x="141" y="135"/>
                      <a:pt x="142" y="130"/>
                    </a:cubicBezTo>
                    <a:cubicBezTo>
                      <a:pt x="136" y="129"/>
                      <a:pt x="130" y="132"/>
                      <a:pt x="126" y="131"/>
                    </a:cubicBezTo>
                    <a:cubicBezTo>
                      <a:pt x="124" y="124"/>
                      <a:pt x="122" y="123"/>
                      <a:pt x="123" y="118"/>
                    </a:cubicBezTo>
                    <a:cubicBezTo>
                      <a:pt x="128" y="115"/>
                      <a:pt x="136" y="79"/>
                      <a:pt x="137" y="76"/>
                    </a:cubicBezTo>
                    <a:cubicBezTo>
                      <a:pt x="128" y="75"/>
                      <a:pt x="121" y="94"/>
                      <a:pt x="108" y="92"/>
                    </a:cubicBezTo>
                    <a:cubicBezTo>
                      <a:pt x="108" y="91"/>
                      <a:pt x="108" y="91"/>
                      <a:pt x="100" y="89"/>
                    </a:cubicBezTo>
                    <a:cubicBezTo>
                      <a:pt x="100" y="88"/>
                      <a:pt x="100" y="87"/>
                      <a:pt x="100" y="86"/>
                    </a:cubicBezTo>
                    <a:cubicBezTo>
                      <a:pt x="99" y="85"/>
                      <a:pt x="97" y="84"/>
                      <a:pt x="96" y="83"/>
                    </a:cubicBezTo>
                    <a:cubicBezTo>
                      <a:pt x="96" y="82"/>
                      <a:pt x="96" y="81"/>
                      <a:pt x="96" y="80"/>
                    </a:cubicBezTo>
                    <a:cubicBezTo>
                      <a:pt x="109" y="71"/>
                      <a:pt x="127" y="63"/>
                      <a:pt x="139" y="51"/>
                    </a:cubicBezTo>
                    <a:cubicBezTo>
                      <a:pt x="151" y="49"/>
                      <a:pt x="156" y="12"/>
                      <a:pt x="157" y="0"/>
                    </a:cubicBezTo>
                    <a:cubicBezTo>
                      <a:pt x="166" y="2"/>
                      <a:pt x="169" y="10"/>
                      <a:pt x="179" y="16"/>
                    </a:cubicBezTo>
                    <a:cubicBezTo>
                      <a:pt x="179" y="20"/>
                      <a:pt x="180" y="23"/>
                      <a:pt x="180" y="27"/>
                    </a:cubicBezTo>
                    <a:cubicBezTo>
                      <a:pt x="183" y="28"/>
                      <a:pt x="185" y="28"/>
                      <a:pt x="186" y="34"/>
                    </a:cubicBezTo>
                    <a:cubicBezTo>
                      <a:pt x="187" y="35"/>
                      <a:pt x="188" y="35"/>
                      <a:pt x="189" y="35"/>
                    </a:cubicBezTo>
                    <a:cubicBezTo>
                      <a:pt x="189" y="38"/>
                      <a:pt x="189" y="40"/>
                      <a:pt x="190" y="43"/>
                    </a:cubicBezTo>
                    <a:cubicBezTo>
                      <a:pt x="185" y="46"/>
                      <a:pt x="182" y="49"/>
                      <a:pt x="176" y="51"/>
                    </a:cubicBezTo>
                    <a:cubicBezTo>
                      <a:pt x="176" y="52"/>
                      <a:pt x="176" y="53"/>
                      <a:pt x="176" y="54"/>
                    </a:cubicBezTo>
                    <a:cubicBezTo>
                      <a:pt x="174" y="55"/>
                      <a:pt x="172" y="55"/>
                      <a:pt x="170" y="56"/>
                    </a:cubicBezTo>
                    <a:cubicBezTo>
                      <a:pt x="159" y="75"/>
                      <a:pt x="152" y="88"/>
                      <a:pt x="148" y="113"/>
                    </a:cubicBezTo>
                    <a:cubicBezTo>
                      <a:pt x="163" y="117"/>
                      <a:pt x="167" y="115"/>
                      <a:pt x="165" y="138"/>
                    </a:cubicBezTo>
                    <a:cubicBezTo>
                      <a:pt x="158" y="146"/>
                      <a:pt x="149" y="161"/>
                      <a:pt x="147" y="174"/>
                    </a:cubicBezTo>
                    <a:cubicBezTo>
                      <a:pt x="155" y="182"/>
                      <a:pt x="162" y="191"/>
                      <a:pt x="169" y="200"/>
                    </a:cubicBezTo>
                    <a:cubicBezTo>
                      <a:pt x="181" y="208"/>
                      <a:pt x="197" y="209"/>
                      <a:pt x="211" y="211"/>
                    </a:cubicBezTo>
                    <a:cubicBezTo>
                      <a:pt x="212" y="213"/>
                      <a:pt x="212" y="213"/>
                      <a:pt x="212" y="215"/>
                    </a:cubicBezTo>
                    <a:cubicBezTo>
                      <a:pt x="195" y="228"/>
                      <a:pt x="170" y="236"/>
                      <a:pt x="151" y="234"/>
                    </a:cubicBezTo>
                    <a:cubicBezTo>
                      <a:pt x="143" y="220"/>
                      <a:pt x="139" y="207"/>
                      <a:pt x="131" y="196"/>
                    </a:cubicBezTo>
                    <a:cubicBezTo>
                      <a:pt x="120" y="211"/>
                      <a:pt x="95" y="241"/>
                      <a:pt x="78" y="241"/>
                    </a:cubicBezTo>
                    <a:cubicBezTo>
                      <a:pt x="75" y="235"/>
                      <a:pt x="72" y="232"/>
                      <a:pt x="70" y="231"/>
                    </a:cubicBezTo>
                    <a:cubicBezTo>
                      <a:pt x="68" y="241"/>
                      <a:pt x="64" y="248"/>
                      <a:pt x="55" y="251"/>
                    </a:cubicBezTo>
                    <a:close/>
                  </a:path>
                </a:pathLst>
              </a:custGeom>
              <a:solidFill>
                <a:srgbClr val="E6001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0" name="ïṩļíḑè"/>
              <p:cNvSpPr/>
              <p:nvPr/>
            </p:nvSpPr>
            <p:spPr bwMode="auto">
              <a:xfrm>
                <a:off x="3298826" y="2668588"/>
                <a:ext cx="149225" cy="203200"/>
              </a:xfrm>
              <a:custGeom>
                <a:avLst/>
                <a:gdLst>
                  <a:gd name="T0" fmla="*/ 2 w 190"/>
                  <a:gd name="T1" fmla="*/ 167 h 259"/>
                  <a:gd name="T2" fmla="*/ 86 w 190"/>
                  <a:gd name="T3" fmla="*/ 136 h 259"/>
                  <a:gd name="T4" fmla="*/ 44 w 190"/>
                  <a:gd name="T5" fmla="*/ 140 h 259"/>
                  <a:gd name="T6" fmla="*/ 55 w 190"/>
                  <a:gd name="T7" fmla="*/ 107 h 259"/>
                  <a:gd name="T8" fmla="*/ 132 w 190"/>
                  <a:gd name="T9" fmla="*/ 66 h 259"/>
                  <a:gd name="T10" fmla="*/ 164 w 190"/>
                  <a:gd name="T11" fmla="*/ 3 h 259"/>
                  <a:gd name="T12" fmla="*/ 143 w 190"/>
                  <a:gd name="T13" fmla="*/ 105 h 259"/>
                  <a:gd name="T14" fmla="*/ 149 w 190"/>
                  <a:gd name="T15" fmla="*/ 129 h 259"/>
                  <a:gd name="T16" fmla="*/ 110 w 190"/>
                  <a:gd name="T17" fmla="*/ 151 h 259"/>
                  <a:gd name="T18" fmla="*/ 43 w 190"/>
                  <a:gd name="T19" fmla="*/ 191 h 259"/>
                  <a:gd name="T20" fmla="*/ 22 w 190"/>
                  <a:gd name="T21" fmla="*/ 185 h 259"/>
                  <a:gd name="T22" fmla="*/ 121 w 190"/>
                  <a:gd name="T23" fmla="*/ 249 h 259"/>
                  <a:gd name="T24" fmla="*/ 133 w 190"/>
                  <a:gd name="T25" fmla="*/ 251 h 259"/>
                  <a:gd name="T26" fmla="*/ 163 w 190"/>
                  <a:gd name="T27" fmla="*/ 256 h 259"/>
                  <a:gd name="T28" fmla="*/ 168 w 190"/>
                  <a:gd name="T29" fmla="*/ 257 h 259"/>
                  <a:gd name="T30" fmla="*/ 155 w 190"/>
                  <a:gd name="T31" fmla="*/ 237 h 259"/>
                  <a:gd name="T32" fmla="*/ 139 w 190"/>
                  <a:gd name="T33" fmla="*/ 206 h 259"/>
                  <a:gd name="T34" fmla="*/ 139 w 190"/>
                  <a:gd name="T35" fmla="*/ 203 h 259"/>
                  <a:gd name="T36" fmla="*/ 137 w 190"/>
                  <a:gd name="T37" fmla="*/ 200 h 259"/>
                  <a:gd name="T38" fmla="*/ 136 w 190"/>
                  <a:gd name="T39" fmla="*/ 197 h 259"/>
                  <a:gd name="T40" fmla="*/ 136 w 190"/>
                  <a:gd name="T41" fmla="*/ 193 h 259"/>
                  <a:gd name="T42" fmla="*/ 135 w 190"/>
                  <a:gd name="T43" fmla="*/ 189 h 259"/>
                  <a:gd name="T44" fmla="*/ 132 w 190"/>
                  <a:gd name="T45" fmla="*/ 167 h 259"/>
                  <a:gd name="T46" fmla="*/ 131 w 190"/>
                  <a:gd name="T47" fmla="*/ 158 h 259"/>
                  <a:gd name="T48" fmla="*/ 130 w 190"/>
                  <a:gd name="T49" fmla="*/ 150 h 259"/>
                  <a:gd name="T50" fmla="*/ 129 w 190"/>
                  <a:gd name="T51" fmla="*/ 148 h 259"/>
                  <a:gd name="T52" fmla="*/ 125 w 190"/>
                  <a:gd name="T53" fmla="*/ 147 h 259"/>
                  <a:gd name="T54" fmla="*/ 121 w 190"/>
                  <a:gd name="T55" fmla="*/ 153 h 259"/>
                  <a:gd name="T56" fmla="*/ 116 w 190"/>
                  <a:gd name="T57" fmla="*/ 221 h 259"/>
                  <a:gd name="T58" fmla="*/ 114 w 190"/>
                  <a:gd name="T59" fmla="*/ 229 h 259"/>
                  <a:gd name="T60" fmla="*/ 119 w 190"/>
                  <a:gd name="T61" fmla="*/ 243 h 259"/>
                  <a:gd name="T62" fmla="*/ 121 w 190"/>
                  <a:gd name="T63" fmla="*/ 249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90" h="259">
                    <a:moveTo>
                      <a:pt x="0" y="171"/>
                    </a:moveTo>
                    <a:cubicBezTo>
                      <a:pt x="1" y="169"/>
                      <a:pt x="1" y="168"/>
                      <a:pt x="2" y="167"/>
                    </a:cubicBezTo>
                    <a:cubicBezTo>
                      <a:pt x="7" y="167"/>
                      <a:pt x="7" y="167"/>
                      <a:pt x="9" y="166"/>
                    </a:cubicBezTo>
                    <a:cubicBezTo>
                      <a:pt x="28" y="173"/>
                      <a:pt x="81" y="166"/>
                      <a:pt x="86" y="136"/>
                    </a:cubicBezTo>
                    <a:cubicBezTo>
                      <a:pt x="72" y="139"/>
                      <a:pt x="58" y="142"/>
                      <a:pt x="45" y="143"/>
                    </a:cubicBezTo>
                    <a:cubicBezTo>
                      <a:pt x="45" y="142"/>
                      <a:pt x="45" y="141"/>
                      <a:pt x="44" y="140"/>
                    </a:cubicBezTo>
                    <a:cubicBezTo>
                      <a:pt x="37" y="130"/>
                      <a:pt x="28" y="108"/>
                      <a:pt x="31" y="98"/>
                    </a:cubicBezTo>
                    <a:cubicBezTo>
                      <a:pt x="36" y="96"/>
                      <a:pt x="48" y="103"/>
                      <a:pt x="55" y="107"/>
                    </a:cubicBezTo>
                    <a:cubicBezTo>
                      <a:pt x="66" y="109"/>
                      <a:pt x="100" y="112"/>
                      <a:pt x="110" y="105"/>
                    </a:cubicBezTo>
                    <a:cubicBezTo>
                      <a:pt x="125" y="80"/>
                      <a:pt x="131" y="66"/>
                      <a:pt x="132" y="66"/>
                    </a:cubicBezTo>
                    <a:cubicBezTo>
                      <a:pt x="142" y="44"/>
                      <a:pt x="148" y="21"/>
                      <a:pt x="156" y="2"/>
                    </a:cubicBezTo>
                    <a:cubicBezTo>
                      <a:pt x="160" y="0"/>
                      <a:pt x="159" y="1"/>
                      <a:pt x="164" y="3"/>
                    </a:cubicBezTo>
                    <a:cubicBezTo>
                      <a:pt x="161" y="9"/>
                      <a:pt x="182" y="37"/>
                      <a:pt x="173" y="57"/>
                    </a:cubicBezTo>
                    <a:cubicBezTo>
                      <a:pt x="167" y="59"/>
                      <a:pt x="148" y="93"/>
                      <a:pt x="143" y="105"/>
                    </a:cubicBezTo>
                    <a:cubicBezTo>
                      <a:pt x="154" y="120"/>
                      <a:pt x="179" y="85"/>
                      <a:pt x="190" y="124"/>
                    </a:cubicBezTo>
                    <a:cubicBezTo>
                      <a:pt x="185" y="135"/>
                      <a:pt x="159" y="125"/>
                      <a:pt x="149" y="129"/>
                    </a:cubicBezTo>
                    <a:cubicBezTo>
                      <a:pt x="143" y="127"/>
                      <a:pt x="132" y="132"/>
                      <a:pt x="128" y="129"/>
                    </a:cubicBezTo>
                    <a:cubicBezTo>
                      <a:pt x="120" y="136"/>
                      <a:pt x="117" y="140"/>
                      <a:pt x="110" y="151"/>
                    </a:cubicBezTo>
                    <a:cubicBezTo>
                      <a:pt x="110" y="150"/>
                      <a:pt x="109" y="150"/>
                      <a:pt x="108" y="150"/>
                    </a:cubicBezTo>
                    <a:cubicBezTo>
                      <a:pt x="93" y="175"/>
                      <a:pt x="67" y="188"/>
                      <a:pt x="43" y="191"/>
                    </a:cubicBezTo>
                    <a:cubicBezTo>
                      <a:pt x="43" y="192"/>
                      <a:pt x="42" y="192"/>
                      <a:pt x="42" y="194"/>
                    </a:cubicBezTo>
                    <a:cubicBezTo>
                      <a:pt x="37" y="190"/>
                      <a:pt x="36" y="191"/>
                      <a:pt x="22" y="185"/>
                    </a:cubicBezTo>
                    <a:cubicBezTo>
                      <a:pt x="15" y="180"/>
                      <a:pt x="8" y="176"/>
                      <a:pt x="0" y="171"/>
                    </a:cubicBezTo>
                    <a:close/>
                    <a:moveTo>
                      <a:pt x="121" y="249"/>
                    </a:moveTo>
                    <a:cubicBezTo>
                      <a:pt x="125" y="250"/>
                      <a:pt x="129" y="252"/>
                      <a:pt x="132" y="253"/>
                    </a:cubicBezTo>
                    <a:cubicBezTo>
                      <a:pt x="133" y="252"/>
                      <a:pt x="133" y="252"/>
                      <a:pt x="133" y="251"/>
                    </a:cubicBezTo>
                    <a:cubicBezTo>
                      <a:pt x="138" y="253"/>
                      <a:pt x="151" y="255"/>
                      <a:pt x="163" y="258"/>
                    </a:cubicBezTo>
                    <a:cubicBezTo>
                      <a:pt x="163" y="257"/>
                      <a:pt x="163" y="257"/>
                      <a:pt x="163" y="256"/>
                    </a:cubicBezTo>
                    <a:cubicBezTo>
                      <a:pt x="164" y="257"/>
                      <a:pt x="166" y="258"/>
                      <a:pt x="167" y="259"/>
                    </a:cubicBezTo>
                    <a:cubicBezTo>
                      <a:pt x="168" y="258"/>
                      <a:pt x="168" y="257"/>
                      <a:pt x="168" y="257"/>
                    </a:cubicBezTo>
                    <a:cubicBezTo>
                      <a:pt x="169" y="257"/>
                      <a:pt x="169" y="258"/>
                      <a:pt x="170" y="258"/>
                    </a:cubicBezTo>
                    <a:cubicBezTo>
                      <a:pt x="174" y="246"/>
                      <a:pt x="160" y="241"/>
                      <a:pt x="155" y="237"/>
                    </a:cubicBezTo>
                    <a:cubicBezTo>
                      <a:pt x="144" y="221"/>
                      <a:pt x="144" y="221"/>
                      <a:pt x="138" y="208"/>
                    </a:cubicBezTo>
                    <a:cubicBezTo>
                      <a:pt x="139" y="208"/>
                      <a:pt x="139" y="207"/>
                      <a:pt x="139" y="206"/>
                    </a:cubicBezTo>
                    <a:cubicBezTo>
                      <a:pt x="139" y="206"/>
                      <a:pt x="138" y="206"/>
                      <a:pt x="138" y="205"/>
                    </a:cubicBezTo>
                    <a:cubicBezTo>
                      <a:pt x="138" y="205"/>
                      <a:pt x="138" y="204"/>
                      <a:pt x="139" y="203"/>
                    </a:cubicBezTo>
                    <a:cubicBezTo>
                      <a:pt x="138" y="203"/>
                      <a:pt x="137" y="202"/>
                      <a:pt x="136" y="202"/>
                    </a:cubicBezTo>
                    <a:cubicBezTo>
                      <a:pt x="137" y="201"/>
                      <a:pt x="137" y="200"/>
                      <a:pt x="137" y="200"/>
                    </a:cubicBezTo>
                    <a:cubicBezTo>
                      <a:pt x="136" y="199"/>
                      <a:pt x="136" y="199"/>
                      <a:pt x="136" y="198"/>
                    </a:cubicBezTo>
                    <a:cubicBezTo>
                      <a:pt x="136" y="198"/>
                      <a:pt x="136" y="197"/>
                      <a:pt x="136" y="197"/>
                    </a:cubicBezTo>
                    <a:cubicBezTo>
                      <a:pt x="136" y="196"/>
                      <a:pt x="135" y="196"/>
                      <a:pt x="135" y="195"/>
                    </a:cubicBezTo>
                    <a:cubicBezTo>
                      <a:pt x="135" y="194"/>
                      <a:pt x="135" y="194"/>
                      <a:pt x="136" y="193"/>
                    </a:cubicBezTo>
                    <a:cubicBezTo>
                      <a:pt x="135" y="193"/>
                      <a:pt x="135" y="193"/>
                      <a:pt x="134" y="192"/>
                    </a:cubicBezTo>
                    <a:cubicBezTo>
                      <a:pt x="135" y="191"/>
                      <a:pt x="135" y="190"/>
                      <a:pt x="135" y="189"/>
                    </a:cubicBezTo>
                    <a:cubicBezTo>
                      <a:pt x="133" y="184"/>
                      <a:pt x="133" y="179"/>
                      <a:pt x="131" y="178"/>
                    </a:cubicBezTo>
                    <a:cubicBezTo>
                      <a:pt x="131" y="174"/>
                      <a:pt x="131" y="170"/>
                      <a:pt x="132" y="167"/>
                    </a:cubicBezTo>
                    <a:cubicBezTo>
                      <a:pt x="131" y="166"/>
                      <a:pt x="131" y="166"/>
                      <a:pt x="130" y="166"/>
                    </a:cubicBezTo>
                    <a:cubicBezTo>
                      <a:pt x="131" y="163"/>
                      <a:pt x="131" y="161"/>
                      <a:pt x="131" y="158"/>
                    </a:cubicBezTo>
                    <a:cubicBezTo>
                      <a:pt x="130" y="158"/>
                      <a:pt x="130" y="157"/>
                      <a:pt x="129" y="157"/>
                    </a:cubicBezTo>
                    <a:cubicBezTo>
                      <a:pt x="129" y="154"/>
                      <a:pt x="129" y="152"/>
                      <a:pt x="130" y="150"/>
                    </a:cubicBezTo>
                    <a:cubicBezTo>
                      <a:pt x="129" y="150"/>
                      <a:pt x="129" y="150"/>
                      <a:pt x="128" y="149"/>
                    </a:cubicBezTo>
                    <a:cubicBezTo>
                      <a:pt x="128" y="149"/>
                      <a:pt x="129" y="148"/>
                      <a:pt x="129" y="148"/>
                    </a:cubicBezTo>
                    <a:cubicBezTo>
                      <a:pt x="128" y="147"/>
                      <a:pt x="127" y="146"/>
                      <a:pt x="126" y="145"/>
                    </a:cubicBezTo>
                    <a:cubicBezTo>
                      <a:pt x="126" y="146"/>
                      <a:pt x="125" y="146"/>
                      <a:pt x="125" y="147"/>
                    </a:cubicBezTo>
                    <a:cubicBezTo>
                      <a:pt x="125" y="147"/>
                      <a:pt x="124" y="146"/>
                      <a:pt x="124" y="146"/>
                    </a:cubicBezTo>
                    <a:cubicBezTo>
                      <a:pt x="123" y="148"/>
                      <a:pt x="122" y="151"/>
                      <a:pt x="121" y="153"/>
                    </a:cubicBezTo>
                    <a:cubicBezTo>
                      <a:pt x="121" y="154"/>
                      <a:pt x="121" y="154"/>
                      <a:pt x="122" y="154"/>
                    </a:cubicBezTo>
                    <a:cubicBezTo>
                      <a:pt x="119" y="174"/>
                      <a:pt x="118" y="198"/>
                      <a:pt x="116" y="221"/>
                    </a:cubicBezTo>
                    <a:cubicBezTo>
                      <a:pt x="116" y="222"/>
                      <a:pt x="117" y="222"/>
                      <a:pt x="117" y="222"/>
                    </a:cubicBezTo>
                    <a:cubicBezTo>
                      <a:pt x="116" y="224"/>
                      <a:pt x="115" y="227"/>
                      <a:pt x="114" y="229"/>
                    </a:cubicBezTo>
                    <a:cubicBezTo>
                      <a:pt x="115" y="230"/>
                      <a:pt x="115" y="230"/>
                      <a:pt x="116" y="230"/>
                    </a:cubicBezTo>
                    <a:cubicBezTo>
                      <a:pt x="114" y="235"/>
                      <a:pt x="114" y="237"/>
                      <a:pt x="119" y="243"/>
                    </a:cubicBezTo>
                    <a:cubicBezTo>
                      <a:pt x="118" y="244"/>
                      <a:pt x="118" y="244"/>
                      <a:pt x="118" y="245"/>
                    </a:cubicBezTo>
                    <a:cubicBezTo>
                      <a:pt x="119" y="246"/>
                      <a:pt x="120" y="248"/>
                      <a:pt x="121" y="249"/>
                    </a:cubicBezTo>
                    <a:close/>
                  </a:path>
                </a:pathLst>
              </a:custGeom>
              <a:solidFill>
                <a:srgbClr val="E6001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1" name="i$ļíḍé"/>
              <p:cNvSpPr/>
              <p:nvPr/>
            </p:nvSpPr>
            <p:spPr bwMode="auto">
              <a:xfrm>
                <a:off x="2711451" y="2667001"/>
                <a:ext cx="95250" cy="222250"/>
              </a:xfrm>
              <a:custGeom>
                <a:avLst/>
                <a:gdLst>
                  <a:gd name="T0" fmla="*/ 111 w 121"/>
                  <a:gd name="T1" fmla="*/ 283 h 283"/>
                  <a:gd name="T2" fmla="*/ 94 w 121"/>
                  <a:gd name="T3" fmla="*/ 268 h 283"/>
                  <a:gd name="T4" fmla="*/ 82 w 121"/>
                  <a:gd name="T5" fmla="*/ 222 h 283"/>
                  <a:gd name="T6" fmla="*/ 55 w 121"/>
                  <a:gd name="T7" fmla="*/ 124 h 283"/>
                  <a:gd name="T8" fmla="*/ 39 w 121"/>
                  <a:gd name="T9" fmla="*/ 173 h 283"/>
                  <a:gd name="T10" fmla="*/ 6 w 121"/>
                  <a:gd name="T11" fmla="*/ 177 h 283"/>
                  <a:gd name="T12" fmla="*/ 2 w 121"/>
                  <a:gd name="T13" fmla="*/ 108 h 283"/>
                  <a:gd name="T14" fmla="*/ 6 w 121"/>
                  <a:gd name="T15" fmla="*/ 106 h 283"/>
                  <a:gd name="T16" fmla="*/ 16 w 121"/>
                  <a:gd name="T17" fmla="*/ 116 h 283"/>
                  <a:gd name="T18" fmla="*/ 29 w 121"/>
                  <a:gd name="T19" fmla="*/ 139 h 283"/>
                  <a:gd name="T20" fmla="*/ 49 w 121"/>
                  <a:gd name="T21" fmla="*/ 102 h 283"/>
                  <a:gd name="T22" fmla="*/ 21 w 121"/>
                  <a:gd name="T23" fmla="*/ 39 h 283"/>
                  <a:gd name="T24" fmla="*/ 17 w 121"/>
                  <a:gd name="T25" fmla="*/ 28 h 283"/>
                  <a:gd name="T26" fmla="*/ 49 w 121"/>
                  <a:gd name="T27" fmla="*/ 12 h 283"/>
                  <a:gd name="T28" fmla="*/ 63 w 121"/>
                  <a:gd name="T29" fmla="*/ 63 h 283"/>
                  <a:gd name="T30" fmla="*/ 87 w 121"/>
                  <a:gd name="T31" fmla="*/ 24 h 283"/>
                  <a:gd name="T32" fmla="*/ 117 w 121"/>
                  <a:gd name="T33" fmla="*/ 8 h 283"/>
                  <a:gd name="T34" fmla="*/ 121 w 121"/>
                  <a:gd name="T35" fmla="*/ 20 h 283"/>
                  <a:gd name="T36" fmla="*/ 119 w 121"/>
                  <a:gd name="T37" fmla="*/ 21 h 283"/>
                  <a:gd name="T38" fmla="*/ 120 w 121"/>
                  <a:gd name="T39" fmla="*/ 26 h 283"/>
                  <a:gd name="T40" fmla="*/ 99 w 121"/>
                  <a:gd name="T41" fmla="*/ 87 h 283"/>
                  <a:gd name="T42" fmla="*/ 108 w 121"/>
                  <a:gd name="T43" fmla="*/ 88 h 283"/>
                  <a:gd name="T44" fmla="*/ 112 w 121"/>
                  <a:gd name="T45" fmla="*/ 92 h 283"/>
                  <a:gd name="T46" fmla="*/ 82 w 121"/>
                  <a:gd name="T47" fmla="*/ 137 h 283"/>
                  <a:gd name="T48" fmla="*/ 98 w 121"/>
                  <a:gd name="T49" fmla="*/ 195 h 283"/>
                  <a:gd name="T50" fmla="*/ 120 w 121"/>
                  <a:gd name="T51" fmla="*/ 266 h 283"/>
                  <a:gd name="T52" fmla="*/ 118 w 121"/>
                  <a:gd name="T53" fmla="*/ 278 h 283"/>
                  <a:gd name="T54" fmla="*/ 111 w 121"/>
                  <a:gd name="T55" fmla="*/ 283 h 283"/>
                  <a:gd name="T56" fmla="*/ 77 w 121"/>
                  <a:gd name="T57" fmla="*/ 119 h 283"/>
                  <a:gd name="T58" fmla="*/ 88 w 121"/>
                  <a:gd name="T59" fmla="*/ 93 h 283"/>
                  <a:gd name="T60" fmla="*/ 85 w 121"/>
                  <a:gd name="T61" fmla="*/ 74 h 283"/>
                  <a:gd name="T62" fmla="*/ 87 w 121"/>
                  <a:gd name="T63" fmla="*/ 72 h 283"/>
                  <a:gd name="T64" fmla="*/ 84 w 121"/>
                  <a:gd name="T65" fmla="*/ 59 h 283"/>
                  <a:gd name="T66" fmla="*/ 71 w 121"/>
                  <a:gd name="T67" fmla="*/ 80 h 283"/>
                  <a:gd name="T68" fmla="*/ 77 w 121"/>
                  <a:gd name="T69" fmla="*/ 119 h 2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21" h="283">
                    <a:moveTo>
                      <a:pt x="111" y="283"/>
                    </a:moveTo>
                    <a:cubicBezTo>
                      <a:pt x="108" y="277"/>
                      <a:pt x="94" y="268"/>
                      <a:pt x="94" y="268"/>
                    </a:cubicBezTo>
                    <a:cubicBezTo>
                      <a:pt x="89" y="256"/>
                      <a:pt x="81" y="234"/>
                      <a:pt x="82" y="222"/>
                    </a:cubicBezTo>
                    <a:cubicBezTo>
                      <a:pt x="74" y="188"/>
                      <a:pt x="64" y="156"/>
                      <a:pt x="55" y="124"/>
                    </a:cubicBezTo>
                    <a:cubicBezTo>
                      <a:pt x="48" y="127"/>
                      <a:pt x="41" y="164"/>
                      <a:pt x="39" y="173"/>
                    </a:cubicBezTo>
                    <a:cubicBezTo>
                      <a:pt x="38" y="194"/>
                      <a:pt x="12" y="185"/>
                      <a:pt x="6" y="177"/>
                    </a:cubicBezTo>
                    <a:cubicBezTo>
                      <a:pt x="0" y="157"/>
                      <a:pt x="1" y="126"/>
                      <a:pt x="2" y="108"/>
                    </a:cubicBezTo>
                    <a:cubicBezTo>
                      <a:pt x="3" y="107"/>
                      <a:pt x="4" y="107"/>
                      <a:pt x="6" y="106"/>
                    </a:cubicBezTo>
                    <a:cubicBezTo>
                      <a:pt x="7" y="109"/>
                      <a:pt x="12" y="111"/>
                      <a:pt x="16" y="116"/>
                    </a:cubicBezTo>
                    <a:cubicBezTo>
                      <a:pt x="20" y="124"/>
                      <a:pt x="25" y="131"/>
                      <a:pt x="29" y="139"/>
                    </a:cubicBezTo>
                    <a:cubicBezTo>
                      <a:pt x="42" y="132"/>
                      <a:pt x="38" y="112"/>
                      <a:pt x="49" y="102"/>
                    </a:cubicBezTo>
                    <a:cubicBezTo>
                      <a:pt x="46" y="77"/>
                      <a:pt x="33" y="54"/>
                      <a:pt x="21" y="39"/>
                    </a:cubicBezTo>
                    <a:cubicBezTo>
                      <a:pt x="20" y="35"/>
                      <a:pt x="18" y="31"/>
                      <a:pt x="17" y="28"/>
                    </a:cubicBezTo>
                    <a:cubicBezTo>
                      <a:pt x="23" y="5"/>
                      <a:pt x="28" y="0"/>
                      <a:pt x="49" y="12"/>
                    </a:cubicBezTo>
                    <a:cubicBezTo>
                      <a:pt x="54" y="28"/>
                      <a:pt x="57" y="45"/>
                      <a:pt x="63" y="63"/>
                    </a:cubicBezTo>
                    <a:cubicBezTo>
                      <a:pt x="70" y="59"/>
                      <a:pt x="78" y="31"/>
                      <a:pt x="87" y="24"/>
                    </a:cubicBezTo>
                    <a:cubicBezTo>
                      <a:pt x="89" y="11"/>
                      <a:pt x="106" y="3"/>
                      <a:pt x="117" y="8"/>
                    </a:cubicBezTo>
                    <a:cubicBezTo>
                      <a:pt x="118" y="12"/>
                      <a:pt x="119" y="16"/>
                      <a:pt x="121" y="20"/>
                    </a:cubicBezTo>
                    <a:cubicBezTo>
                      <a:pt x="120" y="21"/>
                      <a:pt x="119" y="21"/>
                      <a:pt x="119" y="21"/>
                    </a:cubicBezTo>
                    <a:cubicBezTo>
                      <a:pt x="119" y="23"/>
                      <a:pt x="119" y="24"/>
                      <a:pt x="120" y="26"/>
                    </a:cubicBezTo>
                    <a:cubicBezTo>
                      <a:pt x="106" y="43"/>
                      <a:pt x="93" y="60"/>
                      <a:pt x="99" y="87"/>
                    </a:cubicBezTo>
                    <a:cubicBezTo>
                      <a:pt x="105" y="88"/>
                      <a:pt x="105" y="88"/>
                      <a:pt x="108" y="88"/>
                    </a:cubicBezTo>
                    <a:cubicBezTo>
                      <a:pt x="108" y="90"/>
                      <a:pt x="108" y="90"/>
                      <a:pt x="112" y="92"/>
                    </a:cubicBezTo>
                    <a:cubicBezTo>
                      <a:pt x="116" y="105"/>
                      <a:pt x="92" y="132"/>
                      <a:pt x="82" y="137"/>
                    </a:cubicBezTo>
                    <a:cubicBezTo>
                      <a:pt x="79" y="147"/>
                      <a:pt x="92" y="179"/>
                      <a:pt x="98" y="195"/>
                    </a:cubicBezTo>
                    <a:cubicBezTo>
                      <a:pt x="99" y="196"/>
                      <a:pt x="99" y="196"/>
                      <a:pt x="120" y="266"/>
                    </a:cubicBezTo>
                    <a:cubicBezTo>
                      <a:pt x="119" y="269"/>
                      <a:pt x="119" y="273"/>
                      <a:pt x="118" y="278"/>
                    </a:cubicBezTo>
                    <a:cubicBezTo>
                      <a:pt x="116" y="280"/>
                      <a:pt x="113" y="282"/>
                      <a:pt x="111" y="283"/>
                    </a:cubicBezTo>
                    <a:close/>
                    <a:moveTo>
                      <a:pt x="77" y="119"/>
                    </a:moveTo>
                    <a:cubicBezTo>
                      <a:pt x="83" y="111"/>
                      <a:pt x="88" y="105"/>
                      <a:pt x="88" y="93"/>
                    </a:cubicBezTo>
                    <a:cubicBezTo>
                      <a:pt x="86" y="85"/>
                      <a:pt x="86" y="78"/>
                      <a:pt x="85" y="74"/>
                    </a:cubicBezTo>
                    <a:cubicBezTo>
                      <a:pt x="86" y="73"/>
                      <a:pt x="86" y="73"/>
                      <a:pt x="87" y="72"/>
                    </a:cubicBezTo>
                    <a:cubicBezTo>
                      <a:pt x="86" y="68"/>
                      <a:pt x="85" y="64"/>
                      <a:pt x="84" y="59"/>
                    </a:cubicBezTo>
                    <a:cubicBezTo>
                      <a:pt x="77" y="61"/>
                      <a:pt x="70" y="73"/>
                      <a:pt x="71" y="80"/>
                    </a:cubicBezTo>
                    <a:cubicBezTo>
                      <a:pt x="64" y="87"/>
                      <a:pt x="70" y="111"/>
                      <a:pt x="77" y="119"/>
                    </a:cubicBezTo>
                    <a:close/>
                  </a:path>
                </a:pathLst>
              </a:custGeom>
              <a:solidFill>
                <a:srgbClr val="E6001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2" name="î$lîde"/>
              <p:cNvSpPr/>
              <p:nvPr/>
            </p:nvSpPr>
            <p:spPr bwMode="auto">
              <a:xfrm>
                <a:off x="3482976" y="2732088"/>
                <a:ext cx="207963" cy="249238"/>
              </a:xfrm>
              <a:custGeom>
                <a:avLst/>
                <a:gdLst>
                  <a:gd name="T0" fmla="*/ 28 w 264"/>
                  <a:gd name="T1" fmla="*/ 281 h 318"/>
                  <a:gd name="T2" fmla="*/ 19 w 264"/>
                  <a:gd name="T3" fmla="*/ 256 h 318"/>
                  <a:gd name="T4" fmla="*/ 52 w 264"/>
                  <a:gd name="T5" fmla="*/ 278 h 318"/>
                  <a:gd name="T6" fmla="*/ 65 w 264"/>
                  <a:gd name="T7" fmla="*/ 263 h 318"/>
                  <a:gd name="T8" fmla="*/ 98 w 264"/>
                  <a:gd name="T9" fmla="*/ 206 h 318"/>
                  <a:gd name="T10" fmla="*/ 43 w 264"/>
                  <a:gd name="T11" fmla="*/ 204 h 318"/>
                  <a:gd name="T12" fmla="*/ 5 w 264"/>
                  <a:gd name="T13" fmla="*/ 157 h 318"/>
                  <a:gd name="T14" fmla="*/ 76 w 264"/>
                  <a:gd name="T15" fmla="*/ 181 h 318"/>
                  <a:gd name="T16" fmla="*/ 147 w 264"/>
                  <a:gd name="T17" fmla="*/ 171 h 318"/>
                  <a:gd name="T18" fmla="*/ 130 w 264"/>
                  <a:gd name="T19" fmla="*/ 162 h 318"/>
                  <a:gd name="T20" fmla="*/ 89 w 264"/>
                  <a:gd name="T21" fmla="*/ 132 h 318"/>
                  <a:gd name="T22" fmla="*/ 221 w 264"/>
                  <a:gd name="T23" fmla="*/ 130 h 318"/>
                  <a:gd name="T24" fmla="*/ 169 w 264"/>
                  <a:gd name="T25" fmla="*/ 147 h 318"/>
                  <a:gd name="T26" fmla="*/ 151 w 264"/>
                  <a:gd name="T27" fmla="*/ 99 h 318"/>
                  <a:gd name="T28" fmla="*/ 141 w 264"/>
                  <a:gd name="T29" fmla="*/ 82 h 318"/>
                  <a:gd name="T30" fmla="*/ 113 w 264"/>
                  <a:gd name="T31" fmla="*/ 100 h 318"/>
                  <a:gd name="T32" fmla="*/ 96 w 264"/>
                  <a:gd name="T33" fmla="*/ 114 h 318"/>
                  <a:gd name="T34" fmla="*/ 105 w 264"/>
                  <a:gd name="T35" fmla="*/ 48 h 318"/>
                  <a:gd name="T36" fmla="*/ 116 w 264"/>
                  <a:gd name="T37" fmla="*/ 67 h 318"/>
                  <a:gd name="T38" fmla="*/ 126 w 264"/>
                  <a:gd name="T39" fmla="*/ 3 h 318"/>
                  <a:gd name="T40" fmla="*/ 131 w 264"/>
                  <a:gd name="T41" fmla="*/ 0 h 318"/>
                  <a:gd name="T42" fmla="*/ 143 w 264"/>
                  <a:gd name="T43" fmla="*/ 73 h 318"/>
                  <a:gd name="T44" fmla="*/ 162 w 264"/>
                  <a:gd name="T45" fmla="*/ 41 h 318"/>
                  <a:gd name="T46" fmla="*/ 184 w 264"/>
                  <a:gd name="T47" fmla="*/ 63 h 318"/>
                  <a:gd name="T48" fmla="*/ 207 w 264"/>
                  <a:gd name="T49" fmla="*/ 88 h 318"/>
                  <a:gd name="T50" fmla="*/ 188 w 264"/>
                  <a:gd name="T51" fmla="*/ 95 h 318"/>
                  <a:gd name="T52" fmla="*/ 253 w 264"/>
                  <a:gd name="T53" fmla="*/ 154 h 318"/>
                  <a:gd name="T54" fmla="*/ 181 w 264"/>
                  <a:gd name="T55" fmla="*/ 165 h 318"/>
                  <a:gd name="T56" fmla="*/ 164 w 264"/>
                  <a:gd name="T57" fmla="*/ 196 h 318"/>
                  <a:gd name="T58" fmla="*/ 143 w 264"/>
                  <a:gd name="T59" fmla="*/ 198 h 318"/>
                  <a:gd name="T60" fmla="*/ 159 w 264"/>
                  <a:gd name="T61" fmla="*/ 248 h 318"/>
                  <a:gd name="T62" fmla="*/ 124 w 264"/>
                  <a:gd name="T63" fmla="*/ 238 h 318"/>
                  <a:gd name="T64" fmla="*/ 121 w 264"/>
                  <a:gd name="T65" fmla="*/ 212 h 318"/>
                  <a:gd name="T66" fmla="*/ 50 w 264"/>
                  <a:gd name="T67" fmla="*/ 318 h 318"/>
                  <a:gd name="T68" fmla="*/ 158 w 264"/>
                  <a:gd name="T69" fmla="*/ 127 h 318"/>
                  <a:gd name="T70" fmla="*/ 173 w 264"/>
                  <a:gd name="T71" fmla="*/ 116 h 318"/>
                  <a:gd name="T72" fmla="*/ 158 w 264"/>
                  <a:gd name="T73" fmla="*/ 127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264" h="318">
                    <a:moveTo>
                      <a:pt x="42" y="316"/>
                    </a:moveTo>
                    <a:cubicBezTo>
                      <a:pt x="41" y="304"/>
                      <a:pt x="27" y="292"/>
                      <a:pt x="28" y="281"/>
                    </a:cubicBezTo>
                    <a:cubicBezTo>
                      <a:pt x="23" y="275"/>
                      <a:pt x="20" y="263"/>
                      <a:pt x="16" y="258"/>
                    </a:cubicBezTo>
                    <a:cubicBezTo>
                      <a:pt x="17" y="258"/>
                      <a:pt x="18" y="257"/>
                      <a:pt x="19" y="256"/>
                    </a:cubicBezTo>
                    <a:cubicBezTo>
                      <a:pt x="25" y="262"/>
                      <a:pt x="30" y="267"/>
                      <a:pt x="36" y="273"/>
                    </a:cubicBezTo>
                    <a:cubicBezTo>
                      <a:pt x="39" y="272"/>
                      <a:pt x="44" y="282"/>
                      <a:pt x="52" y="278"/>
                    </a:cubicBezTo>
                    <a:cubicBezTo>
                      <a:pt x="56" y="273"/>
                      <a:pt x="59" y="268"/>
                      <a:pt x="63" y="263"/>
                    </a:cubicBezTo>
                    <a:cubicBezTo>
                      <a:pt x="64" y="262"/>
                      <a:pt x="64" y="263"/>
                      <a:pt x="65" y="263"/>
                    </a:cubicBezTo>
                    <a:cubicBezTo>
                      <a:pt x="65" y="262"/>
                      <a:pt x="65" y="261"/>
                      <a:pt x="65" y="261"/>
                    </a:cubicBezTo>
                    <a:cubicBezTo>
                      <a:pt x="74" y="246"/>
                      <a:pt x="94" y="221"/>
                      <a:pt x="98" y="206"/>
                    </a:cubicBezTo>
                    <a:cubicBezTo>
                      <a:pt x="90" y="197"/>
                      <a:pt x="51" y="201"/>
                      <a:pt x="45" y="206"/>
                    </a:cubicBezTo>
                    <a:cubicBezTo>
                      <a:pt x="45" y="205"/>
                      <a:pt x="44" y="205"/>
                      <a:pt x="43" y="204"/>
                    </a:cubicBezTo>
                    <a:cubicBezTo>
                      <a:pt x="28" y="208"/>
                      <a:pt x="28" y="208"/>
                      <a:pt x="22" y="208"/>
                    </a:cubicBezTo>
                    <a:cubicBezTo>
                      <a:pt x="7" y="201"/>
                      <a:pt x="0" y="168"/>
                      <a:pt x="5" y="157"/>
                    </a:cubicBezTo>
                    <a:cubicBezTo>
                      <a:pt x="8" y="156"/>
                      <a:pt x="8" y="156"/>
                      <a:pt x="23" y="165"/>
                    </a:cubicBezTo>
                    <a:cubicBezTo>
                      <a:pt x="35" y="168"/>
                      <a:pt x="64" y="172"/>
                      <a:pt x="76" y="181"/>
                    </a:cubicBezTo>
                    <a:cubicBezTo>
                      <a:pt x="79" y="177"/>
                      <a:pt x="111" y="191"/>
                      <a:pt x="120" y="189"/>
                    </a:cubicBezTo>
                    <a:cubicBezTo>
                      <a:pt x="129" y="184"/>
                      <a:pt x="142" y="178"/>
                      <a:pt x="147" y="171"/>
                    </a:cubicBezTo>
                    <a:cubicBezTo>
                      <a:pt x="146" y="163"/>
                      <a:pt x="134" y="162"/>
                      <a:pt x="131" y="160"/>
                    </a:cubicBezTo>
                    <a:cubicBezTo>
                      <a:pt x="131" y="161"/>
                      <a:pt x="130" y="162"/>
                      <a:pt x="130" y="162"/>
                    </a:cubicBezTo>
                    <a:cubicBezTo>
                      <a:pt x="117" y="155"/>
                      <a:pt x="89" y="159"/>
                      <a:pt x="86" y="136"/>
                    </a:cubicBezTo>
                    <a:cubicBezTo>
                      <a:pt x="87" y="135"/>
                      <a:pt x="88" y="133"/>
                      <a:pt x="89" y="132"/>
                    </a:cubicBezTo>
                    <a:cubicBezTo>
                      <a:pt x="138" y="150"/>
                      <a:pt x="143" y="151"/>
                      <a:pt x="162" y="158"/>
                    </a:cubicBezTo>
                    <a:cubicBezTo>
                      <a:pt x="181" y="156"/>
                      <a:pt x="208" y="145"/>
                      <a:pt x="221" y="130"/>
                    </a:cubicBezTo>
                    <a:cubicBezTo>
                      <a:pt x="220" y="117"/>
                      <a:pt x="192" y="104"/>
                      <a:pt x="186" y="112"/>
                    </a:cubicBezTo>
                    <a:cubicBezTo>
                      <a:pt x="187" y="128"/>
                      <a:pt x="178" y="137"/>
                      <a:pt x="169" y="147"/>
                    </a:cubicBezTo>
                    <a:cubicBezTo>
                      <a:pt x="150" y="149"/>
                      <a:pt x="144" y="140"/>
                      <a:pt x="137" y="120"/>
                    </a:cubicBezTo>
                    <a:cubicBezTo>
                      <a:pt x="141" y="113"/>
                      <a:pt x="146" y="106"/>
                      <a:pt x="151" y="99"/>
                    </a:cubicBezTo>
                    <a:cubicBezTo>
                      <a:pt x="163" y="93"/>
                      <a:pt x="163" y="93"/>
                      <a:pt x="164" y="90"/>
                    </a:cubicBezTo>
                    <a:cubicBezTo>
                      <a:pt x="157" y="80"/>
                      <a:pt x="149" y="83"/>
                      <a:pt x="141" y="82"/>
                    </a:cubicBezTo>
                    <a:cubicBezTo>
                      <a:pt x="133" y="90"/>
                      <a:pt x="134" y="109"/>
                      <a:pt x="124" y="123"/>
                    </a:cubicBezTo>
                    <a:cubicBezTo>
                      <a:pt x="113" y="127"/>
                      <a:pt x="111" y="106"/>
                      <a:pt x="113" y="100"/>
                    </a:cubicBezTo>
                    <a:cubicBezTo>
                      <a:pt x="112" y="98"/>
                      <a:pt x="110" y="97"/>
                      <a:pt x="109" y="95"/>
                    </a:cubicBezTo>
                    <a:cubicBezTo>
                      <a:pt x="105" y="101"/>
                      <a:pt x="102" y="108"/>
                      <a:pt x="96" y="114"/>
                    </a:cubicBezTo>
                    <a:cubicBezTo>
                      <a:pt x="93" y="110"/>
                      <a:pt x="92" y="107"/>
                      <a:pt x="92" y="104"/>
                    </a:cubicBezTo>
                    <a:cubicBezTo>
                      <a:pt x="96" y="85"/>
                      <a:pt x="101" y="66"/>
                      <a:pt x="105" y="48"/>
                    </a:cubicBezTo>
                    <a:cubicBezTo>
                      <a:pt x="102" y="38"/>
                      <a:pt x="104" y="33"/>
                      <a:pt x="107" y="28"/>
                    </a:cubicBezTo>
                    <a:cubicBezTo>
                      <a:pt x="115" y="37"/>
                      <a:pt x="118" y="50"/>
                      <a:pt x="116" y="67"/>
                    </a:cubicBezTo>
                    <a:cubicBezTo>
                      <a:pt x="117" y="68"/>
                      <a:pt x="118" y="70"/>
                      <a:pt x="119" y="71"/>
                    </a:cubicBezTo>
                    <a:cubicBezTo>
                      <a:pt x="129" y="50"/>
                      <a:pt x="128" y="23"/>
                      <a:pt x="126" y="3"/>
                    </a:cubicBezTo>
                    <a:cubicBezTo>
                      <a:pt x="126" y="2"/>
                      <a:pt x="127" y="1"/>
                      <a:pt x="128" y="0"/>
                    </a:cubicBezTo>
                    <a:cubicBezTo>
                      <a:pt x="129" y="0"/>
                      <a:pt x="130" y="0"/>
                      <a:pt x="131" y="0"/>
                    </a:cubicBezTo>
                    <a:cubicBezTo>
                      <a:pt x="140" y="10"/>
                      <a:pt x="143" y="37"/>
                      <a:pt x="140" y="57"/>
                    </a:cubicBezTo>
                    <a:cubicBezTo>
                      <a:pt x="140" y="65"/>
                      <a:pt x="137" y="64"/>
                      <a:pt x="143" y="73"/>
                    </a:cubicBezTo>
                    <a:cubicBezTo>
                      <a:pt x="150" y="75"/>
                      <a:pt x="156" y="75"/>
                      <a:pt x="161" y="68"/>
                    </a:cubicBezTo>
                    <a:cubicBezTo>
                      <a:pt x="161" y="55"/>
                      <a:pt x="156" y="49"/>
                      <a:pt x="162" y="41"/>
                    </a:cubicBezTo>
                    <a:cubicBezTo>
                      <a:pt x="166" y="45"/>
                      <a:pt x="169" y="49"/>
                      <a:pt x="173" y="53"/>
                    </a:cubicBezTo>
                    <a:cubicBezTo>
                      <a:pt x="173" y="57"/>
                      <a:pt x="180" y="63"/>
                      <a:pt x="184" y="63"/>
                    </a:cubicBezTo>
                    <a:cubicBezTo>
                      <a:pt x="193" y="57"/>
                      <a:pt x="196" y="52"/>
                      <a:pt x="204" y="49"/>
                    </a:cubicBezTo>
                    <a:cubicBezTo>
                      <a:pt x="210" y="59"/>
                      <a:pt x="216" y="74"/>
                      <a:pt x="207" y="88"/>
                    </a:cubicBezTo>
                    <a:cubicBezTo>
                      <a:pt x="200" y="90"/>
                      <a:pt x="192" y="90"/>
                      <a:pt x="189" y="91"/>
                    </a:cubicBezTo>
                    <a:cubicBezTo>
                      <a:pt x="189" y="92"/>
                      <a:pt x="189" y="94"/>
                      <a:pt x="188" y="95"/>
                    </a:cubicBezTo>
                    <a:cubicBezTo>
                      <a:pt x="192" y="99"/>
                      <a:pt x="195" y="98"/>
                      <a:pt x="199" y="97"/>
                    </a:cubicBezTo>
                    <a:cubicBezTo>
                      <a:pt x="221" y="104"/>
                      <a:pt x="264" y="104"/>
                      <a:pt x="253" y="154"/>
                    </a:cubicBezTo>
                    <a:cubicBezTo>
                      <a:pt x="249" y="162"/>
                      <a:pt x="249" y="169"/>
                      <a:pt x="238" y="171"/>
                    </a:cubicBezTo>
                    <a:cubicBezTo>
                      <a:pt x="221" y="166"/>
                      <a:pt x="197" y="154"/>
                      <a:pt x="181" y="165"/>
                    </a:cubicBezTo>
                    <a:cubicBezTo>
                      <a:pt x="181" y="176"/>
                      <a:pt x="191" y="196"/>
                      <a:pt x="175" y="198"/>
                    </a:cubicBezTo>
                    <a:cubicBezTo>
                      <a:pt x="171" y="197"/>
                      <a:pt x="168" y="196"/>
                      <a:pt x="164" y="196"/>
                    </a:cubicBezTo>
                    <a:cubicBezTo>
                      <a:pt x="163" y="197"/>
                      <a:pt x="163" y="198"/>
                      <a:pt x="162" y="198"/>
                    </a:cubicBezTo>
                    <a:cubicBezTo>
                      <a:pt x="157" y="193"/>
                      <a:pt x="149" y="195"/>
                      <a:pt x="143" y="198"/>
                    </a:cubicBezTo>
                    <a:cubicBezTo>
                      <a:pt x="143" y="199"/>
                      <a:pt x="143" y="201"/>
                      <a:pt x="143" y="202"/>
                    </a:cubicBezTo>
                    <a:cubicBezTo>
                      <a:pt x="153" y="211"/>
                      <a:pt x="168" y="230"/>
                      <a:pt x="159" y="248"/>
                    </a:cubicBezTo>
                    <a:cubicBezTo>
                      <a:pt x="149" y="248"/>
                      <a:pt x="142" y="244"/>
                      <a:pt x="133" y="240"/>
                    </a:cubicBezTo>
                    <a:cubicBezTo>
                      <a:pt x="130" y="242"/>
                      <a:pt x="125" y="240"/>
                      <a:pt x="124" y="238"/>
                    </a:cubicBezTo>
                    <a:cubicBezTo>
                      <a:pt x="129" y="231"/>
                      <a:pt x="132" y="223"/>
                      <a:pt x="134" y="218"/>
                    </a:cubicBezTo>
                    <a:cubicBezTo>
                      <a:pt x="127" y="211"/>
                      <a:pt x="127" y="212"/>
                      <a:pt x="121" y="212"/>
                    </a:cubicBezTo>
                    <a:cubicBezTo>
                      <a:pt x="109" y="231"/>
                      <a:pt x="97" y="250"/>
                      <a:pt x="84" y="269"/>
                    </a:cubicBezTo>
                    <a:cubicBezTo>
                      <a:pt x="78" y="281"/>
                      <a:pt x="64" y="314"/>
                      <a:pt x="50" y="318"/>
                    </a:cubicBezTo>
                    <a:cubicBezTo>
                      <a:pt x="44" y="315"/>
                      <a:pt x="44" y="315"/>
                      <a:pt x="42" y="316"/>
                    </a:cubicBezTo>
                    <a:close/>
                    <a:moveTo>
                      <a:pt x="158" y="127"/>
                    </a:moveTo>
                    <a:cubicBezTo>
                      <a:pt x="164" y="133"/>
                      <a:pt x="164" y="133"/>
                      <a:pt x="165" y="133"/>
                    </a:cubicBezTo>
                    <a:cubicBezTo>
                      <a:pt x="169" y="126"/>
                      <a:pt x="171" y="120"/>
                      <a:pt x="173" y="116"/>
                    </a:cubicBezTo>
                    <a:cubicBezTo>
                      <a:pt x="164" y="104"/>
                      <a:pt x="164" y="108"/>
                      <a:pt x="156" y="119"/>
                    </a:cubicBezTo>
                    <a:cubicBezTo>
                      <a:pt x="157" y="122"/>
                      <a:pt x="157" y="124"/>
                      <a:pt x="158" y="127"/>
                    </a:cubicBezTo>
                    <a:close/>
                  </a:path>
                </a:pathLst>
              </a:custGeom>
              <a:solidFill>
                <a:srgbClr val="E6001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3" name="íṧļide"/>
              <p:cNvSpPr/>
              <p:nvPr/>
            </p:nvSpPr>
            <p:spPr bwMode="auto">
              <a:xfrm>
                <a:off x="2887663" y="2605088"/>
                <a:ext cx="152400" cy="233363"/>
              </a:xfrm>
              <a:custGeom>
                <a:avLst/>
                <a:gdLst>
                  <a:gd name="T0" fmla="*/ 148 w 194"/>
                  <a:gd name="T1" fmla="*/ 226 h 299"/>
                  <a:gd name="T2" fmla="*/ 145 w 194"/>
                  <a:gd name="T3" fmla="*/ 175 h 299"/>
                  <a:gd name="T4" fmla="*/ 127 w 194"/>
                  <a:gd name="T5" fmla="*/ 196 h 299"/>
                  <a:gd name="T6" fmla="*/ 116 w 194"/>
                  <a:gd name="T7" fmla="*/ 175 h 299"/>
                  <a:gd name="T8" fmla="*/ 87 w 194"/>
                  <a:gd name="T9" fmla="*/ 56 h 299"/>
                  <a:gd name="T10" fmla="*/ 116 w 194"/>
                  <a:gd name="T11" fmla="*/ 122 h 299"/>
                  <a:gd name="T12" fmla="*/ 126 w 194"/>
                  <a:gd name="T13" fmla="*/ 164 h 299"/>
                  <a:gd name="T14" fmla="*/ 129 w 194"/>
                  <a:gd name="T15" fmla="*/ 43 h 299"/>
                  <a:gd name="T16" fmla="*/ 157 w 194"/>
                  <a:gd name="T17" fmla="*/ 43 h 299"/>
                  <a:gd name="T18" fmla="*/ 170 w 194"/>
                  <a:gd name="T19" fmla="*/ 77 h 299"/>
                  <a:gd name="T20" fmla="*/ 177 w 194"/>
                  <a:gd name="T21" fmla="*/ 95 h 299"/>
                  <a:gd name="T22" fmla="*/ 173 w 194"/>
                  <a:gd name="T23" fmla="*/ 274 h 299"/>
                  <a:gd name="T24" fmla="*/ 78 w 194"/>
                  <a:gd name="T25" fmla="*/ 242 h 299"/>
                  <a:gd name="T26" fmla="*/ 80 w 194"/>
                  <a:gd name="T27" fmla="*/ 196 h 299"/>
                  <a:gd name="T28" fmla="*/ 96 w 194"/>
                  <a:gd name="T29" fmla="*/ 156 h 299"/>
                  <a:gd name="T30" fmla="*/ 78 w 194"/>
                  <a:gd name="T31" fmla="*/ 164 h 299"/>
                  <a:gd name="T32" fmla="*/ 85 w 194"/>
                  <a:gd name="T33" fmla="*/ 100 h 299"/>
                  <a:gd name="T34" fmla="*/ 58 w 194"/>
                  <a:gd name="T35" fmla="*/ 90 h 299"/>
                  <a:gd name="T36" fmla="*/ 3 w 194"/>
                  <a:gd name="T37" fmla="*/ 174 h 299"/>
                  <a:gd name="T38" fmla="*/ 25 w 194"/>
                  <a:gd name="T39" fmla="*/ 185 h 299"/>
                  <a:gd name="T40" fmla="*/ 62 w 194"/>
                  <a:gd name="T41" fmla="*/ 197 h 299"/>
                  <a:gd name="T42" fmla="*/ 54 w 194"/>
                  <a:gd name="T43" fmla="*/ 185 h 299"/>
                  <a:gd name="T44" fmla="*/ 37 w 194"/>
                  <a:gd name="T45" fmla="*/ 216 h 299"/>
                  <a:gd name="T46" fmla="*/ 48 w 194"/>
                  <a:gd name="T47" fmla="*/ 245 h 299"/>
                  <a:gd name="T48" fmla="*/ 68 w 194"/>
                  <a:gd name="T49" fmla="*/ 238 h 299"/>
                  <a:gd name="T50" fmla="*/ 17 w 194"/>
                  <a:gd name="T51" fmla="*/ 96 h 299"/>
                  <a:gd name="T52" fmla="*/ 61 w 194"/>
                  <a:gd name="T53" fmla="*/ 59 h 299"/>
                  <a:gd name="T54" fmla="*/ 79 w 194"/>
                  <a:gd name="T55" fmla="*/ 14 h 299"/>
                  <a:gd name="T56" fmla="*/ 31 w 194"/>
                  <a:gd name="T57" fmla="*/ 70 h 299"/>
                  <a:gd name="T58" fmla="*/ 24 w 194"/>
                  <a:gd name="T59" fmla="*/ 84 h 299"/>
                  <a:gd name="T60" fmla="*/ 21 w 194"/>
                  <a:gd name="T61" fmla="*/ 90 h 299"/>
                  <a:gd name="T62" fmla="*/ 20 w 194"/>
                  <a:gd name="T63" fmla="*/ 93 h 299"/>
                  <a:gd name="T64" fmla="*/ 17 w 194"/>
                  <a:gd name="T65" fmla="*/ 96 h 2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94" h="299">
                    <a:moveTo>
                      <a:pt x="161" y="299"/>
                    </a:moveTo>
                    <a:cubicBezTo>
                      <a:pt x="152" y="275"/>
                      <a:pt x="152" y="251"/>
                      <a:pt x="148" y="226"/>
                    </a:cubicBezTo>
                    <a:cubicBezTo>
                      <a:pt x="149" y="225"/>
                      <a:pt x="150" y="225"/>
                      <a:pt x="151" y="225"/>
                    </a:cubicBezTo>
                    <a:cubicBezTo>
                      <a:pt x="149" y="208"/>
                      <a:pt x="147" y="192"/>
                      <a:pt x="145" y="175"/>
                    </a:cubicBezTo>
                    <a:cubicBezTo>
                      <a:pt x="144" y="175"/>
                      <a:pt x="143" y="175"/>
                      <a:pt x="143" y="175"/>
                    </a:cubicBezTo>
                    <a:cubicBezTo>
                      <a:pt x="137" y="180"/>
                      <a:pt x="132" y="190"/>
                      <a:pt x="127" y="196"/>
                    </a:cubicBezTo>
                    <a:cubicBezTo>
                      <a:pt x="122" y="197"/>
                      <a:pt x="118" y="198"/>
                      <a:pt x="115" y="199"/>
                    </a:cubicBezTo>
                    <a:cubicBezTo>
                      <a:pt x="110" y="194"/>
                      <a:pt x="115" y="178"/>
                      <a:pt x="116" y="175"/>
                    </a:cubicBezTo>
                    <a:cubicBezTo>
                      <a:pt x="117" y="148"/>
                      <a:pt x="106" y="130"/>
                      <a:pt x="108" y="106"/>
                    </a:cubicBezTo>
                    <a:cubicBezTo>
                      <a:pt x="105" y="83"/>
                      <a:pt x="85" y="80"/>
                      <a:pt x="87" y="56"/>
                    </a:cubicBezTo>
                    <a:cubicBezTo>
                      <a:pt x="96" y="50"/>
                      <a:pt x="102" y="60"/>
                      <a:pt x="112" y="69"/>
                    </a:cubicBezTo>
                    <a:cubicBezTo>
                      <a:pt x="118" y="85"/>
                      <a:pt x="114" y="104"/>
                      <a:pt x="116" y="122"/>
                    </a:cubicBezTo>
                    <a:cubicBezTo>
                      <a:pt x="121" y="129"/>
                      <a:pt x="127" y="138"/>
                      <a:pt x="128" y="153"/>
                    </a:cubicBezTo>
                    <a:cubicBezTo>
                      <a:pt x="126" y="158"/>
                      <a:pt x="126" y="158"/>
                      <a:pt x="126" y="164"/>
                    </a:cubicBezTo>
                    <a:cubicBezTo>
                      <a:pt x="132" y="163"/>
                      <a:pt x="137" y="154"/>
                      <a:pt x="141" y="148"/>
                    </a:cubicBezTo>
                    <a:cubicBezTo>
                      <a:pt x="138" y="112"/>
                      <a:pt x="134" y="75"/>
                      <a:pt x="129" y="43"/>
                    </a:cubicBezTo>
                    <a:cubicBezTo>
                      <a:pt x="123" y="40"/>
                      <a:pt x="122" y="15"/>
                      <a:pt x="125" y="11"/>
                    </a:cubicBezTo>
                    <a:cubicBezTo>
                      <a:pt x="146" y="7"/>
                      <a:pt x="151" y="16"/>
                      <a:pt x="157" y="43"/>
                    </a:cubicBezTo>
                    <a:cubicBezTo>
                      <a:pt x="157" y="60"/>
                      <a:pt x="152" y="101"/>
                      <a:pt x="159" y="114"/>
                    </a:cubicBezTo>
                    <a:cubicBezTo>
                      <a:pt x="166" y="113"/>
                      <a:pt x="169" y="84"/>
                      <a:pt x="170" y="77"/>
                    </a:cubicBezTo>
                    <a:cubicBezTo>
                      <a:pt x="170" y="77"/>
                      <a:pt x="171" y="77"/>
                      <a:pt x="172" y="77"/>
                    </a:cubicBezTo>
                    <a:cubicBezTo>
                      <a:pt x="173" y="87"/>
                      <a:pt x="174" y="86"/>
                      <a:pt x="177" y="95"/>
                    </a:cubicBezTo>
                    <a:cubicBezTo>
                      <a:pt x="194" y="102"/>
                      <a:pt x="170" y="135"/>
                      <a:pt x="164" y="142"/>
                    </a:cubicBezTo>
                    <a:cubicBezTo>
                      <a:pt x="162" y="183"/>
                      <a:pt x="172" y="229"/>
                      <a:pt x="173" y="274"/>
                    </a:cubicBezTo>
                    <a:cubicBezTo>
                      <a:pt x="172" y="286"/>
                      <a:pt x="169" y="295"/>
                      <a:pt x="161" y="299"/>
                    </a:cubicBezTo>
                    <a:close/>
                    <a:moveTo>
                      <a:pt x="78" y="242"/>
                    </a:moveTo>
                    <a:cubicBezTo>
                      <a:pt x="81" y="240"/>
                      <a:pt x="83" y="238"/>
                      <a:pt x="86" y="236"/>
                    </a:cubicBezTo>
                    <a:cubicBezTo>
                      <a:pt x="84" y="222"/>
                      <a:pt x="82" y="209"/>
                      <a:pt x="80" y="196"/>
                    </a:cubicBezTo>
                    <a:cubicBezTo>
                      <a:pt x="82" y="182"/>
                      <a:pt x="90" y="168"/>
                      <a:pt x="94" y="156"/>
                    </a:cubicBezTo>
                    <a:cubicBezTo>
                      <a:pt x="95" y="156"/>
                      <a:pt x="96" y="156"/>
                      <a:pt x="96" y="156"/>
                    </a:cubicBezTo>
                    <a:cubicBezTo>
                      <a:pt x="96" y="147"/>
                      <a:pt x="101" y="138"/>
                      <a:pt x="100" y="129"/>
                    </a:cubicBezTo>
                    <a:cubicBezTo>
                      <a:pt x="93" y="133"/>
                      <a:pt x="86" y="164"/>
                      <a:pt x="78" y="164"/>
                    </a:cubicBezTo>
                    <a:cubicBezTo>
                      <a:pt x="75" y="138"/>
                      <a:pt x="79" y="129"/>
                      <a:pt x="85" y="107"/>
                    </a:cubicBezTo>
                    <a:cubicBezTo>
                      <a:pt x="85" y="105"/>
                      <a:pt x="85" y="103"/>
                      <a:pt x="85" y="100"/>
                    </a:cubicBezTo>
                    <a:cubicBezTo>
                      <a:pt x="74" y="90"/>
                      <a:pt x="75" y="82"/>
                      <a:pt x="61" y="85"/>
                    </a:cubicBezTo>
                    <a:cubicBezTo>
                      <a:pt x="60" y="87"/>
                      <a:pt x="59" y="89"/>
                      <a:pt x="58" y="90"/>
                    </a:cubicBezTo>
                    <a:cubicBezTo>
                      <a:pt x="57" y="120"/>
                      <a:pt x="39" y="129"/>
                      <a:pt x="26" y="149"/>
                    </a:cubicBezTo>
                    <a:cubicBezTo>
                      <a:pt x="23" y="153"/>
                      <a:pt x="5" y="169"/>
                      <a:pt x="3" y="174"/>
                    </a:cubicBezTo>
                    <a:cubicBezTo>
                      <a:pt x="2" y="175"/>
                      <a:pt x="1" y="175"/>
                      <a:pt x="0" y="175"/>
                    </a:cubicBezTo>
                    <a:cubicBezTo>
                      <a:pt x="2" y="185"/>
                      <a:pt x="14" y="187"/>
                      <a:pt x="25" y="185"/>
                    </a:cubicBezTo>
                    <a:cubicBezTo>
                      <a:pt x="36" y="172"/>
                      <a:pt x="44" y="151"/>
                      <a:pt x="56" y="137"/>
                    </a:cubicBezTo>
                    <a:cubicBezTo>
                      <a:pt x="59" y="155"/>
                      <a:pt x="60" y="176"/>
                      <a:pt x="62" y="197"/>
                    </a:cubicBezTo>
                    <a:cubicBezTo>
                      <a:pt x="60" y="199"/>
                      <a:pt x="58" y="200"/>
                      <a:pt x="56" y="201"/>
                    </a:cubicBezTo>
                    <a:cubicBezTo>
                      <a:pt x="55" y="196"/>
                      <a:pt x="54" y="191"/>
                      <a:pt x="54" y="185"/>
                    </a:cubicBezTo>
                    <a:cubicBezTo>
                      <a:pt x="52" y="185"/>
                      <a:pt x="51" y="185"/>
                      <a:pt x="50" y="186"/>
                    </a:cubicBezTo>
                    <a:cubicBezTo>
                      <a:pt x="45" y="196"/>
                      <a:pt x="41" y="206"/>
                      <a:pt x="37" y="216"/>
                    </a:cubicBezTo>
                    <a:cubicBezTo>
                      <a:pt x="37" y="223"/>
                      <a:pt x="37" y="240"/>
                      <a:pt x="43" y="247"/>
                    </a:cubicBezTo>
                    <a:cubicBezTo>
                      <a:pt x="44" y="246"/>
                      <a:pt x="46" y="245"/>
                      <a:pt x="48" y="245"/>
                    </a:cubicBezTo>
                    <a:cubicBezTo>
                      <a:pt x="54" y="239"/>
                      <a:pt x="57" y="221"/>
                      <a:pt x="65" y="223"/>
                    </a:cubicBezTo>
                    <a:cubicBezTo>
                      <a:pt x="66" y="228"/>
                      <a:pt x="67" y="233"/>
                      <a:pt x="68" y="238"/>
                    </a:cubicBezTo>
                    <a:cubicBezTo>
                      <a:pt x="72" y="239"/>
                      <a:pt x="75" y="241"/>
                      <a:pt x="78" y="242"/>
                    </a:cubicBezTo>
                    <a:close/>
                    <a:moveTo>
                      <a:pt x="17" y="96"/>
                    </a:moveTo>
                    <a:cubicBezTo>
                      <a:pt x="20" y="95"/>
                      <a:pt x="31" y="90"/>
                      <a:pt x="32" y="85"/>
                    </a:cubicBezTo>
                    <a:cubicBezTo>
                      <a:pt x="42" y="76"/>
                      <a:pt x="51" y="67"/>
                      <a:pt x="61" y="59"/>
                    </a:cubicBezTo>
                    <a:cubicBezTo>
                      <a:pt x="79" y="52"/>
                      <a:pt x="79" y="51"/>
                      <a:pt x="83" y="49"/>
                    </a:cubicBezTo>
                    <a:cubicBezTo>
                      <a:pt x="87" y="35"/>
                      <a:pt x="84" y="23"/>
                      <a:pt x="79" y="14"/>
                    </a:cubicBezTo>
                    <a:cubicBezTo>
                      <a:pt x="71" y="12"/>
                      <a:pt x="68" y="0"/>
                      <a:pt x="68" y="19"/>
                    </a:cubicBezTo>
                    <a:cubicBezTo>
                      <a:pt x="55" y="34"/>
                      <a:pt x="42" y="52"/>
                      <a:pt x="31" y="70"/>
                    </a:cubicBezTo>
                    <a:cubicBezTo>
                      <a:pt x="30" y="74"/>
                      <a:pt x="27" y="78"/>
                      <a:pt x="24" y="82"/>
                    </a:cubicBezTo>
                    <a:cubicBezTo>
                      <a:pt x="24" y="82"/>
                      <a:pt x="24" y="83"/>
                      <a:pt x="24" y="84"/>
                    </a:cubicBezTo>
                    <a:cubicBezTo>
                      <a:pt x="23" y="84"/>
                      <a:pt x="23" y="84"/>
                      <a:pt x="22" y="84"/>
                    </a:cubicBezTo>
                    <a:cubicBezTo>
                      <a:pt x="22" y="86"/>
                      <a:pt x="21" y="88"/>
                      <a:pt x="21" y="90"/>
                    </a:cubicBezTo>
                    <a:cubicBezTo>
                      <a:pt x="20" y="91"/>
                      <a:pt x="20" y="91"/>
                      <a:pt x="19" y="91"/>
                    </a:cubicBezTo>
                    <a:cubicBezTo>
                      <a:pt x="19" y="91"/>
                      <a:pt x="19" y="92"/>
                      <a:pt x="20" y="93"/>
                    </a:cubicBezTo>
                    <a:cubicBezTo>
                      <a:pt x="19" y="93"/>
                      <a:pt x="18" y="93"/>
                      <a:pt x="17" y="93"/>
                    </a:cubicBezTo>
                    <a:cubicBezTo>
                      <a:pt x="17" y="94"/>
                      <a:pt x="17" y="95"/>
                      <a:pt x="17" y="96"/>
                    </a:cubicBezTo>
                    <a:close/>
                  </a:path>
                </a:pathLst>
              </a:custGeom>
              <a:solidFill>
                <a:srgbClr val="E6001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4" name="íṩḻíḓe"/>
              <p:cNvSpPr/>
              <p:nvPr/>
            </p:nvSpPr>
            <p:spPr bwMode="auto">
              <a:xfrm>
                <a:off x="2519363" y="2747963"/>
                <a:ext cx="141288" cy="239713"/>
              </a:xfrm>
              <a:custGeom>
                <a:avLst/>
                <a:gdLst>
                  <a:gd name="T0" fmla="*/ 160 w 179"/>
                  <a:gd name="T1" fmla="*/ 305 h 307"/>
                  <a:gd name="T2" fmla="*/ 144 w 179"/>
                  <a:gd name="T3" fmla="*/ 283 h 307"/>
                  <a:gd name="T4" fmla="*/ 126 w 179"/>
                  <a:gd name="T5" fmla="*/ 244 h 307"/>
                  <a:gd name="T6" fmla="*/ 122 w 179"/>
                  <a:gd name="T7" fmla="*/ 242 h 307"/>
                  <a:gd name="T8" fmla="*/ 121 w 179"/>
                  <a:gd name="T9" fmla="*/ 235 h 307"/>
                  <a:gd name="T10" fmla="*/ 97 w 179"/>
                  <a:gd name="T11" fmla="*/ 281 h 307"/>
                  <a:gd name="T12" fmla="*/ 72 w 179"/>
                  <a:gd name="T13" fmla="*/ 294 h 307"/>
                  <a:gd name="T14" fmla="*/ 93 w 179"/>
                  <a:gd name="T15" fmla="*/ 185 h 307"/>
                  <a:gd name="T16" fmla="*/ 45 w 179"/>
                  <a:gd name="T17" fmla="*/ 279 h 307"/>
                  <a:gd name="T18" fmla="*/ 34 w 179"/>
                  <a:gd name="T19" fmla="*/ 281 h 307"/>
                  <a:gd name="T20" fmla="*/ 17 w 179"/>
                  <a:gd name="T21" fmla="*/ 275 h 307"/>
                  <a:gd name="T22" fmla="*/ 46 w 179"/>
                  <a:gd name="T23" fmla="*/ 232 h 307"/>
                  <a:gd name="T24" fmla="*/ 74 w 179"/>
                  <a:gd name="T25" fmla="*/ 155 h 307"/>
                  <a:gd name="T26" fmla="*/ 49 w 179"/>
                  <a:gd name="T27" fmla="*/ 197 h 307"/>
                  <a:gd name="T28" fmla="*/ 35 w 179"/>
                  <a:gd name="T29" fmla="*/ 194 h 307"/>
                  <a:gd name="T30" fmla="*/ 19 w 179"/>
                  <a:gd name="T31" fmla="*/ 158 h 307"/>
                  <a:gd name="T32" fmla="*/ 54 w 179"/>
                  <a:gd name="T33" fmla="*/ 153 h 307"/>
                  <a:gd name="T34" fmla="*/ 57 w 179"/>
                  <a:gd name="T35" fmla="*/ 143 h 307"/>
                  <a:gd name="T36" fmla="*/ 53 w 179"/>
                  <a:gd name="T37" fmla="*/ 118 h 307"/>
                  <a:gd name="T38" fmla="*/ 64 w 179"/>
                  <a:gd name="T39" fmla="*/ 90 h 307"/>
                  <a:gd name="T40" fmla="*/ 0 w 179"/>
                  <a:gd name="T41" fmla="*/ 131 h 307"/>
                  <a:gd name="T42" fmla="*/ 24 w 179"/>
                  <a:gd name="T43" fmla="*/ 66 h 307"/>
                  <a:gd name="T44" fmla="*/ 36 w 179"/>
                  <a:gd name="T45" fmla="*/ 43 h 307"/>
                  <a:gd name="T46" fmla="*/ 57 w 179"/>
                  <a:gd name="T47" fmla="*/ 40 h 307"/>
                  <a:gd name="T48" fmla="*/ 93 w 179"/>
                  <a:gd name="T49" fmla="*/ 34 h 307"/>
                  <a:gd name="T50" fmla="*/ 73 w 179"/>
                  <a:gd name="T51" fmla="*/ 107 h 307"/>
                  <a:gd name="T52" fmla="*/ 88 w 179"/>
                  <a:gd name="T53" fmla="*/ 59 h 307"/>
                  <a:gd name="T54" fmla="*/ 119 w 179"/>
                  <a:gd name="T55" fmla="*/ 61 h 307"/>
                  <a:gd name="T56" fmla="*/ 111 w 179"/>
                  <a:gd name="T57" fmla="*/ 115 h 307"/>
                  <a:gd name="T58" fmla="*/ 154 w 179"/>
                  <a:gd name="T59" fmla="*/ 87 h 307"/>
                  <a:gd name="T60" fmla="*/ 155 w 179"/>
                  <a:gd name="T61" fmla="*/ 158 h 307"/>
                  <a:gd name="T62" fmla="*/ 146 w 179"/>
                  <a:gd name="T63" fmla="*/ 228 h 307"/>
                  <a:gd name="T64" fmla="*/ 89 w 179"/>
                  <a:gd name="T65" fmla="*/ 260 h 307"/>
                  <a:gd name="T66" fmla="*/ 105 w 179"/>
                  <a:gd name="T67" fmla="*/ 205 h 307"/>
                  <a:gd name="T68" fmla="*/ 88 w 179"/>
                  <a:gd name="T69" fmla="*/ 252 h 307"/>
                  <a:gd name="T70" fmla="*/ 89 w 179"/>
                  <a:gd name="T71" fmla="*/ 260 h 307"/>
                  <a:gd name="T72" fmla="*/ 133 w 179"/>
                  <a:gd name="T73" fmla="*/ 179 h 307"/>
                  <a:gd name="T74" fmla="*/ 118 w 179"/>
                  <a:gd name="T75" fmla="*/ 173 h 307"/>
                  <a:gd name="T76" fmla="*/ 115 w 179"/>
                  <a:gd name="T77" fmla="*/ 159 h 307"/>
                  <a:gd name="T78" fmla="*/ 106 w 179"/>
                  <a:gd name="T79" fmla="*/ 155 h 307"/>
                  <a:gd name="T80" fmla="*/ 102 w 179"/>
                  <a:gd name="T81" fmla="*/ 143 h 307"/>
                  <a:gd name="T82" fmla="*/ 87 w 179"/>
                  <a:gd name="T83" fmla="*/ 112 h 307"/>
                  <a:gd name="T84" fmla="*/ 74 w 179"/>
                  <a:gd name="T85" fmla="*/ 47 h 307"/>
                  <a:gd name="T86" fmla="*/ 78 w 179"/>
                  <a:gd name="T87" fmla="*/ 36 h 307"/>
                  <a:gd name="T88" fmla="*/ 73 w 179"/>
                  <a:gd name="T89" fmla="*/ 23 h 307"/>
                  <a:gd name="T90" fmla="*/ 71 w 179"/>
                  <a:gd name="T91" fmla="*/ 47 h 307"/>
                  <a:gd name="T92" fmla="*/ 74 w 179"/>
                  <a:gd name="T93" fmla="*/ 47 h 3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179" h="307">
                    <a:moveTo>
                      <a:pt x="168" y="307"/>
                    </a:moveTo>
                    <a:cubicBezTo>
                      <a:pt x="165" y="306"/>
                      <a:pt x="165" y="306"/>
                      <a:pt x="160" y="305"/>
                    </a:cubicBezTo>
                    <a:cubicBezTo>
                      <a:pt x="155" y="297"/>
                      <a:pt x="150" y="289"/>
                      <a:pt x="146" y="281"/>
                    </a:cubicBezTo>
                    <a:cubicBezTo>
                      <a:pt x="145" y="282"/>
                      <a:pt x="144" y="282"/>
                      <a:pt x="144" y="283"/>
                    </a:cubicBezTo>
                    <a:cubicBezTo>
                      <a:pt x="138" y="268"/>
                      <a:pt x="133" y="261"/>
                      <a:pt x="127" y="250"/>
                    </a:cubicBezTo>
                    <a:cubicBezTo>
                      <a:pt x="128" y="248"/>
                      <a:pt x="126" y="245"/>
                      <a:pt x="126" y="244"/>
                    </a:cubicBezTo>
                    <a:cubicBezTo>
                      <a:pt x="125" y="245"/>
                      <a:pt x="125" y="245"/>
                      <a:pt x="124" y="246"/>
                    </a:cubicBezTo>
                    <a:cubicBezTo>
                      <a:pt x="123" y="245"/>
                      <a:pt x="123" y="243"/>
                      <a:pt x="122" y="242"/>
                    </a:cubicBezTo>
                    <a:cubicBezTo>
                      <a:pt x="122" y="241"/>
                      <a:pt x="123" y="240"/>
                      <a:pt x="123" y="240"/>
                    </a:cubicBezTo>
                    <a:cubicBezTo>
                      <a:pt x="122" y="238"/>
                      <a:pt x="121" y="237"/>
                      <a:pt x="121" y="235"/>
                    </a:cubicBezTo>
                    <a:cubicBezTo>
                      <a:pt x="110" y="247"/>
                      <a:pt x="103" y="266"/>
                      <a:pt x="95" y="279"/>
                    </a:cubicBezTo>
                    <a:cubicBezTo>
                      <a:pt x="96" y="280"/>
                      <a:pt x="96" y="280"/>
                      <a:pt x="97" y="281"/>
                    </a:cubicBezTo>
                    <a:cubicBezTo>
                      <a:pt x="87" y="292"/>
                      <a:pt x="85" y="298"/>
                      <a:pt x="75" y="300"/>
                    </a:cubicBezTo>
                    <a:cubicBezTo>
                      <a:pt x="74" y="298"/>
                      <a:pt x="73" y="296"/>
                      <a:pt x="72" y="294"/>
                    </a:cubicBezTo>
                    <a:cubicBezTo>
                      <a:pt x="76" y="268"/>
                      <a:pt x="83" y="226"/>
                      <a:pt x="96" y="208"/>
                    </a:cubicBezTo>
                    <a:cubicBezTo>
                      <a:pt x="99" y="196"/>
                      <a:pt x="97" y="193"/>
                      <a:pt x="93" y="185"/>
                    </a:cubicBezTo>
                    <a:cubicBezTo>
                      <a:pt x="81" y="196"/>
                      <a:pt x="77" y="216"/>
                      <a:pt x="69" y="230"/>
                    </a:cubicBezTo>
                    <a:cubicBezTo>
                      <a:pt x="70" y="242"/>
                      <a:pt x="52" y="271"/>
                      <a:pt x="45" y="279"/>
                    </a:cubicBezTo>
                    <a:cubicBezTo>
                      <a:pt x="42" y="280"/>
                      <a:pt x="38" y="281"/>
                      <a:pt x="35" y="282"/>
                    </a:cubicBezTo>
                    <a:cubicBezTo>
                      <a:pt x="35" y="282"/>
                      <a:pt x="34" y="282"/>
                      <a:pt x="34" y="281"/>
                    </a:cubicBezTo>
                    <a:cubicBezTo>
                      <a:pt x="28" y="284"/>
                      <a:pt x="25" y="283"/>
                      <a:pt x="22" y="283"/>
                    </a:cubicBezTo>
                    <a:cubicBezTo>
                      <a:pt x="20" y="280"/>
                      <a:pt x="19" y="278"/>
                      <a:pt x="17" y="275"/>
                    </a:cubicBezTo>
                    <a:cubicBezTo>
                      <a:pt x="41" y="243"/>
                      <a:pt x="42" y="240"/>
                      <a:pt x="47" y="235"/>
                    </a:cubicBezTo>
                    <a:cubicBezTo>
                      <a:pt x="47" y="234"/>
                      <a:pt x="46" y="233"/>
                      <a:pt x="46" y="232"/>
                    </a:cubicBezTo>
                    <a:cubicBezTo>
                      <a:pt x="58" y="223"/>
                      <a:pt x="74" y="191"/>
                      <a:pt x="84" y="175"/>
                    </a:cubicBezTo>
                    <a:cubicBezTo>
                      <a:pt x="76" y="158"/>
                      <a:pt x="76" y="158"/>
                      <a:pt x="74" y="155"/>
                    </a:cubicBezTo>
                    <a:cubicBezTo>
                      <a:pt x="67" y="166"/>
                      <a:pt x="67" y="170"/>
                      <a:pt x="68" y="184"/>
                    </a:cubicBezTo>
                    <a:cubicBezTo>
                      <a:pt x="61" y="203"/>
                      <a:pt x="63" y="200"/>
                      <a:pt x="49" y="197"/>
                    </a:cubicBezTo>
                    <a:cubicBezTo>
                      <a:pt x="48" y="198"/>
                      <a:pt x="47" y="198"/>
                      <a:pt x="46" y="199"/>
                    </a:cubicBezTo>
                    <a:cubicBezTo>
                      <a:pt x="43" y="193"/>
                      <a:pt x="36" y="200"/>
                      <a:pt x="35" y="194"/>
                    </a:cubicBezTo>
                    <a:cubicBezTo>
                      <a:pt x="36" y="191"/>
                      <a:pt x="36" y="191"/>
                      <a:pt x="39" y="187"/>
                    </a:cubicBezTo>
                    <a:cubicBezTo>
                      <a:pt x="36" y="173"/>
                      <a:pt x="22" y="167"/>
                      <a:pt x="19" y="158"/>
                    </a:cubicBezTo>
                    <a:cubicBezTo>
                      <a:pt x="26" y="151"/>
                      <a:pt x="39" y="154"/>
                      <a:pt x="51" y="157"/>
                    </a:cubicBezTo>
                    <a:cubicBezTo>
                      <a:pt x="52" y="156"/>
                      <a:pt x="53" y="154"/>
                      <a:pt x="54" y="153"/>
                    </a:cubicBezTo>
                    <a:cubicBezTo>
                      <a:pt x="54" y="151"/>
                      <a:pt x="54" y="149"/>
                      <a:pt x="54" y="147"/>
                    </a:cubicBezTo>
                    <a:cubicBezTo>
                      <a:pt x="55" y="145"/>
                      <a:pt x="56" y="144"/>
                      <a:pt x="57" y="143"/>
                    </a:cubicBezTo>
                    <a:cubicBezTo>
                      <a:pt x="61" y="145"/>
                      <a:pt x="63" y="145"/>
                      <a:pt x="67" y="142"/>
                    </a:cubicBezTo>
                    <a:cubicBezTo>
                      <a:pt x="62" y="134"/>
                      <a:pt x="58" y="126"/>
                      <a:pt x="53" y="118"/>
                    </a:cubicBezTo>
                    <a:cubicBezTo>
                      <a:pt x="56" y="109"/>
                      <a:pt x="57" y="112"/>
                      <a:pt x="65" y="107"/>
                    </a:cubicBezTo>
                    <a:cubicBezTo>
                      <a:pt x="64" y="101"/>
                      <a:pt x="64" y="96"/>
                      <a:pt x="64" y="90"/>
                    </a:cubicBezTo>
                    <a:cubicBezTo>
                      <a:pt x="57" y="83"/>
                      <a:pt x="31" y="133"/>
                      <a:pt x="29" y="135"/>
                    </a:cubicBezTo>
                    <a:cubicBezTo>
                      <a:pt x="17" y="147"/>
                      <a:pt x="8" y="144"/>
                      <a:pt x="0" y="131"/>
                    </a:cubicBezTo>
                    <a:cubicBezTo>
                      <a:pt x="5" y="118"/>
                      <a:pt x="50" y="88"/>
                      <a:pt x="47" y="79"/>
                    </a:cubicBezTo>
                    <a:cubicBezTo>
                      <a:pt x="37" y="77"/>
                      <a:pt x="30" y="71"/>
                      <a:pt x="24" y="66"/>
                    </a:cubicBezTo>
                    <a:cubicBezTo>
                      <a:pt x="13" y="62"/>
                      <a:pt x="5" y="61"/>
                      <a:pt x="1" y="50"/>
                    </a:cubicBezTo>
                    <a:cubicBezTo>
                      <a:pt x="8" y="41"/>
                      <a:pt x="26" y="35"/>
                      <a:pt x="36" y="43"/>
                    </a:cubicBezTo>
                    <a:cubicBezTo>
                      <a:pt x="49" y="73"/>
                      <a:pt x="49" y="74"/>
                      <a:pt x="50" y="77"/>
                    </a:cubicBezTo>
                    <a:cubicBezTo>
                      <a:pt x="65" y="64"/>
                      <a:pt x="58" y="63"/>
                      <a:pt x="57" y="40"/>
                    </a:cubicBezTo>
                    <a:cubicBezTo>
                      <a:pt x="52" y="28"/>
                      <a:pt x="50" y="5"/>
                      <a:pt x="63" y="2"/>
                    </a:cubicBezTo>
                    <a:cubicBezTo>
                      <a:pt x="77" y="10"/>
                      <a:pt x="94" y="0"/>
                      <a:pt x="93" y="34"/>
                    </a:cubicBezTo>
                    <a:cubicBezTo>
                      <a:pt x="85" y="49"/>
                      <a:pt x="81" y="61"/>
                      <a:pt x="73" y="73"/>
                    </a:cubicBezTo>
                    <a:cubicBezTo>
                      <a:pt x="71" y="81"/>
                      <a:pt x="69" y="98"/>
                      <a:pt x="73" y="107"/>
                    </a:cubicBezTo>
                    <a:cubicBezTo>
                      <a:pt x="85" y="102"/>
                      <a:pt x="87" y="122"/>
                      <a:pt x="95" y="88"/>
                    </a:cubicBezTo>
                    <a:cubicBezTo>
                      <a:pt x="92" y="80"/>
                      <a:pt x="87" y="64"/>
                      <a:pt x="88" y="59"/>
                    </a:cubicBezTo>
                    <a:cubicBezTo>
                      <a:pt x="92" y="57"/>
                      <a:pt x="96" y="55"/>
                      <a:pt x="103" y="59"/>
                    </a:cubicBezTo>
                    <a:cubicBezTo>
                      <a:pt x="107" y="58"/>
                      <a:pt x="113" y="54"/>
                      <a:pt x="119" y="61"/>
                    </a:cubicBezTo>
                    <a:cubicBezTo>
                      <a:pt x="119" y="69"/>
                      <a:pt x="113" y="83"/>
                      <a:pt x="111" y="90"/>
                    </a:cubicBezTo>
                    <a:cubicBezTo>
                      <a:pt x="111" y="98"/>
                      <a:pt x="111" y="107"/>
                      <a:pt x="111" y="115"/>
                    </a:cubicBezTo>
                    <a:cubicBezTo>
                      <a:pt x="112" y="116"/>
                      <a:pt x="113" y="116"/>
                      <a:pt x="114" y="117"/>
                    </a:cubicBezTo>
                    <a:cubicBezTo>
                      <a:pt x="122" y="98"/>
                      <a:pt x="133" y="49"/>
                      <a:pt x="154" y="87"/>
                    </a:cubicBezTo>
                    <a:cubicBezTo>
                      <a:pt x="147" y="98"/>
                      <a:pt x="123" y="152"/>
                      <a:pt x="124" y="157"/>
                    </a:cubicBezTo>
                    <a:cubicBezTo>
                      <a:pt x="129" y="161"/>
                      <a:pt x="144" y="157"/>
                      <a:pt x="155" y="158"/>
                    </a:cubicBezTo>
                    <a:cubicBezTo>
                      <a:pt x="157" y="176"/>
                      <a:pt x="141" y="190"/>
                      <a:pt x="136" y="206"/>
                    </a:cubicBezTo>
                    <a:cubicBezTo>
                      <a:pt x="139" y="213"/>
                      <a:pt x="142" y="221"/>
                      <a:pt x="146" y="228"/>
                    </a:cubicBezTo>
                    <a:cubicBezTo>
                      <a:pt x="156" y="246"/>
                      <a:pt x="179" y="280"/>
                      <a:pt x="168" y="307"/>
                    </a:cubicBezTo>
                    <a:close/>
                    <a:moveTo>
                      <a:pt x="89" y="260"/>
                    </a:moveTo>
                    <a:cubicBezTo>
                      <a:pt x="95" y="252"/>
                      <a:pt x="107" y="227"/>
                      <a:pt x="111" y="216"/>
                    </a:cubicBezTo>
                    <a:cubicBezTo>
                      <a:pt x="109" y="212"/>
                      <a:pt x="107" y="209"/>
                      <a:pt x="105" y="205"/>
                    </a:cubicBezTo>
                    <a:cubicBezTo>
                      <a:pt x="98" y="219"/>
                      <a:pt x="93" y="236"/>
                      <a:pt x="87" y="249"/>
                    </a:cubicBezTo>
                    <a:cubicBezTo>
                      <a:pt x="87" y="250"/>
                      <a:pt x="87" y="251"/>
                      <a:pt x="88" y="252"/>
                    </a:cubicBezTo>
                    <a:cubicBezTo>
                      <a:pt x="87" y="254"/>
                      <a:pt x="87" y="255"/>
                      <a:pt x="86" y="257"/>
                    </a:cubicBezTo>
                    <a:cubicBezTo>
                      <a:pt x="87" y="258"/>
                      <a:pt x="88" y="259"/>
                      <a:pt x="89" y="260"/>
                    </a:cubicBezTo>
                    <a:close/>
                    <a:moveTo>
                      <a:pt x="128" y="188"/>
                    </a:moveTo>
                    <a:cubicBezTo>
                      <a:pt x="130" y="185"/>
                      <a:pt x="131" y="182"/>
                      <a:pt x="133" y="179"/>
                    </a:cubicBezTo>
                    <a:cubicBezTo>
                      <a:pt x="128" y="173"/>
                      <a:pt x="124" y="172"/>
                      <a:pt x="121" y="170"/>
                    </a:cubicBezTo>
                    <a:cubicBezTo>
                      <a:pt x="120" y="171"/>
                      <a:pt x="119" y="172"/>
                      <a:pt x="118" y="173"/>
                    </a:cubicBezTo>
                    <a:cubicBezTo>
                      <a:pt x="118" y="179"/>
                      <a:pt x="121" y="185"/>
                      <a:pt x="128" y="188"/>
                    </a:cubicBezTo>
                    <a:close/>
                    <a:moveTo>
                      <a:pt x="115" y="159"/>
                    </a:moveTo>
                    <a:cubicBezTo>
                      <a:pt x="120" y="149"/>
                      <a:pt x="130" y="128"/>
                      <a:pt x="128" y="116"/>
                    </a:cubicBezTo>
                    <a:cubicBezTo>
                      <a:pt x="118" y="127"/>
                      <a:pt x="112" y="142"/>
                      <a:pt x="106" y="155"/>
                    </a:cubicBezTo>
                    <a:cubicBezTo>
                      <a:pt x="109" y="159"/>
                      <a:pt x="108" y="159"/>
                      <a:pt x="115" y="159"/>
                    </a:cubicBezTo>
                    <a:close/>
                    <a:moveTo>
                      <a:pt x="102" y="143"/>
                    </a:moveTo>
                    <a:cubicBezTo>
                      <a:pt x="105" y="137"/>
                      <a:pt x="107" y="133"/>
                      <a:pt x="107" y="125"/>
                    </a:cubicBezTo>
                    <a:cubicBezTo>
                      <a:pt x="97" y="102"/>
                      <a:pt x="101" y="103"/>
                      <a:pt x="87" y="112"/>
                    </a:cubicBezTo>
                    <a:cubicBezTo>
                      <a:pt x="87" y="122"/>
                      <a:pt x="93" y="137"/>
                      <a:pt x="102" y="143"/>
                    </a:cubicBezTo>
                    <a:close/>
                    <a:moveTo>
                      <a:pt x="74" y="47"/>
                    </a:moveTo>
                    <a:cubicBezTo>
                      <a:pt x="76" y="44"/>
                      <a:pt x="78" y="42"/>
                      <a:pt x="80" y="39"/>
                    </a:cubicBezTo>
                    <a:cubicBezTo>
                      <a:pt x="79" y="38"/>
                      <a:pt x="79" y="37"/>
                      <a:pt x="78" y="36"/>
                    </a:cubicBezTo>
                    <a:cubicBezTo>
                      <a:pt x="79" y="35"/>
                      <a:pt x="79" y="34"/>
                      <a:pt x="80" y="32"/>
                    </a:cubicBezTo>
                    <a:cubicBezTo>
                      <a:pt x="77" y="27"/>
                      <a:pt x="75" y="25"/>
                      <a:pt x="73" y="23"/>
                    </a:cubicBezTo>
                    <a:cubicBezTo>
                      <a:pt x="71" y="25"/>
                      <a:pt x="70" y="26"/>
                      <a:pt x="69" y="27"/>
                    </a:cubicBezTo>
                    <a:cubicBezTo>
                      <a:pt x="69" y="33"/>
                      <a:pt x="68" y="41"/>
                      <a:pt x="71" y="47"/>
                    </a:cubicBezTo>
                    <a:cubicBezTo>
                      <a:pt x="72" y="47"/>
                      <a:pt x="72" y="46"/>
                      <a:pt x="73" y="46"/>
                    </a:cubicBezTo>
                    <a:cubicBezTo>
                      <a:pt x="73" y="46"/>
                      <a:pt x="73" y="47"/>
                      <a:pt x="74" y="47"/>
                    </a:cubicBezTo>
                    <a:close/>
                  </a:path>
                </a:pathLst>
              </a:custGeom>
              <a:solidFill>
                <a:srgbClr val="E6001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5" name="îsļíḑe"/>
              <p:cNvSpPr/>
              <p:nvPr/>
            </p:nvSpPr>
            <p:spPr bwMode="auto">
              <a:xfrm>
                <a:off x="2944813" y="3798888"/>
                <a:ext cx="292100" cy="53975"/>
              </a:xfrm>
              <a:custGeom>
                <a:avLst/>
                <a:gdLst>
                  <a:gd name="T0" fmla="*/ 30 w 374"/>
                  <a:gd name="T1" fmla="*/ 68 h 70"/>
                  <a:gd name="T2" fmla="*/ 6 w 374"/>
                  <a:gd name="T3" fmla="*/ 68 h 70"/>
                  <a:gd name="T4" fmla="*/ 14 w 374"/>
                  <a:gd name="T5" fmla="*/ 25 h 70"/>
                  <a:gd name="T6" fmla="*/ 33 w 374"/>
                  <a:gd name="T7" fmla="*/ 1 h 70"/>
                  <a:gd name="T8" fmla="*/ 39 w 374"/>
                  <a:gd name="T9" fmla="*/ 1 h 70"/>
                  <a:gd name="T10" fmla="*/ 85 w 374"/>
                  <a:gd name="T11" fmla="*/ 46 h 70"/>
                  <a:gd name="T12" fmla="*/ 78 w 374"/>
                  <a:gd name="T13" fmla="*/ 68 h 70"/>
                  <a:gd name="T14" fmla="*/ 57 w 374"/>
                  <a:gd name="T15" fmla="*/ 63 h 70"/>
                  <a:gd name="T16" fmla="*/ 55 w 374"/>
                  <a:gd name="T17" fmla="*/ 1 h 70"/>
                  <a:gd name="T18" fmla="*/ 69 w 374"/>
                  <a:gd name="T19" fmla="*/ 57 h 70"/>
                  <a:gd name="T20" fmla="*/ 72 w 374"/>
                  <a:gd name="T21" fmla="*/ 51 h 70"/>
                  <a:gd name="T22" fmla="*/ 121 w 374"/>
                  <a:gd name="T23" fmla="*/ 1 h 70"/>
                  <a:gd name="T24" fmla="*/ 108 w 374"/>
                  <a:gd name="T25" fmla="*/ 40 h 70"/>
                  <a:gd name="T26" fmla="*/ 91 w 374"/>
                  <a:gd name="T27" fmla="*/ 68 h 70"/>
                  <a:gd name="T28" fmla="*/ 104 w 374"/>
                  <a:gd name="T29" fmla="*/ 25 h 70"/>
                  <a:gd name="T30" fmla="*/ 121 w 374"/>
                  <a:gd name="T31" fmla="*/ 1 h 70"/>
                  <a:gd name="T32" fmla="*/ 144 w 374"/>
                  <a:gd name="T33" fmla="*/ 68 h 70"/>
                  <a:gd name="T34" fmla="*/ 138 w 374"/>
                  <a:gd name="T35" fmla="*/ 68 h 70"/>
                  <a:gd name="T36" fmla="*/ 150 w 374"/>
                  <a:gd name="T37" fmla="*/ 1 h 70"/>
                  <a:gd name="T38" fmla="*/ 139 w 374"/>
                  <a:gd name="T39" fmla="*/ 44 h 70"/>
                  <a:gd name="T40" fmla="*/ 190 w 374"/>
                  <a:gd name="T41" fmla="*/ 68 h 70"/>
                  <a:gd name="T42" fmla="*/ 172 w 374"/>
                  <a:gd name="T43" fmla="*/ 68 h 70"/>
                  <a:gd name="T44" fmla="*/ 172 w 374"/>
                  <a:gd name="T45" fmla="*/ 1 h 70"/>
                  <a:gd name="T46" fmla="*/ 190 w 374"/>
                  <a:gd name="T47" fmla="*/ 1 h 70"/>
                  <a:gd name="T48" fmla="*/ 234 w 374"/>
                  <a:gd name="T49" fmla="*/ 19 h 70"/>
                  <a:gd name="T50" fmla="*/ 230 w 374"/>
                  <a:gd name="T51" fmla="*/ 13 h 70"/>
                  <a:gd name="T52" fmla="*/ 230 w 374"/>
                  <a:gd name="T53" fmla="*/ 57 h 70"/>
                  <a:gd name="T54" fmla="*/ 234 w 374"/>
                  <a:gd name="T55" fmla="*/ 50 h 70"/>
                  <a:gd name="T56" fmla="*/ 247 w 374"/>
                  <a:gd name="T57" fmla="*/ 44 h 70"/>
                  <a:gd name="T58" fmla="*/ 232 w 374"/>
                  <a:gd name="T59" fmla="*/ 70 h 70"/>
                  <a:gd name="T60" fmla="*/ 216 w 374"/>
                  <a:gd name="T61" fmla="*/ 45 h 70"/>
                  <a:gd name="T62" fmla="*/ 219 w 374"/>
                  <a:gd name="T63" fmla="*/ 7 h 70"/>
                  <a:gd name="T64" fmla="*/ 241 w 374"/>
                  <a:gd name="T65" fmla="*/ 3 h 70"/>
                  <a:gd name="T66" fmla="*/ 247 w 374"/>
                  <a:gd name="T67" fmla="*/ 31 h 70"/>
                  <a:gd name="T68" fmla="*/ 270 w 374"/>
                  <a:gd name="T69" fmla="*/ 68 h 70"/>
                  <a:gd name="T70" fmla="*/ 266 w 374"/>
                  <a:gd name="T71" fmla="*/ 68 h 70"/>
                  <a:gd name="T72" fmla="*/ 266 w 374"/>
                  <a:gd name="T73" fmla="*/ 1 h 70"/>
                  <a:gd name="T74" fmla="*/ 270 w 374"/>
                  <a:gd name="T75" fmla="*/ 1 h 70"/>
                  <a:gd name="T76" fmla="*/ 302 w 374"/>
                  <a:gd name="T77" fmla="*/ 68 h 70"/>
                  <a:gd name="T78" fmla="*/ 302 w 374"/>
                  <a:gd name="T79" fmla="*/ 1 h 70"/>
                  <a:gd name="T80" fmla="*/ 326 w 374"/>
                  <a:gd name="T81" fmla="*/ 68 h 70"/>
                  <a:gd name="T82" fmla="*/ 308 w 374"/>
                  <a:gd name="T83" fmla="*/ 68 h 70"/>
                  <a:gd name="T84" fmla="*/ 326 w 374"/>
                  <a:gd name="T85" fmla="*/ 32 h 70"/>
                  <a:gd name="T86" fmla="*/ 366 w 374"/>
                  <a:gd name="T87" fmla="*/ 1 h 70"/>
                  <a:gd name="T88" fmla="*/ 360 w 374"/>
                  <a:gd name="T89" fmla="*/ 56 h 70"/>
                  <a:gd name="T90" fmla="*/ 340 w 374"/>
                  <a:gd name="T91" fmla="*/ 68 h 70"/>
                  <a:gd name="T92" fmla="*/ 359 w 374"/>
                  <a:gd name="T93" fmla="*/ 44 h 70"/>
                  <a:gd name="T94" fmla="*/ 359 w 374"/>
                  <a:gd name="T95" fmla="*/ 44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374" h="70">
                    <a:moveTo>
                      <a:pt x="52" y="1"/>
                    </a:moveTo>
                    <a:cubicBezTo>
                      <a:pt x="46" y="68"/>
                      <a:pt x="46" y="68"/>
                      <a:pt x="46" y="68"/>
                    </a:cubicBezTo>
                    <a:cubicBezTo>
                      <a:pt x="30" y="68"/>
                      <a:pt x="30" y="68"/>
                      <a:pt x="30" y="68"/>
                    </a:cubicBezTo>
                    <a:cubicBezTo>
                      <a:pt x="28" y="58"/>
                      <a:pt x="27" y="46"/>
                      <a:pt x="26" y="33"/>
                    </a:cubicBezTo>
                    <a:cubicBezTo>
                      <a:pt x="25" y="39"/>
                      <a:pt x="24" y="51"/>
                      <a:pt x="22" y="68"/>
                    </a:cubicBezTo>
                    <a:cubicBezTo>
                      <a:pt x="6" y="68"/>
                      <a:pt x="6" y="68"/>
                      <a:pt x="6" y="68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2" y="1"/>
                      <a:pt x="12" y="1"/>
                      <a:pt x="12" y="1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5" y="47"/>
                      <a:pt x="15" y="47"/>
                      <a:pt x="15" y="47"/>
                    </a:cubicBezTo>
                    <a:cubicBezTo>
                      <a:pt x="16" y="36"/>
                      <a:pt x="17" y="20"/>
                      <a:pt x="19" y="1"/>
                    </a:cubicBezTo>
                    <a:cubicBezTo>
                      <a:pt x="33" y="1"/>
                      <a:pt x="33" y="1"/>
                      <a:pt x="33" y="1"/>
                    </a:cubicBezTo>
                    <a:cubicBezTo>
                      <a:pt x="33" y="3"/>
                      <a:pt x="33" y="11"/>
                      <a:pt x="34" y="24"/>
                    </a:cubicBezTo>
                    <a:cubicBezTo>
                      <a:pt x="35" y="49"/>
                      <a:pt x="35" y="49"/>
                      <a:pt x="35" y="49"/>
                    </a:cubicBezTo>
                    <a:cubicBezTo>
                      <a:pt x="36" y="33"/>
                      <a:pt x="37" y="17"/>
                      <a:pt x="39" y="1"/>
                    </a:cubicBezTo>
                    <a:cubicBezTo>
                      <a:pt x="52" y="1"/>
                      <a:pt x="52" y="1"/>
                      <a:pt x="52" y="1"/>
                    </a:cubicBezTo>
                    <a:close/>
                    <a:moveTo>
                      <a:pt x="85" y="1"/>
                    </a:moveTo>
                    <a:cubicBezTo>
                      <a:pt x="85" y="46"/>
                      <a:pt x="85" y="46"/>
                      <a:pt x="85" y="46"/>
                    </a:cubicBezTo>
                    <a:cubicBezTo>
                      <a:pt x="85" y="51"/>
                      <a:pt x="85" y="55"/>
                      <a:pt x="85" y="57"/>
                    </a:cubicBezTo>
                    <a:cubicBezTo>
                      <a:pt x="85" y="59"/>
                      <a:pt x="84" y="61"/>
                      <a:pt x="83" y="63"/>
                    </a:cubicBezTo>
                    <a:cubicBezTo>
                      <a:pt x="81" y="65"/>
                      <a:pt x="80" y="67"/>
                      <a:pt x="78" y="68"/>
                    </a:cubicBezTo>
                    <a:cubicBezTo>
                      <a:pt x="76" y="69"/>
                      <a:pt x="73" y="70"/>
                      <a:pt x="71" y="70"/>
                    </a:cubicBezTo>
                    <a:cubicBezTo>
                      <a:pt x="68" y="70"/>
                      <a:pt x="65" y="69"/>
                      <a:pt x="63" y="68"/>
                    </a:cubicBezTo>
                    <a:cubicBezTo>
                      <a:pt x="60" y="66"/>
                      <a:pt x="59" y="65"/>
                      <a:pt x="57" y="63"/>
                    </a:cubicBezTo>
                    <a:cubicBezTo>
                      <a:pt x="56" y="60"/>
                      <a:pt x="56" y="58"/>
                      <a:pt x="55" y="56"/>
                    </a:cubicBezTo>
                    <a:cubicBezTo>
                      <a:pt x="55" y="54"/>
                      <a:pt x="55" y="49"/>
                      <a:pt x="55" y="41"/>
                    </a:cubicBezTo>
                    <a:cubicBezTo>
                      <a:pt x="55" y="1"/>
                      <a:pt x="55" y="1"/>
                      <a:pt x="55" y="1"/>
                    </a:cubicBezTo>
                    <a:cubicBezTo>
                      <a:pt x="68" y="1"/>
                      <a:pt x="68" y="1"/>
                      <a:pt x="68" y="1"/>
                    </a:cubicBezTo>
                    <a:cubicBezTo>
                      <a:pt x="68" y="52"/>
                      <a:pt x="68" y="52"/>
                      <a:pt x="68" y="52"/>
                    </a:cubicBezTo>
                    <a:cubicBezTo>
                      <a:pt x="68" y="54"/>
                      <a:pt x="68" y="56"/>
                      <a:pt x="69" y="57"/>
                    </a:cubicBezTo>
                    <a:cubicBezTo>
                      <a:pt x="69" y="58"/>
                      <a:pt x="69" y="58"/>
                      <a:pt x="70" y="58"/>
                    </a:cubicBezTo>
                    <a:cubicBezTo>
                      <a:pt x="71" y="58"/>
                      <a:pt x="71" y="58"/>
                      <a:pt x="72" y="57"/>
                    </a:cubicBezTo>
                    <a:cubicBezTo>
                      <a:pt x="72" y="56"/>
                      <a:pt x="72" y="54"/>
                      <a:pt x="72" y="51"/>
                    </a:cubicBezTo>
                    <a:cubicBezTo>
                      <a:pt x="72" y="1"/>
                      <a:pt x="72" y="1"/>
                      <a:pt x="72" y="1"/>
                    </a:cubicBezTo>
                    <a:cubicBezTo>
                      <a:pt x="85" y="1"/>
                      <a:pt x="85" y="1"/>
                      <a:pt x="85" y="1"/>
                    </a:cubicBezTo>
                    <a:close/>
                    <a:moveTo>
                      <a:pt x="121" y="1"/>
                    </a:moveTo>
                    <a:cubicBezTo>
                      <a:pt x="121" y="68"/>
                      <a:pt x="121" y="68"/>
                      <a:pt x="121" y="68"/>
                    </a:cubicBezTo>
                    <a:cubicBezTo>
                      <a:pt x="108" y="68"/>
                      <a:pt x="108" y="68"/>
                      <a:pt x="108" y="68"/>
                    </a:cubicBezTo>
                    <a:cubicBezTo>
                      <a:pt x="108" y="40"/>
                      <a:pt x="108" y="40"/>
                      <a:pt x="108" y="40"/>
                    </a:cubicBezTo>
                    <a:cubicBezTo>
                      <a:pt x="104" y="40"/>
                      <a:pt x="104" y="40"/>
                      <a:pt x="104" y="40"/>
                    </a:cubicBezTo>
                    <a:cubicBezTo>
                      <a:pt x="104" y="68"/>
                      <a:pt x="104" y="68"/>
                      <a:pt x="104" y="68"/>
                    </a:cubicBezTo>
                    <a:cubicBezTo>
                      <a:pt x="91" y="68"/>
                      <a:pt x="91" y="68"/>
                      <a:pt x="91" y="68"/>
                    </a:cubicBezTo>
                    <a:cubicBezTo>
                      <a:pt x="91" y="1"/>
                      <a:pt x="91" y="1"/>
                      <a:pt x="91" y="1"/>
                    </a:cubicBezTo>
                    <a:cubicBezTo>
                      <a:pt x="104" y="1"/>
                      <a:pt x="104" y="1"/>
                      <a:pt x="104" y="1"/>
                    </a:cubicBezTo>
                    <a:cubicBezTo>
                      <a:pt x="104" y="25"/>
                      <a:pt x="104" y="25"/>
                      <a:pt x="104" y="25"/>
                    </a:cubicBezTo>
                    <a:cubicBezTo>
                      <a:pt x="108" y="25"/>
                      <a:pt x="108" y="25"/>
                      <a:pt x="108" y="25"/>
                    </a:cubicBezTo>
                    <a:cubicBezTo>
                      <a:pt x="108" y="1"/>
                      <a:pt x="108" y="1"/>
                      <a:pt x="108" y="1"/>
                    </a:cubicBezTo>
                    <a:cubicBezTo>
                      <a:pt x="121" y="1"/>
                      <a:pt x="121" y="1"/>
                      <a:pt x="121" y="1"/>
                    </a:cubicBezTo>
                    <a:close/>
                    <a:moveTo>
                      <a:pt x="150" y="1"/>
                    </a:moveTo>
                    <a:cubicBezTo>
                      <a:pt x="158" y="68"/>
                      <a:pt x="158" y="68"/>
                      <a:pt x="158" y="68"/>
                    </a:cubicBezTo>
                    <a:cubicBezTo>
                      <a:pt x="144" y="68"/>
                      <a:pt x="144" y="68"/>
                      <a:pt x="144" y="68"/>
                    </a:cubicBezTo>
                    <a:cubicBezTo>
                      <a:pt x="143" y="56"/>
                      <a:pt x="143" y="56"/>
                      <a:pt x="143" y="56"/>
                    </a:cubicBezTo>
                    <a:cubicBezTo>
                      <a:pt x="139" y="56"/>
                      <a:pt x="139" y="56"/>
                      <a:pt x="139" y="56"/>
                    </a:cubicBezTo>
                    <a:cubicBezTo>
                      <a:pt x="138" y="68"/>
                      <a:pt x="138" y="68"/>
                      <a:pt x="138" y="68"/>
                    </a:cubicBezTo>
                    <a:cubicBezTo>
                      <a:pt x="124" y="68"/>
                      <a:pt x="124" y="68"/>
                      <a:pt x="124" y="68"/>
                    </a:cubicBezTo>
                    <a:cubicBezTo>
                      <a:pt x="131" y="1"/>
                      <a:pt x="131" y="1"/>
                      <a:pt x="131" y="1"/>
                    </a:cubicBezTo>
                    <a:cubicBezTo>
                      <a:pt x="150" y="1"/>
                      <a:pt x="150" y="1"/>
                      <a:pt x="150" y="1"/>
                    </a:cubicBezTo>
                    <a:close/>
                    <a:moveTo>
                      <a:pt x="143" y="44"/>
                    </a:moveTo>
                    <a:cubicBezTo>
                      <a:pt x="142" y="37"/>
                      <a:pt x="142" y="28"/>
                      <a:pt x="141" y="16"/>
                    </a:cubicBezTo>
                    <a:cubicBezTo>
                      <a:pt x="140" y="29"/>
                      <a:pt x="139" y="39"/>
                      <a:pt x="139" y="44"/>
                    </a:cubicBezTo>
                    <a:cubicBezTo>
                      <a:pt x="143" y="44"/>
                      <a:pt x="143" y="44"/>
                      <a:pt x="143" y="44"/>
                    </a:cubicBezTo>
                    <a:close/>
                    <a:moveTo>
                      <a:pt x="190" y="1"/>
                    </a:moveTo>
                    <a:cubicBezTo>
                      <a:pt x="190" y="68"/>
                      <a:pt x="190" y="68"/>
                      <a:pt x="190" y="68"/>
                    </a:cubicBezTo>
                    <a:cubicBezTo>
                      <a:pt x="178" y="68"/>
                      <a:pt x="178" y="68"/>
                      <a:pt x="178" y="68"/>
                    </a:cubicBezTo>
                    <a:cubicBezTo>
                      <a:pt x="172" y="38"/>
                      <a:pt x="172" y="38"/>
                      <a:pt x="172" y="38"/>
                    </a:cubicBezTo>
                    <a:cubicBezTo>
                      <a:pt x="172" y="68"/>
                      <a:pt x="172" y="68"/>
                      <a:pt x="172" y="68"/>
                    </a:cubicBezTo>
                    <a:cubicBezTo>
                      <a:pt x="161" y="68"/>
                      <a:pt x="161" y="68"/>
                      <a:pt x="161" y="68"/>
                    </a:cubicBezTo>
                    <a:cubicBezTo>
                      <a:pt x="161" y="1"/>
                      <a:pt x="161" y="1"/>
                      <a:pt x="161" y="1"/>
                    </a:cubicBezTo>
                    <a:cubicBezTo>
                      <a:pt x="172" y="1"/>
                      <a:pt x="172" y="1"/>
                      <a:pt x="172" y="1"/>
                    </a:cubicBezTo>
                    <a:cubicBezTo>
                      <a:pt x="179" y="32"/>
                      <a:pt x="179" y="32"/>
                      <a:pt x="179" y="32"/>
                    </a:cubicBezTo>
                    <a:cubicBezTo>
                      <a:pt x="179" y="1"/>
                      <a:pt x="179" y="1"/>
                      <a:pt x="179" y="1"/>
                    </a:cubicBezTo>
                    <a:cubicBezTo>
                      <a:pt x="190" y="1"/>
                      <a:pt x="190" y="1"/>
                      <a:pt x="190" y="1"/>
                    </a:cubicBezTo>
                    <a:close/>
                    <a:moveTo>
                      <a:pt x="247" y="31"/>
                    </a:moveTo>
                    <a:cubicBezTo>
                      <a:pt x="234" y="31"/>
                      <a:pt x="234" y="31"/>
                      <a:pt x="234" y="31"/>
                    </a:cubicBezTo>
                    <a:cubicBezTo>
                      <a:pt x="234" y="19"/>
                      <a:pt x="234" y="19"/>
                      <a:pt x="234" y="19"/>
                    </a:cubicBezTo>
                    <a:cubicBezTo>
                      <a:pt x="234" y="16"/>
                      <a:pt x="234" y="13"/>
                      <a:pt x="234" y="13"/>
                    </a:cubicBezTo>
                    <a:cubicBezTo>
                      <a:pt x="233" y="12"/>
                      <a:pt x="233" y="11"/>
                      <a:pt x="232" y="11"/>
                    </a:cubicBezTo>
                    <a:cubicBezTo>
                      <a:pt x="231" y="11"/>
                      <a:pt x="230" y="12"/>
                      <a:pt x="230" y="13"/>
                    </a:cubicBezTo>
                    <a:cubicBezTo>
                      <a:pt x="229" y="14"/>
                      <a:pt x="229" y="16"/>
                      <a:pt x="229" y="20"/>
                    </a:cubicBezTo>
                    <a:cubicBezTo>
                      <a:pt x="229" y="51"/>
                      <a:pt x="229" y="51"/>
                      <a:pt x="229" y="51"/>
                    </a:cubicBezTo>
                    <a:cubicBezTo>
                      <a:pt x="229" y="54"/>
                      <a:pt x="229" y="56"/>
                      <a:pt x="230" y="57"/>
                    </a:cubicBezTo>
                    <a:cubicBezTo>
                      <a:pt x="230" y="58"/>
                      <a:pt x="231" y="58"/>
                      <a:pt x="232" y="58"/>
                    </a:cubicBezTo>
                    <a:cubicBezTo>
                      <a:pt x="233" y="58"/>
                      <a:pt x="233" y="58"/>
                      <a:pt x="234" y="57"/>
                    </a:cubicBezTo>
                    <a:cubicBezTo>
                      <a:pt x="234" y="56"/>
                      <a:pt x="234" y="54"/>
                      <a:pt x="234" y="50"/>
                    </a:cubicBezTo>
                    <a:cubicBezTo>
                      <a:pt x="234" y="42"/>
                      <a:pt x="234" y="42"/>
                      <a:pt x="234" y="42"/>
                    </a:cubicBezTo>
                    <a:cubicBezTo>
                      <a:pt x="247" y="42"/>
                      <a:pt x="247" y="42"/>
                      <a:pt x="247" y="42"/>
                    </a:cubicBezTo>
                    <a:cubicBezTo>
                      <a:pt x="247" y="44"/>
                      <a:pt x="247" y="44"/>
                      <a:pt x="247" y="44"/>
                    </a:cubicBezTo>
                    <a:cubicBezTo>
                      <a:pt x="247" y="51"/>
                      <a:pt x="247" y="56"/>
                      <a:pt x="246" y="59"/>
                    </a:cubicBezTo>
                    <a:cubicBezTo>
                      <a:pt x="245" y="62"/>
                      <a:pt x="244" y="64"/>
                      <a:pt x="241" y="66"/>
                    </a:cubicBezTo>
                    <a:cubicBezTo>
                      <a:pt x="239" y="69"/>
                      <a:pt x="235" y="70"/>
                      <a:pt x="232" y="70"/>
                    </a:cubicBezTo>
                    <a:cubicBezTo>
                      <a:pt x="228" y="70"/>
                      <a:pt x="225" y="69"/>
                      <a:pt x="222" y="67"/>
                    </a:cubicBezTo>
                    <a:cubicBezTo>
                      <a:pt x="220" y="65"/>
                      <a:pt x="218" y="63"/>
                      <a:pt x="217" y="59"/>
                    </a:cubicBezTo>
                    <a:cubicBezTo>
                      <a:pt x="216" y="56"/>
                      <a:pt x="216" y="51"/>
                      <a:pt x="216" y="45"/>
                    </a:cubicBezTo>
                    <a:cubicBezTo>
                      <a:pt x="216" y="25"/>
                      <a:pt x="216" y="25"/>
                      <a:pt x="216" y="25"/>
                    </a:cubicBezTo>
                    <a:cubicBezTo>
                      <a:pt x="216" y="20"/>
                      <a:pt x="216" y="17"/>
                      <a:pt x="216" y="14"/>
                    </a:cubicBezTo>
                    <a:cubicBezTo>
                      <a:pt x="217" y="12"/>
                      <a:pt x="217" y="9"/>
                      <a:pt x="219" y="7"/>
                    </a:cubicBezTo>
                    <a:cubicBezTo>
                      <a:pt x="220" y="5"/>
                      <a:pt x="222" y="3"/>
                      <a:pt x="224" y="2"/>
                    </a:cubicBezTo>
                    <a:cubicBezTo>
                      <a:pt x="226" y="1"/>
                      <a:pt x="229" y="0"/>
                      <a:pt x="231" y="0"/>
                    </a:cubicBezTo>
                    <a:cubicBezTo>
                      <a:pt x="235" y="0"/>
                      <a:pt x="238" y="1"/>
                      <a:pt x="241" y="3"/>
                    </a:cubicBezTo>
                    <a:cubicBezTo>
                      <a:pt x="244" y="5"/>
                      <a:pt x="245" y="7"/>
                      <a:pt x="246" y="10"/>
                    </a:cubicBezTo>
                    <a:cubicBezTo>
                      <a:pt x="247" y="13"/>
                      <a:pt x="247" y="18"/>
                      <a:pt x="247" y="24"/>
                    </a:cubicBezTo>
                    <a:cubicBezTo>
                      <a:pt x="247" y="31"/>
                      <a:pt x="247" y="31"/>
                      <a:pt x="247" y="31"/>
                    </a:cubicBezTo>
                    <a:close/>
                    <a:moveTo>
                      <a:pt x="283" y="1"/>
                    </a:moveTo>
                    <a:cubicBezTo>
                      <a:pt x="283" y="68"/>
                      <a:pt x="283" y="68"/>
                      <a:pt x="283" y="68"/>
                    </a:cubicBezTo>
                    <a:cubicBezTo>
                      <a:pt x="270" y="68"/>
                      <a:pt x="270" y="68"/>
                      <a:pt x="270" y="68"/>
                    </a:cubicBezTo>
                    <a:cubicBezTo>
                      <a:pt x="270" y="40"/>
                      <a:pt x="270" y="40"/>
                      <a:pt x="270" y="40"/>
                    </a:cubicBezTo>
                    <a:cubicBezTo>
                      <a:pt x="266" y="40"/>
                      <a:pt x="266" y="40"/>
                      <a:pt x="266" y="40"/>
                    </a:cubicBezTo>
                    <a:cubicBezTo>
                      <a:pt x="266" y="68"/>
                      <a:pt x="266" y="68"/>
                      <a:pt x="266" y="68"/>
                    </a:cubicBezTo>
                    <a:cubicBezTo>
                      <a:pt x="253" y="68"/>
                      <a:pt x="253" y="68"/>
                      <a:pt x="253" y="68"/>
                    </a:cubicBezTo>
                    <a:cubicBezTo>
                      <a:pt x="253" y="1"/>
                      <a:pt x="253" y="1"/>
                      <a:pt x="253" y="1"/>
                    </a:cubicBezTo>
                    <a:cubicBezTo>
                      <a:pt x="266" y="1"/>
                      <a:pt x="266" y="1"/>
                      <a:pt x="266" y="1"/>
                    </a:cubicBezTo>
                    <a:cubicBezTo>
                      <a:pt x="266" y="25"/>
                      <a:pt x="266" y="25"/>
                      <a:pt x="266" y="25"/>
                    </a:cubicBezTo>
                    <a:cubicBezTo>
                      <a:pt x="270" y="25"/>
                      <a:pt x="270" y="25"/>
                      <a:pt x="270" y="25"/>
                    </a:cubicBezTo>
                    <a:cubicBezTo>
                      <a:pt x="270" y="1"/>
                      <a:pt x="270" y="1"/>
                      <a:pt x="270" y="1"/>
                    </a:cubicBezTo>
                    <a:cubicBezTo>
                      <a:pt x="283" y="1"/>
                      <a:pt x="283" y="1"/>
                      <a:pt x="283" y="1"/>
                    </a:cubicBezTo>
                    <a:close/>
                    <a:moveTo>
                      <a:pt x="302" y="1"/>
                    </a:moveTo>
                    <a:cubicBezTo>
                      <a:pt x="302" y="68"/>
                      <a:pt x="302" y="68"/>
                      <a:pt x="302" y="68"/>
                    </a:cubicBezTo>
                    <a:cubicBezTo>
                      <a:pt x="289" y="68"/>
                      <a:pt x="289" y="68"/>
                      <a:pt x="289" y="68"/>
                    </a:cubicBezTo>
                    <a:cubicBezTo>
                      <a:pt x="289" y="1"/>
                      <a:pt x="289" y="1"/>
                      <a:pt x="289" y="1"/>
                    </a:cubicBezTo>
                    <a:cubicBezTo>
                      <a:pt x="302" y="1"/>
                      <a:pt x="302" y="1"/>
                      <a:pt x="302" y="1"/>
                    </a:cubicBezTo>
                    <a:close/>
                    <a:moveTo>
                      <a:pt x="337" y="1"/>
                    </a:moveTo>
                    <a:cubicBezTo>
                      <a:pt x="337" y="68"/>
                      <a:pt x="337" y="68"/>
                      <a:pt x="337" y="68"/>
                    </a:cubicBezTo>
                    <a:cubicBezTo>
                      <a:pt x="326" y="68"/>
                      <a:pt x="326" y="68"/>
                      <a:pt x="326" y="68"/>
                    </a:cubicBezTo>
                    <a:cubicBezTo>
                      <a:pt x="319" y="38"/>
                      <a:pt x="319" y="38"/>
                      <a:pt x="319" y="38"/>
                    </a:cubicBezTo>
                    <a:cubicBezTo>
                      <a:pt x="319" y="68"/>
                      <a:pt x="319" y="68"/>
                      <a:pt x="319" y="68"/>
                    </a:cubicBezTo>
                    <a:cubicBezTo>
                      <a:pt x="308" y="68"/>
                      <a:pt x="308" y="68"/>
                      <a:pt x="308" y="68"/>
                    </a:cubicBezTo>
                    <a:cubicBezTo>
                      <a:pt x="308" y="1"/>
                      <a:pt x="308" y="1"/>
                      <a:pt x="308" y="1"/>
                    </a:cubicBezTo>
                    <a:cubicBezTo>
                      <a:pt x="319" y="1"/>
                      <a:pt x="319" y="1"/>
                      <a:pt x="319" y="1"/>
                    </a:cubicBezTo>
                    <a:cubicBezTo>
                      <a:pt x="326" y="32"/>
                      <a:pt x="326" y="32"/>
                      <a:pt x="326" y="32"/>
                    </a:cubicBezTo>
                    <a:cubicBezTo>
                      <a:pt x="326" y="1"/>
                      <a:pt x="326" y="1"/>
                      <a:pt x="326" y="1"/>
                    </a:cubicBezTo>
                    <a:cubicBezTo>
                      <a:pt x="337" y="1"/>
                      <a:pt x="337" y="1"/>
                      <a:pt x="337" y="1"/>
                    </a:cubicBezTo>
                    <a:close/>
                    <a:moveTo>
                      <a:pt x="366" y="1"/>
                    </a:moveTo>
                    <a:cubicBezTo>
                      <a:pt x="374" y="68"/>
                      <a:pt x="374" y="68"/>
                      <a:pt x="374" y="68"/>
                    </a:cubicBezTo>
                    <a:cubicBezTo>
                      <a:pt x="360" y="68"/>
                      <a:pt x="360" y="68"/>
                      <a:pt x="360" y="68"/>
                    </a:cubicBezTo>
                    <a:cubicBezTo>
                      <a:pt x="360" y="56"/>
                      <a:pt x="360" y="56"/>
                      <a:pt x="360" y="56"/>
                    </a:cubicBezTo>
                    <a:cubicBezTo>
                      <a:pt x="355" y="56"/>
                      <a:pt x="355" y="56"/>
                      <a:pt x="355" y="56"/>
                    </a:cubicBezTo>
                    <a:cubicBezTo>
                      <a:pt x="354" y="68"/>
                      <a:pt x="354" y="68"/>
                      <a:pt x="354" y="68"/>
                    </a:cubicBezTo>
                    <a:cubicBezTo>
                      <a:pt x="340" y="68"/>
                      <a:pt x="340" y="68"/>
                      <a:pt x="340" y="68"/>
                    </a:cubicBezTo>
                    <a:cubicBezTo>
                      <a:pt x="347" y="1"/>
                      <a:pt x="347" y="1"/>
                      <a:pt x="347" y="1"/>
                    </a:cubicBezTo>
                    <a:cubicBezTo>
                      <a:pt x="366" y="1"/>
                      <a:pt x="366" y="1"/>
                      <a:pt x="366" y="1"/>
                    </a:cubicBezTo>
                    <a:close/>
                    <a:moveTo>
                      <a:pt x="359" y="44"/>
                    </a:moveTo>
                    <a:cubicBezTo>
                      <a:pt x="359" y="37"/>
                      <a:pt x="358" y="28"/>
                      <a:pt x="357" y="16"/>
                    </a:cubicBezTo>
                    <a:cubicBezTo>
                      <a:pt x="356" y="29"/>
                      <a:pt x="355" y="39"/>
                      <a:pt x="355" y="44"/>
                    </a:cubicBezTo>
                    <a:lnTo>
                      <a:pt x="359" y="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6" name="ïṩľíḓè"/>
              <p:cNvSpPr/>
              <p:nvPr/>
            </p:nvSpPr>
            <p:spPr bwMode="auto">
              <a:xfrm>
                <a:off x="2601913" y="3629026"/>
                <a:ext cx="976313" cy="134938"/>
              </a:xfrm>
              <a:custGeom>
                <a:avLst/>
                <a:gdLst>
                  <a:gd name="T0" fmla="*/ 1245 w 1245"/>
                  <a:gd name="T1" fmla="*/ 0 h 173"/>
                  <a:gd name="T2" fmla="*/ 1149 w 1245"/>
                  <a:gd name="T3" fmla="*/ 173 h 173"/>
                  <a:gd name="T4" fmla="*/ 96 w 1245"/>
                  <a:gd name="T5" fmla="*/ 173 h 173"/>
                  <a:gd name="T6" fmla="*/ 0 w 1245"/>
                  <a:gd name="T7" fmla="*/ 0 h 173"/>
                  <a:gd name="T8" fmla="*/ 1245 w 1245"/>
                  <a:gd name="T9" fmla="*/ 0 h 1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45" h="173">
                    <a:moveTo>
                      <a:pt x="1245" y="0"/>
                    </a:moveTo>
                    <a:cubicBezTo>
                      <a:pt x="1221" y="63"/>
                      <a:pt x="1189" y="121"/>
                      <a:pt x="1149" y="173"/>
                    </a:cubicBezTo>
                    <a:cubicBezTo>
                      <a:pt x="96" y="173"/>
                      <a:pt x="96" y="173"/>
                      <a:pt x="96" y="173"/>
                    </a:cubicBezTo>
                    <a:cubicBezTo>
                      <a:pt x="57" y="121"/>
                      <a:pt x="24" y="63"/>
                      <a:pt x="0" y="0"/>
                    </a:cubicBezTo>
                    <a:lnTo>
                      <a:pt x="1245" y="0"/>
                    </a:lnTo>
                    <a:close/>
                  </a:path>
                </a:pathLst>
              </a:custGeom>
              <a:noFill/>
              <a:ln>
                <a:solidFill>
                  <a:schemeClr val="accent1"/>
                </a:solidFill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7" name="ïŝļíḑè"/>
              <p:cNvSpPr/>
              <p:nvPr/>
            </p:nvSpPr>
            <p:spPr bwMode="auto">
              <a:xfrm>
                <a:off x="2709863" y="3643313"/>
                <a:ext cx="493713" cy="95250"/>
              </a:xfrm>
              <a:custGeom>
                <a:avLst/>
                <a:gdLst>
                  <a:gd name="T0" fmla="*/ 11 w 630"/>
                  <a:gd name="T1" fmla="*/ 33 h 121"/>
                  <a:gd name="T2" fmla="*/ 35 w 630"/>
                  <a:gd name="T3" fmla="*/ 100 h 121"/>
                  <a:gd name="T4" fmla="*/ 72 w 630"/>
                  <a:gd name="T5" fmla="*/ 56 h 121"/>
                  <a:gd name="T6" fmla="*/ 62 w 630"/>
                  <a:gd name="T7" fmla="*/ 38 h 121"/>
                  <a:gd name="T8" fmla="*/ 58 w 630"/>
                  <a:gd name="T9" fmla="*/ 98 h 121"/>
                  <a:gd name="T10" fmla="*/ 75 w 630"/>
                  <a:gd name="T11" fmla="*/ 18 h 121"/>
                  <a:gd name="T12" fmla="*/ 31 w 630"/>
                  <a:gd name="T13" fmla="*/ 52 h 121"/>
                  <a:gd name="T14" fmla="*/ 34 w 630"/>
                  <a:gd name="T15" fmla="*/ 67 h 121"/>
                  <a:gd name="T16" fmla="*/ 171 w 630"/>
                  <a:gd name="T17" fmla="*/ 39 h 121"/>
                  <a:gd name="T18" fmla="*/ 186 w 630"/>
                  <a:gd name="T19" fmla="*/ 68 h 121"/>
                  <a:gd name="T20" fmla="*/ 191 w 630"/>
                  <a:gd name="T21" fmla="*/ 41 h 121"/>
                  <a:gd name="T22" fmla="*/ 194 w 630"/>
                  <a:gd name="T23" fmla="*/ 24 h 121"/>
                  <a:gd name="T24" fmla="*/ 151 w 630"/>
                  <a:gd name="T25" fmla="*/ 30 h 121"/>
                  <a:gd name="T26" fmla="*/ 131 w 630"/>
                  <a:gd name="T27" fmla="*/ 64 h 121"/>
                  <a:gd name="T28" fmla="*/ 140 w 630"/>
                  <a:gd name="T29" fmla="*/ 64 h 121"/>
                  <a:gd name="T30" fmla="*/ 134 w 630"/>
                  <a:gd name="T31" fmla="*/ 113 h 121"/>
                  <a:gd name="T32" fmla="*/ 187 w 630"/>
                  <a:gd name="T33" fmla="*/ 61 h 121"/>
                  <a:gd name="T34" fmla="*/ 174 w 630"/>
                  <a:gd name="T35" fmla="*/ 53 h 121"/>
                  <a:gd name="T36" fmla="*/ 170 w 630"/>
                  <a:gd name="T37" fmla="*/ 62 h 121"/>
                  <a:gd name="T38" fmla="*/ 166 w 630"/>
                  <a:gd name="T39" fmla="*/ 77 h 121"/>
                  <a:gd name="T40" fmla="*/ 179 w 630"/>
                  <a:gd name="T41" fmla="*/ 113 h 121"/>
                  <a:gd name="T42" fmla="*/ 223 w 630"/>
                  <a:gd name="T43" fmla="*/ 91 h 121"/>
                  <a:gd name="T44" fmla="*/ 186 w 630"/>
                  <a:gd name="T45" fmla="*/ 88 h 121"/>
                  <a:gd name="T46" fmla="*/ 173 w 630"/>
                  <a:gd name="T47" fmla="*/ 86 h 121"/>
                  <a:gd name="T48" fmla="*/ 271 w 630"/>
                  <a:gd name="T49" fmla="*/ 25 h 121"/>
                  <a:gd name="T50" fmla="*/ 251 w 630"/>
                  <a:gd name="T51" fmla="*/ 92 h 121"/>
                  <a:gd name="T52" fmla="*/ 306 w 630"/>
                  <a:gd name="T53" fmla="*/ 49 h 121"/>
                  <a:gd name="T54" fmla="*/ 297 w 630"/>
                  <a:gd name="T55" fmla="*/ 23 h 121"/>
                  <a:gd name="T56" fmla="*/ 317 w 630"/>
                  <a:gd name="T57" fmla="*/ 7 h 121"/>
                  <a:gd name="T58" fmla="*/ 279 w 630"/>
                  <a:gd name="T59" fmla="*/ 8 h 121"/>
                  <a:gd name="T60" fmla="*/ 287 w 630"/>
                  <a:gd name="T61" fmla="*/ 34 h 121"/>
                  <a:gd name="T62" fmla="*/ 293 w 630"/>
                  <a:gd name="T63" fmla="*/ 40 h 121"/>
                  <a:gd name="T64" fmla="*/ 316 w 630"/>
                  <a:gd name="T65" fmla="*/ 58 h 121"/>
                  <a:gd name="T66" fmla="*/ 332 w 630"/>
                  <a:gd name="T67" fmla="*/ 76 h 121"/>
                  <a:gd name="T68" fmla="*/ 308 w 630"/>
                  <a:gd name="T69" fmla="*/ 109 h 121"/>
                  <a:gd name="T70" fmla="*/ 296 w 630"/>
                  <a:gd name="T71" fmla="*/ 107 h 121"/>
                  <a:gd name="T72" fmla="*/ 263 w 630"/>
                  <a:gd name="T73" fmla="*/ 86 h 121"/>
                  <a:gd name="T74" fmla="*/ 305 w 630"/>
                  <a:gd name="T75" fmla="*/ 65 h 121"/>
                  <a:gd name="T76" fmla="*/ 377 w 630"/>
                  <a:gd name="T77" fmla="*/ 46 h 121"/>
                  <a:gd name="T78" fmla="*/ 419 w 630"/>
                  <a:gd name="T79" fmla="*/ 47 h 121"/>
                  <a:gd name="T80" fmla="*/ 418 w 630"/>
                  <a:gd name="T81" fmla="*/ 56 h 121"/>
                  <a:gd name="T82" fmla="*/ 370 w 630"/>
                  <a:gd name="T83" fmla="*/ 84 h 121"/>
                  <a:gd name="T84" fmla="*/ 388 w 630"/>
                  <a:gd name="T85" fmla="*/ 105 h 121"/>
                  <a:gd name="T86" fmla="*/ 415 w 630"/>
                  <a:gd name="T87" fmla="*/ 108 h 121"/>
                  <a:gd name="T88" fmla="*/ 438 w 630"/>
                  <a:gd name="T89" fmla="*/ 69 h 121"/>
                  <a:gd name="T90" fmla="*/ 449 w 630"/>
                  <a:gd name="T91" fmla="*/ 56 h 121"/>
                  <a:gd name="T92" fmla="*/ 423 w 630"/>
                  <a:gd name="T93" fmla="*/ 29 h 121"/>
                  <a:gd name="T94" fmla="*/ 408 w 630"/>
                  <a:gd name="T95" fmla="*/ 22 h 121"/>
                  <a:gd name="T96" fmla="*/ 408 w 630"/>
                  <a:gd name="T97" fmla="*/ 22 h 121"/>
                  <a:gd name="T98" fmla="*/ 373 w 630"/>
                  <a:gd name="T99" fmla="*/ 63 h 121"/>
                  <a:gd name="T100" fmla="*/ 541 w 630"/>
                  <a:gd name="T101" fmla="*/ 44 h 121"/>
                  <a:gd name="T102" fmla="*/ 566 w 630"/>
                  <a:gd name="T103" fmla="*/ 83 h 121"/>
                  <a:gd name="T104" fmla="*/ 576 w 630"/>
                  <a:gd name="T105" fmla="*/ 102 h 121"/>
                  <a:gd name="T106" fmla="*/ 630 w 630"/>
                  <a:gd name="T107" fmla="*/ 101 h 121"/>
                  <a:gd name="T108" fmla="*/ 604 w 630"/>
                  <a:gd name="T109" fmla="*/ 55 h 121"/>
                  <a:gd name="T110" fmla="*/ 585 w 630"/>
                  <a:gd name="T111" fmla="*/ 45 h 121"/>
                  <a:gd name="T112" fmla="*/ 577 w 630"/>
                  <a:gd name="T113" fmla="*/ 15 h 121"/>
                  <a:gd name="T114" fmla="*/ 594 w 630"/>
                  <a:gd name="T115" fmla="*/ 29 h 121"/>
                  <a:gd name="T116" fmla="*/ 542 w 630"/>
                  <a:gd name="T117" fmla="*/ 72 h 121"/>
                  <a:gd name="T118" fmla="*/ 542 w 630"/>
                  <a:gd name="T119" fmla="*/ 72 h 121"/>
                  <a:gd name="T120" fmla="*/ 526 w 630"/>
                  <a:gd name="T121" fmla="*/ 96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630" h="121">
                    <a:moveTo>
                      <a:pt x="43" y="91"/>
                    </a:moveTo>
                    <a:cubicBezTo>
                      <a:pt x="44" y="89"/>
                      <a:pt x="44" y="84"/>
                      <a:pt x="43" y="77"/>
                    </a:cubicBezTo>
                    <a:cubicBezTo>
                      <a:pt x="42" y="64"/>
                      <a:pt x="42" y="53"/>
                      <a:pt x="43" y="44"/>
                    </a:cubicBezTo>
                    <a:cubicBezTo>
                      <a:pt x="43" y="37"/>
                      <a:pt x="45" y="32"/>
                      <a:pt x="48" y="28"/>
                    </a:cubicBezTo>
                    <a:cubicBezTo>
                      <a:pt x="49" y="26"/>
                      <a:pt x="47" y="24"/>
                      <a:pt x="43" y="23"/>
                    </a:cubicBezTo>
                    <a:cubicBezTo>
                      <a:pt x="38" y="22"/>
                      <a:pt x="33" y="23"/>
                      <a:pt x="30" y="24"/>
                    </a:cubicBezTo>
                    <a:cubicBezTo>
                      <a:pt x="25" y="27"/>
                      <a:pt x="20" y="28"/>
                      <a:pt x="15" y="29"/>
                    </a:cubicBezTo>
                    <a:cubicBezTo>
                      <a:pt x="13" y="30"/>
                      <a:pt x="11" y="31"/>
                      <a:pt x="11" y="33"/>
                    </a:cubicBezTo>
                    <a:cubicBezTo>
                      <a:pt x="12" y="35"/>
                      <a:pt x="12" y="43"/>
                      <a:pt x="11" y="59"/>
                    </a:cubicBezTo>
                    <a:cubicBezTo>
                      <a:pt x="11" y="65"/>
                      <a:pt x="11" y="68"/>
                      <a:pt x="11" y="70"/>
                    </a:cubicBezTo>
                    <a:cubicBezTo>
                      <a:pt x="11" y="75"/>
                      <a:pt x="7" y="79"/>
                      <a:pt x="0" y="84"/>
                    </a:cubicBezTo>
                    <a:cubicBezTo>
                      <a:pt x="1" y="87"/>
                      <a:pt x="3" y="90"/>
                      <a:pt x="8" y="91"/>
                    </a:cubicBezTo>
                    <a:cubicBezTo>
                      <a:pt x="11" y="86"/>
                      <a:pt x="15" y="82"/>
                      <a:pt x="22" y="77"/>
                    </a:cubicBezTo>
                    <a:cubicBezTo>
                      <a:pt x="25" y="81"/>
                      <a:pt x="30" y="86"/>
                      <a:pt x="37" y="90"/>
                    </a:cubicBezTo>
                    <a:cubicBezTo>
                      <a:pt x="40" y="91"/>
                      <a:pt x="41" y="92"/>
                      <a:pt x="42" y="93"/>
                    </a:cubicBezTo>
                    <a:cubicBezTo>
                      <a:pt x="40" y="95"/>
                      <a:pt x="38" y="97"/>
                      <a:pt x="35" y="100"/>
                    </a:cubicBezTo>
                    <a:cubicBezTo>
                      <a:pt x="32" y="103"/>
                      <a:pt x="30" y="105"/>
                      <a:pt x="29" y="107"/>
                    </a:cubicBezTo>
                    <a:cubicBezTo>
                      <a:pt x="30" y="108"/>
                      <a:pt x="33" y="107"/>
                      <a:pt x="40" y="104"/>
                    </a:cubicBezTo>
                    <a:cubicBezTo>
                      <a:pt x="44" y="102"/>
                      <a:pt x="46" y="100"/>
                      <a:pt x="46" y="99"/>
                    </a:cubicBezTo>
                    <a:cubicBezTo>
                      <a:pt x="46" y="96"/>
                      <a:pt x="47" y="92"/>
                      <a:pt x="50" y="88"/>
                    </a:cubicBezTo>
                    <a:cubicBezTo>
                      <a:pt x="53" y="84"/>
                      <a:pt x="55" y="79"/>
                      <a:pt x="57" y="74"/>
                    </a:cubicBezTo>
                    <a:cubicBezTo>
                      <a:pt x="59" y="69"/>
                      <a:pt x="64" y="66"/>
                      <a:pt x="73" y="64"/>
                    </a:cubicBezTo>
                    <a:cubicBezTo>
                      <a:pt x="73" y="64"/>
                      <a:pt x="73" y="62"/>
                      <a:pt x="73" y="60"/>
                    </a:cubicBezTo>
                    <a:cubicBezTo>
                      <a:pt x="73" y="57"/>
                      <a:pt x="73" y="56"/>
                      <a:pt x="72" y="56"/>
                    </a:cubicBezTo>
                    <a:cubicBezTo>
                      <a:pt x="70" y="56"/>
                      <a:pt x="68" y="56"/>
                      <a:pt x="66" y="57"/>
                    </a:cubicBezTo>
                    <a:cubicBezTo>
                      <a:pt x="64" y="57"/>
                      <a:pt x="61" y="57"/>
                      <a:pt x="60" y="58"/>
                    </a:cubicBezTo>
                    <a:cubicBezTo>
                      <a:pt x="60" y="53"/>
                      <a:pt x="61" y="50"/>
                      <a:pt x="62" y="48"/>
                    </a:cubicBezTo>
                    <a:cubicBezTo>
                      <a:pt x="63" y="47"/>
                      <a:pt x="66" y="45"/>
                      <a:pt x="70" y="42"/>
                    </a:cubicBezTo>
                    <a:cubicBezTo>
                      <a:pt x="71" y="41"/>
                      <a:pt x="71" y="41"/>
                      <a:pt x="72" y="41"/>
                    </a:cubicBezTo>
                    <a:cubicBezTo>
                      <a:pt x="73" y="40"/>
                      <a:pt x="73" y="39"/>
                      <a:pt x="72" y="37"/>
                    </a:cubicBezTo>
                    <a:cubicBezTo>
                      <a:pt x="71" y="36"/>
                      <a:pt x="69" y="36"/>
                      <a:pt x="68" y="36"/>
                    </a:cubicBezTo>
                    <a:cubicBezTo>
                      <a:pt x="67" y="36"/>
                      <a:pt x="66" y="37"/>
                      <a:pt x="62" y="38"/>
                    </a:cubicBezTo>
                    <a:cubicBezTo>
                      <a:pt x="63" y="37"/>
                      <a:pt x="63" y="34"/>
                      <a:pt x="62" y="30"/>
                    </a:cubicBezTo>
                    <a:cubicBezTo>
                      <a:pt x="62" y="26"/>
                      <a:pt x="65" y="24"/>
                      <a:pt x="72" y="24"/>
                    </a:cubicBezTo>
                    <a:cubicBezTo>
                      <a:pt x="75" y="24"/>
                      <a:pt x="77" y="27"/>
                      <a:pt x="77" y="32"/>
                    </a:cubicBezTo>
                    <a:cubicBezTo>
                      <a:pt x="77" y="47"/>
                      <a:pt x="78" y="61"/>
                      <a:pt x="78" y="74"/>
                    </a:cubicBezTo>
                    <a:cubicBezTo>
                      <a:pt x="78" y="86"/>
                      <a:pt x="78" y="93"/>
                      <a:pt x="78" y="98"/>
                    </a:cubicBezTo>
                    <a:cubicBezTo>
                      <a:pt x="78" y="99"/>
                      <a:pt x="76" y="100"/>
                      <a:pt x="74" y="100"/>
                    </a:cubicBezTo>
                    <a:cubicBezTo>
                      <a:pt x="71" y="100"/>
                      <a:pt x="67" y="99"/>
                      <a:pt x="62" y="99"/>
                    </a:cubicBezTo>
                    <a:cubicBezTo>
                      <a:pt x="59" y="98"/>
                      <a:pt x="58" y="98"/>
                      <a:pt x="58" y="98"/>
                    </a:cubicBezTo>
                    <a:cubicBezTo>
                      <a:pt x="68" y="107"/>
                      <a:pt x="79" y="112"/>
                      <a:pt x="90" y="113"/>
                    </a:cubicBezTo>
                    <a:cubicBezTo>
                      <a:pt x="88" y="109"/>
                      <a:pt x="88" y="96"/>
                      <a:pt x="88" y="75"/>
                    </a:cubicBezTo>
                    <a:cubicBezTo>
                      <a:pt x="88" y="69"/>
                      <a:pt x="88" y="65"/>
                      <a:pt x="88" y="62"/>
                    </a:cubicBezTo>
                    <a:cubicBezTo>
                      <a:pt x="88" y="62"/>
                      <a:pt x="88" y="60"/>
                      <a:pt x="88" y="56"/>
                    </a:cubicBezTo>
                    <a:cubicBezTo>
                      <a:pt x="87" y="49"/>
                      <a:pt x="87" y="43"/>
                      <a:pt x="87" y="40"/>
                    </a:cubicBezTo>
                    <a:cubicBezTo>
                      <a:pt x="87" y="33"/>
                      <a:pt x="88" y="28"/>
                      <a:pt x="91" y="23"/>
                    </a:cubicBezTo>
                    <a:cubicBezTo>
                      <a:pt x="92" y="21"/>
                      <a:pt x="91" y="19"/>
                      <a:pt x="87" y="18"/>
                    </a:cubicBezTo>
                    <a:cubicBezTo>
                      <a:pt x="83" y="16"/>
                      <a:pt x="79" y="16"/>
                      <a:pt x="75" y="18"/>
                    </a:cubicBezTo>
                    <a:cubicBezTo>
                      <a:pt x="70" y="20"/>
                      <a:pt x="64" y="21"/>
                      <a:pt x="56" y="22"/>
                    </a:cubicBezTo>
                    <a:cubicBezTo>
                      <a:pt x="54" y="22"/>
                      <a:pt x="54" y="23"/>
                      <a:pt x="54" y="24"/>
                    </a:cubicBezTo>
                    <a:cubicBezTo>
                      <a:pt x="54" y="54"/>
                      <a:pt x="50" y="76"/>
                      <a:pt x="43" y="91"/>
                    </a:cubicBezTo>
                    <a:close/>
                    <a:moveTo>
                      <a:pt x="32" y="60"/>
                    </a:moveTo>
                    <a:cubicBezTo>
                      <a:pt x="27" y="64"/>
                      <a:pt x="23" y="66"/>
                      <a:pt x="20" y="68"/>
                    </a:cubicBezTo>
                    <a:cubicBezTo>
                      <a:pt x="20" y="64"/>
                      <a:pt x="20" y="61"/>
                      <a:pt x="21" y="60"/>
                    </a:cubicBezTo>
                    <a:cubicBezTo>
                      <a:pt x="21" y="58"/>
                      <a:pt x="23" y="57"/>
                      <a:pt x="27" y="56"/>
                    </a:cubicBezTo>
                    <a:cubicBezTo>
                      <a:pt x="29" y="55"/>
                      <a:pt x="31" y="53"/>
                      <a:pt x="31" y="52"/>
                    </a:cubicBezTo>
                    <a:cubicBezTo>
                      <a:pt x="32" y="49"/>
                      <a:pt x="29" y="46"/>
                      <a:pt x="23" y="43"/>
                    </a:cubicBezTo>
                    <a:cubicBezTo>
                      <a:pt x="23" y="41"/>
                      <a:pt x="23" y="38"/>
                      <a:pt x="24" y="35"/>
                    </a:cubicBezTo>
                    <a:cubicBezTo>
                      <a:pt x="25" y="32"/>
                      <a:pt x="28" y="31"/>
                      <a:pt x="32" y="32"/>
                    </a:cubicBezTo>
                    <a:cubicBezTo>
                      <a:pt x="34" y="32"/>
                      <a:pt x="34" y="36"/>
                      <a:pt x="34" y="43"/>
                    </a:cubicBezTo>
                    <a:cubicBezTo>
                      <a:pt x="34" y="44"/>
                      <a:pt x="34" y="46"/>
                      <a:pt x="34" y="48"/>
                    </a:cubicBezTo>
                    <a:cubicBezTo>
                      <a:pt x="35" y="56"/>
                      <a:pt x="34" y="60"/>
                      <a:pt x="32" y="60"/>
                    </a:cubicBezTo>
                    <a:close/>
                    <a:moveTo>
                      <a:pt x="23" y="77"/>
                    </a:moveTo>
                    <a:cubicBezTo>
                      <a:pt x="28" y="73"/>
                      <a:pt x="32" y="69"/>
                      <a:pt x="34" y="67"/>
                    </a:cubicBezTo>
                    <a:cubicBezTo>
                      <a:pt x="34" y="72"/>
                      <a:pt x="34" y="76"/>
                      <a:pt x="34" y="79"/>
                    </a:cubicBezTo>
                    <a:cubicBezTo>
                      <a:pt x="34" y="80"/>
                      <a:pt x="32" y="80"/>
                      <a:pt x="30" y="79"/>
                    </a:cubicBezTo>
                    <a:cubicBezTo>
                      <a:pt x="27" y="79"/>
                      <a:pt x="25" y="78"/>
                      <a:pt x="23" y="77"/>
                    </a:cubicBezTo>
                    <a:close/>
                    <a:moveTo>
                      <a:pt x="172" y="29"/>
                    </a:moveTo>
                    <a:cubicBezTo>
                      <a:pt x="171" y="29"/>
                      <a:pt x="169" y="30"/>
                      <a:pt x="165" y="31"/>
                    </a:cubicBezTo>
                    <a:cubicBezTo>
                      <a:pt x="159" y="33"/>
                      <a:pt x="155" y="34"/>
                      <a:pt x="153" y="35"/>
                    </a:cubicBezTo>
                    <a:cubicBezTo>
                      <a:pt x="154" y="38"/>
                      <a:pt x="155" y="41"/>
                      <a:pt x="158" y="44"/>
                    </a:cubicBezTo>
                    <a:cubicBezTo>
                      <a:pt x="162" y="41"/>
                      <a:pt x="167" y="39"/>
                      <a:pt x="171" y="39"/>
                    </a:cubicBezTo>
                    <a:cubicBezTo>
                      <a:pt x="171" y="42"/>
                      <a:pt x="171" y="43"/>
                      <a:pt x="171" y="44"/>
                    </a:cubicBezTo>
                    <a:cubicBezTo>
                      <a:pt x="170" y="45"/>
                      <a:pt x="165" y="47"/>
                      <a:pt x="156" y="50"/>
                    </a:cubicBezTo>
                    <a:cubicBezTo>
                      <a:pt x="154" y="51"/>
                      <a:pt x="153" y="52"/>
                      <a:pt x="153" y="53"/>
                    </a:cubicBezTo>
                    <a:cubicBezTo>
                      <a:pt x="153" y="54"/>
                      <a:pt x="154" y="57"/>
                      <a:pt x="155" y="61"/>
                    </a:cubicBezTo>
                    <a:cubicBezTo>
                      <a:pt x="157" y="64"/>
                      <a:pt x="159" y="67"/>
                      <a:pt x="162" y="71"/>
                    </a:cubicBezTo>
                    <a:cubicBezTo>
                      <a:pt x="163" y="72"/>
                      <a:pt x="164" y="72"/>
                      <a:pt x="164" y="73"/>
                    </a:cubicBezTo>
                    <a:cubicBezTo>
                      <a:pt x="165" y="74"/>
                      <a:pt x="166" y="74"/>
                      <a:pt x="167" y="74"/>
                    </a:cubicBezTo>
                    <a:cubicBezTo>
                      <a:pt x="175" y="69"/>
                      <a:pt x="181" y="67"/>
                      <a:pt x="186" y="68"/>
                    </a:cubicBezTo>
                    <a:cubicBezTo>
                      <a:pt x="187" y="68"/>
                      <a:pt x="188" y="69"/>
                      <a:pt x="189" y="71"/>
                    </a:cubicBezTo>
                    <a:cubicBezTo>
                      <a:pt x="190" y="72"/>
                      <a:pt x="191" y="72"/>
                      <a:pt x="192" y="73"/>
                    </a:cubicBezTo>
                    <a:cubicBezTo>
                      <a:pt x="193" y="73"/>
                      <a:pt x="195" y="72"/>
                      <a:pt x="196" y="71"/>
                    </a:cubicBezTo>
                    <a:cubicBezTo>
                      <a:pt x="199" y="67"/>
                      <a:pt x="201" y="64"/>
                      <a:pt x="202" y="62"/>
                    </a:cubicBezTo>
                    <a:cubicBezTo>
                      <a:pt x="202" y="61"/>
                      <a:pt x="202" y="60"/>
                      <a:pt x="203" y="60"/>
                    </a:cubicBezTo>
                    <a:cubicBezTo>
                      <a:pt x="203" y="59"/>
                      <a:pt x="204" y="58"/>
                      <a:pt x="205" y="56"/>
                    </a:cubicBezTo>
                    <a:cubicBezTo>
                      <a:pt x="208" y="51"/>
                      <a:pt x="209" y="48"/>
                      <a:pt x="209" y="47"/>
                    </a:cubicBezTo>
                    <a:cubicBezTo>
                      <a:pt x="208" y="44"/>
                      <a:pt x="202" y="42"/>
                      <a:pt x="191" y="41"/>
                    </a:cubicBezTo>
                    <a:cubicBezTo>
                      <a:pt x="190" y="41"/>
                      <a:pt x="189" y="41"/>
                      <a:pt x="187" y="41"/>
                    </a:cubicBezTo>
                    <a:cubicBezTo>
                      <a:pt x="185" y="41"/>
                      <a:pt x="182" y="42"/>
                      <a:pt x="180" y="42"/>
                    </a:cubicBezTo>
                    <a:cubicBezTo>
                      <a:pt x="179" y="42"/>
                      <a:pt x="179" y="42"/>
                      <a:pt x="179" y="41"/>
                    </a:cubicBezTo>
                    <a:cubicBezTo>
                      <a:pt x="179" y="39"/>
                      <a:pt x="179" y="38"/>
                      <a:pt x="179" y="38"/>
                    </a:cubicBezTo>
                    <a:cubicBezTo>
                      <a:pt x="183" y="35"/>
                      <a:pt x="191" y="34"/>
                      <a:pt x="201" y="35"/>
                    </a:cubicBezTo>
                    <a:cubicBezTo>
                      <a:pt x="201" y="35"/>
                      <a:pt x="202" y="34"/>
                      <a:pt x="202" y="32"/>
                    </a:cubicBezTo>
                    <a:cubicBezTo>
                      <a:pt x="201" y="28"/>
                      <a:pt x="199" y="25"/>
                      <a:pt x="198" y="23"/>
                    </a:cubicBezTo>
                    <a:cubicBezTo>
                      <a:pt x="197" y="23"/>
                      <a:pt x="196" y="23"/>
                      <a:pt x="194" y="24"/>
                    </a:cubicBezTo>
                    <a:cubicBezTo>
                      <a:pt x="190" y="26"/>
                      <a:pt x="185" y="27"/>
                      <a:pt x="181" y="28"/>
                    </a:cubicBezTo>
                    <a:cubicBezTo>
                      <a:pt x="181" y="27"/>
                      <a:pt x="181" y="26"/>
                      <a:pt x="182" y="24"/>
                    </a:cubicBezTo>
                    <a:cubicBezTo>
                      <a:pt x="182" y="23"/>
                      <a:pt x="182" y="22"/>
                      <a:pt x="182" y="21"/>
                    </a:cubicBezTo>
                    <a:cubicBezTo>
                      <a:pt x="182" y="16"/>
                      <a:pt x="184" y="13"/>
                      <a:pt x="187" y="11"/>
                    </a:cubicBezTo>
                    <a:cubicBezTo>
                      <a:pt x="187" y="11"/>
                      <a:pt x="187" y="10"/>
                      <a:pt x="187" y="10"/>
                    </a:cubicBezTo>
                    <a:cubicBezTo>
                      <a:pt x="184" y="7"/>
                      <a:pt x="180" y="6"/>
                      <a:pt x="175" y="7"/>
                    </a:cubicBezTo>
                    <a:cubicBezTo>
                      <a:pt x="172" y="29"/>
                      <a:pt x="172" y="29"/>
                      <a:pt x="172" y="29"/>
                    </a:cubicBezTo>
                    <a:close/>
                    <a:moveTo>
                      <a:pt x="151" y="30"/>
                    </a:moveTo>
                    <a:cubicBezTo>
                      <a:pt x="151" y="26"/>
                      <a:pt x="148" y="22"/>
                      <a:pt x="143" y="19"/>
                    </a:cubicBezTo>
                    <a:cubicBezTo>
                      <a:pt x="137" y="31"/>
                      <a:pt x="133" y="39"/>
                      <a:pt x="131" y="44"/>
                    </a:cubicBezTo>
                    <a:cubicBezTo>
                      <a:pt x="130" y="46"/>
                      <a:pt x="130" y="47"/>
                      <a:pt x="131" y="48"/>
                    </a:cubicBezTo>
                    <a:cubicBezTo>
                      <a:pt x="132" y="48"/>
                      <a:pt x="133" y="47"/>
                      <a:pt x="136" y="46"/>
                    </a:cubicBezTo>
                    <a:cubicBezTo>
                      <a:pt x="140" y="43"/>
                      <a:pt x="145" y="37"/>
                      <a:pt x="151" y="30"/>
                    </a:cubicBezTo>
                    <a:close/>
                    <a:moveTo>
                      <a:pt x="116" y="87"/>
                    </a:moveTo>
                    <a:cubicBezTo>
                      <a:pt x="117" y="85"/>
                      <a:pt x="118" y="84"/>
                      <a:pt x="117" y="85"/>
                    </a:cubicBezTo>
                    <a:cubicBezTo>
                      <a:pt x="124" y="76"/>
                      <a:pt x="128" y="69"/>
                      <a:pt x="131" y="64"/>
                    </a:cubicBezTo>
                    <a:cubicBezTo>
                      <a:pt x="134" y="59"/>
                      <a:pt x="137" y="54"/>
                      <a:pt x="140" y="49"/>
                    </a:cubicBezTo>
                    <a:cubicBezTo>
                      <a:pt x="140" y="49"/>
                      <a:pt x="140" y="49"/>
                      <a:pt x="140" y="48"/>
                    </a:cubicBezTo>
                    <a:cubicBezTo>
                      <a:pt x="142" y="44"/>
                      <a:pt x="144" y="42"/>
                      <a:pt x="146" y="42"/>
                    </a:cubicBezTo>
                    <a:cubicBezTo>
                      <a:pt x="149" y="43"/>
                      <a:pt x="150" y="45"/>
                      <a:pt x="151" y="49"/>
                    </a:cubicBezTo>
                    <a:cubicBezTo>
                      <a:pt x="151" y="50"/>
                      <a:pt x="150" y="50"/>
                      <a:pt x="149" y="51"/>
                    </a:cubicBezTo>
                    <a:cubicBezTo>
                      <a:pt x="149" y="52"/>
                      <a:pt x="149" y="53"/>
                      <a:pt x="148" y="53"/>
                    </a:cubicBezTo>
                    <a:cubicBezTo>
                      <a:pt x="143" y="59"/>
                      <a:pt x="141" y="62"/>
                      <a:pt x="140" y="64"/>
                    </a:cubicBezTo>
                    <a:cubicBezTo>
                      <a:pt x="140" y="64"/>
                      <a:pt x="140" y="64"/>
                      <a:pt x="140" y="64"/>
                    </a:cubicBezTo>
                    <a:cubicBezTo>
                      <a:pt x="138" y="66"/>
                      <a:pt x="137" y="68"/>
                      <a:pt x="138" y="70"/>
                    </a:cubicBezTo>
                    <a:cubicBezTo>
                      <a:pt x="138" y="71"/>
                      <a:pt x="139" y="71"/>
                      <a:pt x="142" y="72"/>
                    </a:cubicBezTo>
                    <a:cubicBezTo>
                      <a:pt x="144" y="72"/>
                      <a:pt x="145" y="73"/>
                      <a:pt x="145" y="75"/>
                    </a:cubicBezTo>
                    <a:cubicBezTo>
                      <a:pt x="146" y="76"/>
                      <a:pt x="145" y="78"/>
                      <a:pt x="144" y="81"/>
                    </a:cubicBezTo>
                    <a:cubicBezTo>
                      <a:pt x="142" y="87"/>
                      <a:pt x="141" y="95"/>
                      <a:pt x="141" y="104"/>
                    </a:cubicBezTo>
                    <a:cubicBezTo>
                      <a:pt x="141" y="104"/>
                      <a:pt x="141" y="105"/>
                      <a:pt x="141" y="106"/>
                    </a:cubicBezTo>
                    <a:cubicBezTo>
                      <a:pt x="142" y="111"/>
                      <a:pt x="142" y="114"/>
                      <a:pt x="141" y="115"/>
                    </a:cubicBezTo>
                    <a:cubicBezTo>
                      <a:pt x="138" y="116"/>
                      <a:pt x="135" y="115"/>
                      <a:pt x="134" y="113"/>
                    </a:cubicBezTo>
                    <a:cubicBezTo>
                      <a:pt x="135" y="107"/>
                      <a:pt x="135" y="98"/>
                      <a:pt x="134" y="85"/>
                    </a:cubicBezTo>
                    <a:cubicBezTo>
                      <a:pt x="134" y="83"/>
                      <a:pt x="133" y="81"/>
                      <a:pt x="132" y="81"/>
                    </a:cubicBezTo>
                    <a:cubicBezTo>
                      <a:pt x="132" y="82"/>
                      <a:pt x="131" y="82"/>
                      <a:pt x="129" y="84"/>
                    </a:cubicBezTo>
                    <a:cubicBezTo>
                      <a:pt x="124" y="88"/>
                      <a:pt x="120" y="91"/>
                      <a:pt x="117" y="91"/>
                    </a:cubicBezTo>
                    <a:cubicBezTo>
                      <a:pt x="116" y="92"/>
                      <a:pt x="115" y="91"/>
                      <a:pt x="115" y="90"/>
                    </a:cubicBezTo>
                    <a:cubicBezTo>
                      <a:pt x="115" y="89"/>
                      <a:pt x="115" y="88"/>
                      <a:pt x="116" y="87"/>
                    </a:cubicBezTo>
                    <a:close/>
                    <a:moveTo>
                      <a:pt x="190" y="61"/>
                    </a:moveTo>
                    <a:cubicBezTo>
                      <a:pt x="189" y="61"/>
                      <a:pt x="188" y="61"/>
                      <a:pt x="187" y="61"/>
                    </a:cubicBezTo>
                    <a:cubicBezTo>
                      <a:pt x="188" y="61"/>
                      <a:pt x="187" y="61"/>
                      <a:pt x="186" y="60"/>
                    </a:cubicBezTo>
                    <a:cubicBezTo>
                      <a:pt x="186" y="58"/>
                      <a:pt x="187" y="54"/>
                      <a:pt x="188" y="49"/>
                    </a:cubicBezTo>
                    <a:cubicBezTo>
                      <a:pt x="189" y="48"/>
                      <a:pt x="190" y="48"/>
                      <a:pt x="191" y="48"/>
                    </a:cubicBezTo>
                    <a:cubicBezTo>
                      <a:pt x="192" y="47"/>
                      <a:pt x="193" y="48"/>
                      <a:pt x="193" y="49"/>
                    </a:cubicBezTo>
                    <a:cubicBezTo>
                      <a:pt x="194" y="50"/>
                      <a:pt x="194" y="51"/>
                      <a:pt x="194" y="54"/>
                    </a:cubicBezTo>
                    <a:cubicBezTo>
                      <a:pt x="193" y="60"/>
                      <a:pt x="191" y="62"/>
                      <a:pt x="190" y="61"/>
                    </a:cubicBezTo>
                    <a:close/>
                    <a:moveTo>
                      <a:pt x="176" y="62"/>
                    </a:moveTo>
                    <a:cubicBezTo>
                      <a:pt x="175" y="61"/>
                      <a:pt x="175" y="58"/>
                      <a:pt x="174" y="53"/>
                    </a:cubicBezTo>
                    <a:cubicBezTo>
                      <a:pt x="174" y="51"/>
                      <a:pt x="175" y="50"/>
                      <a:pt x="178" y="50"/>
                    </a:cubicBezTo>
                    <a:cubicBezTo>
                      <a:pt x="179" y="50"/>
                      <a:pt x="179" y="51"/>
                      <a:pt x="179" y="54"/>
                    </a:cubicBezTo>
                    <a:cubicBezTo>
                      <a:pt x="179" y="59"/>
                      <a:pt x="178" y="62"/>
                      <a:pt x="176" y="62"/>
                    </a:cubicBezTo>
                    <a:close/>
                    <a:moveTo>
                      <a:pt x="165" y="64"/>
                    </a:moveTo>
                    <a:cubicBezTo>
                      <a:pt x="164" y="63"/>
                      <a:pt x="163" y="61"/>
                      <a:pt x="162" y="59"/>
                    </a:cubicBezTo>
                    <a:cubicBezTo>
                      <a:pt x="161" y="57"/>
                      <a:pt x="162" y="56"/>
                      <a:pt x="165" y="55"/>
                    </a:cubicBezTo>
                    <a:cubicBezTo>
                      <a:pt x="166" y="54"/>
                      <a:pt x="167" y="55"/>
                      <a:pt x="168" y="57"/>
                    </a:cubicBezTo>
                    <a:cubicBezTo>
                      <a:pt x="170" y="58"/>
                      <a:pt x="170" y="60"/>
                      <a:pt x="170" y="62"/>
                    </a:cubicBezTo>
                    <a:cubicBezTo>
                      <a:pt x="169" y="64"/>
                      <a:pt x="167" y="64"/>
                      <a:pt x="165" y="64"/>
                    </a:cubicBezTo>
                    <a:close/>
                    <a:moveTo>
                      <a:pt x="145" y="103"/>
                    </a:moveTo>
                    <a:cubicBezTo>
                      <a:pt x="147" y="100"/>
                      <a:pt x="151" y="94"/>
                      <a:pt x="157" y="87"/>
                    </a:cubicBezTo>
                    <a:cubicBezTo>
                      <a:pt x="157" y="88"/>
                      <a:pt x="157" y="87"/>
                      <a:pt x="158" y="86"/>
                    </a:cubicBezTo>
                    <a:cubicBezTo>
                      <a:pt x="158" y="85"/>
                      <a:pt x="158" y="84"/>
                      <a:pt x="157" y="83"/>
                    </a:cubicBezTo>
                    <a:cubicBezTo>
                      <a:pt x="156" y="82"/>
                      <a:pt x="156" y="81"/>
                      <a:pt x="156" y="80"/>
                    </a:cubicBezTo>
                    <a:cubicBezTo>
                      <a:pt x="156" y="79"/>
                      <a:pt x="156" y="78"/>
                      <a:pt x="157" y="78"/>
                    </a:cubicBezTo>
                    <a:cubicBezTo>
                      <a:pt x="158" y="78"/>
                      <a:pt x="161" y="78"/>
                      <a:pt x="166" y="77"/>
                    </a:cubicBezTo>
                    <a:cubicBezTo>
                      <a:pt x="178" y="74"/>
                      <a:pt x="185" y="73"/>
                      <a:pt x="188" y="73"/>
                    </a:cubicBezTo>
                    <a:cubicBezTo>
                      <a:pt x="190" y="74"/>
                      <a:pt x="191" y="76"/>
                      <a:pt x="193" y="79"/>
                    </a:cubicBezTo>
                    <a:cubicBezTo>
                      <a:pt x="193" y="80"/>
                      <a:pt x="191" y="81"/>
                      <a:pt x="189" y="81"/>
                    </a:cubicBezTo>
                    <a:cubicBezTo>
                      <a:pt x="188" y="81"/>
                      <a:pt x="188" y="82"/>
                      <a:pt x="187" y="82"/>
                    </a:cubicBezTo>
                    <a:cubicBezTo>
                      <a:pt x="193" y="86"/>
                      <a:pt x="199" y="92"/>
                      <a:pt x="204" y="101"/>
                    </a:cubicBezTo>
                    <a:cubicBezTo>
                      <a:pt x="208" y="107"/>
                      <a:pt x="209" y="111"/>
                      <a:pt x="209" y="113"/>
                    </a:cubicBezTo>
                    <a:cubicBezTo>
                      <a:pt x="209" y="115"/>
                      <a:pt x="207" y="116"/>
                      <a:pt x="203" y="116"/>
                    </a:cubicBezTo>
                    <a:cubicBezTo>
                      <a:pt x="200" y="116"/>
                      <a:pt x="192" y="115"/>
                      <a:pt x="179" y="113"/>
                    </a:cubicBezTo>
                    <a:cubicBezTo>
                      <a:pt x="175" y="112"/>
                      <a:pt x="171" y="112"/>
                      <a:pt x="169" y="112"/>
                    </a:cubicBezTo>
                    <a:cubicBezTo>
                      <a:pt x="168" y="112"/>
                      <a:pt x="166" y="109"/>
                      <a:pt x="165" y="105"/>
                    </a:cubicBezTo>
                    <a:cubicBezTo>
                      <a:pt x="165" y="104"/>
                      <a:pt x="165" y="102"/>
                      <a:pt x="165" y="99"/>
                    </a:cubicBezTo>
                    <a:cubicBezTo>
                      <a:pt x="164" y="94"/>
                      <a:pt x="163" y="91"/>
                      <a:pt x="163" y="89"/>
                    </a:cubicBezTo>
                    <a:cubicBezTo>
                      <a:pt x="160" y="92"/>
                      <a:pt x="157" y="99"/>
                      <a:pt x="155" y="108"/>
                    </a:cubicBezTo>
                    <a:cubicBezTo>
                      <a:pt x="149" y="107"/>
                      <a:pt x="145" y="105"/>
                      <a:pt x="145" y="103"/>
                    </a:cubicBezTo>
                    <a:close/>
                    <a:moveTo>
                      <a:pt x="222" y="98"/>
                    </a:moveTo>
                    <a:cubicBezTo>
                      <a:pt x="223" y="98"/>
                      <a:pt x="223" y="95"/>
                      <a:pt x="223" y="91"/>
                    </a:cubicBezTo>
                    <a:cubicBezTo>
                      <a:pt x="223" y="86"/>
                      <a:pt x="222" y="84"/>
                      <a:pt x="220" y="84"/>
                    </a:cubicBezTo>
                    <a:cubicBezTo>
                      <a:pt x="212" y="82"/>
                      <a:pt x="205" y="81"/>
                      <a:pt x="200" y="81"/>
                    </a:cubicBezTo>
                    <a:cubicBezTo>
                      <a:pt x="198" y="81"/>
                      <a:pt x="197" y="81"/>
                      <a:pt x="197" y="82"/>
                    </a:cubicBezTo>
                    <a:cubicBezTo>
                      <a:pt x="197" y="82"/>
                      <a:pt x="198" y="83"/>
                      <a:pt x="200" y="85"/>
                    </a:cubicBezTo>
                    <a:cubicBezTo>
                      <a:pt x="201" y="85"/>
                      <a:pt x="202" y="85"/>
                      <a:pt x="203" y="86"/>
                    </a:cubicBezTo>
                    <a:cubicBezTo>
                      <a:pt x="212" y="93"/>
                      <a:pt x="218" y="97"/>
                      <a:pt x="222" y="98"/>
                    </a:cubicBezTo>
                    <a:close/>
                    <a:moveTo>
                      <a:pt x="182" y="88"/>
                    </a:moveTo>
                    <a:cubicBezTo>
                      <a:pt x="183" y="88"/>
                      <a:pt x="184" y="88"/>
                      <a:pt x="186" y="88"/>
                    </a:cubicBezTo>
                    <a:cubicBezTo>
                      <a:pt x="187" y="88"/>
                      <a:pt x="189" y="88"/>
                      <a:pt x="189" y="87"/>
                    </a:cubicBezTo>
                    <a:cubicBezTo>
                      <a:pt x="187" y="84"/>
                      <a:pt x="185" y="82"/>
                      <a:pt x="182" y="82"/>
                    </a:cubicBezTo>
                    <a:cubicBezTo>
                      <a:pt x="180" y="82"/>
                      <a:pt x="178" y="83"/>
                      <a:pt x="176" y="85"/>
                    </a:cubicBezTo>
                    <a:cubicBezTo>
                      <a:pt x="176" y="88"/>
                      <a:pt x="178" y="89"/>
                      <a:pt x="182" y="88"/>
                    </a:cubicBezTo>
                    <a:close/>
                    <a:moveTo>
                      <a:pt x="191" y="91"/>
                    </a:moveTo>
                    <a:cubicBezTo>
                      <a:pt x="188" y="93"/>
                      <a:pt x="185" y="95"/>
                      <a:pt x="183" y="98"/>
                    </a:cubicBezTo>
                    <a:cubicBezTo>
                      <a:pt x="181" y="100"/>
                      <a:pt x="179" y="100"/>
                      <a:pt x="177" y="98"/>
                    </a:cubicBezTo>
                    <a:cubicBezTo>
                      <a:pt x="175" y="94"/>
                      <a:pt x="174" y="90"/>
                      <a:pt x="173" y="86"/>
                    </a:cubicBezTo>
                    <a:cubicBezTo>
                      <a:pt x="171" y="85"/>
                      <a:pt x="170" y="85"/>
                      <a:pt x="168" y="88"/>
                    </a:cubicBezTo>
                    <a:cubicBezTo>
                      <a:pt x="168" y="89"/>
                      <a:pt x="168" y="91"/>
                      <a:pt x="168" y="92"/>
                    </a:cubicBezTo>
                    <a:cubicBezTo>
                      <a:pt x="168" y="99"/>
                      <a:pt x="170" y="104"/>
                      <a:pt x="174" y="105"/>
                    </a:cubicBezTo>
                    <a:cubicBezTo>
                      <a:pt x="179" y="106"/>
                      <a:pt x="184" y="107"/>
                      <a:pt x="189" y="107"/>
                    </a:cubicBezTo>
                    <a:cubicBezTo>
                      <a:pt x="193" y="107"/>
                      <a:pt x="196" y="105"/>
                      <a:pt x="195" y="101"/>
                    </a:cubicBezTo>
                    <a:cubicBezTo>
                      <a:pt x="195" y="97"/>
                      <a:pt x="193" y="94"/>
                      <a:pt x="191" y="91"/>
                    </a:cubicBezTo>
                    <a:close/>
                    <a:moveTo>
                      <a:pt x="272" y="7"/>
                    </a:moveTo>
                    <a:cubicBezTo>
                      <a:pt x="272" y="13"/>
                      <a:pt x="272" y="19"/>
                      <a:pt x="271" y="25"/>
                    </a:cubicBezTo>
                    <a:cubicBezTo>
                      <a:pt x="269" y="38"/>
                      <a:pt x="264" y="54"/>
                      <a:pt x="256" y="72"/>
                    </a:cubicBezTo>
                    <a:cubicBezTo>
                      <a:pt x="255" y="73"/>
                      <a:pt x="254" y="75"/>
                      <a:pt x="254" y="76"/>
                    </a:cubicBezTo>
                    <a:cubicBezTo>
                      <a:pt x="252" y="80"/>
                      <a:pt x="249" y="84"/>
                      <a:pt x="245" y="88"/>
                    </a:cubicBezTo>
                    <a:cubicBezTo>
                      <a:pt x="241" y="92"/>
                      <a:pt x="238" y="96"/>
                      <a:pt x="235" y="101"/>
                    </a:cubicBezTo>
                    <a:cubicBezTo>
                      <a:pt x="234" y="102"/>
                      <a:pt x="234" y="103"/>
                      <a:pt x="234" y="103"/>
                    </a:cubicBezTo>
                    <a:cubicBezTo>
                      <a:pt x="235" y="104"/>
                      <a:pt x="236" y="103"/>
                      <a:pt x="238" y="102"/>
                    </a:cubicBezTo>
                    <a:cubicBezTo>
                      <a:pt x="239" y="102"/>
                      <a:pt x="239" y="101"/>
                      <a:pt x="239" y="102"/>
                    </a:cubicBezTo>
                    <a:cubicBezTo>
                      <a:pt x="247" y="96"/>
                      <a:pt x="251" y="93"/>
                      <a:pt x="251" y="92"/>
                    </a:cubicBezTo>
                    <a:cubicBezTo>
                      <a:pt x="253" y="87"/>
                      <a:pt x="255" y="82"/>
                      <a:pt x="257" y="79"/>
                    </a:cubicBezTo>
                    <a:cubicBezTo>
                      <a:pt x="261" y="72"/>
                      <a:pt x="268" y="58"/>
                      <a:pt x="276" y="37"/>
                    </a:cubicBezTo>
                    <a:cubicBezTo>
                      <a:pt x="276" y="41"/>
                      <a:pt x="277" y="44"/>
                      <a:pt x="279" y="48"/>
                    </a:cubicBezTo>
                    <a:cubicBezTo>
                      <a:pt x="280" y="49"/>
                      <a:pt x="280" y="49"/>
                      <a:pt x="280" y="49"/>
                    </a:cubicBezTo>
                    <a:cubicBezTo>
                      <a:pt x="280" y="50"/>
                      <a:pt x="281" y="50"/>
                      <a:pt x="281" y="51"/>
                    </a:cubicBezTo>
                    <a:cubicBezTo>
                      <a:pt x="283" y="54"/>
                      <a:pt x="284" y="56"/>
                      <a:pt x="286" y="56"/>
                    </a:cubicBezTo>
                    <a:cubicBezTo>
                      <a:pt x="286" y="56"/>
                      <a:pt x="286" y="55"/>
                      <a:pt x="287" y="55"/>
                    </a:cubicBezTo>
                    <a:cubicBezTo>
                      <a:pt x="292" y="52"/>
                      <a:pt x="299" y="50"/>
                      <a:pt x="306" y="49"/>
                    </a:cubicBezTo>
                    <a:cubicBezTo>
                      <a:pt x="308" y="50"/>
                      <a:pt x="310" y="51"/>
                      <a:pt x="313" y="52"/>
                    </a:cubicBezTo>
                    <a:cubicBezTo>
                      <a:pt x="314" y="53"/>
                      <a:pt x="316" y="53"/>
                      <a:pt x="317" y="53"/>
                    </a:cubicBezTo>
                    <a:cubicBezTo>
                      <a:pt x="317" y="53"/>
                      <a:pt x="319" y="50"/>
                      <a:pt x="321" y="43"/>
                    </a:cubicBezTo>
                    <a:cubicBezTo>
                      <a:pt x="322" y="38"/>
                      <a:pt x="322" y="35"/>
                      <a:pt x="323" y="34"/>
                    </a:cubicBezTo>
                    <a:cubicBezTo>
                      <a:pt x="324" y="32"/>
                      <a:pt x="325" y="29"/>
                      <a:pt x="327" y="26"/>
                    </a:cubicBezTo>
                    <a:cubicBezTo>
                      <a:pt x="323" y="23"/>
                      <a:pt x="319" y="21"/>
                      <a:pt x="313" y="19"/>
                    </a:cubicBezTo>
                    <a:cubicBezTo>
                      <a:pt x="311" y="19"/>
                      <a:pt x="307" y="20"/>
                      <a:pt x="301" y="22"/>
                    </a:cubicBezTo>
                    <a:cubicBezTo>
                      <a:pt x="299" y="23"/>
                      <a:pt x="297" y="23"/>
                      <a:pt x="297" y="23"/>
                    </a:cubicBezTo>
                    <a:cubicBezTo>
                      <a:pt x="291" y="24"/>
                      <a:pt x="286" y="26"/>
                      <a:pt x="281" y="27"/>
                    </a:cubicBezTo>
                    <a:cubicBezTo>
                      <a:pt x="280" y="27"/>
                      <a:pt x="280" y="28"/>
                      <a:pt x="279" y="28"/>
                    </a:cubicBezTo>
                    <a:cubicBezTo>
                      <a:pt x="281" y="19"/>
                      <a:pt x="284" y="16"/>
                      <a:pt x="288" y="17"/>
                    </a:cubicBezTo>
                    <a:cubicBezTo>
                      <a:pt x="293" y="17"/>
                      <a:pt x="299" y="16"/>
                      <a:pt x="305" y="14"/>
                    </a:cubicBezTo>
                    <a:cubicBezTo>
                      <a:pt x="308" y="13"/>
                      <a:pt x="309" y="13"/>
                      <a:pt x="310" y="13"/>
                    </a:cubicBezTo>
                    <a:cubicBezTo>
                      <a:pt x="313" y="12"/>
                      <a:pt x="315" y="12"/>
                      <a:pt x="317" y="12"/>
                    </a:cubicBezTo>
                    <a:cubicBezTo>
                      <a:pt x="318" y="12"/>
                      <a:pt x="319" y="12"/>
                      <a:pt x="319" y="12"/>
                    </a:cubicBezTo>
                    <a:cubicBezTo>
                      <a:pt x="320" y="11"/>
                      <a:pt x="319" y="10"/>
                      <a:pt x="317" y="7"/>
                    </a:cubicBezTo>
                    <a:cubicBezTo>
                      <a:pt x="317" y="7"/>
                      <a:pt x="317" y="6"/>
                      <a:pt x="317" y="6"/>
                    </a:cubicBezTo>
                    <a:cubicBezTo>
                      <a:pt x="317" y="6"/>
                      <a:pt x="316" y="5"/>
                      <a:pt x="316" y="5"/>
                    </a:cubicBezTo>
                    <a:cubicBezTo>
                      <a:pt x="315" y="2"/>
                      <a:pt x="314" y="0"/>
                      <a:pt x="312" y="1"/>
                    </a:cubicBezTo>
                    <a:cubicBezTo>
                      <a:pt x="312" y="1"/>
                      <a:pt x="311" y="1"/>
                      <a:pt x="311" y="1"/>
                    </a:cubicBezTo>
                    <a:cubicBezTo>
                      <a:pt x="307" y="3"/>
                      <a:pt x="303" y="4"/>
                      <a:pt x="299" y="5"/>
                    </a:cubicBezTo>
                    <a:cubicBezTo>
                      <a:pt x="294" y="5"/>
                      <a:pt x="290" y="6"/>
                      <a:pt x="285" y="7"/>
                    </a:cubicBezTo>
                    <a:cubicBezTo>
                      <a:pt x="284" y="8"/>
                      <a:pt x="283" y="8"/>
                      <a:pt x="282" y="8"/>
                    </a:cubicBezTo>
                    <a:cubicBezTo>
                      <a:pt x="281" y="8"/>
                      <a:pt x="280" y="8"/>
                      <a:pt x="279" y="8"/>
                    </a:cubicBezTo>
                    <a:cubicBezTo>
                      <a:pt x="278" y="7"/>
                      <a:pt x="276" y="6"/>
                      <a:pt x="275" y="5"/>
                    </a:cubicBezTo>
                    <a:cubicBezTo>
                      <a:pt x="273" y="5"/>
                      <a:pt x="272" y="6"/>
                      <a:pt x="272" y="7"/>
                    </a:cubicBezTo>
                    <a:close/>
                    <a:moveTo>
                      <a:pt x="309" y="46"/>
                    </a:moveTo>
                    <a:cubicBezTo>
                      <a:pt x="308" y="43"/>
                      <a:pt x="307" y="42"/>
                      <a:pt x="306" y="43"/>
                    </a:cubicBezTo>
                    <a:cubicBezTo>
                      <a:pt x="305" y="43"/>
                      <a:pt x="304" y="43"/>
                      <a:pt x="303" y="44"/>
                    </a:cubicBezTo>
                    <a:cubicBezTo>
                      <a:pt x="295" y="46"/>
                      <a:pt x="291" y="47"/>
                      <a:pt x="290" y="46"/>
                    </a:cubicBezTo>
                    <a:cubicBezTo>
                      <a:pt x="288" y="46"/>
                      <a:pt x="288" y="44"/>
                      <a:pt x="287" y="42"/>
                    </a:cubicBezTo>
                    <a:cubicBezTo>
                      <a:pt x="287" y="39"/>
                      <a:pt x="287" y="36"/>
                      <a:pt x="287" y="34"/>
                    </a:cubicBezTo>
                    <a:cubicBezTo>
                      <a:pt x="288" y="32"/>
                      <a:pt x="291" y="31"/>
                      <a:pt x="295" y="30"/>
                    </a:cubicBezTo>
                    <a:cubicBezTo>
                      <a:pt x="301" y="27"/>
                      <a:pt x="307" y="25"/>
                      <a:pt x="310" y="25"/>
                    </a:cubicBezTo>
                    <a:cubicBezTo>
                      <a:pt x="312" y="25"/>
                      <a:pt x="313" y="27"/>
                      <a:pt x="313" y="30"/>
                    </a:cubicBezTo>
                    <a:cubicBezTo>
                      <a:pt x="313" y="37"/>
                      <a:pt x="311" y="43"/>
                      <a:pt x="309" y="46"/>
                    </a:cubicBezTo>
                    <a:close/>
                    <a:moveTo>
                      <a:pt x="305" y="32"/>
                    </a:moveTo>
                    <a:cubicBezTo>
                      <a:pt x="307" y="34"/>
                      <a:pt x="306" y="36"/>
                      <a:pt x="302" y="38"/>
                    </a:cubicBezTo>
                    <a:cubicBezTo>
                      <a:pt x="300" y="39"/>
                      <a:pt x="298" y="39"/>
                      <a:pt x="296" y="39"/>
                    </a:cubicBezTo>
                    <a:cubicBezTo>
                      <a:pt x="294" y="40"/>
                      <a:pt x="293" y="40"/>
                      <a:pt x="293" y="40"/>
                    </a:cubicBezTo>
                    <a:cubicBezTo>
                      <a:pt x="291" y="40"/>
                      <a:pt x="291" y="40"/>
                      <a:pt x="290" y="38"/>
                    </a:cubicBezTo>
                    <a:cubicBezTo>
                      <a:pt x="290" y="37"/>
                      <a:pt x="290" y="36"/>
                      <a:pt x="291" y="35"/>
                    </a:cubicBezTo>
                    <a:cubicBezTo>
                      <a:pt x="298" y="32"/>
                      <a:pt x="303" y="31"/>
                      <a:pt x="305" y="32"/>
                    </a:cubicBezTo>
                    <a:close/>
                    <a:moveTo>
                      <a:pt x="272" y="64"/>
                    </a:moveTo>
                    <a:cubicBezTo>
                      <a:pt x="273" y="64"/>
                      <a:pt x="275" y="64"/>
                      <a:pt x="277" y="63"/>
                    </a:cubicBezTo>
                    <a:cubicBezTo>
                      <a:pt x="278" y="63"/>
                      <a:pt x="288" y="60"/>
                      <a:pt x="304" y="55"/>
                    </a:cubicBezTo>
                    <a:cubicBezTo>
                      <a:pt x="306" y="54"/>
                      <a:pt x="308" y="54"/>
                      <a:pt x="310" y="55"/>
                    </a:cubicBezTo>
                    <a:cubicBezTo>
                      <a:pt x="311" y="56"/>
                      <a:pt x="314" y="57"/>
                      <a:pt x="316" y="58"/>
                    </a:cubicBezTo>
                    <a:cubicBezTo>
                      <a:pt x="318" y="58"/>
                      <a:pt x="319" y="59"/>
                      <a:pt x="320" y="60"/>
                    </a:cubicBezTo>
                    <a:cubicBezTo>
                      <a:pt x="322" y="61"/>
                      <a:pt x="323" y="62"/>
                      <a:pt x="322" y="63"/>
                    </a:cubicBezTo>
                    <a:cubicBezTo>
                      <a:pt x="322" y="64"/>
                      <a:pt x="321" y="64"/>
                      <a:pt x="319" y="65"/>
                    </a:cubicBezTo>
                    <a:cubicBezTo>
                      <a:pt x="314" y="67"/>
                      <a:pt x="310" y="69"/>
                      <a:pt x="308" y="71"/>
                    </a:cubicBezTo>
                    <a:cubicBezTo>
                      <a:pt x="309" y="72"/>
                      <a:pt x="309" y="73"/>
                      <a:pt x="309" y="74"/>
                    </a:cubicBezTo>
                    <a:cubicBezTo>
                      <a:pt x="309" y="75"/>
                      <a:pt x="310" y="75"/>
                      <a:pt x="312" y="75"/>
                    </a:cubicBezTo>
                    <a:cubicBezTo>
                      <a:pt x="315" y="75"/>
                      <a:pt x="319" y="75"/>
                      <a:pt x="325" y="76"/>
                    </a:cubicBezTo>
                    <a:cubicBezTo>
                      <a:pt x="329" y="76"/>
                      <a:pt x="331" y="76"/>
                      <a:pt x="332" y="76"/>
                    </a:cubicBezTo>
                    <a:cubicBezTo>
                      <a:pt x="334" y="76"/>
                      <a:pt x="336" y="77"/>
                      <a:pt x="338" y="80"/>
                    </a:cubicBezTo>
                    <a:cubicBezTo>
                      <a:pt x="338" y="80"/>
                      <a:pt x="338" y="81"/>
                      <a:pt x="338" y="81"/>
                    </a:cubicBezTo>
                    <a:cubicBezTo>
                      <a:pt x="341" y="86"/>
                      <a:pt x="342" y="89"/>
                      <a:pt x="340" y="88"/>
                    </a:cubicBezTo>
                    <a:cubicBezTo>
                      <a:pt x="339" y="88"/>
                      <a:pt x="338" y="88"/>
                      <a:pt x="337" y="87"/>
                    </a:cubicBezTo>
                    <a:cubicBezTo>
                      <a:pt x="332" y="85"/>
                      <a:pt x="326" y="84"/>
                      <a:pt x="322" y="84"/>
                    </a:cubicBezTo>
                    <a:cubicBezTo>
                      <a:pt x="316" y="83"/>
                      <a:pt x="312" y="83"/>
                      <a:pt x="311" y="84"/>
                    </a:cubicBezTo>
                    <a:cubicBezTo>
                      <a:pt x="310" y="84"/>
                      <a:pt x="310" y="85"/>
                      <a:pt x="309" y="88"/>
                    </a:cubicBezTo>
                    <a:cubicBezTo>
                      <a:pt x="310" y="93"/>
                      <a:pt x="309" y="100"/>
                      <a:pt x="308" y="109"/>
                    </a:cubicBezTo>
                    <a:cubicBezTo>
                      <a:pt x="307" y="114"/>
                      <a:pt x="307" y="117"/>
                      <a:pt x="306" y="119"/>
                    </a:cubicBezTo>
                    <a:cubicBezTo>
                      <a:pt x="306" y="120"/>
                      <a:pt x="305" y="120"/>
                      <a:pt x="303" y="120"/>
                    </a:cubicBezTo>
                    <a:cubicBezTo>
                      <a:pt x="302" y="119"/>
                      <a:pt x="301" y="119"/>
                      <a:pt x="300" y="119"/>
                    </a:cubicBezTo>
                    <a:cubicBezTo>
                      <a:pt x="298" y="118"/>
                      <a:pt x="295" y="117"/>
                      <a:pt x="292" y="116"/>
                    </a:cubicBezTo>
                    <a:cubicBezTo>
                      <a:pt x="284" y="113"/>
                      <a:pt x="278" y="110"/>
                      <a:pt x="276" y="106"/>
                    </a:cubicBezTo>
                    <a:cubicBezTo>
                      <a:pt x="275" y="104"/>
                      <a:pt x="275" y="104"/>
                      <a:pt x="275" y="103"/>
                    </a:cubicBezTo>
                    <a:cubicBezTo>
                      <a:pt x="275" y="103"/>
                      <a:pt x="276" y="103"/>
                      <a:pt x="277" y="104"/>
                    </a:cubicBezTo>
                    <a:cubicBezTo>
                      <a:pt x="284" y="107"/>
                      <a:pt x="290" y="108"/>
                      <a:pt x="296" y="107"/>
                    </a:cubicBezTo>
                    <a:cubicBezTo>
                      <a:pt x="296" y="107"/>
                      <a:pt x="296" y="107"/>
                      <a:pt x="296" y="107"/>
                    </a:cubicBezTo>
                    <a:cubicBezTo>
                      <a:pt x="298" y="107"/>
                      <a:pt x="299" y="100"/>
                      <a:pt x="299" y="87"/>
                    </a:cubicBezTo>
                    <a:cubicBezTo>
                      <a:pt x="299" y="86"/>
                      <a:pt x="298" y="85"/>
                      <a:pt x="297" y="86"/>
                    </a:cubicBezTo>
                    <a:cubicBezTo>
                      <a:pt x="296" y="87"/>
                      <a:pt x="293" y="87"/>
                      <a:pt x="290" y="88"/>
                    </a:cubicBezTo>
                    <a:cubicBezTo>
                      <a:pt x="283" y="89"/>
                      <a:pt x="276" y="90"/>
                      <a:pt x="270" y="93"/>
                    </a:cubicBezTo>
                    <a:cubicBezTo>
                      <a:pt x="270" y="93"/>
                      <a:pt x="269" y="93"/>
                      <a:pt x="269" y="94"/>
                    </a:cubicBezTo>
                    <a:cubicBezTo>
                      <a:pt x="267" y="95"/>
                      <a:pt x="266" y="95"/>
                      <a:pt x="265" y="94"/>
                    </a:cubicBezTo>
                    <a:cubicBezTo>
                      <a:pt x="264" y="92"/>
                      <a:pt x="263" y="89"/>
                      <a:pt x="263" y="86"/>
                    </a:cubicBezTo>
                    <a:cubicBezTo>
                      <a:pt x="263" y="86"/>
                      <a:pt x="263" y="86"/>
                      <a:pt x="263" y="86"/>
                    </a:cubicBezTo>
                    <a:cubicBezTo>
                      <a:pt x="266" y="86"/>
                      <a:pt x="268" y="86"/>
                      <a:pt x="272" y="85"/>
                    </a:cubicBezTo>
                    <a:cubicBezTo>
                      <a:pt x="273" y="84"/>
                      <a:pt x="276" y="84"/>
                      <a:pt x="281" y="83"/>
                    </a:cubicBezTo>
                    <a:cubicBezTo>
                      <a:pt x="283" y="83"/>
                      <a:pt x="285" y="82"/>
                      <a:pt x="285" y="82"/>
                    </a:cubicBezTo>
                    <a:cubicBezTo>
                      <a:pt x="289" y="81"/>
                      <a:pt x="293" y="80"/>
                      <a:pt x="297" y="78"/>
                    </a:cubicBezTo>
                    <a:cubicBezTo>
                      <a:pt x="298" y="77"/>
                      <a:pt x="298" y="75"/>
                      <a:pt x="297" y="73"/>
                    </a:cubicBezTo>
                    <a:cubicBezTo>
                      <a:pt x="295" y="71"/>
                      <a:pt x="294" y="70"/>
                      <a:pt x="296" y="68"/>
                    </a:cubicBezTo>
                    <a:cubicBezTo>
                      <a:pt x="299" y="67"/>
                      <a:pt x="302" y="66"/>
                      <a:pt x="305" y="65"/>
                    </a:cubicBezTo>
                    <a:cubicBezTo>
                      <a:pt x="307" y="64"/>
                      <a:pt x="308" y="62"/>
                      <a:pt x="307" y="61"/>
                    </a:cubicBezTo>
                    <a:cubicBezTo>
                      <a:pt x="306" y="59"/>
                      <a:pt x="305" y="59"/>
                      <a:pt x="303" y="60"/>
                    </a:cubicBezTo>
                    <a:cubicBezTo>
                      <a:pt x="295" y="62"/>
                      <a:pt x="287" y="66"/>
                      <a:pt x="280" y="72"/>
                    </a:cubicBezTo>
                    <a:cubicBezTo>
                      <a:pt x="279" y="73"/>
                      <a:pt x="278" y="74"/>
                      <a:pt x="277" y="74"/>
                    </a:cubicBezTo>
                    <a:cubicBezTo>
                      <a:pt x="275" y="74"/>
                      <a:pt x="273" y="70"/>
                      <a:pt x="272" y="64"/>
                    </a:cubicBezTo>
                    <a:close/>
                    <a:moveTo>
                      <a:pt x="388" y="41"/>
                    </a:moveTo>
                    <a:cubicBezTo>
                      <a:pt x="384" y="42"/>
                      <a:pt x="380" y="43"/>
                      <a:pt x="378" y="43"/>
                    </a:cubicBezTo>
                    <a:cubicBezTo>
                      <a:pt x="377" y="43"/>
                      <a:pt x="377" y="44"/>
                      <a:pt x="377" y="46"/>
                    </a:cubicBezTo>
                    <a:cubicBezTo>
                      <a:pt x="378" y="49"/>
                      <a:pt x="379" y="50"/>
                      <a:pt x="380" y="49"/>
                    </a:cubicBezTo>
                    <a:cubicBezTo>
                      <a:pt x="383" y="47"/>
                      <a:pt x="387" y="46"/>
                      <a:pt x="390" y="46"/>
                    </a:cubicBezTo>
                    <a:cubicBezTo>
                      <a:pt x="397" y="45"/>
                      <a:pt x="407" y="42"/>
                      <a:pt x="419" y="38"/>
                    </a:cubicBezTo>
                    <a:cubicBezTo>
                      <a:pt x="424" y="37"/>
                      <a:pt x="427" y="37"/>
                      <a:pt x="431" y="37"/>
                    </a:cubicBezTo>
                    <a:cubicBezTo>
                      <a:pt x="438" y="37"/>
                      <a:pt x="442" y="39"/>
                      <a:pt x="442" y="44"/>
                    </a:cubicBezTo>
                    <a:cubicBezTo>
                      <a:pt x="442" y="46"/>
                      <a:pt x="439" y="49"/>
                      <a:pt x="434" y="52"/>
                    </a:cubicBezTo>
                    <a:cubicBezTo>
                      <a:pt x="434" y="52"/>
                      <a:pt x="433" y="52"/>
                      <a:pt x="433" y="52"/>
                    </a:cubicBezTo>
                    <a:cubicBezTo>
                      <a:pt x="427" y="48"/>
                      <a:pt x="423" y="46"/>
                      <a:pt x="419" y="47"/>
                    </a:cubicBezTo>
                    <a:cubicBezTo>
                      <a:pt x="411" y="48"/>
                      <a:pt x="400" y="51"/>
                      <a:pt x="387" y="56"/>
                    </a:cubicBezTo>
                    <a:cubicBezTo>
                      <a:pt x="385" y="56"/>
                      <a:pt x="385" y="57"/>
                      <a:pt x="386" y="59"/>
                    </a:cubicBezTo>
                    <a:cubicBezTo>
                      <a:pt x="387" y="64"/>
                      <a:pt x="389" y="66"/>
                      <a:pt x="391" y="66"/>
                    </a:cubicBezTo>
                    <a:cubicBezTo>
                      <a:pt x="392" y="66"/>
                      <a:pt x="394" y="65"/>
                      <a:pt x="395" y="63"/>
                    </a:cubicBezTo>
                    <a:cubicBezTo>
                      <a:pt x="398" y="60"/>
                      <a:pt x="401" y="58"/>
                      <a:pt x="406" y="58"/>
                    </a:cubicBezTo>
                    <a:cubicBezTo>
                      <a:pt x="410" y="57"/>
                      <a:pt x="412" y="56"/>
                      <a:pt x="413" y="53"/>
                    </a:cubicBezTo>
                    <a:cubicBezTo>
                      <a:pt x="414" y="53"/>
                      <a:pt x="415" y="52"/>
                      <a:pt x="417" y="51"/>
                    </a:cubicBezTo>
                    <a:cubicBezTo>
                      <a:pt x="419" y="52"/>
                      <a:pt x="420" y="54"/>
                      <a:pt x="418" y="56"/>
                    </a:cubicBezTo>
                    <a:cubicBezTo>
                      <a:pt x="417" y="58"/>
                      <a:pt x="413" y="60"/>
                      <a:pt x="407" y="63"/>
                    </a:cubicBezTo>
                    <a:cubicBezTo>
                      <a:pt x="405" y="64"/>
                      <a:pt x="405" y="65"/>
                      <a:pt x="407" y="66"/>
                    </a:cubicBezTo>
                    <a:cubicBezTo>
                      <a:pt x="408" y="68"/>
                      <a:pt x="409" y="71"/>
                      <a:pt x="408" y="73"/>
                    </a:cubicBezTo>
                    <a:cubicBezTo>
                      <a:pt x="404" y="73"/>
                      <a:pt x="399" y="74"/>
                      <a:pt x="392" y="76"/>
                    </a:cubicBezTo>
                    <a:cubicBezTo>
                      <a:pt x="389" y="77"/>
                      <a:pt x="386" y="78"/>
                      <a:pt x="382" y="79"/>
                    </a:cubicBezTo>
                    <a:cubicBezTo>
                      <a:pt x="376" y="80"/>
                      <a:pt x="373" y="81"/>
                      <a:pt x="371" y="81"/>
                    </a:cubicBezTo>
                    <a:cubicBezTo>
                      <a:pt x="370" y="82"/>
                      <a:pt x="369" y="82"/>
                      <a:pt x="369" y="83"/>
                    </a:cubicBezTo>
                    <a:cubicBezTo>
                      <a:pt x="370" y="84"/>
                      <a:pt x="370" y="84"/>
                      <a:pt x="370" y="84"/>
                    </a:cubicBezTo>
                    <a:cubicBezTo>
                      <a:pt x="371" y="86"/>
                      <a:pt x="371" y="88"/>
                      <a:pt x="372" y="90"/>
                    </a:cubicBezTo>
                    <a:cubicBezTo>
                      <a:pt x="373" y="91"/>
                      <a:pt x="374" y="91"/>
                      <a:pt x="376" y="90"/>
                    </a:cubicBezTo>
                    <a:cubicBezTo>
                      <a:pt x="379" y="88"/>
                      <a:pt x="384" y="86"/>
                      <a:pt x="391" y="85"/>
                    </a:cubicBezTo>
                    <a:cubicBezTo>
                      <a:pt x="394" y="84"/>
                      <a:pt x="399" y="83"/>
                      <a:pt x="404" y="83"/>
                    </a:cubicBezTo>
                    <a:cubicBezTo>
                      <a:pt x="405" y="83"/>
                      <a:pt x="406" y="82"/>
                      <a:pt x="407" y="82"/>
                    </a:cubicBezTo>
                    <a:cubicBezTo>
                      <a:pt x="408" y="82"/>
                      <a:pt x="409" y="82"/>
                      <a:pt x="409" y="84"/>
                    </a:cubicBezTo>
                    <a:cubicBezTo>
                      <a:pt x="409" y="100"/>
                      <a:pt x="405" y="108"/>
                      <a:pt x="399" y="108"/>
                    </a:cubicBezTo>
                    <a:cubicBezTo>
                      <a:pt x="398" y="108"/>
                      <a:pt x="394" y="107"/>
                      <a:pt x="388" y="105"/>
                    </a:cubicBezTo>
                    <a:cubicBezTo>
                      <a:pt x="387" y="105"/>
                      <a:pt x="386" y="105"/>
                      <a:pt x="386" y="105"/>
                    </a:cubicBezTo>
                    <a:cubicBezTo>
                      <a:pt x="385" y="104"/>
                      <a:pt x="384" y="104"/>
                      <a:pt x="384" y="105"/>
                    </a:cubicBezTo>
                    <a:cubicBezTo>
                      <a:pt x="384" y="105"/>
                      <a:pt x="384" y="106"/>
                      <a:pt x="385" y="106"/>
                    </a:cubicBezTo>
                    <a:cubicBezTo>
                      <a:pt x="391" y="112"/>
                      <a:pt x="398" y="116"/>
                      <a:pt x="406" y="119"/>
                    </a:cubicBezTo>
                    <a:cubicBezTo>
                      <a:pt x="408" y="119"/>
                      <a:pt x="410" y="119"/>
                      <a:pt x="412" y="120"/>
                    </a:cubicBezTo>
                    <a:cubicBezTo>
                      <a:pt x="412" y="120"/>
                      <a:pt x="412" y="120"/>
                      <a:pt x="412" y="120"/>
                    </a:cubicBezTo>
                    <a:cubicBezTo>
                      <a:pt x="413" y="119"/>
                      <a:pt x="414" y="116"/>
                      <a:pt x="415" y="109"/>
                    </a:cubicBezTo>
                    <a:cubicBezTo>
                      <a:pt x="416" y="107"/>
                      <a:pt x="416" y="106"/>
                      <a:pt x="415" y="108"/>
                    </a:cubicBezTo>
                    <a:cubicBezTo>
                      <a:pt x="416" y="105"/>
                      <a:pt x="417" y="102"/>
                      <a:pt x="417" y="101"/>
                    </a:cubicBezTo>
                    <a:cubicBezTo>
                      <a:pt x="418" y="96"/>
                      <a:pt x="418" y="93"/>
                      <a:pt x="418" y="89"/>
                    </a:cubicBezTo>
                    <a:cubicBezTo>
                      <a:pt x="418" y="84"/>
                      <a:pt x="419" y="81"/>
                      <a:pt x="420" y="81"/>
                    </a:cubicBezTo>
                    <a:cubicBezTo>
                      <a:pt x="423" y="80"/>
                      <a:pt x="428" y="80"/>
                      <a:pt x="434" y="80"/>
                    </a:cubicBezTo>
                    <a:cubicBezTo>
                      <a:pt x="439" y="81"/>
                      <a:pt x="442" y="82"/>
                      <a:pt x="444" y="83"/>
                    </a:cubicBezTo>
                    <a:cubicBezTo>
                      <a:pt x="448" y="84"/>
                      <a:pt x="449" y="84"/>
                      <a:pt x="450" y="83"/>
                    </a:cubicBezTo>
                    <a:cubicBezTo>
                      <a:pt x="449" y="78"/>
                      <a:pt x="448" y="73"/>
                      <a:pt x="446" y="68"/>
                    </a:cubicBezTo>
                    <a:cubicBezTo>
                      <a:pt x="444" y="69"/>
                      <a:pt x="441" y="69"/>
                      <a:pt x="438" y="69"/>
                    </a:cubicBezTo>
                    <a:cubicBezTo>
                      <a:pt x="435" y="69"/>
                      <a:pt x="429" y="69"/>
                      <a:pt x="419" y="70"/>
                    </a:cubicBezTo>
                    <a:cubicBezTo>
                      <a:pt x="419" y="70"/>
                      <a:pt x="418" y="70"/>
                      <a:pt x="418" y="70"/>
                    </a:cubicBezTo>
                    <a:cubicBezTo>
                      <a:pt x="419" y="67"/>
                      <a:pt x="419" y="66"/>
                      <a:pt x="418" y="65"/>
                    </a:cubicBezTo>
                    <a:cubicBezTo>
                      <a:pt x="417" y="64"/>
                      <a:pt x="418" y="63"/>
                      <a:pt x="422" y="62"/>
                    </a:cubicBezTo>
                    <a:cubicBezTo>
                      <a:pt x="427" y="61"/>
                      <a:pt x="431" y="58"/>
                      <a:pt x="434" y="56"/>
                    </a:cubicBezTo>
                    <a:cubicBezTo>
                      <a:pt x="434" y="55"/>
                      <a:pt x="435" y="55"/>
                      <a:pt x="437" y="56"/>
                    </a:cubicBezTo>
                    <a:cubicBezTo>
                      <a:pt x="439" y="56"/>
                      <a:pt x="440" y="56"/>
                      <a:pt x="440" y="56"/>
                    </a:cubicBezTo>
                    <a:cubicBezTo>
                      <a:pt x="443" y="57"/>
                      <a:pt x="446" y="57"/>
                      <a:pt x="449" y="56"/>
                    </a:cubicBezTo>
                    <a:cubicBezTo>
                      <a:pt x="451" y="55"/>
                      <a:pt x="453" y="55"/>
                      <a:pt x="456" y="55"/>
                    </a:cubicBezTo>
                    <a:cubicBezTo>
                      <a:pt x="458" y="55"/>
                      <a:pt x="458" y="53"/>
                      <a:pt x="457" y="50"/>
                    </a:cubicBezTo>
                    <a:cubicBezTo>
                      <a:pt x="455" y="46"/>
                      <a:pt x="453" y="43"/>
                      <a:pt x="450" y="42"/>
                    </a:cubicBezTo>
                    <a:cubicBezTo>
                      <a:pt x="450" y="42"/>
                      <a:pt x="449" y="41"/>
                      <a:pt x="447" y="39"/>
                    </a:cubicBezTo>
                    <a:cubicBezTo>
                      <a:pt x="445" y="37"/>
                      <a:pt x="444" y="36"/>
                      <a:pt x="443" y="35"/>
                    </a:cubicBezTo>
                    <a:cubicBezTo>
                      <a:pt x="440" y="32"/>
                      <a:pt x="434" y="31"/>
                      <a:pt x="424" y="31"/>
                    </a:cubicBezTo>
                    <a:cubicBezTo>
                      <a:pt x="423" y="31"/>
                      <a:pt x="423" y="31"/>
                      <a:pt x="422" y="30"/>
                    </a:cubicBezTo>
                    <a:cubicBezTo>
                      <a:pt x="422" y="30"/>
                      <a:pt x="422" y="29"/>
                      <a:pt x="423" y="29"/>
                    </a:cubicBezTo>
                    <a:cubicBezTo>
                      <a:pt x="430" y="21"/>
                      <a:pt x="436" y="15"/>
                      <a:pt x="440" y="13"/>
                    </a:cubicBezTo>
                    <a:cubicBezTo>
                      <a:pt x="441" y="13"/>
                      <a:pt x="440" y="11"/>
                      <a:pt x="437" y="7"/>
                    </a:cubicBezTo>
                    <a:cubicBezTo>
                      <a:pt x="434" y="4"/>
                      <a:pt x="433" y="3"/>
                      <a:pt x="432" y="3"/>
                    </a:cubicBezTo>
                    <a:cubicBezTo>
                      <a:pt x="430" y="5"/>
                      <a:pt x="426" y="11"/>
                      <a:pt x="420" y="20"/>
                    </a:cubicBezTo>
                    <a:cubicBezTo>
                      <a:pt x="416" y="27"/>
                      <a:pt x="413" y="30"/>
                      <a:pt x="412" y="31"/>
                    </a:cubicBezTo>
                    <a:cubicBezTo>
                      <a:pt x="411" y="31"/>
                      <a:pt x="408" y="33"/>
                      <a:pt x="403" y="34"/>
                    </a:cubicBezTo>
                    <a:cubicBezTo>
                      <a:pt x="394" y="37"/>
                      <a:pt x="389" y="39"/>
                      <a:pt x="388" y="41"/>
                    </a:cubicBezTo>
                    <a:close/>
                    <a:moveTo>
                      <a:pt x="408" y="22"/>
                    </a:moveTo>
                    <a:cubicBezTo>
                      <a:pt x="406" y="22"/>
                      <a:pt x="404" y="21"/>
                      <a:pt x="401" y="19"/>
                    </a:cubicBezTo>
                    <a:cubicBezTo>
                      <a:pt x="398" y="14"/>
                      <a:pt x="397" y="12"/>
                      <a:pt x="399" y="10"/>
                    </a:cubicBezTo>
                    <a:cubicBezTo>
                      <a:pt x="401" y="10"/>
                      <a:pt x="402" y="9"/>
                      <a:pt x="404" y="9"/>
                    </a:cubicBezTo>
                    <a:cubicBezTo>
                      <a:pt x="405" y="9"/>
                      <a:pt x="406" y="8"/>
                      <a:pt x="407" y="8"/>
                    </a:cubicBezTo>
                    <a:cubicBezTo>
                      <a:pt x="408" y="7"/>
                      <a:pt x="410" y="7"/>
                      <a:pt x="413" y="6"/>
                    </a:cubicBezTo>
                    <a:cubicBezTo>
                      <a:pt x="416" y="6"/>
                      <a:pt x="417" y="7"/>
                      <a:pt x="416" y="7"/>
                    </a:cubicBezTo>
                    <a:cubicBezTo>
                      <a:pt x="413" y="12"/>
                      <a:pt x="411" y="16"/>
                      <a:pt x="410" y="19"/>
                    </a:cubicBezTo>
                    <a:cubicBezTo>
                      <a:pt x="410" y="22"/>
                      <a:pt x="409" y="23"/>
                      <a:pt x="408" y="22"/>
                    </a:cubicBezTo>
                    <a:close/>
                    <a:moveTo>
                      <a:pt x="395" y="31"/>
                    </a:moveTo>
                    <a:cubicBezTo>
                      <a:pt x="391" y="31"/>
                      <a:pt x="387" y="31"/>
                      <a:pt x="383" y="30"/>
                    </a:cubicBezTo>
                    <a:cubicBezTo>
                      <a:pt x="381" y="29"/>
                      <a:pt x="381" y="25"/>
                      <a:pt x="381" y="18"/>
                    </a:cubicBezTo>
                    <a:cubicBezTo>
                      <a:pt x="381" y="17"/>
                      <a:pt x="382" y="16"/>
                      <a:pt x="384" y="15"/>
                    </a:cubicBezTo>
                    <a:cubicBezTo>
                      <a:pt x="385" y="14"/>
                      <a:pt x="386" y="15"/>
                      <a:pt x="387" y="16"/>
                    </a:cubicBezTo>
                    <a:cubicBezTo>
                      <a:pt x="388" y="17"/>
                      <a:pt x="391" y="21"/>
                      <a:pt x="396" y="25"/>
                    </a:cubicBezTo>
                    <a:cubicBezTo>
                      <a:pt x="398" y="29"/>
                      <a:pt x="398" y="31"/>
                      <a:pt x="395" y="31"/>
                    </a:cubicBezTo>
                    <a:close/>
                    <a:moveTo>
                      <a:pt x="373" y="63"/>
                    </a:moveTo>
                    <a:cubicBezTo>
                      <a:pt x="373" y="65"/>
                      <a:pt x="372" y="66"/>
                      <a:pt x="370" y="65"/>
                    </a:cubicBezTo>
                    <a:cubicBezTo>
                      <a:pt x="363" y="64"/>
                      <a:pt x="359" y="62"/>
                      <a:pt x="358" y="59"/>
                    </a:cubicBezTo>
                    <a:cubicBezTo>
                      <a:pt x="361" y="54"/>
                      <a:pt x="365" y="50"/>
                      <a:pt x="371" y="48"/>
                    </a:cubicBezTo>
                    <a:cubicBezTo>
                      <a:pt x="372" y="47"/>
                      <a:pt x="373" y="47"/>
                      <a:pt x="373" y="48"/>
                    </a:cubicBezTo>
                    <a:cubicBezTo>
                      <a:pt x="374" y="48"/>
                      <a:pt x="374" y="49"/>
                      <a:pt x="373" y="50"/>
                    </a:cubicBezTo>
                    <a:cubicBezTo>
                      <a:pt x="372" y="52"/>
                      <a:pt x="372" y="57"/>
                      <a:pt x="373" y="63"/>
                    </a:cubicBezTo>
                    <a:close/>
                    <a:moveTo>
                      <a:pt x="564" y="39"/>
                    </a:moveTo>
                    <a:cubicBezTo>
                      <a:pt x="557" y="41"/>
                      <a:pt x="550" y="43"/>
                      <a:pt x="541" y="44"/>
                    </a:cubicBezTo>
                    <a:cubicBezTo>
                      <a:pt x="539" y="44"/>
                      <a:pt x="538" y="44"/>
                      <a:pt x="538" y="44"/>
                    </a:cubicBezTo>
                    <a:cubicBezTo>
                      <a:pt x="537" y="45"/>
                      <a:pt x="538" y="47"/>
                      <a:pt x="539" y="50"/>
                    </a:cubicBezTo>
                    <a:cubicBezTo>
                      <a:pt x="540" y="53"/>
                      <a:pt x="541" y="55"/>
                      <a:pt x="542" y="56"/>
                    </a:cubicBezTo>
                    <a:cubicBezTo>
                      <a:pt x="543" y="56"/>
                      <a:pt x="544" y="56"/>
                      <a:pt x="547" y="55"/>
                    </a:cubicBezTo>
                    <a:cubicBezTo>
                      <a:pt x="553" y="52"/>
                      <a:pt x="558" y="51"/>
                      <a:pt x="562" y="51"/>
                    </a:cubicBezTo>
                    <a:cubicBezTo>
                      <a:pt x="564" y="51"/>
                      <a:pt x="565" y="52"/>
                      <a:pt x="565" y="53"/>
                    </a:cubicBezTo>
                    <a:cubicBezTo>
                      <a:pt x="565" y="56"/>
                      <a:pt x="565" y="60"/>
                      <a:pt x="565" y="64"/>
                    </a:cubicBezTo>
                    <a:cubicBezTo>
                      <a:pt x="565" y="69"/>
                      <a:pt x="566" y="75"/>
                      <a:pt x="566" y="83"/>
                    </a:cubicBezTo>
                    <a:cubicBezTo>
                      <a:pt x="567" y="97"/>
                      <a:pt x="567" y="104"/>
                      <a:pt x="565" y="104"/>
                    </a:cubicBezTo>
                    <a:cubicBezTo>
                      <a:pt x="564" y="105"/>
                      <a:pt x="560" y="105"/>
                      <a:pt x="553" y="103"/>
                    </a:cubicBezTo>
                    <a:cubicBezTo>
                      <a:pt x="549" y="101"/>
                      <a:pt x="546" y="101"/>
                      <a:pt x="546" y="102"/>
                    </a:cubicBezTo>
                    <a:cubicBezTo>
                      <a:pt x="547" y="104"/>
                      <a:pt x="551" y="108"/>
                      <a:pt x="558" y="111"/>
                    </a:cubicBezTo>
                    <a:cubicBezTo>
                      <a:pt x="559" y="112"/>
                      <a:pt x="561" y="113"/>
                      <a:pt x="564" y="115"/>
                    </a:cubicBezTo>
                    <a:cubicBezTo>
                      <a:pt x="571" y="119"/>
                      <a:pt x="575" y="121"/>
                      <a:pt x="576" y="120"/>
                    </a:cubicBezTo>
                    <a:cubicBezTo>
                      <a:pt x="577" y="120"/>
                      <a:pt x="577" y="117"/>
                      <a:pt x="577" y="111"/>
                    </a:cubicBezTo>
                    <a:cubicBezTo>
                      <a:pt x="576" y="107"/>
                      <a:pt x="576" y="104"/>
                      <a:pt x="576" y="102"/>
                    </a:cubicBezTo>
                    <a:cubicBezTo>
                      <a:pt x="575" y="85"/>
                      <a:pt x="576" y="77"/>
                      <a:pt x="577" y="78"/>
                    </a:cubicBezTo>
                    <a:cubicBezTo>
                      <a:pt x="584" y="82"/>
                      <a:pt x="590" y="87"/>
                      <a:pt x="595" y="94"/>
                    </a:cubicBezTo>
                    <a:cubicBezTo>
                      <a:pt x="596" y="95"/>
                      <a:pt x="596" y="96"/>
                      <a:pt x="597" y="97"/>
                    </a:cubicBezTo>
                    <a:cubicBezTo>
                      <a:pt x="598" y="100"/>
                      <a:pt x="599" y="102"/>
                      <a:pt x="600" y="103"/>
                    </a:cubicBezTo>
                    <a:cubicBezTo>
                      <a:pt x="603" y="103"/>
                      <a:pt x="609" y="103"/>
                      <a:pt x="617" y="103"/>
                    </a:cubicBezTo>
                    <a:cubicBezTo>
                      <a:pt x="618" y="103"/>
                      <a:pt x="620" y="103"/>
                      <a:pt x="623" y="103"/>
                    </a:cubicBezTo>
                    <a:cubicBezTo>
                      <a:pt x="625" y="103"/>
                      <a:pt x="626" y="103"/>
                      <a:pt x="627" y="103"/>
                    </a:cubicBezTo>
                    <a:cubicBezTo>
                      <a:pt x="629" y="103"/>
                      <a:pt x="630" y="102"/>
                      <a:pt x="630" y="101"/>
                    </a:cubicBezTo>
                    <a:cubicBezTo>
                      <a:pt x="630" y="98"/>
                      <a:pt x="622" y="95"/>
                      <a:pt x="607" y="90"/>
                    </a:cubicBezTo>
                    <a:cubicBezTo>
                      <a:pt x="601" y="88"/>
                      <a:pt x="596" y="84"/>
                      <a:pt x="590" y="77"/>
                    </a:cubicBezTo>
                    <a:cubicBezTo>
                      <a:pt x="590" y="77"/>
                      <a:pt x="588" y="75"/>
                      <a:pt x="586" y="73"/>
                    </a:cubicBezTo>
                    <a:cubicBezTo>
                      <a:pt x="584" y="70"/>
                      <a:pt x="583" y="69"/>
                      <a:pt x="583" y="68"/>
                    </a:cubicBezTo>
                    <a:cubicBezTo>
                      <a:pt x="584" y="67"/>
                      <a:pt x="586" y="66"/>
                      <a:pt x="588" y="65"/>
                    </a:cubicBezTo>
                    <a:cubicBezTo>
                      <a:pt x="590" y="64"/>
                      <a:pt x="591" y="63"/>
                      <a:pt x="591" y="62"/>
                    </a:cubicBezTo>
                    <a:cubicBezTo>
                      <a:pt x="592" y="62"/>
                      <a:pt x="594" y="61"/>
                      <a:pt x="596" y="60"/>
                    </a:cubicBezTo>
                    <a:cubicBezTo>
                      <a:pt x="601" y="57"/>
                      <a:pt x="604" y="55"/>
                      <a:pt x="604" y="55"/>
                    </a:cubicBezTo>
                    <a:cubicBezTo>
                      <a:pt x="602" y="50"/>
                      <a:pt x="600" y="47"/>
                      <a:pt x="598" y="47"/>
                    </a:cubicBezTo>
                    <a:cubicBezTo>
                      <a:pt x="596" y="47"/>
                      <a:pt x="594" y="50"/>
                      <a:pt x="591" y="53"/>
                    </a:cubicBezTo>
                    <a:cubicBezTo>
                      <a:pt x="590" y="55"/>
                      <a:pt x="589" y="56"/>
                      <a:pt x="588" y="57"/>
                    </a:cubicBezTo>
                    <a:cubicBezTo>
                      <a:pt x="584" y="61"/>
                      <a:pt x="580" y="64"/>
                      <a:pt x="578" y="64"/>
                    </a:cubicBezTo>
                    <a:cubicBezTo>
                      <a:pt x="577" y="64"/>
                      <a:pt x="576" y="63"/>
                      <a:pt x="576" y="61"/>
                    </a:cubicBezTo>
                    <a:cubicBezTo>
                      <a:pt x="575" y="60"/>
                      <a:pt x="575" y="60"/>
                      <a:pt x="575" y="60"/>
                    </a:cubicBezTo>
                    <a:cubicBezTo>
                      <a:pt x="574" y="55"/>
                      <a:pt x="575" y="52"/>
                      <a:pt x="576" y="49"/>
                    </a:cubicBezTo>
                    <a:cubicBezTo>
                      <a:pt x="578" y="47"/>
                      <a:pt x="581" y="45"/>
                      <a:pt x="585" y="45"/>
                    </a:cubicBezTo>
                    <a:cubicBezTo>
                      <a:pt x="585" y="45"/>
                      <a:pt x="586" y="45"/>
                      <a:pt x="587" y="45"/>
                    </a:cubicBezTo>
                    <a:cubicBezTo>
                      <a:pt x="591" y="45"/>
                      <a:pt x="593" y="44"/>
                      <a:pt x="593" y="44"/>
                    </a:cubicBezTo>
                    <a:cubicBezTo>
                      <a:pt x="593" y="40"/>
                      <a:pt x="591" y="36"/>
                      <a:pt x="587" y="32"/>
                    </a:cubicBezTo>
                    <a:cubicBezTo>
                      <a:pt x="587" y="32"/>
                      <a:pt x="586" y="32"/>
                      <a:pt x="585" y="33"/>
                    </a:cubicBezTo>
                    <a:cubicBezTo>
                      <a:pt x="584" y="33"/>
                      <a:pt x="583" y="34"/>
                      <a:pt x="582" y="34"/>
                    </a:cubicBezTo>
                    <a:cubicBezTo>
                      <a:pt x="580" y="35"/>
                      <a:pt x="578" y="35"/>
                      <a:pt x="576" y="35"/>
                    </a:cubicBezTo>
                    <a:cubicBezTo>
                      <a:pt x="575" y="35"/>
                      <a:pt x="575" y="32"/>
                      <a:pt x="576" y="27"/>
                    </a:cubicBezTo>
                    <a:cubicBezTo>
                      <a:pt x="576" y="22"/>
                      <a:pt x="576" y="18"/>
                      <a:pt x="577" y="15"/>
                    </a:cubicBezTo>
                    <a:cubicBezTo>
                      <a:pt x="577" y="13"/>
                      <a:pt x="578" y="10"/>
                      <a:pt x="579" y="7"/>
                    </a:cubicBezTo>
                    <a:cubicBezTo>
                      <a:pt x="580" y="6"/>
                      <a:pt x="580" y="5"/>
                      <a:pt x="580" y="5"/>
                    </a:cubicBezTo>
                    <a:cubicBezTo>
                      <a:pt x="578" y="3"/>
                      <a:pt x="575" y="2"/>
                      <a:pt x="571" y="2"/>
                    </a:cubicBezTo>
                    <a:cubicBezTo>
                      <a:pt x="570" y="2"/>
                      <a:pt x="569" y="3"/>
                      <a:pt x="569" y="4"/>
                    </a:cubicBezTo>
                    <a:cubicBezTo>
                      <a:pt x="569" y="6"/>
                      <a:pt x="569" y="9"/>
                      <a:pt x="568" y="14"/>
                    </a:cubicBezTo>
                    <a:cubicBezTo>
                      <a:pt x="568" y="22"/>
                      <a:pt x="568" y="29"/>
                      <a:pt x="567" y="33"/>
                    </a:cubicBezTo>
                    <a:cubicBezTo>
                      <a:pt x="567" y="37"/>
                      <a:pt x="566" y="39"/>
                      <a:pt x="564" y="39"/>
                    </a:cubicBezTo>
                    <a:close/>
                    <a:moveTo>
                      <a:pt x="594" y="29"/>
                    </a:moveTo>
                    <a:cubicBezTo>
                      <a:pt x="593" y="27"/>
                      <a:pt x="593" y="25"/>
                      <a:pt x="593" y="21"/>
                    </a:cubicBezTo>
                    <a:cubicBezTo>
                      <a:pt x="594" y="17"/>
                      <a:pt x="595" y="14"/>
                      <a:pt x="596" y="14"/>
                    </a:cubicBezTo>
                    <a:cubicBezTo>
                      <a:pt x="597" y="14"/>
                      <a:pt x="598" y="14"/>
                      <a:pt x="599" y="16"/>
                    </a:cubicBezTo>
                    <a:cubicBezTo>
                      <a:pt x="600" y="17"/>
                      <a:pt x="602" y="19"/>
                      <a:pt x="603" y="20"/>
                    </a:cubicBezTo>
                    <a:cubicBezTo>
                      <a:pt x="608" y="24"/>
                      <a:pt x="611" y="27"/>
                      <a:pt x="610" y="31"/>
                    </a:cubicBezTo>
                    <a:cubicBezTo>
                      <a:pt x="609" y="32"/>
                      <a:pt x="606" y="32"/>
                      <a:pt x="601" y="32"/>
                    </a:cubicBezTo>
                    <a:cubicBezTo>
                      <a:pt x="597" y="31"/>
                      <a:pt x="595" y="30"/>
                      <a:pt x="594" y="29"/>
                    </a:cubicBezTo>
                    <a:close/>
                    <a:moveTo>
                      <a:pt x="542" y="72"/>
                    </a:moveTo>
                    <a:cubicBezTo>
                      <a:pt x="541" y="71"/>
                      <a:pt x="540" y="68"/>
                      <a:pt x="541" y="64"/>
                    </a:cubicBezTo>
                    <a:cubicBezTo>
                      <a:pt x="542" y="61"/>
                      <a:pt x="543" y="59"/>
                      <a:pt x="544" y="59"/>
                    </a:cubicBezTo>
                    <a:cubicBezTo>
                      <a:pt x="544" y="59"/>
                      <a:pt x="545" y="59"/>
                      <a:pt x="545" y="60"/>
                    </a:cubicBezTo>
                    <a:cubicBezTo>
                      <a:pt x="546" y="61"/>
                      <a:pt x="548" y="62"/>
                      <a:pt x="549" y="63"/>
                    </a:cubicBezTo>
                    <a:cubicBezTo>
                      <a:pt x="553" y="65"/>
                      <a:pt x="556" y="67"/>
                      <a:pt x="557" y="68"/>
                    </a:cubicBezTo>
                    <a:cubicBezTo>
                      <a:pt x="558" y="69"/>
                      <a:pt x="558" y="71"/>
                      <a:pt x="558" y="72"/>
                    </a:cubicBezTo>
                    <a:cubicBezTo>
                      <a:pt x="557" y="74"/>
                      <a:pt x="554" y="74"/>
                      <a:pt x="549" y="74"/>
                    </a:cubicBezTo>
                    <a:cubicBezTo>
                      <a:pt x="546" y="74"/>
                      <a:pt x="543" y="74"/>
                      <a:pt x="542" y="72"/>
                    </a:cubicBezTo>
                    <a:close/>
                    <a:moveTo>
                      <a:pt x="544" y="87"/>
                    </a:moveTo>
                    <a:cubicBezTo>
                      <a:pt x="546" y="85"/>
                      <a:pt x="550" y="82"/>
                      <a:pt x="557" y="77"/>
                    </a:cubicBezTo>
                    <a:cubicBezTo>
                      <a:pt x="561" y="75"/>
                      <a:pt x="563" y="73"/>
                      <a:pt x="563" y="73"/>
                    </a:cubicBezTo>
                    <a:cubicBezTo>
                      <a:pt x="563" y="74"/>
                      <a:pt x="563" y="76"/>
                      <a:pt x="561" y="79"/>
                    </a:cubicBezTo>
                    <a:cubicBezTo>
                      <a:pt x="550" y="90"/>
                      <a:pt x="543" y="97"/>
                      <a:pt x="539" y="102"/>
                    </a:cubicBezTo>
                    <a:cubicBezTo>
                      <a:pt x="539" y="103"/>
                      <a:pt x="538" y="103"/>
                      <a:pt x="538" y="104"/>
                    </a:cubicBezTo>
                    <a:cubicBezTo>
                      <a:pt x="536" y="106"/>
                      <a:pt x="535" y="108"/>
                      <a:pt x="534" y="108"/>
                    </a:cubicBezTo>
                    <a:cubicBezTo>
                      <a:pt x="531" y="106"/>
                      <a:pt x="528" y="102"/>
                      <a:pt x="526" y="96"/>
                    </a:cubicBezTo>
                    <a:cubicBezTo>
                      <a:pt x="526" y="96"/>
                      <a:pt x="528" y="95"/>
                      <a:pt x="532" y="93"/>
                    </a:cubicBezTo>
                    <a:cubicBezTo>
                      <a:pt x="537" y="90"/>
                      <a:pt x="541" y="88"/>
                      <a:pt x="544" y="8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8" name="iŝḷïďé"/>
              <p:cNvSpPr/>
              <p:nvPr/>
            </p:nvSpPr>
            <p:spPr bwMode="auto">
              <a:xfrm>
                <a:off x="3214688" y="3644901"/>
                <a:ext cx="268288" cy="95250"/>
              </a:xfrm>
              <a:custGeom>
                <a:avLst/>
                <a:gdLst>
                  <a:gd name="T0" fmla="*/ 49 w 342"/>
                  <a:gd name="T1" fmla="*/ 45 h 121"/>
                  <a:gd name="T2" fmla="*/ 2 w 342"/>
                  <a:gd name="T3" fmla="*/ 66 h 121"/>
                  <a:gd name="T4" fmla="*/ 5 w 342"/>
                  <a:gd name="T5" fmla="*/ 97 h 121"/>
                  <a:gd name="T6" fmla="*/ 31 w 342"/>
                  <a:gd name="T7" fmla="*/ 85 h 121"/>
                  <a:gd name="T8" fmla="*/ 69 w 342"/>
                  <a:gd name="T9" fmla="*/ 107 h 121"/>
                  <a:gd name="T10" fmla="*/ 80 w 342"/>
                  <a:gd name="T11" fmla="*/ 101 h 121"/>
                  <a:gd name="T12" fmla="*/ 65 w 342"/>
                  <a:gd name="T13" fmla="*/ 75 h 121"/>
                  <a:gd name="T14" fmla="*/ 56 w 342"/>
                  <a:gd name="T15" fmla="*/ 68 h 121"/>
                  <a:gd name="T16" fmla="*/ 88 w 342"/>
                  <a:gd name="T17" fmla="*/ 62 h 121"/>
                  <a:gd name="T18" fmla="*/ 73 w 342"/>
                  <a:gd name="T19" fmla="*/ 12 h 121"/>
                  <a:gd name="T20" fmla="*/ 32 w 342"/>
                  <a:gd name="T21" fmla="*/ 14 h 121"/>
                  <a:gd name="T22" fmla="*/ 44 w 342"/>
                  <a:gd name="T23" fmla="*/ 39 h 121"/>
                  <a:gd name="T24" fmla="*/ 52 w 342"/>
                  <a:gd name="T25" fmla="*/ 22 h 121"/>
                  <a:gd name="T26" fmla="*/ 52 w 342"/>
                  <a:gd name="T27" fmla="*/ 14 h 121"/>
                  <a:gd name="T28" fmla="*/ 46 w 342"/>
                  <a:gd name="T29" fmla="*/ 77 h 121"/>
                  <a:gd name="T30" fmla="*/ 44 w 342"/>
                  <a:gd name="T31" fmla="*/ 65 h 121"/>
                  <a:gd name="T32" fmla="*/ 182 w 342"/>
                  <a:gd name="T33" fmla="*/ 95 h 121"/>
                  <a:gd name="T34" fmla="*/ 200 w 342"/>
                  <a:gd name="T35" fmla="*/ 109 h 121"/>
                  <a:gd name="T36" fmla="*/ 202 w 342"/>
                  <a:gd name="T37" fmla="*/ 11 h 121"/>
                  <a:gd name="T38" fmla="*/ 137 w 342"/>
                  <a:gd name="T39" fmla="*/ 61 h 121"/>
                  <a:gd name="T40" fmla="*/ 157 w 342"/>
                  <a:gd name="T41" fmla="*/ 35 h 121"/>
                  <a:gd name="T42" fmla="*/ 174 w 342"/>
                  <a:gd name="T43" fmla="*/ 30 h 121"/>
                  <a:gd name="T44" fmla="*/ 160 w 342"/>
                  <a:gd name="T45" fmla="*/ 18 h 121"/>
                  <a:gd name="T46" fmla="*/ 132 w 342"/>
                  <a:gd name="T47" fmla="*/ 52 h 121"/>
                  <a:gd name="T48" fmla="*/ 180 w 342"/>
                  <a:gd name="T49" fmla="*/ 39 h 121"/>
                  <a:gd name="T50" fmla="*/ 181 w 342"/>
                  <a:gd name="T51" fmla="*/ 70 h 121"/>
                  <a:gd name="T52" fmla="*/ 168 w 342"/>
                  <a:gd name="T53" fmla="*/ 51 h 121"/>
                  <a:gd name="T54" fmla="*/ 147 w 342"/>
                  <a:gd name="T55" fmla="*/ 74 h 121"/>
                  <a:gd name="T56" fmla="*/ 153 w 342"/>
                  <a:gd name="T57" fmla="*/ 92 h 121"/>
                  <a:gd name="T58" fmla="*/ 172 w 342"/>
                  <a:gd name="T59" fmla="*/ 101 h 121"/>
                  <a:gd name="T60" fmla="*/ 140 w 342"/>
                  <a:gd name="T61" fmla="*/ 63 h 121"/>
                  <a:gd name="T62" fmla="*/ 147 w 342"/>
                  <a:gd name="T63" fmla="*/ 57 h 121"/>
                  <a:gd name="T64" fmla="*/ 283 w 342"/>
                  <a:gd name="T65" fmla="*/ 11 h 121"/>
                  <a:gd name="T66" fmla="*/ 282 w 342"/>
                  <a:gd name="T67" fmla="*/ 20 h 121"/>
                  <a:gd name="T68" fmla="*/ 287 w 342"/>
                  <a:gd name="T69" fmla="*/ 34 h 121"/>
                  <a:gd name="T70" fmla="*/ 292 w 342"/>
                  <a:gd name="T71" fmla="*/ 28 h 121"/>
                  <a:gd name="T72" fmla="*/ 257 w 342"/>
                  <a:gd name="T73" fmla="*/ 40 h 121"/>
                  <a:gd name="T74" fmla="*/ 261 w 342"/>
                  <a:gd name="T75" fmla="*/ 50 h 121"/>
                  <a:gd name="T76" fmla="*/ 277 w 342"/>
                  <a:gd name="T77" fmla="*/ 36 h 121"/>
                  <a:gd name="T78" fmla="*/ 253 w 342"/>
                  <a:gd name="T79" fmla="*/ 57 h 121"/>
                  <a:gd name="T80" fmla="*/ 268 w 342"/>
                  <a:gd name="T81" fmla="*/ 62 h 121"/>
                  <a:gd name="T82" fmla="*/ 241 w 342"/>
                  <a:gd name="T83" fmla="*/ 75 h 121"/>
                  <a:gd name="T84" fmla="*/ 257 w 342"/>
                  <a:gd name="T85" fmla="*/ 77 h 121"/>
                  <a:gd name="T86" fmla="*/ 252 w 342"/>
                  <a:gd name="T87" fmla="*/ 101 h 121"/>
                  <a:gd name="T88" fmla="*/ 277 w 342"/>
                  <a:gd name="T89" fmla="*/ 105 h 121"/>
                  <a:gd name="T90" fmla="*/ 280 w 342"/>
                  <a:gd name="T91" fmla="*/ 76 h 121"/>
                  <a:gd name="T92" fmla="*/ 292 w 342"/>
                  <a:gd name="T93" fmla="*/ 67 h 121"/>
                  <a:gd name="T94" fmla="*/ 281 w 342"/>
                  <a:gd name="T95" fmla="*/ 58 h 121"/>
                  <a:gd name="T96" fmla="*/ 282 w 342"/>
                  <a:gd name="T97" fmla="*/ 48 h 121"/>
                  <a:gd name="T98" fmla="*/ 298 w 342"/>
                  <a:gd name="T99" fmla="*/ 78 h 121"/>
                  <a:gd name="T100" fmla="*/ 283 w 342"/>
                  <a:gd name="T101" fmla="*/ 93 h 121"/>
                  <a:gd name="T102" fmla="*/ 316 w 342"/>
                  <a:gd name="T103" fmla="*/ 29 h 121"/>
                  <a:gd name="T104" fmla="*/ 312 w 342"/>
                  <a:gd name="T105" fmla="*/ 40 h 121"/>
                  <a:gd name="T106" fmla="*/ 337 w 342"/>
                  <a:gd name="T107" fmla="*/ 46 h 121"/>
                  <a:gd name="T108" fmla="*/ 327 w 342"/>
                  <a:gd name="T109" fmla="*/ 60 h 121"/>
                  <a:gd name="T110" fmla="*/ 320 w 342"/>
                  <a:gd name="T111" fmla="*/ 107 h 121"/>
                  <a:gd name="T112" fmla="*/ 313 w 342"/>
                  <a:gd name="T113" fmla="*/ 105 h 121"/>
                  <a:gd name="T114" fmla="*/ 261 w 342"/>
                  <a:gd name="T115" fmla="*/ 77 h 121"/>
                  <a:gd name="T116" fmla="*/ 263 w 342"/>
                  <a:gd name="T117" fmla="*/ 92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342" h="121">
                    <a:moveTo>
                      <a:pt x="35" y="50"/>
                    </a:moveTo>
                    <a:cubicBezTo>
                      <a:pt x="36" y="51"/>
                      <a:pt x="37" y="51"/>
                      <a:pt x="39" y="50"/>
                    </a:cubicBezTo>
                    <a:cubicBezTo>
                      <a:pt x="40" y="49"/>
                      <a:pt x="40" y="49"/>
                      <a:pt x="41" y="49"/>
                    </a:cubicBezTo>
                    <a:cubicBezTo>
                      <a:pt x="41" y="49"/>
                      <a:pt x="42" y="49"/>
                      <a:pt x="42" y="48"/>
                    </a:cubicBezTo>
                    <a:cubicBezTo>
                      <a:pt x="46" y="46"/>
                      <a:pt x="48" y="45"/>
                      <a:pt x="49" y="45"/>
                    </a:cubicBezTo>
                    <a:cubicBezTo>
                      <a:pt x="50" y="45"/>
                      <a:pt x="53" y="47"/>
                      <a:pt x="56" y="50"/>
                    </a:cubicBezTo>
                    <a:cubicBezTo>
                      <a:pt x="57" y="51"/>
                      <a:pt x="58" y="52"/>
                      <a:pt x="58" y="52"/>
                    </a:cubicBezTo>
                    <a:cubicBezTo>
                      <a:pt x="31" y="58"/>
                      <a:pt x="13" y="62"/>
                      <a:pt x="6" y="65"/>
                    </a:cubicBezTo>
                    <a:cubicBezTo>
                      <a:pt x="6" y="65"/>
                      <a:pt x="5" y="65"/>
                      <a:pt x="5" y="65"/>
                    </a:cubicBezTo>
                    <a:cubicBezTo>
                      <a:pt x="3" y="65"/>
                      <a:pt x="3" y="65"/>
                      <a:pt x="2" y="66"/>
                    </a:cubicBezTo>
                    <a:cubicBezTo>
                      <a:pt x="3" y="69"/>
                      <a:pt x="4" y="72"/>
                      <a:pt x="7" y="74"/>
                    </a:cubicBezTo>
                    <a:cubicBezTo>
                      <a:pt x="7" y="74"/>
                      <a:pt x="8" y="74"/>
                      <a:pt x="9" y="73"/>
                    </a:cubicBezTo>
                    <a:cubicBezTo>
                      <a:pt x="11" y="72"/>
                      <a:pt x="13" y="70"/>
                      <a:pt x="14" y="70"/>
                    </a:cubicBezTo>
                    <a:cubicBezTo>
                      <a:pt x="18" y="69"/>
                      <a:pt x="24" y="68"/>
                      <a:pt x="31" y="67"/>
                    </a:cubicBezTo>
                    <a:cubicBezTo>
                      <a:pt x="29" y="80"/>
                      <a:pt x="21" y="90"/>
                      <a:pt x="5" y="97"/>
                    </a:cubicBezTo>
                    <a:cubicBezTo>
                      <a:pt x="2" y="98"/>
                      <a:pt x="0" y="100"/>
                      <a:pt x="0" y="100"/>
                    </a:cubicBezTo>
                    <a:cubicBezTo>
                      <a:pt x="1" y="101"/>
                      <a:pt x="3" y="102"/>
                      <a:pt x="7" y="101"/>
                    </a:cubicBezTo>
                    <a:cubicBezTo>
                      <a:pt x="15" y="100"/>
                      <a:pt x="21" y="98"/>
                      <a:pt x="24" y="96"/>
                    </a:cubicBezTo>
                    <a:cubicBezTo>
                      <a:pt x="24" y="96"/>
                      <a:pt x="24" y="95"/>
                      <a:pt x="24" y="94"/>
                    </a:cubicBezTo>
                    <a:cubicBezTo>
                      <a:pt x="25" y="88"/>
                      <a:pt x="27" y="86"/>
                      <a:pt x="31" y="85"/>
                    </a:cubicBezTo>
                    <a:cubicBezTo>
                      <a:pt x="32" y="85"/>
                      <a:pt x="33" y="86"/>
                      <a:pt x="35" y="87"/>
                    </a:cubicBezTo>
                    <a:cubicBezTo>
                      <a:pt x="36" y="87"/>
                      <a:pt x="36" y="87"/>
                      <a:pt x="36" y="87"/>
                    </a:cubicBezTo>
                    <a:cubicBezTo>
                      <a:pt x="40" y="90"/>
                      <a:pt x="44" y="92"/>
                      <a:pt x="49" y="94"/>
                    </a:cubicBezTo>
                    <a:cubicBezTo>
                      <a:pt x="55" y="96"/>
                      <a:pt x="58" y="97"/>
                      <a:pt x="58" y="97"/>
                    </a:cubicBezTo>
                    <a:cubicBezTo>
                      <a:pt x="65" y="100"/>
                      <a:pt x="69" y="103"/>
                      <a:pt x="69" y="107"/>
                    </a:cubicBezTo>
                    <a:cubicBezTo>
                      <a:pt x="69" y="111"/>
                      <a:pt x="71" y="113"/>
                      <a:pt x="75" y="114"/>
                    </a:cubicBezTo>
                    <a:cubicBezTo>
                      <a:pt x="87" y="116"/>
                      <a:pt x="98" y="116"/>
                      <a:pt x="105" y="114"/>
                    </a:cubicBezTo>
                    <a:cubicBezTo>
                      <a:pt x="108" y="113"/>
                      <a:pt x="110" y="113"/>
                      <a:pt x="109" y="112"/>
                    </a:cubicBezTo>
                    <a:cubicBezTo>
                      <a:pt x="109" y="111"/>
                      <a:pt x="108" y="110"/>
                      <a:pt x="104" y="108"/>
                    </a:cubicBezTo>
                    <a:cubicBezTo>
                      <a:pt x="99" y="106"/>
                      <a:pt x="91" y="104"/>
                      <a:pt x="80" y="101"/>
                    </a:cubicBezTo>
                    <a:cubicBezTo>
                      <a:pt x="76" y="100"/>
                      <a:pt x="73" y="99"/>
                      <a:pt x="72" y="99"/>
                    </a:cubicBezTo>
                    <a:cubicBezTo>
                      <a:pt x="72" y="98"/>
                      <a:pt x="69" y="97"/>
                      <a:pt x="64" y="94"/>
                    </a:cubicBezTo>
                    <a:cubicBezTo>
                      <a:pt x="59" y="91"/>
                      <a:pt x="56" y="89"/>
                      <a:pt x="54" y="88"/>
                    </a:cubicBezTo>
                    <a:cubicBezTo>
                      <a:pt x="54" y="84"/>
                      <a:pt x="55" y="81"/>
                      <a:pt x="57" y="79"/>
                    </a:cubicBezTo>
                    <a:cubicBezTo>
                      <a:pt x="60" y="77"/>
                      <a:pt x="62" y="76"/>
                      <a:pt x="65" y="75"/>
                    </a:cubicBezTo>
                    <a:cubicBezTo>
                      <a:pt x="66" y="75"/>
                      <a:pt x="67" y="75"/>
                      <a:pt x="69" y="76"/>
                    </a:cubicBezTo>
                    <a:cubicBezTo>
                      <a:pt x="70" y="76"/>
                      <a:pt x="70" y="76"/>
                      <a:pt x="71" y="76"/>
                    </a:cubicBezTo>
                    <a:cubicBezTo>
                      <a:pt x="71" y="75"/>
                      <a:pt x="71" y="74"/>
                      <a:pt x="71" y="73"/>
                    </a:cubicBezTo>
                    <a:cubicBezTo>
                      <a:pt x="70" y="70"/>
                      <a:pt x="69" y="68"/>
                      <a:pt x="69" y="68"/>
                    </a:cubicBezTo>
                    <a:cubicBezTo>
                      <a:pt x="67" y="67"/>
                      <a:pt x="63" y="67"/>
                      <a:pt x="56" y="68"/>
                    </a:cubicBezTo>
                    <a:cubicBezTo>
                      <a:pt x="56" y="66"/>
                      <a:pt x="56" y="65"/>
                      <a:pt x="56" y="63"/>
                    </a:cubicBezTo>
                    <a:cubicBezTo>
                      <a:pt x="56" y="63"/>
                      <a:pt x="57" y="63"/>
                      <a:pt x="57" y="63"/>
                    </a:cubicBezTo>
                    <a:cubicBezTo>
                      <a:pt x="67" y="61"/>
                      <a:pt x="73" y="60"/>
                      <a:pt x="77" y="61"/>
                    </a:cubicBezTo>
                    <a:cubicBezTo>
                      <a:pt x="78" y="61"/>
                      <a:pt x="80" y="61"/>
                      <a:pt x="82" y="62"/>
                    </a:cubicBezTo>
                    <a:cubicBezTo>
                      <a:pt x="85" y="63"/>
                      <a:pt x="88" y="63"/>
                      <a:pt x="88" y="62"/>
                    </a:cubicBezTo>
                    <a:cubicBezTo>
                      <a:pt x="89" y="62"/>
                      <a:pt x="89" y="59"/>
                      <a:pt x="88" y="56"/>
                    </a:cubicBezTo>
                    <a:cubicBezTo>
                      <a:pt x="86" y="51"/>
                      <a:pt x="85" y="49"/>
                      <a:pt x="83" y="49"/>
                    </a:cubicBezTo>
                    <a:cubicBezTo>
                      <a:pt x="83" y="49"/>
                      <a:pt x="81" y="49"/>
                      <a:pt x="77" y="49"/>
                    </a:cubicBezTo>
                    <a:cubicBezTo>
                      <a:pt x="74" y="50"/>
                      <a:pt x="71" y="51"/>
                      <a:pt x="68" y="51"/>
                    </a:cubicBezTo>
                    <a:cubicBezTo>
                      <a:pt x="70" y="31"/>
                      <a:pt x="71" y="18"/>
                      <a:pt x="73" y="12"/>
                    </a:cubicBezTo>
                    <a:cubicBezTo>
                      <a:pt x="73" y="12"/>
                      <a:pt x="74" y="11"/>
                      <a:pt x="74" y="11"/>
                    </a:cubicBezTo>
                    <a:cubicBezTo>
                      <a:pt x="73" y="10"/>
                      <a:pt x="71" y="9"/>
                      <a:pt x="68" y="8"/>
                    </a:cubicBezTo>
                    <a:cubicBezTo>
                      <a:pt x="63" y="7"/>
                      <a:pt x="56" y="8"/>
                      <a:pt x="49" y="10"/>
                    </a:cubicBezTo>
                    <a:cubicBezTo>
                      <a:pt x="42" y="12"/>
                      <a:pt x="37" y="13"/>
                      <a:pt x="33" y="13"/>
                    </a:cubicBezTo>
                    <a:cubicBezTo>
                      <a:pt x="32" y="13"/>
                      <a:pt x="32" y="13"/>
                      <a:pt x="32" y="14"/>
                    </a:cubicBezTo>
                    <a:cubicBezTo>
                      <a:pt x="31" y="31"/>
                      <a:pt x="32" y="43"/>
                      <a:pt x="35" y="50"/>
                    </a:cubicBezTo>
                    <a:close/>
                    <a:moveTo>
                      <a:pt x="57" y="44"/>
                    </a:moveTo>
                    <a:cubicBezTo>
                      <a:pt x="56" y="44"/>
                      <a:pt x="55" y="44"/>
                      <a:pt x="53" y="43"/>
                    </a:cubicBezTo>
                    <a:cubicBezTo>
                      <a:pt x="53" y="40"/>
                      <a:pt x="53" y="38"/>
                      <a:pt x="53" y="38"/>
                    </a:cubicBezTo>
                    <a:cubicBezTo>
                      <a:pt x="51" y="38"/>
                      <a:pt x="48" y="38"/>
                      <a:pt x="44" y="39"/>
                    </a:cubicBezTo>
                    <a:cubicBezTo>
                      <a:pt x="43" y="39"/>
                      <a:pt x="43" y="39"/>
                      <a:pt x="42" y="39"/>
                    </a:cubicBezTo>
                    <a:cubicBezTo>
                      <a:pt x="42" y="38"/>
                      <a:pt x="42" y="37"/>
                      <a:pt x="42" y="36"/>
                    </a:cubicBezTo>
                    <a:cubicBezTo>
                      <a:pt x="43" y="34"/>
                      <a:pt x="45" y="32"/>
                      <a:pt x="48" y="31"/>
                    </a:cubicBezTo>
                    <a:cubicBezTo>
                      <a:pt x="50" y="31"/>
                      <a:pt x="51" y="31"/>
                      <a:pt x="51" y="30"/>
                    </a:cubicBezTo>
                    <a:cubicBezTo>
                      <a:pt x="52" y="26"/>
                      <a:pt x="53" y="23"/>
                      <a:pt x="52" y="22"/>
                    </a:cubicBezTo>
                    <a:cubicBezTo>
                      <a:pt x="52" y="22"/>
                      <a:pt x="51" y="22"/>
                      <a:pt x="49" y="22"/>
                    </a:cubicBezTo>
                    <a:cubicBezTo>
                      <a:pt x="46" y="23"/>
                      <a:pt x="44" y="23"/>
                      <a:pt x="43" y="23"/>
                    </a:cubicBezTo>
                    <a:cubicBezTo>
                      <a:pt x="43" y="23"/>
                      <a:pt x="43" y="22"/>
                      <a:pt x="43" y="21"/>
                    </a:cubicBezTo>
                    <a:cubicBezTo>
                      <a:pt x="43" y="20"/>
                      <a:pt x="43" y="20"/>
                      <a:pt x="44" y="19"/>
                    </a:cubicBezTo>
                    <a:cubicBezTo>
                      <a:pt x="47" y="17"/>
                      <a:pt x="50" y="15"/>
                      <a:pt x="52" y="14"/>
                    </a:cubicBezTo>
                    <a:cubicBezTo>
                      <a:pt x="55" y="14"/>
                      <a:pt x="57" y="16"/>
                      <a:pt x="58" y="21"/>
                    </a:cubicBezTo>
                    <a:cubicBezTo>
                      <a:pt x="58" y="23"/>
                      <a:pt x="58" y="25"/>
                      <a:pt x="58" y="28"/>
                    </a:cubicBezTo>
                    <a:cubicBezTo>
                      <a:pt x="58" y="38"/>
                      <a:pt x="58" y="43"/>
                      <a:pt x="57" y="44"/>
                    </a:cubicBezTo>
                    <a:close/>
                    <a:moveTo>
                      <a:pt x="44" y="65"/>
                    </a:moveTo>
                    <a:cubicBezTo>
                      <a:pt x="47" y="67"/>
                      <a:pt x="47" y="71"/>
                      <a:pt x="46" y="77"/>
                    </a:cubicBezTo>
                    <a:cubicBezTo>
                      <a:pt x="46" y="79"/>
                      <a:pt x="46" y="80"/>
                      <a:pt x="46" y="82"/>
                    </a:cubicBezTo>
                    <a:cubicBezTo>
                      <a:pt x="43" y="80"/>
                      <a:pt x="40" y="78"/>
                      <a:pt x="37" y="75"/>
                    </a:cubicBezTo>
                    <a:cubicBezTo>
                      <a:pt x="37" y="74"/>
                      <a:pt x="37" y="74"/>
                      <a:pt x="37" y="73"/>
                    </a:cubicBezTo>
                    <a:cubicBezTo>
                      <a:pt x="38" y="69"/>
                      <a:pt x="39" y="66"/>
                      <a:pt x="40" y="65"/>
                    </a:cubicBezTo>
                    <a:cubicBezTo>
                      <a:pt x="44" y="65"/>
                      <a:pt x="44" y="65"/>
                      <a:pt x="44" y="65"/>
                    </a:cubicBezTo>
                    <a:close/>
                    <a:moveTo>
                      <a:pt x="198" y="13"/>
                    </a:moveTo>
                    <a:cubicBezTo>
                      <a:pt x="199" y="26"/>
                      <a:pt x="200" y="40"/>
                      <a:pt x="200" y="56"/>
                    </a:cubicBezTo>
                    <a:cubicBezTo>
                      <a:pt x="201" y="71"/>
                      <a:pt x="201" y="84"/>
                      <a:pt x="200" y="95"/>
                    </a:cubicBezTo>
                    <a:cubicBezTo>
                      <a:pt x="200" y="97"/>
                      <a:pt x="199" y="98"/>
                      <a:pt x="197" y="98"/>
                    </a:cubicBezTo>
                    <a:cubicBezTo>
                      <a:pt x="192" y="98"/>
                      <a:pt x="187" y="97"/>
                      <a:pt x="182" y="95"/>
                    </a:cubicBezTo>
                    <a:cubicBezTo>
                      <a:pt x="182" y="95"/>
                      <a:pt x="181" y="95"/>
                      <a:pt x="181" y="95"/>
                    </a:cubicBezTo>
                    <a:cubicBezTo>
                      <a:pt x="181" y="96"/>
                      <a:pt x="182" y="97"/>
                      <a:pt x="182" y="97"/>
                    </a:cubicBezTo>
                    <a:cubicBezTo>
                      <a:pt x="184" y="99"/>
                      <a:pt x="187" y="102"/>
                      <a:pt x="192" y="105"/>
                    </a:cubicBezTo>
                    <a:cubicBezTo>
                      <a:pt x="194" y="106"/>
                      <a:pt x="195" y="107"/>
                      <a:pt x="195" y="107"/>
                    </a:cubicBezTo>
                    <a:cubicBezTo>
                      <a:pt x="196" y="107"/>
                      <a:pt x="198" y="108"/>
                      <a:pt x="200" y="109"/>
                    </a:cubicBezTo>
                    <a:cubicBezTo>
                      <a:pt x="203" y="110"/>
                      <a:pt x="205" y="111"/>
                      <a:pt x="207" y="112"/>
                    </a:cubicBezTo>
                    <a:cubicBezTo>
                      <a:pt x="209" y="113"/>
                      <a:pt x="211" y="112"/>
                      <a:pt x="211" y="109"/>
                    </a:cubicBezTo>
                    <a:cubicBezTo>
                      <a:pt x="209" y="94"/>
                      <a:pt x="208" y="66"/>
                      <a:pt x="208" y="27"/>
                    </a:cubicBezTo>
                    <a:cubicBezTo>
                      <a:pt x="208" y="24"/>
                      <a:pt x="209" y="21"/>
                      <a:pt x="211" y="17"/>
                    </a:cubicBezTo>
                    <a:cubicBezTo>
                      <a:pt x="212" y="15"/>
                      <a:pt x="209" y="12"/>
                      <a:pt x="202" y="11"/>
                    </a:cubicBezTo>
                    <a:cubicBezTo>
                      <a:pt x="199" y="10"/>
                      <a:pt x="198" y="11"/>
                      <a:pt x="198" y="13"/>
                    </a:cubicBezTo>
                    <a:close/>
                    <a:moveTo>
                      <a:pt x="118" y="71"/>
                    </a:moveTo>
                    <a:cubicBezTo>
                      <a:pt x="117" y="72"/>
                      <a:pt x="117" y="73"/>
                      <a:pt x="117" y="73"/>
                    </a:cubicBezTo>
                    <a:cubicBezTo>
                      <a:pt x="117" y="74"/>
                      <a:pt x="118" y="74"/>
                      <a:pt x="119" y="73"/>
                    </a:cubicBezTo>
                    <a:cubicBezTo>
                      <a:pt x="125" y="72"/>
                      <a:pt x="131" y="68"/>
                      <a:pt x="137" y="61"/>
                    </a:cubicBezTo>
                    <a:cubicBezTo>
                      <a:pt x="138" y="61"/>
                      <a:pt x="138" y="59"/>
                      <a:pt x="137" y="56"/>
                    </a:cubicBezTo>
                    <a:cubicBezTo>
                      <a:pt x="136" y="55"/>
                      <a:pt x="138" y="52"/>
                      <a:pt x="143" y="45"/>
                    </a:cubicBezTo>
                    <a:cubicBezTo>
                      <a:pt x="147" y="38"/>
                      <a:pt x="151" y="34"/>
                      <a:pt x="153" y="33"/>
                    </a:cubicBezTo>
                    <a:cubicBezTo>
                      <a:pt x="154" y="32"/>
                      <a:pt x="155" y="33"/>
                      <a:pt x="157" y="34"/>
                    </a:cubicBezTo>
                    <a:cubicBezTo>
                      <a:pt x="157" y="35"/>
                      <a:pt x="158" y="35"/>
                      <a:pt x="157" y="35"/>
                    </a:cubicBezTo>
                    <a:cubicBezTo>
                      <a:pt x="160" y="38"/>
                      <a:pt x="162" y="39"/>
                      <a:pt x="164" y="39"/>
                    </a:cubicBezTo>
                    <a:cubicBezTo>
                      <a:pt x="166" y="39"/>
                      <a:pt x="167" y="38"/>
                      <a:pt x="169" y="36"/>
                    </a:cubicBezTo>
                    <a:cubicBezTo>
                      <a:pt x="169" y="36"/>
                      <a:pt x="169" y="35"/>
                      <a:pt x="169" y="35"/>
                    </a:cubicBezTo>
                    <a:cubicBezTo>
                      <a:pt x="170" y="35"/>
                      <a:pt x="170" y="35"/>
                      <a:pt x="171" y="34"/>
                    </a:cubicBezTo>
                    <a:cubicBezTo>
                      <a:pt x="173" y="32"/>
                      <a:pt x="174" y="31"/>
                      <a:pt x="174" y="30"/>
                    </a:cubicBezTo>
                    <a:cubicBezTo>
                      <a:pt x="175" y="29"/>
                      <a:pt x="174" y="29"/>
                      <a:pt x="171" y="28"/>
                    </a:cubicBezTo>
                    <a:cubicBezTo>
                      <a:pt x="164" y="28"/>
                      <a:pt x="159" y="28"/>
                      <a:pt x="156" y="27"/>
                    </a:cubicBezTo>
                    <a:cubicBezTo>
                      <a:pt x="156" y="26"/>
                      <a:pt x="156" y="26"/>
                      <a:pt x="156" y="25"/>
                    </a:cubicBezTo>
                    <a:cubicBezTo>
                      <a:pt x="158" y="23"/>
                      <a:pt x="159" y="22"/>
                      <a:pt x="160" y="20"/>
                    </a:cubicBezTo>
                    <a:cubicBezTo>
                      <a:pt x="161" y="20"/>
                      <a:pt x="161" y="19"/>
                      <a:pt x="160" y="18"/>
                    </a:cubicBezTo>
                    <a:cubicBezTo>
                      <a:pt x="160" y="18"/>
                      <a:pt x="160" y="18"/>
                      <a:pt x="160" y="18"/>
                    </a:cubicBezTo>
                    <a:cubicBezTo>
                      <a:pt x="155" y="13"/>
                      <a:pt x="152" y="12"/>
                      <a:pt x="150" y="15"/>
                    </a:cubicBezTo>
                    <a:cubicBezTo>
                      <a:pt x="150" y="16"/>
                      <a:pt x="149" y="19"/>
                      <a:pt x="147" y="22"/>
                    </a:cubicBezTo>
                    <a:cubicBezTo>
                      <a:pt x="146" y="24"/>
                      <a:pt x="146" y="26"/>
                      <a:pt x="145" y="27"/>
                    </a:cubicBezTo>
                    <a:cubicBezTo>
                      <a:pt x="138" y="41"/>
                      <a:pt x="134" y="49"/>
                      <a:pt x="132" y="52"/>
                    </a:cubicBezTo>
                    <a:cubicBezTo>
                      <a:pt x="125" y="60"/>
                      <a:pt x="120" y="66"/>
                      <a:pt x="118" y="71"/>
                    </a:cubicBezTo>
                    <a:close/>
                    <a:moveTo>
                      <a:pt x="181" y="70"/>
                    </a:moveTo>
                    <a:cubicBezTo>
                      <a:pt x="179" y="69"/>
                      <a:pt x="179" y="67"/>
                      <a:pt x="178" y="62"/>
                    </a:cubicBezTo>
                    <a:cubicBezTo>
                      <a:pt x="178" y="56"/>
                      <a:pt x="178" y="50"/>
                      <a:pt x="177" y="45"/>
                    </a:cubicBezTo>
                    <a:cubicBezTo>
                      <a:pt x="177" y="41"/>
                      <a:pt x="178" y="39"/>
                      <a:pt x="180" y="39"/>
                    </a:cubicBezTo>
                    <a:cubicBezTo>
                      <a:pt x="181" y="39"/>
                      <a:pt x="182" y="39"/>
                      <a:pt x="184" y="40"/>
                    </a:cubicBezTo>
                    <a:cubicBezTo>
                      <a:pt x="185" y="41"/>
                      <a:pt x="186" y="41"/>
                      <a:pt x="187" y="41"/>
                    </a:cubicBezTo>
                    <a:cubicBezTo>
                      <a:pt x="188" y="42"/>
                      <a:pt x="189" y="43"/>
                      <a:pt x="188" y="45"/>
                    </a:cubicBezTo>
                    <a:cubicBezTo>
                      <a:pt x="187" y="47"/>
                      <a:pt x="187" y="52"/>
                      <a:pt x="187" y="59"/>
                    </a:cubicBezTo>
                    <a:cubicBezTo>
                      <a:pt x="186" y="66"/>
                      <a:pt x="184" y="70"/>
                      <a:pt x="181" y="70"/>
                    </a:cubicBezTo>
                    <a:close/>
                    <a:moveTo>
                      <a:pt x="140" y="59"/>
                    </a:moveTo>
                    <a:cubicBezTo>
                      <a:pt x="139" y="57"/>
                      <a:pt x="142" y="54"/>
                      <a:pt x="146" y="51"/>
                    </a:cubicBezTo>
                    <a:cubicBezTo>
                      <a:pt x="150" y="49"/>
                      <a:pt x="154" y="48"/>
                      <a:pt x="157" y="47"/>
                    </a:cubicBezTo>
                    <a:cubicBezTo>
                      <a:pt x="161" y="47"/>
                      <a:pt x="165" y="48"/>
                      <a:pt x="167" y="49"/>
                    </a:cubicBezTo>
                    <a:cubicBezTo>
                      <a:pt x="169" y="50"/>
                      <a:pt x="169" y="51"/>
                      <a:pt x="168" y="51"/>
                    </a:cubicBezTo>
                    <a:cubicBezTo>
                      <a:pt x="166" y="55"/>
                      <a:pt x="164" y="60"/>
                      <a:pt x="164" y="68"/>
                    </a:cubicBezTo>
                    <a:cubicBezTo>
                      <a:pt x="164" y="71"/>
                      <a:pt x="164" y="74"/>
                      <a:pt x="163" y="76"/>
                    </a:cubicBezTo>
                    <a:cubicBezTo>
                      <a:pt x="162" y="78"/>
                      <a:pt x="162" y="78"/>
                      <a:pt x="161" y="78"/>
                    </a:cubicBezTo>
                    <a:cubicBezTo>
                      <a:pt x="158" y="78"/>
                      <a:pt x="156" y="76"/>
                      <a:pt x="152" y="74"/>
                    </a:cubicBezTo>
                    <a:cubicBezTo>
                      <a:pt x="151" y="74"/>
                      <a:pt x="150" y="74"/>
                      <a:pt x="147" y="74"/>
                    </a:cubicBezTo>
                    <a:cubicBezTo>
                      <a:pt x="149" y="74"/>
                      <a:pt x="148" y="74"/>
                      <a:pt x="146" y="73"/>
                    </a:cubicBezTo>
                    <a:cubicBezTo>
                      <a:pt x="145" y="73"/>
                      <a:pt x="144" y="74"/>
                      <a:pt x="144" y="77"/>
                    </a:cubicBezTo>
                    <a:cubicBezTo>
                      <a:pt x="144" y="84"/>
                      <a:pt x="145" y="89"/>
                      <a:pt x="146" y="90"/>
                    </a:cubicBezTo>
                    <a:cubicBezTo>
                      <a:pt x="148" y="91"/>
                      <a:pt x="150" y="92"/>
                      <a:pt x="152" y="92"/>
                    </a:cubicBezTo>
                    <a:cubicBezTo>
                      <a:pt x="152" y="92"/>
                      <a:pt x="153" y="92"/>
                      <a:pt x="153" y="92"/>
                    </a:cubicBezTo>
                    <a:cubicBezTo>
                      <a:pt x="157" y="92"/>
                      <a:pt x="160" y="91"/>
                      <a:pt x="161" y="89"/>
                    </a:cubicBezTo>
                    <a:cubicBezTo>
                      <a:pt x="163" y="87"/>
                      <a:pt x="164" y="84"/>
                      <a:pt x="165" y="78"/>
                    </a:cubicBezTo>
                    <a:cubicBezTo>
                      <a:pt x="165" y="77"/>
                      <a:pt x="166" y="77"/>
                      <a:pt x="167" y="78"/>
                    </a:cubicBezTo>
                    <a:cubicBezTo>
                      <a:pt x="169" y="83"/>
                      <a:pt x="171" y="89"/>
                      <a:pt x="172" y="96"/>
                    </a:cubicBezTo>
                    <a:cubicBezTo>
                      <a:pt x="173" y="99"/>
                      <a:pt x="173" y="100"/>
                      <a:pt x="172" y="101"/>
                    </a:cubicBezTo>
                    <a:cubicBezTo>
                      <a:pt x="170" y="101"/>
                      <a:pt x="167" y="102"/>
                      <a:pt x="162" y="102"/>
                    </a:cubicBezTo>
                    <a:cubicBezTo>
                      <a:pt x="154" y="102"/>
                      <a:pt x="148" y="102"/>
                      <a:pt x="145" y="101"/>
                    </a:cubicBezTo>
                    <a:cubicBezTo>
                      <a:pt x="142" y="98"/>
                      <a:pt x="141" y="95"/>
                      <a:pt x="140" y="90"/>
                    </a:cubicBezTo>
                    <a:cubicBezTo>
                      <a:pt x="139" y="85"/>
                      <a:pt x="138" y="79"/>
                      <a:pt x="139" y="74"/>
                    </a:cubicBezTo>
                    <a:cubicBezTo>
                      <a:pt x="139" y="71"/>
                      <a:pt x="140" y="67"/>
                      <a:pt x="140" y="63"/>
                    </a:cubicBezTo>
                    <a:cubicBezTo>
                      <a:pt x="140" y="61"/>
                      <a:pt x="140" y="60"/>
                      <a:pt x="140" y="59"/>
                    </a:cubicBezTo>
                    <a:close/>
                    <a:moveTo>
                      <a:pt x="156" y="67"/>
                    </a:moveTo>
                    <a:cubicBezTo>
                      <a:pt x="155" y="68"/>
                      <a:pt x="153" y="69"/>
                      <a:pt x="150" y="69"/>
                    </a:cubicBezTo>
                    <a:cubicBezTo>
                      <a:pt x="147" y="69"/>
                      <a:pt x="145" y="68"/>
                      <a:pt x="145" y="66"/>
                    </a:cubicBezTo>
                    <a:cubicBezTo>
                      <a:pt x="145" y="63"/>
                      <a:pt x="146" y="60"/>
                      <a:pt x="147" y="57"/>
                    </a:cubicBezTo>
                    <a:cubicBezTo>
                      <a:pt x="148" y="55"/>
                      <a:pt x="150" y="54"/>
                      <a:pt x="152" y="54"/>
                    </a:cubicBezTo>
                    <a:cubicBezTo>
                      <a:pt x="154" y="54"/>
                      <a:pt x="156" y="54"/>
                      <a:pt x="156" y="55"/>
                    </a:cubicBezTo>
                    <a:cubicBezTo>
                      <a:pt x="156" y="59"/>
                      <a:pt x="156" y="63"/>
                      <a:pt x="156" y="67"/>
                    </a:cubicBezTo>
                    <a:close/>
                    <a:moveTo>
                      <a:pt x="282" y="20"/>
                    </a:moveTo>
                    <a:cubicBezTo>
                      <a:pt x="286" y="20"/>
                      <a:pt x="286" y="17"/>
                      <a:pt x="283" y="11"/>
                    </a:cubicBezTo>
                    <a:cubicBezTo>
                      <a:pt x="283" y="10"/>
                      <a:pt x="282" y="8"/>
                      <a:pt x="281" y="6"/>
                    </a:cubicBezTo>
                    <a:cubicBezTo>
                      <a:pt x="280" y="4"/>
                      <a:pt x="280" y="3"/>
                      <a:pt x="280" y="1"/>
                    </a:cubicBezTo>
                    <a:cubicBezTo>
                      <a:pt x="279" y="0"/>
                      <a:pt x="278" y="1"/>
                      <a:pt x="276" y="2"/>
                    </a:cubicBezTo>
                    <a:cubicBezTo>
                      <a:pt x="273" y="6"/>
                      <a:pt x="272" y="10"/>
                      <a:pt x="272" y="13"/>
                    </a:cubicBezTo>
                    <a:cubicBezTo>
                      <a:pt x="273" y="16"/>
                      <a:pt x="276" y="19"/>
                      <a:pt x="282" y="20"/>
                    </a:cubicBezTo>
                    <a:close/>
                    <a:moveTo>
                      <a:pt x="282" y="48"/>
                    </a:moveTo>
                    <a:cubicBezTo>
                      <a:pt x="282" y="47"/>
                      <a:pt x="284" y="45"/>
                      <a:pt x="287" y="42"/>
                    </a:cubicBezTo>
                    <a:cubicBezTo>
                      <a:pt x="287" y="42"/>
                      <a:pt x="288" y="41"/>
                      <a:pt x="289" y="41"/>
                    </a:cubicBezTo>
                    <a:cubicBezTo>
                      <a:pt x="290" y="40"/>
                      <a:pt x="291" y="39"/>
                      <a:pt x="292" y="37"/>
                    </a:cubicBezTo>
                    <a:cubicBezTo>
                      <a:pt x="292" y="36"/>
                      <a:pt x="291" y="35"/>
                      <a:pt x="287" y="34"/>
                    </a:cubicBezTo>
                    <a:cubicBezTo>
                      <a:pt x="286" y="34"/>
                      <a:pt x="286" y="33"/>
                      <a:pt x="286" y="33"/>
                    </a:cubicBezTo>
                    <a:cubicBezTo>
                      <a:pt x="285" y="33"/>
                      <a:pt x="285" y="33"/>
                      <a:pt x="286" y="32"/>
                    </a:cubicBezTo>
                    <a:cubicBezTo>
                      <a:pt x="286" y="32"/>
                      <a:pt x="287" y="32"/>
                      <a:pt x="288" y="31"/>
                    </a:cubicBezTo>
                    <a:cubicBezTo>
                      <a:pt x="290" y="31"/>
                      <a:pt x="290" y="30"/>
                      <a:pt x="290" y="30"/>
                    </a:cubicBezTo>
                    <a:cubicBezTo>
                      <a:pt x="292" y="30"/>
                      <a:pt x="292" y="29"/>
                      <a:pt x="292" y="28"/>
                    </a:cubicBezTo>
                    <a:cubicBezTo>
                      <a:pt x="292" y="28"/>
                      <a:pt x="292" y="27"/>
                      <a:pt x="291" y="25"/>
                    </a:cubicBezTo>
                    <a:cubicBezTo>
                      <a:pt x="291" y="24"/>
                      <a:pt x="288" y="23"/>
                      <a:pt x="285" y="25"/>
                    </a:cubicBezTo>
                    <a:cubicBezTo>
                      <a:pt x="275" y="27"/>
                      <a:pt x="266" y="30"/>
                      <a:pt x="256" y="32"/>
                    </a:cubicBezTo>
                    <a:cubicBezTo>
                      <a:pt x="255" y="32"/>
                      <a:pt x="255" y="32"/>
                      <a:pt x="255" y="33"/>
                    </a:cubicBezTo>
                    <a:cubicBezTo>
                      <a:pt x="255" y="34"/>
                      <a:pt x="255" y="36"/>
                      <a:pt x="257" y="40"/>
                    </a:cubicBezTo>
                    <a:cubicBezTo>
                      <a:pt x="260" y="38"/>
                      <a:pt x="262" y="37"/>
                      <a:pt x="264" y="36"/>
                    </a:cubicBezTo>
                    <a:cubicBezTo>
                      <a:pt x="265" y="36"/>
                      <a:pt x="266" y="36"/>
                      <a:pt x="265" y="37"/>
                    </a:cubicBezTo>
                    <a:cubicBezTo>
                      <a:pt x="265" y="38"/>
                      <a:pt x="264" y="40"/>
                      <a:pt x="263" y="42"/>
                    </a:cubicBezTo>
                    <a:cubicBezTo>
                      <a:pt x="262" y="44"/>
                      <a:pt x="261" y="45"/>
                      <a:pt x="261" y="46"/>
                    </a:cubicBezTo>
                    <a:cubicBezTo>
                      <a:pt x="260" y="48"/>
                      <a:pt x="260" y="49"/>
                      <a:pt x="261" y="50"/>
                    </a:cubicBezTo>
                    <a:cubicBezTo>
                      <a:pt x="262" y="51"/>
                      <a:pt x="263" y="51"/>
                      <a:pt x="264" y="50"/>
                    </a:cubicBezTo>
                    <a:cubicBezTo>
                      <a:pt x="264" y="50"/>
                      <a:pt x="264" y="50"/>
                      <a:pt x="264" y="50"/>
                    </a:cubicBezTo>
                    <a:cubicBezTo>
                      <a:pt x="266" y="49"/>
                      <a:pt x="267" y="48"/>
                      <a:pt x="269" y="45"/>
                    </a:cubicBezTo>
                    <a:cubicBezTo>
                      <a:pt x="271" y="42"/>
                      <a:pt x="272" y="40"/>
                      <a:pt x="274" y="39"/>
                    </a:cubicBezTo>
                    <a:cubicBezTo>
                      <a:pt x="275" y="37"/>
                      <a:pt x="276" y="36"/>
                      <a:pt x="277" y="36"/>
                    </a:cubicBezTo>
                    <a:cubicBezTo>
                      <a:pt x="278" y="37"/>
                      <a:pt x="278" y="38"/>
                      <a:pt x="278" y="39"/>
                    </a:cubicBezTo>
                    <a:cubicBezTo>
                      <a:pt x="278" y="39"/>
                      <a:pt x="278" y="40"/>
                      <a:pt x="278" y="40"/>
                    </a:cubicBezTo>
                    <a:cubicBezTo>
                      <a:pt x="277" y="45"/>
                      <a:pt x="275" y="48"/>
                      <a:pt x="273" y="50"/>
                    </a:cubicBezTo>
                    <a:cubicBezTo>
                      <a:pt x="272" y="50"/>
                      <a:pt x="270" y="51"/>
                      <a:pt x="266" y="53"/>
                    </a:cubicBezTo>
                    <a:cubicBezTo>
                      <a:pt x="260" y="55"/>
                      <a:pt x="256" y="56"/>
                      <a:pt x="253" y="57"/>
                    </a:cubicBezTo>
                    <a:cubicBezTo>
                      <a:pt x="252" y="56"/>
                      <a:pt x="251" y="57"/>
                      <a:pt x="251" y="58"/>
                    </a:cubicBezTo>
                    <a:cubicBezTo>
                      <a:pt x="252" y="61"/>
                      <a:pt x="253" y="64"/>
                      <a:pt x="255" y="65"/>
                    </a:cubicBezTo>
                    <a:cubicBezTo>
                      <a:pt x="255" y="66"/>
                      <a:pt x="256" y="66"/>
                      <a:pt x="257" y="65"/>
                    </a:cubicBezTo>
                    <a:cubicBezTo>
                      <a:pt x="257" y="65"/>
                      <a:pt x="258" y="64"/>
                      <a:pt x="258" y="64"/>
                    </a:cubicBezTo>
                    <a:cubicBezTo>
                      <a:pt x="264" y="63"/>
                      <a:pt x="267" y="62"/>
                      <a:pt x="268" y="62"/>
                    </a:cubicBezTo>
                    <a:cubicBezTo>
                      <a:pt x="269" y="62"/>
                      <a:pt x="270" y="62"/>
                      <a:pt x="270" y="63"/>
                    </a:cubicBezTo>
                    <a:cubicBezTo>
                      <a:pt x="270" y="64"/>
                      <a:pt x="270" y="65"/>
                      <a:pt x="270" y="66"/>
                    </a:cubicBezTo>
                    <a:cubicBezTo>
                      <a:pt x="264" y="66"/>
                      <a:pt x="260" y="68"/>
                      <a:pt x="258" y="70"/>
                    </a:cubicBezTo>
                    <a:cubicBezTo>
                      <a:pt x="242" y="76"/>
                      <a:pt x="242" y="76"/>
                      <a:pt x="242" y="76"/>
                    </a:cubicBezTo>
                    <a:cubicBezTo>
                      <a:pt x="241" y="75"/>
                      <a:pt x="241" y="75"/>
                      <a:pt x="241" y="75"/>
                    </a:cubicBezTo>
                    <a:cubicBezTo>
                      <a:pt x="241" y="75"/>
                      <a:pt x="240" y="76"/>
                      <a:pt x="240" y="77"/>
                    </a:cubicBezTo>
                    <a:cubicBezTo>
                      <a:pt x="240" y="77"/>
                      <a:pt x="241" y="78"/>
                      <a:pt x="242" y="80"/>
                    </a:cubicBezTo>
                    <a:cubicBezTo>
                      <a:pt x="244" y="82"/>
                      <a:pt x="245" y="83"/>
                      <a:pt x="245" y="83"/>
                    </a:cubicBezTo>
                    <a:cubicBezTo>
                      <a:pt x="247" y="81"/>
                      <a:pt x="249" y="79"/>
                      <a:pt x="253" y="78"/>
                    </a:cubicBezTo>
                    <a:cubicBezTo>
                      <a:pt x="255" y="78"/>
                      <a:pt x="256" y="78"/>
                      <a:pt x="257" y="77"/>
                    </a:cubicBezTo>
                    <a:cubicBezTo>
                      <a:pt x="258" y="76"/>
                      <a:pt x="258" y="77"/>
                      <a:pt x="257" y="78"/>
                    </a:cubicBezTo>
                    <a:cubicBezTo>
                      <a:pt x="255" y="81"/>
                      <a:pt x="252" y="84"/>
                      <a:pt x="249" y="89"/>
                    </a:cubicBezTo>
                    <a:cubicBezTo>
                      <a:pt x="248" y="92"/>
                      <a:pt x="246" y="94"/>
                      <a:pt x="245" y="95"/>
                    </a:cubicBezTo>
                    <a:cubicBezTo>
                      <a:pt x="245" y="95"/>
                      <a:pt x="245" y="96"/>
                      <a:pt x="245" y="97"/>
                    </a:cubicBezTo>
                    <a:cubicBezTo>
                      <a:pt x="248" y="99"/>
                      <a:pt x="251" y="100"/>
                      <a:pt x="252" y="101"/>
                    </a:cubicBezTo>
                    <a:cubicBezTo>
                      <a:pt x="253" y="102"/>
                      <a:pt x="254" y="101"/>
                      <a:pt x="255" y="100"/>
                    </a:cubicBezTo>
                    <a:cubicBezTo>
                      <a:pt x="255" y="100"/>
                      <a:pt x="255" y="99"/>
                      <a:pt x="256" y="98"/>
                    </a:cubicBezTo>
                    <a:cubicBezTo>
                      <a:pt x="257" y="96"/>
                      <a:pt x="258" y="94"/>
                      <a:pt x="259" y="93"/>
                    </a:cubicBezTo>
                    <a:cubicBezTo>
                      <a:pt x="266" y="100"/>
                      <a:pt x="272" y="104"/>
                      <a:pt x="275" y="106"/>
                    </a:cubicBezTo>
                    <a:cubicBezTo>
                      <a:pt x="276" y="106"/>
                      <a:pt x="277" y="106"/>
                      <a:pt x="277" y="105"/>
                    </a:cubicBezTo>
                    <a:cubicBezTo>
                      <a:pt x="277" y="98"/>
                      <a:pt x="277" y="92"/>
                      <a:pt x="276" y="86"/>
                    </a:cubicBezTo>
                    <a:cubicBezTo>
                      <a:pt x="276" y="85"/>
                      <a:pt x="276" y="85"/>
                      <a:pt x="277" y="85"/>
                    </a:cubicBezTo>
                    <a:cubicBezTo>
                      <a:pt x="281" y="85"/>
                      <a:pt x="283" y="85"/>
                      <a:pt x="284" y="85"/>
                    </a:cubicBezTo>
                    <a:cubicBezTo>
                      <a:pt x="285" y="85"/>
                      <a:pt x="286" y="84"/>
                      <a:pt x="286" y="82"/>
                    </a:cubicBezTo>
                    <a:cubicBezTo>
                      <a:pt x="286" y="79"/>
                      <a:pt x="284" y="78"/>
                      <a:pt x="280" y="76"/>
                    </a:cubicBezTo>
                    <a:cubicBezTo>
                      <a:pt x="279" y="75"/>
                      <a:pt x="278" y="75"/>
                      <a:pt x="277" y="74"/>
                    </a:cubicBezTo>
                    <a:cubicBezTo>
                      <a:pt x="277" y="73"/>
                      <a:pt x="277" y="72"/>
                      <a:pt x="278" y="72"/>
                    </a:cubicBezTo>
                    <a:cubicBezTo>
                      <a:pt x="278" y="72"/>
                      <a:pt x="279" y="72"/>
                      <a:pt x="281" y="72"/>
                    </a:cubicBezTo>
                    <a:cubicBezTo>
                      <a:pt x="285" y="71"/>
                      <a:pt x="289" y="70"/>
                      <a:pt x="291" y="69"/>
                    </a:cubicBezTo>
                    <a:cubicBezTo>
                      <a:pt x="292" y="68"/>
                      <a:pt x="292" y="67"/>
                      <a:pt x="292" y="67"/>
                    </a:cubicBezTo>
                    <a:cubicBezTo>
                      <a:pt x="291" y="65"/>
                      <a:pt x="290" y="63"/>
                      <a:pt x="288" y="61"/>
                    </a:cubicBezTo>
                    <a:cubicBezTo>
                      <a:pt x="287" y="60"/>
                      <a:pt x="285" y="61"/>
                      <a:pt x="281" y="62"/>
                    </a:cubicBezTo>
                    <a:cubicBezTo>
                      <a:pt x="280" y="63"/>
                      <a:pt x="280" y="63"/>
                      <a:pt x="280" y="63"/>
                    </a:cubicBezTo>
                    <a:cubicBezTo>
                      <a:pt x="280" y="60"/>
                      <a:pt x="280" y="60"/>
                      <a:pt x="280" y="60"/>
                    </a:cubicBezTo>
                    <a:cubicBezTo>
                      <a:pt x="280" y="59"/>
                      <a:pt x="280" y="59"/>
                      <a:pt x="281" y="58"/>
                    </a:cubicBezTo>
                    <a:cubicBezTo>
                      <a:pt x="281" y="58"/>
                      <a:pt x="281" y="58"/>
                      <a:pt x="281" y="58"/>
                    </a:cubicBezTo>
                    <a:cubicBezTo>
                      <a:pt x="282" y="58"/>
                      <a:pt x="283" y="57"/>
                      <a:pt x="285" y="56"/>
                    </a:cubicBezTo>
                    <a:cubicBezTo>
                      <a:pt x="287" y="55"/>
                      <a:pt x="288" y="55"/>
                      <a:pt x="289" y="54"/>
                    </a:cubicBezTo>
                    <a:cubicBezTo>
                      <a:pt x="291" y="53"/>
                      <a:pt x="291" y="51"/>
                      <a:pt x="289" y="48"/>
                    </a:cubicBezTo>
                    <a:cubicBezTo>
                      <a:pt x="282" y="48"/>
                      <a:pt x="282" y="48"/>
                      <a:pt x="282" y="48"/>
                    </a:cubicBezTo>
                    <a:close/>
                    <a:moveTo>
                      <a:pt x="308" y="61"/>
                    </a:moveTo>
                    <a:cubicBezTo>
                      <a:pt x="302" y="64"/>
                      <a:pt x="302" y="64"/>
                      <a:pt x="302" y="64"/>
                    </a:cubicBezTo>
                    <a:cubicBezTo>
                      <a:pt x="301" y="66"/>
                      <a:pt x="301" y="68"/>
                      <a:pt x="300" y="71"/>
                    </a:cubicBezTo>
                    <a:cubicBezTo>
                      <a:pt x="299" y="74"/>
                      <a:pt x="298" y="76"/>
                      <a:pt x="298" y="77"/>
                    </a:cubicBezTo>
                    <a:cubicBezTo>
                      <a:pt x="298" y="77"/>
                      <a:pt x="298" y="78"/>
                      <a:pt x="298" y="78"/>
                    </a:cubicBezTo>
                    <a:cubicBezTo>
                      <a:pt x="299" y="80"/>
                      <a:pt x="299" y="81"/>
                      <a:pt x="299" y="82"/>
                    </a:cubicBezTo>
                    <a:cubicBezTo>
                      <a:pt x="297" y="86"/>
                      <a:pt x="293" y="90"/>
                      <a:pt x="287" y="93"/>
                    </a:cubicBezTo>
                    <a:cubicBezTo>
                      <a:pt x="287" y="93"/>
                      <a:pt x="287" y="93"/>
                      <a:pt x="286" y="93"/>
                    </a:cubicBezTo>
                    <a:cubicBezTo>
                      <a:pt x="283" y="95"/>
                      <a:pt x="282" y="95"/>
                      <a:pt x="282" y="94"/>
                    </a:cubicBezTo>
                    <a:cubicBezTo>
                      <a:pt x="282" y="94"/>
                      <a:pt x="282" y="94"/>
                      <a:pt x="283" y="93"/>
                    </a:cubicBezTo>
                    <a:cubicBezTo>
                      <a:pt x="289" y="84"/>
                      <a:pt x="293" y="75"/>
                      <a:pt x="295" y="66"/>
                    </a:cubicBezTo>
                    <a:cubicBezTo>
                      <a:pt x="297" y="58"/>
                      <a:pt x="298" y="48"/>
                      <a:pt x="297" y="36"/>
                    </a:cubicBezTo>
                    <a:cubicBezTo>
                      <a:pt x="297" y="35"/>
                      <a:pt x="298" y="34"/>
                      <a:pt x="299" y="34"/>
                    </a:cubicBezTo>
                    <a:cubicBezTo>
                      <a:pt x="302" y="33"/>
                      <a:pt x="306" y="31"/>
                      <a:pt x="312" y="30"/>
                    </a:cubicBezTo>
                    <a:cubicBezTo>
                      <a:pt x="314" y="29"/>
                      <a:pt x="315" y="29"/>
                      <a:pt x="316" y="29"/>
                    </a:cubicBezTo>
                    <a:cubicBezTo>
                      <a:pt x="320" y="27"/>
                      <a:pt x="323" y="25"/>
                      <a:pt x="325" y="23"/>
                    </a:cubicBezTo>
                    <a:cubicBezTo>
                      <a:pt x="328" y="26"/>
                      <a:pt x="329" y="30"/>
                      <a:pt x="329" y="33"/>
                    </a:cubicBezTo>
                    <a:cubicBezTo>
                      <a:pt x="329" y="34"/>
                      <a:pt x="328" y="34"/>
                      <a:pt x="326" y="35"/>
                    </a:cubicBezTo>
                    <a:cubicBezTo>
                      <a:pt x="325" y="36"/>
                      <a:pt x="324" y="36"/>
                      <a:pt x="324" y="36"/>
                    </a:cubicBezTo>
                    <a:cubicBezTo>
                      <a:pt x="323" y="37"/>
                      <a:pt x="318" y="39"/>
                      <a:pt x="312" y="40"/>
                    </a:cubicBezTo>
                    <a:cubicBezTo>
                      <a:pt x="309" y="40"/>
                      <a:pt x="307" y="41"/>
                      <a:pt x="307" y="41"/>
                    </a:cubicBezTo>
                    <a:cubicBezTo>
                      <a:pt x="305" y="46"/>
                      <a:pt x="303" y="50"/>
                      <a:pt x="303" y="53"/>
                    </a:cubicBezTo>
                    <a:cubicBezTo>
                      <a:pt x="303" y="54"/>
                      <a:pt x="304" y="54"/>
                      <a:pt x="305" y="54"/>
                    </a:cubicBezTo>
                    <a:cubicBezTo>
                      <a:pt x="315" y="51"/>
                      <a:pt x="325" y="48"/>
                      <a:pt x="335" y="46"/>
                    </a:cubicBezTo>
                    <a:cubicBezTo>
                      <a:pt x="336" y="45"/>
                      <a:pt x="337" y="46"/>
                      <a:pt x="337" y="46"/>
                    </a:cubicBezTo>
                    <a:cubicBezTo>
                      <a:pt x="339" y="50"/>
                      <a:pt x="341" y="54"/>
                      <a:pt x="342" y="58"/>
                    </a:cubicBezTo>
                    <a:cubicBezTo>
                      <a:pt x="342" y="59"/>
                      <a:pt x="342" y="60"/>
                      <a:pt x="341" y="61"/>
                    </a:cubicBezTo>
                    <a:cubicBezTo>
                      <a:pt x="340" y="60"/>
                      <a:pt x="339" y="60"/>
                      <a:pt x="338" y="60"/>
                    </a:cubicBezTo>
                    <a:cubicBezTo>
                      <a:pt x="337" y="61"/>
                      <a:pt x="336" y="61"/>
                      <a:pt x="336" y="61"/>
                    </a:cubicBezTo>
                    <a:cubicBezTo>
                      <a:pt x="333" y="60"/>
                      <a:pt x="330" y="60"/>
                      <a:pt x="327" y="60"/>
                    </a:cubicBezTo>
                    <a:cubicBezTo>
                      <a:pt x="325" y="60"/>
                      <a:pt x="324" y="60"/>
                      <a:pt x="324" y="60"/>
                    </a:cubicBezTo>
                    <a:cubicBezTo>
                      <a:pt x="322" y="71"/>
                      <a:pt x="321" y="82"/>
                      <a:pt x="322" y="92"/>
                    </a:cubicBezTo>
                    <a:cubicBezTo>
                      <a:pt x="322" y="94"/>
                      <a:pt x="322" y="95"/>
                      <a:pt x="322" y="95"/>
                    </a:cubicBezTo>
                    <a:cubicBezTo>
                      <a:pt x="322" y="96"/>
                      <a:pt x="321" y="97"/>
                      <a:pt x="321" y="100"/>
                    </a:cubicBezTo>
                    <a:cubicBezTo>
                      <a:pt x="320" y="103"/>
                      <a:pt x="320" y="106"/>
                      <a:pt x="320" y="107"/>
                    </a:cubicBezTo>
                    <a:cubicBezTo>
                      <a:pt x="320" y="109"/>
                      <a:pt x="320" y="111"/>
                      <a:pt x="321" y="115"/>
                    </a:cubicBezTo>
                    <a:cubicBezTo>
                      <a:pt x="321" y="117"/>
                      <a:pt x="322" y="118"/>
                      <a:pt x="322" y="119"/>
                    </a:cubicBezTo>
                    <a:cubicBezTo>
                      <a:pt x="322" y="120"/>
                      <a:pt x="321" y="121"/>
                      <a:pt x="320" y="121"/>
                    </a:cubicBezTo>
                    <a:cubicBezTo>
                      <a:pt x="317" y="121"/>
                      <a:pt x="315" y="121"/>
                      <a:pt x="314" y="120"/>
                    </a:cubicBezTo>
                    <a:cubicBezTo>
                      <a:pt x="314" y="116"/>
                      <a:pt x="313" y="111"/>
                      <a:pt x="313" y="105"/>
                    </a:cubicBezTo>
                    <a:cubicBezTo>
                      <a:pt x="313" y="100"/>
                      <a:pt x="313" y="94"/>
                      <a:pt x="313" y="88"/>
                    </a:cubicBezTo>
                    <a:cubicBezTo>
                      <a:pt x="313" y="83"/>
                      <a:pt x="313" y="76"/>
                      <a:pt x="312" y="66"/>
                    </a:cubicBezTo>
                    <a:cubicBezTo>
                      <a:pt x="312" y="62"/>
                      <a:pt x="310" y="60"/>
                      <a:pt x="308" y="61"/>
                    </a:cubicBezTo>
                    <a:close/>
                    <a:moveTo>
                      <a:pt x="260" y="90"/>
                    </a:moveTo>
                    <a:cubicBezTo>
                      <a:pt x="261" y="85"/>
                      <a:pt x="261" y="81"/>
                      <a:pt x="261" y="77"/>
                    </a:cubicBezTo>
                    <a:cubicBezTo>
                      <a:pt x="261" y="77"/>
                      <a:pt x="262" y="76"/>
                      <a:pt x="263" y="76"/>
                    </a:cubicBezTo>
                    <a:cubicBezTo>
                      <a:pt x="265" y="76"/>
                      <a:pt x="267" y="76"/>
                      <a:pt x="269" y="75"/>
                    </a:cubicBezTo>
                    <a:cubicBezTo>
                      <a:pt x="271" y="82"/>
                      <a:pt x="271" y="87"/>
                      <a:pt x="269" y="92"/>
                    </a:cubicBezTo>
                    <a:cubicBezTo>
                      <a:pt x="269" y="93"/>
                      <a:pt x="269" y="93"/>
                      <a:pt x="267" y="93"/>
                    </a:cubicBezTo>
                    <a:cubicBezTo>
                      <a:pt x="267" y="93"/>
                      <a:pt x="265" y="93"/>
                      <a:pt x="263" y="92"/>
                    </a:cubicBezTo>
                    <a:cubicBezTo>
                      <a:pt x="262" y="92"/>
                      <a:pt x="261" y="92"/>
                      <a:pt x="261" y="92"/>
                    </a:cubicBezTo>
                    <a:cubicBezTo>
                      <a:pt x="261" y="92"/>
                      <a:pt x="260" y="91"/>
                      <a:pt x="260" y="91"/>
                    </a:cubicBezTo>
                    <a:cubicBezTo>
                      <a:pt x="260" y="91"/>
                      <a:pt x="260" y="91"/>
                      <a:pt x="260" y="9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9" name="îślïḓè"/>
              <p:cNvSpPr/>
              <p:nvPr/>
            </p:nvSpPr>
            <p:spPr bwMode="auto">
              <a:xfrm>
                <a:off x="2565401" y="2881313"/>
                <a:ext cx="1050925" cy="1093788"/>
              </a:xfrm>
              <a:prstGeom prst="ellipse">
                <a:avLst/>
              </a:prstGeom>
              <a:noFill/>
              <a:ln w="14288" cap="flat">
                <a:solidFill>
                  <a:schemeClr val="accent1"/>
                </a:solidFill>
                <a:prstDash val="solid"/>
                <a:rou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0" name="ïṡliḓe"/>
              <p:cNvSpPr/>
              <p:nvPr/>
            </p:nvSpPr>
            <p:spPr bwMode="auto">
              <a:xfrm>
                <a:off x="2451101" y="2881313"/>
                <a:ext cx="1277938" cy="1093788"/>
              </a:xfrm>
              <a:prstGeom prst="ellipse">
                <a:avLst/>
              </a:prstGeom>
              <a:noFill/>
              <a:ln w="15875" cap="flat">
                <a:solidFill>
                  <a:schemeClr val="accent1"/>
                </a:solidFill>
                <a:prstDash val="solid"/>
                <a:rou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1" name="íšḻíḋé"/>
              <p:cNvSpPr/>
              <p:nvPr/>
            </p:nvSpPr>
            <p:spPr bwMode="auto">
              <a:xfrm>
                <a:off x="2727326" y="2957513"/>
                <a:ext cx="727075" cy="20638"/>
              </a:xfrm>
              <a:custGeom>
                <a:avLst/>
                <a:gdLst>
                  <a:gd name="T0" fmla="*/ 879 w 928"/>
                  <a:gd name="T1" fmla="*/ 0 h 27"/>
                  <a:gd name="T2" fmla="*/ 928 w 928"/>
                  <a:gd name="T3" fmla="*/ 27 h 27"/>
                  <a:gd name="T4" fmla="*/ 0 w 928"/>
                  <a:gd name="T5" fmla="*/ 27 h 27"/>
                  <a:gd name="T6" fmla="*/ 49 w 928"/>
                  <a:gd name="T7" fmla="*/ 0 h 27"/>
                  <a:gd name="T8" fmla="*/ 879 w 928"/>
                  <a:gd name="T9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28" h="27">
                    <a:moveTo>
                      <a:pt x="879" y="0"/>
                    </a:moveTo>
                    <a:cubicBezTo>
                      <a:pt x="895" y="8"/>
                      <a:pt x="912" y="17"/>
                      <a:pt x="928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16" y="17"/>
                      <a:pt x="32" y="8"/>
                      <a:pt x="49" y="0"/>
                    </a:cubicBezTo>
                    <a:lnTo>
                      <a:pt x="87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2" name="îṡliḑè"/>
              <p:cNvSpPr/>
              <p:nvPr/>
            </p:nvSpPr>
            <p:spPr bwMode="auto">
              <a:xfrm>
                <a:off x="2735263" y="3881438"/>
                <a:ext cx="711200" cy="22225"/>
              </a:xfrm>
              <a:custGeom>
                <a:avLst/>
                <a:gdLst>
                  <a:gd name="T0" fmla="*/ 908 w 908"/>
                  <a:gd name="T1" fmla="*/ 0 h 27"/>
                  <a:gd name="T2" fmla="*/ 857 w 908"/>
                  <a:gd name="T3" fmla="*/ 27 h 27"/>
                  <a:gd name="T4" fmla="*/ 51 w 908"/>
                  <a:gd name="T5" fmla="*/ 27 h 27"/>
                  <a:gd name="T6" fmla="*/ 0 w 908"/>
                  <a:gd name="T7" fmla="*/ 0 h 27"/>
                  <a:gd name="T8" fmla="*/ 908 w 908"/>
                  <a:gd name="T9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08" h="27">
                    <a:moveTo>
                      <a:pt x="908" y="0"/>
                    </a:moveTo>
                    <a:cubicBezTo>
                      <a:pt x="891" y="9"/>
                      <a:pt x="874" y="18"/>
                      <a:pt x="857" y="27"/>
                    </a:cubicBezTo>
                    <a:cubicBezTo>
                      <a:pt x="51" y="27"/>
                      <a:pt x="51" y="27"/>
                      <a:pt x="51" y="27"/>
                    </a:cubicBezTo>
                    <a:cubicBezTo>
                      <a:pt x="33" y="18"/>
                      <a:pt x="16" y="9"/>
                      <a:pt x="0" y="0"/>
                    </a:cubicBezTo>
                    <a:lnTo>
                      <a:pt x="908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24" name="文本框 123"/>
          <p:cNvSpPr txBox="1"/>
          <p:nvPr userDrawn="1"/>
        </p:nvSpPr>
        <p:spPr>
          <a:xfrm>
            <a:off x="566643" y="6187578"/>
            <a:ext cx="42196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明德 厚学 求是 创新      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http://www.hust.edu.cn/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2" name="文本占位符 131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566643" y="2042329"/>
            <a:ext cx="5951538" cy="1605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5000" b="1" spc="3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</a:lstStyle>
          <a:p>
            <a:pPr marL="0" lvl="0"/>
            <a:r>
              <a:rPr lang="zh-CN" altLang="en-US" dirty="0"/>
              <a:t>请输入你的主题</a:t>
            </a:r>
          </a:p>
          <a:p>
            <a:pPr marL="0" lvl="0"/>
            <a:r>
              <a:rPr lang="zh-CN" altLang="en-US" dirty="0"/>
              <a:t>如果太长可以换行</a:t>
            </a:r>
          </a:p>
        </p:txBody>
      </p:sp>
      <p:sp>
        <p:nvSpPr>
          <p:cNvPr id="134" name="文本占位符 13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549709" y="3798299"/>
            <a:ext cx="6223041" cy="30777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pPr marL="0" lvl="0" indent="0">
              <a:buNone/>
            </a:pPr>
            <a:r>
              <a:rPr lang="en-US" altLang="zh-CN" dirty="0"/>
              <a:t>Please enter your English theme here</a:t>
            </a:r>
          </a:p>
        </p:txBody>
      </p:sp>
      <p:sp>
        <p:nvSpPr>
          <p:cNvPr id="125" name="矩形: 圆角 124"/>
          <p:cNvSpPr/>
          <p:nvPr userDrawn="1"/>
        </p:nvSpPr>
        <p:spPr>
          <a:xfrm>
            <a:off x="660399" y="4424679"/>
            <a:ext cx="1222829" cy="413159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答辩人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 hasCustomPrompt="1"/>
          </p:nvPr>
        </p:nvSpPr>
        <p:spPr>
          <a:xfrm>
            <a:off x="1976054" y="4474808"/>
            <a:ext cx="1132906" cy="3077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zh-CN" altLang="en-US" dirty="0"/>
              <a:t>月明</a:t>
            </a:r>
          </a:p>
        </p:txBody>
      </p:sp>
      <p:sp>
        <p:nvSpPr>
          <p:cNvPr id="126" name="矩形: 圆角 125"/>
          <p:cNvSpPr/>
          <p:nvPr userDrawn="1"/>
        </p:nvSpPr>
        <p:spPr>
          <a:xfrm>
            <a:off x="3480389" y="4424679"/>
            <a:ext cx="1418870" cy="413159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指导老师</a:t>
            </a:r>
          </a:p>
        </p:txBody>
      </p:sp>
      <p:sp>
        <p:nvSpPr>
          <p:cNvPr id="127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4982451" y="4474808"/>
            <a:ext cx="1132906" cy="3077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zh-CN" altLang="en-US" dirty="0"/>
              <a:t>某某某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占位符 9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5419250" cy="6858000"/>
          </a:xfrm>
          <a:custGeom>
            <a:avLst/>
            <a:gdLst>
              <a:gd name="connsiteX0" fmla="*/ 0 w 5419250"/>
              <a:gd name="connsiteY0" fmla="*/ 0 h 6858000"/>
              <a:gd name="connsiteX1" fmla="*/ 1990250 w 5419250"/>
              <a:gd name="connsiteY1" fmla="*/ 0 h 6858000"/>
              <a:gd name="connsiteX2" fmla="*/ 5419250 w 5419250"/>
              <a:gd name="connsiteY2" fmla="*/ 3429000 h 6858000"/>
              <a:gd name="connsiteX3" fmla="*/ 1990250 w 5419250"/>
              <a:gd name="connsiteY3" fmla="*/ 6858000 h 6858000"/>
              <a:gd name="connsiteX4" fmla="*/ 0 w 541925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19250" h="6858000">
                <a:moveTo>
                  <a:pt x="0" y="0"/>
                </a:moveTo>
                <a:lnTo>
                  <a:pt x="1990250" y="0"/>
                </a:lnTo>
                <a:cubicBezTo>
                  <a:pt x="3884034" y="0"/>
                  <a:pt x="5419250" y="1535216"/>
                  <a:pt x="5419250" y="3429000"/>
                </a:cubicBezTo>
                <a:cubicBezTo>
                  <a:pt x="5419250" y="5322784"/>
                  <a:pt x="3884034" y="6858000"/>
                  <a:pt x="1990250" y="6858000"/>
                </a:cubicBez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1" name="任意多边形: 形状 10"/>
          <p:cNvSpPr/>
          <p:nvPr userDrawn="1"/>
        </p:nvSpPr>
        <p:spPr>
          <a:xfrm flipH="1">
            <a:off x="4266481" y="260350"/>
            <a:ext cx="1828807" cy="6337300"/>
          </a:xfrm>
          <a:custGeom>
            <a:avLst/>
            <a:gdLst>
              <a:gd name="connsiteX0" fmla="*/ 1816103 w 1828803"/>
              <a:gd name="connsiteY0" fmla="*/ 0 h 6337300"/>
              <a:gd name="connsiteX1" fmla="*/ 3 w 1828803"/>
              <a:gd name="connsiteY1" fmla="*/ 3162300 h 6337300"/>
              <a:gd name="connsiteX2" fmla="*/ 1828803 w 1828803"/>
              <a:gd name="connsiteY2" fmla="*/ 6337300 h 6337300"/>
              <a:gd name="connsiteX0-1" fmla="*/ 1816108 w 1828808"/>
              <a:gd name="connsiteY0-2" fmla="*/ 0 h 6337300"/>
              <a:gd name="connsiteX1-3" fmla="*/ 8 w 1828808"/>
              <a:gd name="connsiteY1-4" fmla="*/ 3162300 h 6337300"/>
              <a:gd name="connsiteX2-5" fmla="*/ 1828808 w 1828808"/>
              <a:gd name="connsiteY2-6" fmla="*/ 6337300 h 6337300"/>
              <a:gd name="connsiteX0-7" fmla="*/ 1816108 w 1828808"/>
              <a:gd name="connsiteY0-8" fmla="*/ 0 h 6337300"/>
              <a:gd name="connsiteX1-9" fmla="*/ 8 w 1828808"/>
              <a:gd name="connsiteY1-10" fmla="*/ 3162300 h 6337300"/>
              <a:gd name="connsiteX2-11" fmla="*/ 1828808 w 1828808"/>
              <a:gd name="connsiteY2-12" fmla="*/ 6337300 h 6337300"/>
              <a:gd name="connsiteX0-13" fmla="*/ 1816107 w 1828807"/>
              <a:gd name="connsiteY0-14" fmla="*/ 0 h 6337300"/>
              <a:gd name="connsiteX1-15" fmla="*/ 7 w 1828807"/>
              <a:gd name="connsiteY1-16" fmla="*/ 3162300 h 6337300"/>
              <a:gd name="connsiteX2-17" fmla="*/ 1828807 w 1828807"/>
              <a:gd name="connsiteY2-18" fmla="*/ 6337300 h 6337300"/>
              <a:gd name="connsiteX0-19" fmla="*/ 1816107 w 1828807"/>
              <a:gd name="connsiteY0-20" fmla="*/ 0 h 6337300"/>
              <a:gd name="connsiteX1-21" fmla="*/ 7 w 1828807"/>
              <a:gd name="connsiteY1-22" fmla="*/ 3162300 h 6337300"/>
              <a:gd name="connsiteX2-23" fmla="*/ 1828807 w 1828807"/>
              <a:gd name="connsiteY2-24" fmla="*/ 6337300 h 6337300"/>
              <a:gd name="connsiteX0-25" fmla="*/ 1816107 w 1828807"/>
              <a:gd name="connsiteY0-26" fmla="*/ 0 h 6337300"/>
              <a:gd name="connsiteX1-27" fmla="*/ 7 w 1828807"/>
              <a:gd name="connsiteY1-28" fmla="*/ 3162300 h 6337300"/>
              <a:gd name="connsiteX2-29" fmla="*/ 1828807 w 1828807"/>
              <a:gd name="connsiteY2-30" fmla="*/ 6337300 h 63373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828807" h="6337300">
                <a:moveTo>
                  <a:pt x="1816107" y="0"/>
                </a:moveTo>
                <a:cubicBezTo>
                  <a:pt x="472597" y="832856"/>
                  <a:pt x="-2110" y="2106083"/>
                  <a:pt x="7" y="3162300"/>
                </a:cubicBezTo>
                <a:cubicBezTo>
                  <a:pt x="2124" y="4218517"/>
                  <a:pt x="571647" y="5766476"/>
                  <a:pt x="1828807" y="6337300"/>
                </a:cubicBezTo>
              </a:path>
            </a:pathLst>
          </a:custGeom>
          <a:noFill/>
          <a:ln w="38100" cap="rnd">
            <a:solidFill>
              <a:schemeClr val="accent1">
                <a:lumMod val="20000"/>
                <a:lumOff val="80000"/>
                <a:alpha val="75000"/>
              </a:schemeClr>
            </a:solidFill>
            <a:headEnd type="oval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 userDrawn="1"/>
        </p:nvSpPr>
        <p:spPr>
          <a:xfrm>
            <a:off x="5174534" y="997015"/>
            <a:ext cx="139700" cy="139700"/>
          </a:xfrm>
          <a:prstGeom prst="ellipse">
            <a:avLst/>
          </a:prstGeom>
          <a:ln>
            <a:solidFill>
              <a:schemeClr val="bg1"/>
            </a:solidFill>
          </a:ln>
          <a:effectLst>
            <a:outerShdw blurRad="127000" dist="127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 userDrawn="1"/>
        </p:nvSpPr>
        <p:spPr>
          <a:xfrm>
            <a:off x="5939738" y="2566660"/>
            <a:ext cx="139700" cy="139700"/>
          </a:xfrm>
          <a:prstGeom prst="ellipse">
            <a:avLst/>
          </a:prstGeom>
          <a:ln>
            <a:solidFill>
              <a:schemeClr val="bg1"/>
            </a:solidFill>
          </a:ln>
          <a:effectLst>
            <a:outerShdw blurRad="127000" dist="127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5" name="椭圆 14"/>
          <p:cNvSpPr/>
          <p:nvPr userDrawn="1"/>
        </p:nvSpPr>
        <p:spPr>
          <a:xfrm>
            <a:off x="5939738" y="4157244"/>
            <a:ext cx="139700" cy="139700"/>
          </a:xfrm>
          <a:prstGeom prst="ellipse">
            <a:avLst/>
          </a:prstGeom>
          <a:ln>
            <a:solidFill>
              <a:schemeClr val="bg1"/>
            </a:solidFill>
          </a:ln>
          <a:effectLst>
            <a:outerShdw blurRad="127000" dist="127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6" name="椭圆 15"/>
          <p:cNvSpPr/>
          <p:nvPr userDrawn="1"/>
        </p:nvSpPr>
        <p:spPr>
          <a:xfrm>
            <a:off x="5174534" y="5735054"/>
            <a:ext cx="139700" cy="139700"/>
          </a:xfrm>
          <a:prstGeom prst="ellipse">
            <a:avLst/>
          </a:prstGeom>
          <a:ln>
            <a:solidFill>
              <a:schemeClr val="bg1"/>
            </a:solidFill>
          </a:ln>
          <a:effectLst>
            <a:outerShdw blurRad="127000" dist="127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8" name="文本框 17"/>
          <p:cNvSpPr txBox="1"/>
          <p:nvPr userDrawn="1"/>
        </p:nvSpPr>
        <p:spPr>
          <a:xfrm rot="16200000">
            <a:off x="5782116" y="673165"/>
            <a:ext cx="861774" cy="7874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4400" dirty="0">
                <a:solidFill>
                  <a:schemeClr val="accent1"/>
                </a:solidFill>
              </a:rPr>
              <a:t>01.</a:t>
            </a:r>
            <a:endParaRPr lang="zh-CN" altLang="en-US" sz="4400" dirty="0">
              <a:solidFill>
                <a:schemeClr val="accent1"/>
              </a:solidFill>
            </a:endParaRPr>
          </a:p>
        </p:txBody>
      </p:sp>
      <p:sp>
        <p:nvSpPr>
          <p:cNvPr id="24" name="文本框 23"/>
          <p:cNvSpPr txBox="1"/>
          <p:nvPr userDrawn="1"/>
        </p:nvSpPr>
        <p:spPr>
          <a:xfrm rot="16200000">
            <a:off x="6532796" y="2242811"/>
            <a:ext cx="861774" cy="7874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4400" dirty="0">
                <a:solidFill>
                  <a:schemeClr val="accent1"/>
                </a:solidFill>
              </a:rPr>
              <a:t>02.</a:t>
            </a:r>
            <a:endParaRPr lang="zh-CN" altLang="en-US" sz="4400" dirty="0">
              <a:solidFill>
                <a:schemeClr val="accent1"/>
              </a:solidFill>
            </a:endParaRPr>
          </a:p>
        </p:txBody>
      </p:sp>
      <p:sp>
        <p:nvSpPr>
          <p:cNvPr id="34" name="文本框 33"/>
          <p:cNvSpPr txBox="1"/>
          <p:nvPr userDrawn="1"/>
        </p:nvSpPr>
        <p:spPr>
          <a:xfrm rot="16200000">
            <a:off x="5782116" y="5411205"/>
            <a:ext cx="861774" cy="7874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4400" dirty="0">
                <a:solidFill>
                  <a:schemeClr val="accent1"/>
                </a:solidFill>
              </a:rPr>
              <a:t>04.</a:t>
            </a:r>
            <a:endParaRPr lang="zh-CN" altLang="en-US" sz="4400" dirty="0">
              <a:solidFill>
                <a:schemeClr val="accent1"/>
              </a:solidFill>
            </a:endParaRPr>
          </a:p>
        </p:txBody>
      </p:sp>
      <p:sp>
        <p:nvSpPr>
          <p:cNvPr id="36" name="文本框 35"/>
          <p:cNvSpPr txBox="1"/>
          <p:nvPr userDrawn="1"/>
        </p:nvSpPr>
        <p:spPr>
          <a:xfrm rot="16200000">
            <a:off x="6532796" y="3833395"/>
            <a:ext cx="861774" cy="7874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4400" dirty="0">
                <a:solidFill>
                  <a:schemeClr val="accent1"/>
                </a:solidFill>
              </a:rPr>
              <a:t>03.</a:t>
            </a:r>
            <a:endParaRPr lang="zh-CN" altLang="en-US" sz="4400" dirty="0">
              <a:solidFill>
                <a:schemeClr val="accent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 hasCustomPrompt="1"/>
          </p:nvPr>
        </p:nvSpPr>
        <p:spPr>
          <a:xfrm>
            <a:off x="6772400" y="847339"/>
            <a:ext cx="2248833" cy="4730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论文背景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7" hasCustomPrompt="1"/>
          </p:nvPr>
        </p:nvSpPr>
        <p:spPr>
          <a:xfrm>
            <a:off x="7523080" y="2411380"/>
            <a:ext cx="2403240" cy="43905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研究进展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8" hasCustomPrompt="1"/>
          </p:nvPr>
        </p:nvSpPr>
        <p:spPr>
          <a:xfrm>
            <a:off x="7523080" y="4014134"/>
            <a:ext cx="2328753" cy="4397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研究过程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9" hasCustomPrompt="1"/>
          </p:nvPr>
        </p:nvSpPr>
        <p:spPr>
          <a:xfrm>
            <a:off x="6764993" y="5585378"/>
            <a:ext cx="2328753" cy="43905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论文结论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图片占位符 36"/>
          <p:cNvSpPr>
            <a:spLocks noGrp="1"/>
          </p:cNvSpPr>
          <p:nvPr>
            <p:ph type="pic" sz="quarter" idx="15"/>
          </p:nvPr>
        </p:nvSpPr>
        <p:spPr>
          <a:xfrm>
            <a:off x="-142829" y="0"/>
            <a:ext cx="12477663" cy="1972932"/>
          </a:xfrm>
          <a:custGeom>
            <a:avLst/>
            <a:gdLst>
              <a:gd name="connsiteX0" fmla="*/ 0 w 12477663"/>
              <a:gd name="connsiteY0" fmla="*/ 0 h 1972932"/>
              <a:gd name="connsiteX1" fmla="*/ 12477663 w 12477663"/>
              <a:gd name="connsiteY1" fmla="*/ 0 h 1972932"/>
              <a:gd name="connsiteX2" fmla="*/ 12458763 w 12477663"/>
              <a:gd name="connsiteY2" fmla="*/ 47047 h 1972932"/>
              <a:gd name="connsiteX3" fmla="*/ 6238831 w 12477663"/>
              <a:gd name="connsiteY3" fmla="*/ 1972932 h 1972932"/>
              <a:gd name="connsiteX4" fmla="*/ 18900 w 12477663"/>
              <a:gd name="connsiteY4" fmla="*/ 47047 h 1972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77663" h="1972932">
                <a:moveTo>
                  <a:pt x="0" y="0"/>
                </a:moveTo>
                <a:lnTo>
                  <a:pt x="12477663" y="0"/>
                </a:lnTo>
                <a:lnTo>
                  <a:pt x="12458763" y="47047"/>
                </a:lnTo>
                <a:cubicBezTo>
                  <a:pt x="11866750" y="1146147"/>
                  <a:pt x="9306941" y="1972932"/>
                  <a:pt x="6238831" y="1972932"/>
                </a:cubicBezTo>
                <a:cubicBezTo>
                  <a:pt x="3170721" y="1972932"/>
                  <a:pt x="610913" y="1146147"/>
                  <a:pt x="18900" y="47047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 rot="16200000">
            <a:off x="562328" y="2233386"/>
            <a:ext cx="861774" cy="7874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4400" dirty="0">
                <a:solidFill>
                  <a:schemeClr val="accent1"/>
                </a:solidFill>
              </a:rPr>
              <a:t>01.</a:t>
            </a:r>
            <a:endParaRPr lang="zh-CN" altLang="en-US" sz="4400" dirty="0">
              <a:solidFill>
                <a:schemeClr val="accent1"/>
              </a:solidFill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660400" y="3005980"/>
            <a:ext cx="0" cy="809625"/>
          </a:xfrm>
          <a:prstGeom prst="line">
            <a:avLst/>
          </a:prstGeom>
          <a:ln w="28575" cap="rnd"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 rot="16200000">
            <a:off x="4609919" y="2233386"/>
            <a:ext cx="861774" cy="7874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4400" dirty="0">
                <a:solidFill>
                  <a:schemeClr val="accent1"/>
                </a:solidFill>
              </a:rPr>
              <a:t>02.</a:t>
            </a:r>
            <a:endParaRPr lang="zh-CN" altLang="en-US" sz="4400" dirty="0">
              <a:solidFill>
                <a:schemeClr val="accent1"/>
              </a:solidFill>
            </a:endParaRPr>
          </a:p>
        </p:txBody>
      </p:sp>
      <p:cxnSp>
        <p:nvCxnSpPr>
          <p:cNvPr id="29" name="直接连接符 28"/>
          <p:cNvCxnSpPr/>
          <p:nvPr/>
        </p:nvCxnSpPr>
        <p:spPr>
          <a:xfrm>
            <a:off x="4707991" y="3005980"/>
            <a:ext cx="0" cy="809625"/>
          </a:xfrm>
          <a:prstGeom prst="line">
            <a:avLst/>
          </a:prstGeom>
          <a:ln w="28575" cap="rnd"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 rot="16200000">
            <a:off x="9043411" y="2233385"/>
            <a:ext cx="861774" cy="7874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4400" dirty="0">
                <a:solidFill>
                  <a:schemeClr val="accent1"/>
                </a:solidFill>
              </a:rPr>
              <a:t>03.</a:t>
            </a:r>
            <a:endParaRPr lang="zh-CN" altLang="en-US" sz="4400" dirty="0">
              <a:solidFill>
                <a:schemeClr val="accent1"/>
              </a:solidFill>
            </a:endParaRPr>
          </a:p>
        </p:txBody>
      </p:sp>
      <p:cxnSp>
        <p:nvCxnSpPr>
          <p:cNvPr id="34" name="直接连接符 33"/>
          <p:cNvCxnSpPr/>
          <p:nvPr/>
        </p:nvCxnSpPr>
        <p:spPr>
          <a:xfrm>
            <a:off x="9141483" y="3005980"/>
            <a:ext cx="0" cy="809625"/>
          </a:xfrm>
          <a:prstGeom prst="line">
            <a:avLst/>
          </a:prstGeom>
          <a:ln w="28575" cap="rnd"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/>
          <p:cNvSpPr txBox="1"/>
          <p:nvPr/>
        </p:nvSpPr>
        <p:spPr>
          <a:xfrm rot="16200000">
            <a:off x="2977842" y="4559831"/>
            <a:ext cx="861774" cy="7874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4400">
                <a:solidFill>
                  <a:schemeClr val="accent1"/>
                </a:solidFill>
              </a:rPr>
              <a:t>04.</a:t>
            </a:r>
            <a:endParaRPr lang="zh-CN" altLang="en-US" sz="4400" dirty="0">
              <a:solidFill>
                <a:schemeClr val="accent1"/>
              </a:solidFill>
            </a:endParaRPr>
          </a:p>
        </p:txBody>
      </p:sp>
      <p:cxnSp>
        <p:nvCxnSpPr>
          <p:cNvPr id="45" name="直接连接符 44"/>
          <p:cNvCxnSpPr/>
          <p:nvPr/>
        </p:nvCxnSpPr>
        <p:spPr>
          <a:xfrm>
            <a:off x="3075914" y="5332425"/>
            <a:ext cx="0" cy="809625"/>
          </a:xfrm>
          <a:prstGeom prst="line">
            <a:avLst/>
          </a:prstGeom>
          <a:ln w="28575" cap="rnd"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/>
          <p:cNvSpPr txBox="1"/>
          <p:nvPr/>
        </p:nvSpPr>
        <p:spPr>
          <a:xfrm rot="16200000">
            <a:off x="7025433" y="4559831"/>
            <a:ext cx="861774" cy="7874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4400" dirty="0">
                <a:solidFill>
                  <a:schemeClr val="accent1"/>
                </a:solidFill>
              </a:rPr>
              <a:t>05.</a:t>
            </a:r>
            <a:endParaRPr lang="zh-CN" altLang="en-US" sz="4400" dirty="0">
              <a:solidFill>
                <a:schemeClr val="accent1"/>
              </a:solidFill>
            </a:endParaRPr>
          </a:p>
        </p:txBody>
      </p:sp>
      <p:cxnSp>
        <p:nvCxnSpPr>
          <p:cNvPr id="41" name="直接连接符 40"/>
          <p:cNvCxnSpPr/>
          <p:nvPr/>
        </p:nvCxnSpPr>
        <p:spPr>
          <a:xfrm>
            <a:off x="7123505" y="5332425"/>
            <a:ext cx="0" cy="809625"/>
          </a:xfrm>
          <a:prstGeom prst="line">
            <a:avLst/>
          </a:prstGeom>
          <a:ln w="28575" cap="rnd"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占位符 48"/>
          <p:cNvSpPr>
            <a:spLocks noGrp="1"/>
          </p:cNvSpPr>
          <p:nvPr>
            <p:ph type="body" sz="quarter" idx="10" hasCustomPrompt="1"/>
          </p:nvPr>
        </p:nvSpPr>
        <p:spPr>
          <a:xfrm>
            <a:off x="747157" y="2989948"/>
            <a:ext cx="2328753" cy="439052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>
                <a:latin typeface="+mn-ea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单击添加文本</a:t>
            </a:r>
          </a:p>
        </p:txBody>
      </p:sp>
      <p:sp>
        <p:nvSpPr>
          <p:cNvPr id="56" name="文本占位符 48"/>
          <p:cNvSpPr>
            <a:spLocks noGrp="1"/>
          </p:cNvSpPr>
          <p:nvPr>
            <p:ph type="body" sz="quarter" idx="11" hasCustomPrompt="1"/>
          </p:nvPr>
        </p:nvSpPr>
        <p:spPr>
          <a:xfrm>
            <a:off x="4789304" y="2989948"/>
            <a:ext cx="2333631" cy="439052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>
                <a:latin typeface="+mn-ea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单击添加文本</a:t>
            </a:r>
          </a:p>
        </p:txBody>
      </p:sp>
      <p:sp>
        <p:nvSpPr>
          <p:cNvPr id="61" name="文本占位符 48"/>
          <p:cNvSpPr>
            <a:spLocks noGrp="1"/>
          </p:cNvSpPr>
          <p:nvPr>
            <p:ph type="body" sz="quarter" idx="12" hasCustomPrompt="1"/>
          </p:nvPr>
        </p:nvSpPr>
        <p:spPr>
          <a:xfrm>
            <a:off x="9223944" y="2989948"/>
            <a:ext cx="2333631" cy="439052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>
                <a:latin typeface="+mn-ea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单击添加文本</a:t>
            </a:r>
          </a:p>
        </p:txBody>
      </p:sp>
      <p:sp>
        <p:nvSpPr>
          <p:cNvPr id="63" name="文本占位符 48"/>
          <p:cNvSpPr>
            <a:spLocks noGrp="1"/>
          </p:cNvSpPr>
          <p:nvPr>
            <p:ph type="body" sz="quarter" idx="13" hasCustomPrompt="1"/>
          </p:nvPr>
        </p:nvSpPr>
        <p:spPr>
          <a:xfrm>
            <a:off x="3158375" y="5333191"/>
            <a:ext cx="2328753" cy="439052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>
                <a:latin typeface="+mn-ea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单击添加文本</a:t>
            </a:r>
          </a:p>
        </p:txBody>
      </p:sp>
      <p:sp>
        <p:nvSpPr>
          <p:cNvPr id="65" name="文本占位符 48"/>
          <p:cNvSpPr>
            <a:spLocks noGrp="1"/>
          </p:cNvSpPr>
          <p:nvPr>
            <p:ph type="body" sz="quarter" idx="14" hasCustomPrompt="1"/>
          </p:nvPr>
        </p:nvSpPr>
        <p:spPr>
          <a:xfrm>
            <a:off x="7205966" y="5333191"/>
            <a:ext cx="2328753" cy="439052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>
                <a:latin typeface="+mn-ea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单击添加文本</a:t>
            </a:r>
          </a:p>
        </p:txBody>
      </p:sp>
      <p:grpSp>
        <p:nvGrpSpPr>
          <p:cNvPr id="39" name="组合 38"/>
          <p:cNvGrpSpPr/>
          <p:nvPr userDrawn="1"/>
        </p:nvGrpSpPr>
        <p:grpSpPr>
          <a:xfrm>
            <a:off x="2539883" y="2413261"/>
            <a:ext cx="7112234" cy="3564639"/>
            <a:chOff x="1585727" y="453077"/>
            <a:chExt cx="374706" cy="187802"/>
          </a:xfrm>
          <a:solidFill>
            <a:schemeClr val="bg1">
              <a:lumMod val="65000"/>
              <a:alpha val="5000"/>
            </a:schemeClr>
          </a:solidFill>
        </p:grpSpPr>
        <p:sp>
          <p:nvSpPr>
            <p:cNvPr id="42" name="îśliďe"/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3" name="íšḻíḍé"/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6" name="ïṥḻïḓé"/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7" name="î$ḷíḋè"/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8" name="i$ḷiḍe"/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0" name="ïṡļïdè"/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1" name="íŝḻíḓê"/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2" name="isľîḑê"/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图片占位符 21"/>
          <p:cNvSpPr>
            <a:spLocks noGrp="1"/>
          </p:cNvSpPr>
          <p:nvPr>
            <p:ph type="pic" sz="quarter" idx="14"/>
          </p:nvPr>
        </p:nvSpPr>
        <p:spPr>
          <a:xfrm>
            <a:off x="5656409" y="322405"/>
            <a:ext cx="6540686" cy="6540688"/>
          </a:xfrm>
          <a:custGeom>
            <a:avLst/>
            <a:gdLst>
              <a:gd name="connsiteX0" fmla="*/ 6530501 w 6530501"/>
              <a:gd name="connsiteY0" fmla="*/ 0 h 6530502"/>
              <a:gd name="connsiteX1" fmla="*/ 6530501 w 6530501"/>
              <a:gd name="connsiteY1" fmla="*/ 6530502 h 6530502"/>
              <a:gd name="connsiteX2" fmla="*/ 0 w 6530501"/>
              <a:gd name="connsiteY2" fmla="*/ 6530502 h 6530502"/>
              <a:gd name="connsiteX3" fmla="*/ 6530501 w 6530501"/>
              <a:gd name="connsiteY3" fmla="*/ 0 h 6530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30501" h="6530502">
                <a:moveTo>
                  <a:pt x="6530501" y="0"/>
                </a:moveTo>
                <a:lnTo>
                  <a:pt x="6530501" y="6530502"/>
                </a:lnTo>
                <a:lnTo>
                  <a:pt x="0" y="6530502"/>
                </a:lnTo>
                <a:cubicBezTo>
                  <a:pt x="0" y="2923805"/>
                  <a:pt x="2923804" y="0"/>
                  <a:pt x="653050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 rotWithShape="1"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7706648" y="2962113"/>
            <a:ext cx="4155152" cy="2854487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>
            <a:lvl1pPr marL="0" indent="0">
              <a:buNone/>
              <a:defRPr lang="zh-CN" altLang="en-US" sz="23900" b="1" smtClean="0">
                <a:solidFill>
                  <a:schemeClr val="bg1">
                    <a:alpha val="72000"/>
                  </a:schemeClr>
                </a:solidFill>
                <a:latin typeface="+mn-ea"/>
                <a:ea typeface="+mn-ea"/>
              </a:defRPr>
            </a:lvl1pPr>
          </a:lstStyle>
          <a:p>
            <a:pPr marL="0" lvl="0"/>
            <a:r>
              <a:rPr lang="en-US" altLang="zh-CN" dirty="0"/>
              <a:t>0X</a:t>
            </a:r>
            <a:endParaRPr lang="zh-CN" altLang="en-US" dirty="0"/>
          </a:p>
        </p:txBody>
      </p:sp>
      <p:sp>
        <p:nvSpPr>
          <p:cNvPr id="11" name="文本占位符 13"/>
          <p:cNvSpPr>
            <a:spLocks noGrp="1"/>
          </p:cNvSpPr>
          <p:nvPr>
            <p:ph type="body" sz="quarter" idx="12" hasCustomPrompt="1"/>
          </p:nvPr>
        </p:nvSpPr>
        <p:spPr>
          <a:xfrm>
            <a:off x="1296778" y="2278356"/>
            <a:ext cx="3574579" cy="92333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lang="zh-CN" altLang="en-US" sz="6000" b="1" smtClean="0">
                <a:solidFill>
                  <a:schemeClr val="accent1"/>
                </a:solidFill>
                <a:latin typeface="+mn-ea"/>
                <a:ea typeface="+mn-ea"/>
              </a:defRPr>
            </a:lvl1pPr>
          </a:lstStyle>
          <a:p>
            <a:pPr marL="0" lvl="0"/>
            <a:r>
              <a:rPr lang="zh-CN" altLang="en-US" dirty="0"/>
              <a:t>章节标题</a:t>
            </a:r>
            <a:endParaRPr lang="en-US" altLang="zh-CN" dirty="0"/>
          </a:p>
        </p:txBody>
      </p:sp>
      <p:sp>
        <p:nvSpPr>
          <p:cNvPr id="12" name="文本占位符 13"/>
          <p:cNvSpPr>
            <a:spLocks noGrp="1"/>
          </p:cNvSpPr>
          <p:nvPr>
            <p:ph type="body" sz="quarter" idx="13" hasCustomPrompt="1"/>
          </p:nvPr>
        </p:nvSpPr>
        <p:spPr>
          <a:xfrm>
            <a:off x="1296778" y="3712453"/>
            <a:ext cx="3574579" cy="424732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lang="en-US" altLang="zh-CN" sz="24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defRPr>
            </a:lvl1pPr>
          </a:lstStyle>
          <a:p>
            <a:pPr marL="0" lvl="0"/>
            <a:r>
              <a:rPr lang="en-US" altLang="zh-CN" dirty="0"/>
              <a:t>Chapter Title</a:t>
            </a:r>
          </a:p>
        </p:txBody>
      </p:sp>
      <p:cxnSp>
        <p:nvCxnSpPr>
          <p:cNvPr id="27" name="直接连接符 26"/>
          <p:cNvCxnSpPr/>
          <p:nvPr userDrawn="1"/>
        </p:nvCxnSpPr>
        <p:spPr>
          <a:xfrm>
            <a:off x="1311324" y="3436355"/>
            <a:ext cx="1103522" cy="0"/>
          </a:xfrm>
          <a:prstGeom prst="line">
            <a:avLst/>
          </a:prstGeom>
          <a:ln w="508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组合 27"/>
          <p:cNvGrpSpPr/>
          <p:nvPr userDrawn="1"/>
        </p:nvGrpSpPr>
        <p:grpSpPr>
          <a:xfrm>
            <a:off x="660400" y="338593"/>
            <a:ext cx="1378010" cy="690656"/>
            <a:chOff x="1585727" y="453077"/>
            <a:chExt cx="374706" cy="187802"/>
          </a:xfrm>
          <a:solidFill>
            <a:schemeClr val="accent1"/>
          </a:solidFill>
        </p:grpSpPr>
        <p:sp>
          <p:nvSpPr>
            <p:cNvPr id="29" name="îśliďe"/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0" name="íšḻíḍé"/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1" name="ïṥḻïḓé"/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2" name="î$ḷíḋè"/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3" name="i$ḷiḍe"/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4" name="ïṡļïdè"/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" name="íŝḻíḓê"/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" name="isľîḑê"/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37" name="文本框 36"/>
          <p:cNvSpPr txBox="1"/>
          <p:nvPr userDrawn="1"/>
        </p:nvSpPr>
        <p:spPr>
          <a:xfrm>
            <a:off x="549059" y="6259195"/>
            <a:ext cx="42196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</a:rPr>
              <a:t>明德 厚学 求是 创新      </a:t>
            </a:r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</a:rPr>
              <a:t>http://www.hust.edu.cn/</a:t>
            </a:r>
            <a:endParaRPr lang="zh-CN" altLang="en-US" sz="14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图片占位符 24"/>
          <p:cNvSpPr>
            <a:spLocks noGrp="1"/>
          </p:cNvSpPr>
          <p:nvPr>
            <p:ph type="pic" sz="quarter" idx="14"/>
          </p:nvPr>
        </p:nvSpPr>
        <p:spPr>
          <a:xfrm>
            <a:off x="0" y="327498"/>
            <a:ext cx="6530502" cy="6530502"/>
          </a:xfrm>
          <a:custGeom>
            <a:avLst/>
            <a:gdLst>
              <a:gd name="connsiteX0" fmla="*/ 0 w 6530502"/>
              <a:gd name="connsiteY0" fmla="*/ 0 h 6530502"/>
              <a:gd name="connsiteX1" fmla="*/ 6530502 w 6530502"/>
              <a:gd name="connsiteY1" fmla="*/ 6530502 h 6530502"/>
              <a:gd name="connsiteX2" fmla="*/ 0 w 6530502"/>
              <a:gd name="connsiteY2" fmla="*/ 6530502 h 6530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530502" h="6530502">
                <a:moveTo>
                  <a:pt x="0" y="0"/>
                </a:moveTo>
                <a:cubicBezTo>
                  <a:pt x="3606697" y="0"/>
                  <a:pt x="6530502" y="2923805"/>
                  <a:pt x="6530502" y="6530502"/>
                </a:cubicBezTo>
                <a:lnTo>
                  <a:pt x="0" y="653050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 rotWithShape="1"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474030" y="2962113"/>
            <a:ext cx="4155152" cy="2854487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>
            <a:lvl1pPr marL="0" indent="0">
              <a:buNone/>
              <a:defRPr lang="zh-CN" altLang="en-US" sz="23900" b="1" smtClean="0">
                <a:solidFill>
                  <a:schemeClr val="bg1">
                    <a:alpha val="72000"/>
                  </a:schemeClr>
                </a:solidFill>
                <a:latin typeface="+mn-ea"/>
                <a:ea typeface="+mn-ea"/>
              </a:defRPr>
            </a:lvl1pPr>
          </a:lstStyle>
          <a:p>
            <a:pPr marL="0" lvl="0"/>
            <a:r>
              <a:rPr lang="en-US" altLang="zh-CN" dirty="0"/>
              <a:t>0X</a:t>
            </a:r>
            <a:endParaRPr lang="zh-CN" altLang="en-US" dirty="0"/>
          </a:p>
        </p:txBody>
      </p:sp>
      <p:sp>
        <p:nvSpPr>
          <p:cNvPr id="11" name="文本占位符 13"/>
          <p:cNvSpPr>
            <a:spLocks noGrp="1"/>
          </p:cNvSpPr>
          <p:nvPr>
            <p:ph type="body" sz="quarter" idx="12" hasCustomPrompt="1"/>
          </p:nvPr>
        </p:nvSpPr>
        <p:spPr>
          <a:xfrm>
            <a:off x="7197557" y="2284554"/>
            <a:ext cx="3574579" cy="92333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lang="zh-CN" altLang="en-US" sz="6000" b="1" smtClean="0">
                <a:solidFill>
                  <a:schemeClr val="accent1"/>
                </a:solidFill>
                <a:latin typeface="+mn-ea"/>
                <a:ea typeface="+mn-ea"/>
              </a:defRPr>
            </a:lvl1pPr>
          </a:lstStyle>
          <a:p>
            <a:pPr marL="0" lvl="0"/>
            <a:r>
              <a:rPr lang="zh-CN" altLang="en-US" dirty="0"/>
              <a:t>章节标题</a:t>
            </a:r>
            <a:endParaRPr lang="en-US" altLang="zh-CN" dirty="0"/>
          </a:p>
        </p:txBody>
      </p:sp>
      <p:sp>
        <p:nvSpPr>
          <p:cNvPr id="12" name="文本占位符 13"/>
          <p:cNvSpPr>
            <a:spLocks noGrp="1"/>
          </p:cNvSpPr>
          <p:nvPr>
            <p:ph type="body" sz="quarter" idx="13" hasCustomPrompt="1"/>
          </p:nvPr>
        </p:nvSpPr>
        <p:spPr>
          <a:xfrm>
            <a:off x="7197557" y="3711395"/>
            <a:ext cx="3574579" cy="424732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lang="en-US" altLang="zh-CN" sz="24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defRPr>
            </a:lvl1pPr>
          </a:lstStyle>
          <a:p>
            <a:pPr marL="0" lvl="0"/>
            <a:r>
              <a:rPr lang="en-US" altLang="zh-CN" dirty="0"/>
              <a:t>Chapter Title</a:t>
            </a:r>
          </a:p>
        </p:txBody>
      </p:sp>
      <p:cxnSp>
        <p:nvCxnSpPr>
          <p:cNvPr id="27" name="直接连接符 26"/>
          <p:cNvCxnSpPr/>
          <p:nvPr userDrawn="1"/>
        </p:nvCxnSpPr>
        <p:spPr>
          <a:xfrm>
            <a:off x="7237503" y="3436629"/>
            <a:ext cx="1103522" cy="0"/>
          </a:xfrm>
          <a:prstGeom prst="line">
            <a:avLst/>
          </a:prstGeom>
          <a:ln w="508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组合 27"/>
          <p:cNvGrpSpPr/>
          <p:nvPr userDrawn="1"/>
        </p:nvGrpSpPr>
        <p:grpSpPr>
          <a:xfrm>
            <a:off x="10227936" y="338593"/>
            <a:ext cx="1378010" cy="690656"/>
            <a:chOff x="1585727" y="453077"/>
            <a:chExt cx="374706" cy="187802"/>
          </a:xfrm>
          <a:solidFill>
            <a:schemeClr val="accent1"/>
          </a:solidFill>
        </p:grpSpPr>
        <p:sp>
          <p:nvSpPr>
            <p:cNvPr id="29" name="îśliďe"/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0" name="íšḻíḍé"/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1" name="ïṥḻïḓé"/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2" name="î$ḷíḋè"/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3" name="i$ḷiḍe"/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4" name="ïṡļïdè"/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" name="íŝḻíḓê"/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" name="isľîḑê"/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37" name="文本框 36"/>
          <p:cNvSpPr txBox="1"/>
          <p:nvPr userDrawn="1"/>
        </p:nvSpPr>
        <p:spPr>
          <a:xfrm>
            <a:off x="7692930" y="6259195"/>
            <a:ext cx="42196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明德 厚学 求是 创新      </a:t>
            </a:r>
            <a:r>
              <a:rPr lang="en-US" altLang="zh-CN" dirty="0"/>
              <a:t>http://www.hust.edu.cn/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图片占位符 37"/>
          <p:cNvSpPr>
            <a:spLocks noGrp="1"/>
          </p:cNvSpPr>
          <p:nvPr>
            <p:ph type="pic" sz="quarter" idx="14"/>
          </p:nvPr>
        </p:nvSpPr>
        <p:spPr>
          <a:xfrm>
            <a:off x="5661498" y="0"/>
            <a:ext cx="6530502" cy="6530502"/>
          </a:xfrm>
          <a:custGeom>
            <a:avLst/>
            <a:gdLst>
              <a:gd name="connsiteX0" fmla="*/ 0 w 6530502"/>
              <a:gd name="connsiteY0" fmla="*/ 0 h 6530502"/>
              <a:gd name="connsiteX1" fmla="*/ 6530502 w 6530502"/>
              <a:gd name="connsiteY1" fmla="*/ 0 h 6530502"/>
              <a:gd name="connsiteX2" fmla="*/ 6530502 w 6530502"/>
              <a:gd name="connsiteY2" fmla="*/ 6530502 h 6530502"/>
              <a:gd name="connsiteX3" fmla="*/ 0 w 6530502"/>
              <a:gd name="connsiteY3" fmla="*/ 0 h 6530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30502" h="6530502">
                <a:moveTo>
                  <a:pt x="0" y="0"/>
                </a:moveTo>
                <a:lnTo>
                  <a:pt x="6530502" y="0"/>
                </a:lnTo>
                <a:lnTo>
                  <a:pt x="6530502" y="6530502"/>
                </a:lnTo>
                <a:cubicBezTo>
                  <a:pt x="2923805" y="6530502"/>
                  <a:pt x="0" y="3606697"/>
                  <a:pt x="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 rotWithShape="1"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7706648" y="1130300"/>
            <a:ext cx="4155152" cy="2854487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>
            <a:lvl1pPr marL="0" indent="0">
              <a:buNone/>
              <a:defRPr lang="zh-CN" altLang="en-US" sz="23900" b="1" smtClean="0">
                <a:solidFill>
                  <a:schemeClr val="bg1">
                    <a:alpha val="60000"/>
                  </a:schemeClr>
                </a:solidFill>
                <a:latin typeface="+mn-ea"/>
                <a:ea typeface="+mn-ea"/>
              </a:defRPr>
            </a:lvl1pPr>
          </a:lstStyle>
          <a:p>
            <a:pPr marL="0" lvl="0"/>
            <a:r>
              <a:rPr lang="en-US" altLang="zh-CN" dirty="0"/>
              <a:t>0X</a:t>
            </a:r>
            <a:endParaRPr lang="zh-CN" altLang="en-US" dirty="0"/>
          </a:p>
        </p:txBody>
      </p:sp>
      <p:sp>
        <p:nvSpPr>
          <p:cNvPr id="11" name="文本占位符 13"/>
          <p:cNvSpPr>
            <a:spLocks noGrp="1"/>
          </p:cNvSpPr>
          <p:nvPr>
            <p:ph type="body" sz="quarter" idx="12" hasCustomPrompt="1"/>
          </p:nvPr>
        </p:nvSpPr>
        <p:spPr>
          <a:xfrm>
            <a:off x="1296778" y="2284554"/>
            <a:ext cx="3574579" cy="92333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lang="zh-CN" altLang="en-US" sz="6000" b="1" smtClean="0">
                <a:solidFill>
                  <a:schemeClr val="accent1"/>
                </a:solidFill>
                <a:latin typeface="+mn-ea"/>
                <a:ea typeface="+mn-ea"/>
              </a:defRPr>
            </a:lvl1pPr>
          </a:lstStyle>
          <a:p>
            <a:pPr marL="0" lvl="0"/>
            <a:r>
              <a:rPr lang="zh-CN" altLang="en-US" dirty="0"/>
              <a:t>章节标题</a:t>
            </a:r>
            <a:endParaRPr lang="en-US" altLang="zh-CN" dirty="0"/>
          </a:p>
        </p:txBody>
      </p:sp>
      <p:sp>
        <p:nvSpPr>
          <p:cNvPr id="12" name="文本占位符 13"/>
          <p:cNvSpPr>
            <a:spLocks noGrp="1"/>
          </p:cNvSpPr>
          <p:nvPr>
            <p:ph type="body" sz="quarter" idx="13" hasCustomPrompt="1"/>
          </p:nvPr>
        </p:nvSpPr>
        <p:spPr>
          <a:xfrm>
            <a:off x="1296778" y="3709946"/>
            <a:ext cx="3574579" cy="424732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lang="en-US" altLang="zh-CN" sz="24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defRPr>
            </a:lvl1pPr>
          </a:lstStyle>
          <a:p>
            <a:pPr marL="0" lvl="0"/>
            <a:r>
              <a:rPr lang="en-US" altLang="zh-CN" dirty="0"/>
              <a:t>Chapter Title</a:t>
            </a:r>
          </a:p>
        </p:txBody>
      </p:sp>
      <p:cxnSp>
        <p:nvCxnSpPr>
          <p:cNvPr id="27" name="直接连接符 26"/>
          <p:cNvCxnSpPr/>
          <p:nvPr userDrawn="1"/>
        </p:nvCxnSpPr>
        <p:spPr>
          <a:xfrm>
            <a:off x="1336724" y="3429067"/>
            <a:ext cx="1103522" cy="0"/>
          </a:xfrm>
          <a:prstGeom prst="line">
            <a:avLst/>
          </a:prstGeom>
          <a:ln w="508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组合 27"/>
          <p:cNvGrpSpPr/>
          <p:nvPr userDrawn="1"/>
        </p:nvGrpSpPr>
        <p:grpSpPr>
          <a:xfrm>
            <a:off x="660400" y="338593"/>
            <a:ext cx="1378010" cy="690656"/>
            <a:chOff x="1585727" y="453077"/>
            <a:chExt cx="374706" cy="187802"/>
          </a:xfrm>
          <a:solidFill>
            <a:schemeClr val="accent1"/>
          </a:solidFill>
        </p:grpSpPr>
        <p:sp>
          <p:nvSpPr>
            <p:cNvPr id="29" name="îśliďe"/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0" name="íšḻíḍé"/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1" name="ïṥḻïḓé"/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2" name="î$ḷíḋè"/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3" name="i$ḷiḍe"/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4" name="ïṡļïdè"/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" name="íŝḻíḓê"/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" name="isľîḑê"/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37" name="文本框 36"/>
          <p:cNvSpPr txBox="1"/>
          <p:nvPr userDrawn="1"/>
        </p:nvSpPr>
        <p:spPr>
          <a:xfrm>
            <a:off x="549059" y="6259195"/>
            <a:ext cx="42196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明德 厚学 求是 创新      </a:t>
            </a:r>
            <a:r>
              <a:rPr lang="en-US" altLang="zh-CN" dirty="0"/>
              <a:t>http://www.hust.edu.cn/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图片占位符 20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530502" cy="6530502"/>
          </a:xfrm>
          <a:custGeom>
            <a:avLst/>
            <a:gdLst>
              <a:gd name="connsiteX0" fmla="*/ 0 w 6530502"/>
              <a:gd name="connsiteY0" fmla="*/ 0 h 6530502"/>
              <a:gd name="connsiteX1" fmla="*/ 6530502 w 6530502"/>
              <a:gd name="connsiteY1" fmla="*/ 0 h 6530502"/>
              <a:gd name="connsiteX2" fmla="*/ 0 w 6530502"/>
              <a:gd name="connsiteY2" fmla="*/ 6530502 h 6530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530502" h="6530502">
                <a:moveTo>
                  <a:pt x="0" y="0"/>
                </a:moveTo>
                <a:lnTo>
                  <a:pt x="6530502" y="0"/>
                </a:lnTo>
                <a:cubicBezTo>
                  <a:pt x="6530502" y="3606697"/>
                  <a:pt x="3606697" y="6530502"/>
                  <a:pt x="0" y="6530502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 rotWithShape="1"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474030" y="1207371"/>
            <a:ext cx="4155152" cy="2854487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>
            <a:lvl1pPr marL="0" indent="0">
              <a:buNone/>
              <a:defRPr lang="zh-CN" altLang="en-US" sz="23900" b="1" smtClean="0">
                <a:solidFill>
                  <a:schemeClr val="bg1">
                    <a:alpha val="72000"/>
                  </a:schemeClr>
                </a:solidFill>
                <a:latin typeface="+mn-ea"/>
                <a:ea typeface="+mn-ea"/>
              </a:defRPr>
            </a:lvl1pPr>
          </a:lstStyle>
          <a:p>
            <a:pPr marL="0" lvl="0"/>
            <a:r>
              <a:rPr lang="en-US" altLang="zh-CN" dirty="0"/>
              <a:t>0X</a:t>
            </a:r>
            <a:endParaRPr lang="zh-CN" altLang="en-US" dirty="0"/>
          </a:p>
        </p:txBody>
      </p:sp>
      <p:sp>
        <p:nvSpPr>
          <p:cNvPr id="11" name="文本占位符 13"/>
          <p:cNvSpPr>
            <a:spLocks noGrp="1"/>
          </p:cNvSpPr>
          <p:nvPr>
            <p:ph type="body" sz="quarter" idx="12" hasCustomPrompt="1"/>
          </p:nvPr>
        </p:nvSpPr>
        <p:spPr>
          <a:xfrm>
            <a:off x="7197557" y="2284554"/>
            <a:ext cx="3574579" cy="92333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lang="zh-CN" altLang="en-US" sz="6000" b="1" smtClean="0">
                <a:solidFill>
                  <a:schemeClr val="accent1"/>
                </a:solidFill>
                <a:latin typeface="+mn-ea"/>
                <a:ea typeface="+mn-ea"/>
              </a:defRPr>
            </a:lvl1pPr>
          </a:lstStyle>
          <a:p>
            <a:pPr marL="0" lvl="0"/>
            <a:r>
              <a:rPr lang="zh-CN" altLang="en-US" dirty="0"/>
              <a:t>章节标题</a:t>
            </a:r>
            <a:endParaRPr lang="en-US" altLang="zh-CN" dirty="0"/>
          </a:p>
        </p:txBody>
      </p:sp>
      <p:sp>
        <p:nvSpPr>
          <p:cNvPr id="12" name="文本占位符 13"/>
          <p:cNvSpPr>
            <a:spLocks noGrp="1"/>
          </p:cNvSpPr>
          <p:nvPr>
            <p:ph type="body" sz="quarter" idx="13" hasCustomPrompt="1"/>
          </p:nvPr>
        </p:nvSpPr>
        <p:spPr>
          <a:xfrm>
            <a:off x="7197557" y="3711707"/>
            <a:ext cx="3574579" cy="424732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lang="en-US" altLang="zh-CN" sz="24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defRPr>
            </a:lvl1pPr>
          </a:lstStyle>
          <a:p>
            <a:pPr marL="0" lvl="0"/>
            <a:r>
              <a:rPr lang="en-US" altLang="zh-CN" dirty="0"/>
              <a:t>Chapter Title</a:t>
            </a:r>
          </a:p>
        </p:txBody>
      </p:sp>
      <p:cxnSp>
        <p:nvCxnSpPr>
          <p:cNvPr id="27" name="直接连接符 26"/>
          <p:cNvCxnSpPr/>
          <p:nvPr userDrawn="1"/>
        </p:nvCxnSpPr>
        <p:spPr>
          <a:xfrm>
            <a:off x="7237503" y="3429067"/>
            <a:ext cx="1103522" cy="0"/>
          </a:xfrm>
          <a:prstGeom prst="line">
            <a:avLst/>
          </a:prstGeom>
          <a:ln w="508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组合 27"/>
          <p:cNvGrpSpPr/>
          <p:nvPr userDrawn="1"/>
        </p:nvGrpSpPr>
        <p:grpSpPr>
          <a:xfrm>
            <a:off x="10227936" y="338593"/>
            <a:ext cx="1378010" cy="690656"/>
            <a:chOff x="1585727" y="453077"/>
            <a:chExt cx="374706" cy="187802"/>
          </a:xfrm>
          <a:solidFill>
            <a:schemeClr val="accent1"/>
          </a:solidFill>
        </p:grpSpPr>
        <p:sp>
          <p:nvSpPr>
            <p:cNvPr id="29" name="îśliďe"/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0" name="íšḻíḍé"/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1" name="ïṥḻïḓé"/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2" name="î$ḷíḋè"/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3" name="i$ḷiḍe"/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4" name="ïṡļïdè"/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" name="íŝḻíḓê"/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" name="isľîḑê"/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37" name="文本框 36"/>
          <p:cNvSpPr txBox="1"/>
          <p:nvPr userDrawn="1"/>
        </p:nvSpPr>
        <p:spPr>
          <a:xfrm>
            <a:off x="7692930" y="6259195"/>
            <a:ext cx="42196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明德 厚学 求是 创新      </a:t>
            </a:r>
            <a:r>
              <a:rPr lang="en-US" altLang="zh-CN" dirty="0"/>
              <a:t>http://www.hust.edu.cn/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10"/>
          <p:cNvSpPr>
            <a:spLocks noGrp="1"/>
          </p:cNvSpPr>
          <p:nvPr>
            <p:ph type="pic" sz="quarter" idx="10"/>
          </p:nvPr>
        </p:nvSpPr>
        <p:spPr>
          <a:xfrm>
            <a:off x="6772750" y="0"/>
            <a:ext cx="5419250" cy="6858000"/>
          </a:xfrm>
          <a:custGeom>
            <a:avLst/>
            <a:gdLst>
              <a:gd name="connsiteX0" fmla="*/ 3429000 w 5419250"/>
              <a:gd name="connsiteY0" fmla="*/ 0 h 6858000"/>
              <a:gd name="connsiteX1" fmla="*/ 5419250 w 5419250"/>
              <a:gd name="connsiteY1" fmla="*/ 0 h 6858000"/>
              <a:gd name="connsiteX2" fmla="*/ 5419250 w 5419250"/>
              <a:gd name="connsiteY2" fmla="*/ 6858000 h 6858000"/>
              <a:gd name="connsiteX3" fmla="*/ 3429000 w 5419250"/>
              <a:gd name="connsiteY3" fmla="*/ 6858000 h 6858000"/>
              <a:gd name="connsiteX4" fmla="*/ 0 w 5419250"/>
              <a:gd name="connsiteY4" fmla="*/ 3429000 h 6858000"/>
              <a:gd name="connsiteX5" fmla="*/ 3429000 w 541925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19250" h="6858000">
                <a:moveTo>
                  <a:pt x="3429000" y="0"/>
                </a:moveTo>
                <a:lnTo>
                  <a:pt x="5419250" y="0"/>
                </a:lnTo>
                <a:lnTo>
                  <a:pt x="5419250" y="6858000"/>
                </a:lnTo>
                <a:lnTo>
                  <a:pt x="3429000" y="6858000"/>
                </a:lnTo>
                <a:cubicBezTo>
                  <a:pt x="1535216" y="6858000"/>
                  <a:pt x="0" y="5322784"/>
                  <a:pt x="0" y="3429000"/>
                </a:cubicBezTo>
                <a:cubicBezTo>
                  <a:pt x="0" y="1535216"/>
                  <a:pt x="1535216" y="0"/>
                  <a:pt x="34290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1626978" y="5301345"/>
            <a:ext cx="3124636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1550777" y="1819627"/>
            <a:ext cx="2732752" cy="200362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>
            <a:lvl1pPr marL="0" indent="0">
              <a:buNone/>
              <a:defRPr lang="zh-CN" altLang="en-US" sz="13800" b="1" smtClean="0">
                <a:gradFill>
                  <a:gsLst>
                    <a:gs pos="9000">
                      <a:schemeClr val="accent1">
                        <a:lumMod val="5000"/>
                        <a:lumOff val="95000"/>
                        <a:alpha val="0"/>
                      </a:schemeClr>
                    </a:gs>
                    <a:gs pos="35255">
                      <a:schemeClr val="accent1">
                        <a:lumMod val="40000"/>
                        <a:lumOff val="60000"/>
                      </a:schemeClr>
                    </a:gs>
                    <a:gs pos="6100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16200000" scaled="0"/>
                </a:gradFill>
                <a:latin typeface="+mn-ea"/>
                <a:ea typeface="+mn-ea"/>
              </a:defRPr>
            </a:lvl1pPr>
          </a:lstStyle>
          <a:p>
            <a:pPr marL="0" lvl="0"/>
            <a:r>
              <a:rPr lang="en-US" altLang="zh-CN" dirty="0"/>
              <a:t>0X</a:t>
            </a:r>
            <a:endParaRPr lang="zh-CN" altLang="en-US" dirty="0"/>
          </a:p>
        </p:txBody>
      </p:sp>
      <p:sp>
        <p:nvSpPr>
          <p:cNvPr id="10" name="文本占位符 13"/>
          <p:cNvSpPr>
            <a:spLocks noGrp="1"/>
          </p:cNvSpPr>
          <p:nvPr>
            <p:ph type="body" sz="quarter" idx="12" hasCustomPrompt="1"/>
          </p:nvPr>
        </p:nvSpPr>
        <p:spPr>
          <a:xfrm>
            <a:off x="1626978" y="3706948"/>
            <a:ext cx="3574579" cy="92333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lang="zh-CN" altLang="en-US" sz="6000" b="1" smtClean="0">
                <a:solidFill>
                  <a:schemeClr val="accent1"/>
                </a:solidFill>
                <a:latin typeface="+mn-ea"/>
                <a:ea typeface="+mn-ea"/>
              </a:defRPr>
            </a:lvl1pPr>
          </a:lstStyle>
          <a:p>
            <a:pPr marL="0" lvl="0"/>
            <a:r>
              <a:rPr lang="zh-CN" altLang="en-US" dirty="0"/>
              <a:t>章节标题</a:t>
            </a:r>
            <a:endParaRPr lang="en-US" altLang="zh-CN" dirty="0"/>
          </a:p>
        </p:txBody>
      </p:sp>
      <p:sp>
        <p:nvSpPr>
          <p:cNvPr id="11" name="文本占位符 13"/>
          <p:cNvSpPr>
            <a:spLocks noGrp="1"/>
          </p:cNvSpPr>
          <p:nvPr>
            <p:ph type="body" sz="quarter" idx="13" hasCustomPrompt="1"/>
          </p:nvPr>
        </p:nvSpPr>
        <p:spPr>
          <a:xfrm>
            <a:off x="1626978" y="4646022"/>
            <a:ext cx="3574579" cy="424732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lang="en-US" altLang="zh-CN" sz="24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defRPr>
            </a:lvl1pPr>
          </a:lstStyle>
          <a:p>
            <a:pPr marL="0" lvl="0"/>
            <a:r>
              <a:rPr lang="en-US" altLang="zh-CN" dirty="0"/>
              <a:t>Chapter Title</a:t>
            </a:r>
          </a:p>
        </p:txBody>
      </p:sp>
      <p:sp>
        <p:nvSpPr>
          <p:cNvPr id="118" name="文本框 117"/>
          <p:cNvSpPr txBox="1"/>
          <p:nvPr userDrawn="1"/>
        </p:nvSpPr>
        <p:spPr>
          <a:xfrm>
            <a:off x="566643" y="6187578"/>
            <a:ext cx="42196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明德 厚学 求是 创新      </a:t>
            </a:r>
            <a:r>
              <a:rPr lang="en-US" altLang="zh-CN" dirty="0"/>
              <a:t>http://www.hust.edu.cn/</a:t>
            </a:r>
            <a:endParaRPr lang="zh-CN" altLang="en-US" dirty="0"/>
          </a:p>
        </p:txBody>
      </p:sp>
      <p:grpSp>
        <p:nvGrpSpPr>
          <p:cNvPr id="119" name="组合 118"/>
          <p:cNvGrpSpPr/>
          <p:nvPr userDrawn="1"/>
        </p:nvGrpSpPr>
        <p:grpSpPr>
          <a:xfrm>
            <a:off x="660401" y="439644"/>
            <a:ext cx="966578" cy="484447"/>
            <a:chOff x="1585727" y="453077"/>
            <a:chExt cx="374706" cy="187802"/>
          </a:xfrm>
          <a:solidFill>
            <a:schemeClr val="accent1"/>
          </a:solidFill>
        </p:grpSpPr>
        <p:sp>
          <p:nvSpPr>
            <p:cNvPr id="120" name="îśliďe"/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1" name="íšḻíḍé"/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2" name="ïṥḻïḓé"/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3" name="î$ḷíḋè"/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4" name="i$ḷiḍe"/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5" name="ïṡļïdè"/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6" name="íŝḻíḓê"/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7" name="isľîḑê"/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图片 124"/>
          <p:cNvPicPr>
            <a:picLocks noChangeAspect="1"/>
          </p:cNvPicPr>
          <p:nvPr userDrawn="1"/>
        </p:nvPicPr>
        <p:blipFill rotWithShape="1"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119" name="文本框 118"/>
          <p:cNvSpPr txBox="1"/>
          <p:nvPr userDrawn="1"/>
        </p:nvSpPr>
        <p:spPr>
          <a:xfrm>
            <a:off x="573312" y="6385246"/>
            <a:ext cx="23397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明德 厚学 求是 创新</a:t>
            </a:r>
          </a:p>
        </p:txBody>
      </p:sp>
      <p:sp>
        <p:nvSpPr>
          <p:cNvPr id="120" name="文本框 119"/>
          <p:cNvSpPr txBox="1"/>
          <p:nvPr userDrawn="1"/>
        </p:nvSpPr>
        <p:spPr>
          <a:xfrm>
            <a:off x="9548477" y="6385246"/>
            <a:ext cx="23397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http://www.hust.edu.cn/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87" name="椭圆 286"/>
          <p:cNvSpPr/>
          <p:nvPr userDrawn="1"/>
        </p:nvSpPr>
        <p:spPr>
          <a:xfrm>
            <a:off x="314691" y="151816"/>
            <a:ext cx="654470" cy="65447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4" name="文本占位符 16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566962" y="265803"/>
            <a:ext cx="4836888" cy="426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zh-CN" altLang="en-US" b="1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请输入标题或观点</a:t>
            </a:r>
          </a:p>
        </p:txBody>
      </p:sp>
      <p:cxnSp>
        <p:nvCxnSpPr>
          <p:cNvPr id="123" name="直接连接符 122"/>
          <p:cNvCxnSpPr/>
          <p:nvPr userDrawn="1"/>
        </p:nvCxnSpPr>
        <p:spPr>
          <a:xfrm>
            <a:off x="660400" y="6293875"/>
            <a:ext cx="10858500" cy="0"/>
          </a:xfrm>
          <a:prstGeom prst="line">
            <a:avLst/>
          </a:prstGeom>
          <a:ln w="22225" cap="rnd">
            <a:solidFill>
              <a:schemeClr val="accent1"/>
            </a:solidFill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5" name="组合 274"/>
          <p:cNvGrpSpPr/>
          <p:nvPr userDrawn="1"/>
        </p:nvGrpSpPr>
        <p:grpSpPr>
          <a:xfrm>
            <a:off x="10672870" y="250062"/>
            <a:ext cx="913766" cy="457978"/>
            <a:chOff x="1585727" y="453077"/>
            <a:chExt cx="374706" cy="187802"/>
          </a:xfrm>
          <a:solidFill>
            <a:schemeClr val="accent1"/>
          </a:solidFill>
        </p:grpSpPr>
        <p:sp>
          <p:nvSpPr>
            <p:cNvPr id="276" name="îśliďe"/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77" name="íšḻíḍé"/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78" name="ïṥḻïḓé"/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79" name="î$ḷíḋè"/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80" name="i$ḷiḍe"/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81" name="ïṡļïdè"/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82" name="íŝḻíḓê"/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83" name="isľîḑê"/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组合 117"/>
          <p:cNvGrpSpPr/>
          <p:nvPr userDrawn="1"/>
        </p:nvGrpSpPr>
        <p:grpSpPr>
          <a:xfrm>
            <a:off x="2539883" y="1646681"/>
            <a:ext cx="7112234" cy="3564639"/>
            <a:chOff x="1585727" y="453077"/>
            <a:chExt cx="374706" cy="187802"/>
          </a:xfrm>
          <a:solidFill>
            <a:schemeClr val="bg1">
              <a:lumMod val="65000"/>
              <a:alpha val="4000"/>
            </a:schemeClr>
          </a:solidFill>
        </p:grpSpPr>
        <p:sp>
          <p:nvSpPr>
            <p:cNvPr id="119" name="îśliďe"/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0" name="íšḻíḍé"/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3" name="ïṥḻïḓé"/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7" name="î$ḷíḋè"/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8" name="i$ḷiḍe"/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9" name="ïṡļïdè"/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0" name="íŝḻíḓê"/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1" name="isľîḑê"/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121" name="图片占位符 120"/>
          <p:cNvSpPr>
            <a:spLocks noGrp="1"/>
          </p:cNvSpPr>
          <p:nvPr>
            <p:ph type="pic" sz="quarter" idx="11"/>
          </p:nvPr>
        </p:nvSpPr>
        <p:spPr>
          <a:xfrm>
            <a:off x="5070600" y="1278508"/>
            <a:ext cx="2050802" cy="2050802"/>
          </a:xfrm>
          <a:custGeom>
            <a:avLst/>
            <a:gdLst>
              <a:gd name="connsiteX0" fmla="*/ 1240971 w 2481942"/>
              <a:gd name="connsiteY0" fmla="*/ 0 h 2481942"/>
              <a:gd name="connsiteX1" fmla="*/ 2481942 w 2481942"/>
              <a:gd name="connsiteY1" fmla="*/ 1240971 h 2481942"/>
              <a:gd name="connsiteX2" fmla="*/ 1240971 w 2481942"/>
              <a:gd name="connsiteY2" fmla="*/ 2481942 h 2481942"/>
              <a:gd name="connsiteX3" fmla="*/ 0 w 2481942"/>
              <a:gd name="connsiteY3" fmla="*/ 1240971 h 2481942"/>
              <a:gd name="connsiteX4" fmla="*/ 1240971 w 2481942"/>
              <a:gd name="connsiteY4" fmla="*/ 0 h 2481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81942" h="2481942">
                <a:moveTo>
                  <a:pt x="1240971" y="0"/>
                </a:moveTo>
                <a:cubicBezTo>
                  <a:pt x="1926340" y="0"/>
                  <a:pt x="2481942" y="555602"/>
                  <a:pt x="2481942" y="1240971"/>
                </a:cubicBezTo>
                <a:cubicBezTo>
                  <a:pt x="2481942" y="1926340"/>
                  <a:pt x="1926340" y="2481942"/>
                  <a:pt x="1240971" y="2481942"/>
                </a:cubicBezTo>
                <a:cubicBezTo>
                  <a:pt x="555602" y="2481942"/>
                  <a:pt x="0" y="1926340"/>
                  <a:pt x="0" y="1240971"/>
                </a:cubicBezTo>
                <a:cubicBezTo>
                  <a:pt x="0" y="555602"/>
                  <a:pt x="555602" y="0"/>
                  <a:pt x="124097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47" name="文本框 346"/>
          <p:cNvSpPr txBox="1"/>
          <p:nvPr userDrawn="1"/>
        </p:nvSpPr>
        <p:spPr>
          <a:xfrm>
            <a:off x="573312" y="6385246"/>
            <a:ext cx="23397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明德 厚学 求是 创新</a:t>
            </a:r>
          </a:p>
        </p:txBody>
      </p:sp>
      <p:sp>
        <p:nvSpPr>
          <p:cNvPr id="348" name="文本框 347"/>
          <p:cNvSpPr txBox="1"/>
          <p:nvPr userDrawn="1"/>
        </p:nvSpPr>
        <p:spPr>
          <a:xfrm>
            <a:off x="9548477" y="6385246"/>
            <a:ext cx="23397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http://www.hust.edu.cn/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351" name="直接连接符 350"/>
          <p:cNvCxnSpPr/>
          <p:nvPr userDrawn="1"/>
        </p:nvCxnSpPr>
        <p:spPr>
          <a:xfrm>
            <a:off x="660400" y="6293875"/>
            <a:ext cx="10858500" cy="0"/>
          </a:xfrm>
          <a:prstGeom prst="line">
            <a:avLst/>
          </a:prstGeom>
          <a:ln w="22225" cap="rnd">
            <a:solidFill>
              <a:schemeClr val="accent1"/>
            </a:solidFill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2" name="组合 351"/>
          <p:cNvGrpSpPr/>
          <p:nvPr userDrawn="1"/>
        </p:nvGrpSpPr>
        <p:grpSpPr>
          <a:xfrm>
            <a:off x="10672870" y="250062"/>
            <a:ext cx="913766" cy="457978"/>
            <a:chOff x="1585727" y="453077"/>
            <a:chExt cx="374706" cy="187802"/>
          </a:xfrm>
          <a:solidFill>
            <a:schemeClr val="accent1"/>
          </a:solidFill>
        </p:grpSpPr>
        <p:sp>
          <p:nvSpPr>
            <p:cNvPr id="353" name="îśliďe"/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4" name="íšḻíḍé"/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5" name="ïṥḻïḓé"/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6" name="î$ḷíḋè"/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7" name="i$ḷiḍe"/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8" name="ïṡļïdè"/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9" name="íŝḻíḓê"/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0" name="isľîḑê"/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361" name="椭圆 360"/>
          <p:cNvSpPr/>
          <p:nvPr userDrawn="1"/>
        </p:nvSpPr>
        <p:spPr>
          <a:xfrm>
            <a:off x="314691" y="151816"/>
            <a:ext cx="654470" cy="654470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2" name="文本占位符 163"/>
          <p:cNvSpPr>
            <a:spLocks noGrp="1"/>
          </p:cNvSpPr>
          <p:nvPr>
            <p:ph type="body" sz="quarter" idx="12" hasCustomPrompt="1"/>
          </p:nvPr>
        </p:nvSpPr>
        <p:spPr>
          <a:xfrm>
            <a:off x="566962" y="265803"/>
            <a:ext cx="4836888" cy="426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zh-CN" altLang="en-US" b="1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请输入标题或观点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2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组合 136"/>
          <p:cNvGrpSpPr/>
          <p:nvPr userDrawn="1"/>
        </p:nvGrpSpPr>
        <p:grpSpPr>
          <a:xfrm>
            <a:off x="2539883" y="1646681"/>
            <a:ext cx="7112234" cy="3564639"/>
            <a:chOff x="1585727" y="453077"/>
            <a:chExt cx="374706" cy="187802"/>
          </a:xfrm>
          <a:solidFill>
            <a:schemeClr val="bg1">
              <a:lumMod val="65000"/>
              <a:alpha val="4000"/>
            </a:schemeClr>
          </a:solidFill>
        </p:grpSpPr>
        <p:sp>
          <p:nvSpPr>
            <p:cNvPr id="138" name="îśliďe"/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9" name="íšḻíḍé"/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0" name="ïṥḻïḓé"/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1" name="î$ḷíḋè"/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2" name="i$ḷiḍe"/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3" name="ïṡļïdè"/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4" name="íŝḻíḓê"/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5" name="isľîḑê"/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7" name="图片占位符 126"/>
          <p:cNvSpPr>
            <a:spLocks noGrp="1"/>
          </p:cNvSpPr>
          <p:nvPr>
            <p:ph type="pic" sz="quarter" idx="11"/>
          </p:nvPr>
        </p:nvSpPr>
        <p:spPr>
          <a:xfrm>
            <a:off x="1313730" y="1631595"/>
            <a:ext cx="1238478" cy="1238478"/>
          </a:xfrm>
          <a:custGeom>
            <a:avLst/>
            <a:gdLst>
              <a:gd name="connsiteX0" fmla="*/ 619239 w 1238478"/>
              <a:gd name="connsiteY0" fmla="*/ 0 h 1238478"/>
              <a:gd name="connsiteX1" fmla="*/ 1238478 w 1238478"/>
              <a:gd name="connsiteY1" fmla="*/ 619239 h 1238478"/>
              <a:gd name="connsiteX2" fmla="*/ 619239 w 1238478"/>
              <a:gd name="connsiteY2" fmla="*/ 1238478 h 1238478"/>
              <a:gd name="connsiteX3" fmla="*/ 0 w 1238478"/>
              <a:gd name="connsiteY3" fmla="*/ 619239 h 1238478"/>
              <a:gd name="connsiteX4" fmla="*/ 619239 w 1238478"/>
              <a:gd name="connsiteY4" fmla="*/ 0 h 1238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8478" h="1238478">
                <a:moveTo>
                  <a:pt x="619239" y="0"/>
                </a:moveTo>
                <a:cubicBezTo>
                  <a:pt x="961235" y="0"/>
                  <a:pt x="1238478" y="277243"/>
                  <a:pt x="1238478" y="619239"/>
                </a:cubicBezTo>
                <a:cubicBezTo>
                  <a:pt x="1238478" y="961235"/>
                  <a:pt x="961235" y="1238478"/>
                  <a:pt x="619239" y="1238478"/>
                </a:cubicBezTo>
                <a:cubicBezTo>
                  <a:pt x="277243" y="1238478"/>
                  <a:pt x="0" y="961235"/>
                  <a:pt x="0" y="619239"/>
                </a:cubicBezTo>
                <a:cubicBezTo>
                  <a:pt x="0" y="277243"/>
                  <a:pt x="277243" y="0"/>
                  <a:pt x="61923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9" name="图片占位符 128"/>
          <p:cNvSpPr>
            <a:spLocks noGrp="1"/>
          </p:cNvSpPr>
          <p:nvPr>
            <p:ph type="pic" sz="quarter" idx="12"/>
          </p:nvPr>
        </p:nvSpPr>
        <p:spPr>
          <a:xfrm>
            <a:off x="4083980" y="1631595"/>
            <a:ext cx="1238478" cy="1238478"/>
          </a:xfrm>
          <a:custGeom>
            <a:avLst/>
            <a:gdLst>
              <a:gd name="connsiteX0" fmla="*/ 619239 w 1238478"/>
              <a:gd name="connsiteY0" fmla="*/ 0 h 1238478"/>
              <a:gd name="connsiteX1" fmla="*/ 1238478 w 1238478"/>
              <a:gd name="connsiteY1" fmla="*/ 619239 h 1238478"/>
              <a:gd name="connsiteX2" fmla="*/ 619239 w 1238478"/>
              <a:gd name="connsiteY2" fmla="*/ 1238478 h 1238478"/>
              <a:gd name="connsiteX3" fmla="*/ 0 w 1238478"/>
              <a:gd name="connsiteY3" fmla="*/ 619239 h 1238478"/>
              <a:gd name="connsiteX4" fmla="*/ 619239 w 1238478"/>
              <a:gd name="connsiteY4" fmla="*/ 0 h 1238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8478" h="1238478">
                <a:moveTo>
                  <a:pt x="619239" y="0"/>
                </a:moveTo>
                <a:cubicBezTo>
                  <a:pt x="961235" y="0"/>
                  <a:pt x="1238478" y="277243"/>
                  <a:pt x="1238478" y="619239"/>
                </a:cubicBezTo>
                <a:cubicBezTo>
                  <a:pt x="1238478" y="961235"/>
                  <a:pt x="961235" y="1238478"/>
                  <a:pt x="619239" y="1238478"/>
                </a:cubicBezTo>
                <a:cubicBezTo>
                  <a:pt x="277243" y="1238478"/>
                  <a:pt x="0" y="961235"/>
                  <a:pt x="0" y="619239"/>
                </a:cubicBezTo>
                <a:cubicBezTo>
                  <a:pt x="0" y="277243"/>
                  <a:pt x="277243" y="0"/>
                  <a:pt x="61923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31" name="图片占位符 130"/>
          <p:cNvSpPr>
            <a:spLocks noGrp="1"/>
          </p:cNvSpPr>
          <p:nvPr>
            <p:ph type="pic" sz="quarter" idx="13"/>
          </p:nvPr>
        </p:nvSpPr>
        <p:spPr>
          <a:xfrm>
            <a:off x="6858564" y="1631595"/>
            <a:ext cx="1238478" cy="1238478"/>
          </a:xfrm>
          <a:custGeom>
            <a:avLst/>
            <a:gdLst>
              <a:gd name="connsiteX0" fmla="*/ 619239 w 1238478"/>
              <a:gd name="connsiteY0" fmla="*/ 0 h 1238478"/>
              <a:gd name="connsiteX1" fmla="*/ 1238478 w 1238478"/>
              <a:gd name="connsiteY1" fmla="*/ 619239 h 1238478"/>
              <a:gd name="connsiteX2" fmla="*/ 619239 w 1238478"/>
              <a:gd name="connsiteY2" fmla="*/ 1238478 h 1238478"/>
              <a:gd name="connsiteX3" fmla="*/ 0 w 1238478"/>
              <a:gd name="connsiteY3" fmla="*/ 619239 h 1238478"/>
              <a:gd name="connsiteX4" fmla="*/ 619239 w 1238478"/>
              <a:gd name="connsiteY4" fmla="*/ 0 h 1238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8478" h="1238478">
                <a:moveTo>
                  <a:pt x="619239" y="0"/>
                </a:moveTo>
                <a:cubicBezTo>
                  <a:pt x="961235" y="0"/>
                  <a:pt x="1238478" y="277243"/>
                  <a:pt x="1238478" y="619239"/>
                </a:cubicBezTo>
                <a:cubicBezTo>
                  <a:pt x="1238478" y="961235"/>
                  <a:pt x="961235" y="1238478"/>
                  <a:pt x="619239" y="1238478"/>
                </a:cubicBezTo>
                <a:cubicBezTo>
                  <a:pt x="277243" y="1238478"/>
                  <a:pt x="0" y="961235"/>
                  <a:pt x="0" y="619239"/>
                </a:cubicBezTo>
                <a:cubicBezTo>
                  <a:pt x="0" y="277243"/>
                  <a:pt x="277243" y="0"/>
                  <a:pt x="61923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33" name="图片占位符 132"/>
          <p:cNvSpPr>
            <a:spLocks noGrp="1"/>
          </p:cNvSpPr>
          <p:nvPr>
            <p:ph type="pic" sz="quarter" idx="14"/>
          </p:nvPr>
        </p:nvSpPr>
        <p:spPr>
          <a:xfrm>
            <a:off x="9628315" y="1631595"/>
            <a:ext cx="1238478" cy="1238478"/>
          </a:xfrm>
          <a:custGeom>
            <a:avLst/>
            <a:gdLst>
              <a:gd name="connsiteX0" fmla="*/ 619239 w 1238478"/>
              <a:gd name="connsiteY0" fmla="*/ 0 h 1238478"/>
              <a:gd name="connsiteX1" fmla="*/ 1238478 w 1238478"/>
              <a:gd name="connsiteY1" fmla="*/ 619239 h 1238478"/>
              <a:gd name="connsiteX2" fmla="*/ 619239 w 1238478"/>
              <a:gd name="connsiteY2" fmla="*/ 1238478 h 1238478"/>
              <a:gd name="connsiteX3" fmla="*/ 0 w 1238478"/>
              <a:gd name="connsiteY3" fmla="*/ 619239 h 1238478"/>
              <a:gd name="connsiteX4" fmla="*/ 619239 w 1238478"/>
              <a:gd name="connsiteY4" fmla="*/ 0 h 1238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8478" h="1238478">
                <a:moveTo>
                  <a:pt x="619239" y="0"/>
                </a:moveTo>
                <a:cubicBezTo>
                  <a:pt x="961235" y="0"/>
                  <a:pt x="1238478" y="277243"/>
                  <a:pt x="1238478" y="619239"/>
                </a:cubicBezTo>
                <a:cubicBezTo>
                  <a:pt x="1238478" y="961235"/>
                  <a:pt x="961235" y="1238478"/>
                  <a:pt x="619239" y="1238478"/>
                </a:cubicBezTo>
                <a:cubicBezTo>
                  <a:pt x="277243" y="1238478"/>
                  <a:pt x="0" y="961235"/>
                  <a:pt x="0" y="619239"/>
                </a:cubicBezTo>
                <a:cubicBezTo>
                  <a:pt x="0" y="277243"/>
                  <a:pt x="277243" y="0"/>
                  <a:pt x="61923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58" name="文本框 357"/>
          <p:cNvSpPr txBox="1"/>
          <p:nvPr userDrawn="1"/>
        </p:nvSpPr>
        <p:spPr>
          <a:xfrm>
            <a:off x="573312" y="6385246"/>
            <a:ext cx="23397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明德 厚学 求是 创新</a:t>
            </a:r>
          </a:p>
        </p:txBody>
      </p:sp>
      <p:sp>
        <p:nvSpPr>
          <p:cNvPr id="359" name="文本框 358"/>
          <p:cNvSpPr txBox="1"/>
          <p:nvPr userDrawn="1"/>
        </p:nvSpPr>
        <p:spPr>
          <a:xfrm>
            <a:off x="9548477" y="6385246"/>
            <a:ext cx="23397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http://www.hust.edu.cn/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362" name="直接连接符 361"/>
          <p:cNvCxnSpPr/>
          <p:nvPr userDrawn="1"/>
        </p:nvCxnSpPr>
        <p:spPr>
          <a:xfrm>
            <a:off x="660400" y="6293875"/>
            <a:ext cx="10858500" cy="0"/>
          </a:xfrm>
          <a:prstGeom prst="line">
            <a:avLst/>
          </a:prstGeom>
          <a:ln w="22225" cap="rnd">
            <a:solidFill>
              <a:schemeClr val="accent1"/>
            </a:solidFill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3" name="组合 362"/>
          <p:cNvGrpSpPr/>
          <p:nvPr userDrawn="1"/>
        </p:nvGrpSpPr>
        <p:grpSpPr>
          <a:xfrm>
            <a:off x="10672870" y="250062"/>
            <a:ext cx="913766" cy="457978"/>
            <a:chOff x="1585727" y="453077"/>
            <a:chExt cx="374706" cy="187802"/>
          </a:xfrm>
          <a:solidFill>
            <a:schemeClr val="accent1"/>
          </a:solidFill>
        </p:grpSpPr>
        <p:sp>
          <p:nvSpPr>
            <p:cNvPr id="364" name="îśliďe"/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5" name="íšḻíḍé"/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6" name="ïṥḻïḓé"/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7" name="î$ḷíḋè"/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8" name="i$ḷiḍe"/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9" name="ïṡļïdè"/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0" name="íŝḻíḓê"/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1" name="isľîḑê"/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372" name="椭圆 371"/>
          <p:cNvSpPr/>
          <p:nvPr userDrawn="1"/>
        </p:nvSpPr>
        <p:spPr>
          <a:xfrm>
            <a:off x="314691" y="151816"/>
            <a:ext cx="654470" cy="654470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3" name="文本占位符 163"/>
          <p:cNvSpPr>
            <a:spLocks noGrp="1"/>
          </p:cNvSpPr>
          <p:nvPr>
            <p:ph type="body" sz="quarter" idx="15" hasCustomPrompt="1"/>
          </p:nvPr>
        </p:nvSpPr>
        <p:spPr>
          <a:xfrm>
            <a:off x="566962" y="265803"/>
            <a:ext cx="4836888" cy="426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zh-CN" altLang="en-US" b="1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请输入标题或观点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3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组合 119"/>
          <p:cNvGrpSpPr/>
          <p:nvPr userDrawn="1"/>
        </p:nvGrpSpPr>
        <p:grpSpPr>
          <a:xfrm>
            <a:off x="2539883" y="1646681"/>
            <a:ext cx="7112234" cy="3564639"/>
            <a:chOff x="1585727" y="453077"/>
            <a:chExt cx="374706" cy="187802"/>
          </a:xfrm>
          <a:solidFill>
            <a:schemeClr val="bg1">
              <a:lumMod val="65000"/>
              <a:alpha val="4000"/>
            </a:schemeClr>
          </a:solidFill>
        </p:grpSpPr>
        <p:sp>
          <p:nvSpPr>
            <p:cNvPr id="124" name="îśliďe"/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5" name="íšḻíḍé"/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6" name="ïṥḻïḓé"/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7" name="î$ḷíḋè"/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8" name="i$ḷiḍe"/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9" name="ïṡļïdè"/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0" name="íŝḻíḓê"/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1" name="isľîḑê"/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248" name="图片占位符 247"/>
          <p:cNvSpPr>
            <a:spLocks noGrp="1"/>
          </p:cNvSpPr>
          <p:nvPr>
            <p:ph type="pic" sz="quarter" idx="17"/>
          </p:nvPr>
        </p:nvSpPr>
        <p:spPr>
          <a:xfrm>
            <a:off x="3708401" y="1386114"/>
            <a:ext cx="1364797" cy="4085772"/>
          </a:xfrm>
          <a:custGeom>
            <a:avLst/>
            <a:gdLst>
              <a:gd name="connsiteX0" fmla="*/ 0 w 1364797"/>
              <a:gd name="connsiteY0" fmla="*/ 0 h 4085772"/>
              <a:gd name="connsiteX1" fmla="*/ 1364797 w 1364797"/>
              <a:gd name="connsiteY1" fmla="*/ 0 h 4085772"/>
              <a:gd name="connsiteX2" fmla="*/ 1364797 w 1364797"/>
              <a:gd name="connsiteY2" fmla="*/ 4085772 h 4085772"/>
              <a:gd name="connsiteX3" fmla="*/ 0 w 1364797"/>
              <a:gd name="connsiteY3" fmla="*/ 4085772 h 4085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64797" h="4085772">
                <a:moveTo>
                  <a:pt x="0" y="0"/>
                </a:moveTo>
                <a:lnTo>
                  <a:pt x="1364797" y="0"/>
                </a:lnTo>
                <a:lnTo>
                  <a:pt x="1364797" y="4085772"/>
                </a:lnTo>
                <a:lnTo>
                  <a:pt x="0" y="4085772"/>
                </a:lnTo>
                <a:close/>
              </a:path>
            </a:pathLst>
          </a:custGeom>
          <a:ln w="25400">
            <a:solidFill>
              <a:schemeClr val="bg1"/>
            </a:solidFill>
          </a:ln>
          <a:effectLst>
            <a:outerShdw blurRad="63500" sx="103000" sy="103000" algn="ctr" rotWithShape="0">
              <a:prstClr val="black">
                <a:alpha val="5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47" name="图片占位符 246"/>
          <p:cNvSpPr>
            <a:spLocks noGrp="1"/>
          </p:cNvSpPr>
          <p:nvPr>
            <p:ph type="pic" sz="quarter" idx="16"/>
          </p:nvPr>
        </p:nvSpPr>
        <p:spPr>
          <a:xfrm>
            <a:off x="660400" y="3465700"/>
            <a:ext cx="3048001" cy="2008861"/>
          </a:xfrm>
          <a:custGeom>
            <a:avLst/>
            <a:gdLst>
              <a:gd name="connsiteX0" fmla="*/ 0 w 3048001"/>
              <a:gd name="connsiteY0" fmla="*/ 0 h 2008861"/>
              <a:gd name="connsiteX1" fmla="*/ 3048001 w 3048001"/>
              <a:gd name="connsiteY1" fmla="*/ 0 h 2008861"/>
              <a:gd name="connsiteX2" fmla="*/ 3048001 w 3048001"/>
              <a:gd name="connsiteY2" fmla="*/ 2008861 h 2008861"/>
              <a:gd name="connsiteX3" fmla="*/ 0 w 3048001"/>
              <a:gd name="connsiteY3" fmla="*/ 2008861 h 2008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8001" h="2008861">
                <a:moveTo>
                  <a:pt x="0" y="0"/>
                </a:moveTo>
                <a:lnTo>
                  <a:pt x="3048001" y="0"/>
                </a:lnTo>
                <a:lnTo>
                  <a:pt x="3048001" y="2008861"/>
                </a:lnTo>
                <a:lnTo>
                  <a:pt x="0" y="2008861"/>
                </a:lnTo>
                <a:close/>
              </a:path>
            </a:pathLst>
          </a:custGeom>
          <a:ln w="25400">
            <a:solidFill>
              <a:schemeClr val="bg1"/>
            </a:solidFill>
          </a:ln>
          <a:effectLst>
            <a:outerShdw blurRad="63500" sx="103000" sy="103000" algn="ctr" rotWithShape="0">
              <a:prstClr val="black">
                <a:alpha val="5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46" name="图片占位符 245"/>
          <p:cNvSpPr>
            <a:spLocks noGrp="1"/>
          </p:cNvSpPr>
          <p:nvPr>
            <p:ph type="pic" sz="quarter" idx="15"/>
          </p:nvPr>
        </p:nvSpPr>
        <p:spPr>
          <a:xfrm>
            <a:off x="2405742" y="1377645"/>
            <a:ext cx="1302658" cy="2076910"/>
          </a:xfrm>
          <a:custGeom>
            <a:avLst/>
            <a:gdLst>
              <a:gd name="connsiteX0" fmla="*/ 0 w 1302658"/>
              <a:gd name="connsiteY0" fmla="*/ 0 h 2076910"/>
              <a:gd name="connsiteX1" fmla="*/ 1302658 w 1302658"/>
              <a:gd name="connsiteY1" fmla="*/ 0 h 2076910"/>
              <a:gd name="connsiteX2" fmla="*/ 1302658 w 1302658"/>
              <a:gd name="connsiteY2" fmla="*/ 2076910 h 2076910"/>
              <a:gd name="connsiteX3" fmla="*/ 0 w 1302658"/>
              <a:gd name="connsiteY3" fmla="*/ 2076910 h 2076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02658" h="2076910">
                <a:moveTo>
                  <a:pt x="0" y="0"/>
                </a:moveTo>
                <a:lnTo>
                  <a:pt x="1302658" y="0"/>
                </a:lnTo>
                <a:lnTo>
                  <a:pt x="1302658" y="2076910"/>
                </a:lnTo>
                <a:lnTo>
                  <a:pt x="0" y="2076910"/>
                </a:lnTo>
                <a:close/>
              </a:path>
            </a:pathLst>
          </a:custGeom>
          <a:ln w="25400">
            <a:solidFill>
              <a:schemeClr val="bg1"/>
            </a:solidFill>
          </a:ln>
          <a:effectLst>
            <a:outerShdw blurRad="63500" sx="103000" sy="103000" algn="ctr" rotWithShape="0">
              <a:prstClr val="black">
                <a:alpha val="5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45" name="图片占位符 244"/>
          <p:cNvSpPr>
            <a:spLocks noGrp="1"/>
          </p:cNvSpPr>
          <p:nvPr>
            <p:ph type="pic" sz="quarter" idx="14"/>
          </p:nvPr>
        </p:nvSpPr>
        <p:spPr>
          <a:xfrm>
            <a:off x="660400" y="2540776"/>
            <a:ext cx="1745343" cy="913779"/>
          </a:xfrm>
          <a:custGeom>
            <a:avLst/>
            <a:gdLst>
              <a:gd name="connsiteX0" fmla="*/ 0 w 1745343"/>
              <a:gd name="connsiteY0" fmla="*/ 0 h 913779"/>
              <a:gd name="connsiteX1" fmla="*/ 1745343 w 1745343"/>
              <a:gd name="connsiteY1" fmla="*/ 0 h 913779"/>
              <a:gd name="connsiteX2" fmla="*/ 1745343 w 1745343"/>
              <a:gd name="connsiteY2" fmla="*/ 913779 h 913779"/>
              <a:gd name="connsiteX3" fmla="*/ 0 w 1745343"/>
              <a:gd name="connsiteY3" fmla="*/ 913779 h 913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45343" h="913779">
                <a:moveTo>
                  <a:pt x="0" y="0"/>
                </a:moveTo>
                <a:lnTo>
                  <a:pt x="1745343" y="0"/>
                </a:lnTo>
                <a:lnTo>
                  <a:pt x="1745343" y="913779"/>
                </a:lnTo>
                <a:lnTo>
                  <a:pt x="0" y="913779"/>
                </a:lnTo>
                <a:close/>
              </a:path>
            </a:pathLst>
          </a:custGeom>
          <a:ln w="25400">
            <a:solidFill>
              <a:schemeClr val="bg1"/>
            </a:solidFill>
          </a:ln>
          <a:effectLst>
            <a:outerShdw blurRad="63500" sx="103000" sy="103000" algn="ctr" rotWithShape="0">
              <a:prstClr val="black">
                <a:alpha val="5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44" name="图片占位符 243"/>
          <p:cNvSpPr>
            <a:spLocks noGrp="1"/>
          </p:cNvSpPr>
          <p:nvPr>
            <p:ph type="pic" sz="quarter" idx="13"/>
          </p:nvPr>
        </p:nvSpPr>
        <p:spPr>
          <a:xfrm>
            <a:off x="660400" y="1377645"/>
            <a:ext cx="1745343" cy="1163131"/>
          </a:xfrm>
          <a:custGeom>
            <a:avLst/>
            <a:gdLst>
              <a:gd name="connsiteX0" fmla="*/ 0 w 1745343"/>
              <a:gd name="connsiteY0" fmla="*/ 0 h 1163131"/>
              <a:gd name="connsiteX1" fmla="*/ 1745343 w 1745343"/>
              <a:gd name="connsiteY1" fmla="*/ 0 h 1163131"/>
              <a:gd name="connsiteX2" fmla="*/ 1745343 w 1745343"/>
              <a:gd name="connsiteY2" fmla="*/ 1163131 h 1163131"/>
              <a:gd name="connsiteX3" fmla="*/ 0 w 1745343"/>
              <a:gd name="connsiteY3" fmla="*/ 1163131 h 1163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45343" h="1163131">
                <a:moveTo>
                  <a:pt x="0" y="0"/>
                </a:moveTo>
                <a:lnTo>
                  <a:pt x="1745343" y="0"/>
                </a:lnTo>
                <a:lnTo>
                  <a:pt x="1745343" y="1163131"/>
                </a:lnTo>
                <a:lnTo>
                  <a:pt x="0" y="1163131"/>
                </a:lnTo>
                <a:close/>
              </a:path>
            </a:pathLst>
          </a:custGeom>
          <a:ln w="25400">
            <a:solidFill>
              <a:schemeClr val="bg1"/>
            </a:solidFill>
          </a:ln>
          <a:effectLst>
            <a:outerShdw blurRad="63500" sx="103000" sy="103000" algn="ctr" rotWithShape="0">
              <a:prstClr val="black">
                <a:alpha val="5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67" name="文本框 366"/>
          <p:cNvSpPr txBox="1"/>
          <p:nvPr userDrawn="1"/>
        </p:nvSpPr>
        <p:spPr>
          <a:xfrm>
            <a:off x="573312" y="6385246"/>
            <a:ext cx="23397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明德 厚学 求是 创新</a:t>
            </a:r>
          </a:p>
        </p:txBody>
      </p:sp>
      <p:sp>
        <p:nvSpPr>
          <p:cNvPr id="368" name="文本框 367"/>
          <p:cNvSpPr txBox="1"/>
          <p:nvPr userDrawn="1"/>
        </p:nvSpPr>
        <p:spPr>
          <a:xfrm>
            <a:off x="9548477" y="6385246"/>
            <a:ext cx="23397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http://www.hust.edu.cn/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371" name="直接连接符 370"/>
          <p:cNvCxnSpPr/>
          <p:nvPr userDrawn="1"/>
        </p:nvCxnSpPr>
        <p:spPr>
          <a:xfrm>
            <a:off x="660400" y="6293875"/>
            <a:ext cx="10858500" cy="0"/>
          </a:xfrm>
          <a:prstGeom prst="line">
            <a:avLst/>
          </a:prstGeom>
          <a:ln w="22225" cap="rnd">
            <a:solidFill>
              <a:schemeClr val="accent1"/>
            </a:solidFill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2" name="组合 371"/>
          <p:cNvGrpSpPr/>
          <p:nvPr userDrawn="1"/>
        </p:nvGrpSpPr>
        <p:grpSpPr>
          <a:xfrm>
            <a:off x="10672870" y="250062"/>
            <a:ext cx="913766" cy="457978"/>
            <a:chOff x="1585727" y="453077"/>
            <a:chExt cx="374706" cy="187802"/>
          </a:xfrm>
          <a:solidFill>
            <a:schemeClr val="accent1"/>
          </a:solidFill>
        </p:grpSpPr>
        <p:sp>
          <p:nvSpPr>
            <p:cNvPr id="373" name="îśliďe"/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4" name="íšḻíḍé"/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5" name="ïṥḻïḓé"/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6" name="î$ḷíḋè"/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7" name="i$ḷiḍe"/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8" name="ïṡļïdè"/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9" name="íŝḻíḓê"/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80" name="isľîḑê"/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381" name="椭圆 380"/>
          <p:cNvSpPr/>
          <p:nvPr userDrawn="1"/>
        </p:nvSpPr>
        <p:spPr>
          <a:xfrm>
            <a:off x="314691" y="151816"/>
            <a:ext cx="654470" cy="654470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2" name="文本占位符 163"/>
          <p:cNvSpPr>
            <a:spLocks noGrp="1"/>
          </p:cNvSpPr>
          <p:nvPr>
            <p:ph type="body" sz="quarter" idx="12" hasCustomPrompt="1"/>
          </p:nvPr>
        </p:nvSpPr>
        <p:spPr>
          <a:xfrm>
            <a:off x="566962" y="265803"/>
            <a:ext cx="4836888" cy="426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zh-CN" altLang="en-US" b="1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请输入标题或观点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4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图片占位符 238"/>
          <p:cNvSpPr>
            <a:spLocks noGrp="1"/>
          </p:cNvSpPr>
          <p:nvPr>
            <p:ph type="pic" sz="quarter" idx="13"/>
          </p:nvPr>
        </p:nvSpPr>
        <p:spPr>
          <a:xfrm>
            <a:off x="863600" y="1173727"/>
            <a:ext cx="5435600" cy="4510547"/>
          </a:xfrm>
          <a:custGeom>
            <a:avLst/>
            <a:gdLst>
              <a:gd name="connsiteX0" fmla="*/ 0 w 6248400"/>
              <a:gd name="connsiteY0" fmla="*/ 0 h 3873478"/>
              <a:gd name="connsiteX1" fmla="*/ 6248400 w 6248400"/>
              <a:gd name="connsiteY1" fmla="*/ 0 h 3873478"/>
              <a:gd name="connsiteX2" fmla="*/ 6248400 w 6248400"/>
              <a:gd name="connsiteY2" fmla="*/ 3873478 h 3873478"/>
              <a:gd name="connsiteX3" fmla="*/ 0 w 6248400"/>
              <a:gd name="connsiteY3" fmla="*/ 3873478 h 3873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48400" h="3873478">
                <a:moveTo>
                  <a:pt x="0" y="0"/>
                </a:moveTo>
                <a:lnTo>
                  <a:pt x="6248400" y="0"/>
                </a:lnTo>
                <a:lnTo>
                  <a:pt x="6248400" y="3873478"/>
                </a:lnTo>
                <a:lnTo>
                  <a:pt x="0" y="387347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grpSp>
        <p:nvGrpSpPr>
          <p:cNvPr id="117" name="组合 116"/>
          <p:cNvGrpSpPr/>
          <p:nvPr userDrawn="1"/>
        </p:nvGrpSpPr>
        <p:grpSpPr>
          <a:xfrm>
            <a:off x="2539883" y="1646681"/>
            <a:ext cx="7112234" cy="3564639"/>
            <a:chOff x="1585727" y="453077"/>
            <a:chExt cx="374706" cy="187802"/>
          </a:xfrm>
          <a:solidFill>
            <a:schemeClr val="bg1">
              <a:lumMod val="65000"/>
              <a:alpha val="4000"/>
            </a:schemeClr>
          </a:solidFill>
        </p:grpSpPr>
        <p:sp>
          <p:nvSpPr>
            <p:cNvPr id="118" name="îśliďe"/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9" name="íšḻíḍé"/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2" name="ïṥḻïḓé"/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3" name="î$ḷíḋè"/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4" name="i$ḷiḍe"/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5" name="ïṡļïdè"/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6" name="íŝḻíḓê"/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6" name="isľîḑê"/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8" name="文本框 127"/>
          <p:cNvSpPr txBox="1"/>
          <p:nvPr userDrawn="1"/>
        </p:nvSpPr>
        <p:spPr>
          <a:xfrm>
            <a:off x="573312" y="6385246"/>
            <a:ext cx="23397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明德 厚学 求是 创新</a:t>
            </a:r>
          </a:p>
        </p:txBody>
      </p:sp>
      <p:sp>
        <p:nvSpPr>
          <p:cNvPr id="129" name="文本框 128"/>
          <p:cNvSpPr txBox="1"/>
          <p:nvPr userDrawn="1"/>
        </p:nvSpPr>
        <p:spPr>
          <a:xfrm>
            <a:off x="9548477" y="6385246"/>
            <a:ext cx="23397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http://www.hust.edu.cn/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32" name="直接连接符 131"/>
          <p:cNvCxnSpPr/>
          <p:nvPr userDrawn="1"/>
        </p:nvCxnSpPr>
        <p:spPr>
          <a:xfrm>
            <a:off x="660400" y="6293875"/>
            <a:ext cx="10858500" cy="0"/>
          </a:xfrm>
          <a:prstGeom prst="line">
            <a:avLst/>
          </a:prstGeom>
          <a:ln w="22225" cap="rnd">
            <a:solidFill>
              <a:schemeClr val="accent1"/>
            </a:solidFill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3" name="组合 132"/>
          <p:cNvGrpSpPr/>
          <p:nvPr userDrawn="1"/>
        </p:nvGrpSpPr>
        <p:grpSpPr>
          <a:xfrm>
            <a:off x="10672870" y="250062"/>
            <a:ext cx="913766" cy="457978"/>
            <a:chOff x="1585727" y="453077"/>
            <a:chExt cx="374706" cy="187802"/>
          </a:xfrm>
          <a:solidFill>
            <a:schemeClr val="accent1"/>
          </a:solidFill>
        </p:grpSpPr>
        <p:sp>
          <p:nvSpPr>
            <p:cNvPr id="134" name="îśliďe"/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5" name="íšḻíḍé"/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6" name="ïṥḻïḓé"/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7" name="î$ḷíḋè"/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8" name="i$ḷiḍe"/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9" name="ïṡļïdè"/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0" name="íŝḻíḓê"/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1" name="isľîḑê"/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142" name="椭圆 141"/>
          <p:cNvSpPr/>
          <p:nvPr userDrawn="1"/>
        </p:nvSpPr>
        <p:spPr>
          <a:xfrm>
            <a:off x="314691" y="151816"/>
            <a:ext cx="654470" cy="654470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3" name="文本占位符 163"/>
          <p:cNvSpPr>
            <a:spLocks noGrp="1"/>
          </p:cNvSpPr>
          <p:nvPr>
            <p:ph type="body" sz="quarter" idx="12" hasCustomPrompt="1"/>
          </p:nvPr>
        </p:nvSpPr>
        <p:spPr>
          <a:xfrm>
            <a:off x="566962" y="265803"/>
            <a:ext cx="4836888" cy="426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zh-CN" altLang="en-US" b="1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请输入标题或观点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容页4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图片占位符 238"/>
          <p:cNvSpPr>
            <a:spLocks noGrp="1"/>
          </p:cNvSpPr>
          <p:nvPr>
            <p:ph type="pic" sz="quarter" idx="13"/>
          </p:nvPr>
        </p:nvSpPr>
        <p:spPr>
          <a:xfrm>
            <a:off x="1174811" y="1174568"/>
            <a:ext cx="9842379" cy="2138192"/>
          </a:xfrm>
          <a:custGeom>
            <a:avLst/>
            <a:gdLst>
              <a:gd name="connsiteX0" fmla="*/ 0 w 6248400"/>
              <a:gd name="connsiteY0" fmla="*/ 0 h 3873478"/>
              <a:gd name="connsiteX1" fmla="*/ 6248400 w 6248400"/>
              <a:gd name="connsiteY1" fmla="*/ 0 h 3873478"/>
              <a:gd name="connsiteX2" fmla="*/ 6248400 w 6248400"/>
              <a:gd name="connsiteY2" fmla="*/ 3873478 h 3873478"/>
              <a:gd name="connsiteX3" fmla="*/ 0 w 6248400"/>
              <a:gd name="connsiteY3" fmla="*/ 3873478 h 3873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48400" h="3873478">
                <a:moveTo>
                  <a:pt x="0" y="0"/>
                </a:moveTo>
                <a:lnTo>
                  <a:pt x="6248400" y="0"/>
                </a:lnTo>
                <a:lnTo>
                  <a:pt x="6248400" y="3873478"/>
                </a:lnTo>
                <a:lnTo>
                  <a:pt x="0" y="387347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grpSp>
        <p:nvGrpSpPr>
          <p:cNvPr id="117" name="组合 116"/>
          <p:cNvGrpSpPr/>
          <p:nvPr userDrawn="1"/>
        </p:nvGrpSpPr>
        <p:grpSpPr>
          <a:xfrm>
            <a:off x="2539883" y="1646681"/>
            <a:ext cx="7112234" cy="3564639"/>
            <a:chOff x="1585727" y="453077"/>
            <a:chExt cx="374706" cy="187802"/>
          </a:xfrm>
          <a:solidFill>
            <a:schemeClr val="bg1">
              <a:lumMod val="65000"/>
              <a:alpha val="4000"/>
            </a:schemeClr>
          </a:solidFill>
        </p:grpSpPr>
        <p:sp>
          <p:nvSpPr>
            <p:cNvPr id="118" name="îśliďe"/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9" name="íšḻíḍé"/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2" name="ïṥḻïḓé"/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3" name="î$ḷíḋè"/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4" name="i$ḷiḍe"/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5" name="ïṡļïdè"/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6" name="íŝḻíḓê"/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6" name="isľîḑê"/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8" name="文本框 127"/>
          <p:cNvSpPr txBox="1"/>
          <p:nvPr userDrawn="1"/>
        </p:nvSpPr>
        <p:spPr>
          <a:xfrm>
            <a:off x="573312" y="6385246"/>
            <a:ext cx="23397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明德 厚学 求是 创新</a:t>
            </a:r>
          </a:p>
        </p:txBody>
      </p:sp>
      <p:sp>
        <p:nvSpPr>
          <p:cNvPr id="129" name="文本框 128"/>
          <p:cNvSpPr txBox="1"/>
          <p:nvPr userDrawn="1"/>
        </p:nvSpPr>
        <p:spPr>
          <a:xfrm>
            <a:off x="9548477" y="6385246"/>
            <a:ext cx="23397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http://www.hust.edu.cn/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32" name="直接连接符 131"/>
          <p:cNvCxnSpPr/>
          <p:nvPr userDrawn="1"/>
        </p:nvCxnSpPr>
        <p:spPr>
          <a:xfrm>
            <a:off x="660400" y="6293875"/>
            <a:ext cx="10858500" cy="0"/>
          </a:xfrm>
          <a:prstGeom prst="line">
            <a:avLst/>
          </a:prstGeom>
          <a:ln w="22225" cap="rnd">
            <a:solidFill>
              <a:schemeClr val="accent1"/>
            </a:solidFill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3" name="组合 132"/>
          <p:cNvGrpSpPr/>
          <p:nvPr userDrawn="1"/>
        </p:nvGrpSpPr>
        <p:grpSpPr>
          <a:xfrm>
            <a:off x="10672870" y="250062"/>
            <a:ext cx="913766" cy="457978"/>
            <a:chOff x="1585727" y="453077"/>
            <a:chExt cx="374706" cy="187802"/>
          </a:xfrm>
          <a:solidFill>
            <a:schemeClr val="accent1"/>
          </a:solidFill>
        </p:grpSpPr>
        <p:sp>
          <p:nvSpPr>
            <p:cNvPr id="134" name="îśliďe"/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5" name="íšḻíḍé"/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6" name="ïṥḻïḓé"/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7" name="î$ḷíḋè"/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8" name="i$ḷiḍe"/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9" name="ïṡļïdè"/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0" name="íŝḻíḓê"/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1" name="isľîḑê"/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142" name="椭圆 141"/>
          <p:cNvSpPr/>
          <p:nvPr userDrawn="1"/>
        </p:nvSpPr>
        <p:spPr>
          <a:xfrm>
            <a:off x="314691" y="151816"/>
            <a:ext cx="654470" cy="654470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3" name="文本占位符 163"/>
          <p:cNvSpPr>
            <a:spLocks noGrp="1"/>
          </p:cNvSpPr>
          <p:nvPr>
            <p:ph type="body" sz="quarter" idx="12" hasCustomPrompt="1"/>
          </p:nvPr>
        </p:nvSpPr>
        <p:spPr>
          <a:xfrm>
            <a:off x="566962" y="265803"/>
            <a:ext cx="4836888" cy="426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zh-CN" altLang="en-US" b="1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请输入标题或观点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5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7" name="图片占位符 124"/>
          <p:cNvSpPr>
            <a:spLocks noGrp="1"/>
          </p:cNvSpPr>
          <p:nvPr>
            <p:ph type="pic" sz="quarter" idx="14"/>
          </p:nvPr>
        </p:nvSpPr>
        <p:spPr>
          <a:xfrm>
            <a:off x="8098900" y="3541175"/>
            <a:ext cx="3420000" cy="2300400"/>
          </a:xfrm>
          <a:custGeom>
            <a:avLst/>
            <a:gdLst>
              <a:gd name="connsiteX0" fmla="*/ 0 w 3492500"/>
              <a:gd name="connsiteY0" fmla="*/ 0 h 2066539"/>
              <a:gd name="connsiteX1" fmla="*/ 3492500 w 3492500"/>
              <a:gd name="connsiteY1" fmla="*/ 0 h 2066539"/>
              <a:gd name="connsiteX2" fmla="*/ 3492500 w 3492500"/>
              <a:gd name="connsiteY2" fmla="*/ 2066539 h 2066539"/>
              <a:gd name="connsiteX3" fmla="*/ 0 w 3492500"/>
              <a:gd name="connsiteY3" fmla="*/ 2066539 h 2066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92500" h="2066539">
                <a:moveTo>
                  <a:pt x="0" y="0"/>
                </a:moveTo>
                <a:lnTo>
                  <a:pt x="3492500" y="0"/>
                </a:lnTo>
                <a:lnTo>
                  <a:pt x="3492500" y="2066539"/>
                </a:lnTo>
                <a:lnTo>
                  <a:pt x="0" y="206653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grpSp>
        <p:nvGrpSpPr>
          <p:cNvPr id="119" name="组合 118"/>
          <p:cNvGrpSpPr/>
          <p:nvPr userDrawn="1"/>
        </p:nvGrpSpPr>
        <p:grpSpPr>
          <a:xfrm>
            <a:off x="2539883" y="1646681"/>
            <a:ext cx="7112234" cy="3564639"/>
            <a:chOff x="1585727" y="453077"/>
            <a:chExt cx="374706" cy="187802"/>
          </a:xfrm>
          <a:solidFill>
            <a:schemeClr val="bg1">
              <a:lumMod val="65000"/>
              <a:alpha val="4000"/>
            </a:schemeClr>
          </a:solidFill>
        </p:grpSpPr>
        <p:sp>
          <p:nvSpPr>
            <p:cNvPr id="120" name="îśliďe"/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1" name="íšḻíḍé"/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2" name="ïṥḻïḓé"/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3" name="î$ḷíḋè"/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4" name="i$ḷiḍe"/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6" name="ïṡļïdè"/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7" name="íŝḻíḓê"/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8" name="isľîḑê"/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125" name="图片占位符 124"/>
          <p:cNvSpPr>
            <a:spLocks noGrp="1"/>
          </p:cNvSpPr>
          <p:nvPr>
            <p:ph type="pic" sz="quarter" idx="13"/>
          </p:nvPr>
        </p:nvSpPr>
        <p:spPr>
          <a:xfrm>
            <a:off x="671114" y="1018790"/>
            <a:ext cx="3420000" cy="2300400"/>
          </a:xfrm>
          <a:custGeom>
            <a:avLst/>
            <a:gdLst>
              <a:gd name="connsiteX0" fmla="*/ 0 w 3492500"/>
              <a:gd name="connsiteY0" fmla="*/ 0 h 2066539"/>
              <a:gd name="connsiteX1" fmla="*/ 3492500 w 3492500"/>
              <a:gd name="connsiteY1" fmla="*/ 0 h 2066539"/>
              <a:gd name="connsiteX2" fmla="*/ 3492500 w 3492500"/>
              <a:gd name="connsiteY2" fmla="*/ 2066539 h 2066539"/>
              <a:gd name="connsiteX3" fmla="*/ 0 w 3492500"/>
              <a:gd name="connsiteY3" fmla="*/ 2066539 h 2066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92500" h="2066539">
                <a:moveTo>
                  <a:pt x="0" y="0"/>
                </a:moveTo>
                <a:lnTo>
                  <a:pt x="3492500" y="0"/>
                </a:lnTo>
                <a:lnTo>
                  <a:pt x="3492500" y="2066539"/>
                </a:lnTo>
                <a:lnTo>
                  <a:pt x="0" y="206653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58" name="文本框 357"/>
          <p:cNvSpPr txBox="1"/>
          <p:nvPr userDrawn="1"/>
        </p:nvSpPr>
        <p:spPr>
          <a:xfrm>
            <a:off x="573312" y="6385246"/>
            <a:ext cx="23397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明德 厚学 求是 创新</a:t>
            </a:r>
          </a:p>
        </p:txBody>
      </p:sp>
      <p:sp>
        <p:nvSpPr>
          <p:cNvPr id="359" name="文本框 358"/>
          <p:cNvSpPr txBox="1"/>
          <p:nvPr userDrawn="1"/>
        </p:nvSpPr>
        <p:spPr>
          <a:xfrm>
            <a:off x="9548477" y="6385246"/>
            <a:ext cx="23397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http://www.hust.edu.cn/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362" name="直接连接符 361"/>
          <p:cNvCxnSpPr/>
          <p:nvPr userDrawn="1"/>
        </p:nvCxnSpPr>
        <p:spPr>
          <a:xfrm>
            <a:off x="660400" y="6293875"/>
            <a:ext cx="10858500" cy="0"/>
          </a:xfrm>
          <a:prstGeom prst="line">
            <a:avLst/>
          </a:prstGeom>
          <a:ln w="22225" cap="rnd">
            <a:solidFill>
              <a:schemeClr val="accent1"/>
            </a:solidFill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3" name="组合 362"/>
          <p:cNvGrpSpPr/>
          <p:nvPr userDrawn="1"/>
        </p:nvGrpSpPr>
        <p:grpSpPr>
          <a:xfrm>
            <a:off x="10672870" y="250062"/>
            <a:ext cx="913766" cy="457978"/>
            <a:chOff x="1585727" y="453077"/>
            <a:chExt cx="374706" cy="187802"/>
          </a:xfrm>
          <a:solidFill>
            <a:schemeClr val="accent1"/>
          </a:solidFill>
        </p:grpSpPr>
        <p:sp>
          <p:nvSpPr>
            <p:cNvPr id="364" name="îśliďe"/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5" name="íšḻíḍé"/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6" name="ïṥḻïḓé"/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7" name="î$ḷíḋè"/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8" name="i$ḷiḍe"/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9" name="ïṡļïdè"/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0" name="íŝḻíḓê"/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1" name="isľîḑê"/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372" name="椭圆 371"/>
          <p:cNvSpPr/>
          <p:nvPr userDrawn="1"/>
        </p:nvSpPr>
        <p:spPr>
          <a:xfrm>
            <a:off x="314691" y="151816"/>
            <a:ext cx="654470" cy="654470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3" name="文本占位符 163"/>
          <p:cNvSpPr>
            <a:spLocks noGrp="1"/>
          </p:cNvSpPr>
          <p:nvPr>
            <p:ph type="body" sz="quarter" idx="12" hasCustomPrompt="1"/>
          </p:nvPr>
        </p:nvSpPr>
        <p:spPr>
          <a:xfrm>
            <a:off x="566962" y="265803"/>
            <a:ext cx="4836888" cy="426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zh-CN" altLang="en-US" b="1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请输入标题或观点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6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" name="组合 118"/>
          <p:cNvGrpSpPr/>
          <p:nvPr userDrawn="1"/>
        </p:nvGrpSpPr>
        <p:grpSpPr>
          <a:xfrm>
            <a:off x="2539883" y="1646681"/>
            <a:ext cx="7112234" cy="3564639"/>
            <a:chOff x="1585727" y="453077"/>
            <a:chExt cx="374706" cy="187802"/>
          </a:xfrm>
          <a:solidFill>
            <a:schemeClr val="bg1">
              <a:lumMod val="65000"/>
              <a:alpha val="4000"/>
            </a:schemeClr>
          </a:solidFill>
        </p:grpSpPr>
        <p:sp>
          <p:nvSpPr>
            <p:cNvPr id="120" name="îśliďe"/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1" name="íšḻíḍé"/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2" name="ïṥḻïḓé"/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4" name="î$ḷíḋè"/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4" name="i$ḷiḍe"/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5" name="ïṡļïdè"/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6" name="íŝḻíḓê"/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7" name="isľîḑê"/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pic>
        <p:nvPicPr>
          <p:cNvPr id="10" name="图片 9"/>
          <p:cNvPicPr>
            <a:picLocks noChangeAspect="1"/>
          </p:cNvPicPr>
          <p:nvPr userDrawn="1"/>
        </p:nvPicPr>
        <p:blipFill rotWithShape="1"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3" name="图片占位符 122"/>
          <p:cNvSpPr>
            <a:spLocks noGrp="1"/>
          </p:cNvSpPr>
          <p:nvPr>
            <p:ph type="pic" sz="quarter" idx="13"/>
          </p:nvPr>
        </p:nvSpPr>
        <p:spPr>
          <a:xfrm>
            <a:off x="4270744" y="1603744"/>
            <a:ext cx="3650512" cy="3650512"/>
          </a:xfrm>
          <a:custGeom>
            <a:avLst/>
            <a:gdLst>
              <a:gd name="connsiteX0" fmla="*/ 1825256 w 3650512"/>
              <a:gd name="connsiteY0" fmla="*/ 967751 h 3650512"/>
              <a:gd name="connsiteX1" fmla="*/ 967751 w 3650512"/>
              <a:gd name="connsiteY1" fmla="*/ 1825256 h 3650512"/>
              <a:gd name="connsiteX2" fmla="*/ 1825256 w 3650512"/>
              <a:gd name="connsiteY2" fmla="*/ 2682761 h 3650512"/>
              <a:gd name="connsiteX3" fmla="*/ 2682761 w 3650512"/>
              <a:gd name="connsiteY3" fmla="*/ 1825256 h 3650512"/>
              <a:gd name="connsiteX4" fmla="*/ 1825256 w 3650512"/>
              <a:gd name="connsiteY4" fmla="*/ 967751 h 3650512"/>
              <a:gd name="connsiteX5" fmla="*/ 1825256 w 3650512"/>
              <a:gd name="connsiteY5" fmla="*/ 0 h 3650512"/>
              <a:gd name="connsiteX6" fmla="*/ 3650512 w 3650512"/>
              <a:gd name="connsiteY6" fmla="*/ 1825256 h 3650512"/>
              <a:gd name="connsiteX7" fmla="*/ 1825256 w 3650512"/>
              <a:gd name="connsiteY7" fmla="*/ 3650512 h 3650512"/>
              <a:gd name="connsiteX8" fmla="*/ 0 w 3650512"/>
              <a:gd name="connsiteY8" fmla="*/ 1825256 h 3650512"/>
              <a:gd name="connsiteX9" fmla="*/ 1825256 w 3650512"/>
              <a:gd name="connsiteY9" fmla="*/ 0 h 3650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650512" h="3650512">
                <a:moveTo>
                  <a:pt x="1825256" y="967751"/>
                </a:moveTo>
                <a:cubicBezTo>
                  <a:pt x="1351669" y="967751"/>
                  <a:pt x="967751" y="1351669"/>
                  <a:pt x="967751" y="1825256"/>
                </a:cubicBezTo>
                <a:cubicBezTo>
                  <a:pt x="967751" y="2298843"/>
                  <a:pt x="1351669" y="2682761"/>
                  <a:pt x="1825256" y="2682761"/>
                </a:cubicBezTo>
                <a:cubicBezTo>
                  <a:pt x="2298843" y="2682761"/>
                  <a:pt x="2682761" y="2298843"/>
                  <a:pt x="2682761" y="1825256"/>
                </a:cubicBezTo>
                <a:cubicBezTo>
                  <a:pt x="2682761" y="1351669"/>
                  <a:pt x="2298843" y="967751"/>
                  <a:pt x="1825256" y="967751"/>
                </a:cubicBezTo>
                <a:close/>
                <a:moveTo>
                  <a:pt x="1825256" y="0"/>
                </a:moveTo>
                <a:cubicBezTo>
                  <a:pt x="2833317" y="0"/>
                  <a:pt x="3650512" y="817195"/>
                  <a:pt x="3650512" y="1825256"/>
                </a:cubicBezTo>
                <a:cubicBezTo>
                  <a:pt x="3650512" y="2833317"/>
                  <a:pt x="2833317" y="3650512"/>
                  <a:pt x="1825256" y="3650512"/>
                </a:cubicBezTo>
                <a:cubicBezTo>
                  <a:pt x="817195" y="3650512"/>
                  <a:pt x="0" y="2833317"/>
                  <a:pt x="0" y="1825256"/>
                </a:cubicBezTo>
                <a:cubicBezTo>
                  <a:pt x="0" y="817195"/>
                  <a:pt x="817195" y="0"/>
                  <a:pt x="182525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45" name="文本框 344"/>
          <p:cNvSpPr txBox="1"/>
          <p:nvPr userDrawn="1"/>
        </p:nvSpPr>
        <p:spPr>
          <a:xfrm>
            <a:off x="573312" y="6385246"/>
            <a:ext cx="23397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明德 厚学 求是 创新</a:t>
            </a:r>
          </a:p>
        </p:txBody>
      </p:sp>
      <p:sp>
        <p:nvSpPr>
          <p:cNvPr id="346" name="文本框 345"/>
          <p:cNvSpPr txBox="1"/>
          <p:nvPr userDrawn="1"/>
        </p:nvSpPr>
        <p:spPr>
          <a:xfrm>
            <a:off x="9548477" y="6385246"/>
            <a:ext cx="23397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http://www.hust.edu.cn/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349" name="直接连接符 348"/>
          <p:cNvCxnSpPr/>
          <p:nvPr userDrawn="1"/>
        </p:nvCxnSpPr>
        <p:spPr>
          <a:xfrm>
            <a:off x="660400" y="6293875"/>
            <a:ext cx="10858500" cy="0"/>
          </a:xfrm>
          <a:prstGeom prst="line">
            <a:avLst/>
          </a:prstGeom>
          <a:ln w="22225" cap="rnd">
            <a:solidFill>
              <a:schemeClr val="accent1"/>
            </a:solidFill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0" name="组合 349"/>
          <p:cNvGrpSpPr/>
          <p:nvPr userDrawn="1"/>
        </p:nvGrpSpPr>
        <p:grpSpPr>
          <a:xfrm>
            <a:off x="10672870" y="250062"/>
            <a:ext cx="913766" cy="457978"/>
            <a:chOff x="1585727" y="453077"/>
            <a:chExt cx="374706" cy="187802"/>
          </a:xfrm>
          <a:solidFill>
            <a:schemeClr val="accent1"/>
          </a:solidFill>
        </p:grpSpPr>
        <p:sp>
          <p:nvSpPr>
            <p:cNvPr id="351" name="îśliďe"/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2" name="íšḻíḍé"/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3" name="ïṥḻïḓé"/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4" name="î$ḷíḋè"/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5" name="i$ḷiḍe"/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6" name="ïṡļïdè"/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7" name="íŝḻíḓê"/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8" name="isľîḑê"/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359" name="椭圆 358"/>
          <p:cNvSpPr/>
          <p:nvPr userDrawn="1"/>
        </p:nvSpPr>
        <p:spPr>
          <a:xfrm>
            <a:off x="314691" y="151816"/>
            <a:ext cx="654470" cy="654470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0" name="文本占位符 163"/>
          <p:cNvSpPr>
            <a:spLocks noGrp="1"/>
          </p:cNvSpPr>
          <p:nvPr>
            <p:ph type="body" sz="quarter" idx="12" hasCustomPrompt="1"/>
          </p:nvPr>
        </p:nvSpPr>
        <p:spPr>
          <a:xfrm>
            <a:off x="566962" y="265803"/>
            <a:ext cx="4836888" cy="426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zh-CN" altLang="en-US" b="1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请输入标题或观点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7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组合 121"/>
          <p:cNvGrpSpPr/>
          <p:nvPr userDrawn="1"/>
        </p:nvGrpSpPr>
        <p:grpSpPr>
          <a:xfrm>
            <a:off x="2539883" y="1646681"/>
            <a:ext cx="7112234" cy="3564639"/>
            <a:chOff x="1585727" y="453077"/>
            <a:chExt cx="374706" cy="187802"/>
          </a:xfrm>
          <a:solidFill>
            <a:schemeClr val="bg1">
              <a:lumMod val="65000"/>
              <a:alpha val="4000"/>
            </a:schemeClr>
          </a:solidFill>
        </p:grpSpPr>
        <p:sp>
          <p:nvSpPr>
            <p:cNvPr id="123" name="îśliďe"/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4" name="íšḻíḍé"/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5" name="ïṥḻïḓé"/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6" name="î$ḷíḋè"/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7" name="i$ḷiḍe"/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8" name="ïṡļïdè"/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0" name="íŝḻíḓê"/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1" name="isľîḑê"/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62" name="文本框 361"/>
          <p:cNvSpPr txBox="1"/>
          <p:nvPr userDrawn="1"/>
        </p:nvSpPr>
        <p:spPr>
          <a:xfrm>
            <a:off x="573312" y="6385246"/>
            <a:ext cx="23397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明德 厚学 求是 创新</a:t>
            </a:r>
          </a:p>
        </p:txBody>
      </p:sp>
      <p:sp>
        <p:nvSpPr>
          <p:cNvPr id="363" name="文本框 362"/>
          <p:cNvSpPr txBox="1"/>
          <p:nvPr userDrawn="1"/>
        </p:nvSpPr>
        <p:spPr>
          <a:xfrm>
            <a:off x="9548477" y="6385246"/>
            <a:ext cx="23397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http://www.hust.edu.cn/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366" name="直接连接符 365"/>
          <p:cNvCxnSpPr/>
          <p:nvPr userDrawn="1"/>
        </p:nvCxnSpPr>
        <p:spPr>
          <a:xfrm>
            <a:off x="660400" y="6293875"/>
            <a:ext cx="10858500" cy="0"/>
          </a:xfrm>
          <a:prstGeom prst="line">
            <a:avLst/>
          </a:prstGeom>
          <a:ln w="22225" cap="rnd">
            <a:solidFill>
              <a:schemeClr val="accent1"/>
            </a:solidFill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7" name="组合 366"/>
          <p:cNvGrpSpPr/>
          <p:nvPr userDrawn="1"/>
        </p:nvGrpSpPr>
        <p:grpSpPr>
          <a:xfrm>
            <a:off x="10672870" y="250062"/>
            <a:ext cx="913766" cy="457978"/>
            <a:chOff x="1585727" y="453077"/>
            <a:chExt cx="374706" cy="187802"/>
          </a:xfrm>
          <a:solidFill>
            <a:schemeClr val="accent1"/>
          </a:solidFill>
        </p:grpSpPr>
        <p:sp>
          <p:nvSpPr>
            <p:cNvPr id="368" name="îśliďe"/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9" name="íšḻíḍé"/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0" name="ïṥḻïḓé"/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1" name="î$ḷíḋè"/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2" name="i$ḷiḍe"/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3" name="ïṡļïdè"/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4" name="íŝḻíḓê"/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5" name="isľîḑê"/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376" name="椭圆 375"/>
          <p:cNvSpPr/>
          <p:nvPr userDrawn="1"/>
        </p:nvSpPr>
        <p:spPr>
          <a:xfrm>
            <a:off x="314691" y="151816"/>
            <a:ext cx="654470" cy="654470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7" name="文本占位符 163"/>
          <p:cNvSpPr>
            <a:spLocks noGrp="1"/>
          </p:cNvSpPr>
          <p:nvPr>
            <p:ph type="body" sz="quarter" idx="12" hasCustomPrompt="1"/>
          </p:nvPr>
        </p:nvSpPr>
        <p:spPr>
          <a:xfrm>
            <a:off x="566962" y="265803"/>
            <a:ext cx="4836888" cy="426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zh-CN" altLang="en-US" b="1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请输入标题或观点</a:t>
            </a:r>
          </a:p>
        </p:txBody>
      </p:sp>
      <p:sp>
        <p:nvSpPr>
          <p:cNvPr id="29" name="图片占位符 124"/>
          <p:cNvSpPr>
            <a:spLocks noGrp="1"/>
          </p:cNvSpPr>
          <p:nvPr>
            <p:ph type="pic" sz="quarter" idx="13"/>
          </p:nvPr>
        </p:nvSpPr>
        <p:spPr>
          <a:xfrm>
            <a:off x="711199" y="1130300"/>
            <a:ext cx="3351600" cy="2300400"/>
          </a:xfrm>
          <a:custGeom>
            <a:avLst/>
            <a:gdLst>
              <a:gd name="connsiteX0" fmla="*/ 0 w 3492500"/>
              <a:gd name="connsiteY0" fmla="*/ 0 h 2066539"/>
              <a:gd name="connsiteX1" fmla="*/ 3492500 w 3492500"/>
              <a:gd name="connsiteY1" fmla="*/ 0 h 2066539"/>
              <a:gd name="connsiteX2" fmla="*/ 3492500 w 3492500"/>
              <a:gd name="connsiteY2" fmla="*/ 2066539 h 2066539"/>
              <a:gd name="connsiteX3" fmla="*/ 0 w 3492500"/>
              <a:gd name="connsiteY3" fmla="*/ 2066539 h 2066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92500" h="2066539">
                <a:moveTo>
                  <a:pt x="0" y="0"/>
                </a:moveTo>
                <a:lnTo>
                  <a:pt x="3492500" y="0"/>
                </a:lnTo>
                <a:lnTo>
                  <a:pt x="3492500" y="2066539"/>
                </a:lnTo>
                <a:lnTo>
                  <a:pt x="0" y="206653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2" name="图片占位符 124"/>
          <p:cNvSpPr>
            <a:spLocks noGrp="1"/>
          </p:cNvSpPr>
          <p:nvPr>
            <p:ph type="pic" sz="quarter" idx="14"/>
          </p:nvPr>
        </p:nvSpPr>
        <p:spPr>
          <a:xfrm>
            <a:off x="4413249" y="952500"/>
            <a:ext cx="3351600" cy="2300400"/>
          </a:xfrm>
          <a:custGeom>
            <a:avLst/>
            <a:gdLst>
              <a:gd name="connsiteX0" fmla="*/ 0 w 3492500"/>
              <a:gd name="connsiteY0" fmla="*/ 0 h 2066539"/>
              <a:gd name="connsiteX1" fmla="*/ 3492500 w 3492500"/>
              <a:gd name="connsiteY1" fmla="*/ 0 h 2066539"/>
              <a:gd name="connsiteX2" fmla="*/ 3492500 w 3492500"/>
              <a:gd name="connsiteY2" fmla="*/ 2066539 h 2066539"/>
              <a:gd name="connsiteX3" fmla="*/ 0 w 3492500"/>
              <a:gd name="connsiteY3" fmla="*/ 2066539 h 2066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92500" h="2066539">
                <a:moveTo>
                  <a:pt x="0" y="0"/>
                </a:moveTo>
                <a:lnTo>
                  <a:pt x="3492500" y="0"/>
                </a:lnTo>
                <a:lnTo>
                  <a:pt x="3492500" y="2066539"/>
                </a:lnTo>
                <a:lnTo>
                  <a:pt x="0" y="206653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3" name="图片占位符 124"/>
          <p:cNvSpPr>
            <a:spLocks noGrp="1"/>
          </p:cNvSpPr>
          <p:nvPr>
            <p:ph type="pic" sz="quarter" idx="15"/>
          </p:nvPr>
        </p:nvSpPr>
        <p:spPr>
          <a:xfrm>
            <a:off x="8115299" y="1130300"/>
            <a:ext cx="3351600" cy="2300400"/>
          </a:xfrm>
          <a:custGeom>
            <a:avLst/>
            <a:gdLst>
              <a:gd name="connsiteX0" fmla="*/ 0 w 3492500"/>
              <a:gd name="connsiteY0" fmla="*/ 0 h 2066539"/>
              <a:gd name="connsiteX1" fmla="*/ 3492500 w 3492500"/>
              <a:gd name="connsiteY1" fmla="*/ 0 h 2066539"/>
              <a:gd name="connsiteX2" fmla="*/ 3492500 w 3492500"/>
              <a:gd name="connsiteY2" fmla="*/ 2066539 h 2066539"/>
              <a:gd name="connsiteX3" fmla="*/ 0 w 3492500"/>
              <a:gd name="connsiteY3" fmla="*/ 2066539 h 2066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92500" h="2066539">
                <a:moveTo>
                  <a:pt x="0" y="0"/>
                </a:moveTo>
                <a:lnTo>
                  <a:pt x="3492500" y="0"/>
                </a:lnTo>
                <a:lnTo>
                  <a:pt x="3492500" y="2066539"/>
                </a:lnTo>
                <a:lnTo>
                  <a:pt x="0" y="206653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8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48" name="文本框 347"/>
          <p:cNvSpPr txBox="1"/>
          <p:nvPr userDrawn="1"/>
        </p:nvSpPr>
        <p:spPr>
          <a:xfrm>
            <a:off x="573312" y="6385246"/>
            <a:ext cx="23397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明德 厚学 求是 创新</a:t>
            </a:r>
          </a:p>
        </p:txBody>
      </p:sp>
      <p:sp>
        <p:nvSpPr>
          <p:cNvPr id="349" name="文本框 348"/>
          <p:cNvSpPr txBox="1"/>
          <p:nvPr userDrawn="1"/>
        </p:nvSpPr>
        <p:spPr>
          <a:xfrm>
            <a:off x="9548477" y="6385246"/>
            <a:ext cx="23397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http://www.hust.edu.cn/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352" name="直接连接符 351"/>
          <p:cNvCxnSpPr/>
          <p:nvPr userDrawn="1"/>
        </p:nvCxnSpPr>
        <p:spPr>
          <a:xfrm>
            <a:off x="660400" y="6293875"/>
            <a:ext cx="10858500" cy="0"/>
          </a:xfrm>
          <a:prstGeom prst="line">
            <a:avLst/>
          </a:prstGeom>
          <a:ln w="22225" cap="rnd">
            <a:solidFill>
              <a:schemeClr val="accent1"/>
            </a:solidFill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3" name="组合 352"/>
          <p:cNvGrpSpPr/>
          <p:nvPr userDrawn="1"/>
        </p:nvGrpSpPr>
        <p:grpSpPr>
          <a:xfrm>
            <a:off x="10672870" y="250062"/>
            <a:ext cx="913766" cy="457978"/>
            <a:chOff x="1585727" y="453077"/>
            <a:chExt cx="374706" cy="187802"/>
          </a:xfrm>
          <a:solidFill>
            <a:schemeClr val="accent1"/>
          </a:solidFill>
        </p:grpSpPr>
        <p:sp>
          <p:nvSpPr>
            <p:cNvPr id="354" name="îśliďe"/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5" name="íšḻíḍé"/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6" name="ïṥḻïḓé"/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7" name="î$ḷíḋè"/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8" name="i$ḷiḍe"/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9" name="ïṡļïdè"/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0" name="íŝḻíḓê"/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1" name="isľîḑê"/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362" name="椭圆 361"/>
          <p:cNvSpPr/>
          <p:nvPr userDrawn="1"/>
        </p:nvSpPr>
        <p:spPr>
          <a:xfrm>
            <a:off x="314691" y="151816"/>
            <a:ext cx="654470" cy="654470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3" name="文本占位符 163"/>
          <p:cNvSpPr>
            <a:spLocks noGrp="1"/>
          </p:cNvSpPr>
          <p:nvPr>
            <p:ph type="body" sz="quarter" idx="12" hasCustomPrompt="1"/>
          </p:nvPr>
        </p:nvSpPr>
        <p:spPr>
          <a:xfrm>
            <a:off x="566962" y="265803"/>
            <a:ext cx="4836888" cy="426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zh-CN" altLang="en-US" b="1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请输入标题或观点</a:t>
            </a:r>
          </a:p>
        </p:txBody>
      </p:sp>
      <p:sp>
        <p:nvSpPr>
          <p:cNvPr id="21" name="图片占位符 10"/>
          <p:cNvSpPr>
            <a:spLocks noGrp="1"/>
          </p:cNvSpPr>
          <p:nvPr>
            <p:ph type="pic" sz="quarter" idx="17"/>
          </p:nvPr>
        </p:nvSpPr>
        <p:spPr>
          <a:xfrm>
            <a:off x="666677" y="1174731"/>
            <a:ext cx="2713111" cy="2244968"/>
          </a:xfrm>
          <a:custGeom>
            <a:avLst/>
            <a:gdLst>
              <a:gd name="connsiteX0" fmla="*/ 0 w 3492500"/>
              <a:gd name="connsiteY0" fmla="*/ 0 h 2066539"/>
              <a:gd name="connsiteX1" fmla="*/ 3492500 w 3492500"/>
              <a:gd name="connsiteY1" fmla="*/ 0 h 2066539"/>
              <a:gd name="connsiteX2" fmla="*/ 3492500 w 3492500"/>
              <a:gd name="connsiteY2" fmla="*/ 2066539 h 2066539"/>
              <a:gd name="connsiteX3" fmla="*/ 0 w 3492500"/>
              <a:gd name="connsiteY3" fmla="*/ 2066539 h 2066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92500" h="2066539">
                <a:moveTo>
                  <a:pt x="0" y="0"/>
                </a:moveTo>
                <a:lnTo>
                  <a:pt x="3492500" y="0"/>
                </a:lnTo>
                <a:lnTo>
                  <a:pt x="3492500" y="2066539"/>
                </a:lnTo>
                <a:lnTo>
                  <a:pt x="0" y="2066539"/>
                </a:lnTo>
                <a:close/>
              </a:path>
            </a:pathLst>
          </a:custGeom>
        </p:spPr>
      </p:sp>
      <p:sp>
        <p:nvSpPr>
          <p:cNvPr id="22" name="图片占位符 14"/>
          <p:cNvSpPr>
            <a:spLocks noGrp="1"/>
          </p:cNvSpPr>
          <p:nvPr>
            <p:ph type="pic" sz="quarter" idx="18"/>
          </p:nvPr>
        </p:nvSpPr>
        <p:spPr>
          <a:xfrm>
            <a:off x="6095999" y="1181081"/>
            <a:ext cx="2713111" cy="2238617"/>
          </a:xfrm>
          <a:custGeom>
            <a:avLst/>
            <a:gdLst>
              <a:gd name="connsiteX0" fmla="*/ 0 w 3492500"/>
              <a:gd name="connsiteY0" fmla="*/ 0 h 2066539"/>
              <a:gd name="connsiteX1" fmla="*/ 3492500 w 3492500"/>
              <a:gd name="connsiteY1" fmla="*/ 0 h 2066539"/>
              <a:gd name="connsiteX2" fmla="*/ 3492500 w 3492500"/>
              <a:gd name="connsiteY2" fmla="*/ 2066539 h 2066539"/>
              <a:gd name="connsiteX3" fmla="*/ 0 w 3492500"/>
              <a:gd name="connsiteY3" fmla="*/ 2066539 h 2066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92500" h="2066539">
                <a:moveTo>
                  <a:pt x="0" y="0"/>
                </a:moveTo>
                <a:lnTo>
                  <a:pt x="3492500" y="0"/>
                </a:lnTo>
                <a:lnTo>
                  <a:pt x="3492500" y="2066539"/>
                </a:lnTo>
                <a:lnTo>
                  <a:pt x="0" y="2066539"/>
                </a:lnTo>
                <a:close/>
              </a:path>
            </a:pathLst>
          </a:custGeom>
        </p:spPr>
      </p:sp>
      <p:sp>
        <p:nvSpPr>
          <p:cNvPr id="23" name="图片占位符 12"/>
          <p:cNvSpPr>
            <a:spLocks noGrp="1"/>
          </p:cNvSpPr>
          <p:nvPr>
            <p:ph type="pic" sz="quarter" idx="19"/>
          </p:nvPr>
        </p:nvSpPr>
        <p:spPr>
          <a:xfrm>
            <a:off x="3379788" y="3431951"/>
            <a:ext cx="2716212" cy="2244967"/>
          </a:xfrm>
          <a:custGeom>
            <a:avLst/>
            <a:gdLst>
              <a:gd name="connsiteX0" fmla="*/ 0 w 3492500"/>
              <a:gd name="connsiteY0" fmla="*/ 0 h 2066539"/>
              <a:gd name="connsiteX1" fmla="*/ 3492500 w 3492500"/>
              <a:gd name="connsiteY1" fmla="*/ 0 h 2066539"/>
              <a:gd name="connsiteX2" fmla="*/ 3492500 w 3492500"/>
              <a:gd name="connsiteY2" fmla="*/ 2066539 h 2066539"/>
              <a:gd name="connsiteX3" fmla="*/ 0 w 3492500"/>
              <a:gd name="connsiteY3" fmla="*/ 2066539 h 2066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92500" h="2066539">
                <a:moveTo>
                  <a:pt x="0" y="0"/>
                </a:moveTo>
                <a:lnTo>
                  <a:pt x="3492500" y="0"/>
                </a:lnTo>
                <a:lnTo>
                  <a:pt x="3492500" y="2066539"/>
                </a:lnTo>
                <a:lnTo>
                  <a:pt x="0" y="2066539"/>
                </a:lnTo>
                <a:close/>
              </a:path>
            </a:pathLst>
          </a:custGeom>
        </p:spPr>
      </p:sp>
      <p:sp>
        <p:nvSpPr>
          <p:cNvPr id="24" name="图片占位符 8"/>
          <p:cNvSpPr>
            <a:spLocks noGrp="1"/>
          </p:cNvSpPr>
          <p:nvPr>
            <p:ph type="pic" sz="quarter" idx="16"/>
          </p:nvPr>
        </p:nvSpPr>
        <p:spPr>
          <a:xfrm>
            <a:off x="8810624" y="3426048"/>
            <a:ext cx="2708276" cy="2250869"/>
          </a:xfrm>
          <a:custGeom>
            <a:avLst/>
            <a:gdLst>
              <a:gd name="connsiteX0" fmla="*/ 0 w 3492500"/>
              <a:gd name="connsiteY0" fmla="*/ 0 h 2066539"/>
              <a:gd name="connsiteX1" fmla="*/ 3492500 w 3492500"/>
              <a:gd name="connsiteY1" fmla="*/ 0 h 2066539"/>
              <a:gd name="connsiteX2" fmla="*/ 3492500 w 3492500"/>
              <a:gd name="connsiteY2" fmla="*/ 2066539 h 2066539"/>
              <a:gd name="connsiteX3" fmla="*/ 0 w 3492500"/>
              <a:gd name="connsiteY3" fmla="*/ 2066539 h 2066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92500" h="2066539">
                <a:moveTo>
                  <a:pt x="0" y="0"/>
                </a:moveTo>
                <a:lnTo>
                  <a:pt x="3492500" y="0"/>
                </a:lnTo>
                <a:lnTo>
                  <a:pt x="3492500" y="2066539"/>
                </a:lnTo>
                <a:lnTo>
                  <a:pt x="0" y="2066539"/>
                </a:lnTo>
                <a:close/>
              </a:path>
            </a:pathLst>
          </a:custGeom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9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组合 145"/>
          <p:cNvGrpSpPr/>
          <p:nvPr userDrawn="1"/>
        </p:nvGrpSpPr>
        <p:grpSpPr>
          <a:xfrm>
            <a:off x="2539883" y="1618683"/>
            <a:ext cx="7112234" cy="3564639"/>
            <a:chOff x="1585727" y="453077"/>
            <a:chExt cx="374706" cy="187802"/>
          </a:xfrm>
          <a:solidFill>
            <a:schemeClr val="bg1">
              <a:lumMod val="65000"/>
              <a:alpha val="4000"/>
            </a:schemeClr>
          </a:solidFill>
        </p:grpSpPr>
        <p:sp>
          <p:nvSpPr>
            <p:cNvPr id="147" name="îśliďe"/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8" name="íšḻíḍé"/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9" name="ïṥḻïḓé"/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0" name="î$ḷíḋè"/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1" name="i$ḷiḍe"/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2" name="ïṡļïdè"/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3" name="íŝḻíḓê"/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4" name="isľîḑê"/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31" name="图片占位符 30"/>
          <p:cNvSpPr>
            <a:spLocks noGrp="1"/>
          </p:cNvSpPr>
          <p:nvPr>
            <p:ph type="pic" sz="quarter" idx="15"/>
          </p:nvPr>
        </p:nvSpPr>
        <p:spPr>
          <a:xfrm>
            <a:off x="6167438" y="3644900"/>
            <a:ext cx="2628900" cy="1930722"/>
          </a:xfrm>
          <a:custGeom>
            <a:avLst/>
            <a:gdLst>
              <a:gd name="connsiteX0" fmla="*/ 0 w 2582898"/>
              <a:gd name="connsiteY0" fmla="*/ 0 h 1974986"/>
              <a:gd name="connsiteX1" fmla="*/ 2582898 w 2582898"/>
              <a:gd name="connsiteY1" fmla="*/ 0 h 1974986"/>
              <a:gd name="connsiteX2" fmla="*/ 2582898 w 2582898"/>
              <a:gd name="connsiteY2" fmla="*/ 1974986 h 1974986"/>
              <a:gd name="connsiteX3" fmla="*/ 0 w 2582898"/>
              <a:gd name="connsiteY3" fmla="*/ 1974986 h 1974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82898" h="1974986">
                <a:moveTo>
                  <a:pt x="0" y="0"/>
                </a:moveTo>
                <a:lnTo>
                  <a:pt x="2582898" y="0"/>
                </a:lnTo>
                <a:lnTo>
                  <a:pt x="2582898" y="1974986"/>
                </a:lnTo>
                <a:lnTo>
                  <a:pt x="0" y="197498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8" name="图片占位符 27"/>
          <p:cNvSpPr>
            <a:spLocks noGrp="1"/>
          </p:cNvSpPr>
          <p:nvPr>
            <p:ph type="pic" sz="quarter" idx="14"/>
          </p:nvPr>
        </p:nvSpPr>
        <p:spPr>
          <a:xfrm>
            <a:off x="660400" y="3644900"/>
            <a:ext cx="5364163" cy="1930721"/>
          </a:xfrm>
          <a:custGeom>
            <a:avLst/>
            <a:gdLst>
              <a:gd name="connsiteX0" fmla="*/ 0 w 5341432"/>
              <a:gd name="connsiteY0" fmla="*/ 0 h 1974986"/>
              <a:gd name="connsiteX1" fmla="*/ 5341432 w 5341432"/>
              <a:gd name="connsiteY1" fmla="*/ 0 h 1974986"/>
              <a:gd name="connsiteX2" fmla="*/ 5341432 w 5341432"/>
              <a:gd name="connsiteY2" fmla="*/ 1974986 h 1974986"/>
              <a:gd name="connsiteX3" fmla="*/ 0 w 5341432"/>
              <a:gd name="connsiteY3" fmla="*/ 1974986 h 1974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41432" h="1974986">
                <a:moveTo>
                  <a:pt x="0" y="0"/>
                </a:moveTo>
                <a:lnTo>
                  <a:pt x="5341432" y="0"/>
                </a:lnTo>
                <a:lnTo>
                  <a:pt x="5341432" y="1974986"/>
                </a:lnTo>
                <a:lnTo>
                  <a:pt x="0" y="197498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5" name="图片占位符 24"/>
          <p:cNvSpPr>
            <a:spLocks noGrp="1"/>
          </p:cNvSpPr>
          <p:nvPr>
            <p:ph type="pic" sz="quarter" idx="13"/>
          </p:nvPr>
        </p:nvSpPr>
        <p:spPr>
          <a:xfrm>
            <a:off x="8954694" y="1282379"/>
            <a:ext cx="2564206" cy="4293242"/>
          </a:xfrm>
          <a:custGeom>
            <a:avLst/>
            <a:gdLst>
              <a:gd name="connsiteX0" fmla="*/ 0 w 2582898"/>
              <a:gd name="connsiteY0" fmla="*/ 0 h 4293242"/>
              <a:gd name="connsiteX1" fmla="*/ 2582898 w 2582898"/>
              <a:gd name="connsiteY1" fmla="*/ 0 h 4293242"/>
              <a:gd name="connsiteX2" fmla="*/ 2582898 w 2582898"/>
              <a:gd name="connsiteY2" fmla="*/ 4293242 h 4293242"/>
              <a:gd name="connsiteX3" fmla="*/ 0 w 2582898"/>
              <a:gd name="connsiteY3" fmla="*/ 4293242 h 4293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82898" h="4293242">
                <a:moveTo>
                  <a:pt x="0" y="0"/>
                </a:moveTo>
                <a:lnTo>
                  <a:pt x="2582898" y="0"/>
                </a:lnTo>
                <a:lnTo>
                  <a:pt x="2582898" y="4293242"/>
                </a:lnTo>
                <a:lnTo>
                  <a:pt x="0" y="429324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2" name="图片占位符 21"/>
          <p:cNvSpPr>
            <a:spLocks noGrp="1"/>
          </p:cNvSpPr>
          <p:nvPr>
            <p:ph type="pic" sz="quarter" idx="12"/>
          </p:nvPr>
        </p:nvSpPr>
        <p:spPr>
          <a:xfrm>
            <a:off x="6167438" y="1282380"/>
            <a:ext cx="2628900" cy="2218059"/>
          </a:xfrm>
          <a:custGeom>
            <a:avLst/>
            <a:gdLst>
              <a:gd name="connsiteX0" fmla="*/ 0 w 2582898"/>
              <a:gd name="connsiteY0" fmla="*/ 0 h 2198451"/>
              <a:gd name="connsiteX1" fmla="*/ 2582898 w 2582898"/>
              <a:gd name="connsiteY1" fmla="*/ 0 h 2198451"/>
              <a:gd name="connsiteX2" fmla="*/ 2582898 w 2582898"/>
              <a:gd name="connsiteY2" fmla="*/ 2198451 h 2198451"/>
              <a:gd name="connsiteX3" fmla="*/ 0 w 2582898"/>
              <a:gd name="connsiteY3" fmla="*/ 2198451 h 2198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82898" h="2198451">
                <a:moveTo>
                  <a:pt x="0" y="0"/>
                </a:moveTo>
                <a:lnTo>
                  <a:pt x="2582898" y="0"/>
                </a:lnTo>
                <a:lnTo>
                  <a:pt x="2582898" y="2198451"/>
                </a:lnTo>
                <a:lnTo>
                  <a:pt x="0" y="219845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9" name="图片占位符 18"/>
          <p:cNvSpPr>
            <a:spLocks noGrp="1"/>
          </p:cNvSpPr>
          <p:nvPr>
            <p:ph type="pic" sz="quarter" idx="11"/>
          </p:nvPr>
        </p:nvSpPr>
        <p:spPr>
          <a:xfrm>
            <a:off x="3395663" y="1282379"/>
            <a:ext cx="2628900" cy="2218059"/>
          </a:xfrm>
          <a:custGeom>
            <a:avLst/>
            <a:gdLst>
              <a:gd name="connsiteX0" fmla="*/ 0 w 2582898"/>
              <a:gd name="connsiteY0" fmla="*/ 0 h 2198451"/>
              <a:gd name="connsiteX1" fmla="*/ 2582898 w 2582898"/>
              <a:gd name="connsiteY1" fmla="*/ 0 h 2198451"/>
              <a:gd name="connsiteX2" fmla="*/ 2582898 w 2582898"/>
              <a:gd name="connsiteY2" fmla="*/ 2198451 h 2198451"/>
              <a:gd name="connsiteX3" fmla="*/ 0 w 2582898"/>
              <a:gd name="connsiteY3" fmla="*/ 2198451 h 2198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82898" h="2198451">
                <a:moveTo>
                  <a:pt x="0" y="0"/>
                </a:moveTo>
                <a:lnTo>
                  <a:pt x="2582898" y="0"/>
                </a:lnTo>
                <a:lnTo>
                  <a:pt x="2582898" y="2198451"/>
                </a:lnTo>
                <a:lnTo>
                  <a:pt x="0" y="219845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6" name="图片占位符 15"/>
          <p:cNvSpPr>
            <a:spLocks noGrp="1"/>
          </p:cNvSpPr>
          <p:nvPr>
            <p:ph type="pic" sz="quarter" idx="10"/>
          </p:nvPr>
        </p:nvSpPr>
        <p:spPr>
          <a:xfrm>
            <a:off x="660400" y="1282380"/>
            <a:ext cx="2582898" cy="2218059"/>
          </a:xfrm>
          <a:custGeom>
            <a:avLst/>
            <a:gdLst>
              <a:gd name="connsiteX0" fmla="*/ 0 w 2582898"/>
              <a:gd name="connsiteY0" fmla="*/ 0 h 2198451"/>
              <a:gd name="connsiteX1" fmla="*/ 2582898 w 2582898"/>
              <a:gd name="connsiteY1" fmla="*/ 0 h 2198451"/>
              <a:gd name="connsiteX2" fmla="*/ 2582898 w 2582898"/>
              <a:gd name="connsiteY2" fmla="*/ 2198451 h 2198451"/>
              <a:gd name="connsiteX3" fmla="*/ 0 w 2582898"/>
              <a:gd name="connsiteY3" fmla="*/ 2198451 h 2198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82898" h="2198451">
                <a:moveTo>
                  <a:pt x="0" y="0"/>
                </a:moveTo>
                <a:lnTo>
                  <a:pt x="2582898" y="0"/>
                </a:lnTo>
                <a:lnTo>
                  <a:pt x="2582898" y="2198451"/>
                </a:lnTo>
                <a:lnTo>
                  <a:pt x="0" y="219845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32" name="图片 31"/>
          <p:cNvPicPr>
            <a:picLocks noChangeAspect="1"/>
          </p:cNvPicPr>
          <p:nvPr userDrawn="1"/>
        </p:nvPicPr>
        <p:blipFill rotWithShape="1"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71" name="文本框 370"/>
          <p:cNvSpPr txBox="1"/>
          <p:nvPr userDrawn="1"/>
        </p:nvSpPr>
        <p:spPr>
          <a:xfrm>
            <a:off x="573312" y="6385246"/>
            <a:ext cx="23727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明德 厚学 求是 创新</a:t>
            </a:r>
          </a:p>
        </p:txBody>
      </p:sp>
      <p:sp>
        <p:nvSpPr>
          <p:cNvPr id="372" name="文本框 371"/>
          <p:cNvSpPr txBox="1"/>
          <p:nvPr userDrawn="1"/>
        </p:nvSpPr>
        <p:spPr>
          <a:xfrm>
            <a:off x="9548477" y="6385246"/>
            <a:ext cx="23397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http://www.hust.edu.cn/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375" name="直接连接符 374"/>
          <p:cNvCxnSpPr/>
          <p:nvPr userDrawn="1"/>
        </p:nvCxnSpPr>
        <p:spPr>
          <a:xfrm>
            <a:off x="660400" y="6293875"/>
            <a:ext cx="10858500" cy="0"/>
          </a:xfrm>
          <a:prstGeom prst="line">
            <a:avLst/>
          </a:prstGeom>
          <a:ln w="22225" cap="rnd">
            <a:solidFill>
              <a:schemeClr val="accent1"/>
            </a:solidFill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6" name="组合 375"/>
          <p:cNvGrpSpPr/>
          <p:nvPr userDrawn="1"/>
        </p:nvGrpSpPr>
        <p:grpSpPr>
          <a:xfrm>
            <a:off x="10672870" y="250062"/>
            <a:ext cx="913766" cy="457978"/>
            <a:chOff x="1585727" y="453077"/>
            <a:chExt cx="374706" cy="187802"/>
          </a:xfrm>
          <a:solidFill>
            <a:schemeClr val="accent1"/>
          </a:solidFill>
        </p:grpSpPr>
        <p:sp>
          <p:nvSpPr>
            <p:cNvPr id="377" name="îśliďe"/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8" name="íšḻíḍé"/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9" name="ïṥḻïḓé"/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80" name="î$ḷíḋè"/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81" name="i$ḷiḍe"/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82" name="ïṡļïdè"/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83" name="íŝḻíḓê"/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84" name="isľîḑê"/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385" name="椭圆 384"/>
          <p:cNvSpPr/>
          <p:nvPr userDrawn="1"/>
        </p:nvSpPr>
        <p:spPr>
          <a:xfrm>
            <a:off x="314691" y="151816"/>
            <a:ext cx="654470" cy="654470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6" name="文本占位符 163"/>
          <p:cNvSpPr>
            <a:spLocks noGrp="1"/>
          </p:cNvSpPr>
          <p:nvPr>
            <p:ph type="body" sz="quarter" idx="16" hasCustomPrompt="1"/>
          </p:nvPr>
        </p:nvSpPr>
        <p:spPr>
          <a:xfrm>
            <a:off x="566962" y="265803"/>
            <a:ext cx="4836888" cy="426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zh-CN" altLang="en-US" b="1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请输入标题或观点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10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3" name="组合 232"/>
          <p:cNvGrpSpPr/>
          <p:nvPr userDrawn="1"/>
        </p:nvGrpSpPr>
        <p:grpSpPr>
          <a:xfrm>
            <a:off x="2539883" y="1646681"/>
            <a:ext cx="7112234" cy="3564639"/>
            <a:chOff x="1585727" y="453077"/>
            <a:chExt cx="374706" cy="187802"/>
          </a:xfrm>
          <a:solidFill>
            <a:schemeClr val="bg1">
              <a:lumMod val="65000"/>
              <a:alpha val="4000"/>
            </a:schemeClr>
          </a:solidFill>
        </p:grpSpPr>
        <p:sp>
          <p:nvSpPr>
            <p:cNvPr id="234" name="îśliďe"/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5" name="íšḻíḍé"/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6" name="ïṥḻïḓé"/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7" name="î$ḷíḋè"/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8" name="i$ḷiḍe"/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9" name="ïṡļïdè"/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40" name="íŝḻíḓê"/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41" name="isľîḑê"/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368" name="文本框 367"/>
          <p:cNvSpPr txBox="1"/>
          <p:nvPr userDrawn="1"/>
        </p:nvSpPr>
        <p:spPr>
          <a:xfrm>
            <a:off x="573312" y="6385246"/>
            <a:ext cx="23397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明德 厚学 求是 创新</a:t>
            </a:r>
          </a:p>
        </p:txBody>
      </p:sp>
      <p:sp>
        <p:nvSpPr>
          <p:cNvPr id="369" name="文本框 368"/>
          <p:cNvSpPr txBox="1"/>
          <p:nvPr userDrawn="1"/>
        </p:nvSpPr>
        <p:spPr>
          <a:xfrm>
            <a:off x="9548477" y="6385246"/>
            <a:ext cx="23397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http://www.hust.edu.cn/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372" name="直接连接符 371"/>
          <p:cNvCxnSpPr/>
          <p:nvPr userDrawn="1"/>
        </p:nvCxnSpPr>
        <p:spPr>
          <a:xfrm>
            <a:off x="660400" y="6293875"/>
            <a:ext cx="10858500" cy="0"/>
          </a:xfrm>
          <a:prstGeom prst="line">
            <a:avLst/>
          </a:prstGeom>
          <a:ln w="22225" cap="rnd">
            <a:solidFill>
              <a:schemeClr val="accent1"/>
            </a:solidFill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3" name="组合 372"/>
          <p:cNvGrpSpPr/>
          <p:nvPr userDrawn="1"/>
        </p:nvGrpSpPr>
        <p:grpSpPr>
          <a:xfrm>
            <a:off x="10672870" y="250062"/>
            <a:ext cx="913766" cy="457978"/>
            <a:chOff x="1585727" y="453077"/>
            <a:chExt cx="374706" cy="187802"/>
          </a:xfrm>
          <a:solidFill>
            <a:schemeClr val="accent1"/>
          </a:solidFill>
        </p:grpSpPr>
        <p:sp>
          <p:nvSpPr>
            <p:cNvPr id="374" name="îśliďe"/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5" name="íšḻíḍé"/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6" name="ïṥḻïḓé"/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7" name="î$ḷíḋè"/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8" name="i$ḷiḍe"/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9" name="ïṡļïdè"/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80" name="íŝḻíḓê"/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81" name="isľîḑê"/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382" name="椭圆 381"/>
          <p:cNvSpPr/>
          <p:nvPr userDrawn="1"/>
        </p:nvSpPr>
        <p:spPr>
          <a:xfrm>
            <a:off x="314691" y="151816"/>
            <a:ext cx="654470" cy="654470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3" name="文本占位符 163"/>
          <p:cNvSpPr>
            <a:spLocks noGrp="1"/>
          </p:cNvSpPr>
          <p:nvPr>
            <p:ph type="body" sz="quarter" idx="12" hasCustomPrompt="1"/>
          </p:nvPr>
        </p:nvSpPr>
        <p:spPr>
          <a:xfrm>
            <a:off x="566962" y="265803"/>
            <a:ext cx="4836888" cy="426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zh-CN" altLang="en-US" b="1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请输入标题或观点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1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452" y="368954"/>
            <a:ext cx="5848836" cy="7311044"/>
          </a:xfrm>
          <a:prstGeom prst="rect">
            <a:avLst/>
          </a:prstGeom>
        </p:spPr>
      </p:pic>
      <p:pic>
        <p:nvPicPr>
          <p:cNvPr id="125" name="图片 124"/>
          <p:cNvPicPr>
            <a:picLocks noChangeAspect="1"/>
          </p:cNvPicPr>
          <p:nvPr userDrawn="1"/>
        </p:nvPicPr>
        <p:blipFill rotWithShape="1">
          <a:blip r:embed="rId3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" name="组合 3"/>
          <p:cNvGrpSpPr/>
          <p:nvPr userDrawn="1"/>
        </p:nvGrpSpPr>
        <p:grpSpPr>
          <a:xfrm>
            <a:off x="2539883" y="1646681"/>
            <a:ext cx="7112234" cy="3564639"/>
            <a:chOff x="1585727" y="453077"/>
            <a:chExt cx="374706" cy="187802"/>
          </a:xfrm>
          <a:solidFill>
            <a:schemeClr val="bg1">
              <a:lumMod val="65000"/>
              <a:alpha val="4000"/>
            </a:schemeClr>
          </a:solidFill>
        </p:grpSpPr>
        <p:sp>
          <p:nvSpPr>
            <p:cNvPr id="5" name="îśliďe"/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" name="íšḻíḍé"/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" name="ïṥḻïḓé"/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" name="î$ḷíḋè"/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" name="i$ḷiḍe"/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" name="ïṡļïdè"/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" name="íŝḻíḓê"/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" name="isľîḑê"/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127" name="图片占位符 126"/>
          <p:cNvSpPr>
            <a:spLocks noGrp="1"/>
          </p:cNvSpPr>
          <p:nvPr>
            <p:ph type="pic" sz="quarter" idx="13"/>
          </p:nvPr>
        </p:nvSpPr>
        <p:spPr>
          <a:xfrm>
            <a:off x="1308171" y="2057399"/>
            <a:ext cx="4146479" cy="2584451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341" name="文本框 340"/>
          <p:cNvSpPr txBox="1"/>
          <p:nvPr userDrawn="1"/>
        </p:nvSpPr>
        <p:spPr>
          <a:xfrm>
            <a:off x="573312" y="6385246"/>
            <a:ext cx="23397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明德 厚学 求是 创新</a:t>
            </a:r>
          </a:p>
        </p:txBody>
      </p:sp>
      <p:sp>
        <p:nvSpPr>
          <p:cNvPr id="342" name="文本框 341"/>
          <p:cNvSpPr txBox="1"/>
          <p:nvPr userDrawn="1"/>
        </p:nvSpPr>
        <p:spPr>
          <a:xfrm>
            <a:off x="9548477" y="6385246"/>
            <a:ext cx="23397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http://www.hust.edu.cn/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345" name="直接连接符 344"/>
          <p:cNvCxnSpPr/>
          <p:nvPr userDrawn="1"/>
        </p:nvCxnSpPr>
        <p:spPr>
          <a:xfrm>
            <a:off x="660400" y="6293875"/>
            <a:ext cx="10858500" cy="0"/>
          </a:xfrm>
          <a:prstGeom prst="line">
            <a:avLst/>
          </a:prstGeom>
          <a:ln w="22225" cap="rnd">
            <a:solidFill>
              <a:schemeClr val="accent1"/>
            </a:solidFill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6" name="组合 345"/>
          <p:cNvGrpSpPr/>
          <p:nvPr userDrawn="1"/>
        </p:nvGrpSpPr>
        <p:grpSpPr>
          <a:xfrm>
            <a:off x="10672870" y="250062"/>
            <a:ext cx="913766" cy="457978"/>
            <a:chOff x="1585727" y="453077"/>
            <a:chExt cx="374706" cy="187802"/>
          </a:xfrm>
          <a:solidFill>
            <a:schemeClr val="accent1"/>
          </a:solidFill>
        </p:grpSpPr>
        <p:sp>
          <p:nvSpPr>
            <p:cNvPr id="347" name="îśliďe"/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48" name="íšḻíḍé"/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49" name="ïṥḻïḓé"/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0" name="î$ḷíḋè"/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1" name="i$ḷiḍe"/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2" name="ïṡļïdè"/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3" name="íŝḻíḓê"/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4" name="isľîḑê"/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355" name="椭圆 354"/>
          <p:cNvSpPr/>
          <p:nvPr userDrawn="1"/>
        </p:nvSpPr>
        <p:spPr>
          <a:xfrm>
            <a:off x="314691" y="151816"/>
            <a:ext cx="654470" cy="654470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6" name="文本占位符 163"/>
          <p:cNvSpPr>
            <a:spLocks noGrp="1"/>
          </p:cNvSpPr>
          <p:nvPr>
            <p:ph type="body" sz="quarter" idx="12" hasCustomPrompt="1"/>
          </p:nvPr>
        </p:nvSpPr>
        <p:spPr>
          <a:xfrm>
            <a:off x="566962" y="265803"/>
            <a:ext cx="4836888" cy="426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zh-CN" altLang="en-US" b="1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请输入标题或观点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12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图片占位符 127"/>
          <p:cNvSpPr>
            <a:spLocks noGrp="1"/>
          </p:cNvSpPr>
          <p:nvPr>
            <p:ph type="pic" sz="quarter" idx="13"/>
          </p:nvPr>
        </p:nvSpPr>
        <p:spPr>
          <a:xfrm>
            <a:off x="5070476" y="2352675"/>
            <a:ext cx="1928043" cy="1928043"/>
          </a:xfrm>
          <a:custGeom>
            <a:avLst/>
            <a:gdLst>
              <a:gd name="connsiteX0" fmla="*/ 964022 w 1928043"/>
              <a:gd name="connsiteY0" fmla="*/ 0 h 1928043"/>
              <a:gd name="connsiteX1" fmla="*/ 1928043 w 1928043"/>
              <a:gd name="connsiteY1" fmla="*/ 964022 h 1928043"/>
              <a:gd name="connsiteX2" fmla="*/ 964022 w 1928043"/>
              <a:gd name="connsiteY2" fmla="*/ 1928043 h 1928043"/>
              <a:gd name="connsiteX3" fmla="*/ 0 w 1928043"/>
              <a:gd name="connsiteY3" fmla="*/ 964022 h 1928043"/>
              <a:gd name="connsiteX4" fmla="*/ 964022 w 1928043"/>
              <a:gd name="connsiteY4" fmla="*/ 0 h 1928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28043" h="1928043">
                <a:moveTo>
                  <a:pt x="964022" y="0"/>
                </a:moveTo>
                <a:cubicBezTo>
                  <a:pt x="1496436" y="0"/>
                  <a:pt x="1928043" y="431608"/>
                  <a:pt x="1928043" y="964022"/>
                </a:cubicBezTo>
                <a:cubicBezTo>
                  <a:pt x="1928043" y="1496436"/>
                  <a:pt x="1496436" y="1928043"/>
                  <a:pt x="964022" y="1928043"/>
                </a:cubicBezTo>
                <a:cubicBezTo>
                  <a:pt x="431608" y="1928043"/>
                  <a:pt x="0" y="1496436"/>
                  <a:pt x="0" y="964022"/>
                </a:cubicBezTo>
                <a:cubicBezTo>
                  <a:pt x="0" y="431608"/>
                  <a:pt x="431608" y="0"/>
                  <a:pt x="96402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grpSp>
        <p:nvGrpSpPr>
          <p:cNvPr id="4" name="组合 3"/>
          <p:cNvGrpSpPr/>
          <p:nvPr userDrawn="1"/>
        </p:nvGrpSpPr>
        <p:grpSpPr>
          <a:xfrm>
            <a:off x="2539883" y="1646681"/>
            <a:ext cx="7112234" cy="3564639"/>
            <a:chOff x="1585727" y="453077"/>
            <a:chExt cx="374706" cy="187802"/>
          </a:xfrm>
          <a:solidFill>
            <a:schemeClr val="bg1">
              <a:lumMod val="65000"/>
              <a:alpha val="4000"/>
            </a:schemeClr>
          </a:solidFill>
        </p:grpSpPr>
        <p:sp>
          <p:nvSpPr>
            <p:cNvPr id="5" name="îśliďe"/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" name="íšḻíḍé"/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" name="ïṥḻïḓé"/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" name="î$ḷíḋè"/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" name="i$ḷiḍe"/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" name="ïṡļïdè"/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" name="íŝḻíḓê"/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" name="isľîḑê"/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pic>
        <p:nvPicPr>
          <p:cNvPr id="125" name="图片 124"/>
          <p:cNvPicPr>
            <a:picLocks noChangeAspect="1"/>
          </p:cNvPicPr>
          <p:nvPr userDrawn="1"/>
        </p:nvPicPr>
        <p:blipFill rotWithShape="1"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41" name="文本框 340"/>
          <p:cNvSpPr txBox="1"/>
          <p:nvPr userDrawn="1"/>
        </p:nvSpPr>
        <p:spPr>
          <a:xfrm>
            <a:off x="573312" y="6385246"/>
            <a:ext cx="23397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明德 厚学 求是 创新</a:t>
            </a:r>
          </a:p>
        </p:txBody>
      </p:sp>
      <p:sp>
        <p:nvSpPr>
          <p:cNvPr id="342" name="文本框 341"/>
          <p:cNvSpPr txBox="1"/>
          <p:nvPr userDrawn="1"/>
        </p:nvSpPr>
        <p:spPr>
          <a:xfrm>
            <a:off x="9548477" y="6385246"/>
            <a:ext cx="23397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http://www.hust.edu.cn/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345" name="直接连接符 344"/>
          <p:cNvCxnSpPr/>
          <p:nvPr userDrawn="1"/>
        </p:nvCxnSpPr>
        <p:spPr>
          <a:xfrm>
            <a:off x="660400" y="6293875"/>
            <a:ext cx="10858500" cy="0"/>
          </a:xfrm>
          <a:prstGeom prst="line">
            <a:avLst/>
          </a:prstGeom>
          <a:ln w="22225" cap="rnd">
            <a:solidFill>
              <a:schemeClr val="accent1"/>
            </a:solidFill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6" name="组合 345"/>
          <p:cNvGrpSpPr/>
          <p:nvPr userDrawn="1"/>
        </p:nvGrpSpPr>
        <p:grpSpPr>
          <a:xfrm>
            <a:off x="10672870" y="250062"/>
            <a:ext cx="913766" cy="457978"/>
            <a:chOff x="1585727" y="453077"/>
            <a:chExt cx="374706" cy="187802"/>
          </a:xfrm>
          <a:solidFill>
            <a:schemeClr val="accent1"/>
          </a:solidFill>
        </p:grpSpPr>
        <p:sp>
          <p:nvSpPr>
            <p:cNvPr id="347" name="îśliďe"/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48" name="íšḻíḍé"/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49" name="ïṥḻïḓé"/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0" name="î$ḷíḋè"/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1" name="i$ḷiḍe"/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2" name="ïṡļïdè"/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3" name="íŝḻíḓê"/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4" name="isľîḑê"/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355" name="椭圆 354"/>
          <p:cNvSpPr/>
          <p:nvPr userDrawn="1"/>
        </p:nvSpPr>
        <p:spPr>
          <a:xfrm>
            <a:off x="314691" y="151816"/>
            <a:ext cx="654470" cy="654470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6" name="文本占位符 163"/>
          <p:cNvSpPr>
            <a:spLocks noGrp="1"/>
          </p:cNvSpPr>
          <p:nvPr>
            <p:ph type="body" sz="quarter" idx="12" hasCustomPrompt="1"/>
          </p:nvPr>
        </p:nvSpPr>
        <p:spPr>
          <a:xfrm>
            <a:off x="566962" y="265803"/>
            <a:ext cx="4836888" cy="426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zh-CN" altLang="en-US" b="1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请输入标题或观点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13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2539883" y="1646681"/>
            <a:ext cx="7112234" cy="3564639"/>
            <a:chOff x="1585727" y="453077"/>
            <a:chExt cx="374706" cy="187802"/>
          </a:xfrm>
          <a:solidFill>
            <a:schemeClr val="bg1">
              <a:lumMod val="65000"/>
              <a:alpha val="4000"/>
            </a:schemeClr>
          </a:solidFill>
        </p:grpSpPr>
        <p:sp>
          <p:nvSpPr>
            <p:cNvPr id="4" name="îśliďe"/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" name="íšḻíḍé"/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" name="ïṥḻïḓé"/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" name="î$ḷíḋè"/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" name="i$ḷiḍe"/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" name="ïṡļïdè"/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" name="íŝḻíḓê"/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" name="isľîḑê"/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pic>
        <p:nvPicPr>
          <p:cNvPr id="124" name="图片 123"/>
          <p:cNvPicPr>
            <a:picLocks noChangeAspect="1"/>
          </p:cNvPicPr>
          <p:nvPr userDrawn="1"/>
        </p:nvPicPr>
        <p:blipFill rotWithShape="1"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6" name="图片占位符 125"/>
          <p:cNvSpPr>
            <a:spLocks noGrp="1"/>
          </p:cNvSpPr>
          <p:nvPr>
            <p:ph type="pic" sz="quarter" idx="13"/>
          </p:nvPr>
        </p:nvSpPr>
        <p:spPr>
          <a:xfrm>
            <a:off x="1155701" y="1123952"/>
            <a:ext cx="3944241" cy="4610097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340" name="文本框 339"/>
          <p:cNvSpPr txBox="1"/>
          <p:nvPr userDrawn="1"/>
        </p:nvSpPr>
        <p:spPr>
          <a:xfrm>
            <a:off x="573312" y="6385246"/>
            <a:ext cx="23397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明德 厚学 求是 创新</a:t>
            </a:r>
          </a:p>
        </p:txBody>
      </p:sp>
      <p:sp>
        <p:nvSpPr>
          <p:cNvPr id="341" name="文本框 340"/>
          <p:cNvSpPr txBox="1"/>
          <p:nvPr userDrawn="1"/>
        </p:nvSpPr>
        <p:spPr>
          <a:xfrm>
            <a:off x="9548477" y="6385246"/>
            <a:ext cx="23397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http://www.hust.edu.cn/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344" name="直接连接符 343"/>
          <p:cNvCxnSpPr/>
          <p:nvPr userDrawn="1"/>
        </p:nvCxnSpPr>
        <p:spPr>
          <a:xfrm>
            <a:off x="660400" y="6293875"/>
            <a:ext cx="10858500" cy="0"/>
          </a:xfrm>
          <a:prstGeom prst="line">
            <a:avLst/>
          </a:prstGeom>
          <a:ln w="22225" cap="rnd">
            <a:solidFill>
              <a:schemeClr val="accent1"/>
            </a:solidFill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5" name="组合 344"/>
          <p:cNvGrpSpPr/>
          <p:nvPr userDrawn="1"/>
        </p:nvGrpSpPr>
        <p:grpSpPr>
          <a:xfrm>
            <a:off x="10672870" y="250062"/>
            <a:ext cx="913766" cy="457978"/>
            <a:chOff x="1585727" y="453077"/>
            <a:chExt cx="374706" cy="187802"/>
          </a:xfrm>
          <a:solidFill>
            <a:schemeClr val="accent1"/>
          </a:solidFill>
        </p:grpSpPr>
        <p:sp>
          <p:nvSpPr>
            <p:cNvPr id="346" name="îśliďe"/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47" name="íšḻíḍé"/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48" name="ïṥḻïḓé"/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49" name="î$ḷíḋè"/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0" name="i$ḷiḍe"/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1" name="ïṡļïdè"/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2" name="íŝḻíḓê"/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3" name="isľîḑê"/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354" name="椭圆 353"/>
          <p:cNvSpPr/>
          <p:nvPr userDrawn="1"/>
        </p:nvSpPr>
        <p:spPr>
          <a:xfrm>
            <a:off x="314691" y="151816"/>
            <a:ext cx="654470" cy="654470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5" name="文本占位符 163"/>
          <p:cNvSpPr>
            <a:spLocks noGrp="1"/>
          </p:cNvSpPr>
          <p:nvPr>
            <p:ph type="body" sz="quarter" idx="12" hasCustomPrompt="1"/>
          </p:nvPr>
        </p:nvSpPr>
        <p:spPr>
          <a:xfrm>
            <a:off x="566962" y="265803"/>
            <a:ext cx="4836888" cy="426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zh-CN" altLang="en-US" b="1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请输入标题或观点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14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2539883" y="1646681"/>
            <a:ext cx="7112234" cy="3564639"/>
            <a:chOff x="1585727" y="453077"/>
            <a:chExt cx="374706" cy="187802"/>
          </a:xfrm>
          <a:solidFill>
            <a:schemeClr val="bg1">
              <a:lumMod val="65000"/>
              <a:alpha val="4000"/>
            </a:schemeClr>
          </a:solidFill>
        </p:grpSpPr>
        <p:sp>
          <p:nvSpPr>
            <p:cNvPr id="4" name="îśliďe"/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" name="íšḻíḍé"/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" name="ïṥḻïḓé"/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" name="î$ḷíḋè"/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" name="i$ḷiḍe"/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" name="ïṡļïdè"/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" name="íŝḻíḓê"/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" name="isľîḑê"/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/>
        </p:nvSpPr>
        <p:spPr>
          <a:xfrm>
            <a:off x="573312" y="6385246"/>
            <a:ext cx="23397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明德 厚学 求是 创新</a:t>
            </a: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9548477" y="6385246"/>
            <a:ext cx="23397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http://www.hust.edu.cn/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6" name="直接连接符 15"/>
          <p:cNvCxnSpPr/>
          <p:nvPr userDrawn="1"/>
        </p:nvCxnSpPr>
        <p:spPr>
          <a:xfrm>
            <a:off x="660400" y="6293875"/>
            <a:ext cx="10858500" cy="0"/>
          </a:xfrm>
          <a:prstGeom prst="line">
            <a:avLst/>
          </a:prstGeom>
          <a:ln w="22225" cap="rnd">
            <a:solidFill>
              <a:schemeClr val="accent1"/>
            </a:solidFill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 userDrawn="1"/>
        </p:nvGrpSpPr>
        <p:grpSpPr>
          <a:xfrm>
            <a:off x="10672870" y="250062"/>
            <a:ext cx="913766" cy="457978"/>
            <a:chOff x="1585727" y="453077"/>
            <a:chExt cx="374706" cy="187802"/>
          </a:xfrm>
          <a:solidFill>
            <a:schemeClr val="accent1"/>
          </a:solidFill>
        </p:grpSpPr>
        <p:sp>
          <p:nvSpPr>
            <p:cNvPr id="18" name="îśliďe"/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" name="íšḻíḍé"/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" name="ïṥḻïḓé"/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1" name="î$ḷíḋè"/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2" name="i$ḷiḍe"/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" name="ïṡļïdè"/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4" name="íŝḻíḓê"/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5" name="isľîḑê"/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26" name="椭圆 25"/>
          <p:cNvSpPr/>
          <p:nvPr userDrawn="1"/>
        </p:nvSpPr>
        <p:spPr>
          <a:xfrm>
            <a:off x="314691" y="151816"/>
            <a:ext cx="654470" cy="654470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占位符 163"/>
          <p:cNvSpPr>
            <a:spLocks noGrp="1"/>
          </p:cNvSpPr>
          <p:nvPr>
            <p:ph type="body" sz="quarter" idx="12" hasCustomPrompt="1"/>
          </p:nvPr>
        </p:nvSpPr>
        <p:spPr>
          <a:xfrm>
            <a:off x="566962" y="265803"/>
            <a:ext cx="4836888" cy="426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zh-CN" altLang="en-US" b="1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请输入标题或观点</a:t>
            </a:r>
          </a:p>
        </p:txBody>
      </p:sp>
      <p:grpSp>
        <p:nvGrpSpPr>
          <p:cNvPr id="28" name="组合 27"/>
          <p:cNvGrpSpPr/>
          <p:nvPr userDrawn="1"/>
        </p:nvGrpSpPr>
        <p:grpSpPr>
          <a:xfrm>
            <a:off x="2539883" y="1646681"/>
            <a:ext cx="7112234" cy="3564639"/>
            <a:chOff x="1585727" y="453077"/>
            <a:chExt cx="374706" cy="187802"/>
          </a:xfrm>
          <a:solidFill>
            <a:schemeClr val="bg1">
              <a:lumMod val="65000"/>
              <a:alpha val="4000"/>
            </a:schemeClr>
          </a:solidFill>
        </p:grpSpPr>
        <p:sp>
          <p:nvSpPr>
            <p:cNvPr id="29" name="îśliďe"/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0" name="íšḻíḍé"/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1" name="ïṥḻïḓé"/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2" name="î$ḷíḋè"/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3" name="i$ḷiḍe"/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4" name="ïṡļïdè"/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" name="íŝḻíḓê"/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" name="isľîḑê"/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2" name="组合 1"/>
          <p:cNvGrpSpPr/>
          <p:nvPr userDrawn="1"/>
        </p:nvGrpSpPr>
        <p:grpSpPr>
          <a:xfrm>
            <a:off x="1176251" y="1675235"/>
            <a:ext cx="2665723" cy="3507530"/>
            <a:chOff x="1176251" y="1675235"/>
            <a:chExt cx="2665723" cy="3507530"/>
          </a:xfrm>
        </p:grpSpPr>
        <p:sp>
          <p:nvSpPr>
            <p:cNvPr id="37" name="矩形 36"/>
            <p:cNvSpPr/>
            <p:nvPr userDrawn="1"/>
          </p:nvSpPr>
          <p:spPr>
            <a:xfrm>
              <a:off x="1176251" y="1675235"/>
              <a:ext cx="2665723" cy="3507530"/>
            </a:xfrm>
            <a:prstGeom prst="rect">
              <a:avLst/>
            </a:prstGeom>
            <a:solidFill>
              <a:schemeClr val="bg1">
                <a:alpha val="64000"/>
              </a:schemeClr>
            </a:solidFill>
            <a:ln>
              <a:noFill/>
            </a:ln>
            <a:effectLst>
              <a:outerShdw blurRad="889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 37"/>
            <p:cNvSpPr/>
            <p:nvPr userDrawn="1"/>
          </p:nvSpPr>
          <p:spPr>
            <a:xfrm>
              <a:off x="1176251" y="4741333"/>
              <a:ext cx="2665723" cy="441432"/>
            </a:xfrm>
            <a:prstGeom prst="rect">
              <a:avLst/>
            </a:prstGeom>
            <a:blipFill dpi="0" rotWithShape="1">
              <a:blip r:embed="rId3"/>
              <a:srcRect/>
              <a:tile tx="0" ty="0" sx="100000" sy="100000" flip="none" algn="ctr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矩形 38"/>
            <p:cNvSpPr/>
            <p:nvPr userDrawn="1"/>
          </p:nvSpPr>
          <p:spPr>
            <a:xfrm>
              <a:off x="1176251" y="4741333"/>
              <a:ext cx="2665723" cy="441432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3" name="组合 12"/>
          <p:cNvGrpSpPr/>
          <p:nvPr userDrawn="1"/>
        </p:nvGrpSpPr>
        <p:grpSpPr>
          <a:xfrm>
            <a:off x="4763139" y="1675235"/>
            <a:ext cx="2665723" cy="3507530"/>
            <a:chOff x="4763139" y="1675235"/>
            <a:chExt cx="2665723" cy="3507530"/>
          </a:xfrm>
        </p:grpSpPr>
        <p:sp>
          <p:nvSpPr>
            <p:cNvPr id="40" name="矩形 39"/>
            <p:cNvSpPr/>
            <p:nvPr userDrawn="1"/>
          </p:nvSpPr>
          <p:spPr>
            <a:xfrm>
              <a:off x="4763139" y="1675235"/>
              <a:ext cx="2665723" cy="3507530"/>
            </a:xfrm>
            <a:prstGeom prst="rect">
              <a:avLst/>
            </a:prstGeom>
            <a:solidFill>
              <a:schemeClr val="bg1">
                <a:alpha val="64000"/>
              </a:schemeClr>
            </a:solidFill>
            <a:ln>
              <a:noFill/>
            </a:ln>
            <a:effectLst>
              <a:outerShdw blurRad="889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矩形 40"/>
            <p:cNvSpPr/>
            <p:nvPr userDrawn="1"/>
          </p:nvSpPr>
          <p:spPr>
            <a:xfrm>
              <a:off x="4763139" y="4741333"/>
              <a:ext cx="2665723" cy="441432"/>
            </a:xfrm>
            <a:prstGeom prst="rect">
              <a:avLst/>
            </a:prstGeom>
            <a:blipFill dpi="0" rotWithShape="1">
              <a:blip r:embed="rId4"/>
              <a:srcRect/>
              <a:tile tx="0" ty="0" sx="100000" sy="100000" flip="none" algn="ctr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矩形 41"/>
            <p:cNvSpPr/>
            <p:nvPr userDrawn="1"/>
          </p:nvSpPr>
          <p:spPr>
            <a:xfrm>
              <a:off x="4763139" y="4741333"/>
              <a:ext cx="2665723" cy="441432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8" name="组合 47"/>
          <p:cNvGrpSpPr/>
          <p:nvPr userDrawn="1"/>
        </p:nvGrpSpPr>
        <p:grpSpPr>
          <a:xfrm>
            <a:off x="8350027" y="1607089"/>
            <a:ext cx="2665723" cy="3575676"/>
            <a:chOff x="8350027" y="1607089"/>
            <a:chExt cx="2665723" cy="3575676"/>
          </a:xfrm>
        </p:grpSpPr>
        <p:sp>
          <p:nvSpPr>
            <p:cNvPr id="43" name="矩形 42"/>
            <p:cNvSpPr/>
            <p:nvPr userDrawn="1"/>
          </p:nvSpPr>
          <p:spPr>
            <a:xfrm>
              <a:off x="8350027" y="1607089"/>
              <a:ext cx="2665723" cy="3507530"/>
            </a:xfrm>
            <a:prstGeom prst="rect">
              <a:avLst/>
            </a:prstGeom>
            <a:solidFill>
              <a:schemeClr val="bg1">
                <a:alpha val="64000"/>
              </a:schemeClr>
            </a:solidFill>
            <a:ln>
              <a:noFill/>
            </a:ln>
            <a:effectLst>
              <a:outerShdw blurRad="889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43"/>
            <p:cNvSpPr/>
            <p:nvPr userDrawn="1"/>
          </p:nvSpPr>
          <p:spPr>
            <a:xfrm>
              <a:off x="8350027" y="4741333"/>
              <a:ext cx="2665723" cy="441432"/>
            </a:xfrm>
            <a:prstGeom prst="rect">
              <a:avLst/>
            </a:prstGeom>
            <a:blipFill dpi="0" rotWithShape="1">
              <a:blip r:embed="rId5"/>
              <a:srcRect/>
              <a:tile tx="0" ty="0" sx="100000" sy="100000" flip="none" algn="ctr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矩形 44"/>
            <p:cNvSpPr/>
            <p:nvPr userDrawn="1"/>
          </p:nvSpPr>
          <p:spPr>
            <a:xfrm>
              <a:off x="8350027" y="4741333"/>
              <a:ext cx="2665723" cy="441432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4" name="文本框 3"/>
          <p:cNvSpPr txBox="1"/>
          <p:nvPr userDrawn="1"/>
        </p:nvSpPr>
        <p:spPr>
          <a:xfrm>
            <a:off x="573312" y="6385246"/>
            <a:ext cx="23397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明德 厚学 求是 创新</a:t>
            </a:r>
          </a:p>
        </p:txBody>
      </p:sp>
      <p:sp>
        <p:nvSpPr>
          <p:cNvPr id="5" name="文本框 4"/>
          <p:cNvSpPr txBox="1"/>
          <p:nvPr userDrawn="1"/>
        </p:nvSpPr>
        <p:spPr>
          <a:xfrm>
            <a:off x="9548477" y="6385246"/>
            <a:ext cx="23397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http://www.hust.edu.cn/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椭圆 5"/>
          <p:cNvSpPr/>
          <p:nvPr userDrawn="1"/>
        </p:nvSpPr>
        <p:spPr>
          <a:xfrm>
            <a:off x="314691" y="151816"/>
            <a:ext cx="654470" cy="65447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占位符 163"/>
          <p:cNvSpPr>
            <a:spLocks noGrp="1"/>
          </p:cNvSpPr>
          <p:nvPr>
            <p:ph type="body" sz="quarter" idx="12" hasCustomPrompt="1"/>
          </p:nvPr>
        </p:nvSpPr>
        <p:spPr>
          <a:xfrm>
            <a:off x="566962" y="265803"/>
            <a:ext cx="4836888" cy="426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zh-CN" altLang="en-US" b="1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请输入标题或观点</a:t>
            </a: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660400" y="6293875"/>
            <a:ext cx="10858500" cy="0"/>
          </a:xfrm>
          <a:prstGeom prst="line">
            <a:avLst/>
          </a:prstGeom>
          <a:ln w="22225" cap="rnd">
            <a:solidFill>
              <a:schemeClr val="accent1"/>
            </a:solidFill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 userDrawn="1"/>
        </p:nvGrpSpPr>
        <p:grpSpPr>
          <a:xfrm>
            <a:off x="10672870" y="250062"/>
            <a:ext cx="913766" cy="457978"/>
            <a:chOff x="1585727" y="453077"/>
            <a:chExt cx="374706" cy="187802"/>
          </a:xfrm>
          <a:solidFill>
            <a:schemeClr val="accent1"/>
          </a:solidFill>
        </p:grpSpPr>
        <p:sp>
          <p:nvSpPr>
            <p:cNvPr id="10" name="îśliďe"/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" name="íšḻíḍé"/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" name="ïṥḻïḓé"/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" name="î$ḷíḋè"/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" name="i$ḷiḍe"/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" name="ïṡļïdè"/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" name="íŝḻíḓê"/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" name="isľîḑê"/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18" name="矩形 17"/>
          <p:cNvSpPr/>
          <p:nvPr userDrawn="1"/>
        </p:nvSpPr>
        <p:spPr>
          <a:xfrm>
            <a:off x="-6350" y="1498600"/>
            <a:ext cx="12192000" cy="2197569"/>
          </a:xfrm>
          <a:prstGeom prst="rect">
            <a:avLst/>
          </a:prstGeom>
          <a:solidFill>
            <a:schemeClr val="bg1">
              <a:alpha val="80000"/>
            </a:schemeClr>
          </a:solidFill>
          <a:ln w="9525">
            <a:noFill/>
          </a:ln>
          <a:effectLst>
            <a:outerShdw blurRad="127000" dist="12700" sx="102000" sy="102000" algn="ctr" rotWithShape="0">
              <a:schemeClr val="accent1">
                <a:lumMod val="20000"/>
                <a:lumOff val="80000"/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endParaRPr lang="zh-CN" altLang="en-US"/>
          </a:p>
        </p:txBody>
      </p:sp>
      <p:pic>
        <p:nvPicPr>
          <p:cNvPr id="19" name="图片 18"/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260"/>
          <a:stretch>
            <a:fillRect/>
          </a:stretch>
        </p:blipFill>
        <p:spPr>
          <a:xfrm>
            <a:off x="1138462" y="958941"/>
            <a:ext cx="3019881" cy="5158438"/>
          </a:xfrm>
          <a:prstGeom prst="rect">
            <a:avLst/>
          </a:prstGeom>
        </p:spPr>
      </p:pic>
      <p:sp>
        <p:nvSpPr>
          <p:cNvPr id="20" name="图片占位符 2"/>
          <p:cNvSpPr>
            <a:spLocks noGrp="1"/>
          </p:cNvSpPr>
          <p:nvPr>
            <p:ph type="pic" sz="quarter" idx="13"/>
          </p:nvPr>
        </p:nvSpPr>
        <p:spPr>
          <a:xfrm>
            <a:off x="1574799" y="1498600"/>
            <a:ext cx="2098041" cy="372872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2000">
        <p:random/>
      </p:transition>
    </mc:Choice>
    <mc:Fallback xmlns="">
      <p:transition spd="slow" advClick="0" advTm="2000">
        <p:random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2000">
        <p:random/>
      </p:transition>
    </mc:Choice>
    <mc:Fallback xmlns="">
      <p:transition spd="slow" advClick="0" advTm="2000">
        <p:random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27993"/>
          <a:stretch>
            <a:fillRect/>
          </a:stretch>
        </p:blipFill>
        <p:spPr>
          <a:xfrm>
            <a:off x="1" y="-5557"/>
            <a:ext cx="12192000" cy="6863557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-3" y="2077796"/>
            <a:ext cx="12192000" cy="4780204"/>
          </a:xfrm>
          <a:prstGeom prst="rect">
            <a:avLst/>
          </a:prstGeom>
          <a:gradFill>
            <a:gsLst>
              <a:gs pos="0">
                <a:srgbClr val="010000">
                  <a:alpha val="0"/>
                </a:srgbClr>
              </a:gs>
              <a:gs pos="100000">
                <a:srgbClr val="010000">
                  <a:alpha val="89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7020304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矩形 4"/>
          <p:cNvSpPr/>
          <p:nvPr userDrawn="1"/>
        </p:nvSpPr>
        <p:spPr>
          <a:xfrm rot="10800000">
            <a:off x="-1" y="-5557"/>
            <a:ext cx="12191999" cy="3217764"/>
          </a:xfrm>
          <a:prstGeom prst="rect">
            <a:avLst/>
          </a:prstGeom>
          <a:gradFill>
            <a:gsLst>
              <a:gs pos="0">
                <a:srgbClr val="010000">
                  <a:alpha val="0"/>
                </a:srgbClr>
              </a:gs>
              <a:gs pos="100000">
                <a:srgbClr val="010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7020304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-1" y="0"/>
            <a:ext cx="12192001" cy="6811864"/>
          </a:xfrm>
          <a:prstGeom prst="rect">
            <a:avLst/>
          </a:prstGeom>
          <a:solidFill>
            <a:srgbClr val="080304">
              <a:alpha val="6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7020304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4760680" y="564634"/>
            <a:ext cx="2670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dist">
              <a:defRPr sz="1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本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PPT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模板正参与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3602350" y="2482543"/>
            <a:ext cx="4987300" cy="400109"/>
          </a:xfrm>
          <a:prstGeom prst="rect">
            <a:avLst/>
          </a:prstGeom>
          <a:gradFill flip="none" rotWithShape="1">
            <a:gsLst>
              <a:gs pos="100000">
                <a:srgbClr val="CB9B53">
                  <a:alpha val="0"/>
                </a:srgbClr>
              </a:gs>
              <a:gs pos="0">
                <a:srgbClr val="CB9B53">
                  <a:alpha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E5177"/>
              </a:solidFill>
              <a:effectLst/>
              <a:uLnTx/>
              <a:uFillTx/>
              <a:latin typeface="Segoe UI"/>
              <a:ea typeface="微软雅黑"/>
              <a:cs typeface="+mn-cs"/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4049486" y="2517885"/>
            <a:ext cx="40930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 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第一届高校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PPT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模板设计大赛 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6133678" y="4824918"/>
            <a:ext cx="2545865" cy="1061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dist"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微信扫码</a:t>
            </a:r>
            <a:endParaRPr kumimoji="0" lang="en-US" altLang="zh-CN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来聆听模板作者</a:t>
            </a:r>
            <a:endParaRPr kumimoji="0" lang="en-US" altLang="zh-CN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设计灵感、制作思路</a:t>
            </a:r>
            <a:endParaRPr kumimoji="0" lang="en-US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615419" y="3771974"/>
            <a:ext cx="13817069" cy="3996426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683657" y="716939"/>
            <a:ext cx="8824686" cy="1844708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/>
        </p:nvSpPr>
        <p:spPr>
          <a:xfrm>
            <a:off x="3742050" y="2971888"/>
            <a:ext cx="19836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活动主办：秋叶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PPT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6079638" y="2971888"/>
            <a:ext cx="24929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技术支持：微软听听文档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3600610" y="3494767"/>
            <a:ext cx="2318400" cy="2318400"/>
          </a:xfrm>
          <a:prstGeom prst="rect">
            <a:avLst/>
          </a:prstGeom>
          <a:solidFill>
            <a:schemeClr val="bg1"/>
          </a:solidFill>
          <a:ln w="57150">
            <a:solidFill>
              <a:srgbClr val="CB9B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注页">
    <p:bg>
      <p:bgPr>
        <a:solidFill>
          <a:srgbClr val="E7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40603" y="759873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标注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572589" y="759873"/>
            <a:ext cx="1402001" cy="20251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使用说明 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声明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4153010" y="759873"/>
            <a:ext cx="7074345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模板为作者原创，著作权归作者所有。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您仅可以个人非商业用途使用本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模板，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微软雅黑" charset="0"/>
                <a:cs typeface="+mn-cs"/>
              </a:rPr>
              <a:t>未经权利人书面明确授权，不可将信息内容的全部或部分用于出售，或以出租、出借、转让、分销、发布等其他任何方式供他人使用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，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微软雅黑" charset="0"/>
                <a:cs typeface="+mn-cs"/>
              </a:rPr>
              <a:t>否则将承担法律责任。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OfficePLUS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尊重知识产权并注重保护用户享有的各项权利。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OfficePLUS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拥有对本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模板进行展示、报道、宣传及用于市场活动的权利，若在比赛或商业应用过程中发生版权纠纷，其法律责任由作者本人承担。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微软雅黑" charset="0"/>
                <a:cs typeface="Segoe UI Light"/>
              </a:rPr>
              <a:t>OfficePLUS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/>
              <a:ea typeface="微软雅黑" charset="0"/>
              <a:cs typeface="Segoe UI Ligh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2.png"/><Relationship Id="rId5" Type="http://schemas.openxmlformats.org/officeDocument/2006/relationships/image" Target="../media/image34.jpeg"/><Relationship Id="rId4" Type="http://schemas.openxmlformats.org/officeDocument/2006/relationships/image" Target="../media/image5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10" Type="http://schemas.openxmlformats.org/officeDocument/2006/relationships/image" Target="../media/image61.png"/><Relationship Id="rId4" Type="http://schemas.openxmlformats.org/officeDocument/2006/relationships/image" Target="../media/image35.jpeg"/><Relationship Id="rId9" Type="http://schemas.openxmlformats.org/officeDocument/2006/relationships/image" Target="../media/image6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8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3" Type="http://schemas.openxmlformats.org/officeDocument/2006/relationships/image" Target="../media/image87.png"/><Relationship Id="rId7" Type="http://schemas.openxmlformats.org/officeDocument/2006/relationships/image" Target="../media/image91.png"/><Relationship Id="rId12" Type="http://schemas.openxmlformats.org/officeDocument/2006/relationships/image" Target="../media/image9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90.png"/><Relationship Id="rId11" Type="http://schemas.openxmlformats.org/officeDocument/2006/relationships/image" Target="../media/image95.png"/><Relationship Id="rId5" Type="http://schemas.openxmlformats.org/officeDocument/2006/relationships/image" Target="../media/image89.png"/><Relationship Id="rId10" Type="http://schemas.openxmlformats.org/officeDocument/2006/relationships/image" Target="../media/image94.png"/><Relationship Id="rId4" Type="http://schemas.openxmlformats.org/officeDocument/2006/relationships/image" Target="../media/image88.png"/><Relationship Id="rId9" Type="http://schemas.openxmlformats.org/officeDocument/2006/relationships/image" Target="../media/image93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3" Type="http://schemas.openxmlformats.org/officeDocument/2006/relationships/image" Target="../media/image95.png"/><Relationship Id="rId7" Type="http://schemas.openxmlformats.org/officeDocument/2006/relationships/image" Target="../media/image9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96.png"/><Relationship Id="rId11" Type="http://schemas.openxmlformats.org/officeDocument/2006/relationships/image" Target="../media/image101.png"/><Relationship Id="rId5" Type="http://schemas.openxmlformats.org/officeDocument/2006/relationships/image" Target="../media/image94.png"/><Relationship Id="rId10" Type="http://schemas.openxmlformats.org/officeDocument/2006/relationships/image" Target="../media/image100.png"/><Relationship Id="rId4" Type="http://schemas.openxmlformats.org/officeDocument/2006/relationships/image" Target="../media/image93.png"/><Relationship Id="rId9" Type="http://schemas.openxmlformats.org/officeDocument/2006/relationships/image" Target="../media/image99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13" Type="http://schemas.openxmlformats.org/officeDocument/2006/relationships/image" Target="../media/image108.png"/><Relationship Id="rId3" Type="http://schemas.openxmlformats.org/officeDocument/2006/relationships/image" Target="../media/image102.png"/><Relationship Id="rId7" Type="http://schemas.openxmlformats.org/officeDocument/2006/relationships/image" Target="../media/image97.png"/><Relationship Id="rId12" Type="http://schemas.openxmlformats.org/officeDocument/2006/relationships/image" Target="../media/image10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05.png"/><Relationship Id="rId11" Type="http://schemas.openxmlformats.org/officeDocument/2006/relationships/image" Target="../media/image106.png"/><Relationship Id="rId5" Type="http://schemas.openxmlformats.org/officeDocument/2006/relationships/image" Target="../media/image104.png"/><Relationship Id="rId10" Type="http://schemas.openxmlformats.org/officeDocument/2006/relationships/image" Target="../media/image98.png"/><Relationship Id="rId4" Type="http://schemas.openxmlformats.org/officeDocument/2006/relationships/image" Target="../media/image103.png"/><Relationship Id="rId9" Type="http://schemas.openxmlformats.org/officeDocument/2006/relationships/image" Target="../media/image94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3" Type="http://schemas.openxmlformats.org/officeDocument/2006/relationships/image" Target="../media/image109.png"/><Relationship Id="rId7" Type="http://schemas.openxmlformats.org/officeDocument/2006/relationships/image" Target="../media/image112.png"/><Relationship Id="rId12" Type="http://schemas.openxmlformats.org/officeDocument/2006/relationships/image" Target="../media/image11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11.png"/><Relationship Id="rId11" Type="http://schemas.openxmlformats.org/officeDocument/2006/relationships/image" Target="../media/image115.png"/><Relationship Id="rId5" Type="http://schemas.openxmlformats.org/officeDocument/2006/relationships/image" Target="../media/image93.png"/><Relationship Id="rId10" Type="http://schemas.openxmlformats.org/officeDocument/2006/relationships/image" Target="../media/image114.png"/><Relationship Id="rId4" Type="http://schemas.openxmlformats.org/officeDocument/2006/relationships/image" Target="../media/image110.png"/><Relationship Id="rId9" Type="http://schemas.openxmlformats.org/officeDocument/2006/relationships/image" Target="../media/image9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83.png"/><Relationship Id="rId5" Type="http://schemas.openxmlformats.org/officeDocument/2006/relationships/image" Target="../media/image94.png"/><Relationship Id="rId4" Type="http://schemas.openxmlformats.org/officeDocument/2006/relationships/image" Target="../media/image11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7" Type="http://schemas.openxmlformats.org/officeDocument/2006/relationships/image" Target="../media/image12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23.png"/><Relationship Id="rId5" Type="http://schemas.openxmlformats.org/officeDocument/2006/relationships/image" Target="../media/image122.png"/><Relationship Id="rId4" Type="http://schemas.openxmlformats.org/officeDocument/2006/relationships/image" Target="../media/image12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8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26.png"/><Relationship Id="rId4" Type="http://schemas.openxmlformats.org/officeDocument/2006/relationships/image" Target="../media/image12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33.png"/><Relationship Id="rId4" Type="http://schemas.openxmlformats.org/officeDocument/2006/relationships/image" Target="../media/image13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7" Type="http://schemas.openxmlformats.org/officeDocument/2006/relationships/image" Target="../media/image13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37.png"/><Relationship Id="rId5" Type="http://schemas.openxmlformats.org/officeDocument/2006/relationships/image" Target="../media/image136.png"/><Relationship Id="rId4" Type="http://schemas.openxmlformats.org/officeDocument/2006/relationships/image" Target="../media/image135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png"/><Relationship Id="rId3" Type="http://schemas.openxmlformats.org/officeDocument/2006/relationships/image" Target="../media/image139.png"/><Relationship Id="rId7" Type="http://schemas.openxmlformats.org/officeDocument/2006/relationships/image" Target="../media/image14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42.png"/><Relationship Id="rId5" Type="http://schemas.openxmlformats.org/officeDocument/2006/relationships/image" Target="../media/image141.png"/><Relationship Id="rId4" Type="http://schemas.openxmlformats.org/officeDocument/2006/relationships/image" Target="../media/image14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png"/><Relationship Id="rId3" Type="http://schemas.openxmlformats.org/officeDocument/2006/relationships/image" Target="../media/image146.png"/><Relationship Id="rId7" Type="http://schemas.openxmlformats.org/officeDocument/2006/relationships/image" Target="../media/image15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49.png"/><Relationship Id="rId5" Type="http://schemas.openxmlformats.org/officeDocument/2006/relationships/image" Target="../media/image148.png"/><Relationship Id="rId4" Type="http://schemas.openxmlformats.org/officeDocument/2006/relationships/image" Target="../media/image147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png"/><Relationship Id="rId3" Type="http://schemas.openxmlformats.org/officeDocument/2006/relationships/image" Target="../media/image152.png"/><Relationship Id="rId7" Type="http://schemas.openxmlformats.org/officeDocument/2006/relationships/image" Target="../media/image15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55.png"/><Relationship Id="rId5" Type="http://schemas.openxmlformats.org/officeDocument/2006/relationships/image" Target="../media/image154.png"/><Relationship Id="rId4" Type="http://schemas.openxmlformats.org/officeDocument/2006/relationships/image" Target="../media/image153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png"/><Relationship Id="rId3" Type="http://schemas.openxmlformats.org/officeDocument/2006/relationships/image" Target="../media/image158.png"/><Relationship Id="rId7" Type="http://schemas.openxmlformats.org/officeDocument/2006/relationships/image" Target="../media/image16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61.png"/><Relationship Id="rId5" Type="http://schemas.openxmlformats.org/officeDocument/2006/relationships/image" Target="../media/image160.png"/><Relationship Id="rId4" Type="http://schemas.openxmlformats.org/officeDocument/2006/relationships/image" Target="../media/image159.png"/><Relationship Id="rId9" Type="http://schemas.openxmlformats.org/officeDocument/2006/relationships/image" Target="../media/image16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9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9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7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6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42"/>
          <p:cNvSpPr txBox="1"/>
          <p:nvPr/>
        </p:nvSpPr>
        <p:spPr>
          <a:xfrm>
            <a:off x="1776520" y="2840735"/>
            <a:ext cx="8741616" cy="1354218"/>
          </a:xfrm>
          <a:prstGeom prst="rect">
            <a:avLst/>
          </a:prstGeom>
          <a:noFill/>
        </p:spPr>
        <p:txBody>
          <a:bodyPr wrap="square" lIns="121889" tIns="60944" rIns="121889" bIns="60944" rtlCol="0">
            <a:spAutoFit/>
          </a:bodyPr>
          <a:lstStyle/>
          <a:p>
            <a:pPr algn="ctr"/>
            <a:r>
              <a:rPr lang="zh-CN" altLang="en-US" sz="8000" b="1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机器学习</a:t>
            </a:r>
            <a:endParaRPr lang="zh-CN" altLang="zh-CN" sz="8000" b="1" dirty="0">
              <a:solidFill>
                <a:srgbClr val="4454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425647" y="4372218"/>
            <a:ext cx="7340708" cy="400012"/>
          </a:xfrm>
          <a:prstGeom prst="rect">
            <a:avLst/>
          </a:prstGeom>
          <a:solidFill>
            <a:srgbClr val="0072C7"/>
          </a:solidFill>
        </p:spPr>
        <p:txBody>
          <a:bodyPr wrap="square" lIns="121889" tIns="60944" rIns="121889" bIns="60944" rtlCol="0">
            <a:spAutoFit/>
          </a:bodyPr>
          <a:lstStyle/>
          <a:p>
            <a:r>
              <a:rPr lang="en-US" altLang="zh-CN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Machine Learning</a:t>
            </a:r>
            <a:endParaRPr lang="zh-CN" altLang="zh-CN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204378" y="5048411"/>
            <a:ext cx="5945338" cy="1650548"/>
          </a:xfrm>
          <a:prstGeom prst="rect">
            <a:avLst/>
          </a:prstGeom>
          <a:noFill/>
        </p:spPr>
        <p:txBody>
          <a:bodyPr wrap="square" lIns="121889" tIns="60944" rIns="121889" bIns="60944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授课老师：刘雪明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       话：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87543563</a:t>
            </a:r>
          </a:p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办  公  室：南一楼西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303</a:t>
            </a:r>
          </a:p>
          <a:p>
            <a:pPr>
              <a:lnSpc>
                <a:spcPct val="125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邮       箱：</a:t>
            </a:r>
            <a:r>
              <a:rPr lang="en-US" altLang="zh-CN" sz="2400" b="1" i="1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xm_liu@hust.edu.cn</a:t>
            </a:r>
            <a:endParaRPr lang="en-US" sz="2400" b="1" i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2331828" y="4194952"/>
            <a:ext cx="7528346" cy="0"/>
          </a:xfrm>
          <a:prstGeom prst="line">
            <a:avLst/>
          </a:prstGeom>
          <a:noFill/>
          <a:ln w="9525" cap="flat" cmpd="sng" algn="ctr">
            <a:solidFill>
              <a:srgbClr val="F8F8F8">
                <a:lumMod val="75000"/>
              </a:srgbClr>
            </a:solidFill>
            <a:prstDash val="lgDash"/>
          </a:ln>
          <a:effectLst/>
        </p:spPr>
      </p:cxnSp>
      <p:cxnSp>
        <p:nvCxnSpPr>
          <p:cNvPr id="21" name="直接连接符 20"/>
          <p:cNvCxnSpPr/>
          <p:nvPr/>
        </p:nvCxnSpPr>
        <p:spPr>
          <a:xfrm>
            <a:off x="2331828" y="2683134"/>
            <a:ext cx="7528346" cy="0"/>
          </a:xfrm>
          <a:prstGeom prst="line">
            <a:avLst/>
          </a:prstGeom>
          <a:noFill/>
          <a:ln w="9525" cap="flat" cmpd="sng" algn="ctr">
            <a:solidFill>
              <a:srgbClr val="F8F8F8">
                <a:lumMod val="75000"/>
              </a:srgbClr>
            </a:solidFill>
            <a:prstDash val="lgDash"/>
          </a:ln>
          <a:effectLst/>
        </p:spPr>
      </p:cxnSp>
      <p:pic>
        <p:nvPicPr>
          <p:cNvPr id="6" name="久石让 - Summer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256163" y="-1659566"/>
            <a:ext cx="812506" cy="8128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V="1">
            <a:off x="4332049" y="413598"/>
            <a:ext cx="3527904" cy="21792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2000">
        <p:random/>
      </p:transition>
    </mc:Choice>
    <mc:Fallback xmlns="">
      <p:transition spd="slow" advClick="0" advTm="2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1" presetClass="entr" presetSubtype="0" fill="hold" grpId="0" nodeType="afterEffect"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 tmFilter="0,0; .5, 1; 1, 1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650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15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2" fill="hold" nodeType="withEffect"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650"/>
                            </p:stCondLst>
                            <p:childTnLst>
                              <p:par>
                                <p:cTn id="29" presetID="56" presetClass="entr" presetSubtype="0" fill="hold" grpId="0" nodeType="afterEffect"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31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32" dur="25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3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3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35" repeatCount="indefinite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  <p:bldLst>
      <p:bldP spid="16" grpId="0"/>
      <p:bldP spid="18" grpId="0" animBg="1"/>
      <p:bldP spid="1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288"/>
            <a:ext cx="12192001" cy="6858000"/>
          </a:xfrm>
          <a:prstGeom prst="rect">
            <a:avLst/>
          </a:prstGeom>
        </p:spPr>
      </p:pic>
      <p:sp>
        <p:nvSpPr>
          <p:cNvPr id="4" name="矩形 28"/>
          <p:cNvSpPr/>
          <p:nvPr/>
        </p:nvSpPr>
        <p:spPr bwMode="auto">
          <a:xfrm>
            <a:off x="2203" y="3489165"/>
            <a:ext cx="4836318" cy="1711958"/>
          </a:xfrm>
          <a:custGeom>
            <a:avLst/>
            <a:gdLst/>
            <a:ahLst/>
            <a:cxnLst/>
            <a:rect l="l" t="t" r="r" b="b"/>
            <a:pathLst>
              <a:path w="4310745" h="1283968">
                <a:moveTo>
                  <a:pt x="1089668" y="0"/>
                </a:moveTo>
                <a:lnTo>
                  <a:pt x="3526973" y="0"/>
                </a:lnTo>
                <a:lnTo>
                  <a:pt x="4310745" y="1269454"/>
                </a:lnTo>
                <a:lnTo>
                  <a:pt x="1089668" y="1283968"/>
                </a:lnTo>
                <a:close/>
                <a:moveTo>
                  <a:pt x="0" y="0"/>
                </a:moveTo>
                <a:lnTo>
                  <a:pt x="1089667" y="0"/>
                </a:lnTo>
                <a:lnTo>
                  <a:pt x="1089667" y="1283968"/>
                </a:lnTo>
                <a:lnTo>
                  <a:pt x="0" y="1283968"/>
                </a:ln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889" tIns="60944" rIns="121889" bIns="60944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Arial" panose="020B060402020209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TextBox 4"/>
          <p:cNvSpPr txBox="1"/>
          <p:nvPr/>
        </p:nvSpPr>
        <p:spPr bwMode="auto">
          <a:xfrm>
            <a:off x="1531702" y="3679342"/>
            <a:ext cx="1562256" cy="943849"/>
          </a:xfrm>
          <a:prstGeom prst="rect">
            <a:avLst/>
          </a:prstGeom>
          <a:noFill/>
        </p:spPr>
        <p:txBody>
          <a:bodyPr wrap="none" lIns="121889" tIns="60944" rIns="121889" bIns="60944">
            <a:spAutoFit/>
          </a:bodyPr>
          <a:lstStyle/>
          <a:p>
            <a:pPr>
              <a:defRPr/>
            </a:pPr>
            <a:r>
              <a:rPr lang="zh-CN" altLang="en-US" sz="5300" kern="0" spc="-200">
                <a:ln w="1905">
                  <a:noFill/>
                </a:ln>
                <a:solidFill>
                  <a:schemeClr val="bg1"/>
                </a:solidFill>
                <a:latin typeface="方正大黑简体" pitchFamily="65" charset="-122"/>
                <a:ea typeface="方正大黑简体" pitchFamily="65" charset="-122"/>
              </a:rPr>
              <a:t>目录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1282941" y="4445440"/>
            <a:ext cx="2183997" cy="538480"/>
          </a:xfrm>
          <a:prstGeom prst="rect">
            <a:avLst/>
          </a:prstGeom>
          <a:noFill/>
        </p:spPr>
        <p:txBody>
          <a:bodyPr wrap="none" lIns="121889" tIns="60944" rIns="121889" bIns="60944">
            <a:spAutoFit/>
          </a:bodyPr>
          <a:lstStyle/>
          <a:p>
            <a:pPr algn="ctr"/>
            <a:r>
              <a:rPr lang="en-US" altLang="zh-CN" sz="27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27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 bwMode="auto">
          <a:xfrm>
            <a:off x="8734293" y="5562772"/>
            <a:ext cx="2576925" cy="538448"/>
          </a:xfrm>
          <a:prstGeom prst="rect">
            <a:avLst/>
          </a:prstGeom>
          <a:noFill/>
        </p:spPr>
        <p:txBody>
          <a:bodyPr wrap="none" lIns="121889" tIns="60944" rIns="121889" bIns="60944">
            <a:spAutoFit/>
          </a:bodyPr>
          <a:lstStyle/>
          <a:p>
            <a:pPr>
              <a:defRPr/>
            </a:pPr>
            <a:r>
              <a:rPr lang="zh-CN" altLang="en-US" sz="27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偏差</a:t>
            </a:r>
            <a:r>
              <a:rPr lang="en-US" altLang="zh-CN" sz="27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7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方差平衡 </a:t>
            </a:r>
          </a:p>
        </p:txBody>
      </p:sp>
      <p:sp>
        <p:nvSpPr>
          <p:cNvPr id="10" name="TextBox 9"/>
          <p:cNvSpPr txBox="1"/>
          <p:nvPr/>
        </p:nvSpPr>
        <p:spPr bwMode="auto">
          <a:xfrm>
            <a:off x="7438918" y="3576358"/>
            <a:ext cx="2079994" cy="538448"/>
          </a:xfrm>
          <a:prstGeom prst="rect">
            <a:avLst/>
          </a:prstGeom>
          <a:noFill/>
        </p:spPr>
        <p:txBody>
          <a:bodyPr wrap="none" lIns="121889" tIns="60944" rIns="121889" bIns="60944">
            <a:spAutoFit/>
          </a:bodyPr>
          <a:lstStyle/>
          <a:p>
            <a:pPr lvl="0">
              <a:defRPr/>
            </a:pPr>
            <a:r>
              <a:rPr lang="zh-CN" altLang="en-US" sz="27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正则化方法 </a:t>
            </a:r>
          </a:p>
        </p:txBody>
      </p:sp>
      <p:sp>
        <p:nvSpPr>
          <p:cNvPr id="12" name="TextBox 11"/>
          <p:cNvSpPr txBox="1"/>
          <p:nvPr/>
        </p:nvSpPr>
        <p:spPr bwMode="auto">
          <a:xfrm>
            <a:off x="6806271" y="2759137"/>
            <a:ext cx="2079994" cy="538448"/>
          </a:xfrm>
          <a:prstGeom prst="rect">
            <a:avLst/>
          </a:prstGeom>
          <a:noFill/>
        </p:spPr>
        <p:txBody>
          <a:bodyPr wrap="none" lIns="121889" tIns="60944" rIns="121889" bIns="60944">
            <a:spAutoFit/>
          </a:bodyPr>
          <a:lstStyle/>
          <a:p>
            <a:pPr lvl="0">
              <a:defRPr/>
            </a:pPr>
            <a:r>
              <a:rPr lang="zh-CN" altLang="en-US" sz="27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过拟合问题 </a:t>
            </a:r>
          </a:p>
        </p:txBody>
      </p:sp>
      <p:sp>
        <p:nvSpPr>
          <p:cNvPr id="14" name="TextBox 13"/>
          <p:cNvSpPr txBox="1"/>
          <p:nvPr/>
        </p:nvSpPr>
        <p:spPr bwMode="auto">
          <a:xfrm>
            <a:off x="8101876" y="4590055"/>
            <a:ext cx="1733745" cy="538448"/>
          </a:xfrm>
          <a:prstGeom prst="rect">
            <a:avLst/>
          </a:prstGeom>
          <a:noFill/>
        </p:spPr>
        <p:txBody>
          <a:bodyPr wrap="none" lIns="121889" tIns="60944" rIns="121889" bIns="60944">
            <a:spAutoFit/>
          </a:bodyPr>
          <a:lstStyle/>
          <a:p>
            <a:pPr lvl="0">
              <a:defRPr/>
            </a:pPr>
            <a:r>
              <a:rPr lang="zh-CN" altLang="en-US" sz="27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特征选择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7386" y="1628315"/>
            <a:ext cx="874283" cy="943849"/>
          </a:xfrm>
          <a:prstGeom prst="rect">
            <a:avLst/>
          </a:prstGeom>
          <a:noFill/>
        </p:spPr>
        <p:txBody>
          <a:bodyPr wrap="none" lIns="121889" tIns="60944" rIns="121889" bIns="60944" rtlCol="0">
            <a:spAutoFit/>
          </a:bodyPr>
          <a:lstStyle/>
          <a:p>
            <a:r>
              <a:rPr lang="en-US" altLang="zh-CN" sz="5300">
                <a:solidFill>
                  <a:schemeClr val="accent1"/>
                </a:solidFill>
                <a:latin typeface="Impact" panose="020B0806030902050204" pitchFamily="34" charset="0"/>
              </a:rPr>
              <a:t>01</a:t>
            </a:r>
            <a:endParaRPr lang="zh-CN" altLang="en-US" sz="5300">
              <a:solidFill>
                <a:schemeClr val="accent1"/>
              </a:solidFill>
              <a:latin typeface="Impact" panose="020B080603090205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918628" y="2606503"/>
            <a:ext cx="957608" cy="943849"/>
          </a:xfrm>
          <a:prstGeom prst="rect">
            <a:avLst/>
          </a:prstGeom>
          <a:noFill/>
        </p:spPr>
        <p:txBody>
          <a:bodyPr wrap="none" lIns="121889" tIns="60944" rIns="121889" bIns="60944" rtlCol="0">
            <a:spAutoFit/>
          </a:bodyPr>
          <a:lstStyle/>
          <a:p>
            <a:r>
              <a:rPr lang="en-US" altLang="zh-CN" sz="5300">
                <a:solidFill>
                  <a:schemeClr val="accent1"/>
                </a:solidFill>
                <a:latin typeface="Impact" panose="020B0806030902050204" pitchFamily="34" charset="0"/>
              </a:rPr>
              <a:t>02</a:t>
            </a:r>
            <a:endParaRPr lang="zh-CN" altLang="en-US" sz="5300">
              <a:solidFill>
                <a:schemeClr val="accent1"/>
              </a:solidFill>
              <a:latin typeface="Impact" panose="020B080603090205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632036" y="3479937"/>
            <a:ext cx="976837" cy="943849"/>
          </a:xfrm>
          <a:prstGeom prst="rect">
            <a:avLst/>
          </a:prstGeom>
          <a:noFill/>
        </p:spPr>
        <p:txBody>
          <a:bodyPr wrap="none" lIns="121889" tIns="60944" rIns="121889" bIns="60944" rtlCol="0">
            <a:spAutoFit/>
          </a:bodyPr>
          <a:lstStyle/>
          <a:p>
            <a:r>
              <a:rPr lang="en-US" altLang="zh-CN" sz="5300">
                <a:solidFill>
                  <a:schemeClr val="accent1"/>
                </a:solidFill>
                <a:latin typeface="Impact" panose="020B0806030902050204" pitchFamily="34" charset="0"/>
              </a:rPr>
              <a:t>03</a:t>
            </a:r>
            <a:endParaRPr lang="zh-CN" altLang="en-US" sz="5300">
              <a:solidFill>
                <a:schemeClr val="accent1"/>
              </a:solidFill>
              <a:latin typeface="Impact" panose="020B080603090205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183625" y="4387355"/>
            <a:ext cx="955472" cy="943849"/>
          </a:xfrm>
          <a:prstGeom prst="rect">
            <a:avLst/>
          </a:prstGeom>
          <a:noFill/>
        </p:spPr>
        <p:txBody>
          <a:bodyPr wrap="none" lIns="121889" tIns="60944" rIns="121889" bIns="60944" rtlCol="0">
            <a:spAutoFit/>
          </a:bodyPr>
          <a:lstStyle/>
          <a:p>
            <a:r>
              <a:rPr lang="en-US" altLang="zh-CN" sz="5300" dirty="0">
                <a:solidFill>
                  <a:schemeClr val="accent1"/>
                </a:solidFill>
                <a:latin typeface="Impact" panose="020B0806030902050204" pitchFamily="34" charset="0"/>
              </a:rPr>
              <a:t>04</a:t>
            </a:r>
            <a:endParaRPr lang="zh-CN" altLang="en-US" sz="5300" dirty="0">
              <a:solidFill>
                <a:schemeClr val="accent1"/>
              </a:solidFill>
              <a:latin typeface="Impact" panose="020B080603090205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022756" y="3316852"/>
            <a:ext cx="2023754" cy="656591"/>
          </a:xfrm>
          <a:prstGeom prst="rect">
            <a:avLst/>
          </a:prstGeom>
          <a:noFill/>
        </p:spPr>
        <p:txBody>
          <a:bodyPr wrap="none" lIns="121889" tIns="60944" rIns="121889" bIns="60944" rtlCol="0">
            <a:spAutoFit/>
          </a:bodyPr>
          <a:lstStyle/>
          <a:p>
            <a:r>
              <a:rPr lang="zh-CN" altLang="en-US" sz="3500" b="1">
                <a:solidFill>
                  <a:schemeClr val="bg1"/>
                </a:solidFill>
                <a:latin typeface="Eras Bold ITC" panose="020B0907030504020204" pitchFamily="34" charset="0"/>
                <a:ea typeface="微软雅黑" panose="020B0503020204020204" pitchFamily="34" charset="-122"/>
              </a:rPr>
              <a:t>为人师表</a:t>
            </a:r>
          </a:p>
        </p:txBody>
      </p:sp>
      <p:sp>
        <p:nvSpPr>
          <p:cNvPr id="20" name="TextBox 19"/>
          <p:cNvSpPr txBox="1"/>
          <p:nvPr/>
        </p:nvSpPr>
        <p:spPr bwMode="auto">
          <a:xfrm>
            <a:off x="672772" y="766522"/>
            <a:ext cx="7066937" cy="738631"/>
          </a:xfrm>
          <a:prstGeom prst="rect">
            <a:avLst/>
          </a:prstGeom>
          <a:noFill/>
        </p:spPr>
        <p:txBody>
          <a:bodyPr wrap="none" lIns="121889" tIns="60944" rIns="121889" bIns="60944">
            <a:spAutoFit/>
          </a:bodyPr>
          <a:lstStyle/>
          <a:p>
            <a:pPr>
              <a:defRPr/>
            </a:pPr>
            <a:r>
              <a:rPr lang="zh-CN" altLang="en-US" sz="4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第三章、模型优化与验证方法 </a:t>
            </a:r>
          </a:p>
        </p:txBody>
      </p:sp>
      <p:sp>
        <p:nvSpPr>
          <p:cNvPr id="22" name="TextBox 21"/>
          <p:cNvSpPr txBox="1"/>
          <p:nvPr/>
        </p:nvSpPr>
        <p:spPr bwMode="auto">
          <a:xfrm>
            <a:off x="6112523" y="1795506"/>
            <a:ext cx="1733745" cy="538448"/>
          </a:xfrm>
          <a:prstGeom prst="rect">
            <a:avLst/>
          </a:prstGeom>
          <a:noFill/>
        </p:spPr>
        <p:txBody>
          <a:bodyPr wrap="none" lIns="121889" tIns="60944" rIns="121889" bIns="60944">
            <a:spAutoFit/>
          </a:bodyPr>
          <a:lstStyle/>
          <a:p>
            <a:pPr lvl="0">
              <a:defRPr/>
            </a:pPr>
            <a:r>
              <a:rPr lang="zh-CN" altLang="en-US" sz="27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模型选择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32411" y="5362717"/>
            <a:ext cx="973922" cy="938558"/>
          </a:xfrm>
          <a:prstGeom prst="rect">
            <a:avLst/>
          </a:prstGeom>
          <a:noFill/>
        </p:spPr>
        <p:txBody>
          <a:bodyPr wrap="none" lIns="121889" tIns="60944" rIns="121889" bIns="60944" rtlCol="0">
            <a:spAutoFit/>
          </a:bodyPr>
          <a:lstStyle/>
          <a:p>
            <a:r>
              <a:rPr lang="en-US" altLang="zh-CN" sz="5300" dirty="0">
                <a:solidFill>
                  <a:schemeClr val="accent1"/>
                </a:solidFill>
                <a:latin typeface="Impact" panose="020B0806030902050204" pitchFamily="34" charset="0"/>
              </a:rPr>
              <a:t>05</a:t>
            </a:r>
            <a:endParaRPr lang="zh-CN" altLang="en-US" sz="5300" dirty="0">
              <a:solidFill>
                <a:schemeClr val="accent1"/>
              </a:solidFill>
              <a:latin typeface="Impact" panose="020B080603090205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 bwMode="auto">
          <a:xfrm>
            <a:off x="706809" y="6235019"/>
            <a:ext cx="7175941" cy="553966"/>
          </a:xfrm>
          <a:prstGeom prst="rect">
            <a:avLst/>
          </a:prstGeom>
          <a:noFill/>
        </p:spPr>
        <p:txBody>
          <a:bodyPr wrap="none" lIns="121889" tIns="60944" rIns="121889" bIns="60944">
            <a:spAutoFit/>
          </a:bodyPr>
          <a:lstStyle/>
          <a:p>
            <a:pPr>
              <a:defRPr/>
            </a:pPr>
            <a:r>
              <a:rPr lang="zh-CN" altLang="en-US" sz="2800" b="1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本章学习的目的：</a:t>
            </a:r>
            <a:r>
              <a:rPr lang="zh-CN" altLang="en-US" sz="28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掌握机器学习的基础知识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2000">
        <p:random/>
      </p:transition>
    </mc:Choice>
    <mc:Fallback xmlns="">
      <p:transition spd="slow" advClick="0" advTm="2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42" presetClass="entr" presetSubtype="0" fill="hold" grpId="0" nodeType="afterEffect"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49" presetClass="entr" presetSubtype="0" decel="100000" fill="hold" grpId="0" nodeType="afterEffect"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42" presetClass="entr" presetSubtype="0" fill="hold" grpId="0" nodeType="afterEffect"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0"/>
                            </p:stCondLst>
                            <p:childTnLst>
                              <p:par>
                                <p:cTn id="44" presetID="49" presetClass="entr" presetSubtype="0" decel="100000" fill="hold" grpId="0" nodeType="afterEffect"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500"/>
                            </p:stCondLst>
                            <p:childTnLst>
                              <p:par>
                                <p:cTn id="56" presetID="49" presetClass="entr" presetSubtype="0" decel="100000" fill="hold" grpId="0" nodeType="afterEffect"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4000"/>
                            </p:stCondLst>
                            <p:childTnLst>
                              <p:par>
                                <p:cTn id="68" presetID="49" presetClass="entr" presetSubtype="0" decel="100000" fill="hold" grpId="0" nodeType="afterEffect"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4500"/>
                            </p:stCondLst>
                            <p:childTnLst>
                              <p:par>
                                <p:cTn id="80" presetID="49" presetClass="entr" presetSubtype="0" decel="100000" fill="hold" grpId="0" nodeType="afterEffect"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8" grpId="0"/>
      <p:bldP spid="10" grpId="0"/>
      <p:bldP spid="12" grpId="0"/>
      <p:bldP spid="14" grpId="0"/>
      <p:bldP spid="16" grpId="0"/>
      <p:bldP spid="17" grpId="0"/>
      <p:bldP spid="18" grpId="0"/>
      <p:bldP spid="19" grpId="0"/>
      <p:bldP spid="21" grpId="0"/>
      <p:bldP spid="20" grpId="0"/>
      <p:bldP spid="22" grpId="0"/>
      <p:bldP spid="23" grpId="0"/>
      <p:bldP spid="2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566961" y="265803"/>
            <a:ext cx="7440283" cy="426497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4000" dirty="0"/>
              <a:t>1</a:t>
            </a:r>
            <a:r>
              <a:rPr lang="zh-CN" altLang="en-US" sz="4000" dirty="0"/>
              <a:t>、</a:t>
            </a:r>
            <a:r>
              <a:rPr lang="zh-CN" altLang="en-US" sz="4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模型选择</a:t>
            </a:r>
          </a:p>
        </p:txBody>
      </p:sp>
      <p:sp>
        <p:nvSpPr>
          <p:cNvPr id="12" name="AutoShape 4" descr="[公式]"/>
          <p:cNvSpPr>
            <a:spLocks noChangeAspect="1" noChangeArrowheads="1"/>
          </p:cNvSpPr>
          <p:nvPr/>
        </p:nvSpPr>
        <p:spPr bwMode="auto">
          <a:xfrm>
            <a:off x="4013200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5" name="文本框 119"/>
          <p:cNvSpPr txBox="1"/>
          <p:nvPr/>
        </p:nvSpPr>
        <p:spPr>
          <a:xfrm>
            <a:off x="609054" y="935423"/>
            <a:ext cx="5486946" cy="633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3200" spc="-10" dirty="0">
                <a:latin typeface="+mn-ea"/>
              </a:rPr>
              <a:t>回顾机器学习的工作流程：</a:t>
            </a:r>
            <a:endParaRPr lang="en-US" altLang="zh-CN" sz="3200" spc="-10" dirty="0"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126319" y="3969324"/>
                <a:ext cx="4112581" cy="768096"/>
              </a:xfrm>
              <a:prstGeom prst="rect">
                <a:avLst/>
              </a:prstGeom>
              <a:noFill/>
              <a:ln w="666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训练数据集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spc="-1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𝒟</m:t>
                      </m:r>
                      <m:r>
                        <a:rPr lang="en-US" altLang="zh-CN" sz="2000" i="1" spc="-1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={</m:t>
                      </m:r>
                      <m:d>
                        <m:dPr>
                          <m:ctrlPr>
                            <a:rPr lang="en-US" altLang="zh-CN" sz="2000" i="1" spc="-1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i="1" spc="-1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zh-CN" sz="2000" i="1" spc="-1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000" i="1" spc="-1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000" i="1" spc="-1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000" i="1" spc="-1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sz="2000" i="1" spc="-1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 spc="-1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000" i="1" spc="-1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sz="2000" i="1" spc="-1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US" altLang="zh-CN" sz="2000" i="1" spc="-1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i="1" spc="-1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zh-CN" sz="2000" i="1" spc="-1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000" i="1" spc="-1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000" i="1" spc="-1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000" i="1" spc="-1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sz="2000" i="1" spc="-1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 spc="-1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000" i="1" spc="-1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sz="2000" i="1" spc="-1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,…,</m:t>
                      </m:r>
                      <m:d>
                        <m:dPr>
                          <m:ctrlPr>
                            <a:rPr lang="en-US" altLang="zh-CN" sz="2000" i="1" spc="-1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i="1" spc="-1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zh-CN" sz="2000" i="1" spc="-1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000" i="1" spc="-1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000" i="1" spc="-1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altLang="zh-CN" sz="2000" i="1" spc="-1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sz="2000" i="1" spc="-1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 spc="-1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000" i="1" spc="-1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  <m:r>
                        <a:rPr lang="en-US" altLang="zh-CN" sz="2000" i="1" spc="-1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0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6319" y="3969324"/>
                <a:ext cx="4112581" cy="768096"/>
              </a:xfrm>
              <a:prstGeom prst="rect">
                <a:avLst/>
              </a:prstGeom>
              <a:blipFill rotWithShape="1">
                <a:blip r:embed="rId3"/>
                <a:stretch>
                  <a:fillRect l="-814" t="-4374" r="-799" b="-4340"/>
                </a:stretch>
              </a:blipFill>
              <a:ln w="666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/>
          <p:cNvCxnSpPr/>
          <p:nvPr/>
        </p:nvCxnSpPr>
        <p:spPr>
          <a:xfrm>
            <a:off x="5238900" y="4377351"/>
            <a:ext cx="668444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747685" y="4762753"/>
            <a:ext cx="3346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（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银行历史批准好坏的记录</a:t>
            </a:r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）</a:t>
            </a:r>
            <a:endParaRPr lang="en-US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5947366" y="3880054"/>
            <a:ext cx="2036227" cy="994594"/>
            <a:chOff x="5504687" y="3566161"/>
            <a:chExt cx="2036227" cy="994594"/>
          </a:xfrm>
        </p:grpSpPr>
        <p:sp>
          <p:nvSpPr>
            <p:cNvPr id="10" name="Oval 9"/>
            <p:cNvSpPr/>
            <p:nvPr/>
          </p:nvSpPr>
          <p:spPr>
            <a:xfrm>
              <a:off x="5504687" y="3566161"/>
              <a:ext cx="2036227" cy="994594"/>
            </a:xfrm>
            <a:prstGeom prst="ellipse">
              <a:avLst/>
            </a:prstGeom>
            <a:noFill/>
            <a:ln w="635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5917714" y="3775242"/>
                  <a:ext cx="1210588" cy="7078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2000" dirty="0">
                      <a:solidFill>
                        <a:srgbClr val="FF0000"/>
                      </a:solidFill>
                      <a:latin typeface="+mn-ea"/>
                    </a:rPr>
                    <a:t>学习算法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oMath>
                    </m:oMathPara>
                  </a14:m>
                  <a:endParaRPr lang="en-US" sz="2000" dirty="0">
                    <a:solidFill>
                      <a:srgbClr val="FF0000"/>
                    </a:solidFill>
                    <a:latin typeface="+mn-ea"/>
                  </a:endParaRPr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17714" y="3775242"/>
                  <a:ext cx="1210588" cy="707886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3" name="Straight Arrow Connector 12"/>
          <p:cNvCxnSpPr/>
          <p:nvPr/>
        </p:nvCxnSpPr>
        <p:spPr>
          <a:xfrm>
            <a:off x="8007244" y="4377389"/>
            <a:ext cx="668444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8698152" y="3969324"/>
                <a:ext cx="2353028" cy="768096"/>
              </a:xfrm>
              <a:prstGeom prst="rect">
                <a:avLst/>
              </a:prstGeom>
              <a:noFill/>
              <a:ln w="666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rgbClr val="7030A0"/>
                    </a:solidFill>
                  </a:rPr>
                  <a:t>最终的学习函数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r>
                        <a:rPr lang="en-US" sz="200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sz="2000" b="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sz="20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8152" y="3969324"/>
                <a:ext cx="2353028" cy="768096"/>
              </a:xfrm>
              <a:prstGeom prst="rect">
                <a:avLst/>
              </a:prstGeom>
              <a:blipFill rotWithShape="1">
                <a:blip r:embed="rId5"/>
                <a:stretch>
                  <a:fillRect l="-1427" t="-4374" r="-1392" b="-4340"/>
                </a:stretch>
              </a:blipFill>
              <a:ln w="666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14"/>
          <p:cNvGrpSpPr/>
          <p:nvPr/>
        </p:nvGrpSpPr>
        <p:grpSpPr>
          <a:xfrm>
            <a:off x="2547258" y="5255207"/>
            <a:ext cx="2013474" cy="920888"/>
            <a:chOff x="5504687" y="3566161"/>
            <a:chExt cx="2036227" cy="994594"/>
          </a:xfrm>
        </p:grpSpPr>
        <p:sp>
          <p:nvSpPr>
            <p:cNvPr id="16" name="Oval 15"/>
            <p:cNvSpPr/>
            <p:nvPr/>
          </p:nvSpPr>
          <p:spPr>
            <a:xfrm>
              <a:off x="5504687" y="3566161"/>
              <a:ext cx="2036227" cy="994594"/>
            </a:xfrm>
            <a:prstGeom prst="ellipse">
              <a:avLst/>
            </a:prstGeom>
            <a:noFill/>
            <a:ln w="635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5917714" y="3775242"/>
                  <a:ext cx="1210588" cy="7078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2000" dirty="0">
                      <a:solidFill>
                        <a:srgbClr val="FF0000"/>
                      </a:solidFill>
                      <a:latin typeface="+mn-ea"/>
                    </a:rPr>
                    <a:t>假设集合</a:t>
                  </a:r>
                </a:p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ℋ</m:t>
                        </m:r>
                      </m:oMath>
                    </m:oMathPara>
                  </a14:m>
                  <a:endParaRPr lang="en-US" sz="2000" dirty="0">
                    <a:solidFill>
                      <a:srgbClr val="FF0000"/>
                    </a:solidFill>
                    <a:latin typeface="+mn-ea"/>
                  </a:endParaRPr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17714" y="3775242"/>
                  <a:ext cx="1210588" cy="707886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9" name="Bent Arrow 18"/>
          <p:cNvSpPr/>
          <p:nvPr/>
        </p:nvSpPr>
        <p:spPr>
          <a:xfrm rot="5400000" flipH="1">
            <a:off x="5353069" y="4068205"/>
            <a:ext cx="994593" cy="2579268"/>
          </a:xfrm>
          <a:prstGeom prst="bentArrow">
            <a:avLst>
              <a:gd name="adj1" fmla="val 6439"/>
              <a:gd name="adj2" fmla="val 11517"/>
              <a:gd name="adj3" fmla="val 36236"/>
              <a:gd name="adj4" fmla="val 4375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4177012" y="5878453"/>
                <a:ext cx="700589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solidFill>
                      <a:schemeClr val="bg2">
                        <a:lumMod val="25000"/>
                      </a:schemeClr>
                    </a:solidFill>
                    <a:latin typeface="+mn-ea"/>
                  </a:rPr>
                  <a:t>（</a:t>
                </a:r>
                <a:r>
                  <a:rPr lang="en-US" dirty="0">
                    <a:solidFill>
                      <a:schemeClr val="bg2">
                        <a:lumMod val="25000"/>
                      </a:schemeClr>
                    </a:solidFill>
                    <a:latin typeface="+mn-ea"/>
                  </a:rPr>
                  <a:t>包含好的和不好的假设</a:t>
                </a:r>
                <a:r>
                  <a:rPr lang="zh-CN" altLang="en-US" dirty="0">
                    <a:solidFill>
                      <a:schemeClr val="bg2">
                        <a:lumMod val="25000"/>
                      </a:schemeClr>
                    </a:solidFill>
                    <a:latin typeface="+mn-ea"/>
                  </a:rPr>
                  <a:t>，算法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zh-CN" altLang="en-US" dirty="0">
                    <a:solidFill>
                      <a:srgbClr val="FF0000"/>
                    </a:solidFill>
                    <a:latin typeface="+mn-ea"/>
                  </a:rPr>
                  <a:t>从中</a:t>
                </a:r>
                <a:r>
                  <a:rPr lang="zh-CN" altLang="en-US" dirty="0">
                    <a:solidFill>
                      <a:schemeClr val="bg2">
                        <a:lumMod val="25000"/>
                      </a:schemeClr>
                    </a:solidFill>
                    <a:latin typeface="+mn-ea"/>
                  </a:rPr>
                  <a:t>选择“最好”的作为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r>
                      <a:rPr lang="en-US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>
                    <a:solidFill>
                      <a:schemeClr val="bg2">
                        <a:lumMod val="25000"/>
                      </a:schemeClr>
                    </a:solidFill>
                    <a:latin typeface="+mn-ea"/>
                  </a:rPr>
                  <a:t>）</a:t>
                </a:r>
                <a:endParaRPr lang="en-US" dirty="0">
                  <a:solidFill>
                    <a:schemeClr val="bg2">
                      <a:lumMod val="25000"/>
                    </a:schemeClr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7012" y="5878453"/>
                <a:ext cx="7005898" cy="369332"/>
              </a:xfrm>
              <a:prstGeom prst="rect">
                <a:avLst/>
              </a:prstGeom>
              <a:blipFill rotWithShape="1">
                <a:blip r:embed="rId7"/>
                <a:stretch>
                  <a:fillRect l="-9" t="-70" r="8" b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119"/>
              <p:cNvSpPr txBox="1"/>
              <p:nvPr/>
            </p:nvSpPr>
            <p:spPr>
              <a:xfrm>
                <a:off x="7570982" y="5015875"/>
                <a:ext cx="3898208" cy="6331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3200" spc="-10" dirty="0">
                    <a:solidFill>
                      <a:srgbClr val="FF0000"/>
                    </a:solidFill>
                    <a:latin typeface="+mn-ea"/>
                  </a:rPr>
                  <a:t>学习模型</a:t>
                </a:r>
                <a:r>
                  <a:rPr lang="en-US" altLang="zh-CN" sz="3200" spc="-10" dirty="0">
                    <a:solidFill>
                      <a:srgbClr val="FF0000"/>
                    </a:solidFill>
                    <a:latin typeface="+mn-ea"/>
                  </a:rPr>
                  <a:t>=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altLang="zh-CN" sz="3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32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ℋ</m:t>
                    </m:r>
                  </m:oMath>
                </a14:m>
                <a:endParaRPr lang="en-US" sz="3200" dirty="0">
                  <a:solidFill>
                    <a:srgbClr val="FF0000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21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0982" y="5015875"/>
                <a:ext cx="3898208" cy="633187"/>
              </a:xfrm>
              <a:prstGeom prst="rect">
                <a:avLst/>
              </a:prstGeom>
              <a:blipFill rotWithShape="1">
                <a:blip r:embed="rId8"/>
                <a:stretch>
                  <a:fillRect l="-13" t="-2" r="12" b="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ounded Rectangle 23"/>
              <p:cNvSpPr/>
              <p:nvPr/>
            </p:nvSpPr>
            <p:spPr>
              <a:xfrm>
                <a:off x="2006456" y="2166642"/>
                <a:ext cx="2724913" cy="889699"/>
              </a:xfrm>
              <a:prstGeom prst="roundRect">
                <a:avLst/>
              </a:prstGeom>
              <a:noFill/>
              <a:ln w="63500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accent4">
                        <a:lumMod val="50000"/>
                      </a:schemeClr>
                    </a:solidFill>
                  </a:rPr>
                  <a:t>未知的目标函数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b="0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2000" b="0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𝒳</m:t>
                      </m:r>
                      <m:r>
                        <a:rPr lang="en-US" sz="2000" b="0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sz="2000" b="0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𝒴</m:t>
                      </m:r>
                    </m:oMath>
                  </m:oMathPara>
                </a14:m>
                <a:endParaRPr lang="en-US" sz="2000" dirty="0">
                  <a:solidFill>
                    <a:schemeClr val="accent4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4" name="Rounded 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6456" y="2166642"/>
                <a:ext cx="2724913" cy="889699"/>
              </a:xfrm>
              <a:prstGeom prst="roundRect">
                <a:avLst/>
              </a:prstGeom>
              <a:blipFill rotWithShape="1">
                <a:blip r:embed="rId9"/>
                <a:stretch>
                  <a:fillRect l="-1183" t="-3571" r="-1142" b="-3559"/>
                </a:stretch>
              </a:blipFill>
              <a:ln w="63500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/>
          <p:cNvSpPr txBox="1"/>
          <p:nvPr/>
        </p:nvSpPr>
        <p:spPr>
          <a:xfrm>
            <a:off x="1951592" y="3101113"/>
            <a:ext cx="3346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（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理想的信用卡批准公式</a:t>
            </a:r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）</a:t>
            </a:r>
            <a:endParaRPr lang="en-US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3430805" y="3515216"/>
            <a:ext cx="0" cy="42323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119"/>
          <p:cNvSpPr txBox="1"/>
          <p:nvPr/>
        </p:nvSpPr>
        <p:spPr>
          <a:xfrm>
            <a:off x="6965479" y="827875"/>
            <a:ext cx="5019619" cy="1082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zh-CN" altLang="en-US" sz="2800" spc="-10" dirty="0">
                <a:latin typeface="+mn-ea"/>
              </a:rPr>
              <a:t>选用哪一个</a:t>
            </a:r>
            <a:r>
              <a:rPr lang="zh-CN" altLang="en-US" sz="2800" spc="-10" dirty="0">
                <a:solidFill>
                  <a:srgbClr val="FF0000"/>
                </a:solidFill>
                <a:latin typeface="+mn-ea"/>
              </a:rPr>
              <a:t>学习算法</a:t>
            </a:r>
            <a:r>
              <a:rPr lang="zh-CN" altLang="en-US" sz="2800" spc="-10" dirty="0">
                <a:latin typeface="+mn-ea"/>
              </a:rPr>
              <a:t>？</a:t>
            </a:r>
            <a:endParaRPr lang="en-US" altLang="zh-CN" sz="2800" spc="-10" dirty="0">
              <a:latin typeface="+mn-ea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zh-CN" altLang="en-US" sz="2800" spc="-10" dirty="0">
                <a:latin typeface="+mn-ea"/>
              </a:rPr>
              <a:t>使用哪一种</a:t>
            </a:r>
            <a:r>
              <a:rPr lang="zh-CN" altLang="en-US" sz="2800" spc="-10" dirty="0">
                <a:solidFill>
                  <a:srgbClr val="FF0000"/>
                </a:solidFill>
                <a:latin typeface="+mn-ea"/>
              </a:rPr>
              <a:t>参数配置</a:t>
            </a:r>
            <a:r>
              <a:rPr lang="zh-CN" altLang="en-US" sz="2800" spc="-10" dirty="0">
                <a:latin typeface="+mn-ea"/>
              </a:rPr>
              <a:t>？</a:t>
            </a:r>
            <a:endParaRPr lang="en-US" altLang="zh-CN" sz="2800" spc="-10" dirty="0">
              <a:latin typeface="+mn-ea"/>
            </a:endParaRPr>
          </a:p>
        </p:txBody>
      </p:sp>
      <p:sp>
        <p:nvSpPr>
          <p:cNvPr id="28" name="文本框 119"/>
          <p:cNvSpPr txBox="1"/>
          <p:nvPr/>
        </p:nvSpPr>
        <p:spPr>
          <a:xfrm>
            <a:off x="7983593" y="2229634"/>
            <a:ext cx="2353028" cy="56553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4925"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spc="-10" dirty="0">
                <a:latin typeface="+mn-ea"/>
              </a:rPr>
              <a:t>模型选择问题</a:t>
            </a:r>
            <a:endParaRPr lang="en-US" altLang="zh-CN" sz="2800" spc="-10" dirty="0">
              <a:latin typeface="+mn-ea"/>
            </a:endParaRP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9069605" y="1867615"/>
            <a:ext cx="0" cy="33823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9104747" y="2820840"/>
            <a:ext cx="0" cy="33823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119"/>
          <p:cNvSpPr txBox="1"/>
          <p:nvPr/>
        </p:nvSpPr>
        <p:spPr>
          <a:xfrm>
            <a:off x="6949896" y="3108017"/>
            <a:ext cx="5019619" cy="565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zh-CN" altLang="en-US" sz="2800" spc="-10" dirty="0">
                <a:latin typeface="+mn-ea"/>
              </a:rPr>
              <a:t>如何评估模型的好坏？</a:t>
            </a:r>
            <a:endParaRPr lang="en-US" altLang="zh-CN" sz="2800" spc="-10" dirty="0">
              <a:latin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F69888C-E133-43D9-A638-B5C95925B91C}" type="slidenum">
              <a:rPr lang="zh-CN" altLang="en-US" smtClean="0"/>
              <a:t>3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 animBg="1"/>
      <p:bldP spid="3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566961" y="265803"/>
            <a:ext cx="7440283" cy="426497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4000" dirty="0"/>
              <a:t>1</a:t>
            </a:r>
            <a:r>
              <a:rPr lang="zh-CN" altLang="en-US" sz="4000" dirty="0"/>
              <a:t>、</a:t>
            </a:r>
            <a:r>
              <a:rPr lang="zh-CN" altLang="en-US" sz="4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模型选择</a:t>
            </a:r>
          </a:p>
        </p:txBody>
      </p:sp>
      <p:sp>
        <p:nvSpPr>
          <p:cNvPr id="18" name="文本框 119"/>
          <p:cNvSpPr txBox="1"/>
          <p:nvPr/>
        </p:nvSpPr>
        <p:spPr>
          <a:xfrm>
            <a:off x="566961" y="969238"/>
            <a:ext cx="11403926" cy="633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3200" spc="-10" dirty="0">
                <a:latin typeface="+mn-ea"/>
              </a:rPr>
              <a:t>模型评估方法</a:t>
            </a:r>
            <a:endParaRPr lang="en-US" altLang="zh-CN" sz="3200" spc="-10" dirty="0">
              <a:latin typeface="+mn-ea"/>
            </a:endParaRPr>
          </a:p>
        </p:txBody>
      </p:sp>
      <p:sp>
        <p:nvSpPr>
          <p:cNvPr id="12" name="AutoShape 4" descr="[公式]"/>
          <p:cNvSpPr>
            <a:spLocks noChangeAspect="1" noChangeArrowheads="1"/>
          </p:cNvSpPr>
          <p:nvPr/>
        </p:nvSpPr>
        <p:spPr bwMode="auto">
          <a:xfrm>
            <a:off x="4013200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119"/>
              <p:cNvSpPr txBox="1"/>
              <p:nvPr/>
            </p:nvSpPr>
            <p:spPr>
              <a:xfrm>
                <a:off x="1032869" y="1562769"/>
                <a:ext cx="10279565" cy="10826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2800" spc="-10" dirty="0">
                    <a:latin typeface="+mn-ea"/>
                  </a:rPr>
                  <a:t>机器学习的目标是学到一个</a:t>
                </a:r>
                <a:r>
                  <a:rPr lang="zh-CN" altLang="en-US" sz="2800" spc="-10" dirty="0">
                    <a:solidFill>
                      <a:schemeClr val="accent1"/>
                    </a:solidFill>
                    <a:latin typeface="+mn-ea"/>
                  </a:rPr>
                  <a:t>具有泛化能力</a:t>
                </a:r>
                <a:r>
                  <a:rPr lang="zh-CN" altLang="en-US" sz="2800" spc="-10" dirty="0">
                    <a:latin typeface="+mn-ea"/>
                  </a:rPr>
                  <a:t>的函数</a:t>
                </a:r>
                <a14:m>
                  <m:oMath xmlns:m="http://schemas.openxmlformats.org/officeDocument/2006/math">
                    <m:r>
                      <a:rPr lang="en-US" altLang="zh-CN" sz="2800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zh-CN" altLang="en-US" sz="2800" spc="-10" dirty="0">
                    <a:latin typeface="+mn-ea"/>
                  </a:rPr>
                  <a:t>，使得模型在</a:t>
                </a:r>
                <a:r>
                  <a:rPr lang="zh-CN" altLang="en-US" sz="2800" spc="-10" dirty="0">
                    <a:solidFill>
                      <a:schemeClr val="accent1"/>
                    </a:solidFill>
                    <a:highlight>
                      <a:srgbClr val="FFFF00"/>
                    </a:highlight>
                    <a:latin typeface="+mn-ea"/>
                  </a:rPr>
                  <a:t>新样本</a:t>
                </a:r>
                <a:r>
                  <a:rPr lang="zh-CN" altLang="en-US" sz="2800" spc="-10" dirty="0">
                    <a:latin typeface="+mn-ea"/>
                  </a:rPr>
                  <a:t>上表现得很好，即“</a:t>
                </a:r>
                <a:r>
                  <a:rPr lang="zh-CN" altLang="en-US" sz="2800" spc="-10" dirty="0">
                    <a:solidFill>
                      <a:srgbClr val="FF0000"/>
                    </a:solidFill>
                    <a:latin typeface="+mn-ea"/>
                  </a:rPr>
                  <a:t>泛化误差</a:t>
                </a:r>
                <a:r>
                  <a:rPr lang="zh-CN" altLang="en-US" sz="2800" spc="-10" dirty="0">
                    <a:latin typeface="+mn-ea"/>
                  </a:rPr>
                  <a:t>”小。</a:t>
                </a:r>
                <a:endParaRPr lang="en-US" altLang="zh-CN" sz="2800" spc="-10" dirty="0">
                  <a:latin typeface="+mn-ea"/>
                </a:endParaRPr>
              </a:p>
            </p:txBody>
          </p:sp>
        </mc:Choice>
        <mc:Fallback xmlns="">
          <p:sp>
            <p:nvSpPr>
              <p:cNvPr id="5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869" y="1562769"/>
                <a:ext cx="10279565" cy="1082604"/>
              </a:xfrm>
              <a:prstGeom prst="rect">
                <a:avLst/>
              </a:prstGeom>
              <a:blipFill rotWithShape="1">
                <a:blip r:embed="rId3"/>
                <a:stretch>
                  <a:fillRect l="-3" t="-3" r="5" b="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119"/>
          <p:cNvSpPr txBox="1"/>
          <p:nvPr/>
        </p:nvSpPr>
        <p:spPr>
          <a:xfrm>
            <a:off x="566961" y="2795813"/>
            <a:ext cx="11403926" cy="633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3200" spc="-10" dirty="0">
                <a:latin typeface="+mn-ea"/>
              </a:rPr>
              <a:t>误差：</a:t>
            </a:r>
            <a:r>
              <a:rPr lang="zh-CN" altLang="en-US" sz="2800" spc="-10" dirty="0">
                <a:latin typeface="+mn-ea"/>
              </a:rPr>
              <a:t>模型的实际预测输出与样本的真实输出之间的差异</a:t>
            </a:r>
            <a:endParaRPr lang="en-US" altLang="zh-CN" sz="2800" spc="-10" dirty="0"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119"/>
              <p:cNvSpPr txBox="1"/>
              <p:nvPr/>
            </p:nvSpPr>
            <p:spPr>
              <a:xfrm>
                <a:off x="1032869" y="3468550"/>
                <a:ext cx="10671451" cy="10826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zh-CN" altLang="en-US" sz="2800" spc="-10" dirty="0">
                    <a:solidFill>
                      <a:schemeClr val="accent1"/>
                    </a:solidFill>
                    <a:latin typeface="+mn-ea"/>
                  </a:rPr>
                  <a:t>训练误差（</a:t>
                </a:r>
                <a:r>
                  <a:rPr lang="en-US" altLang="zh-CN" sz="2800" spc="-10" dirty="0">
                    <a:solidFill>
                      <a:schemeClr val="accent1"/>
                    </a:solidFill>
                    <a:latin typeface="+mn-ea"/>
                  </a:rPr>
                  <a:t>training</a:t>
                </a:r>
                <a:r>
                  <a:rPr lang="zh-CN" altLang="en-US" sz="2800" spc="-10" dirty="0">
                    <a:solidFill>
                      <a:schemeClr val="accent1"/>
                    </a:solidFill>
                    <a:latin typeface="+mn-ea"/>
                  </a:rPr>
                  <a:t> </a:t>
                </a:r>
                <a:r>
                  <a:rPr lang="en-US" altLang="zh-CN" sz="2800" spc="-10" dirty="0">
                    <a:solidFill>
                      <a:schemeClr val="accent1"/>
                    </a:solidFill>
                    <a:latin typeface="+mn-ea"/>
                  </a:rPr>
                  <a:t>error</a:t>
                </a:r>
                <a:r>
                  <a:rPr lang="zh-CN" altLang="en-US" sz="2800" spc="-10" dirty="0">
                    <a:solidFill>
                      <a:schemeClr val="accent1"/>
                    </a:solidFill>
                    <a:latin typeface="+mn-ea"/>
                  </a:rPr>
                  <a:t>）</a:t>
                </a:r>
                <a:r>
                  <a:rPr lang="zh-CN" altLang="en-US" sz="2800" spc="-10" dirty="0">
                    <a:latin typeface="+mn-ea"/>
                  </a:rPr>
                  <a:t>：模型在训练集上的误差，也称“经验误差”，即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pc="-1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pc="-1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 i="1" spc="-1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in</m:t>
                        </m:r>
                      </m:sub>
                    </m:sSub>
                  </m:oMath>
                </a14:m>
                <a:endParaRPr lang="en-US" altLang="zh-CN" sz="2800" spc="-10" dirty="0">
                  <a:latin typeface="+mn-ea"/>
                </a:endParaRPr>
              </a:p>
            </p:txBody>
          </p:sp>
        </mc:Choice>
        <mc:Fallback xmlns="">
          <p:sp>
            <p:nvSpPr>
              <p:cNvPr id="7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869" y="3468550"/>
                <a:ext cx="10671451" cy="1082604"/>
              </a:xfrm>
              <a:prstGeom prst="rect">
                <a:avLst/>
              </a:prstGeom>
              <a:blipFill rotWithShape="1">
                <a:blip r:embed="rId4"/>
                <a:stretch>
                  <a:fillRect l="-3" t="-17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119"/>
              <p:cNvSpPr txBox="1"/>
              <p:nvPr/>
            </p:nvSpPr>
            <p:spPr>
              <a:xfrm>
                <a:off x="1032866" y="4539595"/>
                <a:ext cx="10671451" cy="10826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zh-CN" altLang="en-US" sz="2800" spc="-10" dirty="0">
                    <a:solidFill>
                      <a:schemeClr val="accent1"/>
                    </a:solidFill>
                    <a:latin typeface="+mn-ea"/>
                  </a:rPr>
                  <a:t>泛化误差（</a:t>
                </a:r>
                <a:r>
                  <a:rPr lang="en-US" altLang="zh-CN" sz="2800" spc="-10" dirty="0">
                    <a:solidFill>
                      <a:schemeClr val="accent1"/>
                    </a:solidFill>
                    <a:latin typeface="+mn-ea"/>
                  </a:rPr>
                  <a:t>generalization</a:t>
                </a:r>
                <a:r>
                  <a:rPr lang="zh-CN" altLang="en-US" sz="2800" spc="-10" dirty="0">
                    <a:solidFill>
                      <a:schemeClr val="accent1"/>
                    </a:solidFill>
                    <a:latin typeface="+mn-ea"/>
                  </a:rPr>
                  <a:t> </a:t>
                </a:r>
                <a:r>
                  <a:rPr lang="en-US" altLang="zh-CN" sz="2800" spc="-10" dirty="0">
                    <a:solidFill>
                      <a:schemeClr val="accent1"/>
                    </a:solidFill>
                    <a:latin typeface="+mn-ea"/>
                  </a:rPr>
                  <a:t>error</a:t>
                </a:r>
                <a:r>
                  <a:rPr lang="zh-CN" altLang="en-US" sz="2800" spc="-10" dirty="0">
                    <a:solidFill>
                      <a:schemeClr val="accent1"/>
                    </a:solidFill>
                    <a:latin typeface="+mn-ea"/>
                  </a:rPr>
                  <a:t>）</a:t>
                </a:r>
                <a:r>
                  <a:rPr lang="zh-CN" altLang="en-US" sz="2800" spc="-10" dirty="0">
                    <a:latin typeface="+mn-ea"/>
                  </a:rPr>
                  <a:t>：模型在新样本上的误差，即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pc="-1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spc="-1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 i="1" spc="-1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out</m:t>
                        </m:r>
                      </m:sub>
                    </m:sSub>
                  </m:oMath>
                </a14:m>
                <a:r>
                  <a:rPr lang="zh-CN" altLang="en-US" sz="2800" i="1" spc="-10" dirty="0">
                    <a:latin typeface="+mn-ea"/>
                  </a:rPr>
                  <a:t>，无法直接获得</a:t>
                </a:r>
                <a:endParaRPr lang="en-US" altLang="zh-CN" sz="2800" i="1" spc="-10" dirty="0">
                  <a:latin typeface="+mn-ea"/>
                </a:endParaRPr>
              </a:p>
            </p:txBody>
          </p:sp>
        </mc:Choice>
        <mc:Fallback xmlns="">
          <p:sp>
            <p:nvSpPr>
              <p:cNvPr id="8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866" y="4539595"/>
                <a:ext cx="10671451" cy="1082604"/>
              </a:xfrm>
              <a:prstGeom prst="rect">
                <a:avLst/>
              </a:prstGeom>
              <a:blipFill rotWithShape="1">
                <a:blip r:embed="rId5"/>
                <a:stretch>
                  <a:fillRect l="-3" t="-57" r="6" b="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119"/>
          <p:cNvSpPr txBox="1"/>
          <p:nvPr/>
        </p:nvSpPr>
        <p:spPr>
          <a:xfrm>
            <a:off x="1520549" y="5661749"/>
            <a:ext cx="10671451" cy="565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2800" spc="-10" dirty="0">
                <a:latin typeface="+mn-ea"/>
              </a:rPr>
              <a:t>采用“</a:t>
            </a:r>
            <a:r>
              <a:rPr lang="zh-CN" altLang="en-US" sz="2800" spc="-10" dirty="0">
                <a:solidFill>
                  <a:schemeClr val="accent1"/>
                </a:solidFill>
                <a:latin typeface="+mn-ea"/>
              </a:rPr>
              <a:t>测试误差</a:t>
            </a:r>
            <a:r>
              <a:rPr lang="zh-CN" altLang="en-US" sz="2800" spc="-10" dirty="0">
                <a:latin typeface="+mn-ea"/>
              </a:rPr>
              <a:t>”</a:t>
            </a:r>
            <a:r>
              <a:rPr lang="zh-CN" altLang="en-US" sz="2800" spc="-10" dirty="0">
                <a:solidFill>
                  <a:schemeClr val="accent1"/>
                </a:solidFill>
                <a:latin typeface="+mn-ea"/>
              </a:rPr>
              <a:t>（</a:t>
            </a:r>
            <a:r>
              <a:rPr lang="en-US" altLang="zh-CN" sz="2800" spc="-10" dirty="0">
                <a:solidFill>
                  <a:schemeClr val="accent1"/>
                </a:solidFill>
                <a:latin typeface="+mn-ea"/>
              </a:rPr>
              <a:t>testing</a:t>
            </a:r>
            <a:r>
              <a:rPr lang="zh-CN" altLang="en-US" sz="2800" spc="-1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en-US" altLang="zh-CN" sz="2800" spc="-10" dirty="0">
                <a:solidFill>
                  <a:schemeClr val="accent1"/>
                </a:solidFill>
                <a:latin typeface="+mn-ea"/>
              </a:rPr>
              <a:t>error</a:t>
            </a:r>
            <a:r>
              <a:rPr lang="zh-CN" altLang="en-US" sz="2800" spc="-10" dirty="0">
                <a:solidFill>
                  <a:schemeClr val="accent1"/>
                </a:solidFill>
                <a:latin typeface="+mn-ea"/>
              </a:rPr>
              <a:t>）</a:t>
            </a:r>
            <a:r>
              <a:rPr lang="zh-CN" altLang="en-US" sz="2800" spc="-10" dirty="0">
                <a:latin typeface="+mn-ea"/>
              </a:rPr>
              <a:t>作为泛化误差的近似</a:t>
            </a:r>
            <a:endParaRPr lang="en-US" altLang="zh-CN" sz="2800" spc="-10" dirty="0">
              <a:latin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F69888C-E133-43D9-A638-B5C95925B91C}" type="slidenum">
              <a:rPr lang="zh-CN" altLang="en-US" smtClean="0"/>
              <a:t>4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566961" y="265803"/>
            <a:ext cx="7440283" cy="426497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4000" dirty="0"/>
              <a:t>1</a:t>
            </a:r>
            <a:r>
              <a:rPr lang="zh-CN" altLang="en-US" sz="4000" dirty="0"/>
              <a:t>、</a:t>
            </a:r>
            <a:r>
              <a:rPr lang="zh-CN" altLang="en-US" sz="4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模型选择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19"/>
              <p:cNvSpPr txBox="1"/>
              <p:nvPr/>
            </p:nvSpPr>
            <p:spPr>
              <a:xfrm>
                <a:off x="566961" y="969238"/>
                <a:ext cx="11403926" cy="6331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3200" spc="-10" dirty="0">
                    <a:latin typeface="+mn-ea"/>
                  </a:rPr>
                  <a:t>测试误差度量的是模型在“</a:t>
                </a:r>
                <a:r>
                  <a:rPr lang="zh-CN" altLang="en-US" sz="3200" spc="-10" dirty="0">
                    <a:solidFill>
                      <a:schemeClr val="accent1"/>
                    </a:solidFill>
                    <a:latin typeface="+mn-ea"/>
                  </a:rPr>
                  <a:t>测试集</a:t>
                </a:r>
                <a14:m>
                  <m:oMath xmlns:m="http://schemas.openxmlformats.org/officeDocument/2006/math">
                    <m:r>
                      <a:rPr lang="en-US" altLang="zh-CN" sz="3200" b="0" i="1" spc="-1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zh-CN" altLang="en-US" sz="3200" spc="-10" dirty="0">
                    <a:latin typeface="+mn-ea"/>
                  </a:rPr>
                  <a:t>”上的判别能力</a:t>
                </a:r>
                <a:endParaRPr lang="en-US" altLang="zh-CN" sz="3200" spc="-10" dirty="0">
                  <a:latin typeface="+mn-ea"/>
                </a:endParaRPr>
              </a:p>
            </p:txBody>
          </p:sp>
        </mc:Choice>
        <mc:Fallback xmlns="">
          <p:sp>
            <p:nvSpPr>
              <p:cNvPr id="18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961" y="969238"/>
                <a:ext cx="11403926" cy="633187"/>
              </a:xfrm>
              <a:prstGeom prst="rect">
                <a:avLst/>
              </a:prstGeom>
              <a:blipFill rotWithShape="1">
                <a:blip r:embed="rId3"/>
                <a:stretch>
                  <a:fillRect l="-5" t="-36" r="4" b="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AutoShape 4" descr="[公式]"/>
          <p:cNvSpPr>
            <a:spLocks noChangeAspect="1" noChangeArrowheads="1"/>
          </p:cNvSpPr>
          <p:nvPr/>
        </p:nvSpPr>
        <p:spPr bwMode="auto">
          <a:xfrm>
            <a:off x="4013200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119"/>
              <p:cNvSpPr txBox="1"/>
              <p:nvPr/>
            </p:nvSpPr>
            <p:spPr>
              <a:xfrm>
                <a:off x="1032869" y="1562769"/>
                <a:ext cx="10592170" cy="10826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2800" spc="-10" dirty="0">
                    <a:solidFill>
                      <a:schemeClr val="accent1"/>
                    </a:solidFill>
                    <a:latin typeface="+mn-ea"/>
                  </a:rPr>
                  <a:t>测试集</a:t>
                </a:r>
                <a14:m>
                  <m:oMath xmlns:m="http://schemas.openxmlformats.org/officeDocument/2006/math">
                    <m:r>
                      <a:rPr lang="en-US" altLang="zh-CN" sz="2800" i="1" spc="-1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zh-CN" altLang="en-US" sz="2800" spc="-10" dirty="0">
                    <a:latin typeface="+mn-ea"/>
                  </a:rPr>
                  <a:t>是从给定的数据集</a:t>
                </a:r>
                <a14:m>
                  <m:oMath xmlns:m="http://schemas.openxmlformats.org/officeDocument/2006/math">
                    <m:r>
                      <a:rPr lang="zh-CN" altLang="en-US" sz="2800" i="1" spc="-10" smtClean="0">
                        <a:latin typeface="Cambria Math" panose="02040503050406030204" pitchFamily="18" charset="0"/>
                      </a:rPr>
                      <m:t>𝒟</m:t>
                    </m:r>
                    <m:r>
                      <a:rPr lang="en-US" altLang="zh-CN" sz="2800" b="0" i="1" spc="-10" smtClean="0">
                        <a:latin typeface="Cambria Math" panose="02040503050406030204" pitchFamily="18" charset="0"/>
                      </a:rPr>
                      <m:t>={</m:t>
                    </m:r>
                    <m:d>
                      <m:dPr>
                        <m:ctrlPr>
                          <a:rPr lang="en-US" altLang="zh-CN" sz="2800" b="0" i="1" spc="-1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b="0" i="1" spc="-1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 spc="-10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800" b="0" i="1" spc="-1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800" b="0" i="1" spc="-1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800" b="0" i="1" spc="-1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pc="-1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800" b="0" i="1" spc="-1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2800" b="0" i="1" spc="-10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zh-CN" sz="2800" b="0" i="1" spc="-1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i="1" spc="-1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 spc="-1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800" b="0" i="1" spc="-1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800" i="1" spc="-1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800" i="1" spc="-1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 spc="-1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800" b="0" i="1" spc="-1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sz="2800" b="0" i="1" spc="-10" smtClean="0">
                        <a:latin typeface="Cambria Math" panose="02040503050406030204" pitchFamily="18" charset="0"/>
                      </a:rPr>
                      <m:t>,…,(</m:t>
                    </m:r>
                    <m:sSub>
                      <m:sSubPr>
                        <m:ctrlPr>
                          <a:rPr lang="en-US" altLang="zh-CN" sz="2800" i="1" spc="-1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pc="-1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800" b="0" i="1" spc="-10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sz="2800" i="1" spc="-1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800" i="1" spc="-1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spc="-1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800" b="0" i="1" spc="-10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sz="2800" b="0" i="1" spc="-10" smtClean="0">
                        <a:latin typeface="Cambria Math" panose="02040503050406030204" pitchFamily="18" charset="0"/>
                      </a:rPr>
                      <m:t>)}</m:t>
                    </m:r>
                  </m:oMath>
                </a14:m>
                <a:r>
                  <a:rPr lang="zh-CN" altLang="en-US" sz="2800" spc="-10" dirty="0">
                    <a:latin typeface="+mn-ea"/>
                  </a:rPr>
                  <a:t>中划分出来的，</a:t>
                </a:r>
                <a:r>
                  <a:rPr lang="zh-CN" altLang="en-US" sz="2800" spc="-10" dirty="0">
                    <a:solidFill>
                      <a:schemeClr val="accent1"/>
                    </a:solidFill>
                    <a:latin typeface="+mn-ea"/>
                  </a:rPr>
                  <a:t>测试集</a:t>
                </a:r>
                <a14:m>
                  <m:oMath xmlns:m="http://schemas.openxmlformats.org/officeDocument/2006/math">
                    <m:r>
                      <a:rPr lang="en-US" altLang="zh-CN" sz="2800" i="1" spc="-1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zh-CN" altLang="en-US" sz="2800" spc="-10" dirty="0">
                    <a:latin typeface="+mn-ea"/>
                  </a:rPr>
                  <a:t>尽可能与</a:t>
                </a:r>
                <a:r>
                  <a:rPr lang="zh-CN" altLang="en-US" sz="2800" spc="-10" dirty="0">
                    <a:solidFill>
                      <a:schemeClr val="accent1"/>
                    </a:solidFill>
                    <a:latin typeface="+mn-ea"/>
                  </a:rPr>
                  <a:t>训练集</a:t>
                </a:r>
                <a14:m>
                  <m:oMath xmlns:m="http://schemas.openxmlformats.org/officeDocument/2006/math">
                    <m:r>
                      <a:rPr lang="en-US" altLang="zh-CN" sz="2800" b="0" i="1" spc="-1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sz="2800" spc="-10" dirty="0">
                    <a:latin typeface="+mn-ea"/>
                  </a:rPr>
                  <a:t>互斥。</a:t>
                </a:r>
                <a:endParaRPr lang="en-US" altLang="zh-CN" sz="2800" spc="-10" dirty="0">
                  <a:latin typeface="+mn-ea"/>
                </a:endParaRPr>
              </a:p>
            </p:txBody>
          </p:sp>
        </mc:Choice>
        <mc:Fallback xmlns="">
          <p:sp>
            <p:nvSpPr>
              <p:cNvPr id="5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869" y="1562769"/>
                <a:ext cx="10592170" cy="1082604"/>
              </a:xfrm>
              <a:prstGeom prst="rect">
                <a:avLst/>
              </a:prstGeom>
              <a:blipFill rotWithShape="1">
                <a:blip r:embed="rId4"/>
                <a:stretch>
                  <a:fillRect l="-3" t="-3" r="1" b="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66961" y="2871843"/>
                <a:ext cx="8583570" cy="6331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2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3200" spc="-10" dirty="0">
                    <a:latin typeface="+mn-ea"/>
                  </a:rPr>
                  <a:t>下面介绍三种常见的从</a:t>
                </a:r>
                <a14:m>
                  <m:oMath xmlns:m="http://schemas.openxmlformats.org/officeDocument/2006/math">
                    <m:r>
                      <a:rPr lang="zh-CN" altLang="en-US" sz="3200" i="1" spc="-10">
                        <a:latin typeface="Cambria Math" panose="02040503050406030204" pitchFamily="18" charset="0"/>
                      </a:rPr>
                      <m:t>𝒟</m:t>
                    </m:r>
                  </m:oMath>
                </a14:m>
                <a:r>
                  <a:rPr lang="zh-CN" altLang="en-US" sz="3200" spc="-10" dirty="0">
                    <a:latin typeface="+mn-ea"/>
                  </a:rPr>
                  <a:t>中分离出</a:t>
                </a:r>
                <a14:m>
                  <m:oMath xmlns:m="http://schemas.openxmlformats.org/officeDocument/2006/math">
                    <m:r>
                      <a:rPr lang="en-US" altLang="zh-CN" sz="3200" i="1" spc="-1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zh-CN" altLang="en-US" sz="3200" i="1" spc="-1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和</m:t>
                    </m:r>
                    <m:r>
                      <a:rPr lang="en-US" altLang="zh-CN" sz="3200" i="1" spc="-1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zh-CN" altLang="en-US" sz="3200" spc="-10" dirty="0">
                    <a:latin typeface="+mn-ea"/>
                  </a:rPr>
                  <a:t>的方法：</a:t>
                </a:r>
                <a:endParaRPr lang="en-US" altLang="zh-CN" sz="3200" spc="-10" dirty="0">
                  <a:latin typeface="+mn-ea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961" y="2871843"/>
                <a:ext cx="8583570" cy="633187"/>
              </a:xfrm>
              <a:prstGeom prst="rect">
                <a:avLst/>
              </a:prstGeom>
              <a:blipFill rotWithShape="1">
                <a:blip r:embed="rId5"/>
                <a:stretch>
                  <a:fillRect l="-6" t="-59" r="-3238" b="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19"/>
          <p:cNvSpPr txBox="1"/>
          <p:nvPr/>
        </p:nvSpPr>
        <p:spPr>
          <a:xfrm>
            <a:off x="1032869" y="3573054"/>
            <a:ext cx="10671451" cy="565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zh-CN" altLang="en-US" sz="2800" spc="-10" dirty="0">
                <a:solidFill>
                  <a:schemeClr val="accent1"/>
                </a:solidFill>
                <a:latin typeface="+mn-ea"/>
              </a:rPr>
              <a:t>留出法（</a:t>
            </a:r>
            <a:r>
              <a:rPr lang="en-US" altLang="zh-CN" sz="2800" spc="-10" dirty="0">
                <a:solidFill>
                  <a:schemeClr val="accent1"/>
                </a:solidFill>
                <a:latin typeface="+mn-ea"/>
              </a:rPr>
              <a:t>hold-out</a:t>
            </a:r>
            <a:r>
              <a:rPr lang="zh-CN" altLang="en-US" sz="2800" spc="-10" dirty="0">
                <a:solidFill>
                  <a:schemeClr val="accent1"/>
                </a:solidFill>
                <a:latin typeface="+mn-ea"/>
              </a:rPr>
              <a:t>）</a:t>
            </a:r>
            <a:endParaRPr lang="en-US" altLang="zh-CN" sz="2800" spc="-10" dirty="0">
              <a:latin typeface="+mn-ea"/>
            </a:endParaRPr>
          </a:p>
        </p:txBody>
      </p:sp>
      <p:sp>
        <p:nvSpPr>
          <p:cNvPr id="14" name="文本框 119"/>
          <p:cNvSpPr txBox="1"/>
          <p:nvPr/>
        </p:nvSpPr>
        <p:spPr>
          <a:xfrm>
            <a:off x="1032868" y="4206617"/>
            <a:ext cx="10671451" cy="565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zh-CN" altLang="en-US" sz="2800" spc="-10" dirty="0">
                <a:solidFill>
                  <a:schemeClr val="accent1"/>
                </a:solidFill>
                <a:latin typeface="+mn-ea"/>
              </a:rPr>
              <a:t>交叉验证法（</a:t>
            </a:r>
            <a:r>
              <a:rPr lang="en-US" altLang="zh-CN" sz="2800" spc="-10" dirty="0">
                <a:solidFill>
                  <a:schemeClr val="accent1"/>
                </a:solidFill>
                <a:latin typeface="+mn-ea"/>
              </a:rPr>
              <a:t>cross</a:t>
            </a:r>
            <a:r>
              <a:rPr lang="zh-CN" altLang="en-US" sz="2800" spc="-1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en-US" altLang="zh-CN" sz="2800" spc="-10" dirty="0">
                <a:solidFill>
                  <a:schemeClr val="accent1"/>
                </a:solidFill>
                <a:latin typeface="+mn-ea"/>
              </a:rPr>
              <a:t>validation</a:t>
            </a:r>
            <a:r>
              <a:rPr lang="zh-CN" altLang="en-US" sz="2800" spc="-10" dirty="0">
                <a:solidFill>
                  <a:schemeClr val="accent1"/>
                </a:solidFill>
                <a:latin typeface="+mn-ea"/>
              </a:rPr>
              <a:t>）</a:t>
            </a:r>
            <a:endParaRPr lang="en-US" altLang="zh-CN" sz="2800" spc="-10" dirty="0">
              <a:latin typeface="+mn-ea"/>
            </a:endParaRPr>
          </a:p>
        </p:txBody>
      </p:sp>
      <p:sp>
        <p:nvSpPr>
          <p:cNvPr id="15" name="文本框 119"/>
          <p:cNvSpPr txBox="1"/>
          <p:nvPr/>
        </p:nvSpPr>
        <p:spPr>
          <a:xfrm>
            <a:off x="1032867" y="4834196"/>
            <a:ext cx="10671451" cy="565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zh-CN" altLang="en-US" sz="2800" spc="-10" dirty="0">
                <a:solidFill>
                  <a:schemeClr val="accent1"/>
                </a:solidFill>
                <a:latin typeface="+mn-ea"/>
              </a:rPr>
              <a:t>自助法（</a:t>
            </a:r>
            <a:r>
              <a:rPr lang="en-US" altLang="zh-CN" sz="2800" spc="-10" dirty="0">
                <a:solidFill>
                  <a:schemeClr val="accent1"/>
                </a:solidFill>
                <a:latin typeface="+mn-ea"/>
              </a:rPr>
              <a:t>bootstrapping</a:t>
            </a:r>
            <a:r>
              <a:rPr lang="zh-CN" altLang="en-US" sz="2800" spc="-10" dirty="0">
                <a:solidFill>
                  <a:schemeClr val="accent1"/>
                </a:solidFill>
                <a:latin typeface="+mn-ea"/>
              </a:rPr>
              <a:t>）</a:t>
            </a:r>
            <a:endParaRPr lang="en-US" altLang="zh-CN" sz="2800" spc="-10" dirty="0">
              <a:latin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F69888C-E133-43D9-A638-B5C95925B91C}" type="slidenum">
              <a:rPr lang="zh-CN" altLang="en-US" smtClean="0"/>
              <a:t>5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566961" y="265803"/>
            <a:ext cx="7440283" cy="426497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4000" dirty="0"/>
              <a:t>1</a:t>
            </a:r>
            <a:r>
              <a:rPr lang="zh-CN" altLang="en-US" sz="4000" dirty="0"/>
              <a:t>、</a:t>
            </a:r>
            <a:r>
              <a:rPr lang="zh-CN" altLang="en-US" sz="4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模型选择</a:t>
            </a:r>
          </a:p>
        </p:txBody>
      </p:sp>
      <p:sp>
        <p:nvSpPr>
          <p:cNvPr id="12" name="AutoShape 4" descr="[公式]"/>
          <p:cNvSpPr>
            <a:spLocks noChangeAspect="1" noChangeArrowheads="1"/>
          </p:cNvSpPr>
          <p:nvPr/>
        </p:nvSpPr>
        <p:spPr bwMode="auto">
          <a:xfrm>
            <a:off x="4013200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119"/>
              <p:cNvSpPr txBox="1"/>
              <p:nvPr/>
            </p:nvSpPr>
            <p:spPr>
              <a:xfrm>
                <a:off x="876113" y="1254644"/>
                <a:ext cx="10932708" cy="10826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2800" spc="-10" dirty="0">
                    <a:latin typeface="+mn-ea"/>
                  </a:rPr>
                  <a:t>直接将数据集</a:t>
                </a:r>
                <a14:m>
                  <m:oMath xmlns:m="http://schemas.openxmlformats.org/officeDocument/2006/math">
                    <m:r>
                      <a:rPr lang="zh-CN" altLang="en-US" sz="2800" i="1" spc="-10" smtClean="0">
                        <a:latin typeface="Cambria Math" panose="02040503050406030204" pitchFamily="18" charset="0"/>
                      </a:rPr>
                      <m:t>𝒟</m:t>
                    </m:r>
                  </m:oMath>
                </a14:m>
                <a:r>
                  <a:rPr lang="zh-CN" altLang="en-US" sz="2800" spc="-10" dirty="0">
                    <a:latin typeface="+mn-ea"/>
                  </a:rPr>
                  <a:t>划分为两个互斥的集合，即</a:t>
                </a:r>
                <a14:m>
                  <m:oMath xmlns:m="http://schemas.openxmlformats.org/officeDocument/2006/math">
                    <m:r>
                      <a:rPr lang="zh-CN" altLang="en-US" sz="2800" i="1" spc="-10">
                        <a:latin typeface="Cambria Math" panose="02040503050406030204" pitchFamily="18" charset="0"/>
                      </a:rPr>
                      <m:t>𝒟</m:t>
                    </m:r>
                    <m:r>
                      <a:rPr lang="en-US" altLang="zh-CN" sz="2800" b="0" i="1" spc="-1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0" i="1" spc="-1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sz="2800" b="0" i="1" spc="-1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US" altLang="zh-CN" sz="2800" b="0" i="1" spc="-1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zh-CN" altLang="en-US" sz="2800" spc="-10" dirty="0">
                    <a:latin typeface="+mn-ea"/>
                  </a:rPr>
                  <a:t>，且</a:t>
                </a:r>
                <a14:m>
                  <m:oMath xmlns:m="http://schemas.openxmlformats.org/officeDocument/2006/math">
                    <m:r>
                      <a:rPr lang="en-US" altLang="zh-CN" sz="2800" b="0" i="1" spc="-1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zh-CN" altLang="en-US" sz="2800" i="1" spc="-10" smtClean="0"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altLang="zh-CN" sz="2800" b="0" i="1" spc="-1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sz="2800" b="0" i="1" spc="-10" smtClean="0">
                        <a:latin typeface="Cambria Math" panose="02040503050406030204" pitchFamily="18" charset="0"/>
                      </a:rPr>
                      <m:t>=∅</m:t>
                    </m:r>
                  </m:oMath>
                </a14:m>
                <a:endParaRPr lang="en-US" altLang="zh-CN" sz="2800" spc="-10" dirty="0">
                  <a:latin typeface="+mn-ea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zh-CN" altLang="en-US" sz="2800" spc="-10" dirty="0">
                    <a:latin typeface="+mn-ea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2800" i="1" spc="-1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sz="2800" spc="-10" dirty="0">
                    <a:latin typeface="+mn-ea"/>
                  </a:rPr>
                  <a:t>上训练出模型后，用</a:t>
                </a:r>
                <a14:m>
                  <m:oMath xmlns:m="http://schemas.openxmlformats.org/officeDocument/2006/math">
                    <m:r>
                      <a:rPr lang="en-US" altLang="zh-CN" sz="2800" i="1" spc="-1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zh-CN" altLang="en-US" sz="2800" spc="-10" dirty="0">
                    <a:latin typeface="+mn-ea"/>
                  </a:rPr>
                  <a:t>来评估其测试误差，作为对泛化误差的估计</a:t>
                </a:r>
                <a:endParaRPr lang="en-US" altLang="zh-CN" sz="2800" spc="-10" dirty="0">
                  <a:latin typeface="+mn-ea"/>
                </a:endParaRPr>
              </a:p>
            </p:txBody>
          </p:sp>
        </mc:Choice>
        <mc:Fallback xmlns="">
          <p:sp>
            <p:nvSpPr>
              <p:cNvPr id="5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113" y="1254644"/>
                <a:ext cx="10932708" cy="1082604"/>
              </a:xfrm>
              <a:prstGeom prst="rect">
                <a:avLst/>
              </a:prstGeom>
              <a:blipFill rotWithShape="1">
                <a:blip r:embed="rId3"/>
                <a:stretch>
                  <a:fillRect l="-4" t="-48" r="3" b="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119"/>
          <p:cNvSpPr txBox="1"/>
          <p:nvPr/>
        </p:nvSpPr>
        <p:spPr>
          <a:xfrm>
            <a:off x="397142" y="689105"/>
            <a:ext cx="10671451" cy="565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zh-CN" altLang="en-US" sz="2800" spc="-10" dirty="0">
                <a:solidFill>
                  <a:schemeClr val="accent1"/>
                </a:solidFill>
                <a:latin typeface="+mn-ea"/>
              </a:rPr>
              <a:t>留出法（</a:t>
            </a:r>
            <a:r>
              <a:rPr lang="en-US" altLang="zh-CN" sz="2800" spc="-10" dirty="0">
                <a:solidFill>
                  <a:schemeClr val="accent1"/>
                </a:solidFill>
                <a:latin typeface="+mn-ea"/>
              </a:rPr>
              <a:t>hold-out</a:t>
            </a:r>
            <a:r>
              <a:rPr lang="zh-CN" altLang="en-US" sz="2800" spc="-10" dirty="0">
                <a:solidFill>
                  <a:schemeClr val="accent1"/>
                </a:solidFill>
                <a:latin typeface="+mn-ea"/>
              </a:rPr>
              <a:t>）</a:t>
            </a:r>
            <a:endParaRPr lang="en-US" altLang="zh-CN" sz="2800" spc="-10" dirty="0"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119"/>
              <p:cNvSpPr txBox="1"/>
              <p:nvPr/>
            </p:nvSpPr>
            <p:spPr>
              <a:xfrm>
                <a:off x="876109" y="2371339"/>
                <a:ext cx="10671451" cy="5655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buFont typeface="Wingdings" panose="05000000000000000000" pitchFamily="2" charset="2"/>
                  <a:buChar char="ü"/>
                </a:pPr>
                <a:r>
                  <a:rPr lang="zh-CN" altLang="en-US" sz="2800" spc="-10" dirty="0">
                    <a:latin typeface="+mn-ea"/>
                  </a:rPr>
                  <a:t>尽可能保证</a:t>
                </a:r>
                <a14:m>
                  <m:oMath xmlns:m="http://schemas.openxmlformats.org/officeDocument/2006/math">
                    <m:r>
                      <a:rPr lang="en-US" altLang="zh-CN" sz="2800" i="1" spc="-1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sz="2800" spc="-10" dirty="0">
                    <a:latin typeface="+mn-ea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800" i="1" spc="-1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zh-CN" altLang="en-US" sz="2800" spc="-10" dirty="0">
                    <a:latin typeface="+mn-ea"/>
                  </a:rPr>
                  <a:t>分布的一致性，避免引入额外的偏差</a:t>
                </a:r>
                <a:endParaRPr lang="en-US" altLang="zh-CN" sz="2800" spc="-10" dirty="0">
                  <a:latin typeface="+mn-ea"/>
                </a:endParaRPr>
              </a:p>
            </p:txBody>
          </p:sp>
        </mc:Choice>
        <mc:Fallback xmlns="">
          <p:sp>
            <p:nvSpPr>
              <p:cNvPr id="7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109" y="2371339"/>
                <a:ext cx="10671451" cy="565539"/>
              </a:xfrm>
              <a:prstGeom prst="rect">
                <a:avLst/>
              </a:prstGeom>
              <a:blipFill rotWithShape="1">
                <a:blip r:embed="rId4"/>
                <a:stretch>
                  <a:fillRect l="-4" t="-44" r="1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119"/>
          <p:cNvSpPr txBox="1"/>
          <p:nvPr/>
        </p:nvSpPr>
        <p:spPr>
          <a:xfrm>
            <a:off x="876110" y="3533636"/>
            <a:ext cx="10932711" cy="1082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2800" spc="-10" dirty="0">
                <a:latin typeface="+mn-ea"/>
              </a:rPr>
              <a:t>单次使用留出法得到的估计结果不够稳定可靠，采用若干次随机划分，重复进行试验评估，再取平均值</a:t>
            </a:r>
            <a:endParaRPr lang="en-US" altLang="zh-CN" sz="2800" spc="-10" dirty="0"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119"/>
              <p:cNvSpPr txBox="1"/>
              <p:nvPr/>
            </p:nvSpPr>
            <p:spPr>
              <a:xfrm>
                <a:off x="932597" y="4647459"/>
                <a:ext cx="10671451" cy="5655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buFont typeface="Wingdings" panose="05000000000000000000" pitchFamily="2" charset="2"/>
                  <a:buChar char="ü"/>
                </a:pPr>
                <a:r>
                  <a:rPr lang="zh-CN" altLang="en-US" sz="2800" spc="-10" dirty="0">
                    <a:latin typeface="+mn-ea"/>
                  </a:rPr>
                  <a:t>存在的矛盾：</a:t>
                </a:r>
                <a:r>
                  <a:rPr lang="en-US" altLang="zh-CN" sz="2800" spc="-10" dirty="0">
                    <a:solidFill>
                      <a:schemeClr val="accent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i="1" spc="-1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sz="2800" spc="-10" dirty="0">
                    <a:latin typeface="+mn-ea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800" i="1" spc="-1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zh-CN" altLang="en-US" sz="2800" spc="-10" dirty="0">
                    <a:latin typeface="+mn-ea"/>
                  </a:rPr>
                  <a:t>大小的分配问题</a:t>
                </a:r>
                <a:endParaRPr lang="en-US" altLang="zh-CN" sz="2800" spc="-10" dirty="0">
                  <a:latin typeface="+mn-ea"/>
                </a:endParaRPr>
              </a:p>
            </p:txBody>
          </p:sp>
        </mc:Choice>
        <mc:Fallback xmlns="">
          <p:sp>
            <p:nvSpPr>
              <p:cNvPr id="10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597" y="4647459"/>
                <a:ext cx="10671451" cy="565539"/>
              </a:xfrm>
              <a:prstGeom prst="rect">
                <a:avLst/>
              </a:prstGeom>
              <a:blipFill rotWithShape="1">
                <a:blip r:embed="rId5"/>
                <a:stretch>
                  <a:fillRect l="-4" t="-94" r="1" b="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19"/>
          <p:cNvSpPr txBox="1"/>
          <p:nvPr/>
        </p:nvSpPr>
        <p:spPr>
          <a:xfrm>
            <a:off x="1348100" y="2936878"/>
            <a:ext cx="10671451" cy="565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i="1" spc="-10" dirty="0">
                <a:latin typeface="+mn-ea"/>
              </a:rPr>
              <a:t>如分类任务中保持样本的类别比例类似，类似于统计中的分层采样</a:t>
            </a:r>
            <a:endParaRPr lang="en-US" altLang="zh-CN" sz="2800" i="1" spc="-10" dirty="0"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19"/>
              <p:cNvSpPr txBox="1"/>
              <p:nvPr/>
            </p:nvSpPr>
            <p:spPr>
              <a:xfrm>
                <a:off x="1520549" y="5212998"/>
                <a:ext cx="10671451" cy="10817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buFont typeface="Courier New" panose="0207060902020509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altLang="zh-CN" sz="2800" i="1" spc="-1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sz="2800" i="1" spc="-10" dirty="0">
                    <a:latin typeface="+mn-ea"/>
                  </a:rPr>
                  <a:t>大</a:t>
                </a:r>
                <a14:m>
                  <m:oMath xmlns:m="http://schemas.openxmlformats.org/officeDocument/2006/math">
                    <m:r>
                      <a:rPr lang="en-US" altLang="zh-CN" sz="2800" i="1" spc="-1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zh-CN" altLang="en-US" sz="2800" i="1" spc="-10" dirty="0">
                    <a:solidFill>
                      <a:srgbClr val="FF0000"/>
                    </a:solidFill>
                    <a:latin typeface="+mn-ea"/>
                  </a:rPr>
                  <a:t>小</a:t>
                </a:r>
                <a:r>
                  <a:rPr lang="zh-CN" altLang="en-US" sz="2800" i="1" spc="-10" dirty="0">
                    <a:latin typeface="+mn-ea"/>
                  </a:rPr>
                  <a:t>，评估结果不够稳定准确；</a:t>
                </a:r>
                <a:endParaRPr lang="en-US" altLang="zh-CN" sz="2800" i="1" spc="-10" dirty="0">
                  <a:latin typeface="+mn-ea"/>
                </a:endParaRPr>
              </a:p>
              <a:p>
                <a:pPr marL="457200" indent="-457200">
                  <a:lnSpc>
                    <a:spcPct val="120000"/>
                  </a:lnSpc>
                  <a:buFont typeface="Courier New" panose="0207060902020509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altLang="zh-CN" sz="2800" i="1" spc="-1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sz="2800" i="1" spc="-10" dirty="0">
                    <a:solidFill>
                      <a:srgbClr val="FF0000"/>
                    </a:solidFill>
                    <a:latin typeface="+mn-ea"/>
                  </a:rPr>
                  <a:t>小</a:t>
                </a:r>
                <a14:m>
                  <m:oMath xmlns:m="http://schemas.openxmlformats.org/officeDocument/2006/math">
                    <m:r>
                      <a:rPr lang="en-US" altLang="zh-CN" sz="2800" i="1" spc="-1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zh-CN" altLang="en-US" sz="2800" i="1" spc="-10" dirty="0">
                    <a:latin typeface="+mn-ea"/>
                  </a:rPr>
                  <a:t>大，训练出的模型与用</a:t>
                </a:r>
                <a14:m>
                  <m:oMath xmlns:m="http://schemas.openxmlformats.org/officeDocument/2006/math">
                    <m:r>
                      <a:rPr lang="zh-CN" altLang="en-US" sz="2800" i="1" spc="-10">
                        <a:latin typeface="Cambria Math" panose="02040503050406030204" pitchFamily="18" charset="0"/>
                      </a:rPr>
                      <m:t>𝒟</m:t>
                    </m:r>
                  </m:oMath>
                </a14:m>
                <a:r>
                  <a:rPr lang="zh-CN" altLang="en-US" sz="2800" i="1" spc="-10" dirty="0">
                    <a:latin typeface="+mn-ea"/>
                  </a:rPr>
                  <a:t>训练出的模型可能有较大差别</a:t>
                </a:r>
                <a:endParaRPr lang="en-US" altLang="zh-CN" sz="2800" i="1" spc="-10" dirty="0">
                  <a:latin typeface="+mn-ea"/>
                </a:endParaRPr>
              </a:p>
            </p:txBody>
          </p:sp>
        </mc:Choice>
        <mc:Fallback xmlns="">
          <p:sp>
            <p:nvSpPr>
              <p:cNvPr id="14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0549" y="5212998"/>
                <a:ext cx="10671451" cy="1081771"/>
              </a:xfrm>
              <a:prstGeom prst="rect">
                <a:avLst/>
              </a:prstGeom>
              <a:blipFill rotWithShape="1">
                <a:blip r:embed="rId6"/>
                <a:stretch>
                  <a:fillRect l="-3" t="-26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F69888C-E133-43D9-A638-B5C95925B91C}" type="slidenum">
              <a:rPr lang="zh-CN" altLang="en-US" smtClean="0"/>
              <a:t>6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  <p:bldP spid="11" grpId="0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566961" y="265803"/>
            <a:ext cx="7440283" cy="426497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4000" dirty="0"/>
              <a:t>1</a:t>
            </a:r>
            <a:r>
              <a:rPr lang="zh-CN" altLang="en-US" sz="4000" dirty="0"/>
              <a:t>、</a:t>
            </a:r>
            <a:r>
              <a:rPr lang="zh-CN" altLang="en-US" sz="4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模型选择</a:t>
            </a:r>
          </a:p>
        </p:txBody>
      </p:sp>
      <p:sp>
        <p:nvSpPr>
          <p:cNvPr id="12" name="AutoShape 4" descr="[公式]"/>
          <p:cNvSpPr>
            <a:spLocks noChangeAspect="1" noChangeArrowheads="1"/>
          </p:cNvSpPr>
          <p:nvPr/>
        </p:nvSpPr>
        <p:spPr bwMode="auto">
          <a:xfrm>
            <a:off x="4013200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119"/>
              <p:cNvSpPr txBox="1"/>
              <p:nvPr/>
            </p:nvSpPr>
            <p:spPr>
              <a:xfrm>
                <a:off x="160638" y="1254644"/>
                <a:ext cx="5935362" cy="31924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zh-CN" altLang="en-US" sz="2800" spc="-10" dirty="0">
                    <a:latin typeface="+mn-ea"/>
                  </a:rPr>
                  <a:t>将数据集</a:t>
                </a:r>
                <a14:m>
                  <m:oMath xmlns:m="http://schemas.openxmlformats.org/officeDocument/2006/math">
                    <m:r>
                      <a:rPr lang="zh-CN" altLang="en-US" sz="2800" i="1" spc="-10" smtClean="0">
                        <a:latin typeface="Cambria Math" panose="02040503050406030204" pitchFamily="18" charset="0"/>
                      </a:rPr>
                      <m:t>𝒟</m:t>
                    </m:r>
                  </m:oMath>
                </a14:m>
                <a:r>
                  <a:rPr lang="zh-CN" altLang="en-US" sz="2800" spc="-10" dirty="0">
                    <a:latin typeface="+mn-ea"/>
                  </a:rPr>
                  <a:t>划分为</a:t>
                </a:r>
                <a:r>
                  <a:rPr lang="zh-CN" altLang="en-US" sz="2800" spc="-10" dirty="0">
                    <a:solidFill>
                      <a:srgbClr val="7030A0"/>
                    </a:solidFill>
                    <a:latin typeface="+mn-ea"/>
                  </a:rPr>
                  <a:t>分布尽可能一致</a:t>
                </a:r>
                <a14:m>
                  <m:oMath xmlns:m="http://schemas.openxmlformats.org/officeDocument/2006/math">
                    <m:r>
                      <a:rPr lang="en-US" altLang="zh-CN" sz="2800" b="0" i="1" spc="-1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sz="2800" spc="-10" dirty="0">
                    <a:latin typeface="+mn-ea"/>
                  </a:rPr>
                  <a:t>个互斥子集，即</a:t>
                </a:r>
                <a14:m>
                  <m:oMath xmlns:m="http://schemas.openxmlformats.org/officeDocument/2006/math">
                    <m:r>
                      <a:rPr lang="zh-CN" altLang="en-US" sz="2800" i="1" spc="-10">
                        <a:latin typeface="Cambria Math" panose="02040503050406030204" pitchFamily="18" charset="0"/>
                      </a:rPr>
                      <m:t>𝒟</m:t>
                    </m:r>
                    <m:r>
                      <a:rPr lang="en-US" altLang="zh-CN" sz="2800" b="0" i="1" spc="-1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800" b="0" i="1" spc="-1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i="1" spc="-10">
                            <a:latin typeface="Cambria Math" panose="02040503050406030204" pitchFamily="18" charset="0"/>
                          </a:rPr>
                          <m:t>𝒟</m:t>
                        </m:r>
                      </m:e>
                      <m:sub>
                        <m:r>
                          <a:rPr lang="en-US" altLang="zh-CN" sz="2800" b="0" i="1" spc="-1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b="0" i="1" spc="-1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US" altLang="zh-CN" sz="2800" i="1" spc="-1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i="1" spc="-10">
                            <a:latin typeface="Cambria Math" panose="02040503050406030204" pitchFamily="18" charset="0"/>
                          </a:rPr>
                          <m:t>𝒟</m:t>
                        </m:r>
                      </m:e>
                      <m:sub>
                        <m:r>
                          <a:rPr lang="en-US" altLang="zh-CN" sz="2800" b="0" i="1" spc="-1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800" spc="-10" dirty="0">
                    <a:latin typeface="+mn-ea"/>
                  </a:rPr>
                  <a:t>…</a:t>
                </a:r>
                <a:r>
                  <a:rPr lang="en-US" altLang="zh-CN" sz="2800" spc="-1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i="1" spc="-1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US" altLang="zh-CN" sz="2800" i="1" spc="-1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i="1" spc="-10">
                            <a:latin typeface="Cambria Math" panose="02040503050406030204" pitchFamily="18" charset="0"/>
                          </a:rPr>
                          <m:t>𝒟</m:t>
                        </m:r>
                      </m:e>
                      <m:sub>
                        <m:r>
                          <a:rPr lang="en-US" altLang="zh-CN" sz="2800" b="0" i="1" spc="-1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2800" i="1" spc="-1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800" spc="-10" dirty="0">
                    <a:latin typeface="+mn-ea"/>
                  </a:rPr>
                  <a:t>，且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pc="-1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i="1" spc="-10">
                            <a:latin typeface="Cambria Math" panose="02040503050406030204" pitchFamily="18" charset="0"/>
                          </a:rPr>
                          <m:t>𝒟</m:t>
                        </m:r>
                      </m:e>
                      <m:sub>
                        <m:r>
                          <a:rPr lang="en-US" altLang="zh-CN" sz="2800" b="0" i="1" spc="-1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CN" altLang="en-US" sz="2800" i="1" spc="-10" smtClean="0">
                        <a:latin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altLang="zh-CN" sz="2800" i="1" spc="-1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i="1" spc="-10">
                            <a:latin typeface="Cambria Math" panose="02040503050406030204" pitchFamily="18" charset="0"/>
                          </a:rPr>
                          <m:t>𝒟</m:t>
                        </m:r>
                      </m:e>
                      <m:sub>
                        <m:r>
                          <a:rPr lang="en-US" altLang="zh-CN" sz="2800" b="0" i="1" spc="-1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2800" b="0" i="1" spc="-1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0" i="1" spc="-1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 </m:t>
                    </m:r>
                    <m:d>
                      <m:dPr>
                        <m:ctrlPr>
                          <a:rPr lang="en-US" altLang="zh-CN" sz="2800" b="0" i="1" spc="-1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pc="-1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800" b="0" i="1" spc="-1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r>
                          <a:rPr lang="en-US" altLang="zh-CN" sz="2800" b="0" i="1" spc="-1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zh-CN" altLang="en-US" sz="2800" spc="-10" dirty="0">
                    <a:latin typeface="+mn-ea"/>
                  </a:rPr>
                  <a:t>；</a:t>
                </a:r>
                <a:endParaRPr lang="en-US" altLang="zh-CN" sz="2800" spc="-10" dirty="0">
                  <a:latin typeface="+mn-ea"/>
                </a:endParaRP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zh-CN" altLang="en-US" sz="2800" spc="-10" dirty="0">
                    <a:latin typeface="+mn-ea"/>
                  </a:rPr>
                  <a:t>每次用</a:t>
                </a:r>
                <a14:m>
                  <m:oMath xmlns:m="http://schemas.openxmlformats.org/officeDocument/2006/math">
                    <m:r>
                      <a:rPr lang="en-US" altLang="zh-CN" sz="2800" i="1" spc="-1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800" b="0" i="1" spc="-1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CN" altLang="en-US" sz="2800" spc="-10" dirty="0">
                    <a:latin typeface="+mn-ea"/>
                  </a:rPr>
                  <a:t>个子集的并集作为训练集，余下的子集作为测试集；</a:t>
                </a:r>
                <a:endParaRPr lang="en-US" altLang="zh-CN" sz="2800" spc="-10" dirty="0">
                  <a:latin typeface="+mn-ea"/>
                </a:endParaRP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zh-CN" altLang="en-US" sz="2800" spc="-10" dirty="0">
                    <a:latin typeface="+mn-ea"/>
                  </a:rPr>
                  <a:t>返回这</a:t>
                </a:r>
                <a14:m>
                  <m:oMath xmlns:m="http://schemas.openxmlformats.org/officeDocument/2006/math">
                    <m:r>
                      <a:rPr lang="en-US" altLang="zh-CN" sz="2800" i="1" spc="-1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sz="2800" spc="-10" dirty="0">
                    <a:latin typeface="+mn-ea"/>
                  </a:rPr>
                  <a:t>个测试结果的均值</a:t>
                </a:r>
                <a:endParaRPr lang="en-US" altLang="zh-CN" sz="2800" spc="-10" dirty="0">
                  <a:latin typeface="+mn-ea"/>
                </a:endParaRPr>
              </a:p>
            </p:txBody>
          </p:sp>
        </mc:Choice>
        <mc:Fallback xmlns="">
          <p:sp>
            <p:nvSpPr>
              <p:cNvPr id="6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638" y="1254644"/>
                <a:ext cx="5935362" cy="3192477"/>
              </a:xfrm>
              <a:prstGeom prst="rect">
                <a:avLst/>
              </a:prstGeom>
              <a:blipFill rotWithShape="1">
                <a:blip r:embed="rId3"/>
                <a:stretch>
                  <a:fillRect l="-10" t="-16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119"/>
              <p:cNvSpPr txBox="1"/>
              <p:nvPr/>
            </p:nvSpPr>
            <p:spPr>
              <a:xfrm>
                <a:off x="338303" y="722682"/>
                <a:ext cx="10273549" cy="5655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zh-CN" altLang="en-US" sz="2800" spc="-10" dirty="0">
                    <a:solidFill>
                      <a:schemeClr val="accent1"/>
                    </a:solidFill>
                    <a:latin typeface="+mn-ea"/>
                  </a:rPr>
                  <a:t>交叉验证法（</a:t>
                </a:r>
                <a:r>
                  <a:rPr lang="en-US" altLang="zh-CN" sz="2800" spc="-10" dirty="0">
                    <a:solidFill>
                      <a:schemeClr val="accent1"/>
                    </a:solidFill>
                    <a:latin typeface="+mn-ea"/>
                  </a:rPr>
                  <a:t>cross</a:t>
                </a:r>
                <a:r>
                  <a:rPr lang="zh-CN" altLang="en-US" sz="2800" spc="-10" dirty="0">
                    <a:solidFill>
                      <a:schemeClr val="accent1"/>
                    </a:solidFill>
                    <a:latin typeface="+mn-ea"/>
                  </a:rPr>
                  <a:t> </a:t>
                </a:r>
                <a:r>
                  <a:rPr lang="en-US" altLang="zh-CN" sz="2800" spc="-10" dirty="0">
                    <a:solidFill>
                      <a:schemeClr val="accent1"/>
                    </a:solidFill>
                    <a:latin typeface="+mn-ea"/>
                  </a:rPr>
                  <a:t>validation</a:t>
                </a:r>
                <a:r>
                  <a:rPr lang="zh-CN" altLang="en-US" sz="2800" spc="-10" dirty="0">
                    <a:solidFill>
                      <a:schemeClr val="accent1"/>
                    </a:solidFill>
                    <a:latin typeface="+mn-ea"/>
                  </a:rPr>
                  <a:t>）</a:t>
                </a:r>
                <a:r>
                  <a:rPr lang="zh-CN" altLang="en-US" sz="2800" spc="-10" dirty="0">
                    <a:latin typeface="+mn-ea"/>
                  </a:rPr>
                  <a:t>，也称为“</a:t>
                </a:r>
                <a14:m>
                  <m:oMath xmlns:m="http://schemas.openxmlformats.org/officeDocument/2006/math">
                    <m:r>
                      <a:rPr lang="en-US" altLang="zh-CN" sz="2800" i="1" spc="-1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sz="2800" spc="-10" dirty="0">
                    <a:solidFill>
                      <a:srgbClr val="C00000"/>
                    </a:solidFill>
                    <a:latin typeface="+mn-ea"/>
                  </a:rPr>
                  <a:t>折交叉验证</a:t>
                </a:r>
                <a:r>
                  <a:rPr lang="zh-CN" altLang="en-US" sz="2800" spc="-10" dirty="0">
                    <a:latin typeface="+mn-ea"/>
                  </a:rPr>
                  <a:t>”</a:t>
                </a:r>
                <a:endParaRPr lang="en-US" altLang="zh-CN" sz="2800" spc="-10" dirty="0">
                  <a:latin typeface="+mn-ea"/>
                </a:endParaRPr>
              </a:p>
            </p:txBody>
          </p:sp>
        </mc:Choice>
        <mc:Fallback xmlns="">
          <p:sp>
            <p:nvSpPr>
              <p:cNvPr id="7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303" y="722682"/>
                <a:ext cx="10273549" cy="565539"/>
              </a:xfrm>
              <a:prstGeom prst="rect">
                <a:avLst/>
              </a:prstGeom>
              <a:blipFill rotWithShape="1">
                <a:blip r:embed="rId4"/>
                <a:stretch>
                  <a:fillRect l="-5" t="-9" r="4" b="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119"/>
              <p:cNvSpPr txBox="1"/>
              <p:nvPr/>
            </p:nvSpPr>
            <p:spPr>
              <a:xfrm>
                <a:off x="100478" y="4542662"/>
                <a:ext cx="6422368" cy="5655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buFont typeface="Wingdings" panose="05000000000000000000" pitchFamily="2" charset="2"/>
                  <a:buChar char="ü"/>
                </a:pPr>
                <a:r>
                  <a:rPr lang="zh-CN" altLang="en-US" sz="2800" spc="-10" dirty="0">
                    <a:latin typeface="+mn-ea"/>
                  </a:rPr>
                  <a:t>随机使用不同的划分重复</a:t>
                </a:r>
                <a14:m>
                  <m:oMath xmlns:m="http://schemas.openxmlformats.org/officeDocument/2006/math">
                    <m:r>
                      <a:rPr lang="en-US" altLang="zh-CN" sz="2800" b="0" i="1" spc="-1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800" spc="-10" dirty="0">
                    <a:latin typeface="+mn-ea"/>
                  </a:rPr>
                  <a:t>次取均值</a:t>
                </a:r>
                <a:endParaRPr lang="en-US" altLang="zh-CN" sz="2800" spc="-10" dirty="0">
                  <a:latin typeface="+mn-ea"/>
                </a:endParaRPr>
              </a:p>
            </p:txBody>
          </p:sp>
        </mc:Choice>
        <mc:Fallback xmlns="">
          <p:sp>
            <p:nvSpPr>
              <p:cNvPr id="8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478" y="4542662"/>
                <a:ext cx="6422368" cy="565539"/>
              </a:xfrm>
              <a:prstGeom prst="rect">
                <a:avLst/>
              </a:prstGeom>
              <a:blipFill rotWithShape="1">
                <a:blip r:embed="rId5"/>
                <a:stretch>
                  <a:fillRect l="-2" t="-90" r="2" b="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4: A schematic illustration of K-fold cross-validation for K = 5.... |  Download Scientific Diagram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9674" y="1559293"/>
            <a:ext cx="5689515" cy="4023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文本框 119"/>
          <p:cNvSpPr txBox="1"/>
          <p:nvPr/>
        </p:nvSpPr>
        <p:spPr>
          <a:xfrm>
            <a:off x="6244182" y="5670545"/>
            <a:ext cx="5854490" cy="49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400" spc="-10" dirty="0">
                <a:solidFill>
                  <a:srgbClr val="7030A0"/>
                </a:solidFill>
                <a:latin typeface="+mn-ea"/>
              </a:rPr>
              <a:t>5</a:t>
            </a:r>
            <a:r>
              <a:rPr lang="zh-CN" altLang="en-US" sz="2400" spc="-10" dirty="0">
                <a:solidFill>
                  <a:srgbClr val="7030A0"/>
                </a:solidFill>
                <a:latin typeface="+mn-ea"/>
              </a:rPr>
              <a:t>折交叉验证示意图</a:t>
            </a:r>
            <a:endParaRPr lang="en-US" altLang="zh-CN" sz="2400" spc="-10" dirty="0">
              <a:solidFill>
                <a:srgbClr val="7030A0"/>
              </a:solidFill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19"/>
              <p:cNvSpPr txBox="1"/>
              <p:nvPr/>
            </p:nvSpPr>
            <p:spPr>
              <a:xfrm>
                <a:off x="100478" y="5112655"/>
                <a:ext cx="7166594" cy="5655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buFont typeface="Wingdings" panose="05000000000000000000" pitchFamily="2" charset="2"/>
                  <a:buChar char="ü"/>
                </a:pPr>
                <a:r>
                  <a:rPr lang="zh-CN" altLang="en-US" sz="2800" spc="-10" dirty="0">
                    <a:latin typeface="+mn-ea"/>
                  </a:rPr>
                  <a:t>令</a:t>
                </a:r>
                <a14:m>
                  <m:oMath xmlns:m="http://schemas.openxmlformats.org/officeDocument/2006/math">
                    <m:r>
                      <a:rPr lang="en-US" altLang="zh-CN" sz="2800" i="1" spc="-1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800" b="0" i="1" spc="-1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0" i="1" spc="-1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2800" spc="-10" dirty="0">
                    <a:latin typeface="+mn-ea"/>
                  </a:rPr>
                  <a:t>，得到</a:t>
                </a:r>
                <a:r>
                  <a:rPr lang="zh-CN" altLang="en-US" sz="2800" b="1" spc="-10" dirty="0">
                    <a:solidFill>
                      <a:srgbClr val="C00000"/>
                    </a:solidFill>
                    <a:latin typeface="+mn-ea"/>
                  </a:rPr>
                  <a:t>留一法</a:t>
                </a:r>
                <a:r>
                  <a:rPr lang="en-US" altLang="zh-CN" sz="2400" spc="-10" dirty="0">
                    <a:latin typeface="+mn-ea"/>
                  </a:rPr>
                  <a:t>(leave-one-out)</a:t>
                </a:r>
              </a:p>
            </p:txBody>
          </p:sp>
        </mc:Choice>
        <mc:Fallback xmlns="">
          <p:sp>
            <p:nvSpPr>
              <p:cNvPr id="16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478" y="5112655"/>
                <a:ext cx="7166594" cy="565539"/>
              </a:xfrm>
              <a:prstGeom prst="rect">
                <a:avLst/>
              </a:prstGeom>
              <a:blipFill rotWithShape="1">
                <a:blip r:embed="rId7"/>
                <a:stretch>
                  <a:fillRect l="-2" t="-48" r="2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19"/>
              <p:cNvSpPr txBox="1"/>
              <p:nvPr/>
            </p:nvSpPr>
            <p:spPr>
              <a:xfrm>
                <a:off x="566961" y="5642099"/>
                <a:ext cx="5812713" cy="5509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2600" i="1" spc="-10" dirty="0">
                    <a:latin typeface="+mn-ea"/>
                  </a:rPr>
                  <a:t>评估结果比较准确，</a:t>
                </a:r>
                <a14:m>
                  <m:oMath xmlns:m="http://schemas.openxmlformats.org/officeDocument/2006/math">
                    <m:r>
                      <a:rPr lang="zh-CN" altLang="en-US" sz="2400" i="1" spc="-10">
                        <a:latin typeface="Cambria Math" panose="02040503050406030204" pitchFamily="18" charset="0"/>
                      </a:rPr>
                      <m:t>𝒟</m:t>
                    </m:r>
                  </m:oMath>
                </a14:m>
                <a:r>
                  <a:rPr lang="zh-CN" altLang="en-US" sz="2600" i="1" spc="-10" dirty="0">
                    <a:latin typeface="+mn-ea"/>
                  </a:rPr>
                  <a:t>大时计算开销大</a:t>
                </a:r>
                <a:endParaRPr lang="en-US" altLang="zh-CN" sz="2600" i="1" spc="-10" dirty="0">
                  <a:latin typeface="+mn-ea"/>
                </a:endParaRPr>
              </a:p>
            </p:txBody>
          </p:sp>
        </mc:Choice>
        <mc:Fallback xmlns="">
          <p:sp>
            <p:nvSpPr>
              <p:cNvPr id="19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961" y="5642099"/>
                <a:ext cx="5812713" cy="550985"/>
              </a:xfrm>
              <a:prstGeom prst="rect">
                <a:avLst/>
              </a:prstGeom>
              <a:blipFill rotWithShape="1">
                <a:blip r:embed="rId8"/>
                <a:stretch>
                  <a:fillRect l="-9" t="-23" r="8" b="1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F69888C-E133-43D9-A638-B5C95925B91C}" type="slidenum">
              <a:rPr lang="zh-CN" altLang="en-US" smtClean="0"/>
              <a:t>7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6" grpId="0"/>
      <p:bldP spid="1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566961" y="265803"/>
            <a:ext cx="7440283" cy="426497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4000" dirty="0"/>
              <a:t>1</a:t>
            </a:r>
            <a:r>
              <a:rPr lang="zh-CN" altLang="en-US" sz="4000" dirty="0"/>
              <a:t>、</a:t>
            </a:r>
            <a:r>
              <a:rPr lang="zh-CN" altLang="en-US" sz="4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模型选择</a:t>
            </a:r>
          </a:p>
        </p:txBody>
      </p:sp>
      <p:sp>
        <p:nvSpPr>
          <p:cNvPr id="12" name="AutoShape 4" descr="[公式]"/>
          <p:cNvSpPr>
            <a:spLocks noChangeAspect="1" noChangeArrowheads="1"/>
          </p:cNvSpPr>
          <p:nvPr/>
        </p:nvSpPr>
        <p:spPr bwMode="auto">
          <a:xfrm>
            <a:off x="4013200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119"/>
              <p:cNvSpPr txBox="1"/>
              <p:nvPr/>
            </p:nvSpPr>
            <p:spPr>
              <a:xfrm>
                <a:off x="383179" y="929995"/>
                <a:ext cx="11431832" cy="10826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2800" spc="-10" dirty="0">
                    <a:latin typeface="+mn-ea"/>
                  </a:rPr>
                  <a:t>留出法和交叉验证法中训练集</a:t>
                </a:r>
                <a14:m>
                  <m:oMath xmlns:m="http://schemas.openxmlformats.org/officeDocument/2006/math">
                    <m:r>
                      <a:rPr lang="en-US" altLang="zh-CN" sz="2800" b="0" i="1" spc="-1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sz="2800" spc="-10" dirty="0">
                    <a:latin typeface="+mn-ea"/>
                  </a:rPr>
                  <a:t>比数据集</a:t>
                </a:r>
                <a14:m>
                  <m:oMath xmlns:m="http://schemas.openxmlformats.org/officeDocument/2006/math">
                    <m:r>
                      <a:rPr lang="zh-CN" altLang="en-US" sz="2800" i="1" spc="-10" smtClean="0">
                        <a:latin typeface="Cambria Math" panose="02040503050406030204" pitchFamily="18" charset="0"/>
                      </a:rPr>
                      <m:t>𝒟</m:t>
                    </m:r>
                  </m:oMath>
                </a14:m>
                <a:r>
                  <a:rPr lang="zh-CN" altLang="en-US" sz="2800" spc="-10" dirty="0">
                    <a:latin typeface="+mn-ea"/>
                  </a:rPr>
                  <a:t>小，会引入因</a:t>
                </a:r>
                <a:r>
                  <a:rPr lang="zh-CN" altLang="en-US" sz="2800" spc="-10" dirty="0">
                    <a:solidFill>
                      <a:srgbClr val="7030A0"/>
                    </a:solidFill>
                    <a:latin typeface="+mn-ea"/>
                  </a:rPr>
                  <a:t>训练样本规模不同而导致的偏差</a:t>
                </a:r>
                <a:r>
                  <a:rPr lang="zh-CN" altLang="en-US" sz="2800" spc="-10" dirty="0">
                    <a:latin typeface="+mn-ea"/>
                  </a:rPr>
                  <a:t>；留一法受规模不同的影响小但计算复杂度高，怎么办？</a:t>
                </a:r>
                <a:endParaRPr lang="en-US" altLang="zh-CN" sz="2800" spc="-10" dirty="0">
                  <a:latin typeface="+mn-ea"/>
                </a:endParaRPr>
              </a:p>
            </p:txBody>
          </p:sp>
        </mc:Choice>
        <mc:Fallback xmlns="">
          <p:sp>
            <p:nvSpPr>
              <p:cNvPr id="6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179" y="929995"/>
                <a:ext cx="11431832" cy="1082604"/>
              </a:xfrm>
              <a:prstGeom prst="rect">
                <a:avLst/>
              </a:prstGeom>
              <a:blipFill rotWithShape="1">
                <a:blip r:embed="rId3"/>
                <a:stretch>
                  <a:fillRect l="-2" t="-33" r="2" b="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119"/>
              <p:cNvSpPr txBox="1"/>
              <p:nvPr/>
            </p:nvSpPr>
            <p:spPr>
              <a:xfrm>
                <a:off x="760274" y="3706364"/>
                <a:ext cx="10671451" cy="5317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buFont typeface="Wingdings" panose="05000000000000000000" pitchFamily="2" charset="2"/>
                  <a:buChar char="ü"/>
                </a:pPr>
                <a:r>
                  <a:rPr lang="zh-CN" altLang="en-US" sz="2600" spc="-10" dirty="0">
                    <a:latin typeface="+mn-ea"/>
                  </a:rPr>
                  <a:t>有部分样本在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600" i="1" spc="-1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600" i="1" spc="-10">
                            <a:latin typeface="Cambria Math" panose="02040503050406030204" pitchFamily="18" charset="0"/>
                          </a:rPr>
                          <m:t>𝒟</m:t>
                        </m:r>
                      </m:e>
                      <m:sup>
                        <m:r>
                          <a:rPr lang="en-US" altLang="zh-CN" sz="2600" i="1" spc="-1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en-US" sz="2600" spc="-10" dirty="0">
                    <a:latin typeface="+mn-ea"/>
                  </a:rPr>
                  <a:t>中重复出现，而另一部分样本不出现</a:t>
                </a:r>
                <a:endParaRPr lang="en-US" altLang="zh-CN" sz="2600" spc="-10" dirty="0">
                  <a:latin typeface="+mn-ea"/>
                </a:endParaRPr>
              </a:p>
            </p:txBody>
          </p:sp>
        </mc:Choice>
        <mc:Fallback xmlns="">
          <p:sp>
            <p:nvSpPr>
              <p:cNvPr id="7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274" y="3706364"/>
                <a:ext cx="10671451" cy="531749"/>
              </a:xfrm>
              <a:prstGeom prst="rect">
                <a:avLst/>
              </a:prstGeom>
              <a:blipFill rotWithShape="1">
                <a:blip r:embed="rId4"/>
                <a:stretch>
                  <a:fillRect l="-2" t="-95" r="4" b="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119"/>
              <p:cNvSpPr txBox="1"/>
              <p:nvPr/>
            </p:nvSpPr>
            <p:spPr>
              <a:xfrm>
                <a:off x="1051318" y="4078170"/>
                <a:ext cx="11140682" cy="7445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2600" i="1" spc="-10" dirty="0">
                    <a:latin typeface="+mn-ea"/>
                  </a:rPr>
                  <a:t>始终不出现的概率为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600" i="1" spc="-1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600" b="0" i="1" spc="-10" smtClean="0">
                            <a:latin typeface="Cambria Math" panose="02040503050406030204" pitchFamily="18" charset="0"/>
                          </a:rPr>
                          <m:t>(1−</m:t>
                        </m:r>
                        <m:f>
                          <m:fPr>
                            <m:ctrlPr>
                              <a:rPr lang="en-US" altLang="zh-CN" sz="2600" b="0" i="1" spc="-1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600" b="0" i="1" spc="-1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600" b="0" i="1" spc="-1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  <m:r>
                          <a:rPr lang="en-US" altLang="zh-CN" sz="2600" b="0" i="1" spc="-1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2600" b="0" i="1" spc="-10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zh-CN" altLang="en-US" sz="2600" i="1" spc="-10" dirty="0">
                    <a:latin typeface="+mn-ea"/>
                  </a:rPr>
                  <a:t>，其极限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600" i="1" spc="-1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2600" i="1" spc="-10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2600" i="0" spc="-1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2600" b="0" i="1" spc="-1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zh-CN" sz="2600" b="0" i="1" spc="-1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US" altLang="zh-CN" sz="2600" i="1" spc="-1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600" i="1" spc="-10">
                                <a:latin typeface="Cambria Math" panose="02040503050406030204" pitchFamily="18" charset="0"/>
                              </a:rPr>
                              <m:t>(1−</m:t>
                            </m:r>
                            <m:f>
                              <m:fPr>
                                <m:ctrlPr>
                                  <a:rPr lang="en-US" altLang="zh-CN" sz="2600" i="1" spc="-1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600" i="1" spc="-1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2600" i="1" spc="-1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den>
                            </m:f>
                            <m:r>
                              <a:rPr lang="en-US" altLang="zh-CN" sz="2600" i="1" spc="-1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600" i="1" spc="-1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  <m:r>
                          <a:rPr lang="en-US" altLang="zh-CN" sz="2600" b="0" i="1" spc="-10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sz="2600" b="0" i="1" spc="-1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600" b="0" i="1" spc="-1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600" b="0" i="1" spc="-10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den>
                        </m:f>
                        <m:r>
                          <a:rPr lang="en-US" altLang="zh-CN" sz="2600" b="0" i="1" spc="-1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≈</m:t>
                        </m:r>
                        <m:r>
                          <a:rPr lang="en-US" altLang="zh-CN" sz="2600" b="0" i="1" spc="-1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0.368</m:t>
                        </m:r>
                      </m:e>
                    </m:func>
                  </m:oMath>
                </a14:m>
                <a:endParaRPr lang="en-US" altLang="zh-CN" sz="2600" i="1" spc="-10" dirty="0">
                  <a:latin typeface="+mn-ea"/>
                </a:endParaRPr>
              </a:p>
            </p:txBody>
          </p:sp>
        </mc:Choice>
        <mc:Fallback xmlns="">
          <p:sp>
            <p:nvSpPr>
              <p:cNvPr id="8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318" y="4078170"/>
                <a:ext cx="11140682" cy="744563"/>
              </a:xfrm>
              <a:prstGeom prst="rect">
                <a:avLst/>
              </a:prstGeom>
              <a:blipFill rotWithShape="1">
                <a:blip r:embed="rId5"/>
                <a:stretch>
                  <a:fillRect l="-4" t="-27" b="-1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119"/>
          <p:cNvSpPr txBox="1"/>
          <p:nvPr/>
        </p:nvSpPr>
        <p:spPr>
          <a:xfrm>
            <a:off x="383179" y="2052251"/>
            <a:ext cx="10671451" cy="565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zh-CN" altLang="en-US" sz="2800" spc="-10" dirty="0">
                <a:solidFill>
                  <a:schemeClr val="accent1"/>
                </a:solidFill>
                <a:latin typeface="+mn-ea"/>
              </a:rPr>
              <a:t>自助法（</a:t>
            </a:r>
            <a:r>
              <a:rPr lang="en-US" altLang="zh-CN" sz="2800" spc="-10" dirty="0">
                <a:solidFill>
                  <a:schemeClr val="accent1"/>
                </a:solidFill>
                <a:latin typeface="+mn-ea"/>
              </a:rPr>
              <a:t>bootstrapping</a:t>
            </a:r>
            <a:r>
              <a:rPr lang="zh-CN" altLang="en-US" sz="2800" spc="-10" dirty="0">
                <a:solidFill>
                  <a:schemeClr val="accent1"/>
                </a:solidFill>
                <a:latin typeface="+mn-ea"/>
              </a:rPr>
              <a:t>）</a:t>
            </a:r>
            <a:endParaRPr lang="en-US" altLang="zh-CN" sz="2800" spc="-10" dirty="0"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119"/>
              <p:cNvSpPr txBox="1"/>
              <p:nvPr/>
            </p:nvSpPr>
            <p:spPr>
              <a:xfrm>
                <a:off x="383179" y="2660564"/>
                <a:ext cx="11636376" cy="10817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zh-CN" altLang="en-US" sz="2800" spc="-10" dirty="0">
                    <a:latin typeface="+mn-ea"/>
                  </a:rPr>
                  <a:t>给定</a:t>
                </a:r>
                <a14:m>
                  <m:oMath xmlns:m="http://schemas.openxmlformats.org/officeDocument/2006/math">
                    <m:r>
                      <a:rPr lang="en-US" altLang="zh-CN" sz="2800" b="0" i="1" spc="-1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2800" spc="-10" dirty="0">
                    <a:latin typeface="+mn-ea"/>
                  </a:rPr>
                  <a:t>个样本的数据集</a:t>
                </a:r>
                <a14:m>
                  <m:oMath xmlns:m="http://schemas.openxmlformats.org/officeDocument/2006/math">
                    <m:r>
                      <a:rPr lang="zh-CN" altLang="en-US" sz="2800" i="1" spc="-10" smtClean="0">
                        <a:latin typeface="Cambria Math" panose="02040503050406030204" pitchFamily="18" charset="0"/>
                      </a:rPr>
                      <m:t>𝒟</m:t>
                    </m:r>
                  </m:oMath>
                </a14:m>
                <a:r>
                  <a:rPr lang="zh-CN" altLang="en-US" sz="2800" spc="-10" dirty="0">
                    <a:latin typeface="+mn-ea"/>
                  </a:rPr>
                  <a:t>，</a:t>
                </a:r>
                <a:r>
                  <a:rPr lang="zh-CN" altLang="en-US" sz="2800" spc="-10" dirty="0">
                    <a:solidFill>
                      <a:srgbClr val="C00000"/>
                    </a:solidFill>
                    <a:latin typeface="+mn-ea"/>
                  </a:rPr>
                  <a:t>有放回地采样</a:t>
                </a:r>
                <a:r>
                  <a:rPr lang="zh-CN" altLang="en-US" sz="2800" spc="-10" dirty="0">
                    <a:latin typeface="+mn-ea"/>
                  </a:rPr>
                  <a:t>得到包含</a:t>
                </a:r>
                <a14:m>
                  <m:oMath xmlns:m="http://schemas.openxmlformats.org/officeDocument/2006/math">
                    <m:r>
                      <a:rPr lang="en-US" altLang="zh-CN" sz="2800" i="1" spc="-1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2800" spc="-10" dirty="0">
                    <a:latin typeface="+mn-ea"/>
                  </a:rPr>
                  <a:t>个样本的数据集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spc="-1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800" i="1" spc="-10">
                            <a:latin typeface="Cambria Math" panose="02040503050406030204" pitchFamily="18" charset="0"/>
                          </a:rPr>
                          <m:t>𝒟</m:t>
                        </m:r>
                      </m:e>
                      <m:sup>
                        <m:r>
                          <a:rPr lang="en-US" altLang="zh-CN" sz="2800" b="0" i="1" spc="-1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en-US" altLang="zh-CN" sz="2800" b="0" spc="-10" dirty="0">
                  <a:latin typeface="+mn-ea"/>
                </a:endParaRP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zh-CN" altLang="en-US" sz="2800" spc="-10" dirty="0">
                    <a:latin typeface="+mn-ea"/>
                  </a:rPr>
                  <a:t>用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 spc="-1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800" i="1" spc="-10">
                            <a:latin typeface="Cambria Math" panose="02040503050406030204" pitchFamily="18" charset="0"/>
                          </a:rPr>
                          <m:t>𝒟</m:t>
                        </m:r>
                      </m:e>
                      <m:sup>
                        <m:r>
                          <a:rPr lang="en-US" altLang="zh-CN" sz="2800" i="1" spc="-1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en-US" sz="2800" spc="-10" dirty="0">
                    <a:latin typeface="+mn-ea"/>
                  </a:rPr>
                  <a:t>作为训练集，</a:t>
                </a:r>
                <a:r>
                  <a:rPr lang="en-US" altLang="zh-CN" sz="2800" spc="-1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 spc="-1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800" i="1" spc="-10">
                            <a:latin typeface="Cambria Math" panose="02040503050406030204" pitchFamily="18" charset="0"/>
                          </a:rPr>
                          <m:t>𝒟</m:t>
                        </m:r>
                        <m:r>
                          <a:rPr lang="en-US" altLang="zh-CN" sz="2800" b="0" i="1" spc="-10" smtClean="0">
                            <a:latin typeface="Cambria Math" panose="02040503050406030204" pitchFamily="18" charset="0"/>
                          </a:rPr>
                          <m:t>\</m:t>
                        </m:r>
                        <m:r>
                          <a:rPr lang="zh-CN" altLang="en-US" sz="2800" i="1" spc="-10">
                            <a:latin typeface="Cambria Math" panose="02040503050406030204" pitchFamily="18" charset="0"/>
                          </a:rPr>
                          <m:t>𝒟</m:t>
                        </m:r>
                      </m:e>
                      <m:sup>
                        <m:r>
                          <a:rPr lang="en-US" altLang="zh-CN" sz="2800" i="1" spc="-1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en-US" sz="2800" spc="-10" dirty="0">
                    <a:latin typeface="+mn-ea"/>
                  </a:rPr>
                  <a:t>用作测试集</a:t>
                </a:r>
                <a:endParaRPr lang="en-US" altLang="zh-CN" sz="2800" spc="-10" dirty="0">
                  <a:latin typeface="+mn-ea"/>
                </a:endParaRPr>
              </a:p>
            </p:txBody>
          </p:sp>
        </mc:Choice>
        <mc:Fallback xmlns="">
          <p:sp>
            <p:nvSpPr>
              <p:cNvPr id="10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179" y="2660564"/>
                <a:ext cx="11636376" cy="1081771"/>
              </a:xfrm>
              <a:prstGeom prst="rect">
                <a:avLst/>
              </a:prstGeom>
              <a:blipFill rotWithShape="1">
                <a:blip r:embed="rId6"/>
                <a:stretch>
                  <a:fillRect l="-2" t="-51" r="2" b="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19"/>
          <p:cNvSpPr txBox="1"/>
          <p:nvPr/>
        </p:nvSpPr>
        <p:spPr>
          <a:xfrm>
            <a:off x="760274" y="4811298"/>
            <a:ext cx="10671451" cy="531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2600" spc="-10" dirty="0">
                <a:latin typeface="+mn-ea"/>
              </a:rPr>
              <a:t>在数据集小，难以划分训练集和测试集有用</a:t>
            </a:r>
            <a:endParaRPr lang="en-US" altLang="zh-CN" sz="2600" spc="-10" dirty="0">
              <a:latin typeface="+mn-ea"/>
            </a:endParaRPr>
          </a:p>
        </p:txBody>
      </p:sp>
      <p:sp>
        <p:nvSpPr>
          <p:cNvPr id="14" name="文本框 119"/>
          <p:cNvSpPr txBox="1"/>
          <p:nvPr/>
        </p:nvSpPr>
        <p:spPr>
          <a:xfrm>
            <a:off x="760273" y="5350777"/>
            <a:ext cx="11054738" cy="1011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2600" spc="-10" dirty="0">
                <a:latin typeface="+mn-ea"/>
              </a:rPr>
              <a:t>改变了初始数据集的分布，引入估计偏差，数据量足够时，留出法和交叉验证法更常用</a:t>
            </a:r>
            <a:endParaRPr lang="en-US" altLang="zh-CN" sz="2600" spc="-10" dirty="0">
              <a:latin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F69888C-E133-43D9-A638-B5C95925B91C}" type="slidenum">
              <a:rPr lang="zh-CN" altLang="en-US" smtClean="0"/>
              <a:t>8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3" grpId="0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566961" y="265803"/>
            <a:ext cx="7440283" cy="426497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4000" dirty="0"/>
              <a:t>1</a:t>
            </a:r>
            <a:r>
              <a:rPr lang="zh-CN" altLang="en-US" sz="4000" dirty="0"/>
              <a:t>、</a:t>
            </a:r>
            <a:r>
              <a:rPr lang="zh-CN" altLang="en-US" sz="4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模型选择</a:t>
            </a:r>
          </a:p>
        </p:txBody>
      </p:sp>
      <p:sp>
        <p:nvSpPr>
          <p:cNvPr id="18" name="文本框 119"/>
          <p:cNvSpPr txBox="1"/>
          <p:nvPr/>
        </p:nvSpPr>
        <p:spPr>
          <a:xfrm>
            <a:off x="566961" y="969238"/>
            <a:ext cx="11403926" cy="633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3200" spc="-10" dirty="0">
                <a:latin typeface="+mn-ea"/>
              </a:rPr>
              <a:t>调参与最终模型</a:t>
            </a:r>
            <a:endParaRPr lang="en-US" altLang="zh-CN" sz="3200" spc="-10" dirty="0">
              <a:latin typeface="+mn-ea"/>
            </a:endParaRPr>
          </a:p>
        </p:txBody>
      </p:sp>
      <p:sp>
        <p:nvSpPr>
          <p:cNvPr id="12" name="AutoShape 4" descr="[公式]"/>
          <p:cNvSpPr>
            <a:spLocks noChangeAspect="1" noChangeArrowheads="1"/>
          </p:cNvSpPr>
          <p:nvPr/>
        </p:nvSpPr>
        <p:spPr bwMode="auto">
          <a:xfrm>
            <a:off x="4013200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5" name="文本框 119"/>
          <p:cNvSpPr txBox="1"/>
          <p:nvPr/>
        </p:nvSpPr>
        <p:spPr>
          <a:xfrm>
            <a:off x="566961" y="1794734"/>
            <a:ext cx="11625039" cy="1082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zh-CN" altLang="en-US" sz="2800" spc="-10" dirty="0">
                <a:latin typeface="+mn-ea"/>
              </a:rPr>
              <a:t>学习算法的参数配置不同，会导致模型的性能有显著差别。</a:t>
            </a:r>
            <a:endParaRPr lang="en-US" altLang="zh-CN" sz="2800" spc="-10" dirty="0">
              <a:latin typeface="+mn-ea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altLang="zh-CN" sz="2800" spc="-10" dirty="0">
              <a:latin typeface="+mn-ea"/>
            </a:endParaRPr>
          </a:p>
        </p:txBody>
      </p:sp>
      <p:sp>
        <p:nvSpPr>
          <p:cNvPr id="7" name="文本框 119"/>
          <p:cNvSpPr txBox="1"/>
          <p:nvPr/>
        </p:nvSpPr>
        <p:spPr>
          <a:xfrm>
            <a:off x="986055" y="3473634"/>
            <a:ext cx="10984832" cy="565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2800" spc="-10" dirty="0">
                <a:latin typeface="+mn-ea"/>
              </a:rPr>
              <a:t>对每个参数选定一个</a:t>
            </a:r>
            <a:r>
              <a:rPr lang="zh-CN" altLang="en-US" sz="2800" spc="-10" dirty="0">
                <a:solidFill>
                  <a:schemeClr val="accent1"/>
                </a:solidFill>
                <a:latin typeface="+mn-ea"/>
              </a:rPr>
              <a:t>范围</a:t>
            </a:r>
            <a:r>
              <a:rPr lang="zh-CN" altLang="en-US" sz="2800" spc="-10" dirty="0">
                <a:latin typeface="+mn-ea"/>
              </a:rPr>
              <a:t>和</a:t>
            </a:r>
            <a:r>
              <a:rPr lang="zh-CN" altLang="en-US" sz="2800" spc="-10" dirty="0">
                <a:solidFill>
                  <a:schemeClr val="accent1"/>
                </a:solidFill>
                <a:latin typeface="+mn-ea"/>
              </a:rPr>
              <a:t>变化步长</a:t>
            </a:r>
            <a:endParaRPr lang="en-US" altLang="zh-CN" sz="2800" spc="-10" dirty="0">
              <a:solidFill>
                <a:schemeClr val="accent1"/>
              </a:solidFill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119"/>
              <p:cNvSpPr txBox="1"/>
              <p:nvPr/>
            </p:nvSpPr>
            <p:spPr>
              <a:xfrm>
                <a:off x="566961" y="4403558"/>
                <a:ext cx="11236018" cy="10826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zh-CN" altLang="en-US" sz="2800" spc="-10" dirty="0">
                    <a:latin typeface="+mn-ea"/>
                  </a:rPr>
                  <a:t>模型评估与选择过程只用了部分数据进行训练，在学习算法和参数配置完成后，应使用数据集</a:t>
                </a:r>
                <a14:m>
                  <m:oMath xmlns:m="http://schemas.openxmlformats.org/officeDocument/2006/math">
                    <m:r>
                      <a:rPr lang="zh-CN" altLang="en-US" sz="2800" i="1" spc="-10">
                        <a:latin typeface="Cambria Math" panose="02040503050406030204" pitchFamily="18" charset="0"/>
                      </a:rPr>
                      <m:t>𝒟</m:t>
                    </m:r>
                  </m:oMath>
                </a14:m>
                <a:r>
                  <a:rPr lang="zh-CN" altLang="en-US" sz="2800" spc="-10" dirty="0">
                    <a:latin typeface="+mn-ea"/>
                  </a:rPr>
                  <a:t>对模型进行重新训练，得到</a:t>
                </a:r>
                <a:r>
                  <a:rPr lang="zh-CN" altLang="en-US" sz="2800" spc="-10" dirty="0">
                    <a:solidFill>
                      <a:srgbClr val="C00000"/>
                    </a:solidFill>
                    <a:latin typeface="+mn-ea"/>
                  </a:rPr>
                  <a:t>最终模型</a:t>
                </a:r>
                <a:endParaRPr lang="en-US" altLang="zh-CN" sz="2800" spc="-10" dirty="0">
                  <a:solidFill>
                    <a:srgbClr val="C00000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8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961" y="4403558"/>
                <a:ext cx="11236018" cy="1082604"/>
              </a:xfrm>
              <a:prstGeom prst="rect">
                <a:avLst/>
              </a:prstGeom>
              <a:blipFill rotWithShape="1">
                <a:blip r:embed="rId3"/>
                <a:stretch>
                  <a:fillRect l="-5" t="-43" r="2" b="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566961" y="2908095"/>
            <a:ext cx="10984832" cy="565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zh-CN" altLang="en-US" sz="2800" spc="-10" dirty="0">
                <a:latin typeface="+mn-ea"/>
              </a:rPr>
              <a:t>进行模型选择时，除了选择学习算法，还需进行</a:t>
            </a:r>
            <a:r>
              <a:rPr lang="zh-CN" altLang="en-US" sz="2800" spc="-10" dirty="0">
                <a:solidFill>
                  <a:srgbClr val="C00000"/>
                </a:solidFill>
                <a:latin typeface="+mn-ea"/>
              </a:rPr>
              <a:t>参数调节</a:t>
            </a:r>
            <a:r>
              <a:rPr lang="zh-CN" altLang="en-US" sz="2800" spc="-10" dirty="0">
                <a:latin typeface="+mn-ea"/>
              </a:rPr>
              <a:t>（</a:t>
            </a:r>
            <a:r>
              <a:rPr lang="zh-CN" altLang="en-US" sz="2800" spc="-10" dirty="0">
                <a:solidFill>
                  <a:srgbClr val="C00000"/>
                </a:solidFill>
                <a:latin typeface="+mn-ea"/>
              </a:rPr>
              <a:t>调参</a:t>
            </a:r>
            <a:r>
              <a:rPr lang="zh-CN" altLang="en-US" sz="2800" spc="-10" dirty="0">
                <a:latin typeface="+mn-ea"/>
              </a:rPr>
              <a:t>）</a:t>
            </a:r>
            <a:endParaRPr lang="en-US" altLang="zh-CN" sz="2800" spc="-10" dirty="0">
              <a:latin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F69888C-E133-43D9-A638-B5C95925B91C}" type="slidenum">
              <a:rPr lang="zh-CN" altLang="en-US" smtClean="0"/>
              <a:t>9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566961" y="265803"/>
            <a:ext cx="7440283" cy="426497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4000" dirty="0"/>
              <a:t>1</a:t>
            </a:r>
            <a:r>
              <a:rPr lang="zh-CN" altLang="en-US" sz="4000" dirty="0"/>
              <a:t>、</a:t>
            </a:r>
            <a:r>
              <a:rPr lang="zh-CN" altLang="en-US" sz="4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模型选择</a:t>
            </a:r>
          </a:p>
        </p:txBody>
      </p:sp>
      <p:sp>
        <p:nvSpPr>
          <p:cNvPr id="18" name="文本框 119"/>
          <p:cNvSpPr txBox="1"/>
          <p:nvPr/>
        </p:nvSpPr>
        <p:spPr>
          <a:xfrm>
            <a:off x="566961" y="1799417"/>
            <a:ext cx="11019450" cy="1815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3200" spc="-10" dirty="0">
                <a:solidFill>
                  <a:schemeClr val="accent1"/>
                </a:solidFill>
                <a:latin typeface="+mn-ea"/>
              </a:rPr>
              <a:t>测验：</a:t>
            </a:r>
            <a:r>
              <a:rPr lang="zh-CN" altLang="en-US" sz="3200" spc="-10" dirty="0">
                <a:latin typeface="+mn-ea"/>
              </a:rPr>
              <a:t>给定包含</a:t>
            </a:r>
            <a:r>
              <a:rPr lang="en-US" altLang="zh-CN" sz="3200" spc="-10" dirty="0">
                <a:latin typeface="+mn-ea"/>
              </a:rPr>
              <a:t>1000</a:t>
            </a:r>
            <a:r>
              <a:rPr lang="zh-CN" altLang="en-US" sz="3200" spc="-10" dirty="0">
                <a:latin typeface="+mn-ea"/>
              </a:rPr>
              <a:t>个样本的数据集，其中</a:t>
            </a:r>
            <a:r>
              <a:rPr lang="en-US" altLang="zh-CN" sz="3200" spc="-10" dirty="0">
                <a:latin typeface="+mn-ea"/>
              </a:rPr>
              <a:t>500</a:t>
            </a:r>
            <a:r>
              <a:rPr lang="zh-CN" altLang="en-US" sz="3200" spc="-10" dirty="0">
                <a:latin typeface="+mn-ea"/>
              </a:rPr>
              <a:t>个正例，</a:t>
            </a:r>
            <a:r>
              <a:rPr lang="en-US" altLang="zh-CN" sz="3200" spc="-10" dirty="0">
                <a:latin typeface="+mn-ea"/>
              </a:rPr>
              <a:t>500</a:t>
            </a:r>
            <a:r>
              <a:rPr lang="zh-CN" altLang="en-US" sz="3200" spc="-10" dirty="0">
                <a:latin typeface="+mn-ea"/>
              </a:rPr>
              <a:t>个反例，将其划分为包含</a:t>
            </a:r>
            <a:r>
              <a:rPr lang="en-US" altLang="zh-CN" sz="3200" spc="-10" dirty="0">
                <a:latin typeface="+mn-ea"/>
              </a:rPr>
              <a:t>70%</a:t>
            </a:r>
            <a:r>
              <a:rPr lang="zh-CN" altLang="en-US" sz="3200" spc="-10" dirty="0">
                <a:latin typeface="+mn-ea"/>
              </a:rPr>
              <a:t>样本的训练集和</a:t>
            </a:r>
            <a:r>
              <a:rPr lang="en-US" altLang="zh-CN" sz="3200" spc="-10" dirty="0">
                <a:latin typeface="+mn-ea"/>
              </a:rPr>
              <a:t>30%</a:t>
            </a:r>
            <a:r>
              <a:rPr lang="zh-CN" altLang="en-US" sz="3200" spc="-10" dirty="0">
                <a:latin typeface="+mn-ea"/>
              </a:rPr>
              <a:t>样本的测试集用于</a:t>
            </a:r>
            <a:r>
              <a:rPr lang="zh-CN" altLang="en-US" sz="3200" spc="-10" dirty="0">
                <a:solidFill>
                  <a:srgbClr val="7030A0"/>
                </a:solidFill>
                <a:latin typeface="+mn-ea"/>
              </a:rPr>
              <a:t>留出法</a:t>
            </a:r>
            <a:r>
              <a:rPr lang="zh-CN" altLang="en-US" sz="3200" spc="-10" dirty="0">
                <a:latin typeface="+mn-ea"/>
              </a:rPr>
              <a:t>评估，试计算有多少种划分方式。</a:t>
            </a:r>
            <a:endParaRPr lang="en-US" altLang="zh-CN" sz="3200" spc="-10" dirty="0">
              <a:latin typeface="+mn-ea"/>
            </a:endParaRPr>
          </a:p>
        </p:txBody>
      </p:sp>
      <p:sp>
        <p:nvSpPr>
          <p:cNvPr id="12" name="AutoShape 4" descr="[公式]"/>
          <p:cNvSpPr>
            <a:spLocks noChangeAspect="1" noChangeArrowheads="1"/>
          </p:cNvSpPr>
          <p:nvPr/>
        </p:nvSpPr>
        <p:spPr bwMode="auto">
          <a:xfrm>
            <a:off x="4013200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5641383" y="2898183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endParaRPr lang="en-US" dirty="0"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7447293" y="3890310"/>
                <a:ext cx="2345099" cy="4543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500</m:t>
                          </m:r>
                        </m:sub>
                        <m:sup>
                          <m:r>
                            <a:rPr lang="en-US" sz="2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150</m:t>
                          </m:r>
                        </m:sup>
                      </m:sSubSup>
                      <m:r>
                        <a:rPr lang="en-US" sz="280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Sup>
                        <m:sSubSupPr>
                          <m:ctrlPr>
                            <a:rPr lang="en-US" sz="28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500</m:t>
                          </m:r>
                        </m:sub>
                        <m:sup>
                          <m:r>
                            <a:rPr lang="en-US" sz="2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150</m:t>
                          </m:r>
                        </m:sup>
                      </m:sSubSup>
                    </m:oMath>
                  </m:oMathPara>
                </a14:m>
                <a:endParaRPr lang="en-US" sz="2800" dirty="0">
                  <a:solidFill>
                    <a:schemeClr val="accent1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7293" y="3890310"/>
                <a:ext cx="2345099" cy="454355"/>
              </a:xfrm>
              <a:prstGeom prst="rect">
                <a:avLst/>
              </a:prstGeom>
              <a:blipFill rotWithShape="1">
                <a:blip r:embed="rId3"/>
                <a:stretch>
                  <a:fillRect l="-1" t="-66" r="2" b="1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F69888C-E133-43D9-A638-B5C95925B91C}" type="slidenum">
              <a:rPr lang="zh-CN" altLang="en-US" smtClean="0"/>
              <a:t>10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566961" y="265803"/>
            <a:ext cx="7440283" cy="426497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4000" dirty="0"/>
              <a:t>1</a:t>
            </a:r>
            <a:r>
              <a:rPr lang="zh-CN" altLang="en-US" sz="4000" dirty="0"/>
              <a:t>、</a:t>
            </a:r>
            <a:r>
              <a:rPr lang="zh-CN" altLang="en-US" sz="4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模型选择</a:t>
            </a:r>
          </a:p>
        </p:txBody>
      </p:sp>
      <p:sp>
        <p:nvSpPr>
          <p:cNvPr id="18" name="文本框 119"/>
          <p:cNvSpPr txBox="1"/>
          <p:nvPr/>
        </p:nvSpPr>
        <p:spPr>
          <a:xfrm>
            <a:off x="403395" y="836680"/>
            <a:ext cx="11019450" cy="633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3200" spc="-10" dirty="0">
                <a:latin typeface="+mn-ea"/>
              </a:rPr>
              <a:t>模型性能度量</a:t>
            </a:r>
            <a:endParaRPr lang="en-US" altLang="zh-CN" sz="3200" spc="-10" dirty="0">
              <a:latin typeface="+mn-ea"/>
            </a:endParaRPr>
          </a:p>
        </p:txBody>
      </p:sp>
      <p:sp>
        <p:nvSpPr>
          <p:cNvPr id="12" name="AutoShape 4" descr="[公式]"/>
          <p:cNvSpPr>
            <a:spLocks noChangeAspect="1" noChangeArrowheads="1"/>
          </p:cNvSpPr>
          <p:nvPr/>
        </p:nvSpPr>
        <p:spPr bwMode="auto">
          <a:xfrm>
            <a:off x="4013200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119"/>
              <p:cNvSpPr txBox="1"/>
              <p:nvPr/>
            </p:nvSpPr>
            <p:spPr>
              <a:xfrm>
                <a:off x="403395" y="1462924"/>
                <a:ext cx="11462320" cy="10826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2800" spc="-10" dirty="0">
                    <a:latin typeface="+mn-ea"/>
                  </a:rPr>
                  <a:t>模型泛化能力的评价标准，可使用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pc="-1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spc="-1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 i="1" spc="-1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out</m:t>
                        </m:r>
                      </m:sub>
                    </m:sSub>
                  </m:oMath>
                </a14:m>
                <a:r>
                  <a:rPr lang="zh-CN" altLang="en-US" sz="2800" spc="-10" dirty="0">
                    <a:latin typeface="+mn-ea"/>
                  </a:rPr>
                  <a:t>来度量，</a:t>
                </a:r>
                <a:r>
                  <a:rPr lang="en-US" altLang="zh-CN" sz="2800" spc="-1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pc="-1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spc="-1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 i="1" spc="-1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out</m:t>
                        </m:r>
                      </m:sub>
                    </m:sSub>
                  </m:oMath>
                </a14:m>
                <a:r>
                  <a:rPr lang="zh-CN" altLang="en-US" sz="2800" spc="-10" dirty="0">
                    <a:latin typeface="+mn-ea"/>
                  </a:rPr>
                  <a:t>可通过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pc="-1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spc="-1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 i="1" spc="-1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in</m:t>
                        </m:r>
                      </m:sub>
                    </m:sSub>
                  </m:oMath>
                </a14:m>
                <a:r>
                  <a:rPr lang="zh-CN" altLang="en-US" sz="2800" spc="-10" dirty="0">
                    <a:latin typeface="+mn-ea"/>
                  </a:rPr>
                  <a:t>来估计。给定</a:t>
                </a:r>
                <a14:m>
                  <m:oMath xmlns:m="http://schemas.openxmlformats.org/officeDocument/2006/math">
                    <m:r>
                      <a:rPr lang="en-US" altLang="zh-CN" sz="2800" i="1" spc="-1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2800" spc="-10" dirty="0">
                    <a:latin typeface="+mn-ea"/>
                  </a:rPr>
                  <a:t>个样本的数据集</a:t>
                </a:r>
                <a14:m>
                  <m:oMath xmlns:m="http://schemas.openxmlformats.org/officeDocument/2006/math">
                    <m:r>
                      <a:rPr lang="zh-CN" altLang="en-US" sz="2800" i="1" spc="-10" smtClean="0">
                        <a:latin typeface="Cambria Math" panose="02040503050406030204" pitchFamily="18" charset="0"/>
                      </a:rPr>
                      <m:t>𝒟</m:t>
                    </m:r>
                  </m:oMath>
                </a14:m>
                <a:r>
                  <a:rPr lang="zh-CN" altLang="en-US" sz="2800" spc="-10" dirty="0">
                    <a:latin typeface="+mn-ea"/>
                  </a:rPr>
                  <a:t>，样本的真实标记为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800" spc="-10" dirty="0">
                    <a:latin typeface="+mn-ea"/>
                  </a:rPr>
                  <a:t>，模型预测的结果为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sz="2800" spc="-10" dirty="0">
                  <a:latin typeface="+mn-ea"/>
                </a:endParaRPr>
              </a:p>
            </p:txBody>
          </p:sp>
        </mc:Choice>
        <mc:Fallback xmlns="">
          <p:sp>
            <p:nvSpPr>
              <p:cNvPr id="5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395" y="1462924"/>
                <a:ext cx="11462320" cy="1082604"/>
              </a:xfrm>
              <a:prstGeom prst="rect">
                <a:avLst/>
              </a:prstGeom>
              <a:blipFill rotWithShape="1">
                <a:blip r:embed="rId3"/>
                <a:stretch>
                  <a:fillRect l="-1" t="-48" r="1" b="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19"/>
              <p:cNvSpPr txBox="1"/>
              <p:nvPr/>
            </p:nvSpPr>
            <p:spPr>
              <a:xfrm>
                <a:off x="693234" y="2606233"/>
                <a:ext cx="9047302" cy="5655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zh-CN" altLang="en-US" sz="2800" spc="-10" dirty="0">
                    <a:latin typeface="+mn-ea"/>
                  </a:rPr>
                  <a:t>对于</a:t>
                </a:r>
                <a:r>
                  <a:rPr lang="zh-CN" altLang="en-US" sz="2800" b="1" spc="-10" dirty="0">
                    <a:solidFill>
                      <a:schemeClr val="accent1"/>
                    </a:solidFill>
                    <a:latin typeface="+mn-ea"/>
                  </a:rPr>
                  <a:t>回归任务</a:t>
                </a:r>
                <a:r>
                  <a:rPr lang="zh-CN" altLang="en-US" sz="2800" spc="-10" dirty="0">
                    <a:latin typeface="+mn-ea"/>
                  </a:rPr>
                  <a:t>，其性能可用</a:t>
                </a:r>
                <a:r>
                  <a:rPr lang="zh-CN" altLang="en-US" sz="2800" b="1" spc="-10" dirty="0">
                    <a:solidFill>
                      <a:srgbClr val="7030A0"/>
                    </a:solidFill>
                    <a:latin typeface="+mn-ea"/>
                  </a:rPr>
                  <a:t>均方误差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ctrlP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zh-CN" altLang="en-US" sz="2800" i="1" spc="-1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𝒟</m:t>
                        </m:r>
                      </m:e>
                    </m:d>
                  </m:oMath>
                </a14:m>
                <a:r>
                  <a:rPr lang="zh-CN" altLang="en-US" sz="2800" spc="-10" dirty="0">
                    <a:latin typeface="+mn-ea"/>
                  </a:rPr>
                  <a:t>来度量</a:t>
                </a:r>
                <a:endParaRPr lang="en-US" altLang="zh-CN" sz="2800" spc="-10" dirty="0">
                  <a:latin typeface="+mn-ea"/>
                </a:endParaRPr>
              </a:p>
            </p:txBody>
          </p:sp>
        </mc:Choice>
        <mc:Fallback xmlns="">
          <p:sp>
            <p:nvSpPr>
              <p:cNvPr id="11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234" y="2606233"/>
                <a:ext cx="9047302" cy="565539"/>
              </a:xfrm>
              <a:prstGeom prst="rect">
                <a:avLst/>
              </a:prstGeom>
              <a:blipFill rotWithShape="1">
                <a:blip r:embed="rId4"/>
                <a:stretch>
                  <a:fillRect l="-5" t="-34" r="3" b="1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827085" y="3141317"/>
                <a:ext cx="4867423" cy="10082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i="1" smtClean="0"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zh-CN" altLang="en-US" sz="2400" i="1" spc="-10">
                              <a:latin typeface="Cambria Math" panose="02040503050406030204" pitchFamily="18" charset="0"/>
                            </a:rPr>
                            <m:t>𝒟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in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>
                  <a:latin typeface="+mn-ea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7085" y="3141317"/>
                <a:ext cx="4867423" cy="1008225"/>
              </a:xfrm>
              <a:prstGeom prst="rect">
                <a:avLst/>
              </a:prstGeom>
              <a:blipFill rotWithShape="1">
                <a:blip r:embed="rId5"/>
                <a:stretch>
                  <a:fillRect l="-12" t="-60" r="-1146" b="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19"/>
              <p:cNvSpPr txBox="1"/>
              <p:nvPr/>
            </p:nvSpPr>
            <p:spPr>
              <a:xfrm>
                <a:off x="697591" y="4240618"/>
                <a:ext cx="9047302" cy="5655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zh-CN" altLang="en-US" sz="2800" spc="-10" dirty="0">
                    <a:latin typeface="+mn-ea"/>
                  </a:rPr>
                  <a:t>对于</a:t>
                </a:r>
                <a:r>
                  <a:rPr lang="zh-CN" altLang="en-US" sz="2800" b="1" spc="-10" dirty="0">
                    <a:solidFill>
                      <a:schemeClr val="accent1"/>
                    </a:solidFill>
                    <a:latin typeface="+mn-ea"/>
                  </a:rPr>
                  <a:t>分类任务</a:t>
                </a:r>
                <a:r>
                  <a:rPr lang="zh-CN" altLang="en-US" sz="2800" spc="-10" dirty="0">
                    <a:latin typeface="+mn-ea"/>
                  </a:rPr>
                  <a:t>，其性能可用</a:t>
                </a:r>
                <a:r>
                  <a:rPr lang="zh-CN" altLang="en-US" sz="2800" b="1" spc="-10" dirty="0">
                    <a:solidFill>
                      <a:srgbClr val="7030A0"/>
                    </a:solidFill>
                    <a:latin typeface="+mn-ea"/>
                  </a:rPr>
                  <a:t>错误率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ctrlP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zh-CN" altLang="en-US" sz="2800" i="1" spc="-1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𝒟</m:t>
                        </m:r>
                      </m:e>
                    </m:d>
                  </m:oMath>
                </a14:m>
                <a:r>
                  <a:rPr lang="zh-CN" altLang="en-US" sz="2800" spc="-10" dirty="0">
                    <a:latin typeface="+mn-ea"/>
                  </a:rPr>
                  <a:t>来度量</a:t>
                </a:r>
                <a:endParaRPr lang="en-US" altLang="zh-CN" sz="2800" spc="-10" dirty="0">
                  <a:latin typeface="+mn-ea"/>
                </a:endParaRPr>
              </a:p>
            </p:txBody>
          </p:sp>
        </mc:Choice>
        <mc:Fallback xmlns="">
          <p:sp>
            <p:nvSpPr>
              <p:cNvPr id="15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591" y="4240618"/>
                <a:ext cx="9047302" cy="565539"/>
              </a:xfrm>
              <a:prstGeom prst="rect">
                <a:avLst/>
              </a:prstGeom>
              <a:blipFill rotWithShape="1">
                <a:blip r:embed="rId6"/>
                <a:stretch>
                  <a:fillRect l="-4" t="-16" r="2" b="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831442" y="4775702"/>
                <a:ext cx="4867486" cy="10082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i="1" smtClean="0"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zh-CN" altLang="en-US" sz="2400" i="1" spc="-10">
                              <a:latin typeface="Cambria Math" panose="02040503050406030204" pitchFamily="18" charset="0"/>
                            </a:rPr>
                            <m:t>𝒟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in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𝕀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400" dirty="0">
                  <a:latin typeface="+mn-ea"/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1442" y="4775702"/>
                <a:ext cx="4867486" cy="1008225"/>
              </a:xfrm>
              <a:prstGeom prst="rect">
                <a:avLst/>
              </a:prstGeom>
              <a:blipFill rotWithShape="1">
                <a:blip r:embed="rId7"/>
                <a:stretch>
                  <a:fillRect l="-10" t="-50" r="-1355" b="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19"/>
              <p:cNvSpPr txBox="1"/>
              <p:nvPr/>
            </p:nvSpPr>
            <p:spPr>
              <a:xfrm>
                <a:off x="1175659" y="5790458"/>
                <a:ext cx="6660160" cy="5655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2800" spc="-10" dirty="0">
                    <a:latin typeface="+mn-ea"/>
                  </a:rPr>
                  <a:t>或用精度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acc</m:t>
                    </m:r>
                    <m:d>
                      <m:dPr>
                        <m:ctrlP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zh-CN" altLang="en-US" sz="2800" i="1" spc="-1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𝒟</m:t>
                        </m:r>
                      </m:e>
                    </m:d>
                  </m:oMath>
                </a14:m>
                <a:r>
                  <a:rPr lang="zh-CN" altLang="en-US" sz="2800" spc="-10" dirty="0">
                    <a:latin typeface="+mn-ea"/>
                  </a:rPr>
                  <a:t>来度量</a:t>
                </a:r>
                <a:endParaRPr lang="en-US" altLang="zh-CN" sz="2800" spc="-10" dirty="0">
                  <a:latin typeface="+mn-ea"/>
                </a:endParaRPr>
              </a:p>
            </p:txBody>
          </p:sp>
        </mc:Choice>
        <mc:Fallback xmlns="">
          <p:sp>
            <p:nvSpPr>
              <p:cNvPr id="17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5659" y="5790458"/>
                <a:ext cx="6660160" cy="565539"/>
              </a:xfrm>
              <a:prstGeom prst="rect">
                <a:avLst/>
              </a:prstGeom>
              <a:blipFill rotWithShape="1">
                <a:blip r:embed="rId8"/>
                <a:stretch>
                  <a:fillRect l="-4" t="-93" r="8" b="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6043750" y="5888561"/>
                <a:ext cx="325172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acc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zh-CN" altLang="en-US" sz="2400" i="1" spc="-10">
                              <a:latin typeface="Cambria Math" panose="02040503050406030204" pitchFamily="18" charset="0"/>
                            </a:rPr>
                            <m:t>𝒟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2400" i="1"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zh-CN" altLang="en-US" sz="2400" i="1" spc="-10">
                              <a:latin typeface="Cambria Math" panose="02040503050406030204" pitchFamily="18" charset="0"/>
                            </a:rPr>
                            <m:t>𝒟</m:t>
                          </m:r>
                        </m:e>
                      </m:d>
                    </m:oMath>
                  </m:oMathPara>
                </a14:m>
                <a:endParaRPr lang="en-US" sz="2400" dirty="0">
                  <a:latin typeface="+mn-ea"/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3750" y="5888561"/>
                <a:ext cx="3251723" cy="369332"/>
              </a:xfrm>
              <a:prstGeom prst="rect">
                <a:avLst/>
              </a:prstGeom>
              <a:blipFill rotWithShape="1">
                <a:blip r:embed="rId9"/>
                <a:stretch>
                  <a:fillRect l="-14" t="-56" r="-2704" b="1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F69888C-E133-43D9-A638-B5C95925B91C}" type="slidenum">
              <a:rPr lang="zh-CN" altLang="en-US" smtClean="0"/>
              <a:t>11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5" grpId="0"/>
      <p:bldP spid="16" grpId="0"/>
      <p:bldP spid="17" grpId="0"/>
      <p:bldP spid="1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566961" y="265803"/>
            <a:ext cx="7440283" cy="426497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4000" dirty="0"/>
              <a:t>1</a:t>
            </a:r>
            <a:r>
              <a:rPr lang="zh-CN" altLang="en-US" sz="4000" dirty="0"/>
              <a:t>、</a:t>
            </a:r>
            <a:r>
              <a:rPr lang="zh-CN" altLang="en-US" sz="4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模型选择</a:t>
            </a:r>
          </a:p>
        </p:txBody>
      </p:sp>
      <p:sp>
        <p:nvSpPr>
          <p:cNvPr id="18" name="文本框 119"/>
          <p:cNvSpPr txBox="1"/>
          <p:nvPr/>
        </p:nvSpPr>
        <p:spPr>
          <a:xfrm>
            <a:off x="403395" y="784428"/>
            <a:ext cx="11019450" cy="633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3200" spc="-10" dirty="0">
                <a:latin typeface="+mn-ea"/>
              </a:rPr>
              <a:t>模型性能度量</a:t>
            </a:r>
            <a:endParaRPr lang="en-US" altLang="zh-CN" sz="3200" spc="-10" dirty="0">
              <a:latin typeface="+mn-ea"/>
            </a:endParaRPr>
          </a:p>
        </p:txBody>
      </p:sp>
      <p:sp>
        <p:nvSpPr>
          <p:cNvPr id="12" name="AutoShape 4" descr="[公式]"/>
          <p:cNvSpPr>
            <a:spLocks noChangeAspect="1" noChangeArrowheads="1"/>
          </p:cNvSpPr>
          <p:nvPr/>
        </p:nvSpPr>
        <p:spPr bwMode="auto">
          <a:xfrm>
            <a:off x="4013200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5" name="文本框 119"/>
          <p:cNvSpPr txBox="1"/>
          <p:nvPr/>
        </p:nvSpPr>
        <p:spPr>
          <a:xfrm>
            <a:off x="966651" y="1410672"/>
            <a:ext cx="10899063" cy="565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spc="-10" dirty="0">
                <a:latin typeface="+mn-ea"/>
              </a:rPr>
              <a:t>对</a:t>
            </a:r>
            <a:r>
              <a:rPr lang="zh-CN" altLang="en-US" sz="2800" b="1" spc="-10" dirty="0">
                <a:latin typeface="+mn-ea"/>
              </a:rPr>
              <a:t>分类任务</a:t>
            </a:r>
            <a:r>
              <a:rPr lang="zh-CN" altLang="en-US" sz="2800" spc="-10" dirty="0">
                <a:latin typeface="+mn-ea"/>
              </a:rPr>
              <a:t>，除常用的</a:t>
            </a:r>
            <a:r>
              <a:rPr lang="zh-CN" altLang="en-US" sz="2800" spc="-10" dirty="0">
                <a:solidFill>
                  <a:srgbClr val="7030A0"/>
                </a:solidFill>
                <a:latin typeface="+mn-ea"/>
              </a:rPr>
              <a:t>错误率</a:t>
            </a:r>
            <a:r>
              <a:rPr lang="zh-CN" altLang="en-US" sz="2800" spc="-10" dirty="0">
                <a:latin typeface="+mn-ea"/>
              </a:rPr>
              <a:t>与</a:t>
            </a:r>
            <a:r>
              <a:rPr lang="zh-CN" altLang="en-US" sz="2800" spc="-10" dirty="0">
                <a:solidFill>
                  <a:srgbClr val="7030A0"/>
                </a:solidFill>
                <a:latin typeface="+mn-ea"/>
              </a:rPr>
              <a:t>精度</a:t>
            </a:r>
            <a:r>
              <a:rPr lang="zh-CN" altLang="en-US" sz="2800" spc="-10" dirty="0">
                <a:latin typeface="+mn-ea"/>
              </a:rPr>
              <a:t>外，还有如下性能度量指标</a:t>
            </a:r>
            <a:endParaRPr lang="en-US" altLang="zh-CN" sz="2800" spc="-10" dirty="0">
              <a:latin typeface="+mn-ea"/>
            </a:endParaRPr>
          </a:p>
        </p:txBody>
      </p:sp>
      <p:sp>
        <p:nvSpPr>
          <p:cNvPr id="14" name="文本框 119"/>
          <p:cNvSpPr txBox="1"/>
          <p:nvPr/>
        </p:nvSpPr>
        <p:spPr>
          <a:xfrm>
            <a:off x="966651" y="1952418"/>
            <a:ext cx="9047302" cy="565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spc="-10" dirty="0">
                <a:solidFill>
                  <a:schemeClr val="accent1"/>
                </a:solidFill>
                <a:latin typeface="+mn-ea"/>
              </a:rPr>
              <a:t>（</a:t>
            </a:r>
            <a:r>
              <a:rPr lang="en-US" altLang="zh-CN" sz="2800" b="1" spc="-10" dirty="0">
                <a:solidFill>
                  <a:schemeClr val="accent1"/>
                </a:solidFill>
                <a:latin typeface="+mn-ea"/>
              </a:rPr>
              <a:t>1</a:t>
            </a:r>
            <a:r>
              <a:rPr lang="zh-CN" altLang="en-US" sz="2800" b="1" spc="-10" dirty="0">
                <a:solidFill>
                  <a:schemeClr val="accent1"/>
                </a:solidFill>
                <a:latin typeface="+mn-ea"/>
              </a:rPr>
              <a:t>）</a:t>
            </a:r>
            <a:r>
              <a:rPr lang="en-US" altLang="zh-CN" sz="2800" b="1" spc="-10" dirty="0">
                <a:solidFill>
                  <a:schemeClr val="accent1"/>
                </a:solidFill>
                <a:latin typeface="+mn-ea"/>
              </a:rPr>
              <a:t>. </a:t>
            </a:r>
            <a:r>
              <a:rPr lang="zh-CN" altLang="en-US" sz="2800" b="1" spc="-10" dirty="0">
                <a:solidFill>
                  <a:schemeClr val="accent1"/>
                </a:solidFill>
                <a:latin typeface="+mn-ea"/>
              </a:rPr>
              <a:t>查准率（</a:t>
            </a:r>
            <a:r>
              <a:rPr lang="en-US" altLang="zh-CN" sz="2800" b="1" spc="-10" dirty="0">
                <a:solidFill>
                  <a:schemeClr val="accent1"/>
                </a:solidFill>
                <a:latin typeface="+mn-ea"/>
              </a:rPr>
              <a:t>Precision</a:t>
            </a:r>
            <a:r>
              <a:rPr lang="zh-CN" altLang="en-US" sz="2800" b="1" spc="-10" dirty="0">
                <a:solidFill>
                  <a:schemeClr val="accent1"/>
                </a:solidFill>
                <a:latin typeface="+mn-ea"/>
              </a:rPr>
              <a:t>）、查全率（</a:t>
            </a:r>
            <a:r>
              <a:rPr lang="en-US" altLang="zh-CN" sz="2800" b="1" spc="-10" dirty="0">
                <a:solidFill>
                  <a:schemeClr val="accent1"/>
                </a:solidFill>
                <a:latin typeface="+mn-ea"/>
              </a:rPr>
              <a:t>Recall</a:t>
            </a:r>
            <a:r>
              <a:rPr lang="zh-CN" altLang="en-US" sz="2800" b="1" spc="-10" dirty="0">
                <a:solidFill>
                  <a:schemeClr val="accent1"/>
                </a:solidFill>
                <a:latin typeface="+mn-ea"/>
              </a:rPr>
              <a:t>）与</a:t>
            </a:r>
            <a:r>
              <a:rPr lang="en-US" altLang="zh-CN" sz="2800" b="1" spc="-10" dirty="0">
                <a:solidFill>
                  <a:schemeClr val="accent1"/>
                </a:solidFill>
                <a:latin typeface="+mn-ea"/>
              </a:rPr>
              <a:t>F1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19"/>
              <p:cNvSpPr txBox="1"/>
              <p:nvPr/>
            </p:nvSpPr>
            <p:spPr>
              <a:xfrm>
                <a:off x="642937" y="4857996"/>
                <a:ext cx="10215154" cy="5655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2800" spc="-10" dirty="0">
                    <a:solidFill>
                      <a:schemeClr val="accent1"/>
                    </a:solidFill>
                    <a:latin typeface="+mn-ea"/>
                  </a:rPr>
                  <a:t>查准率</a:t>
                </a:r>
                <a14:m>
                  <m:oMath xmlns:m="http://schemas.openxmlformats.org/officeDocument/2006/math">
                    <m:r>
                      <a:rPr lang="en-US" altLang="zh-CN" sz="2800" b="0" i="1" spc="-1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zh-CN" altLang="en-US" sz="2800" spc="-10" dirty="0">
                    <a:latin typeface="+mn-ea"/>
                  </a:rPr>
                  <a:t>度量被预测为正样本的结果中有多少真正的正样本</a:t>
                </a:r>
                <a:endParaRPr lang="en-US" altLang="zh-CN" sz="2800" spc="-10" dirty="0">
                  <a:latin typeface="+mn-ea"/>
                </a:endParaRPr>
              </a:p>
            </p:txBody>
          </p:sp>
        </mc:Choice>
        <mc:Fallback xmlns="">
          <p:sp>
            <p:nvSpPr>
              <p:cNvPr id="15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937" y="4857996"/>
                <a:ext cx="10215154" cy="565539"/>
              </a:xfrm>
              <a:prstGeom prst="rect">
                <a:avLst/>
              </a:prstGeom>
              <a:blipFill rotWithShape="1">
                <a:blip r:embed="rId3"/>
                <a:stretch>
                  <a:fillRect l="-3" t="-43" r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19"/>
              <p:cNvSpPr txBox="1"/>
              <p:nvPr/>
            </p:nvSpPr>
            <p:spPr>
              <a:xfrm>
                <a:off x="642937" y="5625915"/>
                <a:ext cx="10215154" cy="5655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2800" spc="-10" dirty="0">
                    <a:solidFill>
                      <a:schemeClr val="accent1"/>
                    </a:solidFill>
                    <a:latin typeface="+mn-ea"/>
                  </a:rPr>
                  <a:t>查全率</a:t>
                </a:r>
                <a14:m>
                  <m:oMath xmlns:m="http://schemas.openxmlformats.org/officeDocument/2006/math">
                    <m:r>
                      <a:rPr lang="en-US" altLang="zh-CN" sz="2800" b="0" i="1" spc="-1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zh-CN" altLang="en-US" sz="2800" spc="-10" dirty="0">
                    <a:latin typeface="+mn-ea"/>
                  </a:rPr>
                  <a:t>度量所有真实的正样本中有多少被预测正确</a:t>
                </a:r>
                <a:endParaRPr lang="en-US" altLang="zh-CN" sz="2800" spc="-10" dirty="0">
                  <a:latin typeface="+mn-ea"/>
                </a:endParaRPr>
              </a:p>
            </p:txBody>
          </p:sp>
        </mc:Choice>
        <mc:Fallback xmlns="">
          <p:sp>
            <p:nvSpPr>
              <p:cNvPr id="16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937" y="5625915"/>
                <a:ext cx="10215154" cy="565539"/>
              </a:xfrm>
              <a:prstGeom prst="rect">
                <a:avLst/>
              </a:prstGeom>
              <a:blipFill rotWithShape="1">
                <a:blip r:embed="rId4"/>
                <a:stretch>
                  <a:fillRect l="-3" t="-80" r="2" b="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4126" y="2533560"/>
            <a:ext cx="4252777" cy="1716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文本框 119"/>
          <p:cNvSpPr txBox="1"/>
          <p:nvPr/>
        </p:nvSpPr>
        <p:spPr>
          <a:xfrm>
            <a:off x="4727393" y="4207331"/>
            <a:ext cx="2955108" cy="430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spc="-10" dirty="0">
                <a:solidFill>
                  <a:schemeClr val="accent1"/>
                </a:solidFill>
                <a:latin typeface="+mn-ea"/>
              </a:rPr>
              <a:t>分类结果混淆矩阵</a:t>
            </a:r>
            <a:endParaRPr lang="en-US" altLang="zh-CN" sz="2000" spc="-10" dirty="0"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9946752" y="4737584"/>
                <a:ext cx="1822678" cy="6976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𝐹𝑃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6752" y="4737584"/>
                <a:ext cx="1822678" cy="697627"/>
              </a:xfrm>
              <a:prstGeom prst="rect">
                <a:avLst/>
              </a:prstGeom>
              <a:blipFill rotWithShape="1">
                <a:blip r:embed="rId6"/>
                <a:stretch>
                  <a:fillRect l="-6" t="-69" r="-5172" b="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8873621" y="5559870"/>
                <a:ext cx="1864293" cy="6976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3621" y="5559870"/>
                <a:ext cx="1864293" cy="697627"/>
              </a:xfrm>
              <a:prstGeom prst="rect">
                <a:avLst/>
              </a:prstGeom>
              <a:blipFill rotWithShape="1">
                <a:blip r:embed="rId7"/>
                <a:stretch>
                  <a:fillRect l="-7" t="-64" r="-5004" b="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F69888C-E133-43D9-A638-B5C95925B91C}" type="slidenum">
              <a:rPr lang="zh-CN" altLang="en-US" smtClean="0"/>
              <a:t>12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3" grpId="0"/>
      <p:bldP spid="1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566961" y="265803"/>
            <a:ext cx="7440283" cy="426497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4000" dirty="0"/>
              <a:t>1</a:t>
            </a:r>
            <a:r>
              <a:rPr lang="zh-CN" altLang="en-US" sz="4000" dirty="0"/>
              <a:t>、</a:t>
            </a:r>
            <a:r>
              <a:rPr lang="zh-CN" altLang="en-US" sz="4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模型选择</a:t>
            </a:r>
          </a:p>
        </p:txBody>
      </p:sp>
      <p:sp>
        <p:nvSpPr>
          <p:cNvPr id="12" name="AutoShape 4" descr="[公式]"/>
          <p:cNvSpPr>
            <a:spLocks noChangeAspect="1" noChangeArrowheads="1"/>
          </p:cNvSpPr>
          <p:nvPr/>
        </p:nvSpPr>
        <p:spPr bwMode="auto">
          <a:xfrm>
            <a:off x="4013200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19"/>
              <p:cNvSpPr txBox="1"/>
              <p:nvPr/>
            </p:nvSpPr>
            <p:spPr>
              <a:xfrm>
                <a:off x="758465" y="894680"/>
                <a:ext cx="9047302" cy="5655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2800" b="1" spc="-10" dirty="0">
                    <a:solidFill>
                      <a:schemeClr val="accent1"/>
                    </a:solidFill>
                    <a:latin typeface="+mn-ea"/>
                  </a:rPr>
                  <a:t>（</a:t>
                </a:r>
                <a:r>
                  <a:rPr lang="en-US" altLang="zh-CN" sz="2800" b="1" spc="-10" dirty="0">
                    <a:solidFill>
                      <a:schemeClr val="accent1"/>
                    </a:solidFill>
                    <a:latin typeface="+mn-ea"/>
                  </a:rPr>
                  <a:t>1</a:t>
                </a:r>
                <a:r>
                  <a:rPr lang="zh-CN" altLang="en-US" sz="2800" b="1" spc="-10" dirty="0">
                    <a:solidFill>
                      <a:schemeClr val="accent1"/>
                    </a:solidFill>
                    <a:latin typeface="+mn-ea"/>
                  </a:rPr>
                  <a:t>）</a:t>
                </a:r>
                <a:r>
                  <a:rPr lang="en-US" altLang="zh-CN" sz="2800" b="1" spc="-10" dirty="0">
                    <a:solidFill>
                      <a:schemeClr val="accent1"/>
                    </a:solidFill>
                    <a:latin typeface="+mn-ea"/>
                  </a:rPr>
                  <a:t>. </a:t>
                </a:r>
                <a:r>
                  <a:rPr lang="zh-CN" altLang="en-US" sz="2800" b="1" spc="-10" dirty="0">
                    <a:solidFill>
                      <a:schemeClr val="accent1"/>
                    </a:solidFill>
                    <a:latin typeface="+mn-ea"/>
                  </a:rPr>
                  <a:t>查准率（</a:t>
                </a:r>
                <a:r>
                  <a:rPr lang="en-US" altLang="zh-CN" sz="2800" b="1" spc="-10" dirty="0">
                    <a:solidFill>
                      <a:schemeClr val="accent1"/>
                    </a:solidFill>
                    <a:latin typeface="+mn-ea"/>
                  </a:rPr>
                  <a:t>Precision</a:t>
                </a:r>
                <a:r>
                  <a:rPr lang="zh-CN" altLang="en-US" sz="2800" b="1" spc="-10" dirty="0">
                    <a:solidFill>
                      <a:schemeClr val="accent1"/>
                    </a:solidFill>
                    <a:latin typeface="+mn-ea"/>
                  </a:rPr>
                  <a:t>）、查全率（</a:t>
                </a:r>
                <a:r>
                  <a:rPr lang="en-US" altLang="zh-CN" sz="2800" b="1" spc="-10" dirty="0">
                    <a:solidFill>
                      <a:schemeClr val="accent1"/>
                    </a:solidFill>
                    <a:latin typeface="+mn-ea"/>
                  </a:rPr>
                  <a:t>Recall</a:t>
                </a:r>
                <a:r>
                  <a:rPr lang="zh-CN" altLang="en-US" sz="2800" b="1" spc="-10" dirty="0">
                    <a:solidFill>
                      <a:schemeClr val="accent1"/>
                    </a:solidFill>
                    <a:latin typeface="+mn-ea"/>
                  </a:rPr>
                  <a:t>）与</a:t>
                </a:r>
                <a14:m>
                  <m:oMath xmlns:m="http://schemas.openxmlformats.org/officeDocument/2006/math">
                    <m:r>
                      <a:rPr lang="en-US" altLang="zh-CN" sz="2800" b="1" i="1" spc="-1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US" altLang="zh-CN" sz="2800" b="1" i="1" spc="-10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US" altLang="zh-CN" sz="2800" b="1" spc="-10" dirty="0">
                  <a:solidFill>
                    <a:schemeClr val="accent1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14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465" y="894680"/>
                <a:ext cx="9047302" cy="565539"/>
              </a:xfrm>
              <a:prstGeom prst="rect">
                <a:avLst/>
              </a:prstGeom>
              <a:blipFill rotWithShape="1">
                <a:blip r:embed="rId3"/>
                <a:stretch>
                  <a:fillRect l="-3" t="-106" r="1" b="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465" y="1711178"/>
            <a:ext cx="4963312" cy="4212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19"/>
              <p:cNvSpPr txBox="1"/>
              <p:nvPr/>
            </p:nvSpPr>
            <p:spPr>
              <a:xfrm>
                <a:off x="6096000" y="1662599"/>
                <a:ext cx="5634446" cy="5655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buFont typeface="Wingdings" panose="05000000000000000000" pitchFamily="2" charset="2"/>
                  <a:buChar char="ü"/>
                </a:pPr>
                <a:r>
                  <a:rPr lang="zh-CN" altLang="en-US" sz="2800" spc="-10" dirty="0">
                    <a:solidFill>
                      <a:schemeClr val="accent1"/>
                    </a:solidFill>
                    <a:latin typeface="+mn-ea"/>
                  </a:rPr>
                  <a:t>查准率</a:t>
                </a:r>
                <a14:m>
                  <m:oMath xmlns:m="http://schemas.openxmlformats.org/officeDocument/2006/math">
                    <m:r>
                      <a:rPr lang="en-US" altLang="zh-CN" sz="2800" b="0" i="1" spc="-1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zh-CN" altLang="en-US" sz="2800" spc="-10" dirty="0">
                    <a:latin typeface="+mn-ea"/>
                  </a:rPr>
                  <a:t>与</a:t>
                </a:r>
                <a:r>
                  <a:rPr lang="zh-CN" altLang="en-US" sz="2800" spc="-10" dirty="0">
                    <a:solidFill>
                      <a:schemeClr val="accent1"/>
                    </a:solidFill>
                    <a:latin typeface="+mn-ea"/>
                  </a:rPr>
                  <a:t>查全率</a:t>
                </a:r>
                <a14:m>
                  <m:oMath xmlns:m="http://schemas.openxmlformats.org/officeDocument/2006/math">
                    <m:r>
                      <a:rPr lang="en-US" altLang="zh-CN" sz="2800" b="0" i="1" spc="-1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zh-CN" altLang="en-US" sz="2800" spc="-10" dirty="0">
                    <a:latin typeface="+mn-ea"/>
                  </a:rPr>
                  <a:t>间存在矛盾</a:t>
                </a:r>
                <a:endParaRPr lang="en-US" altLang="zh-CN" sz="2800" spc="-10" dirty="0">
                  <a:latin typeface="+mn-ea"/>
                </a:endParaRPr>
              </a:p>
            </p:txBody>
          </p:sp>
        </mc:Choice>
        <mc:Fallback xmlns="">
          <p:sp>
            <p:nvSpPr>
              <p:cNvPr id="20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662599"/>
                <a:ext cx="5634446" cy="565539"/>
              </a:xfrm>
              <a:prstGeom prst="rect">
                <a:avLst/>
              </a:prstGeom>
              <a:blipFill rotWithShape="1">
                <a:blip r:embed="rId5"/>
                <a:stretch>
                  <a:fillRect t="-30" r="2" b="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119"/>
              <p:cNvSpPr txBox="1"/>
              <p:nvPr/>
            </p:nvSpPr>
            <p:spPr>
              <a:xfrm>
                <a:off x="6096000" y="2372145"/>
                <a:ext cx="5634446" cy="10826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buFont typeface="Wingdings" panose="05000000000000000000" pitchFamily="2" charset="2"/>
                  <a:buChar char="ü"/>
                </a:pPr>
                <a:r>
                  <a:rPr lang="zh-CN" altLang="en-US" sz="2800" spc="-10" dirty="0">
                    <a:latin typeface="+mn-ea"/>
                  </a:rPr>
                  <a:t>可采用</a:t>
                </a:r>
                <a14:m>
                  <m:oMath xmlns:m="http://schemas.openxmlformats.org/officeDocument/2006/math">
                    <m:r>
                      <a:rPr lang="en-US" altLang="zh-CN" sz="2800" i="1" spc="-1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800" b="0" i="1" spc="-1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800" i="1" spc="-1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zh-CN" altLang="en-US" sz="2800" spc="-10" dirty="0">
                    <a:latin typeface="+mn-ea"/>
                  </a:rPr>
                  <a:t>曲线下面积度量模型性能，缺点：不太容易估算</a:t>
                </a:r>
                <a:endParaRPr lang="en-US" altLang="zh-CN" sz="2800" spc="-10" dirty="0">
                  <a:latin typeface="+mn-ea"/>
                </a:endParaRPr>
              </a:p>
            </p:txBody>
          </p:sp>
        </mc:Choice>
        <mc:Fallback xmlns="">
          <p:sp>
            <p:nvSpPr>
              <p:cNvPr id="21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372145"/>
                <a:ext cx="5634446" cy="1082604"/>
              </a:xfrm>
              <a:prstGeom prst="rect">
                <a:avLst/>
              </a:prstGeom>
              <a:blipFill rotWithShape="1">
                <a:blip r:embed="rId6"/>
                <a:stretch>
                  <a:fillRect t="-39" r="2" b="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文本框 119"/>
          <p:cNvSpPr txBox="1"/>
          <p:nvPr/>
        </p:nvSpPr>
        <p:spPr>
          <a:xfrm>
            <a:off x="6096000" y="3513122"/>
            <a:ext cx="5634446" cy="1082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2800" spc="-10" dirty="0">
                <a:latin typeface="+mn-ea"/>
              </a:rPr>
              <a:t>可采用“平衡点”作为模型性能度量，缺点：过于简化</a:t>
            </a:r>
            <a:endParaRPr lang="en-US" altLang="zh-CN" sz="2800" spc="-10" dirty="0"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119"/>
              <p:cNvSpPr txBox="1"/>
              <p:nvPr/>
            </p:nvSpPr>
            <p:spPr>
              <a:xfrm>
                <a:off x="6096000" y="4654099"/>
                <a:ext cx="5634446" cy="5655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2800" spc="-10" dirty="0">
                    <a:latin typeface="+mn-ea"/>
                  </a:rPr>
                  <a:t>常用两者的</a:t>
                </a:r>
                <a:r>
                  <a:rPr lang="zh-CN" altLang="en-US" sz="2800" spc="-10" dirty="0">
                    <a:solidFill>
                      <a:srgbClr val="7030A0"/>
                    </a:solidFill>
                    <a:latin typeface="+mn-ea"/>
                  </a:rPr>
                  <a:t>调和平均</a:t>
                </a:r>
                <a14:m>
                  <m:oMath xmlns:m="http://schemas.openxmlformats.org/officeDocument/2006/math">
                    <m:r>
                      <a:rPr lang="en-US" altLang="zh-CN" sz="2800" b="1" i="1" spc="-10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US" altLang="zh-CN" sz="2800" b="1" i="1" spc="-10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sz="2800" spc="-10" dirty="0">
                    <a:latin typeface="+mn-ea"/>
                  </a:rPr>
                  <a:t>度量</a:t>
                </a:r>
                <a:endParaRPr lang="en-US" altLang="zh-CN" sz="2800" spc="-10" dirty="0">
                  <a:latin typeface="+mn-ea"/>
                </a:endParaRPr>
              </a:p>
            </p:txBody>
          </p:sp>
        </mc:Choice>
        <mc:Fallback xmlns="">
          <p:sp>
            <p:nvSpPr>
              <p:cNvPr id="23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654099"/>
                <a:ext cx="5634446" cy="565539"/>
              </a:xfrm>
              <a:prstGeom prst="rect">
                <a:avLst/>
              </a:prstGeom>
              <a:blipFill rotWithShape="1">
                <a:blip r:embed="rId7"/>
                <a:stretch>
                  <a:fillRect t="-33" r="2" b="1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6096000" y="5351613"/>
                <a:ext cx="2530084" cy="80663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den>
                      </m:f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>
                  <a:solidFill>
                    <a:srgbClr val="C00000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5351613"/>
                <a:ext cx="2530084" cy="806631"/>
              </a:xfrm>
              <a:prstGeom prst="rect">
                <a:avLst/>
              </a:prstGeom>
              <a:blipFill rotWithShape="1">
                <a:blip r:embed="rId8"/>
                <a:stretch>
                  <a:fillRect t="-58" r="10" b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119"/>
              <p:cNvSpPr txBox="1"/>
              <p:nvPr/>
            </p:nvSpPr>
            <p:spPr>
              <a:xfrm>
                <a:off x="1762567" y="5850243"/>
                <a:ext cx="3318884" cy="430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zh-CN" sz="2000" b="0" i="1" spc="-1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000" b="0" i="1" spc="-1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000" b="0" i="1" spc="-1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zh-CN" altLang="en-US" sz="2000" spc="-10" dirty="0">
                    <a:solidFill>
                      <a:schemeClr val="accent1"/>
                    </a:solidFill>
                    <a:latin typeface="+mn-ea"/>
                  </a:rPr>
                  <a:t>曲线与平衡点示意图</a:t>
                </a:r>
                <a:endParaRPr lang="en-US" altLang="zh-CN" sz="2000" spc="-10" dirty="0">
                  <a:solidFill>
                    <a:schemeClr val="accent1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26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2567" y="5850243"/>
                <a:ext cx="3318884" cy="430311"/>
              </a:xfrm>
              <a:prstGeom prst="rect">
                <a:avLst/>
              </a:prstGeom>
              <a:blipFill rotWithShape="1">
                <a:blip r:embed="rId9"/>
                <a:stretch>
                  <a:fillRect l="-13" t="-145" r="5" b="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9444203" y="5346612"/>
                <a:ext cx="2530084" cy="81663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1=</m:t>
                      </m:r>
                      <m:f>
                        <m:fPr>
                          <m:ctrlP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2∗</m:t>
                          </m:r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num>
                        <m:den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en-US" sz="2800" dirty="0">
                  <a:solidFill>
                    <a:srgbClr val="C00000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4203" y="5346612"/>
                <a:ext cx="2530084" cy="816634"/>
              </a:xfrm>
              <a:prstGeom prst="rect">
                <a:avLst/>
              </a:prstGeom>
              <a:blipFill rotWithShape="1">
                <a:blip r:embed="rId10"/>
                <a:stretch>
                  <a:fillRect l="-19" t="-67" r="4" b="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/>
          <p:cNvCxnSpPr/>
          <p:nvPr/>
        </p:nvCxnSpPr>
        <p:spPr>
          <a:xfrm>
            <a:off x="8799639" y="5837592"/>
            <a:ext cx="527241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灯片编号占位符 1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F69888C-E133-43D9-A638-B5C95925B91C}" type="slidenum">
              <a:rPr lang="zh-CN" altLang="en-US" smtClean="0"/>
              <a:t>13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566961" y="265803"/>
            <a:ext cx="7440283" cy="426497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4000" dirty="0"/>
              <a:t>1</a:t>
            </a:r>
            <a:r>
              <a:rPr lang="zh-CN" altLang="en-US" sz="4000" dirty="0"/>
              <a:t>、</a:t>
            </a:r>
            <a:r>
              <a:rPr lang="zh-CN" altLang="en-US" sz="4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模型选择</a:t>
            </a:r>
          </a:p>
        </p:txBody>
      </p:sp>
      <p:sp>
        <p:nvSpPr>
          <p:cNvPr id="12" name="AutoShape 4" descr="[公式]"/>
          <p:cNvSpPr>
            <a:spLocks noChangeAspect="1" noChangeArrowheads="1"/>
          </p:cNvSpPr>
          <p:nvPr/>
        </p:nvSpPr>
        <p:spPr bwMode="auto">
          <a:xfrm>
            <a:off x="4013200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4" name="文本框 119"/>
          <p:cNvSpPr txBox="1"/>
          <p:nvPr/>
        </p:nvSpPr>
        <p:spPr>
          <a:xfrm>
            <a:off x="353516" y="894680"/>
            <a:ext cx="9047302" cy="565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spc="-10" dirty="0">
                <a:solidFill>
                  <a:schemeClr val="accent1"/>
                </a:solidFill>
                <a:latin typeface="+mn-ea"/>
              </a:rPr>
              <a:t>（</a:t>
            </a:r>
            <a:r>
              <a:rPr lang="en-US" altLang="zh-CN" sz="2800" b="1" spc="-10" dirty="0">
                <a:solidFill>
                  <a:schemeClr val="accent1"/>
                </a:solidFill>
                <a:latin typeface="+mn-ea"/>
              </a:rPr>
              <a:t>2</a:t>
            </a:r>
            <a:r>
              <a:rPr lang="zh-CN" altLang="en-US" sz="2800" b="1" spc="-10" dirty="0">
                <a:solidFill>
                  <a:schemeClr val="accent1"/>
                </a:solidFill>
                <a:latin typeface="+mn-ea"/>
              </a:rPr>
              <a:t>）</a:t>
            </a:r>
            <a:r>
              <a:rPr lang="en-US" altLang="zh-CN" sz="2800" b="1" spc="-10" dirty="0">
                <a:solidFill>
                  <a:schemeClr val="accent1"/>
                </a:solidFill>
                <a:latin typeface="+mn-ea"/>
              </a:rPr>
              <a:t>. ROC</a:t>
            </a:r>
            <a:r>
              <a:rPr lang="zh-CN" altLang="en-US" sz="2800" b="1" spc="-10" dirty="0">
                <a:solidFill>
                  <a:schemeClr val="accent1"/>
                </a:solidFill>
                <a:latin typeface="+mn-ea"/>
              </a:rPr>
              <a:t>与</a:t>
            </a:r>
            <a:r>
              <a:rPr lang="en-US" altLang="zh-CN" sz="2800" b="1" spc="-10" dirty="0">
                <a:solidFill>
                  <a:schemeClr val="accent1"/>
                </a:solidFill>
                <a:latin typeface="+mn-ea"/>
              </a:rPr>
              <a:t>AUC</a:t>
            </a:r>
          </a:p>
        </p:txBody>
      </p:sp>
      <p:sp>
        <p:nvSpPr>
          <p:cNvPr id="21" name="文本框 119"/>
          <p:cNvSpPr txBox="1"/>
          <p:nvPr/>
        </p:nvSpPr>
        <p:spPr>
          <a:xfrm>
            <a:off x="644435" y="1368778"/>
            <a:ext cx="11194049" cy="9411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2400" spc="-10" dirty="0">
                <a:latin typeface="+mn-ea"/>
              </a:rPr>
              <a:t>很多模型为样本产生一个</a:t>
            </a:r>
            <a:r>
              <a:rPr lang="zh-CN" altLang="en-US" sz="2400" b="1" spc="-10" dirty="0">
                <a:solidFill>
                  <a:srgbClr val="FF0000"/>
                </a:solidFill>
                <a:latin typeface="+mn-ea"/>
              </a:rPr>
              <a:t>预测值</a:t>
            </a:r>
            <a:r>
              <a:rPr lang="zh-CN" altLang="en-US" sz="2400" spc="-10" dirty="0">
                <a:latin typeface="+mn-ea"/>
              </a:rPr>
              <a:t>，若该预测值大于一个选定的</a:t>
            </a:r>
            <a:r>
              <a:rPr lang="zh-CN" altLang="en-US" sz="2400" b="1" spc="-10" dirty="0">
                <a:solidFill>
                  <a:srgbClr val="FF0000"/>
                </a:solidFill>
                <a:latin typeface="+mn-ea"/>
              </a:rPr>
              <a:t>分类阈值</a:t>
            </a:r>
            <a:r>
              <a:rPr lang="zh-CN" altLang="en-US" sz="2400" spc="-10" dirty="0">
                <a:latin typeface="+mn-ea"/>
              </a:rPr>
              <a:t>，则判为正例，否则为反例</a:t>
            </a:r>
            <a:endParaRPr lang="en-US" altLang="zh-CN" sz="2400" spc="-10" dirty="0">
              <a:latin typeface="+mn-ea"/>
            </a:endParaRPr>
          </a:p>
        </p:txBody>
      </p:sp>
      <p:sp>
        <p:nvSpPr>
          <p:cNvPr id="15" name="文本框 119"/>
          <p:cNvSpPr txBox="1"/>
          <p:nvPr/>
        </p:nvSpPr>
        <p:spPr>
          <a:xfrm>
            <a:off x="566961" y="2354634"/>
            <a:ext cx="11194049" cy="9411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2400" spc="-10" dirty="0">
                <a:latin typeface="+mn-ea"/>
              </a:rPr>
              <a:t>根据预测值的大小可对样本进行</a:t>
            </a:r>
            <a:r>
              <a:rPr lang="zh-CN" altLang="en-US" sz="2400" b="1" spc="-10" dirty="0">
                <a:solidFill>
                  <a:srgbClr val="C00000"/>
                </a:solidFill>
                <a:latin typeface="+mn-ea"/>
              </a:rPr>
              <a:t>排序</a:t>
            </a:r>
            <a:r>
              <a:rPr lang="zh-CN" altLang="en-US" sz="2400" spc="-10" dirty="0">
                <a:latin typeface="+mn-ea"/>
              </a:rPr>
              <a:t>，针对不同任务可采用不同阈值来截断，而该排序体现了模型在一般情况下的泛化性能的好坏</a:t>
            </a:r>
            <a:endParaRPr lang="en-US" altLang="zh-CN" sz="2400" spc="-10" dirty="0">
              <a:latin typeface="+mn-ea"/>
            </a:endParaRPr>
          </a:p>
        </p:txBody>
      </p:sp>
      <p:sp>
        <p:nvSpPr>
          <p:cNvPr id="16" name="文本框 119"/>
          <p:cNvSpPr txBox="1"/>
          <p:nvPr/>
        </p:nvSpPr>
        <p:spPr>
          <a:xfrm>
            <a:off x="566961" y="3484053"/>
            <a:ext cx="11194049" cy="9411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altLang="zh-CN" sz="2400" b="1" spc="-10" dirty="0">
                <a:solidFill>
                  <a:srgbClr val="C00000"/>
                </a:solidFill>
                <a:latin typeface="+mn-ea"/>
              </a:rPr>
              <a:t>ROC</a:t>
            </a:r>
            <a:r>
              <a:rPr lang="zh-CN" altLang="en-US" sz="2400" spc="-10" dirty="0">
                <a:latin typeface="+mn-ea"/>
              </a:rPr>
              <a:t>（</a:t>
            </a:r>
            <a:r>
              <a:rPr lang="en-US" altLang="zh-CN" sz="2400" spc="-10" dirty="0">
                <a:latin typeface="+mn-ea"/>
              </a:rPr>
              <a:t>Receiver</a:t>
            </a:r>
            <a:r>
              <a:rPr lang="zh-CN" altLang="en-US" sz="2400" spc="-10" dirty="0">
                <a:latin typeface="+mn-ea"/>
              </a:rPr>
              <a:t> </a:t>
            </a:r>
            <a:r>
              <a:rPr lang="en-US" altLang="zh-CN" sz="2400" spc="-10" dirty="0" err="1">
                <a:latin typeface="+mn-ea"/>
              </a:rPr>
              <a:t>Rperating</a:t>
            </a:r>
            <a:r>
              <a:rPr lang="zh-CN" altLang="en-US" sz="2400" spc="-10" dirty="0">
                <a:latin typeface="+mn-ea"/>
              </a:rPr>
              <a:t> </a:t>
            </a:r>
            <a:r>
              <a:rPr lang="en-US" altLang="zh-CN" sz="2400" spc="-10" dirty="0">
                <a:latin typeface="+mn-ea"/>
              </a:rPr>
              <a:t>Characteristic</a:t>
            </a:r>
            <a:r>
              <a:rPr lang="zh-CN" altLang="en-US" sz="2400" spc="-10" dirty="0">
                <a:latin typeface="+mn-ea"/>
              </a:rPr>
              <a:t>，受试者工作特征）</a:t>
            </a:r>
            <a:r>
              <a:rPr lang="zh-CN" altLang="en-US" sz="2400" b="1" spc="-10" dirty="0">
                <a:solidFill>
                  <a:srgbClr val="C00000"/>
                </a:solidFill>
                <a:latin typeface="+mn-ea"/>
              </a:rPr>
              <a:t>曲线</a:t>
            </a:r>
            <a:r>
              <a:rPr lang="zh-CN" altLang="en-US" sz="2400" spc="-10" dirty="0">
                <a:latin typeface="+mn-ea"/>
              </a:rPr>
              <a:t>可用于度量该模型的泛化性能</a:t>
            </a:r>
            <a:endParaRPr lang="en-US" altLang="zh-CN" sz="2400" spc="-10" dirty="0">
              <a:latin typeface="+mn-ea"/>
            </a:endParaRPr>
          </a:p>
        </p:txBody>
      </p:sp>
      <p:sp>
        <p:nvSpPr>
          <p:cNvPr id="17" name="文本框 119"/>
          <p:cNvSpPr txBox="1"/>
          <p:nvPr/>
        </p:nvSpPr>
        <p:spPr>
          <a:xfrm>
            <a:off x="979714" y="4548068"/>
            <a:ext cx="11055531" cy="49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spc="-10" dirty="0">
                <a:solidFill>
                  <a:srgbClr val="C00000"/>
                </a:solidFill>
                <a:latin typeface="+mn-ea"/>
              </a:rPr>
              <a:t>ROC</a:t>
            </a:r>
            <a:r>
              <a:rPr lang="zh-CN" altLang="en-US" sz="2400" spc="-10" dirty="0">
                <a:latin typeface="+mn-ea"/>
              </a:rPr>
              <a:t>曲线的纵轴是“</a:t>
            </a:r>
            <a:r>
              <a:rPr lang="zh-CN" altLang="en-US" sz="2400" spc="-10" dirty="0">
                <a:solidFill>
                  <a:srgbClr val="C00000"/>
                </a:solidFill>
                <a:latin typeface="+mn-ea"/>
              </a:rPr>
              <a:t>真正例率</a:t>
            </a:r>
            <a:r>
              <a:rPr lang="zh-CN" altLang="en-US" sz="2400" spc="-10" dirty="0">
                <a:latin typeface="+mn-ea"/>
              </a:rPr>
              <a:t>”（</a:t>
            </a:r>
            <a:r>
              <a:rPr lang="en-US" altLang="zh-CN" sz="2400" spc="-10" dirty="0">
                <a:latin typeface="+mn-ea"/>
              </a:rPr>
              <a:t>True</a:t>
            </a:r>
            <a:r>
              <a:rPr lang="zh-CN" altLang="en-US" sz="2400" spc="-10" dirty="0">
                <a:latin typeface="+mn-ea"/>
              </a:rPr>
              <a:t> </a:t>
            </a:r>
            <a:r>
              <a:rPr lang="en-US" altLang="zh-CN" sz="2400" spc="-10" dirty="0">
                <a:latin typeface="+mn-ea"/>
              </a:rPr>
              <a:t>Positive</a:t>
            </a:r>
            <a:r>
              <a:rPr lang="zh-CN" altLang="en-US" sz="2400" spc="-10" dirty="0">
                <a:latin typeface="+mn-ea"/>
              </a:rPr>
              <a:t> </a:t>
            </a:r>
            <a:r>
              <a:rPr lang="en-US" altLang="zh-CN" sz="2400" spc="-10" dirty="0">
                <a:latin typeface="+mn-ea"/>
              </a:rPr>
              <a:t>Rate</a:t>
            </a:r>
            <a:r>
              <a:rPr lang="zh-CN" altLang="en-US" sz="2400" spc="-10" dirty="0">
                <a:latin typeface="+mn-ea"/>
              </a:rPr>
              <a:t>，</a:t>
            </a:r>
            <a:r>
              <a:rPr lang="en-US" altLang="zh-CN" sz="2400" spc="-10" dirty="0">
                <a:solidFill>
                  <a:srgbClr val="C00000"/>
                </a:solidFill>
                <a:latin typeface="+mn-ea"/>
              </a:rPr>
              <a:t>TPR</a:t>
            </a:r>
            <a:r>
              <a:rPr lang="zh-CN" altLang="en-US" sz="2400" spc="-10" dirty="0">
                <a:latin typeface="+mn-ea"/>
              </a:rPr>
              <a:t>）</a:t>
            </a:r>
            <a:endParaRPr lang="en-US" altLang="zh-CN" sz="2400" spc="-10" dirty="0">
              <a:latin typeface="+mn-ea"/>
            </a:endParaRPr>
          </a:p>
        </p:txBody>
      </p:sp>
      <p:sp>
        <p:nvSpPr>
          <p:cNvPr id="18" name="文本框 119"/>
          <p:cNvSpPr txBox="1"/>
          <p:nvPr/>
        </p:nvSpPr>
        <p:spPr>
          <a:xfrm>
            <a:off x="979714" y="5433880"/>
            <a:ext cx="11055531" cy="49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spc="-10" dirty="0">
                <a:solidFill>
                  <a:srgbClr val="C00000"/>
                </a:solidFill>
                <a:latin typeface="+mn-ea"/>
              </a:rPr>
              <a:t>ROC</a:t>
            </a:r>
            <a:r>
              <a:rPr lang="zh-CN" altLang="en-US" sz="2400" spc="-10" dirty="0">
                <a:latin typeface="+mn-ea"/>
              </a:rPr>
              <a:t>曲线的横轴是“</a:t>
            </a:r>
            <a:r>
              <a:rPr lang="zh-CN" altLang="en-US" sz="2400" spc="-10" dirty="0">
                <a:solidFill>
                  <a:srgbClr val="C00000"/>
                </a:solidFill>
                <a:latin typeface="+mn-ea"/>
              </a:rPr>
              <a:t>假正例率</a:t>
            </a:r>
            <a:r>
              <a:rPr lang="zh-CN" altLang="en-US" sz="2400" spc="-10" dirty="0">
                <a:latin typeface="+mn-ea"/>
              </a:rPr>
              <a:t>”（</a:t>
            </a:r>
            <a:r>
              <a:rPr lang="en-US" altLang="zh-CN" sz="2400" spc="-10" dirty="0">
                <a:latin typeface="+mn-ea"/>
              </a:rPr>
              <a:t>False</a:t>
            </a:r>
            <a:r>
              <a:rPr lang="zh-CN" altLang="en-US" sz="2400" spc="-10" dirty="0">
                <a:latin typeface="+mn-ea"/>
              </a:rPr>
              <a:t> </a:t>
            </a:r>
            <a:r>
              <a:rPr lang="en-US" altLang="zh-CN" sz="2400" spc="-10" dirty="0">
                <a:latin typeface="+mn-ea"/>
              </a:rPr>
              <a:t>Positive</a:t>
            </a:r>
            <a:r>
              <a:rPr lang="zh-CN" altLang="en-US" sz="2400" spc="-10" dirty="0">
                <a:latin typeface="+mn-ea"/>
              </a:rPr>
              <a:t> </a:t>
            </a:r>
            <a:r>
              <a:rPr lang="en-US" altLang="zh-CN" sz="2400" spc="-10" dirty="0">
                <a:latin typeface="+mn-ea"/>
              </a:rPr>
              <a:t>Rate</a:t>
            </a:r>
            <a:r>
              <a:rPr lang="zh-CN" altLang="en-US" sz="2400" spc="-10" dirty="0">
                <a:latin typeface="+mn-ea"/>
              </a:rPr>
              <a:t>，</a:t>
            </a:r>
            <a:r>
              <a:rPr lang="en-US" altLang="zh-CN" sz="2400" spc="-10" dirty="0">
                <a:solidFill>
                  <a:srgbClr val="C00000"/>
                </a:solidFill>
                <a:latin typeface="+mn-ea"/>
              </a:rPr>
              <a:t>FPR</a:t>
            </a:r>
            <a:r>
              <a:rPr lang="zh-CN" altLang="en-US" sz="2400" spc="-10" dirty="0">
                <a:latin typeface="+mn-ea"/>
              </a:rPr>
              <a:t>）</a:t>
            </a:r>
            <a:endParaRPr lang="en-US" altLang="zh-CN" sz="2400" spc="-10" dirty="0"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9523218" y="4425208"/>
                <a:ext cx="2237792" cy="697627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𝑇𝑃𝑅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3218" y="4425208"/>
                <a:ext cx="2237792" cy="697627"/>
              </a:xfrm>
              <a:prstGeom prst="rect">
                <a:avLst/>
              </a:prstGeom>
              <a:blipFill rotWithShape="1">
                <a:blip r:embed="rId3"/>
                <a:stretch>
                  <a:fillRect l="-5" t="-76" r="-4107" b="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9523218" y="5330011"/>
                <a:ext cx="2242601" cy="697627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𝐹𝑃𝑅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𝐹𝑃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𝑇𝑁</m:t>
                          </m:r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𝐹𝑃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3218" y="5330011"/>
                <a:ext cx="2242601" cy="697627"/>
              </a:xfrm>
              <a:prstGeom prst="rect">
                <a:avLst/>
              </a:prstGeom>
              <a:blipFill rotWithShape="1">
                <a:blip r:embed="rId4"/>
                <a:stretch>
                  <a:fillRect l="-5" t="-65" r="-4082" b="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灯片编号占位符 2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F69888C-E133-43D9-A638-B5C95925B91C}" type="slidenum">
              <a:rPr lang="zh-CN" altLang="en-US" smtClean="0"/>
              <a:t>14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  <p:bldP spid="2" grpId="0" animBg="1"/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566961" y="265803"/>
            <a:ext cx="7440283" cy="426497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4000" dirty="0"/>
              <a:t>1</a:t>
            </a:r>
            <a:r>
              <a:rPr lang="zh-CN" altLang="en-US" sz="4000" dirty="0"/>
              <a:t>、</a:t>
            </a:r>
            <a:r>
              <a:rPr lang="zh-CN" altLang="en-US" sz="4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模型选择</a:t>
            </a:r>
          </a:p>
        </p:txBody>
      </p:sp>
      <p:sp>
        <p:nvSpPr>
          <p:cNvPr id="12" name="AutoShape 4" descr="[公式]"/>
          <p:cNvSpPr>
            <a:spLocks noChangeAspect="1" noChangeArrowheads="1"/>
          </p:cNvSpPr>
          <p:nvPr/>
        </p:nvSpPr>
        <p:spPr bwMode="auto">
          <a:xfrm>
            <a:off x="4013200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4" name="文本框 119"/>
          <p:cNvSpPr txBox="1"/>
          <p:nvPr/>
        </p:nvSpPr>
        <p:spPr>
          <a:xfrm>
            <a:off x="353516" y="894680"/>
            <a:ext cx="9047302" cy="565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spc="-10" dirty="0">
                <a:solidFill>
                  <a:schemeClr val="accent1"/>
                </a:solidFill>
                <a:latin typeface="+mn-ea"/>
              </a:rPr>
              <a:t>（</a:t>
            </a:r>
            <a:r>
              <a:rPr lang="en-US" altLang="zh-CN" sz="2800" b="1" spc="-10" dirty="0">
                <a:solidFill>
                  <a:schemeClr val="accent1"/>
                </a:solidFill>
                <a:latin typeface="+mn-ea"/>
              </a:rPr>
              <a:t>2</a:t>
            </a:r>
            <a:r>
              <a:rPr lang="zh-CN" altLang="en-US" sz="2800" b="1" spc="-10" dirty="0">
                <a:solidFill>
                  <a:schemeClr val="accent1"/>
                </a:solidFill>
                <a:latin typeface="+mn-ea"/>
              </a:rPr>
              <a:t>）</a:t>
            </a:r>
            <a:r>
              <a:rPr lang="en-US" altLang="zh-CN" sz="2800" b="1" spc="-10" dirty="0">
                <a:solidFill>
                  <a:schemeClr val="accent1"/>
                </a:solidFill>
                <a:latin typeface="+mn-ea"/>
              </a:rPr>
              <a:t>. ROC</a:t>
            </a:r>
            <a:r>
              <a:rPr lang="zh-CN" altLang="en-US" sz="2800" b="1" spc="-10" dirty="0">
                <a:solidFill>
                  <a:schemeClr val="accent1"/>
                </a:solidFill>
                <a:latin typeface="+mn-ea"/>
              </a:rPr>
              <a:t>与</a:t>
            </a:r>
            <a:r>
              <a:rPr lang="en-US" altLang="zh-CN" sz="2800" b="1" spc="-10" dirty="0">
                <a:solidFill>
                  <a:schemeClr val="accent1"/>
                </a:solidFill>
                <a:latin typeface="+mn-ea"/>
              </a:rPr>
              <a:t>AUC</a:t>
            </a:r>
          </a:p>
        </p:txBody>
      </p:sp>
      <p:sp>
        <p:nvSpPr>
          <p:cNvPr id="15" name="文本框 119"/>
          <p:cNvSpPr txBox="1"/>
          <p:nvPr/>
        </p:nvSpPr>
        <p:spPr>
          <a:xfrm>
            <a:off x="2657725" y="5885282"/>
            <a:ext cx="3015750" cy="430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spc="-10" dirty="0">
                <a:solidFill>
                  <a:schemeClr val="accent1"/>
                </a:solidFill>
                <a:latin typeface="+mn-ea"/>
              </a:rPr>
              <a:t>ROC</a:t>
            </a:r>
            <a:r>
              <a:rPr lang="zh-CN" altLang="en-US" sz="2000" spc="-10" dirty="0">
                <a:solidFill>
                  <a:schemeClr val="accent1"/>
                </a:solidFill>
                <a:latin typeface="+mn-ea"/>
              </a:rPr>
              <a:t>曲线与</a:t>
            </a:r>
            <a:r>
              <a:rPr lang="en-US" altLang="zh-CN" sz="2000" spc="-10" dirty="0">
                <a:solidFill>
                  <a:schemeClr val="accent1"/>
                </a:solidFill>
                <a:latin typeface="+mn-ea"/>
              </a:rPr>
              <a:t>AUC</a:t>
            </a:r>
            <a:r>
              <a:rPr lang="zh-CN" altLang="en-US" sz="2000" spc="-10" dirty="0">
                <a:solidFill>
                  <a:schemeClr val="accent1"/>
                </a:solidFill>
                <a:latin typeface="+mn-ea"/>
              </a:rPr>
              <a:t>示意图</a:t>
            </a:r>
            <a:endParaRPr lang="en-US" altLang="zh-CN" sz="2000" spc="-10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13" name="文本框 119"/>
          <p:cNvSpPr txBox="1"/>
          <p:nvPr/>
        </p:nvSpPr>
        <p:spPr>
          <a:xfrm>
            <a:off x="779689" y="1552625"/>
            <a:ext cx="11055531" cy="9411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spc="-10" dirty="0">
                <a:latin typeface="+mn-ea"/>
              </a:rPr>
              <a:t>ROC</a:t>
            </a:r>
            <a:r>
              <a:rPr lang="zh-CN" altLang="en-US" sz="2400" spc="-10" dirty="0">
                <a:latin typeface="+mn-ea"/>
              </a:rPr>
              <a:t>曲线的纵轴是</a:t>
            </a:r>
            <a:r>
              <a:rPr lang="zh-CN" altLang="en-US" sz="2400" spc="-10" dirty="0">
                <a:solidFill>
                  <a:srgbClr val="C00000"/>
                </a:solidFill>
                <a:latin typeface="+mn-ea"/>
              </a:rPr>
              <a:t>真正例率</a:t>
            </a:r>
            <a:r>
              <a:rPr lang="zh-CN" altLang="en-US" sz="2400" spc="-10" dirty="0">
                <a:latin typeface="+mn-ea"/>
              </a:rPr>
              <a:t>（</a:t>
            </a:r>
            <a:r>
              <a:rPr lang="en-US" altLang="zh-CN" sz="2400" spc="-10" dirty="0">
                <a:solidFill>
                  <a:srgbClr val="C00000"/>
                </a:solidFill>
                <a:latin typeface="+mn-ea"/>
              </a:rPr>
              <a:t>TPR</a:t>
            </a:r>
            <a:r>
              <a:rPr lang="zh-CN" altLang="en-US" sz="2400" spc="-10" dirty="0">
                <a:latin typeface="+mn-ea"/>
              </a:rPr>
              <a:t>），横轴是</a:t>
            </a:r>
            <a:r>
              <a:rPr lang="zh-CN" altLang="en-US" sz="2400" spc="-10" dirty="0">
                <a:solidFill>
                  <a:srgbClr val="C00000"/>
                </a:solidFill>
                <a:latin typeface="+mn-ea"/>
              </a:rPr>
              <a:t>假正例率</a:t>
            </a:r>
            <a:r>
              <a:rPr lang="zh-CN" altLang="en-US" sz="2400" spc="-10" dirty="0">
                <a:latin typeface="+mn-ea"/>
              </a:rPr>
              <a:t>（</a:t>
            </a:r>
            <a:r>
              <a:rPr lang="en-US" altLang="zh-CN" sz="2400" spc="-10" dirty="0">
                <a:solidFill>
                  <a:srgbClr val="C00000"/>
                </a:solidFill>
                <a:latin typeface="+mn-ea"/>
              </a:rPr>
              <a:t>FPR</a:t>
            </a:r>
            <a:r>
              <a:rPr lang="zh-CN" altLang="en-US" sz="2400" spc="-10" dirty="0">
                <a:latin typeface="+mn-ea"/>
              </a:rPr>
              <a:t>），将分类阈值从预测值的最大值逐步取到最小值，可得到</a:t>
            </a:r>
            <a:r>
              <a:rPr lang="en-US" altLang="zh-CN" sz="2400" spc="-10" dirty="0">
                <a:latin typeface="+mn-ea"/>
              </a:rPr>
              <a:t>ROC</a:t>
            </a:r>
            <a:r>
              <a:rPr lang="zh-CN" altLang="en-US" sz="2400" spc="-10" dirty="0">
                <a:latin typeface="+mn-ea"/>
              </a:rPr>
              <a:t>曲线</a:t>
            </a:r>
            <a:endParaRPr lang="en-US" altLang="zh-CN" sz="2400" spc="-10" dirty="0">
              <a:latin typeface="+mn-ea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641"/>
          <a:stretch>
            <a:fillRect/>
          </a:stretch>
        </p:blipFill>
        <p:spPr bwMode="auto">
          <a:xfrm>
            <a:off x="641744" y="2517567"/>
            <a:ext cx="6895296" cy="3343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文本框 119"/>
          <p:cNvSpPr txBox="1"/>
          <p:nvPr/>
        </p:nvSpPr>
        <p:spPr>
          <a:xfrm>
            <a:off x="8007244" y="2586186"/>
            <a:ext cx="4294701" cy="1827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400" spc="-10" dirty="0">
                <a:latin typeface="+mn-ea"/>
              </a:rPr>
              <a:t>AUC</a:t>
            </a:r>
            <a:r>
              <a:rPr lang="zh-CN" altLang="en-US" sz="2400" spc="-10" dirty="0">
                <a:latin typeface="+mn-ea"/>
              </a:rPr>
              <a:t>（</a:t>
            </a:r>
            <a:r>
              <a:rPr lang="en-US" altLang="zh-CN" sz="2400" spc="-10" dirty="0">
                <a:latin typeface="+mn-ea"/>
              </a:rPr>
              <a:t>Area</a:t>
            </a:r>
            <a:r>
              <a:rPr lang="zh-CN" altLang="en-US" sz="2400" spc="-10" dirty="0">
                <a:latin typeface="+mn-ea"/>
              </a:rPr>
              <a:t> </a:t>
            </a:r>
            <a:r>
              <a:rPr lang="en-US" altLang="zh-CN" sz="2400" spc="-10" dirty="0">
                <a:latin typeface="+mn-ea"/>
              </a:rPr>
              <a:t>Under</a:t>
            </a:r>
            <a:r>
              <a:rPr lang="zh-CN" altLang="en-US" sz="2400" spc="-10" dirty="0">
                <a:latin typeface="+mn-ea"/>
              </a:rPr>
              <a:t> </a:t>
            </a:r>
            <a:r>
              <a:rPr lang="en-US" altLang="zh-CN" sz="2400" spc="-10" dirty="0">
                <a:latin typeface="+mn-ea"/>
              </a:rPr>
              <a:t>ROC</a:t>
            </a:r>
            <a:r>
              <a:rPr lang="zh-CN" altLang="en-US" sz="2400" spc="-10" dirty="0">
                <a:latin typeface="+mn-ea"/>
              </a:rPr>
              <a:t> </a:t>
            </a:r>
            <a:r>
              <a:rPr lang="en-US" altLang="zh-CN" sz="2400" spc="-10" dirty="0">
                <a:latin typeface="+mn-ea"/>
              </a:rPr>
              <a:t>Curve</a:t>
            </a:r>
            <a:r>
              <a:rPr lang="zh-CN" altLang="en-US" sz="2400" spc="-10" dirty="0">
                <a:latin typeface="+mn-ea"/>
              </a:rPr>
              <a:t>）表示的是</a:t>
            </a:r>
            <a:r>
              <a:rPr lang="en-US" altLang="zh-CN" sz="2400" spc="-10" dirty="0">
                <a:latin typeface="+mn-ea"/>
              </a:rPr>
              <a:t>ROC</a:t>
            </a:r>
            <a:r>
              <a:rPr lang="zh-CN" altLang="en-US" sz="2400" spc="-10" dirty="0">
                <a:latin typeface="+mn-ea"/>
              </a:rPr>
              <a:t>曲线下的面积，可用于比较不同模型泛化性能</a:t>
            </a:r>
            <a:endParaRPr lang="en-US" altLang="zh-CN" sz="2400" spc="-10" dirty="0"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7687392" y="4729459"/>
                <a:ext cx="4657429" cy="103752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AUC</m:t>
                      </m:r>
                      <m:r>
                        <a:rPr lang="en-US" altLang="zh-CN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CN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)(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altLang="zh-CN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7392" y="4729459"/>
                <a:ext cx="4657429" cy="1037528"/>
              </a:xfrm>
              <a:prstGeom prst="rect">
                <a:avLst/>
              </a:prstGeom>
              <a:blipFill rotWithShape="1">
                <a:blip r:embed="rId4"/>
                <a:stretch>
                  <a:fillRect l="-2" t="-59" r="-2159" b="-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F69888C-E133-43D9-A638-B5C95925B91C}" type="slidenum">
              <a:rPr lang="zh-CN" altLang="en-US" smtClean="0"/>
              <a:t>15</a:t>
            </a:fld>
            <a:endParaRPr lang="zh-CN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566961" y="265803"/>
            <a:ext cx="7440283" cy="426497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4000" dirty="0"/>
              <a:t>1</a:t>
            </a:r>
            <a:r>
              <a:rPr lang="zh-CN" altLang="en-US" sz="4000" dirty="0"/>
              <a:t>、</a:t>
            </a:r>
            <a:r>
              <a:rPr lang="zh-CN" altLang="en-US" sz="4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模型选择</a:t>
            </a:r>
          </a:p>
        </p:txBody>
      </p:sp>
      <p:sp>
        <p:nvSpPr>
          <p:cNvPr id="12" name="AutoShape 4" descr="[公式]"/>
          <p:cNvSpPr>
            <a:spLocks noChangeAspect="1" noChangeArrowheads="1"/>
          </p:cNvSpPr>
          <p:nvPr/>
        </p:nvSpPr>
        <p:spPr bwMode="auto">
          <a:xfrm>
            <a:off x="4013200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4" name="文本框 119"/>
          <p:cNvSpPr txBox="1"/>
          <p:nvPr/>
        </p:nvSpPr>
        <p:spPr>
          <a:xfrm>
            <a:off x="353516" y="894680"/>
            <a:ext cx="9047302" cy="565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spc="-10" dirty="0">
                <a:solidFill>
                  <a:schemeClr val="accent1"/>
                </a:solidFill>
                <a:latin typeface="+mn-ea"/>
              </a:rPr>
              <a:t>（</a:t>
            </a:r>
            <a:r>
              <a:rPr lang="en-US" altLang="zh-CN" sz="2800" b="1" spc="-10" dirty="0">
                <a:solidFill>
                  <a:schemeClr val="accent1"/>
                </a:solidFill>
                <a:latin typeface="+mn-ea"/>
              </a:rPr>
              <a:t>3</a:t>
            </a:r>
            <a:r>
              <a:rPr lang="zh-CN" altLang="en-US" sz="2800" b="1" spc="-10">
                <a:solidFill>
                  <a:schemeClr val="accent1"/>
                </a:solidFill>
                <a:latin typeface="+mn-ea"/>
              </a:rPr>
              <a:t>）</a:t>
            </a:r>
            <a:r>
              <a:rPr lang="en-US" altLang="zh-CN" sz="2800" b="1" spc="-10">
                <a:solidFill>
                  <a:schemeClr val="accent1"/>
                </a:solidFill>
                <a:latin typeface="+mn-ea"/>
              </a:rPr>
              <a:t>. </a:t>
            </a:r>
            <a:r>
              <a:rPr lang="zh-CN" altLang="en-US" sz="2800" b="1" spc="-10" dirty="0">
                <a:solidFill>
                  <a:schemeClr val="accent1"/>
                </a:solidFill>
                <a:latin typeface="+mn-ea"/>
              </a:rPr>
              <a:t>代价敏感错误率</a:t>
            </a:r>
            <a:endParaRPr lang="en-US" altLang="zh-CN" sz="2800" b="1" spc="-10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13" name="文本框 119"/>
          <p:cNvSpPr txBox="1"/>
          <p:nvPr/>
        </p:nvSpPr>
        <p:spPr>
          <a:xfrm>
            <a:off x="779689" y="1552625"/>
            <a:ext cx="11055531" cy="49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spc="-10" dirty="0">
                <a:latin typeface="+mn-ea"/>
              </a:rPr>
              <a:t>现实任务的不同错误导致的后果不同，会产生不同的代价</a:t>
            </a:r>
            <a:endParaRPr lang="en-US" altLang="zh-CN" sz="2400" spc="-10" dirty="0"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le 5"/>
              <p:cNvGraphicFramePr>
                <a:graphicFrameLocks noGrp="1"/>
              </p:cNvGraphicFramePr>
              <p:nvPr/>
            </p:nvGraphicFramePr>
            <p:xfrm>
              <a:off x="3481977" y="2175843"/>
              <a:ext cx="4852125" cy="1828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1737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61737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61737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 rowSpan="2">
                      <a:txBody>
                        <a:bodyPr/>
                        <a:lstStyle/>
                        <a:p>
                          <a:pPr algn="ctr"/>
                          <a:endParaRPr lang="en-US" sz="2400" dirty="0"/>
                        </a:p>
                        <a:p>
                          <a:pPr algn="ctr"/>
                          <a:r>
                            <a:rPr lang="en-US" sz="2400" dirty="0"/>
                            <a:t>真实类别</a:t>
                          </a: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预测类别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正例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sz="2400" dirty="0"/>
                            <a:t>反例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sz="2400" dirty="0" err="1"/>
                            <a:t>正例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0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𝑐𝑜𝑠𝑡</m:t>
                                    </m:r>
                                  </m:e>
                                  <m:sub>
                                    <m:r>
                                      <a:rPr lang="en-US" altLang="zh-CN" sz="2400" b="0" i="0" smtClean="0">
                                        <a:latin typeface="Cambria Math" panose="02040503050406030204" pitchFamily="18" charset="0"/>
                                      </a:rPr>
                                      <m:t>01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sz="2400" dirty="0"/>
                            <a:t>反例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𝑐𝑜𝑠𝑡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0</a:t>
                          </a:r>
                          <a:endParaRPr lang="en-US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le 5"/>
              <p:cNvGraphicFramePr>
                <a:graphicFrameLocks noGrp="1"/>
              </p:cNvGraphicFramePr>
              <p:nvPr/>
            </p:nvGraphicFramePr>
            <p:xfrm>
              <a:off x="3481977" y="2175843"/>
              <a:ext cx="4852125" cy="1828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17375"/>
                    <a:gridCol w="1617375"/>
                    <a:gridCol w="1617375"/>
                  </a:tblGrid>
                  <a:tr h="370840">
                    <a:tc rowSpan="2">
                      <a:txBody>
                        <a:bodyPr/>
                        <a:lstStyle/>
                        <a:p>
                          <a:pPr algn="ctr"/>
                          <a:endParaRPr lang="en-US" sz="2400" dirty="0"/>
                        </a:p>
                        <a:p>
                          <a:pPr algn="ctr"/>
                          <a:r>
                            <a:rPr lang="en-US" sz="2400" dirty="0"/>
                            <a:t>真实类别</a:t>
                          </a:r>
                          <a:endParaRPr lang="en-US" sz="2400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预测类别</a:t>
                          </a:r>
                          <a:endParaRPr lang="en-US" sz="2400" dirty="0"/>
                        </a:p>
                      </a:txBody>
                      <a:tcPr/>
                    </a:tc>
                    <a:tc hMerge="1">
                      <a:tcPr/>
                    </a:tc>
                  </a:tr>
                  <a:tr h="370840">
                    <a:tc vMerge="1"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正例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sz="2400" dirty="0"/>
                            <a:t>反例</a:t>
                          </a:r>
                          <a:endParaRPr lang="en-US" sz="2400" dirty="0"/>
                        </a:p>
                      </a:txBody>
                      <a:tcPr/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sz="2400" dirty="0" err="1"/>
                            <a:t>正例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0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sz="2400" dirty="0"/>
                            <a:t>反例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0</a:t>
                          </a:r>
                          <a:endParaRPr lang="en-US" sz="24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17" name="文本框 119"/>
          <p:cNvSpPr txBox="1"/>
          <p:nvPr/>
        </p:nvSpPr>
        <p:spPr>
          <a:xfrm>
            <a:off x="4400164" y="3992150"/>
            <a:ext cx="3015750" cy="430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000" spc="-10" dirty="0">
                <a:solidFill>
                  <a:schemeClr val="accent1"/>
                </a:solidFill>
                <a:latin typeface="+mn-ea"/>
              </a:rPr>
              <a:t>二分类代价矩阵</a:t>
            </a:r>
            <a:endParaRPr lang="en-US" altLang="zh-CN" sz="2000" spc="-10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18" name="文本框 119"/>
          <p:cNvSpPr txBox="1"/>
          <p:nvPr/>
        </p:nvSpPr>
        <p:spPr>
          <a:xfrm>
            <a:off x="779689" y="4518470"/>
            <a:ext cx="11055531" cy="49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spc="-10" dirty="0">
                <a:latin typeface="+mn-ea"/>
              </a:rPr>
              <a:t>此时，对应的</a:t>
            </a:r>
            <a:r>
              <a:rPr lang="zh-CN" altLang="en-US" sz="2400" b="1" spc="-10" dirty="0">
                <a:solidFill>
                  <a:srgbClr val="C00000"/>
                </a:solidFill>
                <a:latin typeface="+mn-ea"/>
              </a:rPr>
              <a:t>“代价敏感”错误率</a:t>
            </a:r>
            <a:r>
              <a:rPr lang="zh-CN" altLang="en-US" sz="2400" spc="-10" dirty="0">
                <a:latin typeface="+mn-ea"/>
              </a:rPr>
              <a:t>为</a:t>
            </a:r>
            <a:endParaRPr lang="en-US" altLang="zh-CN" sz="2400" spc="-10" dirty="0"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79689" y="5178839"/>
                <a:ext cx="10484089" cy="9543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𝒟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𝑐𝑜𝑠𝑡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𝒟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</m:sup>
                              </m:sSup>
                            </m:sub>
                            <m:sup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𝕀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𝑐𝑜𝑠𝑡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01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𝒟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</m:sup>
                              </m:sSup>
                            </m:sub>
                            <m:sup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𝕀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𝑐𝑜𝑠𝑡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en-US" sz="2400" dirty="0">
                  <a:latin typeface="+mn-ea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689" y="5178839"/>
                <a:ext cx="10484089" cy="954300"/>
              </a:xfrm>
              <a:prstGeom prst="rect">
                <a:avLst/>
              </a:prstGeom>
              <a:blipFill rotWithShape="1">
                <a:blip r:embed="rId4"/>
                <a:stretch>
                  <a:fillRect l="-5" t="-43" r="-1277" b="-227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F69888C-E133-43D9-A638-B5C95925B91C}" type="slidenum">
              <a:rPr lang="zh-CN" altLang="en-US" smtClean="0"/>
              <a:t>16</a:t>
            </a:fld>
            <a:endParaRPr lang="zh-CN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566961" y="265803"/>
            <a:ext cx="7440283" cy="426497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4000" dirty="0"/>
              <a:t>1</a:t>
            </a:r>
            <a:r>
              <a:rPr lang="zh-CN" altLang="en-US" sz="4000" dirty="0"/>
              <a:t>、</a:t>
            </a:r>
            <a:r>
              <a:rPr lang="zh-CN" altLang="en-US" sz="4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模型选择</a:t>
            </a:r>
          </a:p>
        </p:txBody>
      </p:sp>
      <p:sp>
        <p:nvSpPr>
          <p:cNvPr id="12" name="AutoShape 4" descr="[公式]"/>
          <p:cNvSpPr>
            <a:spLocks noChangeAspect="1" noChangeArrowheads="1"/>
          </p:cNvSpPr>
          <p:nvPr/>
        </p:nvSpPr>
        <p:spPr bwMode="auto">
          <a:xfrm>
            <a:off x="4013200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19"/>
              <p:cNvSpPr txBox="1"/>
              <p:nvPr/>
            </p:nvSpPr>
            <p:spPr>
              <a:xfrm>
                <a:off x="784590" y="1142875"/>
                <a:ext cx="11195600" cy="16435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2800" b="1" spc="-10" dirty="0">
                    <a:solidFill>
                      <a:schemeClr val="accent1"/>
                    </a:solidFill>
                    <a:latin typeface="+mn-ea"/>
                  </a:rPr>
                  <a:t>测验：</a:t>
                </a:r>
                <a:r>
                  <a:rPr lang="zh-CN" altLang="en-US" sz="2800" spc="-10" dirty="0">
                    <a:solidFill>
                      <a:schemeClr val="tx1"/>
                    </a:solidFill>
                    <a:latin typeface="+mn-ea"/>
                  </a:rPr>
                  <a:t>在一个指纹门禁系统中，有</a:t>
                </a:r>
                <a:r>
                  <a:rPr lang="en-US" altLang="zh-CN" sz="2800" spc="-10" dirty="0">
                    <a:solidFill>
                      <a:schemeClr val="tx1"/>
                    </a:solidFill>
                    <a:latin typeface="+mn-ea"/>
                  </a:rPr>
                  <a:t>999990</a:t>
                </a:r>
                <a:r>
                  <a:rPr lang="zh-CN" altLang="en-US" sz="2800" spc="-10" dirty="0">
                    <a:solidFill>
                      <a:schemeClr val="tx1"/>
                    </a:solidFill>
                    <a:latin typeface="+mn-ea"/>
                  </a:rPr>
                  <a:t>个正常用户的正例样本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pc="-1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pc="-1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800" b="0" i="1" spc="-1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800" b="0" i="1" spc="-1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=+1</m:t>
                    </m:r>
                  </m:oMath>
                </a14:m>
                <a:r>
                  <a:rPr lang="zh-CN" altLang="en-US" sz="2800" spc="-10" dirty="0">
                    <a:solidFill>
                      <a:schemeClr val="tx1"/>
                    </a:solidFill>
                    <a:latin typeface="+mn-ea"/>
                  </a:rPr>
                  <a:t>，</a:t>
                </a:r>
                <a:r>
                  <a:rPr lang="en-US" altLang="zh-CN" sz="2800" spc="-10" dirty="0">
                    <a:solidFill>
                      <a:schemeClr val="tx1"/>
                    </a:solidFill>
                    <a:latin typeface="+mn-ea"/>
                  </a:rPr>
                  <a:t>10</a:t>
                </a:r>
                <a:r>
                  <a:rPr lang="zh-CN" altLang="en-US" sz="2800" spc="-10" dirty="0">
                    <a:solidFill>
                      <a:schemeClr val="tx1"/>
                    </a:solidFill>
                    <a:latin typeface="+mn-ea"/>
                  </a:rPr>
                  <a:t>个入侵者的反例样本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pc="-1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spc="-1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800" i="1" spc="-1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800" i="1" spc="-1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0" i="1" spc="-1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800" i="1" spc="-1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1 </m:t>
                    </m:r>
                  </m:oMath>
                </a14:m>
                <a:r>
                  <a:rPr lang="zh-CN" altLang="en-US" sz="2800" spc="-10" dirty="0">
                    <a:solidFill>
                      <a:schemeClr val="tx1"/>
                    </a:solidFill>
                    <a:latin typeface="+mn-ea"/>
                  </a:rPr>
                  <a:t>，若采用的模型</a:t>
                </a:r>
                <a14:m>
                  <m:oMath xmlns:m="http://schemas.openxmlformats.org/officeDocument/2006/math">
                    <m:r>
                      <a:rPr lang="en-US" altLang="zh-CN" sz="2800" b="0" i="1" spc="-1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CN" sz="2800" b="0" i="1" spc="-1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0" i="1" spc="-1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800" b="0" i="1" spc="-1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spc="-10" dirty="0">
                    <a:solidFill>
                      <a:schemeClr val="tx1"/>
                    </a:solidFill>
                    <a:latin typeface="+mn-ea"/>
                  </a:rPr>
                  <a:t>总是返回常数</a:t>
                </a:r>
                <a:r>
                  <a:rPr lang="en-US" altLang="zh-CN" sz="2800" spc="-10" dirty="0">
                    <a:solidFill>
                      <a:schemeClr val="tx1"/>
                    </a:solidFill>
                    <a:latin typeface="+mn-ea"/>
                  </a:rPr>
                  <a:t>+1</a:t>
                </a:r>
                <a:r>
                  <a:rPr lang="zh-CN" altLang="en-US" sz="2800" spc="-10" dirty="0">
                    <a:solidFill>
                      <a:schemeClr val="tx1"/>
                    </a:solidFill>
                    <a:latin typeface="+mn-ea"/>
                  </a:rPr>
                  <a:t>，那么该模型的代价敏感错误率为多少？</a:t>
                </a:r>
                <a:endParaRPr lang="en-US" altLang="zh-CN" sz="2800" b="1" spc="-10" dirty="0">
                  <a:solidFill>
                    <a:schemeClr val="accent1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14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590" y="1142875"/>
                <a:ext cx="11195600" cy="1643527"/>
              </a:xfrm>
              <a:prstGeom prst="rect">
                <a:avLst/>
              </a:prstGeom>
              <a:blipFill rotWithShape="1">
                <a:blip r:embed="rId3"/>
                <a:stretch>
                  <a:fillRect l="-3" t="-31" r="3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4"/>
              <p:cNvGraphicFramePr>
                <a:graphicFrameLocks noGrp="1"/>
              </p:cNvGraphicFramePr>
              <p:nvPr/>
            </p:nvGraphicFramePr>
            <p:xfrm>
              <a:off x="1675540" y="3429000"/>
              <a:ext cx="3919348" cy="1828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7983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7983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7983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97983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 rowSpan="2" gridSpan="2">
                      <a:txBody>
                        <a:bodyPr/>
                        <a:lstStyle/>
                        <a:p>
                          <a:pPr algn="ctr"/>
                          <a:endParaRPr lang="en-US" sz="2400" dirty="0"/>
                        </a:p>
                      </a:txBody>
                      <a:tcPr/>
                    </a:tc>
                    <a:tc rowSpan="2"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𝒈</m:t>
                                </m:r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 gridSpan="2"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+1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-1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 rowSpan="2">
                      <a:txBody>
                        <a:bodyPr/>
                        <a:lstStyle/>
                        <a:p>
                          <a:pPr algn="ctr"/>
                          <a:endParaRPr lang="en-US" sz="2400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+1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4"/>
              <p:cNvGraphicFramePr>
                <a:graphicFrameLocks noGrp="1"/>
              </p:cNvGraphicFramePr>
              <p:nvPr/>
            </p:nvGraphicFramePr>
            <p:xfrm>
              <a:off x="1675540" y="3429000"/>
              <a:ext cx="3919348" cy="1828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79837"/>
                    <a:gridCol w="979837"/>
                    <a:gridCol w="979837"/>
                    <a:gridCol w="979837"/>
                  </a:tblGrid>
                  <a:tr h="457200">
                    <a:tc rowSpan="2" gridSpan="2">
                      <a:txBody>
                        <a:bodyPr/>
                        <a:lstStyle/>
                        <a:p>
                          <a:pPr algn="ctr"/>
                          <a:endParaRPr lang="en-US" sz="2400" dirty="0"/>
                        </a:p>
                      </a:txBody>
                      <a:tcPr/>
                    </a:tc>
                    <a:tc rowSpan="2" hMerge="1"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  <a:tc hMerge="1">
                      <a:tcPr/>
                    </a:tc>
                  </a:tr>
                  <a:tr h="370840">
                    <a:tc vMerge="1" gridSpan="2">
                      <a:tcPr/>
                    </a:tc>
                    <a:tc vMerge="1" hMerge="1"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+1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-1</a:t>
                          </a:r>
                          <a:endParaRPr lang="en-US" sz="2400" dirty="0"/>
                        </a:p>
                      </a:txBody>
                      <a:tcPr/>
                    </a:tc>
                  </a:tr>
                  <a:tr h="457200">
                    <a:tc row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+1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en-US" sz="2400" dirty="0"/>
                        </a:p>
                      </a:txBody>
                      <a:tcPr/>
                    </a:tc>
                  </a:tr>
                  <a:tr h="370840">
                    <a:tc vMerge="1"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-1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1000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en-US" sz="24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15" name="文本框 119"/>
          <p:cNvSpPr txBox="1"/>
          <p:nvPr/>
        </p:nvSpPr>
        <p:spPr>
          <a:xfrm>
            <a:off x="7749152" y="2863461"/>
            <a:ext cx="2053323" cy="565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20000"/>
              </a:lnSpc>
              <a:buAutoNum type="alphaUcPeriod"/>
            </a:pPr>
            <a:r>
              <a:rPr lang="en-US" altLang="zh-CN" sz="2800" b="1" spc="-10" dirty="0">
                <a:solidFill>
                  <a:schemeClr val="accent1"/>
                </a:solidFill>
                <a:latin typeface="+mn-ea"/>
              </a:rPr>
              <a:t>0.001</a:t>
            </a:r>
          </a:p>
        </p:txBody>
      </p:sp>
      <p:sp>
        <p:nvSpPr>
          <p:cNvPr id="19" name="文本框 119"/>
          <p:cNvSpPr txBox="1"/>
          <p:nvPr/>
        </p:nvSpPr>
        <p:spPr>
          <a:xfrm>
            <a:off x="7749152" y="3519726"/>
            <a:ext cx="2053323" cy="565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spc="-10" dirty="0">
                <a:solidFill>
                  <a:schemeClr val="accent1"/>
                </a:solidFill>
                <a:latin typeface="+mn-ea"/>
              </a:rPr>
              <a:t>B. 0.01</a:t>
            </a:r>
          </a:p>
        </p:txBody>
      </p:sp>
      <p:sp>
        <p:nvSpPr>
          <p:cNvPr id="20" name="文本框 119"/>
          <p:cNvSpPr txBox="1"/>
          <p:nvPr/>
        </p:nvSpPr>
        <p:spPr>
          <a:xfrm>
            <a:off x="7749152" y="4175991"/>
            <a:ext cx="2053323" cy="565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spc="-10" dirty="0">
                <a:solidFill>
                  <a:schemeClr val="accent1"/>
                </a:solidFill>
                <a:latin typeface="+mn-ea"/>
              </a:rPr>
              <a:t>C. 0.1</a:t>
            </a:r>
          </a:p>
        </p:txBody>
      </p:sp>
      <p:sp>
        <p:nvSpPr>
          <p:cNvPr id="21" name="文本框 119"/>
          <p:cNvSpPr txBox="1"/>
          <p:nvPr/>
        </p:nvSpPr>
        <p:spPr>
          <a:xfrm>
            <a:off x="7749152" y="4832256"/>
            <a:ext cx="2053323" cy="565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spc="-10" dirty="0">
                <a:solidFill>
                  <a:schemeClr val="accent1"/>
                </a:solidFill>
                <a:latin typeface="+mn-ea"/>
              </a:rPr>
              <a:t>D. 1</a:t>
            </a:r>
          </a:p>
        </p:txBody>
      </p:sp>
      <p:sp>
        <p:nvSpPr>
          <p:cNvPr id="22" name="Text Box 314"/>
          <p:cNvSpPr txBox="1">
            <a:spLocks noChangeArrowheads="1"/>
          </p:cNvSpPr>
          <p:nvPr/>
        </p:nvSpPr>
        <p:spPr bwMode="auto">
          <a:xfrm>
            <a:off x="9092862" y="3348665"/>
            <a:ext cx="709613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5400" dirty="0">
                <a:solidFill>
                  <a:srgbClr val="FF3300"/>
                </a:solidFill>
                <a:sym typeface="Wingdings" panose="05000000000000000000" pitchFamily="2" charset="2"/>
              </a:rPr>
              <a:t></a:t>
            </a:r>
            <a:endParaRPr lang="en-US" altLang="zh-CN" sz="5400" dirty="0">
              <a:solidFill>
                <a:srgbClr val="FF3300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F69888C-E133-43D9-A638-B5C95925B91C}" type="slidenum">
              <a:rPr lang="zh-CN" altLang="en-US" smtClean="0"/>
              <a:t>17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566961" y="265803"/>
            <a:ext cx="7440283" cy="426497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4000" dirty="0"/>
              <a:t>1</a:t>
            </a:r>
            <a:r>
              <a:rPr lang="zh-CN" altLang="en-US" sz="4000" dirty="0"/>
              <a:t>、</a:t>
            </a:r>
            <a:r>
              <a:rPr lang="zh-CN" altLang="en-US" sz="4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模型选择</a:t>
            </a:r>
          </a:p>
        </p:txBody>
      </p:sp>
      <p:sp>
        <p:nvSpPr>
          <p:cNvPr id="12" name="AutoShape 4" descr="[公式]"/>
          <p:cNvSpPr>
            <a:spLocks noChangeAspect="1" noChangeArrowheads="1"/>
          </p:cNvSpPr>
          <p:nvPr/>
        </p:nvSpPr>
        <p:spPr bwMode="auto">
          <a:xfrm>
            <a:off x="4013200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4" name="文本框 119"/>
          <p:cNvSpPr txBox="1"/>
          <p:nvPr/>
        </p:nvSpPr>
        <p:spPr>
          <a:xfrm>
            <a:off x="498200" y="5553940"/>
            <a:ext cx="11195600" cy="565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800" b="1" spc="-10" dirty="0">
                <a:solidFill>
                  <a:schemeClr val="accent1"/>
                </a:solidFill>
                <a:latin typeface="+mn-ea"/>
              </a:rPr>
              <a:t>自学内容：</a:t>
            </a:r>
            <a:r>
              <a:rPr lang="zh-CN" altLang="en-US" sz="2800" spc="-10" dirty="0">
                <a:latin typeface="+mn-ea"/>
              </a:rPr>
              <a:t>西瓜书</a:t>
            </a:r>
            <a:r>
              <a:rPr lang="en-US" altLang="zh-CN" sz="2800" spc="-10" dirty="0">
                <a:latin typeface="+mn-ea"/>
              </a:rPr>
              <a:t>P37</a:t>
            </a:r>
            <a:r>
              <a:rPr lang="zh-CN" altLang="en-US" sz="2800" spc="-10" dirty="0">
                <a:latin typeface="+mn-ea"/>
              </a:rPr>
              <a:t>，</a:t>
            </a:r>
            <a:r>
              <a:rPr lang="en-US" altLang="zh-CN" sz="2800" spc="-10" dirty="0">
                <a:solidFill>
                  <a:schemeClr val="tx1"/>
                </a:solidFill>
                <a:latin typeface="+mn-ea"/>
              </a:rPr>
              <a:t>2.4</a:t>
            </a:r>
            <a:r>
              <a:rPr lang="zh-CN" altLang="en-US" sz="2800" spc="-10" dirty="0">
                <a:solidFill>
                  <a:schemeClr val="tx1"/>
                </a:solidFill>
                <a:latin typeface="+mn-ea"/>
              </a:rPr>
              <a:t>比较检验</a:t>
            </a:r>
            <a:endParaRPr lang="en-US" altLang="zh-CN" sz="2800" b="1" spc="-10" dirty="0">
              <a:solidFill>
                <a:schemeClr val="accent1"/>
              </a:solidFill>
              <a:latin typeface="+mn-e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5748" y="1212471"/>
            <a:ext cx="4362957" cy="3824597"/>
          </a:xfrm>
          <a:prstGeom prst="rect">
            <a:avLst/>
          </a:prstGeom>
        </p:spPr>
      </p:pic>
      <p:sp>
        <p:nvSpPr>
          <p:cNvPr id="13" name="文本框 119"/>
          <p:cNvSpPr txBox="1"/>
          <p:nvPr/>
        </p:nvSpPr>
        <p:spPr>
          <a:xfrm>
            <a:off x="6898860" y="5037068"/>
            <a:ext cx="4269845" cy="799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b="1" spc="-10" dirty="0" err="1">
                <a:latin typeface="+mn-ea"/>
              </a:rPr>
              <a:t>Xueming</a:t>
            </a:r>
            <a:r>
              <a:rPr lang="zh-CN" altLang="en-US" sz="2000" b="1" spc="-10" dirty="0">
                <a:latin typeface="+mn-ea"/>
              </a:rPr>
              <a:t> </a:t>
            </a:r>
            <a:r>
              <a:rPr lang="en-US" altLang="zh-CN" sz="2000" b="1" spc="-10" dirty="0">
                <a:latin typeface="+mn-ea"/>
              </a:rPr>
              <a:t>Liu </a:t>
            </a:r>
            <a:r>
              <a:rPr lang="en-US" altLang="zh-CN" sz="2000" spc="-10" dirty="0">
                <a:latin typeface="+mn-ea"/>
              </a:rPr>
              <a:t>et al., </a:t>
            </a:r>
            <a:r>
              <a:rPr lang="en-US" altLang="zh-CN" sz="2000" i="1" spc="-10" dirty="0">
                <a:solidFill>
                  <a:schemeClr val="accent1"/>
                </a:solidFill>
                <a:latin typeface="+mn-ea"/>
              </a:rPr>
              <a:t>Nature Communications </a:t>
            </a:r>
            <a:r>
              <a:rPr lang="en-US" altLang="zh-CN" sz="2000" spc="-10" dirty="0">
                <a:latin typeface="+mn-ea"/>
              </a:rPr>
              <a:t>(2020) 11:6043 </a:t>
            </a:r>
          </a:p>
        </p:txBody>
      </p:sp>
      <p:sp>
        <p:nvSpPr>
          <p:cNvPr id="16" name="文本框 119"/>
          <p:cNvSpPr txBox="1"/>
          <p:nvPr/>
        </p:nvSpPr>
        <p:spPr>
          <a:xfrm>
            <a:off x="393579" y="1307085"/>
            <a:ext cx="6010468" cy="1224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3200" spc="-10" dirty="0">
                <a:latin typeface="+mn-ea"/>
              </a:rPr>
              <a:t>前面的模型性能度量可用于度量不同模型的性能，如右图</a:t>
            </a:r>
            <a:endParaRPr lang="en-US" altLang="zh-CN" sz="3200" spc="-10" dirty="0">
              <a:latin typeface="+mn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5646" y="3030300"/>
            <a:ext cx="588633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800" spc="-10" dirty="0">
                <a:latin typeface="+mn-ea"/>
              </a:rPr>
              <a:t>在测试集数据上发现模型</a:t>
            </a:r>
            <a:r>
              <a:rPr lang="en-US" altLang="zh-CN" sz="2800" spc="-10" dirty="0">
                <a:latin typeface="+mn-ea"/>
              </a:rPr>
              <a:t>A</a:t>
            </a:r>
            <a:r>
              <a:rPr lang="zh-CN" altLang="en-US" sz="2800" spc="-10" dirty="0">
                <a:latin typeface="+mn-ea"/>
              </a:rPr>
              <a:t>比模型</a:t>
            </a:r>
            <a:r>
              <a:rPr lang="en-US" altLang="zh-CN" sz="2800" spc="-10" dirty="0">
                <a:latin typeface="+mn-ea"/>
              </a:rPr>
              <a:t>B</a:t>
            </a:r>
            <a:r>
              <a:rPr lang="zh-CN" altLang="en-US" sz="2800" spc="-10" dirty="0">
                <a:latin typeface="+mn-ea"/>
              </a:rPr>
              <a:t>好，若想说明</a:t>
            </a:r>
            <a:r>
              <a:rPr lang="en-US" altLang="zh-CN" sz="2800" spc="-10" dirty="0">
                <a:latin typeface="+mn-ea"/>
              </a:rPr>
              <a:t>A</a:t>
            </a:r>
            <a:r>
              <a:rPr lang="zh-CN" altLang="en-US" sz="2800" spc="-10" dirty="0">
                <a:latin typeface="+mn-ea"/>
              </a:rPr>
              <a:t>的泛化性能在统计意义上优于</a:t>
            </a:r>
            <a:r>
              <a:rPr lang="en-US" altLang="zh-CN" sz="2800" spc="-10" dirty="0">
                <a:latin typeface="+mn-ea"/>
              </a:rPr>
              <a:t>B</a:t>
            </a:r>
            <a:r>
              <a:rPr lang="zh-CN" altLang="en-US" sz="2800" spc="-10" dirty="0">
                <a:latin typeface="+mn-ea"/>
              </a:rPr>
              <a:t>，还需进行统计检验分析。</a:t>
            </a:r>
            <a:endParaRPr lang="en-US" sz="28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F69888C-E133-43D9-A638-B5C95925B91C}" type="slidenum">
              <a:rPr lang="zh-CN" altLang="en-US" smtClean="0"/>
              <a:t>18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566961" y="265803"/>
            <a:ext cx="7440283" cy="426497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4000" dirty="0"/>
              <a:t>2</a:t>
            </a:r>
            <a:r>
              <a:rPr lang="zh-CN" altLang="en-US" sz="4000" dirty="0"/>
              <a:t>、</a:t>
            </a:r>
            <a:r>
              <a:rPr lang="zh-CN" altLang="en-US" sz="4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过拟合问题</a:t>
            </a:r>
          </a:p>
        </p:txBody>
      </p:sp>
      <p:sp>
        <p:nvSpPr>
          <p:cNvPr id="18" name="文本框 119"/>
          <p:cNvSpPr txBox="1"/>
          <p:nvPr/>
        </p:nvSpPr>
        <p:spPr>
          <a:xfrm>
            <a:off x="434658" y="1011749"/>
            <a:ext cx="11638521" cy="1126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800" spc="-10" dirty="0">
                <a:latin typeface="+mn-ea"/>
              </a:rPr>
              <a:t>在模型将训练样本学得“太好”的时候，会把训练样本本身特点当成一般性质，从而导致泛化性能下降，这种现象叫做</a:t>
            </a:r>
            <a:r>
              <a:rPr lang="zh-CN" altLang="en-US" sz="2800" b="1" spc="-10" dirty="0">
                <a:solidFill>
                  <a:srgbClr val="C00000"/>
                </a:solidFill>
                <a:latin typeface="+mn-ea"/>
              </a:rPr>
              <a:t>过拟合</a:t>
            </a:r>
            <a:r>
              <a:rPr lang="en-US" altLang="zh-CN" sz="2800" b="1" spc="-10" dirty="0">
                <a:latin typeface="+mn-ea"/>
              </a:rPr>
              <a:t>(</a:t>
            </a:r>
            <a:r>
              <a:rPr lang="en-US" altLang="zh-CN" sz="2800" b="1" spc="-10" dirty="0">
                <a:solidFill>
                  <a:srgbClr val="C00000"/>
                </a:solidFill>
                <a:latin typeface="+mn-ea"/>
              </a:rPr>
              <a:t>Overfitting</a:t>
            </a:r>
            <a:r>
              <a:rPr lang="en-US" altLang="zh-CN" sz="2800" b="1" spc="-10" dirty="0">
                <a:latin typeface="+mn-ea"/>
              </a:rPr>
              <a:t>)</a:t>
            </a:r>
            <a:endParaRPr lang="en-US" altLang="zh-CN" sz="2800" spc="-10" dirty="0">
              <a:latin typeface="+mn-ea"/>
            </a:endParaRPr>
          </a:p>
        </p:txBody>
      </p:sp>
      <p:sp>
        <p:nvSpPr>
          <p:cNvPr id="12" name="AutoShape 4" descr="[公式]"/>
          <p:cNvSpPr>
            <a:spLocks noChangeAspect="1" noChangeArrowheads="1"/>
          </p:cNvSpPr>
          <p:nvPr/>
        </p:nvSpPr>
        <p:spPr bwMode="auto">
          <a:xfrm>
            <a:off x="4013200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1844" y="2465261"/>
            <a:ext cx="3759200" cy="28638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119"/>
              <p:cNvSpPr txBox="1"/>
              <p:nvPr/>
            </p:nvSpPr>
            <p:spPr>
              <a:xfrm>
                <a:off x="434658" y="2481790"/>
                <a:ext cx="6555078" cy="9411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2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2400" spc="-10" dirty="0">
                    <a:solidFill>
                      <a:srgbClr val="C00000"/>
                    </a:solidFill>
                    <a:latin typeface="+mn-ea"/>
                  </a:rPr>
                  <a:t>如</a:t>
                </a:r>
                <a:r>
                  <a:rPr lang="zh-CN" altLang="en-US" sz="2400" spc="-10" dirty="0">
                    <a:latin typeface="+mn-ea"/>
                  </a:rPr>
                  <a:t>右图给定目标函数为</a:t>
                </a:r>
                <a:r>
                  <a:rPr lang="en-US" altLang="zh-CN" sz="2400" spc="-10" dirty="0">
                    <a:solidFill>
                      <a:schemeClr val="accent1"/>
                    </a:solidFill>
                    <a:latin typeface="+mn-ea"/>
                  </a:rPr>
                  <a:t>2</a:t>
                </a:r>
                <a:r>
                  <a:rPr lang="zh-CN" altLang="en-US" sz="2400" spc="-10" dirty="0">
                    <a:solidFill>
                      <a:schemeClr val="accent1"/>
                    </a:solidFill>
                    <a:latin typeface="+mn-ea"/>
                  </a:rPr>
                  <a:t>阶多项式</a:t>
                </a:r>
                <a:r>
                  <a:rPr lang="zh-CN" altLang="en-US" sz="2400" spc="-10" dirty="0">
                    <a:latin typeface="+mn-ea"/>
                  </a:rPr>
                  <a:t>，从中取</a:t>
                </a:r>
                <a:r>
                  <a:rPr lang="en-US" altLang="zh-CN" sz="2400" spc="-10" dirty="0">
                    <a:solidFill>
                      <a:schemeClr val="accent1"/>
                    </a:solidFill>
                    <a:latin typeface="+mn-ea"/>
                  </a:rPr>
                  <a:t>5</a:t>
                </a:r>
                <a:r>
                  <a:rPr lang="zh-CN" altLang="en-US" sz="2400" spc="-10" dirty="0">
                    <a:solidFill>
                      <a:schemeClr val="accent1"/>
                    </a:solidFill>
                    <a:latin typeface="+mn-ea"/>
                  </a:rPr>
                  <a:t>个点</a:t>
                </a:r>
                <a:r>
                  <a:rPr lang="zh-CN" altLang="en-US" sz="2400" spc="-10" dirty="0">
                    <a:latin typeface="+mn-ea"/>
                  </a:rPr>
                  <a:t>并加上</a:t>
                </a:r>
                <a:r>
                  <a:rPr lang="zh-CN" altLang="en-US" sz="2400" spc="-10" dirty="0">
                    <a:solidFill>
                      <a:srgbClr val="7030A0"/>
                    </a:solidFill>
                    <a:latin typeface="+mn-ea"/>
                  </a:rPr>
                  <a:t>少量的噪声</a:t>
                </a:r>
                <a:r>
                  <a:rPr lang="zh-CN" altLang="en-US" sz="2400" spc="-10" dirty="0">
                    <a:latin typeface="+mn-ea"/>
                  </a:rPr>
                  <a:t>作为训练样本集</a:t>
                </a:r>
                <a14:m>
                  <m:oMath xmlns:m="http://schemas.openxmlformats.org/officeDocument/2006/math">
                    <m:r>
                      <a:rPr lang="zh-CN" altLang="en-US" sz="2400" i="1" spc="-10" smtClean="0">
                        <a:latin typeface="Cambria Math" panose="02040503050406030204" pitchFamily="18" charset="0"/>
                      </a:rPr>
                      <m:t>𝒟</m:t>
                    </m:r>
                  </m:oMath>
                </a14:m>
                <a:endParaRPr lang="en-US" altLang="zh-CN" sz="2400" spc="-10" dirty="0">
                  <a:latin typeface="+mn-ea"/>
                </a:endParaRPr>
              </a:p>
            </p:txBody>
          </p:sp>
        </mc:Choice>
        <mc:Fallback xmlns="">
          <p:sp>
            <p:nvSpPr>
              <p:cNvPr id="6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658" y="2481790"/>
                <a:ext cx="6555078" cy="941155"/>
              </a:xfrm>
              <a:prstGeom prst="rect">
                <a:avLst/>
              </a:prstGeom>
              <a:blipFill rotWithShape="1">
                <a:blip r:embed="rId4"/>
                <a:stretch>
                  <a:fillRect l="-5" t="-22" r="4" b="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119"/>
              <p:cNvSpPr txBox="1"/>
              <p:nvPr/>
            </p:nvSpPr>
            <p:spPr>
              <a:xfrm>
                <a:off x="735661" y="3641580"/>
                <a:ext cx="6254075" cy="9411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20000"/>
                  </a:lnSpc>
                  <a:buFont typeface="Wingdings" panose="05000000000000000000" pitchFamily="2" charset="2"/>
                  <a:buChar char="ü"/>
                </a:pPr>
                <a:r>
                  <a:rPr lang="zh-CN" altLang="en-US" sz="2400" spc="-10" dirty="0">
                    <a:latin typeface="+mn-ea"/>
                  </a:rPr>
                  <a:t>学习到的模型为</a:t>
                </a:r>
                <a:r>
                  <a:rPr lang="en-US" altLang="zh-CN" sz="2400" spc="-10" dirty="0">
                    <a:latin typeface="+mn-ea"/>
                  </a:rPr>
                  <a:t>4</a:t>
                </a:r>
                <a:r>
                  <a:rPr lang="zh-CN" altLang="en-US" sz="2400" spc="-10" dirty="0">
                    <a:latin typeface="+mn-ea"/>
                  </a:rPr>
                  <a:t>阶多项式，穿过这</a:t>
                </a:r>
                <a:r>
                  <a:rPr lang="en-US" altLang="zh-CN" sz="2400" spc="-10" dirty="0">
                    <a:latin typeface="+mn-ea"/>
                  </a:rPr>
                  <a:t>5</a:t>
                </a:r>
                <a:r>
                  <a:rPr lang="zh-CN" altLang="en-US" sz="2400" spc="-10" dirty="0">
                    <a:latin typeface="+mn-ea"/>
                  </a:rPr>
                  <a:t>个数据点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pc="-1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pc="-1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1" spc="-10">
                            <a:latin typeface="Cambria Math" panose="02040503050406030204" pitchFamily="18" charset="0"/>
                          </a:rPr>
                          <m:t>in</m:t>
                        </m:r>
                      </m:sub>
                    </m:sSub>
                    <m:r>
                      <a:rPr lang="en-US" altLang="zh-CN" sz="2400" b="0" i="1" spc="-1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zh-CN" sz="2400" spc="-10" dirty="0">
                  <a:latin typeface="+mn-ea"/>
                </a:endParaRPr>
              </a:p>
            </p:txBody>
          </p:sp>
        </mc:Choice>
        <mc:Fallback xmlns="">
          <p:sp>
            <p:nvSpPr>
              <p:cNvPr id="7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661" y="3641580"/>
                <a:ext cx="6254075" cy="941155"/>
              </a:xfrm>
              <a:prstGeom prst="rect">
                <a:avLst/>
              </a:prstGeom>
              <a:blipFill rotWithShape="1">
                <a:blip r:embed="rId5"/>
                <a:stretch>
                  <a:fillRect l="-5" t="-52" r="5" b="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119"/>
              <p:cNvSpPr txBox="1"/>
              <p:nvPr/>
            </p:nvSpPr>
            <p:spPr>
              <a:xfrm>
                <a:off x="735661" y="4722821"/>
                <a:ext cx="6254075" cy="4979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20000"/>
                  </a:lnSpc>
                  <a:buFont typeface="Wingdings" panose="05000000000000000000" pitchFamily="2" charset="2"/>
                  <a:buChar char="ü"/>
                </a:pPr>
                <a:r>
                  <a:rPr lang="zh-CN" altLang="en-US" sz="2400" spc="-10" dirty="0">
                    <a:latin typeface="+mn-ea"/>
                  </a:rPr>
                  <a:t>而对应的泛化误差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pc="-1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pc="-1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1" spc="-10">
                            <a:latin typeface="Cambria Math" panose="02040503050406030204" pitchFamily="18" charset="0"/>
                          </a:rPr>
                          <m:t>out</m:t>
                        </m:r>
                      </m:sub>
                    </m:sSub>
                  </m:oMath>
                </a14:m>
                <a:r>
                  <a:rPr lang="zh-CN" altLang="en-US" sz="2400" spc="-10" dirty="0">
                    <a:latin typeface="+mn-ea"/>
                  </a:rPr>
                  <a:t>却很大</a:t>
                </a:r>
                <a:endParaRPr lang="en-US" altLang="zh-CN" sz="2400" spc="-10" dirty="0">
                  <a:latin typeface="+mn-ea"/>
                </a:endParaRPr>
              </a:p>
            </p:txBody>
          </p:sp>
        </mc:Choice>
        <mc:Fallback xmlns="">
          <p:sp>
            <p:nvSpPr>
              <p:cNvPr id="8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661" y="4722821"/>
                <a:ext cx="6254075" cy="497957"/>
              </a:xfrm>
              <a:prstGeom prst="rect">
                <a:avLst/>
              </a:prstGeom>
              <a:blipFill rotWithShape="1">
                <a:blip r:embed="rId6"/>
                <a:stretch>
                  <a:fillRect l="-5" t="-65" r="5" b="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灯片编号占位符 2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F69888C-E133-43D9-A638-B5C95925B91C}" type="slidenum">
              <a:rPr lang="zh-CN" altLang="en-US" smtClean="0"/>
              <a:t>19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566961" y="265803"/>
            <a:ext cx="7440283" cy="426497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4000" dirty="0"/>
              <a:t>2</a:t>
            </a:r>
            <a:r>
              <a:rPr lang="zh-CN" altLang="en-US" sz="4000" dirty="0"/>
              <a:t>、</a:t>
            </a:r>
            <a:r>
              <a:rPr lang="zh-CN" altLang="en-US" sz="4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过拟合问题</a:t>
            </a:r>
          </a:p>
        </p:txBody>
      </p:sp>
      <p:sp>
        <p:nvSpPr>
          <p:cNvPr id="18" name="文本框 119"/>
          <p:cNvSpPr txBox="1"/>
          <p:nvPr/>
        </p:nvSpPr>
        <p:spPr>
          <a:xfrm>
            <a:off x="394037" y="1073741"/>
            <a:ext cx="11403926" cy="633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3200" spc="-10" dirty="0">
                <a:latin typeface="+mn-ea"/>
              </a:rPr>
              <a:t>回顾</a:t>
            </a:r>
            <a:r>
              <a:rPr lang="en-US" altLang="zh-CN" sz="3200" spc="-10" dirty="0">
                <a:latin typeface="+mn-ea"/>
              </a:rPr>
              <a:t>VC</a:t>
            </a:r>
            <a:r>
              <a:rPr lang="zh-CN" altLang="en-US" sz="3200" spc="-10" dirty="0">
                <a:latin typeface="+mn-ea"/>
              </a:rPr>
              <a:t>维、模型复杂度与误差间的关系</a:t>
            </a:r>
            <a:endParaRPr lang="en-US" altLang="zh-CN" sz="3200" spc="-10" dirty="0">
              <a:latin typeface="+mn-ea"/>
            </a:endParaRPr>
          </a:p>
        </p:txBody>
      </p:sp>
      <p:sp>
        <p:nvSpPr>
          <p:cNvPr id="12" name="AutoShape 4" descr="[公式]"/>
          <p:cNvSpPr>
            <a:spLocks noChangeAspect="1" noChangeArrowheads="1"/>
          </p:cNvSpPr>
          <p:nvPr/>
        </p:nvSpPr>
        <p:spPr bwMode="auto">
          <a:xfrm>
            <a:off x="4013200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590" y="2088369"/>
            <a:ext cx="4294328" cy="314545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119"/>
              <p:cNvSpPr txBox="1"/>
              <p:nvPr/>
            </p:nvSpPr>
            <p:spPr>
              <a:xfrm>
                <a:off x="5598642" y="2088369"/>
                <a:ext cx="5823609" cy="15996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buFont typeface="Wingdings" panose="05000000000000000000" pitchFamily="2" charset="2"/>
                  <a:buChar char="ü"/>
                </a:pPr>
                <a:r>
                  <a:rPr lang="zh-CN" altLang="en-US" sz="2800" spc="-10" dirty="0">
                    <a:latin typeface="+mn-ea"/>
                  </a:rPr>
                  <a:t>在最优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800" i="1" spc="-1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800" b="0" i="1" spc="-1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 i="1" spc="-10">
                            <a:latin typeface="Cambria Math" panose="02040503050406030204" pitchFamily="18" charset="0"/>
                          </a:rPr>
                          <m:t>VC</m:t>
                        </m:r>
                      </m:sub>
                      <m:sup>
                        <m:r>
                          <a:rPr lang="en-US" altLang="zh-CN" sz="2800" b="0" i="1" spc="-1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zh-CN" altLang="en-US" sz="2800" spc="-10" dirty="0">
                    <a:latin typeface="+mn-ea"/>
                  </a:rPr>
                  <a:t>的</a:t>
                </a:r>
                <a:r>
                  <a:rPr lang="zh-CN" altLang="en-US" sz="2800" spc="-10" dirty="0">
                    <a:solidFill>
                      <a:srgbClr val="7030A0"/>
                    </a:solidFill>
                    <a:latin typeface="+mn-ea"/>
                  </a:rPr>
                  <a:t>右侧</a:t>
                </a:r>
                <a:r>
                  <a:rPr lang="zh-CN" altLang="en-US" sz="2800" spc="-10" dirty="0">
                    <a:latin typeface="+mn-ea"/>
                  </a:rPr>
                  <a:t>，随着</a:t>
                </a:r>
                <a:r>
                  <a:rPr lang="en-US" altLang="zh-CN" sz="2800" spc="-10" dirty="0">
                    <a:latin typeface="+mn-ea"/>
                  </a:rPr>
                  <a:t>VC</a:t>
                </a:r>
                <a:r>
                  <a:rPr lang="zh-CN" altLang="en-US" sz="2800" spc="-10" dirty="0">
                    <a:latin typeface="+mn-ea"/>
                  </a:rPr>
                  <a:t>维的增大，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pc="-1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spc="-1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 i="1" spc="-1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in</m:t>
                        </m:r>
                      </m:sub>
                    </m:sSub>
                    <m:r>
                      <a:rPr lang="en-US" altLang="zh-CN" sz="2800" i="1" spc="-1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</m:oMath>
                </a14:m>
                <a:r>
                  <a:rPr lang="zh-CN" altLang="en-US" sz="2800" spc="-10" dirty="0">
                    <a:latin typeface="+mn-ea"/>
                  </a:rPr>
                  <a:t>，</a:t>
                </a:r>
                <a:r>
                  <a:rPr lang="en-US" altLang="zh-CN" sz="2800" spc="-10" dirty="0">
                    <a:solidFill>
                      <a:schemeClr val="accent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pc="-1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spc="-1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 i="1" spc="-1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out</m:t>
                        </m:r>
                      </m:sub>
                    </m:sSub>
                    <m:r>
                      <a:rPr lang="el-GR" altLang="zh-CN" sz="2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lang="zh-CN" altLang="en-US" sz="2800" spc="-10" dirty="0">
                    <a:latin typeface="+mn-ea"/>
                  </a:rPr>
                  <a:t>，发生</a:t>
                </a:r>
                <a:r>
                  <a:rPr lang="zh-CN" altLang="en-US" sz="2800" spc="-10" dirty="0">
                    <a:solidFill>
                      <a:srgbClr val="FF0000"/>
                    </a:solidFill>
                    <a:latin typeface="+mn-ea"/>
                  </a:rPr>
                  <a:t>过拟合</a:t>
                </a:r>
                <a:r>
                  <a:rPr lang="zh-CN" altLang="en-US" sz="2800" spc="-10" dirty="0">
                    <a:latin typeface="+mn-ea"/>
                  </a:rPr>
                  <a:t>现象</a:t>
                </a:r>
                <a:endParaRPr lang="en-US" altLang="zh-CN" sz="2800" spc="-10" dirty="0">
                  <a:latin typeface="+mn-ea"/>
                </a:endParaRPr>
              </a:p>
            </p:txBody>
          </p:sp>
        </mc:Choice>
        <mc:Fallback xmlns="">
          <p:sp>
            <p:nvSpPr>
              <p:cNvPr id="6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8642" y="2088369"/>
                <a:ext cx="5823609" cy="1599669"/>
              </a:xfrm>
              <a:prstGeom prst="rect">
                <a:avLst/>
              </a:prstGeom>
              <a:blipFill rotWithShape="1">
                <a:blip r:embed="rId4"/>
                <a:stretch>
                  <a:fillRect l="-8" t="-31" r="9" b="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119"/>
              <p:cNvSpPr txBox="1"/>
              <p:nvPr/>
            </p:nvSpPr>
            <p:spPr>
              <a:xfrm>
                <a:off x="5598641" y="3988846"/>
                <a:ext cx="5823609" cy="15996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buFont typeface="Wingdings" panose="05000000000000000000" pitchFamily="2" charset="2"/>
                  <a:buChar char="ü"/>
                </a:pPr>
                <a:r>
                  <a:rPr lang="zh-CN" altLang="en-US" sz="2800" spc="-10" dirty="0">
                    <a:latin typeface="+mn-ea"/>
                  </a:rPr>
                  <a:t>在最优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800" i="1" spc="-1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800" b="0" i="1" spc="-1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 i="1" spc="-10">
                            <a:latin typeface="Cambria Math" panose="02040503050406030204" pitchFamily="18" charset="0"/>
                          </a:rPr>
                          <m:t>VC</m:t>
                        </m:r>
                      </m:sub>
                      <m:sup>
                        <m:r>
                          <a:rPr lang="en-US" altLang="zh-CN" sz="2800" b="0" i="1" spc="-1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zh-CN" altLang="en-US" sz="2800" spc="-10" dirty="0">
                    <a:latin typeface="+mn-ea"/>
                  </a:rPr>
                  <a:t>的</a:t>
                </a:r>
                <a:r>
                  <a:rPr lang="zh-CN" altLang="en-US" sz="2800" spc="-10" dirty="0">
                    <a:solidFill>
                      <a:srgbClr val="7030A0"/>
                    </a:solidFill>
                    <a:latin typeface="+mn-ea"/>
                  </a:rPr>
                  <a:t>左侧</a:t>
                </a:r>
                <a:r>
                  <a:rPr lang="zh-CN" altLang="en-US" sz="2800" spc="-10" dirty="0">
                    <a:latin typeface="+mn-ea"/>
                  </a:rPr>
                  <a:t>，随着</a:t>
                </a:r>
                <a:r>
                  <a:rPr lang="en-US" altLang="zh-CN" sz="2800" spc="-10" dirty="0">
                    <a:latin typeface="+mn-ea"/>
                  </a:rPr>
                  <a:t>VC</a:t>
                </a:r>
                <a:r>
                  <a:rPr lang="zh-CN" altLang="en-US" sz="2800" spc="-10" dirty="0">
                    <a:latin typeface="+mn-ea"/>
                  </a:rPr>
                  <a:t>维的减小，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pc="-1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spc="-1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 i="1" spc="-1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in</m:t>
                        </m:r>
                      </m:sub>
                    </m:sSub>
                    <m:r>
                      <a:rPr lang="el-GR" altLang="zh-CN" sz="2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lang="zh-CN" altLang="en-US" sz="2800" spc="-10" dirty="0">
                    <a:latin typeface="+mn-ea"/>
                  </a:rPr>
                  <a:t>，</a:t>
                </a:r>
                <a:r>
                  <a:rPr lang="en-US" altLang="zh-CN" sz="2800" spc="-10" dirty="0">
                    <a:solidFill>
                      <a:schemeClr val="accent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pc="-1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spc="-1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 i="1" spc="-1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out</m:t>
                        </m:r>
                      </m:sub>
                    </m:sSub>
                    <m:r>
                      <a:rPr lang="el-GR" altLang="zh-CN" sz="2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lang="zh-CN" altLang="en-US" sz="2800" spc="-10" dirty="0">
                    <a:latin typeface="+mn-ea"/>
                  </a:rPr>
                  <a:t>，发生</a:t>
                </a:r>
                <a:r>
                  <a:rPr lang="zh-CN" altLang="en-US" sz="2800" spc="-10" dirty="0">
                    <a:solidFill>
                      <a:srgbClr val="FF0000"/>
                    </a:solidFill>
                    <a:latin typeface="+mn-ea"/>
                  </a:rPr>
                  <a:t>欠拟合</a:t>
                </a:r>
                <a:r>
                  <a:rPr lang="zh-CN" altLang="en-US" sz="2800" spc="-10" dirty="0">
                    <a:latin typeface="+mn-ea"/>
                  </a:rPr>
                  <a:t>（</a:t>
                </a:r>
                <a:r>
                  <a:rPr lang="en-US" altLang="zh-CN" sz="2800" spc="-10" dirty="0">
                    <a:solidFill>
                      <a:srgbClr val="FF0000"/>
                    </a:solidFill>
                    <a:latin typeface="+mn-ea"/>
                  </a:rPr>
                  <a:t>underfitting</a:t>
                </a:r>
                <a:r>
                  <a:rPr lang="zh-CN" altLang="en-US" sz="2800" spc="-10" dirty="0">
                    <a:latin typeface="+mn-ea"/>
                  </a:rPr>
                  <a:t>）现象</a:t>
                </a:r>
                <a:endParaRPr lang="en-US" altLang="zh-CN" sz="2800" spc="-10" dirty="0">
                  <a:latin typeface="+mn-ea"/>
                </a:endParaRPr>
              </a:p>
            </p:txBody>
          </p:sp>
        </mc:Choice>
        <mc:Fallback xmlns="">
          <p:sp>
            <p:nvSpPr>
              <p:cNvPr id="8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8641" y="3988846"/>
                <a:ext cx="5823609" cy="1599669"/>
              </a:xfrm>
              <a:prstGeom prst="rect">
                <a:avLst/>
              </a:prstGeom>
              <a:blipFill rotWithShape="1">
                <a:blip r:embed="rId5"/>
                <a:stretch>
                  <a:fillRect l="-8" t="-26" r="9" b="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119"/>
          <p:cNvSpPr txBox="1"/>
          <p:nvPr/>
        </p:nvSpPr>
        <p:spPr>
          <a:xfrm>
            <a:off x="1021591" y="5653362"/>
            <a:ext cx="6619074" cy="6331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3200" spc="-10" dirty="0">
                <a:latin typeface="+mn-ea"/>
              </a:rPr>
              <a:t>VC</a:t>
            </a:r>
            <a:r>
              <a:rPr lang="zh-CN" altLang="en-US" sz="3200" spc="-10" dirty="0">
                <a:latin typeface="+mn-ea"/>
              </a:rPr>
              <a:t>维的大小会影响过拟合现象</a:t>
            </a:r>
            <a:endParaRPr lang="en-US" altLang="zh-CN" sz="3200" spc="-10" dirty="0">
              <a:latin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F69888C-E133-43D9-A638-B5C95925B91C}" type="slidenum">
              <a:rPr lang="zh-CN" altLang="en-US" smtClean="0"/>
              <a:t>20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566961" y="265803"/>
            <a:ext cx="7440283" cy="426497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4000" dirty="0"/>
              <a:t>2</a:t>
            </a:r>
            <a:r>
              <a:rPr lang="zh-CN" altLang="en-US" sz="4000" dirty="0"/>
              <a:t>、</a:t>
            </a:r>
            <a:r>
              <a:rPr lang="zh-CN" altLang="en-US" sz="4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过拟合问题</a:t>
            </a:r>
          </a:p>
        </p:txBody>
      </p:sp>
      <p:sp>
        <p:nvSpPr>
          <p:cNvPr id="18" name="文本框 119"/>
          <p:cNvSpPr txBox="1"/>
          <p:nvPr/>
        </p:nvSpPr>
        <p:spPr>
          <a:xfrm>
            <a:off x="394037" y="884483"/>
            <a:ext cx="11403926" cy="633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3200" spc="-10" dirty="0">
                <a:latin typeface="+mn-ea"/>
              </a:rPr>
              <a:t>影响过拟合现象的因素分析。给定如下两组数据点</a:t>
            </a:r>
            <a:endParaRPr lang="en-US" altLang="zh-CN" sz="3200" spc="-10" dirty="0">
              <a:latin typeface="+mn-ea"/>
            </a:endParaRPr>
          </a:p>
        </p:txBody>
      </p:sp>
      <p:sp>
        <p:nvSpPr>
          <p:cNvPr id="12" name="AutoShape 4" descr="[公式]"/>
          <p:cNvSpPr>
            <a:spLocks noChangeAspect="1" noChangeArrowheads="1"/>
          </p:cNvSpPr>
          <p:nvPr/>
        </p:nvSpPr>
        <p:spPr bwMode="auto">
          <a:xfrm>
            <a:off x="4013200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444" y="2393841"/>
            <a:ext cx="4330700" cy="31242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8856" y="2343041"/>
            <a:ext cx="4203700" cy="3175000"/>
          </a:xfrm>
          <a:prstGeom prst="rect">
            <a:avLst/>
          </a:prstGeom>
        </p:spPr>
      </p:pic>
      <p:sp>
        <p:nvSpPr>
          <p:cNvPr id="7" name="文本框 119"/>
          <p:cNvSpPr txBox="1"/>
          <p:nvPr/>
        </p:nvSpPr>
        <p:spPr>
          <a:xfrm>
            <a:off x="914400" y="1631363"/>
            <a:ext cx="5181600" cy="565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spc="-10" dirty="0">
                <a:latin typeface="+mn-ea"/>
              </a:rPr>
              <a:t>目标函数为</a:t>
            </a:r>
            <a:r>
              <a:rPr lang="en-US" altLang="zh-CN" sz="2800" spc="-10" dirty="0">
                <a:latin typeface="+mn-ea"/>
              </a:rPr>
              <a:t>10</a:t>
            </a:r>
            <a:r>
              <a:rPr lang="zh-CN" altLang="en-US" sz="2800" spc="-10" dirty="0">
                <a:latin typeface="+mn-ea"/>
              </a:rPr>
              <a:t>次多项式</a:t>
            </a:r>
            <a:r>
              <a:rPr lang="en-US" altLang="zh-CN" sz="2800" spc="-10" dirty="0">
                <a:latin typeface="+mn-ea"/>
              </a:rPr>
              <a:t>+</a:t>
            </a:r>
            <a:r>
              <a:rPr lang="zh-CN" altLang="en-US" sz="2800" spc="-10" dirty="0">
                <a:latin typeface="+mn-ea"/>
              </a:rPr>
              <a:t>噪声</a:t>
            </a:r>
            <a:endParaRPr lang="en-US" altLang="zh-CN" sz="2800" spc="-10" dirty="0">
              <a:latin typeface="+mn-ea"/>
            </a:endParaRPr>
          </a:p>
        </p:txBody>
      </p:sp>
      <p:sp>
        <p:nvSpPr>
          <p:cNvPr id="8" name="文本框 119"/>
          <p:cNvSpPr txBox="1"/>
          <p:nvPr/>
        </p:nvSpPr>
        <p:spPr>
          <a:xfrm>
            <a:off x="6249905" y="1631362"/>
            <a:ext cx="5548057" cy="565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spc="-10" dirty="0">
                <a:latin typeface="+mn-ea"/>
              </a:rPr>
              <a:t>目标函数为</a:t>
            </a:r>
            <a:r>
              <a:rPr lang="en-US" altLang="zh-CN" sz="2800" spc="-10" dirty="0">
                <a:latin typeface="+mn-ea"/>
              </a:rPr>
              <a:t>50</a:t>
            </a:r>
            <a:r>
              <a:rPr lang="zh-CN" altLang="en-US" sz="2800" spc="-10" dirty="0">
                <a:latin typeface="+mn-ea"/>
              </a:rPr>
              <a:t>次多项式、无噪声</a:t>
            </a:r>
            <a:endParaRPr lang="en-US" altLang="zh-CN" sz="2800" spc="-10" dirty="0">
              <a:latin typeface="+mn-ea"/>
            </a:endParaRPr>
          </a:p>
        </p:txBody>
      </p:sp>
      <p:sp>
        <p:nvSpPr>
          <p:cNvPr id="9" name="文本框 119"/>
          <p:cNvSpPr txBox="1"/>
          <p:nvPr/>
        </p:nvSpPr>
        <p:spPr>
          <a:xfrm>
            <a:off x="1249445" y="5702279"/>
            <a:ext cx="9878338" cy="565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spc="-10" dirty="0">
                <a:latin typeface="+mn-ea"/>
              </a:rPr>
              <a:t>用</a:t>
            </a:r>
            <a:r>
              <a:rPr lang="en-US" altLang="zh-CN" sz="2800" spc="-10" dirty="0">
                <a:solidFill>
                  <a:srgbClr val="C00000"/>
                </a:solidFill>
                <a:latin typeface="+mn-ea"/>
              </a:rPr>
              <a:t>2</a:t>
            </a:r>
            <a:r>
              <a:rPr lang="zh-CN" altLang="en-US" sz="2800" spc="-10" dirty="0">
                <a:solidFill>
                  <a:srgbClr val="C00000"/>
                </a:solidFill>
                <a:latin typeface="+mn-ea"/>
              </a:rPr>
              <a:t>次</a:t>
            </a:r>
            <a:r>
              <a:rPr lang="zh-CN" altLang="en-US" sz="2800" spc="-10" dirty="0">
                <a:latin typeface="+mn-ea"/>
              </a:rPr>
              <a:t>多项式和</a:t>
            </a:r>
            <a:r>
              <a:rPr lang="en-US" altLang="zh-CN" sz="2800" spc="-10" dirty="0">
                <a:solidFill>
                  <a:srgbClr val="C00000"/>
                </a:solidFill>
                <a:latin typeface="+mn-ea"/>
              </a:rPr>
              <a:t>10</a:t>
            </a:r>
            <a:r>
              <a:rPr lang="zh-CN" altLang="en-US" sz="2800" spc="-10" dirty="0">
                <a:solidFill>
                  <a:srgbClr val="C00000"/>
                </a:solidFill>
                <a:latin typeface="+mn-ea"/>
              </a:rPr>
              <a:t>次</a:t>
            </a:r>
            <a:r>
              <a:rPr lang="zh-CN" altLang="en-US" sz="2800" spc="-10" dirty="0">
                <a:latin typeface="+mn-ea"/>
              </a:rPr>
              <a:t>多项式来对这两组数据进行拟合</a:t>
            </a:r>
            <a:endParaRPr lang="en-US" altLang="zh-CN" sz="2800" spc="-10" dirty="0">
              <a:latin typeface="+mn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F69888C-E133-43D9-A638-B5C95925B91C}" type="slidenum">
              <a:rPr lang="zh-CN" altLang="en-US" smtClean="0"/>
              <a:t>21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566961" y="265803"/>
            <a:ext cx="7440283" cy="426497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4000" dirty="0"/>
              <a:t>2</a:t>
            </a:r>
            <a:r>
              <a:rPr lang="zh-CN" altLang="en-US" sz="4000" dirty="0"/>
              <a:t>、</a:t>
            </a:r>
            <a:r>
              <a:rPr lang="zh-CN" altLang="en-US" sz="4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过拟合问题</a:t>
            </a:r>
          </a:p>
        </p:txBody>
      </p:sp>
      <p:sp>
        <p:nvSpPr>
          <p:cNvPr id="18" name="文本框 119"/>
          <p:cNvSpPr txBox="1"/>
          <p:nvPr/>
        </p:nvSpPr>
        <p:spPr>
          <a:xfrm>
            <a:off x="394037" y="884483"/>
            <a:ext cx="11403926" cy="633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3200" spc="-10" dirty="0">
                <a:latin typeface="+mn-ea"/>
              </a:rPr>
              <a:t>影响过拟合现象的因素分析。给定如下两组数据点</a:t>
            </a:r>
            <a:endParaRPr lang="en-US" altLang="zh-CN" sz="3200" spc="-10" dirty="0">
              <a:latin typeface="+mn-ea"/>
            </a:endParaRPr>
          </a:p>
        </p:txBody>
      </p:sp>
      <p:sp>
        <p:nvSpPr>
          <p:cNvPr id="12" name="AutoShape 4" descr="[公式]"/>
          <p:cNvSpPr>
            <a:spLocks noChangeAspect="1" noChangeArrowheads="1"/>
          </p:cNvSpPr>
          <p:nvPr/>
        </p:nvSpPr>
        <p:spPr bwMode="auto">
          <a:xfrm>
            <a:off x="4013200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7" name="文本框 119"/>
          <p:cNvSpPr txBox="1"/>
          <p:nvPr/>
        </p:nvSpPr>
        <p:spPr>
          <a:xfrm>
            <a:off x="914400" y="1631363"/>
            <a:ext cx="5181600" cy="565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spc="-10" dirty="0">
                <a:latin typeface="+mn-ea"/>
              </a:rPr>
              <a:t>目标函数为</a:t>
            </a:r>
            <a:r>
              <a:rPr lang="en-US" altLang="zh-CN" sz="2800" spc="-10" dirty="0">
                <a:latin typeface="+mn-ea"/>
              </a:rPr>
              <a:t>10</a:t>
            </a:r>
            <a:r>
              <a:rPr lang="zh-CN" altLang="en-US" sz="2800" spc="-10" dirty="0">
                <a:latin typeface="+mn-ea"/>
              </a:rPr>
              <a:t>次多项式</a:t>
            </a:r>
            <a:r>
              <a:rPr lang="en-US" altLang="zh-CN" sz="2800" spc="-10" dirty="0">
                <a:latin typeface="+mn-ea"/>
              </a:rPr>
              <a:t>+</a:t>
            </a:r>
            <a:r>
              <a:rPr lang="zh-CN" altLang="en-US" sz="2800" spc="-10" dirty="0">
                <a:latin typeface="+mn-ea"/>
              </a:rPr>
              <a:t>噪声</a:t>
            </a:r>
            <a:endParaRPr lang="en-US" altLang="zh-CN" sz="2800" spc="-10" dirty="0">
              <a:latin typeface="+mn-ea"/>
            </a:endParaRPr>
          </a:p>
        </p:txBody>
      </p:sp>
      <p:sp>
        <p:nvSpPr>
          <p:cNvPr id="8" name="文本框 119"/>
          <p:cNvSpPr txBox="1"/>
          <p:nvPr/>
        </p:nvSpPr>
        <p:spPr>
          <a:xfrm>
            <a:off x="6249905" y="1631362"/>
            <a:ext cx="5548057" cy="565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spc="-10" dirty="0">
                <a:latin typeface="+mn-ea"/>
              </a:rPr>
              <a:t>目标函数为</a:t>
            </a:r>
            <a:r>
              <a:rPr lang="en-US" altLang="zh-CN" sz="2800" spc="-10" dirty="0">
                <a:latin typeface="+mn-ea"/>
              </a:rPr>
              <a:t>50</a:t>
            </a:r>
            <a:r>
              <a:rPr lang="zh-CN" altLang="en-US" sz="2800" spc="-10" dirty="0">
                <a:latin typeface="+mn-ea"/>
              </a:rPr>
              <a:t>次多项式、无噪声</a:t>
            </a:r>
            <a:endParaRPr lang="en-US" altLang="zh-CN" sz="2800" spc="-10" dirty="0">
              <a:latin typeface="+mn-ea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745" y="2196901"/>
            <a:ext cx="4343400" cy="32004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714" y="2202107"/>
            <a:ext cx="4445000" cy="31623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9745" y="5370594"/>
            <a:ext cx="4470400" cy="13208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714" y="5373392"/>
            <a:ext cx="4445000" cy="1346200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F69888C-E133-43D9-A638-B5C95925B91C}" type="slidenum">
              <a:rPr lang="zh-CN" altLang="en-US" smtClean="0"/>
              <a:t>22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566961" y="265803"/>
            <a:ext cx="7440283" cy="426497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4000" dirty="0"/>
              <a:t>2</a:t>
            </a:r>
            <a:r>
              <a:rPr lang="zh-CN" altLang="en-US" sz="4000" dirty="0"/>
              <a:t>、</a:t>
            </a:r>
            <a:r>
              <a:rPr lang="zh-CN" altLang="en-US" sz="4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过拟合问题</a:t>
            </a:r>
          </a:p>
        </p:txBody>
      </p:sp>
      <p:sp>
        <p:nvSpPr>
          <p:cNvPr id="18" name="文本框 119"/>
          <p:cNvSpPr txBox="1"/>
          <p:nvPr/>
        </p:nvSpPr>
        <p:spPr>
          <a:xfrm>
            <a:off x="394037" y="884483"/>
            <a:ext cx="11403926" cy="633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3200" spc="-10" dirty="0">
                <a:latin typeface="+mn-ea"/>
              </a:rPr>
              <a:t>影响过拟合现象的因素分析。给定如下两组数据点</a:t>
            </a:r>
            <a:endParaRPr lang="en-US" altLang="zh-CN" sz="3200" spc="-10" dirty="0">
              <a:latin typeface="+mn-ea"/>
            </a:endParaRPr>
          </a:p>
        </p:txBody>
      </p:sp>
      <p:sp>
        <p:nvSpPr>
          <p:cNvPr id="12" name="AutoShape 4" descr="[公式]"/>
          <p:cNvSpPr>
            <a:spLocks noChangeAspect="1" noChangeArrowheads="1"/>
          </p:cNvSpPr>
          <p:nvPr/>
        </p:nvSpPr>
        <p:spPr bwMode="auto">
          <a:xfrm>
            <a:off x="4013200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7" name="文本框 119"/>
          <p:cNvSpPr txBox="1"/>
          <p:nvPr/>
        </p:nvSpPr>
        <p:spPr>
          <a:xfrm>
            <a:off x="914400" y="1631363"/>
            <a:ext cx="5181600" cy="565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spc="-10" dirty="0">
                <a:latin typeface="+mn-ea"/>
              </a:rPr>
              <a:t>目标函数为</a:t>
            </a:r>
            <a:r>
              <a:rPr lang="en-US" altLang="zh-CN" sz="2800" spc="-10" dirty="0">
                <a:latin typeface="+mn-ea"/>
              </a:rPr>
              <a:t>10</a:t>
            </a:r>
            <a:r>
              <a:rPr lang="zh-CN" altLang="en-US" sz="2800" spc="-10" dirty="0">
                <a:latin typeface="+mn-ea"/>
              </a:rPr>
              <a:t>次多项式</a:t>
            </a:r>
            <a:r>
              <a:rPr lang="en-US" altLang="zh-CN" sz="2800" spc="-10" dirty="0">
                <a:latin typeface="+mn-ea"/>
              </a:rPr>
              <a:t>+</a:t>
            </a:r>
            <a:r>
              <a:rPr lang="zh-CN" altLang="en-US" sz="2800" spc="-10" dirty="0">
                <a:latin typeface="+mn-ea"/>
              </a:rPr>
              <a:t>噪声</a:t>
            </a:r>
            <a:endParaRPr lang="en-US" altLang="zh-CN" sz="2800" spc="-10" dirty="0">
              <a:latin typeface="+mn-ea"/>
            </a:endParaRPr>
          </a:p>
        </p:txBody>
      </p:sp>
      <p:sp>
        <p:nvSpPr>
          <p:cNvPr id="8" name="文本框 119"/>
          <p:cNvSpPr txBox="1"/>
          <p:nvPr/>
        </p:nvSpPr>
        <p:spPr>
          <a:xfrm>
            <a:off x="6249905" y="1631362"/>
            <a:ext cx="5548057" cy="565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spc="-10" dirty="0">
                <a:latin typeface="+mn-ea"/>
              </a:rPr>
              <a:t>目标函数为</a:t>
            </a:r>
            <a:r>
              <a:rPr lang="en-US" altLang="zh-CN" sz="2800" spc="-10" dirty="0">
                <a:latin typeface="+mn-ea"/>
              </a:rPr>
              <a:t>50</a:t>
            </a:r>
            <a:r>
              <a:rPr lang="zh-CN" altLang="en-US" sz="2800" spc="-10" dirty="0">
                <a:latin typeface="+mn-ea"/>
              </a:rPr>
              <a:t>次多项式、无噪声</a:t>
            </a:r>
            <a:endParaRPr lang="en-US" altLang="zh-CN" sz="2800" spc="-10" dirty="0">
              <a:latin typeface="+mn-ea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253" y="2310595"/>
            <a:ext cx="4470400" cy="13208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1717" y="2285195"/>
            <a:ext cx="4445000" cy="1346200"/>
          </a:xfrm>
          <a:prstGeom prst="rect">
            <a:avLst/>
          </a:prstGeom>
        </p:spPr>
      </p:pic>
      <p:sp>
        <p:nvSpPr>
          <p:cNvPr id="13" name="文本框 119"/>
          <p:cNvSpPr txBox="1"/>
          <p:nvPr/>
        </p:nvSpPr>
        <p:spPr>
          <a:xfrm>
            <a:off x="1032253" y="3745088"/>
            <a:ext cx="5181600" cy="565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2800" spc="-10" dirty="0">
                <a:latin typeface="+mn-ea"/>
              </a:rPr>
              <a:t>影响因素：</a:t>
            </a:r>
            <a:r>
              <a:rPr lang="zh-CN" altLang="en-US" sz="2800" spc="-10" dirty="0">
                <a:solidFill>
                  <a:srgbClr val="C00000"/>
                </a:solidFill>
                <a:latin typeface="+mn-ea"/>
              </a:rPr>
              <a:t>噪声</a:t>
            </a:r>
            <a:endParaRPr lang="en-US" altLang="zh-CN" sz="2800" spc="-10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14" name="文本框 119"/>
          <p:cNvSpPr txBox="1"/>
          <p:nvPr/>
        </p:nvSpPr>
        <p:spPr>
          <a:xfrm>
            <a:off x="5935851" y="3721035"/>
            <a:ext cx="6073923" cy="565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2800" spc="-10" dirty="0">
                <a:latin typeface="+mn-ea"/>
              </a:rPr>
              <a:t>影响因素：</a:t>
            </a:r>
            <a:r>
              <a:rPr lang="zh-CN" altLang="en-US" sz="2800" spc="-10" dirty="0">
                <a:solidFill>
                  <a:srgbClr val="C00000"/>
                </a:solidFill>
                <a:latin typeface="+mn-ea"/>
              </a:rPr>
              <a:t>问题复杂度</a:t>
            </a:r>
            <a:r>
              <a:rPr lang="zh-CN" altLang="en-US" sz="2800" spc="-10" dirty="0">
                <a:latin typeface="+mn-ea"/>
              </a:rPr>
              <a:t>（维度灾难）</a:t>
            </a:r>
            <a:endParaRPr lang="en-US" altLang="zh-CN" sz="2800" spc="-10" dirty="0">
              <a:latin typeface="+mn-ea"/>
            </a:endParaRPr>
          </a:p>
        </p:txBody>
      </p:sp>
      <p:sp>
        <p:nvSpPr>
          <p:cNvPr id="15" name="文本框 119"/>
          <p:cNvSpPr txBox="1"/>
          <p:nvPr/>
        </p:nvSpPr>
        <p:spPr>
          <a:xfrm>
            <a:off x="676652" y="4408337"/>
            <a:ext cx="8374357" cy="565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2800" spc="-10" dirty="0">
                <a:latin typeface="+mn-ea"/>
              </a:rPr>
              <a:t>此外，</a:t>
            </a:r>
            <a:r>
              <a:rPr lang="zh-CN" altLang="en-US" sz="2800" spc="-10" dirty="0">
                <a:solidFill>
                  <a:srgbClr val="C00000"/>
                </a:solidFill>
                <a:latin typeface="+mn-ea"/>
              </a:rPr>
              <a:t>数据集的规模</a:t>
            </a:r>
            <a:r>
              <a:rPr lang="zh-CN" altLang="en-US" sz="2800" spc="-10" dirty="0">
                <a:latin typeface="+mn-ea"/>
              </a:rPr>
              <a:t>也是一重要的影响因素</a:t>
            </a:r>
            <a:endParaRPr lang="en-US" altLang="zh-CN" sz="2800" spc="-10" dirty="0">
              <a:latin typeface="+mn-ea"/>
            </a:endParaRPr>
          </a:p>
        </p:txBody>
      </p:sp>
      <p:sp>
        <p:nvSpPr>
          <p:cNvPr id="16" name="文本框 119"/>
          <p:cNvSpPr txBox="1"/>
          <p:nvPr/>
        </p:nvSpPr>
        <p:spPr>
          <a:xfrm>
            <a:off x="511890" y="5143177"/>
            <a:ext cx="11403926" cy="633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3200" spc="-10" dirty="0">
                <a:latin typeface="+mn-ea"/>
              </a:rPr>
              <a:t>影响过拟合现象的因素：</a:t>
            </a:r>
            <a:endParaRPr lang="en-US" altLang="zh-CN" sz="3200" spc="-10" dirty="0">
              <a:latin typeface="+mn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625457" y="5690747"/>
            <a:ext cx="6620788" cy="56553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800" spc="-10" dirty="0">
                <a:latin typeface="+mn-ea"/>
              </a:rPr>
              <a:t>数据集规模、噪声、问题复杂度、</a:t>
            </a:r>
            <a:r>
              <a:rPr lang="en-US" altLang="zh-CN" sz="2800" spc="-10" dirty="0">
                <a:latin typeface="+mn-ea"/>
              </a:rPr>
              <a:t>VC</a:t>
            </a:r>
            <a:r>
              <a:rPr lang="zh-CN" altLang="en-US" sz="2800" spc="-10" dirty="0">
                <a:latin typeface="+mn-ea"/>
              </a:rPr>
              <a:t>维</a:t>
            </a:r>
            <a:endParaRPr lang="en-US" altLang="zh-CN" sz="2800" spc="-10" dirty="0">
              <a:latin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F69888C-E133-43D9-A638-B5C95925B91C}" type="slidenum">
              <a:rPr lang="zh-CN" altLang="en-US" smtClean="0"/>
              <a:t>23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  <p:bldP spid="1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566961" y="265803"/>
            <a:ext cx="7440283" cy="426497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4000" dirty="0"/>
              <a:t>2</a:t>
            </a:r>
            <a:r>
              <a:rPr lang="zh-CN" altLang="en-US" sz="4000" dirty="0"/>
              <a:t>、</a:t>
            </a:r>
            <a:r>
              <a:rPr lang="zh-CN" altLang="en-US" sz="4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过拟合问题</a:t>
            </a:r>
          </a:p>
        </p:txBody>
      </p:sp>
      <p:sp>
        <p:nvSpPr>
          <p:cNvPr id="18" name="文本框 119"/>
          <p:cNvSpPr txBox="1"/>
          <p:nvPr/>
        </p:nvSpPr>
        <p:spPr>
          <a:xfrm>
            <a:off x="566961" y="1244222"/>
            <a:ext cx="11403926" cy="1274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3200" spc="-10" dirty="0">
                <a:solidFill>
                  <a:schemeClr val="accent1"/>
                </a:solidFill>
                <a:latin typeface="+mn-ea"/>
              </a:rPr>
              <a:t>测验：</a:t>
            </a:r>
            <a:r>
              <a:rPr lang="zh-CN" altLang="en-US" sz="3200" spc="-10" dirty="0">
                <a:latin typeface="+mn-ea"/>
              </a:rPr>
              <a:t>给定一个数据集</a:t>
            </a:r>
            <a:r>
              <a:rPr lang="zh-CN" altLang="en-US" sz="3200" spc="-10">
                <a:latin typeface="+mn-ea"/>
              </a:rPr>
              <a:t>，下面哪种</a:t>
            </a:r>
            <a:r>
              <a:rPr lang="zh-CN" altLang="en-US" sz="3200" spc="-10" dirty="0">
                <a:latin typeface="+mn-ea"/>
              </a:rPr>
              <a:t>情形发生过拟合现象的风险最小？</a:t>
            </a:r>
            <a:endParaRPr lang="en-US" altLang="zh-CN" sz="3200" spc="-10" dirty="0">
              <a:latin typeface="+mn-ea"/>
            </a:endParaRPr>
          </a:p>
        </p:txBody>
      </p:sp>
      <p:sp>
        <p:nvSpPr>
          <p:cNvPr id="12" name="AutoShape 4" descr="[公式]"/>
          <p:cNvSpPr>
            <a:spLocks noChangeAspect="1" noChangeArrowheads="1"/>
          </p:cNvSpPr>
          <p:nvPr/>
        </p:nvSpPr>
        <p:spPr bwMode="auto">
          <a:xfrm>
            <a:off x="4013200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5" name="文本框 119"/>
          <p:cNvSpPr txBox="1"/>
          <p:nvPr/>
        </p:nvSpPr>
        <p:spPr>
          <a:xfrm>
            <a:off x="1133019" y="2795813"/>
            <a:ext cx="9431568" cy="633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spc="-10" dirty="0">
                <a:latin typeface="+mn-ea"/>
              </a:rPr>
              <a:t>A. </a:t>
            </a:r>
            <a:r>
              <a:rPr lang="zh-CN" altLang="en-US" sz="3200" spc="-10" dirty="0">
                <a:latin typeface="+mn-ea"/>
              </a:rPr>
              <a:t>小噪声，学习函数的</a:t>
            </a:r>
            <a:r>
              <a:rPr lang="en-US" altLang="zh-CN" sz="3200" spc="-10" dirty="0">
                <a:latin typeface="+mn-ea"/>
              </a:rPr>
              <a:t>VC</a:t>
            </a:r>
            <a:r>
              <a:rPr lang="zh-CN" altLang="en-US" sz="3200" spc="-10" dirty="0">
                <a:latin typeface="+mn-ea"/>
              </a:rPr>
              <a:t>维从小增大到中等大小</a:t>
            </a:r>
            <a:endParaRPr lang="en-US" altLang="zh-CN" sz="3200" spc="-10" dirty="0">
              <a:latin typeface="+mn-ea"/>
            </a:endParaRPr>
          </a:p>
        </p:txBody>
      </p:sp>
      <p:sp>
        <p:nvSpPr>
          <p:cNvPr id="6" name="文本框 119"/>
          <p:cNvSpPr txBox="1"/>
          <p:nvPr/>
        </p:nvSpPr>
        <p:spPr>
          <a:xfrm>
            <a:off x="1133019" y="3604983"/>
            <a:ext cx="9431568" cy="633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spc="-10" dirty="0">
                <a:latin typeface="+mn-ea"/>
              </a:rPr>
              <a:t>B. </a:t>
            </a:r>
            <a:r>
              <a:rPr lang="zh-CN" altLang="en-US" sz="3200" spc="-10" dirty="0">
                <a:latin typeface="+mn-ea"/>
              </a:rPr>
              <a:t>小噪声，学习函数的</a:t>
            </a:r>
            <a:r>
              <a:rPr lang="en-US" altLang="zh-CN" sz="3200" spc="-10" dirty="0">
                <a:latin typeface="+mn-ea"/>
              </a:rPr>
              <a:t>VC</a:t>
            </a:r>
            <a:r>
              <a:rPr lang="zh-CN" altLang="en-US" sz="3200" spc="-10" dirty="0">
                <a:latin typeface="+mn-ea"/>
              </a:rPr>
              <a:t>维从小增大到很大</a:t>
            </a:r>
            <a:endParaRPr lang="en-US" altLang="zh-CN" sz="3200" spc="-10" dirty="0">
              <a:latin typeface="+mn-ea"/>
            </a:endParaRPr>
          </a:p>
        </p:txBody>
      </p:sp>
      <p:sp>
        <p:nvSpPr>
          <p:cNvPr id="7" name="文本框 119"/>
          <p:cNvSpPr txBox="1"/>
          <p:nvPr/>
        </p:nvSpPr>
        <p:spPr>
          <a:xfrm>
            <a:off x="1133019" y="4414153"/>
            <a:ext cx="9431568" cy="633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spc="-10" dirty="0">
                <a:latin typeface="+mn-ea"/>
              </a:rPr>
              <a:t>C. </a:t>
            </a:r>
            <a:r>
              <a:rPr lang="zh-CN" altLang="en-US" sz="3200" spc="-10" dirty="0">
                <a:latin typeface="+mn-ea"/>
              </a:rPr>
              <a:t>大噪声，学习函数的</a:t>
            </a:r>
            <a:r>
              <a:rPr lang="en-US" altLang="zh-CN" sz="3200" spc="-10" dirty="0">
                <a:latin typeface="+mn-ea"/>
              </a:rPr>
              <a:t>VC</a:t>
            </a:r>
            <a:r>
              <a:rPr lang="zh-CN" altLang="en-US" sz="3200" spc="-10" dirty="0">
                <a:latin typeface="+mn-ea"/>
              </a:rPr>
              <a:t>维从小增大到中等大小</a:t>
            </a:r>
            <a:endParaRPr lang="en-US" altLang="zh-CN" sz="3200" spc="-10" dirty="0">
              <a:latin typeface="+mn-ea"/>
            </a:endParaRPr>
          </a:p>
        </p:txBody>
      </p:sp>
      <p:sp>
        <p:nvSpPr>
          <p:cNvPr id="8" name="文本框 119"/>
          <p:cNvSpPr txBox="1"/>
          <p:nvPr/>
        </p:nvSpPr>
        <p:spPr>
          <a:xfrm>
            <a:off x="1133019" y="5223323"/>
            <a:ext cx="9431568" cy="633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spc="-10" dirty="0">
                <a:latin typeface="+mn-ea"/>
              </a:rPr>
              <a:t>D.</a:t>
            </a:r>
            <a:r>
              <a:rPr lang="zh-CN" altLang="en-US" sz="3200" spc="-10" dirty="0">
                <a:latin typeface="+mn-ea"/>
              </a:rPr>
              <a:t> 大噪声，学习函数的</a:t>
            </a:r>
            <a:r>
              <a:rPr lang="en-US" altLang="zh-CN" sz="3200" spc="-10" dirty="0">
                <a:latin typeface="+mn-ea"/>
              </a:rPr>
              <a:t>VC</a:t>
            </a:r>
            <a:r>
              <a:rPr lang="zh-CN" altLang="en-US" sz="3200" spc="-10" dirty="0">
                <a:latin typeface="+mn-ea"/>
              </a:rPr>
              <a:t>维从小增大到很大</a:t>
            </a:r>
            <a:endParaRPr lang="en-US" altLang="zh-CN" sz="3200" spc="-10" dirty="0">
              <a:latin typeface="+mn-ea"/>
            </a:endParaRPr>
          </a:p>
        </p:txBody>
      </p:sp>
      <p:sp>
        <p:nvSpPr>
          <p:cNvPr id="9" name="Text Box 314"/>
          <p:cNvSpPr txBox="1">
            <a:spLocks noChangeArrowheads="1"/>
          </p:cNvSpPr>
          <p:nvPr/>
        </p:nvSpPr>
        <p:spPr bwMode="auto">
          <a:xfrm>
            <a:off x="10209780" y="2650741"/>
            <a:ext cx="709613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5400" dirty="0">
                <a:solidFill>
                  <a:srgbClr val="FF3300"/>
                </a:solidFill>
                <a:sym typeface="Wingdings" panose="05000000000000000000" pitchFamily="2" charset="2"/>
              </a:rPr>
              <a:t></a:t>
            </a:r>
            <a:endParaRPr lang="en-US" altLang="zh-CN" sz="5400" dirty="0">
              <a:solidFill>
                <a:srgbClr val="FF3300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F69888C-E133-43D9-A638-B5C95925B91C}" type="slidenum">
              <a:rPr lang="zh-CN" altLang="en-US" smtClean="0"/>
              <a:t>24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566961" y="265803"/>
            <a:ext cx="7440283" cy="426497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4000" dirty="0"/>
              <a:t>2</a:t>
            </a:r>
            <a:r>
              <a:rPr lang="zh-CN" altLang="en-US" sz="4000" dirty="0"/>
              <a:t>、</a:t>
            </a:r>
            <a:r>
              <a:rPr lang="zh-CN" altLang="en-US" sz="4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过拟合问题</a:t>
            </a:r>
          </a:p>
        </p:txBody>
      </p:sp>
      <p:sp>
        <p:nvSpPr>
          <p:cNvPr id="18" name="文本框 119"/>
          <p:cNvSpPr txBox="1"/>
          <p:nvPr/>
        </p:nvSpPr>
        <p:spPr>
          <a:xfrm>
            <a:off x="394037" y="1073741"/>
            <a:ext cx="11403926" cy="633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3200" spc="-10" dirty="0">
                <a:latin typeface="+mn-ea"/>
              </a:rPr>
              <a:t>如何减少过拟合现象的产生？</a:t>
            </a:r>
            <a:endParaRPr lang="en-US" altLang="zh-CN" sz="3200" spc="-10" dirty="0">
              <a:latin typeface="+mn-ea"/>
            </a:endParaRPr>
          </a:p>
        </p:txBody>
      </p:sp>
      <p:sp>
        <p:nvSpPr>
          <p:cNvPr id="12" name="AutoShape 4" descr="[公式]"/>
          <p:cNvSpPr>
            <a:spLocks noChangeAspect="1" noChangeArrowheads="1"/>
          </p:cNvSpPr>
          <p:nvPr/>
        </p:nvSpPr>
        <p:spPr bwMode="auto">
          <a:xfrm>
            <a:off x="4013200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5" name="文本框 119"/>
          <p:cNvSpPr txBox="1"/>
          <p:nvPr/>
        </p:nvSpPr>
        <p:spPr>
          <a:xfrm>
            <a:off x="1016672" y="1891984"/>
            <a:ext cx="8339597" cy="633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3200" spc="-10" dirty="0">
                <a:latin typeface="+mn-ea"/>
              </a:rPr>
              <a:t>从简单的学习函数开始进行拟合</a:t>
            </a:r>
            <a:endParaRPr lang="en-US" altLang="zh-CN" sz="3200" spc="-10" dirty="0">
              <a:latin typeface="+mn-ea"/>
            </a:endParaRPr>
          </a:p>
        </p:txBody>
      </p:sp>
      <p:sp>
        <p:nvSpPr>
          <p:cNvPr id="6" name="文本框 119"/>
          <p:cNvSpPr txBox="1"/>
          <p:nvPr/>
        </p:nvSpPr>
        <p:spPr>
          <a:xfrm>
            <a:off x="1016672" y="2790369"/>
            <a:ext cx="11175327" cy="1224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3200" spc="-10" dirty="0">
                <a:latin typeface="+mn-ea"/>
              </a:rPr>
              <a:t>对训练数据集里</a:t>
            </a:r>
            <a:r>
              <a:rPr lang="en-US" altLang="zh-CN" sz="3200" spc="-10" dirty="0">
                <a:latin typeface="+mn-ea"/>
              </a:rPr>
              <a:t>label</a:t>
            </a:r>
            <a:r>
              <a:rPr lang="zh-CN" altLang="en-US" sz="3200" spc="-10" dirty="0">
                <a:latin typeface="+mn-ea"/>
              </a:rPr>
              <a:t>明显错误的样本进行修正或剔除（</a:t>
            </a:r>
            <a:r>
              <a:rPr lang="en-US" altLang="zh-CN" sz="3200" spc="-10" dirty="0">
                <a:latin typeface="+mn-ea"/>
              </a:rPr>
              <a:t>data</a:t>
            </a:r>
            <a:r>
              <a:rPr lang="zh-CN" altLang="en-US" sz="3200" spc="-10" dirty="0">
                <a:latin typeface="+mn-ea"/>
              </a:rPr>
              <a:t> </a:t>
            </a:r>
            <a:r>
              <a:rPr lang="en-US" altLang="zh-CN" sz="3200" spc="-10" dirty="0">
                <a:latin typeface="+mn-ea"/>
              </a:rPr>
              <a:t>cleaning/pruning</a:t>
            </a:r>
            <a:r>
              <a:rPr lang="zh-CN" altLang="en-US" sz="3200" spc="-10" dirty="0">
                <a:latin typeface="+mn-ea"/>
              </a:rPr>
              <a:t>）</a:t>
            </a:r>
          </a:p>
        </p:txBody>
      </p:sp>
      <p:sp>
        <p:nvSpPr>
          <p:cNvPr id="7" name="文本框 119"/>
          <p:cNvSpPr txBox="1"/>
          <p:nvPr/>
        </p:nvSpPr>
        <p:spPr>
          <a:xfrm>
            <a:off x="1016671" y="4129017"/>
            <a:ext cx="11175327" cy="1224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3200" spc="-10" dirty="0">
                <a:latin typeface="+mn-ea"/>
              </a:rPr>
              <a:t>对样本数少的情形，可对已知样本进行简单处理、变换，从而获得更多的样本（</a:t>
            </a:r>
            <a:r>
              <a:rPr lang="en-US" altLang="zh-CN" sz="3200" spc="-10" dirty="0">
                <a:latin typeface="+mn-ea"/>
              </a:rPr>
              <a:t>Data</a:t>
            </a:r>
            <a:r>
              <a:rPr lang="zh-CN" altLang="en-US" sz="3200" spc="-10" dirty="0">
                <a:latin typeface="+mn-ea"/>
              </a:rPr>
              <a:t> </a:t>
            </a:r>
            <a:r>
              <a:rPr lang="en-US" altLang="zh-CN" sz="3200" spc="-10" dirty="0">
                <a:latin typeface="+mn-ea"/>
              </a:rPr>
              <a:t>hinting</a:t>
            </a:r>
            <a:r>
              <a:rPr lang="zh-CN" altLang="en-US" sz="3200" spc="-10" dirty="0">
                <a:latin typeface="+mn-ea"/>
              </a:rPr>
              <a:t>）</a:t>
            </a:r>
          </a:p>
        </p:txBody>
      </p:sp>
      <p:sp>
        <p:nvSpPr>
          <p:cNvPr id="8" name="文本框 119"/>
          <p:cNvSpPr txBox="1"/>
          <p:nvPr/>
        </p:nvSpPr>
        <p:spPr>
          <a:xfrm>
            <a:off x="1016673" y="5467665"/>
            <a:ext cx="11175327" cy="633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3200" spc="-10" dirty="0">
                <a:solidFill>
                  <a:srgbClr val="7030A0"/>
                </a:solidFill>
                <a:latin typeface="+mn-ea"/>
              </a:rPr>
              <a:t>正则化（</a:t>
            </a:r>
            <a:r>
              <a:rPr lang="en-US" altLang="zh-CN" sz="3200" spc="-10" dirty="0">
                <a:solidFill>
                  <a:srgbClr val="7030A0"/>
                </a:solidFill>
                <a:latin typeface="+mn-ea"/>
              </a:rPr>
              <a:t>Regularization</a:t>
            </a:r>
            <a:r>
              <a:rPr lang="zh-CN" altLang="en-US" sz="3200" spc="-10" dirty="0">
                <a:solidFill>
                  <a:srgbClr val="7030A0"/>
                </a:solidFill>
                <a:latin typeface="+mn-ea"/>
              </a:rPr>
              <a:t>）</a:t>
            </a:r>
            <a:r>
              <a:rPr lang="zh-CN" altLang="en-US" sz="3200" spc="-10" dirty="0">
                <a:latin typeface="+mn-ea"/>
              </a:rPr>
              <a:t>等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F69888C-E133-43D9-A638-B5C95925B91C}" type="slidenum">
              <a:rPr lang="zh-CN" altLang="en-US" smtClean="0"/>
              <a:t>25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566961" y="265803"/>
            <a:ext cx="7440283" cy="426497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4000" dirty="0"/>
              <a:t>3</a:t>
            </a:r>
            <a:r>
              <a:rPr lang="zh-CN" altLang="en-US" sz="4000" dirty="0"/>
              <a:t>、</a:t>
            </a:r>
            <a:r>
              <a:rPr lang="zh-CN" altLang="en-US" sz="4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正则化方法</a:t>
            </a:r>
          </a:p>
        </p:txBody>
      </p:sp>
      <p:sp>
        <p:nvSpPr>
          <p:cNvPr id="18" name="文本框 119"/>
          <p:cNvSpPr txBox="1"/>
          <p:nvPr/>
        </p:nvSpPr>
        <p:spPr>
          <a:xfrm>
            <a:off x="394037" y="817839"/>
            <a:ext cx="11797963" cy="633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3200" spc="-10" dirty="0">
                <a:latin typeface="+mn-ea"/>
              </a:rPr>
              <a:t>下面以多项式拟合为例来介绍</a:t>
            </a:r>
            <a:r>
              <a:rPr lang="zh-CN" altLang="en-US" sz="3200" spc="-10" dirty="0">
                <a:solidFill>
                  <a:srgbClr val="FF0000"/>
                </a:solidFill>
                <a:latin typeface="+mn-ea"/>
              </a:rPr>
              <a:t>正则化</a:t>
            </a:r>
            <a:r>
              <a:rPr lang="zh-CN" altLang="en-US" sz="3200" spc="-10" dirty="0">
                <a:latin typeface="+mn-ea"/>
              </a:rPr>
              <a:t>（</a:t>
            </a:r>
            <a:r>
              <a:rPr lang="en-US" altLang="zh-CN" sz="3200" spc="-10" dirty="0">
                <a:solidFill>
                  <a:srgbClr val="FF0000"/>
                </a:solidFill>
                <a:latin typeface="+mn-ea"/>
              </a:rPr>
              <a:t>Regularization</a:t>
            </a:r>
            <a:r>
              <a:rPr lang="zh-CN" altLang="en-US" sz="3200" spc="-10" dirty="0">
                <a:latin typeface="+mn-ea"/>
              </a:rPr>
              <a:t>）方法</a:t>
            </a:r>
            <a:endParaRPr lang="en-US" altLang="zh-CN" sz="3200" spc="-10" dirty="0">
              <a:latin typeface="+mn-ea"/>
            </a:endParaRPr>
          </a:p>
        </p:txBody>
      </p:sp>
      <p:sp>
        <p:nvSpPr>
          <p:cNvPr id="12" name="AutoShape 4" descr="[公式]"/>
          <p:cNvSpPr>
            <a:spLocks noChangeAspect="1" noChangeArrowheads="1"/>
          </p:cNvSpPr>
          <p:nvPr/>
        </p:nvSpPr>
        <p:spPr bwMode="auto">
          <a:xfrm>
            <a:off x="4013200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19"/>
              <p:cNvSpPr txBox="1"/>
              <p:nvPr/>
            </p:nvSpPr>
            <p:spPr>
              <a:xfrm>
                <a:off x="841601" y="4226466"/>
                <a:ext cx="11244943" cy="6331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3200" spc="-10" dirty="0">
                    <a:solidFill>
                      <a:srgbClr val="FF0000"/>
                    </a:solidFill>
                    <a:latin typeface="+mn-ea"/>
                  </a:rPr>
                  <a:t>正则化</a:t>
                </a:r>
                <a:r>
                  <a:rPr lang="zh-CN" altLang="en-US" sz="3200" spc="-10" dirty="0">
                    <a:latin typeface="+mn-ea"/>
                  </a:rPr>
                  <a:t>思想：从高次函数假设空间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spc="-1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spc="-1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ℋ</m:t>
                        </m:r>
                      </m:e>
                      <m:sub>
                        <m:r>
                          <a:rPr lang="en-US" altLang="zh-CN" sz="3200" b="0" i="1" spc="-10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lang="zh-CN" altLang="en-US" sz="3200" spc="-10" dirty="0">
                    <a:latin typeface="+mn-ea"/>
                  </a:rPr>
                  <a:t>退回低次函数空间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spc="-1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spc="-1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ℋ</m:t>
                        </m:r>
                      </m:e>
                      <m:sub>
                        <m:r>
                          <a:rPr lang="en-US" altLang="zh-CN" sz="3200" b="0" i="1" spc="-1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altLang="zh-CN" sz="3200" spc="-10" dirty="0">
                  <a:latin typeface="+mn-ea"/>
                </a:endParaRPr>
              </a:p>
            </p:txBody>
          </p:sp>
        </mc:Choice>
        <mc:Fallback xmlns="">
          <p:sp>
            <p:nvSpPr>
              <p:cNvPr id="14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601" y="4226466"/>
                <a:ext cx="11244943" cy="633187"/>
              </a:xfrm>
              <a:prstGeom prst="rect">
                <a:avLst/>
              </a:prstGeom>
              <a:blipFill rotWithShape="1">
                <a:blip r:embed="rId3"/>
                <a:stretch>
                  <a:fillRect l="-2" t="-85" r="5" b="1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3102" y="4892311"/>
            <a:ext cx="4191000" cy="13462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2002" y="1410105"/>
            <a:ext cx="4013200" cy="2889940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F69888C-E133-43D9-A638-B5C95925B91C}" type="slidenum">
              <a:rPr lang="zh-CN" altLang="en-US" smtClean="0"/>
              <a:t>26</a:t>
            </a:fld>
            <a:endParaRPr lang="zh-CN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566961" y="265803"/>
            <a:ext cx="7440283" cy="426497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4000" dirty="0"/>
              <a:t>3</a:t>
            </a:r>
            <a:r>
              <a:rPr lang="zh-CN" altLang="en-US" sz="4000" dirty="0"/>
              <a:t>、</a:t>
            </a:r>
            <a:r>
              <a:rPr lang="zh-CN" altLang="en-US" sz="4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正则化方法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19"/>
              <p:cNvSpPr txBox="1"/>
              <p:nvPr/>
            </p:nvSpPr>
            <p:spPr>
              <a:xfrm>
                <a:off x="394037" y="868783"/>
                <a:ext cx="11403926" cy="6331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3200" spc="-10" dirty="0">
                    <a:latin typeface="+mn-ea"/>
                  </a:rPr>
                  <a:t>如何从高次函数假设空间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spc="-1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spc="-1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ℋ</m:t>
                        </m:r>
                      </m:e>
                      <m:sub>
                        <m:r>
                          <a:rPr lang="en-US" altLang="zh-CN" sz="3200" i="1" spc="-1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lang="zh-CN" altLang="en-US" sz="3200" spc="-10" dirty="0">
                    <a:latin typeface="+mn-ea"/>
                  </a:rPr>
                  <a:t>退回低次函数空间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spc="-1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spc="-1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ℋ</m:t>
                        </m:r>
                      </m:e>
                      <m:sub>
                        <m:r>
                          <a:rPr lang="en-US" altLang="zh-CN" sz="3200" i="1" spc="-1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3200" spc="-10" dirty="0">
                    <a:latin typeface="+mn-ea"/>
                  </a:rPr>
                  <a:t>？</a:t>
                </a:r>
                <a:endParaRPr lang="en-US" altLang="zh-CN" sz="3200" spc="-10" dirty="0">
                  <a:latin typeface="+mn-ea"/>
                </a:endParaRPr>
              </a:p>
            </p:txBody>
          </p:sp>
        </mc:Choice>
        <mc:Fallback xmlns="">
          <p:sp>
            <p:nvSpPr>
              <p:cNvPr id="18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037" y="868783"/>
                <a:ext cx="11403926" cy="633187"/>
              </a:xfrm>
              <a:prstGeom prst="rect">
                <a:avLst/>
              </a:prstGeom>
              <a:blipFill rotWithShape="1">
                <a:blip r:embed="rId3"/>
                <a:stretch>
                  <a:fillRect l="-3" t="-16" r="3" b="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AutoShape 4" descr="[公式]"/>
          <p:cNvSpPr>
            <a:spLocks noChangeAspect="1" noChangeArrowheads="1"/>
          </p:cNvSpPr>
          <p:nvPr/>
        </p:nvSpPr>
        <p:spPr bwMode="auto">
          <a:xfrm>
            <a:off x="4013200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119"/>
              <p:cNvSpPr txBox="1"/>
              <p:nvPr/>
            </p:nvSpPr>
            <p:spPr>
              <a:xfrm>
                <a:off x="767443" y="1472227"/>
                <a:ext cx="11030520" cy="6321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3200" spc="-10" dirty="0">
                    <a:latin typeface="+mn-ea"/>
                  </a:rPr>
                  <a:t>假设空间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spc="-1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spc="-1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ℋ</m:t>
                        </m:r>
                      </m:e>
                      <m:sub>
                        <m:r>
                          <a:rPr lang="en-US" altLang="zh-CN" sz="3200" i="1" spc="-1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lang="zh-CN" altLang="en-US" sz="3200" spc="-10" dirty="0">
                    <a:latin typeface="+mn-ea"/>
                  </a:rPr>
                  <a:t>的函数：</a:t>
                </a:r>
                <a14:m>
                  <m:oMath xmlns:m="http://schemas.openxmlformats.org/officeDocument/2006/math">
                    <m:r>
                      <a:rPr lang="en-US" altLang="zh-CN" sz="3200" b="0" i="1" spc="-10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altLang="zh-CN" sz="3200" b="0" i="1" spc="-1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0" i="1" spc="-1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3200" b="0" i="1" spc="-1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3200" b="0" i="1" spc="-1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pc="-1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3200" b="0" i="1" spc="-1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3200" b="0" i="1" spc="-1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3200" b="0" i="1" spc="-1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pc="-1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3200" b="0" i="1" spc="-1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200" b="0" i="1" spc="-1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3200" b="0" i="1" spc="-1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3200" b="0" i="1" spc="-1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pc="-1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3200" b="0" i="1" spc="-1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altLang="zh-CN" sz="3200" b="0" i="1" spc="-1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b="0" i="1" spc="-1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3200" b="0" i="1" spc="-1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3200" b="0" i="1" spc="-10" smtClean="0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altLang="zh-CN" sz="3200" i="1" spc="-1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spc="-1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3200" b="0" i="1" spc="-10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sSup>
                      <m:sSupPr>
                        <m:ctrlPr>
                          <a:rPr lang="en-US" altLang="zh-CN" sz="3200" i="1" spc="-1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 spc="-1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3200" b="0" i="1" spc="-10" smtClean="0"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endParaRPr lang="en-US" altLang="zh-CN" sz="3200" spc="-10" dirty="0">
                  <a:latin typeface="+mn-ea"/>
                </a:endParaRPr>
              </a:p>
            </p:txBody>
          </p:sp>
        </mc:Choice>
        <mc:Fallback xmlns="">
          <p:sp>
            <p:nvSpPr>
              <p:cNvPr id="5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443" y="1472227"/>
                <a:ext cx="11030520" cy="632161"/>
              </a:xfrm>
              <a:prstGeom prst="rect">
                <a:avLst/>
              </a:prstGeom>
              <a:blipFill rotWithShape="1">
                <a:blip r:embed="rId4"/>
                <a:stretch>
                  <a:fillRect l="-3" t="-47" r="3" b="-24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119"/>
              <p:cNvSpPr txBox="1"/>
              <p:nvPr/>
            </p:nvSpPr>
            <p:spPr>
              <a:xfrm>
                <a:off x="767443" y="2097138"/>
                <a:ext cx="11030520" cy="6321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3200" spc="-10" dirty="0">
                    <a:latin typeface="+mn-ea"/>
                  </a:rPr>
                  <a:t>假设空间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spc="-1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spc="-1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ℋ</m:t>
                        </m:r>
                      </m:e>
                      <m:sub>
                        <m:r>
                          <a:rPr lang="en-US" altLang="zh-CN" sz="3200" b="0" i="1" spc="-1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3200" spc="-10" dirty="0">
                    <a:latin typeface="+mn-ea"/>
                  </a:rPr>
                  <a:t>的函数： </a:t>
                </a:r>
                <a14:m>
                  <m:oMath xmlns:m="http://schemas.openxmlformats.org/officeDocument/2006/math">
                    <m:r>
                      <a:rPr lang="zh-CN" altLang="en-US" sz="3200" b="0" i="0" spc="-1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200" b="0" i="1" spc="-10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altLang="zh-CN" sz="3200" b="0" i="1" spc="-1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0" i="1" spc="-1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3200" b="0" i="1" spc="-1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3200" b="0" i="1" spc="-1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pc="-1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3200" b="0" i="1" spc="-1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3200" b="0" i="1" spc="-1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3200" b="0" i="1" spc="-1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pc="-1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3200" b="0" i="1" spc="-1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200" b="0" i="1" spc="-1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3200" b="0" i="1" spc="-1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3200" b="0" i="1" spc="-1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pc="-1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3200" b="0" i="1" spc="-1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altLang="zh-CN" sz="3200" b="0" i="1" spc="-1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b="0" i="1" spc="-1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3200" b="0" i="1" spc="-1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sz="3200" spc="-10" dirty="0">
                  <a:latin typeface="+mn-ea"/>
                </a:endParaRPr>
              </a:p>
            </p:txBody>
          </p:sp>
        </mc:Choice>
        <mc:Fallback xmlns="">
          <p:sp>
            <p:nvSpPr>
              <p:cNvPr id="6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443" y="2097138"/>
                <a:ext cx="11030520" cy="632161"/>
              </a:xfrm>
              <a:prstGeom prst="rect">
                <a:avLst/>
              </a:prstGeom>
              <a:blipFill rotWithShape="1">
                <a:blip r:embed="rId5"/>
                <a:stretch>
                  <a:fillRect l="-3" t="-58" r="3" b="-22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119"/>
              <p:cNvSpPr txBox="1"/>
              <p:nvPr/>
            </p:nvSpPr>
            <p:spPr>
              <a:xfrm>
                <a:off x="767443" y="2788321"/>
                <a:ext cx="11403926" cy="6331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buFont typeface="Arial" panose="020B0604020202090204" pitchFamily="34" charset="0"/>
                  <a:buChar char="•"/>
                </a:pPr>
                <a:r>
                  <a:rPr lang="zh-CN" altLang="en-US" sz="3200" spc="-10" dirty="0">
                    <a:latin typeface="+mn-ea"/>
                  </a:rPr>
                  <a:t>当权重满足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spc="-1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spc="-1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3200" b="0" i="1" spc="-1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3200" b="0" i="1" spc="-1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3200" i="1" spc="-1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spc="-1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3200" b="0" i="1" spc="-1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CN" sz="3200" b="0" i="1" spc="-1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200" i="1" spc="-1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a:rPr lang="en-US" altLang="zh-CN" sz="3200" b="0" i="1" spc="-1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3200" i="1" spc="-1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spc="-1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3200" i="1" spc="-1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US" altLang="zh-CN" sz="3200" b="0" i="1" spc="-1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3200" spc="-10" dirty="0">
                    <a:latin typeface="+mn-ea"/>
                  </a:rPr>
                  <a:t>时，</a:t>
                </a:r>
                <a:r>
                  <a:rPr lang="en-US" altLang="zh-CN" sz="3200" spc="-1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spc="-1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spc="-1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ℋ</m:t>
                        </m:r>
                      </m:e>
                      <m:sub>
                        <m:r>
                          <a:rPr lang="en-US" altLang="zh-CN" sz="3200" b="0" i="1" spc="-1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US" altLang="zh-CN" sz="3200" b="0" i="1" spc="-1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3200" i="1" spc="-1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spc="-1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ℋ</m:t>
                        </m:r>
                      </m:e>
                      <m:sub>
                        <m:r>
                          <a:rPr lang="en-US" altLang="zh-CN" sz="3200" b="0" i="1" spc="-1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altLang="zh-CN" sz="3200" spc="-10" dirty="0">
                  <a:latin typeface="+mn-ea"/>
                </a:endParaRPr>
              </a:p>
            </p:txBody>
          </p:sp>
        </mc:Choice>
        <mc:Fallback xmlns="">
          <p:sp>
            <p:nvSpPr>
              <p:cNvPr id="7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443" y="2788321"/>
                <a:ext cx="11403926" cy="633187"/>
              </a:xfrm>
              <a:prstGeom prst="rect">
                <a:avLst/>
              </a:prstGeom>
              <a:blipFill rotWithShape="1">
                <a:blip r:embed="rId6"/>
                <a:stretch>
                  <a:fillRect l="-3" t="-6" r="3" b="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119"/>
              <p:cNvSpPr txBox="1"/>
              <p:nvPr/>
            </p:nvSpPr>
            <p:spPr>
              <a:xfrm>
                <a:off x="788074" y="3469556"/>
                <a:ext cx="11403926" cy="6321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buFont typeface="Arial" panose="020B0604020202090204" pitchFamily="34" charset="0"/>
                  <a:buChar char="•"/>
                </a:pPr>
                <a:r>
                  <a:rPr lang="zh-CN" altLang="en-US" sz="3200" spc="-10" dirty="0">
                    <a:latin typeface="+mn-ea"/>
                  </a:rPr>
                  <a:t>定义权重向量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 spc="-10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b="1" i="1" spc="-10" dirty="0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a:rPr lang="en-US" altLang="zh-CN" sz="3200" b="0" i="1" spc="-10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3200" b="0" i="1" spc="-1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200" i="1" spc="-10" dirty="0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altLang="zh-CN" sz="3200" i="1" spc="-1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spc="-1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3200" b="0" i="1" spc="-1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3200" b="0" i="1" spc="-1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3200" i="1" spc="-1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spc="-1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3200" b="0" i="1" spc="-1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200" b="0" i="1" spc="-1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3200" i="1" spc="-10">
                        <a:latin typeface="Cambria Math" panose="02040503050406030204" pitchFamily="18" charset="0"/>
                      </a:rPr>
                      <m:t>…</m:t>
                    </m:r>
                    <m:r>
                      <a:rPr lang="en-US" altLang="zh-CN" sz="3200" b="0" i="1" spc="-1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3200" i="1" spc="-1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spc="-1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3200" b="0" i="1" spc="-1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3200" b="0" i="1" spc="-1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3200" spc="-10" dirty="0">
                    <a:latin typeface="+mn-ea"/>
                  </a:rPr>
                  <a:t>，即</a:t>
                </a:r>
                <a14:m>
                  <m:oMath xmlns:m="http://schemas.openxmlformats.org/officeDocument/2006/math">
                    <m:r>
                      <a:rPr lang="en-US" altLang="zh-CN" sz="3200" b="1" i="1" spc="-1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𝒘</m:t>
                    </m:r>
                    <m:r>
                      <a:rPr lang="en-US" altLang="zh-CN" sz="3200" i="1" spc="-1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3200" i="1" spc="-1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 spc="-1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zh-CN" sz="3200" b="0" i="1" spc="-1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200" b="0" i="1" spc="-1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endParaRPr lang="en-US" altLang="zh-CN" sz="3200" spc="-10" dirty="0">
                  <a:latin typeface="+mn-ea"/>
                </a:endParaRPr>
              </a:p>
            </p:txBody>
          </p:sp>
        </mc:Choice>
        <mc:Fallback xmlns="">
          <p:sp>
            <p:nvSpPr>
              <p:cNvPr id="8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074" y="3469556"/>
                <a:ext cx="11403926" cy="632161"/>
              </a:xfrm>
              <a:prstGeom prst="rect">
                <a:avLst/>
              </a:prstGeom>
              <a:blipFill rotWithShape="1">
                <a:blip r:embed="rId7"/>
                <a:stretch>
                  <a:fillRect t="-87" b="-36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ounded Rectangle 1"/>
          <p:cNvSpPr/>
          <p:nvPr/>
        </p:nvSpPr>
        <p:spPr>
          <a:xfrm>
            <a:off x="1012372" y="4433560"/>
            <a:ext cx="4098472" cy="171048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19"/>
              <p:cNvSpPr txBox="1"/>
              <p:nvPr/>
            </p:nvSpPr>
            <p:spPr>
              <a:xfrm>
                <a:off x="1012372" y="4500339"/>
                <a:ext cx="3608614" cy="5655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2800" spc="-10" dirty="0">
                    <a:latin typeface="+mn-ea"/>
                  </a:rPr>
                  <a:t>假设空间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pc="-1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spc="-1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ℋ</m:t>
                        </m:r>
                      </m:e>
                      <m:sub>
                        <m:r>
                          <a:rPr lang="en-US" altLang="zh-CN" sz="2800" i="1" spc="-1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lang="zh-CN" altLang="en-US" sz="2800" spc="-10" dirty="0">
                    <a:latin typeface="+mn-ea"/>
                  </a:rPr>
                  <a:t>拟合：</a:t>
                </a:r>
                <a:endParaRPr lang="en-US" altLang="zh-CN" sz="2800" spc="-10" dirty="0">
                  <a:latin typeface="+mn-ea"/>
                </a:endParaRPr>
              </a:p>
            </p:txBody>
          </p:sp>
        </mc:Choice>
        <mc:Fallback xmlns="">
          <p:sp>
            <p:nvSpPr>
              <p:cNvPr id="11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2372" y="4500339"/>
                <a:ext cx="3608614" cy="565539"/>
              </a:xfrm>
              <a:prstGeom prst="rect">
                <a:avLst/>
              </a:prstGeom>
              <a:blipFill rotWithShape="1">
                <a:blip r:embed="rId8"/>
                <a:stretch>
                  <a:fillRect l="-5" t="-17" r="3" b="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1680327" y="5288802"/>
                <a:ext cx="259089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min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800" i="1">
                            <a:latin typeface="Cambria Math" panose="02040503050406030204" pitchFamily="18" charset="0"/>
                          </a:rPr>
                          <m:t>in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1" i="1" spc="-1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𝒘</m:t>
                    </m:r>
                    <m:r>
                      <a:rPr lang="en-US" altLang="zh-CN" sz="2800" b="1" i="1" spc="-1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0327" y="5288802"/>
                <a:ext cx="2590893" cy="523220"/>
              </a:xfrm>
              <a:prstGeom prst="rect">
                <a:avLst/>
              </a:prstGeom>
              <a:blipFill rotWithShape="1">
                <a:blip r:embed="rId9"/>
                <a:stretch>
                  <a:fillRect l="-5" t="-100" r="8" b="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1217919" y="5711182"/>
                <a:ext cx="175785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pc="-1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𝒘</m:t>
                      </m:r>
                      <m:r>
                        <a:rPr lang="en-US" altLang="zh-CN" i="1" spc="-1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zh-CN" i="1" spc="-1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 spc="-1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altLang="zh-CN" i="1" spc="-1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10+1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7919" y="5711182"/>
                <a:ext cx="1757855" cy="369332"/>
              </a:xfrm>
              <a:prstGeom prst="rect">
                <a:avLst/>
              </a:prstGeom>
              <a:blipFill rotWithShape="1">
                <a:blip r:embed="rId10"/>
                <a:stretch>
                  <a:fillRect l="-35" t="-170" r="9" b="1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ounded Rectangle 18"/>
          <p:cNvSpPr/>
          <p:nvPr/>
        </p:nvSpPr>
        <p:spPr>
          <a:xfrm>
            <a:off x="5529441" y="4353971"/>
            <a:ext cx="5444640" cy="177383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19"/>
              <p:cNvSpPr txBox="1"/>
              <p:nvPr/>
            </p:nvSpPr>
            <p:spPr>
              <a:xfrm>
                <a:off x="5620500" y="4392582"/>
                <a:ext cx="3608614" cy="5655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2800" spc="-10" dirty="0">
                    <a:latin typeface="+mn-ea"/>
                  </a:rPr>
                  <a:t>假设空间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pc="-1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spc="-1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ℋ</m:t>
                        </m:r>
                      </m:e>
                      <m:sub>
                        <m:r>
                          <a:rPr lang="en-US" altLang="zh-CN" sz="2800" b="0" i="1" spc="-1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800" spc="-10" dirty="0">
                    <a:latin typeface="+mn-ea"/>
                  </a:rPr>
                  <a:t>拟合：</a:t>
                </a:r>
                <a:endParaRPr lang="en-US" altLang="zh-CN" sz="2800" spc="-10" dirty="0">
                  <a:latin typeface="+mn-ea"/>
                </a:endParaRPr>
              </a:p>
            </p:txBody>
          </p:sp>
        </mc:Choice>
        <mc:Fallback xmlns="">
          <p:sp>
            <p:nvSpPr>
              <p:cNvPr id="20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0500" y="4392582"/>
                <a:ext cx="3608614" cy="565539"/>
              </a:xfrm>
              <a:prstGeom prst="rect">
                <a:avLst/>
              </a:prstGeom>
              <a:blipFill rotWithShape="1">
                <a:blip r:embed="rId11"/>
                <a:stretch>
                  <a:fillRect l="-3" t="-51" r="1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6342187" y="4893898"/>
                <a:ext cx="259089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min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800" i="1">
                            <a:latin typeface="Cambria Math" panose="02040503050406030204" pitchFamily="18" charset="0"/>
                          </a:rPr>
                          <m:t>in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1" i="1" spc="-1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𝒘</m:t>
                    </m:r>
                    <m:r>
                      <a:rPr lang="en-US" altLang="zh-CN" sz="2800" b="1" i="1" spc="-1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2187" y="4893898"/>
                <a:ext cx="2590893" cy="523220"/>
              </a:xfrm>
              <a:prstGeom prst="rect">
                <a:avLst/>
              </a:prstGeom>
              <a:blipFill rotWithShape="1">
                <a:blip r:embed="rId9"/>
                <a:stretch>
                  <a:fillRect l="-17" t="-112" r="21" b="1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5879779" y="5300512"/>
                <a:ext cx="175785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pc="-1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𝒘</m:t>
                      </m:r>
                      <m:r>
                        <a:rPr lang="en-US" altLang="zh-CN" i="1" spc="-1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zh-CN" i="1" spc="-1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 spc="-1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altLang="zh-CN" i="1" spc="-1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10+1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9779" y="5300512"/>
                <a:ext cx="1757855" cy="369332"/>
              </a:xfrm>
              <a:prstGeom prst="rect">
                <a:avLst/>
              </a:prstGeom>
              <a:blipFill rotWithShape="1">
                <a:blip r:embed="rId10"/>
                <a:stretch>
                  <a:fillRect l="-18" t="-45" r="28" b="1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6369065" y="5671369"/>
                <a:ext cx="481056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 err="1"/>
                  <a:t>s.t.</a:t>
                </a:r>
                <a:r>
                  <a:rPr lang="en-US" sz="2800" dirty="0"/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pc="-1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spc="-1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800" i="1" spc="-1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800" i="1" spc="-1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800" i="1" spc="-1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spc="-1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800" i="1" spc="-1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CN" sz="2800" i="1" spc="-1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=…=</m:t>
                    </m:r>
                    <m:sSub>
                      <m:sSubPr>
                        <m:ctrlPr>
                          <a:rPr lang="en-US" altLang="zh-CN" sz="2800" i="1" spc="-1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spc="-1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800" i="1" spc="-1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US" altLang="zh-CN" sz="2800" i="1" spc="-1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9065" y="5671369"/>
                <a:ext cx="4810564" cy="523220"/>
              </a:xfrm>
              <a:prstGeom prst="rect">
                <a:avLst/>
              </a:prstGeom>
              <a:blipFill rotWithShape="1">
                <a:blip r:embed="rId12"/>
                <a:stretch>
                  <a:fillRect t="-35" r="9" b="-718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灯片编号占位符 2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F69888C-E133-43D9-A638-B5C95925B91C}" type="slidenum">
              <a:rPr lang="zh-CN" altLang="en-US" smtClean="0"/>
              <a:t>27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2" grpId="0" animBg="1"/>
      <p:bldP spid="11" grpId="0"/>
      <p:bldP spid="15" grpId="0"/>
      <p:bldP spid="17" grpId="0"/>
      <p:bldP spid="19" grpId="0" animBg="1"/>
      <p:bldP spid="20" grpId="0"/>
      <p:bldP spid="21" grpId="0"/>
      <p:bldP spid="22" grpId="0"/>
      <p:bldP spid="2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566961" y="265803"/>
            <a:ext cx="7440283" cy="426497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4000" dirty="0"/>
              <a:t>3</a:t>
            </a:r>
            <a:r>
              <a:rPr lang="zh-CN" altLang="en-US" sz="4000" dirty="0"/>
              <a:t>、</a:t>
            </a:r>
            <a:r>
              <a:rPr lang="zh-CN" altLang="en-US" sz="4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正则化方法</a:t>
            </a:r>
          </a:p>
        </p:txBody>
      </p:sp>
      <p:sp>
        <p:nvSpPr>
          <p:cNvPr id="18" name="文本框 119"/>
          <p:cNvSpPr txBox="1"/>
          <p:nvPr/>
        </p:nvSpPr>
        <p:spPr>
          <a:xfrm>
            <a:off x="374442" y="980795"/>
            <a:ext cx="11403926" cy="633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3200" spc="-10" dirty="0">
                <a:latin typeface="+mn-ea"/>
              </a:rPr>
              <a:t>对限制条件进行放松，推广到更一般的情形：</a:t>
            </a:r>
            <a:endParaRPr lang="en-US" altLang="zh-CN" sz="3200" spc="-10" dirty="0">
              <a:latin typeface="+mn-ea"/>
            </a:endParaRPr>
          </a:p>
        </p:txBody>
      </p:sp>
      <p:sp>
        <p:nvSpPr>
          <p:cNvPr id="12" name="AutoShape 4" descr="[公式]"/>
          <p:cNvSpPr>
            <a:spLocks noChangeAspect="1" noChangeArrowheads="1"/>
          </p:cNvSpPr>
          <p:nvPr/>
        </p:nvSpPr>
        <p:spPr bwMode="auto">
          <a:xfrm>
            <a:off x="4013200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579065" y="1706928"/>
            <a:ext cx="5444640" cy="177383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119"/>
              <p:cNvSpPr txBox="1"/>
              <p:nvPr/>
            </p:nvSpPr>
            <p:spPr>
              <a:xfrm>
                <a:off x="670124" y="1745539"/>
                <a:ext cx="3608614" cy="5655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2800" spc="-10" dirty="0">
                    <a:latin typeface="+mn-ea"/>
                  </a:rPr>
                  <a:t>假设空间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pc="-1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spc="-1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ℋ</m:t>
                        </m:r>
                      </m:e>
                      <m:sub>
                        <m:r>
                          <a:rPr lang="en-US" altLang="zh-CN" sz="2800" b="0" i="1" spc="-1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800" spc="-10" dirty="0">
                    <a:latin typeface="+mn-ea"/>
                  </a:rPr>
                  <a:t>拟合：</a:t>
                </a:r>
                <a:endParaRPr lang="en-US" altLang="zh-CN" sz="2800" spc="-10" dirty="0">
                  <a:latin typeface="+mn-ea"/>
                </a:endParaRPr>
              </a:p>
            </p:txBody>
          </p:sp>
        </mc:Choice>
        <mc:Fallback xmlns="">
          <p:sp>
            <p:nvSpPr>
              <p:cNvPr id="6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124" y="1745539"/>
                <a:ext cx="3608614" cy="565539"/>
              </a:xfrm>
              <a:prstGeom prst="rect">
                <a:avLst/>
              </a:prstGeom>
              <a:blipFill rotWithShape="1">
                <a:blip r:embed="rId3"/>
                <a:stretch>
                  <a:fillRect l="-6" t="-99" r="3" b="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391811" y="2246855"/>
                <a:ext cx="259089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min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800" i="1">
                            <a:latin typeface="Cambria Math" panose="02040503050406030204" pitchFamily="18" charset="0"/>
                          </a:rPr>
                          <m:t>in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1" i="1" spc="-1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𝒘</m:t>
                    </m:r>
                    <m:r>
                      <a:rPr lang="en-US" altLang="zh-CN" sz="2800" b="1" i="1" spc="-1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1811" y="2246855"/>
                <a:ext cx="2590893" cy="523220"/>
              </a:xfrm>
              <a:prstGeom prst="rect">
                <a:avLst/>
              </a:prstGeom>
              <a:blipFill rotWithShape="1">
                <a:blip r:embed="rId4"/>
                <a:stretch>
                  <a:fillRect l="-20" t="-43" r="24" b="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929403" y="2653469"/>
                <a:ext cx="175785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pc="-1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𝒘</m:t>
                      </m:r>
                      <m:r>
                        <a:rPr lang="en-US" altLang="zh-CN" i="1" spc="-1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zh-CN" i="1" spc="-1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 spc="-1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altLang="zh-CN" i="1" spc="-1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10+1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403" y="2653469"/>
                <a:ext cx="1757855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23" t="-119" r="33" b="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418689" y="3024326"/>
                <a:ext cx="481056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 err="1"/>
                  <a:t>s.t.</a:t>
                </a:r>
                <a:r>
                  <a:rPr lang="en-US" sz="2800" dirty="0"/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pc="-1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spc="-1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800" i="1" spc="-1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800" i="1" spc="-1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800" i="1" spc="-1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spc="-1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800" i="1" spc="-1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CN" sz="2800" i="1" spc="-1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=…=</m:t>
                    </m:r>
                    <m:sSub>
                      <m:sSubPr>
                        <m:ctrlPr>
                          <a:rPr lang="en-US" altLang="zh-CN" sz="2800" i="1" spc="-1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spc="-1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800" i="1" spc="-1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US" altLang="zh-CN" sz="2800" i="1" spc="-1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8689" y="3024326"/>
                <a:ext cx="4810564" cy="523220"/>
              </a:xfrm>
              <a:prstGeom prst="rect">
                <a:avLst/>
              </a:prstGeom>
              <a:blipFill rotWithShape="1">
                <a:blip r:embed="rId6"/>
                <a:stretch>
                  <a:fillRect l="-2" t="-87" r="11" b="-717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6333728" y="1702497"/>
            <a:ext cx="5444640" cy="177383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19"/>
              <p:cNvSpPr txBox="1"/>
              <p:nvPr/>
            </p:nvSpPr>
            <p:spPr>
              <a:xfrm>
                <a:off x="6424787" y="1741108"/>
                <a:ext cx="3608614" cy="5655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2800" spc="-10" dirty="0">
                    <a:latin typeface="+mn-ea"/>
                  </a:rPr>
                  <a:t>假设空间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pc="-1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spc="-1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ℋ</m:t>
                        </m:r>
                        <m:r>
                          <a:rPr lang="en-US" altLang="zh-CN" sz="2800" b="0" i="1" spc="-1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US" altLang="zh-CN" sz="2800" b="0" i="1" spc="-1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800" spc="-10" dirty="0">
                    <a:latin typeface="+mn-ea"/>
                  </a:rPr>
                  <a:t>拟合：</a:t>
                </a:r>
                <a:endParaRPr lang="en-US" altLang="zh-CN" sz="2800" spc="-10" dirty="0">
                  <a:latin typeface="+mn-ea"/>
                </a:endParaRPr>
              </a:p>
            </p:txBody>
          </p:sp>
        </mc:Choice>
        <mc:Fallback xmlns="">
          <p:sp>
            <p:nvSpPr>
              <p:cNvPr id="11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4787" y="1741108"/>
                <a:ext cx="3608614" cy="565539"/>
              </a:xfrm>
              <a:prstGeom prst="rect">
                <a:avLst/>
              </a:prstGeom>
              <a:blipFill rotWithShape="1">
                <a:blip r:embed="rId7"/>
                <a:stretch>
                  <a:fillRect l="-14" t="-101" r="11" b="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7146474" y="2242424"/>
                <a:ext cx="259089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min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800" i="1">
                            <a:latin typeface="Cambria Math" panose="02040503050406030204" pitchFamily="18" charset="0"/>
                          </a:rPr>
                          <m:t>in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1" i="1" spc="-1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𝒘</m:t>
                    </m:r>
                    <m:r>
                      <a:rPr lang="en-US" altLang="zh-CN" sz="2800" b="1" i="1" spc="-1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6474" y="2242424"/>
                <a:ext cx="2590893" cy="523220"/>
              </a:xfrm>
              <a:prstGeom prst="rect">
                <a:avLst/>
              </a:prstGeom>
              <a:blipFill rotWithShape="1">
                <a:blip r:embed="rId4"/>
                <a:stretch>
                  <a:fillRect l="-7" t="-46" r="11" b="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6684066" y="2649038"/>
                <a:ext cx="175785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pc="-1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𝒘</m:t>
                      </m:r>
                      <m:r>
                        <a:rPr lang="en-US" altLang="zh-CN" i="1" spc="-1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zh-CN" i="1" spc="-1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 spc="-1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altLang="zh-CN" i="1" spc="-1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10+1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4066" y="2649038"/>
                <a:ext cx="1757855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3" t="-123" r="13" b="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7173352" y="3019895"/>
                <a:ext cx="4810564" cy="5777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s.t.  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2800" i="1" spc="-1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800" b="0" i="1" spc="-1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altLang="zh-CN" sz="2800" b="0" i="1" spc="-1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CN" sz="2800" b="0" i="1" spc="-1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r>
                          <a:rPr lang="en-US" altLang="zh-CN" sz="2800" i="1" spc="-1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𝕀</m:t>
                        </m:r>
                        <m:r>
                          <a:rPr lang="en-US" altLang="zh-CN" sz="2800" b="0" i="1" spc="-1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800" i="1" spc="-1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 spc="-1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2800" b="0" i="1" spc="-1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  <m:r>
                          <a:rPr lang="en-US" altLang="zh-CN" sz="2800" i="1" spc="-1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r>
                          <a:rPr lang="en-US" altLang="zh-CN" sz="2800" b="0" i="1" spc="-1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0)</m:t>
                        </m:r>
                      </m:e>
                    </m:nary>
                    <m:r>
                      <a:rPr lang="en-US" altLang="zh-CN" sz="2800" i="1" spc="-1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800" b="0" i="1" spc="-1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3352" y="3019895"/>
                <a:ext cx="4810564" cy="577722"/>
              </a:xfrm>
              <a:prstGeom prst="rect">
                <a:avLst/>
              </a:prstGeom>
              <a:blipFill rotWithShape="1">
                <a:blip r:embed="rId8"/>
                <a:stretch>
                  <a:fillRect l="-8" t="-81" r="4" b="-62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19"/>
              <p:cNvSpPr txBox="1"/>
              <p:nvPr/>
            </p:nvSpPr>
            <p:spPr>
              <a:xfrm>
                <a:off x="670124" y="3799958"/>
                <a:ext cx="11403926" cy="6331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buFont typeface="Arial" panose="020B0604020202090204" pitchFamily="34" charset="0"/>
                  <a:buChar char="•"/>
                </a:pPr>
                <a:r>
                  <a:rPr lang="zh-CN" altLang="en-US" sz="3200" spc="-10" dirty="0">
                    <a:latin typeface="+mn-ea"/>
                  </a:rPr>
                  <a:t>假设空间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spc="-1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spc="-1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ℋ</m:t>
                        </m:r>
                        <m:r>
                          <a:rPr lang="en-US" altLang="zh-CN" sz="3200" i="1" spc="-1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US" altLang="zh-CN" sz="3200" i="1" spc="-1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200" i="1" spc="-1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3200" spc="-10" dirty="0">
                    <a:latin typeface="+mn-ea"/>
                  </a:rPr>
                  <a:t>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spc="-1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spc="-1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ℋ</m:t>
                        </m:r>
                      </m:e>
                      <m:sub>
                        <m:r>
                          <a:rPr lang="en-US" altLang="zh-CN" sz="3200" i="1" spc="-1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3200" spc="-10" dirty="0">
                    <a:latin typeface="+mn-ea"/>
                  </a:rPr>
                  <a:t>更灵活：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spc="-1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spc="-1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ℋ</m:t>
                        </m:r>
                      </m:e>
                      <m:sub>
                        <m:r>
                          <a:rPr lang="en-US" altLang="zh-CN" sz="3200" i="1" spc="-1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sz="3200" i="1" spc="-1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⊂</m:t>
                    </m:r>
                    <m:sSub>
                      <m:sSubPr>
                        <m:ctrlPr>
                          <a:rPr lang="en-US" altLang="zh-CN" sz="3200" i="1" spc="-1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spc="-1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ℋ</m:t>
                        </m:r>
                        <m:r>
                          <a:rPr lang="en-US" altLang="zh-CN" sz="3200" i="1" spc="-1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US" altLang="zh-CN" sz="3200" i="1" spc="-1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altLang="zh-CN" sz="3200" spc="-10" dirty="0">
                  <a:latin typeface="+mn-ea"/>
                </a:endParaRPr>
              </a:p>
            </p:txBody>
          </p:sp>
        </mc:Choice>
        <mc:Fallback xmlns="">
          <p:sp>
            <p:nvSpPr>
              <p:cNvPr id="16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124" y="3799958"/>
                <a:ext cx="11403926" cy="633187"/>
              </a:xfrm>
              <a:prstGeom prst="rect">
                <a:avLst/>
              </a:prstGeom>
              <a:blipFill rotWithShape="1">
                <a:blip r:embed="rId9"/>
                <a:stretch>
                  <a:fillRect l="-2" t="-19" r="1" b="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19"/>
              <p:cNvSpPr txBox="1"/>
              <p:nvPr/>
            </p:nvSpPr>
            <p:spPr>
              <a:xfrm>
                <a:off x="670124" y="4492623"/>
                <a:ext cx="11403926" cy="6331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buFont typeface="Arial" panose="020B0604020202090204" pitchFamily="34" charset="0"/>
                  <a:buChar char="•"/>
                </a:pPr>
                <a:r>
                  <a:rPr lang="zh-CN" altLang="en-US" sz="3200" spc="-10" dirty="0">
                    <a:latin typeface="+mn-ea"/>
                  </a:rPr>
                  <a:t>假设空间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spc="-1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spc="-1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ℋ</m:t>
                        </m:r>
                        <m:r>
                          <a:rPr lang="en-US" altLang="zh-CN" sz="3200" i="1" spc="-1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US" altLang="zh-CN" sz="3200" i="1" spc="-1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200" i="1" spc="-1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3200" spc="-10" dirty="0">
                    <a:latin typeface="+mn-ea"/>
                  </a:rPr>
                  <a:t>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spc="-1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spc="-1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ℋ</m:t>
                        </m:r>
                      </m:e>
                      <m:sub>
                        <m:r>
                          <a:rPr lang="en-US" altLang="zh-CN" sz="3200" b="0" i="1" spc="-1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lang="zh-CN" altLang="en-US" sz="3200" spc="-10" dirty="0">
                    <a:latin typeface="+mn-ea"/>
                  </a:rPr>
                  <a:t>过拟合风险更低：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spc="-1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spc="-1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ℋ</m:t>
                        </m:r>
                        <m:r>
                          <a:rPr lang="en-US" altLang="zh-CN" sz="3200" i="1" spc="-1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US" altLang="zh-CN" sz="3200" i="1" spc="-1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3200" spc="-10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3200" i="1" spc="-1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⊂</m:t>
                    </m:r>
                    <m:sSub>
                      <m:sSubPr>
                        <m:ctrlPr>
                          <a:rPr lang="en-US" altLang="zh-CN" sz="3200" i="1" spc="-1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spc="-1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ℋ</m:t>
                        </m:r>
                      </m:e>
                      <m:sub>
                        <m:r>
                          <a:rPr lang="en-US" altLang="zh-CN" sz="3200" b="0" i="1" spc="-1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endParaRPr lang="en-US" altLang="zh-CN" sz="3200" spc="-10" dirty="0">
                  <a:latin typeface="+mn-ea"/>
                </a:endParaRPr>
              </a:p>
            </p:txBody>
          </p:sp>
        </mc:Choice>
        <mc:Fallback xmlns="">
          <p:sp>
            <p:nvSpPr>
              <p:cNvPr id="17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124" y="4492623"/>
                <a:ext cx="11403926" cy="633187"/>
              </a:xfrm>
              <a:prstGeom prst="rect">
                <a:avLst/>
              </a:prstGeom>
              <a:blipFill rotWithShape="1">
                <a:blip r:embed="rId10"/>
                <a:stretch>
                  <a:fillRect l="-2" t="-100" r="1" b="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19"/>
              <p:cNvSpPr txBox="1"/>
              <p:nvPr/>
            </p:nvSpPr>
            <p:spPr>
              <a:xfrm>
                <a:off x="660799" y="5345718"/>
                <a:ext cx="11403926" cy="735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buFont typeface="Arial" panose="020B0604020202090204" pitchFamily="34" charset="0"/>
                  <a:buChar char="•"/>
                </a:pPr>
                <a:r>
                  <a:rPr lang="zh-CN" altLang="en-US" sz="3200" spc="-10" dirty="0">
                    <a:solidFill>
                      <a:srgbClr val="FF0000"/>
                    </a:solidFill>
                    <a:latin typeface="+mn-ea"/>
                  </a:rPr>
                  <a:t>缺点：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3200" i="1" spc="-1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i="1" spc="-1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altLang="zh-CN" sz="3200" i="1" spc="-1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CN" sz="3200" i="1" spc="-1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r>
                          <a:rPr lang="en-US" altLang="zh-CN" sz="3200" i="1" spc="-1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𝕀</m:t>
                        </m:r>
                        <m:r>
                          <a:rPr lang="en-US" altLang="zh-CN" sz="3200" i="1" spc="-1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3200" i="1" spc="-1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i="1" spc="-1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3200" i="1" spc="-1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  <m:r>
                          <a:rPr lang="en-US" altLang="zh-CN" sz="3200" i="1" spc="-1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≠0)</m:t>
                        </m:r>
                      </m:e>
                    </m:nary>
                    <m:r>
                      <a:rPr lang="en-US" altLang="zh-CN" sz="3200" i="1" spc="-10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3200" i="1" spc="-1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zh-CN" altLang="en-US" sz="3200" spc="-10" dirty="0">
                    <a:latin typeface="+mn-ea"/>
                  </a:rPr>
                  <a:t>是离散不等式，不易求解</a:t>
                </a:r>
                <a:endParaRPr lang="en-US" altLang="zh-CN" sz="3200" spc="-10" dirty="0">
                  <a:latin typeface="+mn-ea"/>
                </a:endParaRPr>
              </a:p>
            </p:txBody>
          </p:sp>
        </mc:Choice>
        <mc:Fallback xmlns="">
          <p:sp>
            <p:nvSpPr>
              <p:cNvPr id="19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799" y="5345718"/>
                <a:ext cx="11403926" cy="735138"/>
              </a:xfrm>
              <a:prstGeom prst="rect">
                <a:avLst/>
              </a:prstGeom>
              <a:blipFill rotWithShape="1">
                <a:blip r:embed="rId11"/>
                <a:stretch>
                  <a:fillRect l="-3" t="-39" r="3" b="-126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/>
          <p:cNvCxnSpPr/>
          <p:nvPr/>
        </p:nvCxnSpPr>
        <p:spPr>
          <a:xfrm>
            <a:off x="5895031" y="2649038"/>
            <a:ext cx="668444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灯片编号占位符 1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F69888C-E133-43D9-A638-B5C95925B91C}" type="slidenum">
              <a:rPr lang="zh-CN" altLang="en-US" smtClean="0"/>
              <a:t>28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566961" y="265803"/>
            <a:ext cx="7440283" cy="426497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4000" dirty="0"/>
              <a:t>3</a:t>
            </a:r>
            <a:r>
              <a:rPr lang="zh-CN" altLang="en-US" sz="4000" dirty="0"/>
              <a:t>、</a:t>
            </a:r>
            <a:r>
              <a:rPr lang="zh-CN" altLang="en-US" sz="4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正则化方法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19"/>
              <p:cNvSpPr txBox="1"/>
              <p:nvPr/>
            </p:nvSpPr>
            <p:spPr>
              <a:xfrm>
                <a:off x="374442" y="791604"/>
                <a:ext cx="11403926" cy="735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3200" spc="-10" dirty="0">
                    <a:latin typeface="+mn-ea"/>
                  </a:rPr>
                  <a:t>对于向量</a:t>
                </a:r>
                <a14:m>
                  <m:oMath xmlns:m="http://schemas.openxmlformats.org/officeDocument/2006/math">
                    <m:r>
                      <a:rPr lang="en-US" altLang="zh-CN" sz="3200" b="1" i="1" spc="-1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zh-CN" altLang="en-US" sz="3200" spc="-1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spc="-1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3200" i="1" spc="-1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b="1" i="1" spc="-1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𝒘</m:t>
                            </m:r>
                          </m:e>
                        </m:d>
                      </m:e>
                      <m:sub>
                        <m:r>
                          <a:rPr lang="en-US" altLang="zh-CN" sz="3200" i="1" spc="-1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3200" b="0" i="1" spc="-1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3200" i="1" spc="-1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i="1" spc="-1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altLang="zh-CN" sz="3200" i="1" spc="-1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CN" sz="3200" i="1" spc="-1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r>
                          <a:rPr lang="en-US" altLang="zh-CN" sz="3200" i="1" spc="-1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𝕀</m:t>
                        </m:r>
                        <m:r>
                          <a:rPr lang="en-US" altLang="zh-CN" sz="3200" i="1" spc="-1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3200" i="1" spc="-1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i="1" spc="-1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3200" i="1" spc="-1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  <m:r>
                          <a:rPr lang="en-US" altLang="zh-CN" sz="3200" i="1" spc="-1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≠0)</m:t>
                        </m:r>
                      </m:e>
                    </m:nary>
                  </m:oMath>
                </a14:m>
                <a:r>
                  <a:rPr lang="en-US" altLang="zh-CN" sz="3200" spc="-10" dirty="0">
                    <a:latin typeface="+mn-ea"/>
                  </a:rPr>
                  <a:t>   </a:t>
                </a:r>
                <a:r>
                  <a:rPr lang="zh-CN" altLang="en-US" sz="3200" spc="-10" dirty="0">
                    <a:latin typeface="+mn-ea"/>
                  </a:rPr>
                  <a:t>表示其</a:t>
                </a:r>
                <a:r>
                  <a:rPr lang="en-US" altLang="zh-CN" sz="3200" spc="-10" dirty="0">
                    <a:latin typeface="+mn-ea"/>
                  </a:rPr>
                  <a:t>0-</a:t>
                </a:r>
                <a:r>
                  <a:rPr lang="zh-CN" altLang="en-US" sz="3200" spc="-10" dirty="0">
                    <a:latin typeface="+mn-ea"/>
                  </a:rPr>
                  <a:t>范数</a:t>
                </a:r>
                <a:endParaRPr lang="en-US" altLang="zh-CN" sz="3200" spc="-10" dirty="0">
                  <a:latin typeface="+mn-ea"/>
                </a:endParaRPr>
              </a:p>
            </p:txBody>
          </p:sp>
        </mc:Choice>
        <mc:Fallback xmlns="">
          <p:sp>
            <p:nvSpPr>
              <p:cNvPr id="18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442" y="791604"/>
                <a:ext cx="11403926" cy="735138"/>
              </a:xfrm>
              <a:prstGeom prst="rect">
                <a:avLst/>
              </a:prstGeom>
              <a:blipFill rotWithShape="1">
                <a:blip r:embed="rId3"/>
                <a:stretch>
                  <a:fillRect l="-4" t="-54" r="3" b="-126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AutoShape 4" descr="[公式]"/>
          <p:cNvSpPr>
            <a:spLocks noChangeAspect="1" noChangeArrowheads="1"/>
          </p:cNvSpPr>
          <p:nvPr/>
        </p:nvSpPr>
        <p:spPr bwMode="auto">
          <a:xfrm>
            <a:off x="4013200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19"/>
              <p:cNvSpPr txBox="1"/>
              <p:nvPr/>
            </p:nvSpPr>
            <p:spPr>
              <a:xfrm>
                <a:off x="314267" y="3151593"/>
                <a:ext cx="11403926" cy="6331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3200" spc="-10" dirty="0">
                    <a:solidFill>
                      <a:schemeClr val="tx1"/>
                    </a:solidFill>
                    <a:latin typeface="+mn-ea"/>
                  </a:rPr>
                  <a:t>将假设空间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spc="-1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spc="-1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ℋ</m:t>
                        </m:r>
                        <m:r>
                          <a:rPr lang="en-US" altLang="zh-CN" sz="3200" i="1" spc="-1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US" altLang="zh-CN" sz="3200" i="1" spc="-1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3200" spc="-10" dirty="0">
                    <a:latin typeface="+mn-ea"/>
                  </a:rPr>
                  <a:t>的限制条件进行变换</a:t>
                </a:r>
                <a:r>
                  <a:rPr lang="en-US" altLang="zh-CN" sz="3200" spc="-10" dirty="0">
                    <a:latin typeface="+mn-ea"/>
                  </a:rPr>
                  <a:t>:</a:t>
                </a:r>
              </a:p>
            </p:txBody>
          </p:sp>
        </mc:Choice>
        <mc:Fallback xmlns="">
          <p:sp>
            <p:nvSpPr>
              <p:cNvPr id="19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267" y="3151593"/>
                <a:ext cx="11403926" cy="633187"/>
              </a:xfrm>
              <a:prstGeom prst="rect">
                <a:avLst/>
              </a:prstGeom>
              <a:blipFill rotWithShape="1">
                <a:blip r:embed="rId4"/>
                <a:stretch>
                  <a:fillRect l="-5" t="-14" r="5" b="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19"/>
              <p:cNvSpPr txBox="1"/>
              <p:nvPr/>
            </p:nvSpPr>
            <p:spPr>
              <a:xfrm>
                <a:off x="3168115" y="1526742"/>
                <a:ext cx="8817784" cy="7535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spc="-1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3200" i="1" spc="-1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b="1" i="1" spc="-1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𝒘</m:t>
                            </m:r>
                          </m:e>
                        </m:d>
                      </m:e>
                      <m:sub>
                        <m:r>
                          <a:rPr lang="en-US" altLang="zh-CN" sz="3200" b="0" i="1" spc="-1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200" b="0" i="1" spc="-1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3200" i="1" spc="-1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i="1" spc="-1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altLang="zh-CN" sz="3200" i="1" spc="-1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CN" sz="3200" i="1" spc="-1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3200" i="1" spc="-1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3200" i="1" spc="-1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i="1" spc="-1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CN" sz="3200" i="1" spc="-1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en-US" altLang="zh-CN" sz="3200" spc="-10" dirty="0">
                    <a:latin typeface="+mn-ea"/>
                  </a:rPr>
                  <a:t>            </a:t>
                </a:r>
                <a:r>
                  <a:rPr lang="zh-CN" altLang="en-US" sz="3200" spc="-10" dirty="0">
                    <a:latin typeface="+mn-ea"/>
                  </a:rPr>
                  <a:t>表示其</a:t>
                </a:r>
                <a:r>
                  <a:rPr lang="en-US" altLang="zh-CN" sz="3200" spc="-10" dirty="0">
                    <a:latin typeface="+mn-ea"/>
                  </a:rPr>
                  <a:t>1-</a:t>
                </a:r>
                <a:r>
                  <a:rPr lang="zh-CN" altLang="en-US" sz="3200" spc="-10" dirty="0">
                    <a:latin typeface="+mn-ea"/>
                  </a:rPr>
                  <a:t>范数</a:t>
                </a:r>
                <a:endParaRPr lang="en-US" altLang="zh-CN" sz="3200" spc="-10" dirty="0">
                  <a:latin typeface="+mn-ea"/>
                </a:endParaRPr>
              </a:p>
            </p:txBody>
          </p:sp>
        </mc:Choice>
        <mc:Fallback xmlns="">
          <p:sp>
            <p:nvSpPr>
              <p:cNvPr id="20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8115" y="1526742"/>
                <a:ext cx="8817784" cy="753540"/>
              </a:xfrm>
              <a:prstGeom prst="rect">
                <a:avLst/>
              </a:prstGeom>
              <a:blipFill rotWithShape="1">
                <a:blip r:embed="rId5"/>
                <a:stretch>
                  <a:fillRect l="-1" t="-27" r="3" b="-99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119"/>
              <p:cNvSpPr txBox="1"/>
              <p:nvPr/>
            </p:nvSpPr>
            <p:spPr>
              <a:xfrm>
                <a:off x="3168115" y="2045143"/>
                <a:ext cx="8817784" cy="12949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spc="-1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3200" i="1" spc="-1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b="1" i="1" spc="-1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𝒘</m:t>
                            </m:r>
                          </m:e>
                        </m:d>
                      </m:e>
                      <m:sub>
                        <m:r>
                          <a:rPr lang="en-US" altLang="zh-CN" sz="3200" b="0" i="1" spc="-1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200" b="0" i="1" spc="-1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3200" b="0" i="1" spc="-1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nary>
                          <m:naryPr>
                            <m:chr m:val="∑"/>
                            <m:ctrlPr>
                              <a:rPr lang="en-US" altLang="zh-CN" sz="3200" i="1" spc="-1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3200" i="1" spc="-1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altLang="zh-CN" sz="3200" i="1" spc="-10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altLang="zh-CN" sz="3200" i="1" spc="-1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en-US" altLang="zh-CN" sz="3200" i="1" spc="-1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3200" i="1" spc="-1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CN" sz="3200" i="1" spc="-1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b>
                              <m:sup>
                                <m:r>
                                  <a:rPr lang="en-US" altLang="zh-CN" sz="3200" i="1" spc="-1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</m:e>
                    </m:rad>
                  </m:oMath>
                </a14:m>
                <a:r>
                  <a:rPr lang="en-US" altLang="zh-CN" sz="3200" spc="-10" dirty="0">
                    <a:latin typeface="+mn-ea"/>
                  </a:rPr>
                  <a:t>             </a:t>
                </a:r>
                <a:r>
                  <a:rPr lang="zh-CN" altLang="en-US" sz="3200" spc="-10" dirty="0">
                    <a:latin typeface="+mn-ea"/>
                  </a:rPr>
                  <a:t>表示其</a:t>
                </a:r>
                <a:r>
                  <a:rPr lang="en-US" altLang="zh-CN" sz="3200" b="1" spc="-10" dirty="0">
                    <a:solidFill>
                      <a:srgbClr val="FF0000"/>
                    </a:solidFill>
                    <a:latin typeface="+mn-ea"/>
                  </a:rPr>
                  <a:t>2-</a:t>
                </a:r>
                <a:r>
                  <a:rPr lang="zh-CN" altLang="en-US" sz="3200" b="1" spc="-10" dirty="0">
                    <a:solidFill>
                      <a:srgbClr val="FF0000"/>
                    </a:solidFill>
                    <a:latin typeface="+mn-ea"/>
                  </a:rPr>
                  <a:t>范数</a:t>
                </a:r>
                <a:endParaRPr lang="en-US" altLang="zh-CN" sz="3200" b="1" spc="-10" dirty="0">
                  <a:solidFill>
                    <a:srgbClr val="FF0000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21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8115" y="2045143"/>
                <a:ext cx="8817784" cy="1294906"/>
              </a:xfrm>
              <a:prstGeom prst="rect">
                <a:avLst/>
              </a:prstGeom>
              <a:blipFill rotWithShape="1">
                <a:blip r:embed="rId6"/>
                <a:stretch>
                  <a:fillRect l="-1" t="-34" r="3" b="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ounded Rectangle 21"/>
          <p:cNvSpPr/>
          <p:nvPr/>
        </p:nvSpPr>
        <p:spPr>
          <a:xfrm>
            <a:off x="445812" y="3881320"/>
            <a:ext cx="5150947" cy="177383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119"/>
              <p:cNvSpPr txBox="1"/>
              <p:nvPr/>
            </p:nvSpPr>
            <p:spPr>
              <a:xfrm>
                <a:off x="536871" y="3919931"/>
                <a:ext cx="3608614" cy="5655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2800" spc="-10" dirty="0">
                    <a:latin typeface="+mn-ea"/>
                  </a:rPr>
                  <a:t>假设空间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pc="-1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spc="-1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ℋ</m:t>
                        </m:r>
                        <m:r>
                          <a:rPr lang="en-US" altLang="zh-CN" sz="2800" b="0" i="1" spc="-1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US" altLang="zh-CN" sz="2800" b="0" i="1" spc="-1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800" spc="-10" dirty="0">
                    <a:latin typeface="+mn-ea"/>
                  </a:rPr>
                  <a:t>拟合：</a:t>
                </a:r>
                <a:endParaRPr lang="en-US" altLang="zh-CN" sz="2800" spc="-10" dirty="0">
                  <a:latin typeface="+mn-ea"/>
                </a:endParaRPr>
              </a:p>
            </p:txBody>
          </p:sp>
        </mc:Choice>
        <mc:Fallback xmlns="">
          <p:sp>
            <p:nvSpPr>
              <p:cNvPr id="23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871" y="3919931"/>
                <a:ext cx="3608614" cy="565539"/>
              </a:xfrm>
              <a:prstGeom prst="rect">
                <a:avLst/>
              </a:prstGeom>
              <a:blipFill rotWithShape="1">
                <a:blip r:embed="rId7"/>
                <a:stretch>
                  <a:fillRect l="-8" t="-13" r="6" b="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1258558" y="4421247"/>
                <a:ext cx="259089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min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800" i="1">
                            <a:latin typeface="Cambria Math" panose="02040503050406030204" pitchFamily="18" charset="0"/>
                          </a:rPr>
                          <m:t>in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1" i="1" spc="-1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𝒘</m:t>
                    </m:r>
                    <m:r>
                      <a:rPr lang="en-US" altLang="zh-CN" sz="2800" b="1" i="1" spc="-1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8558" y="4421247"/>
                <a:ext cx="2590893" cy="523220"/>
              </a:xfrm>
              <a:prstGeom prst="rect">
                <a:avLst/>
              </a:prstGeom>
              <a:blipFill rotWithShape="1">
                <a:blip r:embed="rId8"/>
                <a:stretch>
                  <a:fillRect l="-24" t="-72" r="3" b="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796150" y="4827861"/>
                <a:ext cx="175785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pc="-1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𝒘</m:t>
                      </m:r>
                      <m:r>
                        <a:rPr lang="en-US" altLang="zh-CN" i="1" spc="-1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zh-CN" i="1" spc="-1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 spc="-1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altLang="zh-CN" i="1" spc="-1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10+1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150" y="4827861"/>
                <a:ext cx="1757855" cy="369332"/>
              </a:xfrm>
              <a:prstGeom prst="rect">
                <a:avLst/>
              </a:prstGeom>
              <a:blipFill rotWithShape="1">
                <a:blip r:embed="rId9"/>
                <a:stretch>
                  <a:fillRect l="-28" t="-160" r="2" b="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1285436" y="5198718"/>
                <a:ext cx="4810564" cy="5777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s.t.  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2800" i="1" spc="-1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800" b="0" i="1" spc="-1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altLang="zh-CN" sz="2800" b="0" i="1" spc="-1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CN" sz="2800" b="0" i="1" spc="-1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r>
                          <a:rPr lang="en-US" altLang="zh-CN" sz="2800" i="1" spc="-1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𝕀</m:t>
                        </m:r>
                        <m:r>
                          <a:rPr lang="en-US" altLang="zh-CN" sz="2800" b="0" i="1" spc="-1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800" i="1" spc="-1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 spc="-1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2800" b="0" i="1" spc="-1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  <m:r>
                          <a:rPr lang="en-US" altLang="zh-CN" sz="2800" i="1" spc="-1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r>
                          <a:rPr lang="en-US" altLang="zh-CN" sz="2800" b="0" i="1" spc="-1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0)</m:t>
                        </m:r>
                      </m:e>
                    </m:nary>
                    <m:r>
                      <a:rPr lang="en-US" altLang="zh-CN" sz="2800" i="1" spc="-1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800" b="0" i="1" spc="-1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5436" y="5198718"/>
                <a:ext cx="4810564" cy="577722"/>
              </a:xfrm>
              <a:prstGeom prst="rect">
                <a:avLst/>
              </a:prstGeom>
              <a:blipFill rotWithShape="1">
                <a:blip r:embed="rId10"/>
                <a:stretch>
                  <a:fillRect l="-4" t="-105" b="-61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ounded Rectangle 26"/>
          <p:cNvSpPr/>
          <p:nvPr/>
        </p:nvSpPr>
        <p:spPr>
          <a:xfrm>
            <a:off x="6263227" y="3881320"/>
            <a:ext cx="5454965" cy="194417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119"/>
              <p:cNvSpPr txBox="1"/>
              <p:nvPr/>
            </p:nvSpPr>
            <p:spPr>
              <a:xfrm>
                <a:off x="6354287" y="3919931"/>
                <a:ext cx="3608614" cy="5655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2800" spc="-10" dirty="0">
                    <a:latin typeface="+mn-ea"/>
                  </a:rPr>
                  <a:t>假设空间</a:t>
                </a:r>
                <a14:m>
                  <m:oMath xmlns:m="http://schemas.openxmlformats.org/officeDocument/2006/math">
                    <m:r>
                      <a:rPr lang="en-US" altLang="zh-CN" sz="2800" i="1" spc="-1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ℋ</m:t>
                    </m:r>
                    <m:r>
                      <a:rPr lang="en-US" altLang="zh-CN" sz="2800" b="0" i="1" spc="-1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800" b="0" i="1" spc="-1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altLang="zh-CN" sz="2800" b="0" i="1" spc="-1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spc="-10" dirty="0">
                    <a:latin typeface="+mn-ea"/>
                  </a:rPr>
                  <a:t>拟合：</a:t>
                </a:r>
                <a:endParaRPr lang="en-US" altLang="zh-CN" sz="2800" spc="-10" dirty="0">
                  <a:latin typeface="+mn-ea"/>
                </a:endParaRPr>
              </a:p>
            </p:txBody>
          </p:sp>
        </mc:Choice>
        <mc:Fallback xmlns="">
          <p:sp>
            <p:nvSpPr>
              <p:cNvPr id="28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4287" y="3919931"/>
                <a:ext cx="3608614" cy="565539"/>
              </a:xfrm>
              <a:prstGeom prst="rect">
                <a:avLst/>
              </a:prstGeom>
              <a:blipFill rotWithShape="1">
                <a:blip r:embed="rId11"/>
                <a:stretch>
                  <a:fillRect l="-13" t="-13" r="11" b="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7075974" y="4421247"/>
                <a:ext cx="259089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min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800" i="1">
                            <a:latin typeface="Cambria Math" panose="02040503050406030204" pitchFamily="18" charset="0"/>
                          </a:rPr>
                          <m:t>in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1" i="1" spc="-1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𝒘</m:t>
                    </m:r>
                    <m:r>
                      <a:rPr lang="en-US" altLang="zh-CN" sz="2800" b="1" i="1" spc="-1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5974" y="4421247"/>
                <a:ext cx="2590893" cy="523220"/>
              </a:xfrm>
              <a:prstGeom prst="rect">
                <a:avLst/>
              </a:prstGeom>
              <a:blipFill rotWithShape="1">
                <a:blip r:embed="rId8"/>
                <a:stretch>
                  <a:fillRect l="-7" t="-72" r="10" b="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6613566" y="4827861"/>
                <a:ext cx="175785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pc="-1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𝒘</m:t>
                      </m:r>
                      <m:r>
                        <a:rPr lang="en-US" altLang="zh-CN" i="1" spc="-1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zh-CN" i="1" spc="-1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 spc="-1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altLang="zh-CN" i="1" spc="-1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10+1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3566" y="4827861"/>
                <a:ext cx="1757855" cy="369332"/>
              </a:xfrm>
              <a:prstGeom prst="rect">
                <a:avLst/>
              </a:prstGeom>
              <a:blipFill rotWithShape="1">
                <a:blip r:embed="rId9"/>
                <a:stretch>
                  <a:fillRect l="-2" t="-160" r="12" b="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7102852" y="5198718"/>
                <a:ext cx="4810564" cy="626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s.t.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 spc="-1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i="1" spc="-1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altLang="zh-CN" sz="2800" i="1" spc="-1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b="1" i="1" spc="-1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</m:d>
                          </m:e>
                          <m:sub>
                            <m:r>
                              <a:rPr lang="en-US" altLang="zh-CN" sz="2800" i="1" spc="-1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sup>
                        <m:r>
                          <a:rPr lang="en-US" altLang="zh-CN" sz="2800" b="0" i="1" spc="-1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800" b="0" i="1" spc="-1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2800" i="1" spc="-1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800" b="0" i="1" spc="-1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altLang="zh-CN" sz="2800" b="0" i="1" spc="-1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CN" sz="2800" b="0" i="1" spc="-1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sSubSup>
                          <m:sSubSupPr>
                            <m:ctrlPr>
                              <a:rPr lang="en-US" altLang="zh-CN" sz="2800" i="1" spc="-1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800" i="1" spc="-1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2800" i="1" spc="-1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  <m:sup>
                            <m:r>
                              <a:rPr lang="en-US" altLang="zh-CN" sz="2800" i="1" spc="-1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  <m:r>
                      <a:rPr lang="en-US" altLang="zh-CN" sz="2800" i="1" spc="-1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800" b="0" i="1" spc="-1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2852" y="5198718"/>
                <a:ext cx="4810564" cy="626775"/>
              </a:xfrm>
              <a:prstGeom prst="rect">
                <a:avLst/>
              </a:prstGeom>
              <a:blipFill rotWithShape="1">
                <a:blip r:embed="rId12"/>
                <a:stretch>
                  <a:fillRect l="-8" t="-97" r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/>
          <p:cNvCxnSpPr/>
          <p:nvPr/>
        </p:nvCxnSpPr>
        <p:spPr>
          <a:xfrm>
            <a:off x="5591247" y="4827861"/>
            <a:ext cx="668444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119"/>
              <p:cNvSpPr txBox="1"/>
              <p:nvPr/>
            </p:nvSpPr>
            <p:spPr>
              <a:xfrm>
                <a:off x="557728" y="5749802"/>
                <a:ext cx="11403926" cy="6331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buFont typeface="Arial" panose="020B060402020209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3200" i="1" spc="-1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ℋ</m:t>
                    </m:r>
                    <m:r>
                      <a:rPr lang="en-US" altLang="zh-CN" sz="3200" b="0" i="1" spc="-1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(0)⊂</m:t>
                    </m:r>
                    <m:r>
                      <a:rPr lang="en-US" altLang="zh-CN" sz="3200" i="1" spc="-1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ℋ</m:t>
                    </m:r>
                    <m:r>
                      <a:rPr lang="en-US" altLang="zh-CN" sz="3200" i="1" spc="-1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(1.024)⊂</m:t>
                    </m:r>
                    <m:r>
                      <m:rPr>
                        <m:nor/>
                      </m:rPr>
                      <a:rPr lang="en-US" altLang="zh-CN" sz="3200" spc="-10" dirty="0">
                        <a:latin typeface="+mn-ea"/>
                      </a:rPr>
                      <m:t>….</m:t>
                    </m:r>
                    <m:r>
                      <m:rPr>
                        <m:nor/>
                      </m:rPr>
                      <a:rPr lang="en-US" altLang="zh-CN" sz="3200" spc="-1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3200" i="1" spc="-1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⊂</m:t>
                    </m:r>
                    <m:r>
                      <a:rPr lang="en-US" altLang="zh-CN" sz="3200" i="1" spc="-1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ℋ</m:t>
                    </m:r>
                    <m:r>
                      <a:rPr lang="en-US" altLang="zh-CN" sz="3200" i="1" spc="-1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(1024)⊂</m:t>
                    </m:r>
                  </m:oMath>
                </a14:m>
                <a:r>
                  <a:rPr lang="en-US" altLang="zh-CN" sz="3200" spc="-10" dirty="0">
                    <a:latin typeface="+mn-ea"/>
                  </a:rPr>
                  <a:t>….</a:t>
                </a:r>
                <a:r>
                  <a:rPr lang="en-US" altLang="zh-CN" sz="3200" spc="-1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spc="-1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⊂</m:t>
                    </m:r>
                    <m:r>
                      <a:rPr lang="en-US" altLang="zh-CN" sz="3200" i="1" spc="-1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ℋ</m:t>
                    </m:r>
                    <m:d>
                      <m:dPr>
                        <m:ctrlPr>
                          <a:rPr lang="en-US" altLang="zh-CN" sz="3200" i="1" spc="-1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 spc="-1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e>
                    </m:d>
                    <m:r>
                      <a:rPr lang="en-US" altLang="zh-CN" sz="3200" b="0" i="1" spc="-1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3200" i="1" spc="-1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spc="-1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ℋ</m:t>
                        </m:r>
                      </m:e>
                      <m:sub>
                        <m:r>
                          <a:rPr lang="en-US" altLang="zh-CN" sz="3200" b="0" i="1" spc="-1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endParaRPr lang="en-US" altLang="zh-CN" sz="3200" spc="-10" dirty="0">
                  <a:latin typeface="+mn-ea"/>
                </a:endParaRPr>
              </a:p>
            </p:txBody>
          </p:sp>
        </mc:Choice>
        <mc:Fallback xmlns="">
          <p:sp>
            <p:nvSpPr>
              <p:cNvPr id="33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728" y="5749802"/>
                <a:ext cx="11403926" cy="633187"/>
              </a:xfrm>
              <a:prstGeom prst="rect">
                <a:avLst/>
              </a:prstGeom>
              <a:blipFill rotWithShape="1">
                <a:blip r:embed="rId13"/>
                <a:stretch>
                  <a:fillRect l="-2" t="-81" r="1" b="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F69888C-E133-43D9-A638-B5C95925B91C}" type="slidenum">
              <a:rPr lang="zh-CN" altLang="en-US" smtClean="0"/>
              <a:t>29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2" grpId="0" animBg="1"/>
      <p:bldP spid="23" grpId="0"/>
      <p:bldP spid="24" grpId="0"/>
      <p:bldP spid="25" grpId="0"/>
      <p:bldP spid="26" grpId="0"/>
      <p:bldP spid="27" grpId="0" animBg="1"/>
      <p:bldP spid="28" grpId="0"/>
      <p:bldP spid="29" grpId="0"/>
      <p:bldP spid="30" grpId="0"/>
      <p:bldP spid="31" grpId="0"/>
      <p:bldP spid="3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566961" y="265803"/>
            <a:ext cx="7440283" cy="426497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4000" dirty="0"/>
              <a:t>3</a:t>
            </a:r>
            <a:r>
              <a:rPr lang="zh-CN" altLang="en-US" sz="4000" dirty="0"/>
              <a:t>、</a:t>
            </a:r>
            <a:r>
              <a:rPr lang="zh-CN" altLang="en-US" sz="4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正则化方法</a:t>
            </a:r>
          </a:p>
        </p:txBody>
      </p:sp>
      <p:sp>
        <p:nvSpPr>
          <p:cNvPr id="12" name="AutoShape 4" descr="[公式]"/>
          <p:cNvSpPr>
            <a:spLocks noChangeAspect="1" noChangeArrowheads="1"/>
          </p:cNvSpPr>
          <p:nvPr/>
        </p:nvSpPr>
        <p:spPr bwMode="auto">
          <a:xfrm>
            <a:off x="3650590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19"/>
              <p:cNvSpPr txBox="1"/>
              <p:nvPr/>
            </p:nvSpPr>
            <p:spPr>
              <a:xfrm>
                <a:off x="566961" y="2966798"/>
                <a:ext cx="11403926" cy="10826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2800" spc="-10" dirty="0">
                    <a:latin typeface="+mn-ea"/>
                  </a:rPr>
                  <a:t>满足上述优化问题的假设称为正则化假设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pc="-1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pc="-1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 i="1" spc="-1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REG</m:t>
                        </m:r>
                      </m:sub>
                    </m:sSub>
                  </m:oMath>
                </a14:m>
                <a:r>
                  <a:rPr lang="zh-CN" altLang="en-US" sz="2800" spc="-10" dirty="0">
                    <a:latin typeface="+mn-ea"/>
                  </a:rPr>
                  <a:t>。且该优化问题可等价转化为：</a:t>
                </a:r>
                <a:endParaRPr lang="en-US" altLang="zh-CN" sz="2800" spc="-10" dirty="0">
                  <a:latin typeface="+mn-ea"/>
                </a:endParaRPr>
              </a:p>
            </p:txBody>
          </p:sp>
        </mc:Choice>
        <mc:Fallback xmlns="">
          <p:sp>
            <p:nvSpPr>
              <p:cNvPr id="19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961" y="2966798"/>
                <a:ext cx="11403926" cy="1082604"/>
              </a:xfrm>
              <a:prstGeom prst="rect">
                <a:avLst/>
              </a:prstGeom>
              <a:blipFill rotWithShape="1">
                <a:blip r:embed="rId3"/>
                <a:stretch>
                  <a:fillRect l="-5" t="-7" r="4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ounded Rectangle 26"/>
          <p:cNvSpPr/>
          <p:nvPr/>
        </p:nvSpPr>
        <p:spPr>
          <a:xfrm>
            <a:off x="1671143" y="927144"/>
            <a:ext cx="8387254" cy="191429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119"/>
              <p:cNvSpPr txBox="1"/>
              <p:nvPr/>
            </p:nvSpPr>
            <p:spPr>
              <a:xfrm>
                <a:off x="1765739" y="886624"/>
                <a:ext cx="7806619" cy="5647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2800" spc="-10" dirty="0">
                    <a:latin typeface="+mn-ea"/>
                  </a:rPr>
                  <a:t>假设空间</a:t>
                </a:r>
                <a14:m>
                  <m:oMath xmlns:m="http://schemas.openxmlformats.org/officeDocument/2006/math">
                    <m:r>
                      <a:rPr lang="en-US" altLang="zh-CN" sz="2800" i="1" spc="-1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ℋ</m:t>
                    </m:r>
                    <m:d>
                      <m:dPr>
                        <m:ctrlPr>
                          <a:rPr lang="en-US" altLang="zh-CN" sz="2800" b="0" i="1" spc="-1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pc="-1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altLang="zh-CN" sz="2800" b="0" i="1" spc="-1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≡{</m:t>
                    </m:r>
                    <m:r>
                      <a:rPr lang="en-US" altLang="zh-CN" sz="2800" b="1" i="1" spc="-1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𝒘</m:t>
                    </m:r>
                    <m:r>
                      <a:rPr lang="en-US" altLang="zh-CN" sz="2800" i="1" spc="-10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2800" i="1" spc="-10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 spc="-10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zh-CN" sz="2800" i="1" spc="-10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10+1</m:t>
                        </m:r>
                      </m:sup>
                    </m:sSup>
                    <m:r>
                      <a:rPr lang="en-US" altLang="zh-CN" sz="2800" b="0" i="0" spc="-1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zh-CN" altLang="en-US" sz="2800" i="1" spc="-10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且</m:t>
                    </m:r>
                    <m:sSub>
                      <m:sSubPr>
                        <m:ctrlPr>
                          <a:rPr lang="en-US" altLang="zh-CN" sz="2800" i="1" spc="-10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800" i="1" spc="-10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b="1" i="1" spc="-10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𝒘</m:t>
                            </m:r>
                          </m:e>
                        </m:d>
                      </m:e>
                      <m:sub>
                        <m:r>
                          <a:rPr lang="en-US" altLang="zh-CN" sz="2800" b="0" i="1" spc="-10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i="1" spc="-1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800" b="0" i="1" spc="-1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altLang="zh-CN" sz="2800" b="0" i="1" spc="-1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2800" spc="-10" dirty="0">
                    <a:latin typeface="+mn-ea"/>
                  </a:rPr>
                  <a:t>拟合：</a:t>
                </a:r>
                <a:endParaRPr lang="en-US" altLang="zh-CN" sz="2800" spc="-10" dirty="0">
                  <a:latin typeface="+mn-ea"/>
                </a:endParaRPr>
              </a:p>
            </p:txBody>
          </p:sp>
        </mc:Choice>
        <mc:Fallback xmlns="">
          <p:sp>
            <p:nvSpPr>
              <p:cNvPr id="28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5739" y="886624"/>
                <a:ext cx="7806619" cy="564706"/>
              </a:xfrm>
              <a:prstGeom prst="rect">
                <a:avLst/>
              </a:prstGeom>
              <a:blipFill rotWithShape="1">
                <a:blip r:embed="rId4"/>
                <a:stretch>
                  <a:fillRect l="-6" t="-29" r="5" b="-22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3856335" y="1467071"/>
                <a:ext cx="259089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min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800" i="1">
                            <a:latin typeface="Cambria Math" panose="02040503050406030204" pitchFamily="18" charset="0"/>
                          </a:rPr>
                          <m:t>in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1" i="1" spc="-1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𝒘</m:t>
                    </m:r>
                    <m:r>
                      <a:rPr lang="en-US" altLang="zh-CN" sz="2800" b="1" i="1" spc="-1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6335" y="1467071"/>
                <a:ext cx="2590893" cy="523220"/>
              </a:xfrm>
              <a:prstGeom prst="rect">
                <a:avLst/>
              </a:prstGeom>
              <a:blipFill rotWithShape="1">
                <a:blip r:embed="rId5"/>
                <a:stretch>
                  <a:fillRect l="-24" t="-42" r="3" b="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3393927" y="1873685"/>
                <a:ext cx="175785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pc="-1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𝒘</m:t>
                      </m:r>
                      <m:r>
                        <a:rPr lang="en-US" altLang="zh-CN" i="1" spc="-1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zh-CN" i="1" spc="-1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 spc="-1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altLang="zh-CN" i="1" spc="-1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10+1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3927" y="1873685"/>
                <a:ext cx="1757855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28" t="-118" r="2" b="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3883213" y="2244542"/>
                <a:ext cx="4810564" cy="626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s.t.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 spc="-1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i="1" spc="-1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altLang="zh-CN" sz="2800" i="1" spc="-1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b="1" i="1" spc="-1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</m:d>
                          </m:e>
                          <m:sub>
                            <m:r>
                              <a:rPr lang="en-US" altLang="zh-CN" sz="2800" i="1" spc="-1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sup>
                        <m:r>
                          <a:rPr lang="en-US" altLang="zh-CN" sz="2800" i="1" spc="-1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800" i="1" spc="-1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ctrlPr>
                          <a:rPr lang="en-US" altLang="zh-CN" sz="2800" i="1" spc="-1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800" b="0" i="1" spc="-1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altLang="zh-CN" sz="2800" b="0" i="1" spc="-1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CN" sz="2800" b="0" i="1" spc="-1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sSubSup>
                          <m:sSubSupPr>
                            <m:ctrlPr>
                              <a:rPr lang="en-US" altLang="zh-CN" sz="2800" i="1" spc="-1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800" i="1" spc="-1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2800" i="1" spc="-1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  <m:sup>
                            <m:r>
                              <a:rPr lang="en-US" altLang="zh-CN" sz="2800" i="1" spc="-1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  <m:r>
                      <a:rPr lang="en-US" altLang="zh-CN" sz="2800" i="1" spc="-1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800" b="0" i="1" spc="-1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3213" y="2244542"/>
                <a:ext cx="4810564" cy="626775"/>
              </a:xfrm>
              <a:prstGeom prst="rect">
                <a:avLst/>
              </a:prstGeom>
              <a:blipFill rotWithShape="1">
                <a:blip r:embed="rId7"/>
                <a:stretch>
                  <a:fillRect l="-4" t="-72" r="13" b="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3391730" y="3621716"/>
                <a:ext cx="5459707" cy="5813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min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800" i="1">
                            <a:latin typeface="Cambria Math" panose="02040503050406030204" pitchFamily="18" charset="0"/>
                          </a:rPr>
                          <m:t>in</m:t>
                        </m:r>
                      </m:sub>
                    </m:sSub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1" i="1" spc="-1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𝒘</m:t>
                        </m:r>
                      </m:e>
                    </m:d>
                    <m:r>
                      <a:rPr lang="en-US" altLang="zh-CN" sz="2800" b="1" i="1" spc="-1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800" i="1" spc="-1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nary>
                      <m:naryPr>
                        <m:chr m:val="∑"/>
                        <m:ctrlPr>
                          <a:rPr lang="en-US" altLang="zh-CN" sz="2800" i="1" spc="-1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800" i="1" spc="-1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altLang="zh-CN" sz="2800" i="1" spc="-1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CN" sz="2800" i="1" spc="-1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sSubSup>
                          <m:sSubSupPr>
                            <m:ctrlPr>
                              <a:rPr lang="en-US" altLang="zh-CN" sz="2800" i="1" spc="-1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800" i="1" spc="-1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2800" i="1" spc="-1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  <m:sup>
                            <m:r>
                              <a:rPr lang="en-US" altLang="zh-CN" sz="2800" i="1" spc="-1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1730" y="3621716"/>
                <a:ext cx="5459707" cy="581313"/>
              </a:xfrm>
              <a:prstGeom prst="rect">
                <a:avLst/>
              </a:prstGeom>
              <a:blipFill rotWithShape="1">
                <a:blip r:embed="rId8"/>
                <a:stretch>
                  <a:fillRect l="-4" t="-53" r="3" b="-55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2929322" y="4107160"/>
                <a:ext cx="175785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pc="-1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𝒘</m:t>
                      </m:r>
                      <m:r>
                        <a:rPr lang="en-US" altLang="zh-CN" i="1" spc="-1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zh-CN" i="1" spc="-1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 spc="-1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altLang="zh-CN" i="1" spc="-1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10+1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9322" y="4107160"/>
                <a:ext cx="1757855" cy="369332"/>
              </a:xfrm>
              <a:prstGeom prst="rect">
                <a:avLst/>
              </a:prstGeom>
              <a:blipFill rotWithShape="1">
                <a:blip r:embed="rId9"/>
                <a:stretch>
                  <a:fillRect l="-4" t="-167" r="14" b="1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119"/>
              <p:cNvSpPr txBox="1"/>
              <p:nvPr/>
            </p:nvSpPr>
            <p:spPr>
              <a:xfrm>
                <a:off x="1052484" y="4517515"/>
                <a:ext cx="10918403" cy="5655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2800" spc="-10" dirty="0">
                    <a:latin typeface="+mn-ea"/>
                  </a:rPr>
                  <a:t>其中，</a:t>
                </a:r>
                <a:r>
                  <a:rPr lang="zh-CN" altLang="en-US" sz="2800" spc="-10" dirty="0">
                    <a:ea typeface="Cambria Math" panose="02040503050406030204" pitchFamily="18" charset="0"/>
                  </a:rPr>
                  <a:t> </a:t>
                </a:r>
                <a:r>
                  <a:rPr lang="zh-CN" altLang="en-US" sz="2800" spc="-10" dirty="0">
                    <a:solidFill>
                      <a:srgbClr val="FF0000"/>
                    </a:solidFill>
                    <a:latin typeface="+mn-ea"/>
                  </a:rPr>
                  <a:t>正则化参数 </a:t>
                </a:r>
                <a14:m>
                  <m:oMath xmlns:m="http://schemas.openxmlformats.org/officeDocument/2006/math">
                    <m:r>
                      <a:rPr lang="en-US" altLang="zh-CN" sz="2800" i="1" spc="-1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zh-CN" altLang="en-US" sz="2800" spc="-10" dirty="0">
                    <a:latin typeface="+mn-ea"/>
                  </a:rPr>
                  <a:t>为一可调系数。对于多项式拟合，该优化问题为</a:t>
                </a:r>
                <a:endParaRPr lang="en-US" altLang="zh-CN" sz="2800" spc="-10" dirty="0">
                  <a:latin typeface="+mn-ea"/>
                </a:endParaRPr>
              </a:p>
            </p:txBody>
          </p:sp>
        </mc:Choice>
        <mc:Fallback xmlns="">
          <p:sp>
            <p:nvSpPr>
              <p:cNvPr id="39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484" y="4517515"/>
                <a:ext cx="10918403" cy="565539"/>
              </a:xfrm>
              <a:prstGeom prst="rect">
                <a:avLst/>
              </a:prstGeom>
              <a:blipFill rotWithShape="1">
                <a:blip r:embed="rId10"/>
                <a:stretch>
                  <a:fillRect l="-3" t="-22" r="5" b="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3004285" y="5130630"/>
                <a:ext cx="7458810" cy="5425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min    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2800" i="1" spc="-1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800" b="0" i="1" spc="-1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800" b="0" i="1" spc="-1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CN" sz="2800" b="0" i="1" spc="-1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p>
                          <m:sSupPr>
                            <m:ctrlPr>
                              <a:rPr lang="en-US" altLang="zh-CN" sz="2800" i="1" spc="-10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spc="-1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altLang="zh-CN" sz="2800" i="1" spc="-1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b="1" i="1" spc="-1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  <m:sup>
                                <m:r>
                                  <a:rPr lang="en-US" altLang="zh-CN" sz="2800" b="0" i="1" spc="-1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altLang="zh-CN" sz="2800" b="1" i="1" spc="-10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1" i="1" spc="-1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800" b="0" i="1" spc="-10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2800" b="0" i="1" spc="-1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800" i="1" spc="-1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0" i="1" spc="-1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2800" b="0" i="1" spc="-1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2800" b="0" i="1" spc="-1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800" b="0" i="1" spc="-1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altLang="zh-CN" sz="2800" b="1" i="1" spc="-1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800" i="1" spc="-1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sSup>
                      <m:sSupPr>
                        <m:ctrlPr>
                          <a:rPr lang="en-US" altLang="zh-CN" sz="2800" b="1" i="1" spc="-1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1" i="1" spc="-1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a:rPr lang="en-US" altLang="zh-CN" sz="2800" b="1" i="1" spc="-1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altLang="zh-CN" sz="2800" b="1" i="1" spc="-1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𝒘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4285" y="5130630"/>
                <a:ext cx="7458810" cy="542521"/>
              </a:xfrm>
              <a:prstGeom prst="rect">
                <a:avLst/>
              </a:prstGeom>
              <a:blipFill rotWithShape="1">
                <a:blip r:embed="rId11"/>
                <a:stretch>
                  <a:fillRect l="-1" t="-86" r="3" b="-39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2641678" y="5606332"/>
                <a:ext cx="175785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pc="-1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𝒘</m:t>
                      </m:r>
                      <m:r>
                        <a:rPr lang="en-US" altLang="zh-CN" i="1" spc="-1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zh-CN" i="1" spc="-1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 spc="-1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altLang="zh-CN" i="1" spc="-1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10+1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1678" y="5606332"/>
                <a:ext cx="1757855" cy="369332"/>
              </a:xfrm>
              <a:prstGeom prst="rect">
                <a:avLst/>
              </a:prstGeom>
              <a:blipFill rotWithShape="1">
                <a:blip r:embed="rId9"/>
                <a:stretch>
                  <a:fillRect l="-4" t="-149" r="14" b="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119"/>
              <p:cNvSpPr txBox="1"/>
              <p:nvPr/>
            </p:nvSpPr>
            <p:spPr>
              <a:xfrm>
                <a:off x="6955024" y="5810659"/>
                <a:ext cx="1896413" cy="5655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pc="-1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pc="-1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𝓛</m:t>
                        </m:r>
                      </m:e>
                      <m:sub>
                        <m:r>
                          <a:rPr lang="en-US" altLang="zh-CN" sz="2800" b="1" i="1" spc="-1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2800" b="1" spc="-10" dirty="0">
                    <a:solidFill>
                      <a:srgbClr val="FF0000"/>
                    </a:solidFill>
                    <a:latin typeface="+mn-ea"/>
                  </a:rPr>
                  <a:t>正则项</a:t>
                </a:r>
                <a:endParaRPr lang="en-US" altLang="zh-CN" sz="2800" b="1" spc="-10" dirty="0">
                  <a:solidFill>
                    <a:srgbClr val="FF0000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42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5024" y="5810659"/>
                <a:ext cx="1896413" cy="565539"/>
              </a:xfrm>
              <a:prstGeom prst="rect">
                <a:avLst/>
              </a:prstGeom>
              <a:blipFill rotWithShape="1">
                <a:blip r:embed="rId12"/>
                <a:stretch>
                  <a:fillRect l="-27" t="-72" r="9" b="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Straight Arrow Connector 42"/>
          <p:cNvCxnSpPr/>
          <p:nvPr/>
        </p:nvCxnSpPr>
        <p:spPr>
          <a:xfrm>
            <a:off x="7676535" y="5606332"/>
            <a:ext cx="0" cy="31776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灯片编号占位符 1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F69888C-E133-43D9-A638-B5C95925B91C}" type="slidenum">
              <a:rPr lang="zh-CN" altLang="en-US" smtClean="0"/>
              <a:t>30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35" grpId="0"/>
      <p:bldP spid="36" grpId="0"/>
      <p:bldP spid="36" grpId="1"/>
      <p:bldP spid="39" grpId="0"/>
      <p:bldP spid="40" grpId="0"/>
      <p:bldP spid="41" grpId="0"/>
      <p:bldP spid="4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566961" y="265803"/>
            <a:ext cx="7440283" cy="426497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4000" dirty="0"/>
              <a:t>3</a:t>
            </a:r>
            <a:r>
              <a:rPr lang="zh-CN" altLang="en-US" sz="4000" dirty="0"/>
              <a:t>、</a:t>
            </a:r>
            <a:r>
              <a:rPr lang="zh-CN" altLang="en-US" sz="4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正则化方法</a:t>
            </a:r>
          </a:p>
        </p:txBody>
      </p:sp>
      <p:sp>
        <p:nvSpPr>
          <p:cNvPr id="12" name="AutoShape 4" descr="[公式]"/>
          <p:cNvSpPr>
            <a:spLocks noChangeAspect="1" noChangeArrowheads="1"/>
          </p:cNvSpPr>
          <p:nvPr/>
        </p:nvSpPr>
        <p:spPr bwMode="auto">
          <a:xfrm>
            <a:off x="3650590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19"/>
              <p:cNvSpPr txBox="1"/>
              <p:nvPr/>
            </p:nvSpPr>
            <p:spPr>
              <a:xfrm>
                <a:off x="261964" y="1893163"/>
                <a:ext cx="11403926" cy="5655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2800" spc="-10" dirty="0">
                    <a:latin typeface="+mn-ea"/>
                  </a:rPr>
                  <a:t>通过调节正则化参数</a:t>
                </a:r>
                <a14:m>
                  <m:oMath xmlns:m="http://schemas.openxmlformats.org/officeDocument/2006/math">
                    <m:r>
                      <a:rPr lang="en-US" altLang="zh-CN" sz="2800" i="1" spc="-1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zh-CN" altLang="en-US" sz="2800" spc="-10" dirty="0">
                    <a:latin typeface="+mn-ea"/>
                  </a:rPr>
                  <a:t>的值，可实现从过拟合到欠拟合的调节：</a:t>
                </a:r>
                <a:endParaRPr lang="en-US" altLang="zh-CN" sz="2800" spc="-10" dirty="0">
                  <a:latin typeface="+mn-ea"/>
                </a:endParaRPr>
              </a:p>
            </p:txBody>
          </p:sp>
        </mc:Choice>
        <mc:Fallback xmlns="">
          <p:sp>
            <p:nvSpPr>
              <p:cNvPr id="19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964" y="1893163"/>
                <a:ext cx="11403926" cy="565539"/>
              </a:xfrm>
              <a:prstGeom prst="rect">
                <a:avLst/>
              </a:prstGeom>
              <a:blipFill rotWithShape="1">
                <a:blip r:embed="rId3"/>
                <a:stretch>
                  <a:fillRect l="-3" t="-40" r="3" b="1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3291929" y="955435"/>
                <a:ext cx="7458810" cy="5425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min    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2800" i="1" spc="-1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800" b="0" i="1" spc="-1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800" b="0" i="1" spc="-1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CN" sz="2800" b="0" i="1" spc="-1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p>
                          <m:sSupPr>
                            <m:ctrlPr>
                              <a:rPr lang="en-US" altLang="zh-CN" sz="2800" i="1" spc="-1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spc="-1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altLang="zh-CN" sz="2800" i="1" spc="-1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b="1" i="1" spc="-1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  <m:sup>
                                <m:r>
                                  <a:rPr lang="en-US" altLang="zh-CN" sz="2800" b="0" i="1" spc="-1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altLang="zh-CN" sz="2800" b="1" i="1" spc="-1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altLang="zh-CN" sz="2800" b="0" i="1" spc="-1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800" i="1" spc="-1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0" i="1" spc="-1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2800" b="0" i="1" spc="-1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2800" b="0" i="1" spc="-1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800" b="0" i="1" spc="-1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altLang="zh-CN" sz="2800" b="1" i="1" spc="-1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800" i="1" spc="-1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sSup>
                      <m:sSupPr>
                        <m:ctrlPr>
                          <a:rPr lang="en-US" altLang="zh-CN" sz="2800" b="1" i="1" spc="-1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1" i="1" spc="-1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a:rPr lang="en-US" altLang="zh-CN" sz="2800" b="1" i="1" spc="-1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altLang="zh-CN" sz="2800" b="1" i="1" spc="-1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𝒘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1929" y="955435"/>
                <a:ext cx="7458810" cy="542521"/>
              </a:xfrm>
              <a:prstGeom prst="rect">
                <a:avLst/>
              </a:prstGeom>
              <a:blipFill rotWithShape="1">
                <a:blip r:embed="rId4"/>
                <a:stretch>
                  <a:fillRect l="-1" t="-73" r="3" b="-39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2929322" y="1431137"/>
                <a:ext cx="175785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pc="-1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𝒘</m:t>
                      </m:r>
                      <m:r>
                        <a:rPr lang="en-US" altLang="zh-CN" i="1" spc="-1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zh-CN" i="1" spc="-1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 spc="-1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altLang="zh-CN" i="1" spc="-1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10+1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9322" y="1431137"/>
                <a:ext cx="1757855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4" t="-131" r="14" b="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0" y="2689465"/>
            <a:ext cx="10922000" cy="3213100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F69888C-E133-43D9-A638-B5C95925B91C}" type="slidenum">
              <a:rPr lang="zh-CN" altLang="en-US" smtClean="0"/>
              <a:t>31</a:t>
            </a:fld>
            <a:endParaRPr lang="zh-CN" alt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566961" y="265803"/>
            <a:ext cx="7440283" cy="426497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4000" dirty="0"/>
              <a:t>3</a:t>
            </a:r>
            <a:r>
              <a:rPr lang="zh-CN" altLang="en-US" sz="4000" dirty="0"/>
              <a:t>、</a:t>
            </a:r>
            <a:r>
              <a:rPr lang="zh-CN" altLang="en-US" sz="4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正则化方法</a:t>
            </a:r>
          </a:p>
        </p:txBody>
      </p:sp>
      <p:sp>
        <p:nvSpPr>
          <p:cNvPr id="12" name="AutoShape 4" descr="[公式]"/>
          <p:cNvSpPr>
            <a:spLocks noChangeAspect="1" noChangeArrowheads="1"/>
          </p:cNvSpPr>
          <p:nvPr/>
        </p:nvSpPr>
        <p:spPr bwMode="auto">
          <a:xfrm>
            <a:off x="4013200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19"/>
              <p:cNvSpPr txBox="1"/>
              <p:nvPr/>
            </p:nvSpPr>
            <p:spPr>
              <a:xfrm>
                <a:off x="566961" y="1296213"/>
                <a:ext cx="11403926" cy="12261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3200" spc="-10" dirty="0">
                    <a:solidFill>
                      <a:schemeClr val="accent1"/>
                    </a:solidFill>
                    <a:latin typeface="+mn-ea"/>
                  </a:rPr>
                  <a:t>测验：</a:t>
                </a:r>
                <a:r>
                  <a:rPr lang="zh-CN" altLang="en-US" sz="3200" spc="-10" dirty="0">
                    <a:latin typeface="+mn-ea"/>
                  </a:rPr>
                  <a:t>对于</a:t>
                </a:r>
                <a14:m>
                  <m:oMath xmlns:m="http://schemas.openxmlformats.org/officeDocument/2006/math">
                    <m:r>
                      <a:rPr lang="en-US" altLang="zh-CN" sz="3200" b="0" i="1" spc="-1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zh-CN" sz="3200" b="0" i="1" spc="-1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zh-CN" altLang="en-US" sz="3200" spc="-10" dirty="0">
                    <a:latin typeface="+mn-ea"/>
                  </a:rPr>
                  <a:t>，下面哪个假设权重向量（</a:t>
                </a:r>
                <a14:m>
                  <m:oMath xmlns:m="http://schemas.openxmlformats.org/officeDocument/2006/math">
                    <m:r>
                      <a:rPr lang="en-US" altLang="zh-CN" sz="3200" b="1" i="1" spc="-10" smtClean="0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altLang="zh-CN" sz="3200" b="0" i="1" spc="-1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3200" i="1" spc="-1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 spc="-1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zh-CN" sz="3200" b="0" i="1" spc="-10" smtClean="0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altLang="zh-CN" sz="3200" b="0" i="1" spc="-10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r>
                  <a:rPr lang="zh-CN" altLang="en-US" sz="3200" spc="-10" dirty="0">
                    <a:latin typeface="+mn-ea"/>
                  </a:rPr>
                  <a:t>）不属于正则化假设集合</a:t>
                </a:r>
                <a14:m>
                  <m:oMath xmlns:m="http://schemas.openxmlformats.org/officeDocument/2006/math">
                    <m:r>
                      <a:rPr lang="en-US" altLang="zh-CN" sz="3200" i="1" spc="-1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ℋ</m:t>
                    </m:r>
                    <m:r>
                      <a:rPr lang="en-US" altLang="zh-CN" sz="3200" b="0" i="1" spc="-1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(1)</m:t>
                    </m:r>
                  </m:oMath>
                </a14:m>
                <a:endParaRPr lang="en-US" altLang="zh-CN" sz="3200" spc="-10" dirty="0">
                  <a:latin typeface="+mn-ea"/>
                </a:endParaRPr>
              </a:p>
            </p:txBody>
          </p:sp>
        </mc:Choice>
        <mc:Fallback xmlns="">
          <p:sp>
            <p:nvSpPr>
              <p:cNvPr id="19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961" y="1296213"/>
                <a:ext cx="11403926" cy="1226105"/>
              </a:xfrm>
              <a:prstGeom prst="rect">
                <a:avLst/>
              </a:prstGeom>
              <a:blipFill rotWithShape="1">
                <a:blip r:embed="rId3"/>
                <a:stretch>
                  <a:fillRect l="-5" t="-15" r="4" b="-14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119"/>
              <p:cNvSpPr txBox="1"/>
              <p:nvPr/>
            </p:nvSpPr>
            <p:spPr>
              <a:xfrm>
                <a:off x="1473637" y="2796839"/>
                <a:ext cx="5688725" cy="6321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3200" spc="-10" dirty="0">
                    <a:latin typeface="+mn-ea"/>
                  </a:rPr>
                  <a:t>A.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 spc="-1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b="1" i="1" spc="-10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a:rPr lang="en-US" altLang="zh-CN" sz="3200" b="0" i="1" spc="-1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3200" b="0" i="1" spc="-10" smtClean="0">
                        <a:latin typeface="Cambria Math" panose="02040503050406030204" pitchFamily="18" charset="0"/>
                      </a:rPr>
                      <m:t>=[0, 0, …, 0]</m:t>
                    </m:r>
                  </m:oMath>
                </a14:m>
                <a:endParaRPr lang="en-US" altLang="zh-CN" sz="3200" spc="-10" dirty="0">
                  <a:latin typeface="+mn-ea"/>
                </a:endParaRPr>
              </a:p>
            </p:txBody>
          </p:sp>
        </mc:Choice>
        <mc:Fallback xmlns="">
          <p:sp>
            <p:nvSpPr>
              <p:cNvPr id="10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3637" y="2796839"/>
                <a:ext cx="5688725" cy="632161"/>
              </a:xfrm>
              <a:prstGeom prst="rect">
                <a:avLst/>
              </a:prstGeom>
              <a:blipFill rotWithShape="1">
                <a:blip r:embed="rId4"/>
                <a:stretch>
                  <a:fillRect l="-8" t="-47" r="3" b="-37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19"/>
              <p:cNvSpPr txBox="1"/>
              <p:nvPr/>
            </p:nvSpPr>
            <p:spPr>
              <a:xfrm>
                <a:off x="1473637" y="3522218"/>
                <a:ext cx="5688725" cy="6321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3200" spc="-10" dirty="0">
                    <a:latin typeface="+mn-ea"/>
                  </a:rPr>
                  <a:t>B.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 spc="-1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b="1" i="1" spc="-10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a:rPr lang="en-US" altLang="zh-CN" sz="3200" b="0" i="1" spc="-1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3200" b="0" i="1" spc="-10" smtClean="0">
                        <a:latin typeface="Cambria Math" panose="02040503050406030204" pitchFamily="18" charset="0"/>
                      </a:rPr>
                      <m:t>=[1, 0, …, 0]</m:t>
                    </m:r>
                  </m:oMath>
                </a14:m>
                <a:endParaRPr lang="en-US" altLang="zh-CN" sz="3200" spc="-10" dirty="0">
                  <a:latin typeface="+mn-ea"/>
                </a:endParaRPr>
              </a:p>
            </p:txBody>
          </p:sp>
        </mc:Choice>
        <mc:Fallback xmlns="">
          <p:sp>
            <p:nvSpPr>
              <p:cNvPr id="11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3637" y="3522218"/>
                <a:ext cx="5688725" cy="632161"/>
              </a:xfrm>
              <a:prstGeom prst="rect">
                <a:avLst/>
              </a:prstGeom>
              <a:blipFill rotWithShape="1">
                <a:blip r:embed="rId5"/>
                <a:stretch>
                  <a:fillRect l="-8" t="-80" r="3" b="-36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19"/>
              <p:cNvSpPr txBox="1"/>
              <p:nvPr/>
            </p:nvSpPr>
            <p:spPr>
              <a:xfrm>
                <a:off x="1473637" y="4335683"/>
                <a:ext cx="5688725" cy="6321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3200" spc="-10" dirty="0">
                    <a:latin typeface="+mn-ea"/>
                  </a:rPr>
                  <a:t>C.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 spc="-1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b="1" i="1" spc="-10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a:rPr lang="en-US" altLang="zh-CN" sz="3200" b="0" i="1" spc="-1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3200" b="0" i="1" spc="-10" smtClean="0">
                        <a:latin typeface="Cambria Math" panose="02040503050406030204" pitchFamily="18" charset="0"/>
                      </a:rPr>
                      <m:t>=[1, 1, …, 1]</m:t>
                    </m:r>
                  </m:oMath>
                </a14:m>
                <a:endParaRPr lang="en-US" altLang="zh-CN" sz="3200" spc="-10" dirty="0">
                  <a:latin typeface="+mn-ea"/>
                </a:endParaRPr>
              </a:p>
            </p:txBody>
          </p:sp>
        </mc:Choice>
        <mc:Fallback xmlns="">
          <p:sp>
            <p:nvSpPr>
              <p:cNvPr id="13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3637" y="4335683"/>
                <a:ext cx="5688725" cy="632161"/>
              </a:xfrm>
              <a:prstGeom prst="rect">
                <a:avLst/>
              </a:prstGeom>
              <a:blipFill rotWithShape="1">
                <a:blip r:embed="rId6"/>
                <a:stretch>
                  <a:fillRect l="-8" t="-85" r="3" b="-36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19"/>
              <p:cNvSpPr txBox="1"/>
              <p:nvPr/>
            </p:nvSpPr>
            <p:spPr>
              <a:xfrm>
                <a:off x="1473637" y="4914334"/>
                <a:ext cx="7985673" cy="12949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3200" spc="-10" dirty="0">
                    <a:latin typeface="+mn-ea"/>
                  </a:rPr>
                  <a:t>D.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 spc="-1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b="1" i="1" spc="-10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a:rPr lang="en-US" altLang="zh-CN" sz="3200" b="0" i="1" spc="-1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3200" b="0" i="1" spc="-10" smtClean="0">
                        <a:latin typeface="Cambria Math" panose="02040503050406030204" pitchFamily="18" charset="0"/>
                      </a:rPr>
                      <m:t>=[</m:t>
                    </m:r>
                    <m:rad>
                      <m:radPr>
                        <m:degHide m:val="on"/>
                        <m:ctrlPr>
                          <a:rPr lang="en-US" altLang="zh-CN" sz="3200" b="0" i="1" spc="-1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3200" b="0" i="1" spc="-1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b="0" i="1" spc="-1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3200" b="0" i="1" spc="-10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  <m:r>
                              <a:rPr lang="en-US" altLang="zh-CN" sz="3200" b="0" i="1" spc="-10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den>
                        </m:f>
                      </m:e>
                    </m:rad>
                    <m:r>
                      <a:rPr lang="en-US" altLang="zh-CN" sz="3200" b="0" i="1" spc="-10" smtClean="0"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US" altLang="zh-CN" sz="3200" i="1" spc="-1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3200" i="1" spc="-1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 spc="-1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3200" i="1" spc="-10">
                                <a:latin typeface="Cambria Math" panose="02040503050406030204" pitchFamily="18" charset="0"/>
                              </a:rPr>
                              <m:t>𝑄</m:t>
                            </m:r>
                            <m:r>
                              <a:rPr lang="en-US" altLang="zh-CN" sz="3200" i="1" spc="-10">
                                <a:latin typeface="Cambria Math" panose="02040503050406030204" pitchFamily="18" charset="0"/>
                              </a:rPr>
                              <m:t>+1</m:t>
                            </m:r>
                          </m:den>
                        </m:f>
                      </m:e>
                    </m:rad>
                    <m:r>
                      <a:rPr lang="en-US" altLang="zh-CN" sz="3200" b="0" i="1" spc="-10" smtClean="0">
                        <a:latin typeface="Cambria Math" panose="02040503050406030204" pitchFamily="18" charset="0"/>
                      </a:rPr>
                      <m:t>, …,</m:t>
                    </m:r>
                    <m:rad>
                      <m:radPr>
                        <m:degHide m:val="on"/>
                        <m:ctrlPr>
                          <a:rPr lang="en-US" altLang="zh-CN" sz="3200" i="1" spc="-1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3200" i="1" spc="-1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 spc="-1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3200" i="1" spc="-10">
                                <a:latin typeface="Cambria Math" panose="02040503050406030204" pitchFamily="18" charset="0"/>
                              </a:rPr>
                              <m:t>𝑄</m:t>
                            </m:r>
                            <m:r>
                              <a:rPr lang="en-US" altLang="zh-CN" sz="3200" i="1" spc="-10">
                                <a:latin typeface="Cambria Math" panose="02040503050406030204" pitchFamily="18" charset="0"/>
                              </a:rPr>
                              <m:t>+1</m:t>
                            </m:r>
                          </m:den>
                        </m:f>
                      </m:e>
                    </m:rad>
                    <m:r>
                      <a:rPr lang="en-US" altLang="zh-CN" sz="3200" b="0" i="1" spc="-1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zh-CN" sz="3200" spc="-10" dirty="0">
                  <a:latin typeface="+mn-ea"/>
                </a:endParaRPr>
              </a:p>
            </p:txBody>
          </p:sp>
        </mc:Choice>
        <mc:Fallback xmlns="">
          <p:sp>
            <p:nvSpPr>
              <p:cNvPr id="14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3637" y="4914334"/>
                <a:ext cx="7985673" cy="1294906"/>
              </a:xfrm>
              <a:prstGeom prst="rect">
                <a:avLst/>
              </a:prstGeom>
              <a:blipFill rotWithShape="1">
                <a:blip r:embed="rId7"/>
                <a:stretch>
                  <a:fillRect l="-5" t="-5" r="4" b="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 Box 314"/>
          <p:cNvSpPr txBox="1">
            <a:spLocks noChangeArrowheads="1"/>
          </p:cNvSpPr>
          <p:nvPr/>
        </p:nvSpPr>
        <p:spPr bwMode="auto">
          <a:xfrm>
            <a:off x="804041" y="4335683"/>
            <a:ext cx="117726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5400" dirty="0">
                <a:solidFill>
                  <a:srgbClr val="FF3300"/>
                </a:solidFill>
                <a:sym typeface="Wingdings" panose="05000000000000000000" pitchFamily="2" charset="2"/>
              </a:rPr>
              <a:t></a:t>
            </a:r>
            <a:endParaRPr lang="en-US" altLang="zh-CN" sz="5400" dirty="0">
              <a:solidFill>
                <a:srgbClr val="FF3300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F69888C-E133-43D9-A638-B5C95925B91C}" type="slidenum">
              <a:rPr lang="zh-CN" altLang="en-US" smtClean="0"/>
              <a:t>32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566961" y="265803"/>
            <a:ext cx="7440283" cy="426497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4000" dirty="0"/>
              <a:t>4</a:t>
            </a:r>
            <a:r>
              <a:rPr lang="zh-CN" altLang="en-US" sz="4000" dirty="0"/>
              <a:t>、</a:t>
            </a:r>
            <a:r>
              <a:rPr lang="zh-CN" altLang="en-US" sz="4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特征选择</a:t>
            </a:r>
          </a:p>
        </p:txBody>
      </p:sp>
      <p:sp>
        <p:nvSpPr>
          <p:cNvPr id="18" name="文本框 119"/>
          <p:cNvSpPr txBox="1"/>
          <p:nvPr/>
        </p:nvSpPr>
        <p:spPr>
          <a:xfrm>
            <a:off x="566961" y="2500770"/>
            <a:ext cx="11403926" cy="633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3200" spc="-10" dirty="0">
                <a:latin typeface="+mn-ea"/>
              </a:rPr>
              <a:t>从给定的特征集合中</a:t>
            </a:r>
            <a:r>
              <a:rPr lang="zh-CN" altLang="en-US" sz="3200" spc="-10" dirty="0">
                <a:solidFill>
                  <a:schemeClr val="accent1"/>
                </a:solidFill>
                <a:latin typeface="+mn-ea"/>
              </a:rPr>
              <a:t>选择相关特征子集</a:t>
            </a:r>
            <a:r>
              <a:rPr lang="zh-CN" altLang="en-US" sz="3200" spc="-10" dirty="0">
                <a:latin typeface="+mn-ea"/>
              </a:rPr>
              <a:t>的过程，叫</a:t>
            </a:r>
            <a:r>
              <a:rPr lang="zh-CN" altLang="en-US" sz="3200" b="1" spc="-10" dirty="0">
                <a:solidFill>
                  <a:srgbClr val="FF0000"/>
                </a:solidFill>
                <a:latin typeface="+mn-ea"/>
              </a:rPr>
              <a:t>特征选择</a:t>
            </a:r>
            <a:endParaRPr lang="en-US" altLang="zh-CN" sz="3200" b="1" spc="-1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2" name="AutoShape 4" descr="[公式]"/>
          <p:cNvSpPr>
            <a:spLocks noChangeAspect="1" noChangeArrowheads="1"/>
          </p:cNvSpPr>
          <p:nvPr/>
        </p:nvSpPr>
        <p:spPr bwMode="auto">
          <a:xfrm>
            <a:off x="4013200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5" name="文本框 119"/>
          <p:cNvSpPr txBox="1"/>
          <p:nvPr/>
        </p:nvSpPr>
        <p:spPr>
          <a:xfrm>
            <a:off x="566961" y="815878"/>
            <a:ext cx="11403926" cy="633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3200" spc="-10" dirty="0">
                <a:latin typeface="+mn-ea"/>
              </a:rPr>
              <a:t>特征是在观测现象中的独立、可测量的属性</a:t>
            </a:r>
            <a:endParaRPr lang="en-US" altLang="zh-CN" sz="3200" spc="-10" dirty="0">
              <a:latin typeface="+mn-ea"/>
            </a:endParaRPr>
          </a:p>
        </p:txBody>
      </p:sp>
      <p:sp>
        <p:nvSpPr>
          <p:cNvPr id="6" name="文本框 119"/>
          <p:cNvSpPr txBox="1"/>
          <p:nvPr/>
        </p:nvSpPr>
        <p:spPr>
          <a:xfrm>
            <a:off x="1045932" y="1454491"/>
            <a:ext cx="11403926" cy="565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zh-CN" altLang="en-US" sz="2800" spc="-10" dirty="0">
                <a:latin typeface="+mn-ea"/>
              </a:rPr>
              <a:t>对当前学习任务有用的属性称为“</a:t>
            </a:r>
            <a:r>
              <a:rPr lang="zh-CN" altLang="en-US" sz="2800" spc="-10" dirty="0">
                <a:solidFill>
                  <a:srgbClr val="C00000"/>
                </a:solidFill>
                <a:latin typeface="+mn-ea"/>
              </a:rPr>
              <a:t>相关特征</a:t>
            </a:r>
            <a:r>
              <a:rPr lang="zh-CN" altLang="en-US" sz="2800" spc="-10" dirty="0">
                <a:latin typeface="+mn-ea"/>
              </a:rPr>
              <a:t>”</a:t>
            </a:r>
            <a:endParaRPr lang="en-US" altLang="zh-CN" sz="2800" spc="-10" dirty="0">
              <a:latin typeface="+mn-ea"/>
            </a:endParaRPr>
          </a:p>
        </p:txBody>
      </p:sp>
      <p:sp>
        <p:nvSpPr>
          <p:cNvPr id="7" name="文本框 119"/>
          <p:cNvSpPr txBox="1"/>
          <p:nvPr/>
        </p:nvSpPr>
        <p:spPr>
          <a:xfrm>
            <a:off x="1045932" y="1974368"/>
            <a:ext cx="11403926" cy="565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zh-CN" altLang="en-US" sz="2800" spc="-10" dirty="0">
                <a:latin typeface="+mn-ea"/>
              </a:rPr>
              <a:t>对当前学习任务没用的属性称为“</a:t>
            </a:r>
            <a:r>
              <a:rPr lang="zh-CN" altLang="en-US" sz="2800" spc="-10" dirty="0">
                <a:solidFill>
                  <a:srgbClr val="C00000"/>
                </a:solidFill>
                <a:latin typeface="+mn-ea"/>
              </a:rPr>
              <a:t>无关特征</a:t>
            </a:r>
            <a:r>
              <a:rPr lang="zh-CN" altLang="en-US" sz="2800" spc="-10" dirty="0">
                <a:latin typeface="+mn-ea"/>
              </a:rPr>
              <a:t>”</a:t>
            </a:r>
            <a:endParaRPr lang="en-US" altLang="zh-CN" sz="2800" spc="-10" dirty="0">
              <a:latin typeface="+mn-e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3154" y="3849928"/>
            <a:ext cx="3913459" cy="243569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2766" y="3849928"/>
            <a:ext cx="3738942" cy="2435690"/>
          </a:xfrm>
          <a:prstGeom prst="rect">
            <a:avLst/>
          </a:prstGeom>
        </p:spPr>
      </p:pic>
      <p:sp>
        <p:nvSpPr>
          <p:cNvPr id="10" name="文本框 119"/>
          <p:cNvSpPr txBox="1"/>
          <p:nvPr/>
        </p:nvSpPr>
        <p:spPr>
          <a:xfrm>
            <a:off x="2577046" y="6285618"/>
            <a:ext cx="1897708" cy="49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spc="-10" dirty="0">
                <a:solidFill>
                  <a:schemeClr val="accent1"/>
                </a:solidFill>
                <a:latin typeface="+mn-ea"/>
              </a:rPr>
              <a:t>白细胞图像</a:t>
            </a:r>
            <a:endParaRPr lang="en-US" altLang="zh-CN" sz="2400" spc="-10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11" name="文本框 119"/>
          <p:cNvSpPr txBox="1"/>
          <p:nvPr/>
        </p:nvSpPr>
        <p:spPr>
          <a:xfrm>
            <a:off x="7058390" y="6261876"/>
            <a:ext cx="1897708" cy="49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spc="-10" dirty="0">
                <a:solidFill>
                  <a:schemeClr val="accent1"/>
                </a:solidFill>
                <a:latin typeface="+mn-ea"/>
              </a:rPr>
              <a:t>红细胞图像</a:t>
            </a:r>
            <a:endParaRPr lang="en-US" altLang="zh-CN" sz="2400" spc="-10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13" name="文本框 119"/>
          <p:cNvSpPr txBox="1"/>
          <p:nvPr/>
        </p:nvSpPr>
        <p:spPr>
          <a:xfrm>
            <a:off x="566961" y="3151316"/>
            <a:ext cx="11403926" cy="633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3200" spc="-10" dirty="0">
                <a:latin typeface="+mn-ea"/>
              </a:rPr>
              <a:t>例子：基于</a:t>
            </a:r>
            <a:r>
              <a:rPr lang="en-US" altLang="zh-CN" sz="3200" spc="-10" dirty="0">
                <a:latin typeface="+mn-ea"/>
              </a:rPr>
              <a:t>SVM</a:t>
            </a:r>
            <a:r>
              <a:rPr lang="zh-CN" altLang="en-US" sz="3200" spc="-10" dirty="0">
                <a:latin typeface="+mn-ea"/>
              </a:rPr>
              <a:t>的红、白细胞识别</a:t>
            </a:r>
            <a:endParaRPr lang="en-US" altLang="zh-CN" sz="3200" b="1" spc="-1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F69888C-E133-43D9-A638-B5C95925B91C}" type="slidenum">
              <a:rPr lang="zh-CN" altLang="en-US" smtClean="0"/>
              <a:t>33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566961" y="265803"/>
            <a:ext cx="7440283" cy="426497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4000" dirty="0"/>
              <a:t>4</a:t>
            </a:r>
            <a:r>
              <a:rPr lang="zh-CN" altLang="en-US" sz="4000" dirty="0"/>
              <a:t>、</a:t>
            </a:r>
            <a:r>
              <a:rPr lang="zh-CN" altLang="en-US" sz="4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特征选择</a:t>
            </a:r>
          </a:p>
        </p:txBody>
      </p:sp>
      <p:sp>
        <p:nvSpPr>
          <p:cNvPr id="12" name="AutoShape 4" descr="[公式]"/>
          <p:cNvSpPr>
            <a:spLocks noChangeAspect="1" noChangeArrowheads="1"/>
          </p:cNvSpPr>
          <p:nvPr/>
        </p:nvSpPr>
        <p:spPr bwMode="auto">
          <a:xfrm>
            <a:off x="4013200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6" name="文本框 119"/>
          <p:cNvSpPr txBox="1"/>
          <p:nvPr/>
        </p:nvSpPr>
        <p:spPr>
          <a:xfrm>
            <a:off x="566961" y="797765"/>
            <a:ext cx="11403926" cy="633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3200" spc="-10" dirty="0">
                <a:latin typeface="+mn-ea"/>
              </a:rPr>
              <a:t>基于</a:t>
            </a:r>
            <a:r>
              <a:rPr lang="en-US" altLang="zh-CN" sz="3200" spc="-10" dirty="0">
                <a:latin typeface="+mn-ea"/>
              </a:rPr>
              <a:t>SVM</a:t>
            </a:r>
            <a:r>
              <a:rPr lang="zh-CN" altLang="en-US" sz="3200" spc="-10" dirty="0">
                <a:latin typeface="+mn-ea"/>
              </a:rPr>
              <a:t>的红、白细胞识别</a:t>
            </a:r>
            <a:endParaRPr lang="en-US" altLang="zh-CN" sz="3200" b="1" spc="-10" dirty="0">
              <a:solidFill>
                <a:srgbClr val="FF0000"/>
              </a:solidFill>
              <a:latin typeface="+mn-ea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6360365" y="744944"/>
            <a:ext cx="5341805" cy="5991735"/>
            <a:chOff x="6268924" y="744944"/>
            <a:chExt cx="5341805" cy="5991735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68924" y="764715"/>
              <a:ext cx="5341805" cy="5971964"/>
            </a:xfrm>
            <a:prstGeom prst="rect">
              <a:avLst/>
            </a:prstGeom>
          </p:spPr>
        </p:pic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68924" y="744944"/>
              <a:ext cx="647700" cy="317500"/>
            </a:xfrm>
            <a:prstGeom prst="rect">
              <a:avLst/>
            </a:prstGeom>
          </p:spPr>
        </p:pic>
      </p:grpSp>
      <p:sp>
        <p:nvSpPr>
          <p:cNvPr id="11" name="TextBox 10"/>
          <p:cNvSpPr txBox="1"/>
          <p:nvPr/>
        </p:nvSpPr>
        <p:spPr>
          <a:xfrm>
            <a:off x="566961" y="1536417"/>
            <a:ext cx="46714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spc="-10" dirty="0">
                <a:latin typeface="+mn-ea"/>
              </a:rPr>
              <a:t>特征集合：</a:t>
            </a:r>
            <a:endParaRPr lang="en-US" sz="2800" dirty="0"/>
          </a:p>
        </p:txBody>
      </p:sp>
      <p:sp>
        <p:nvSpPr>
          <p:cNvPr id="13" name="TextBox 12"/>
          <p:cNvSpPr txBox="1"/>
          <p:nvPr/>
        </p:nvSpPr>
        <p:spPr>
          <a:xfrm>
            <a:off x="566960" y="2165102"/>
            <a:ext cx="512844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zh-CN" altLang="en-US" sz="2800" spc="-10" dirty="0">
                <a:latin typeface="+mn-ea"/>
              </a:rPr>
              <a:t>面积</a:t>
            </a:r>
            <a:endParaRPr lang="en-US" altLang="zh-CN" sz="2800" spc="-10" dirty="0">
              <a:latin typeface="+mn-ea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zh-CN" altLang="en-US" sz="2800" spc="-10" dirty="0">
                <a:latin typeface="+mn-ea"/>
              </a:rPr>
              <a:t>周长</a:t>
            </a:r>
            <a:endParaRPr lang="en-US" altLang="zh-CN" sz="2800" spc="-10" dirty="0">
              <a:latin typeface="+mn-ea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zh-CN" altLang="en-US" sz="2800" spc="-10" dirty="0">
                <a:latin typeface="+mn-ea"/>
              </a:rPr>
              <a:t>圆形度</a:t>
            </a:r>
            <a:endParaRPr lang="en-US" altLang="zh-CN" sz="2800" spc="-10" dirty="0">
              <a:latin typeface="+mn-ea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zh-CN" altLang="en-US" sz="2800" spc="-10" dirty="0">
                <a:latin typeface="+mn-ea"/>
              </a:rPr>
              <a:t>纹理特征：灰度共生矩阵等</a:t>
            </a:r>
            <a:endParaRPr lang="en-US" sz="28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800" y="4433574"/>
            <a:ext cx="4671424" cy="181588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625866" y="3992568"/>
            <a:ext cx="2692134" cy="43088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200" b="1" spc="-10" dirty="0">
                <a:latin typeface="+mn-ea"/>
              </a:rPr>
              <a:t>灰度共生矩阵相关性</a:t>
            </a:r>
            <a:endParaRPr lang="en-US" sz="2200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9795895" y="800901"/>
            <a:ext cx="18932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Courier New" panose="02070609020205090404" pitchFamily="49" charset="0"/>
              <a:buChar char="o"/>
            </a:pPr>
            <a:r>
              <a:rPr lang="zh-CN" altLang="en-US" sz="2000" b="1" spc="-10" dirty="0">
                <a:solidFill>
                  <a:srgbClr val="FF0000"/>
                </a:solidFill>
                <a:latin typeface="+mn-ea"/>
              </a:rPr>
              <a:t>红细胞特征</a:t>
            </a:r>
            <a:endParaRPr lang="en-US" altLang="zh-CN" sz="2000" b="1" spc="-10" dirty="0">
              <a:solidFill>
                <a:srgbClr val="FF0000"/>
              </a:solidFill>
              <a:latin typeface="+mn-ea"/>
            </a:endParaRPr>
          </a:p>
          <a:p>
            <a:pPr marL="342900" indent="-342900">
              <a:buFont typeface="Courier New" panose="02070609020205090404" pitchFamily="49" charset="0"/>
              <a:buChar char="o"/>
            </a:pPr>
            <a:r>
              <a:rPr lang="zh-CN" altLang="en-US" sz="2000" b="1" spc="-10" dirty="0">
                <a:solidFill>
                  <a:srgbClr val="0432FF"/>
                </a:solidFill>
                <a:latin typeface="+mn-ea"/>
              </a:rPr>
              <a:t>白细胞特征</a:t>
            </a:r>
            <a:endParaRPr lang="en-US" altLang="zh-CN" sz="2000" b="1" spc="-10" dirty="0">
              <a:solidFill>
                <a:srgbClr val="0432FF"/>
              </a:solidFill>
              <a:latin typeface="+mn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F69888C-E133-43D9-A638-B5C95925B91C}" type="slidenum">
              <a:rPr lang="zh-CN" altLang="en-US" smtClean="0"/>
              <a:t>34</a:t>
            </a:fld>
            <a:endParaRPr lang="zh-CN" alt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566961" y="265803"/>
            <a:ext cx="7440283" cy="426497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4000" dirty="0"/>
              <a:t>4</a:t>
            </a:r>
            <a:r>
              <a:rPr lang="zh-CN" altLang="en-US" sz="4000" dirty="0"/>
              <a:t>、</a:t>
            </a:r>
            <a:r>
              <a:rPr lang="zh-CN" altLang="en-US" sz="4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特征选择</a:t>
            </a:r>
          </a:p>
        </p:txBody>
      </p:sp>
      <p:sp>
        <p:nvSpPr>
          <p:cNvPr id="12" name="AutoShape 4" descr="[公式]"/>
          <p:cNvSpPr>
            <a:spLocks noChangeAspect="1" noChangeArrowheads="1"/>
          </p:cNvSpPr>
          <p:nvPr/>
        </p:nvSpPr>
        <p:spPr bwMode="auto">
          <a:xfrm>
            <a:off x="4013200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6" name="文本框 119"/>
          <p:cNvSpPr txBox="1"/>
          <p:nvPr/>
        </p:nvSpPr>
        <p:spPr>
          <a:xfrm>
            <a:off x="566961" y="797765"/>
            <a:ext cx="11403926" cy="633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3200" spc="-10" dirty="0">
                <a:latin typeface="+mn-ea"/>
              </a:rPr>
              <a:t>例子：红、白细胞识别</a:t>
            </a:r>
            <a:endParaRPr lang="en-US" altLang="zh-CN" sz="3200" b="1" spc="-1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66961" y="1536417"/>
            <a:ext cx="46714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spc="-10" dirty="0">
                <a:latin typeface="+mn-ea"/>
              </a:rPr>
              <a:t>特征集合：</a:t>
            </a:r>
            <a:endParaRPr lang="en-US" sz="2800" dirty="0"/>
          </a:p>
        </p:txBody>
      </p:sp>
      <p:sp>
        <p:nvSpPr>
          <p:cNvPr id="13" name="TextBox 12"/>
          <p:cNvSpPr txBox="1"/>
          <p:nvPr/>
        </p:nvSpPr>
        <p:spPr>
          <a:xfrm>
            <a:off x="566960" y="2165102"/>
            <a:ext cx="512844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zh-CN" altLang="en-US" sz="2800" spc="-10" dirty="0">
                <a:latin typeface="+mn-ea"/>
              </a:rPr>
              <a:t>面积</a:t>
            </a:r>
            <a:endParaRPr lang="en-US" altLang="zh-CN" sz="2800" spc="-10" dirty="0">
              <a:latin typeface="+mn-ea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zh-CN" altLang="en-US" sz="2800" spc="-10" dirty="0">
                <a:latin typeface="+mn-ea"/>
              </a:rPr>
              <a:t>周长  （</a:t>
            </a:r>
            <a:r>
              <a:rPr lang="zh-CN" altLang="en-US" sz="2800" spc="-10" dirty="0">
                <a:solidFill>
                  <a:schemeClr val="accent1"/>
                </a:solidFill>
                <a:latin typeface="+mn-ea"/>
              </a:rPr>
              <a:t>冗余特征</a:t>
            </a:r>
            <a:r>
              <a:rPr lang="zh-CN" altLang="en-US" sz="2800" spc="-10" dirty="0">
                <a:latin typeface="+mn-ea"/>
              </a:rPr>
              <a:t>）</a:t>
            </a:r>
            <a:endParaRPr lang="en-US" altLang="zh-CN" sz="2800" spc="-10" dirty="0">
              <a:latin typeface="+mn-ea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zh-CN" altLang="en-US" sz="2800" spc="-10" dirty="0">
                <a:latin typeface="+mn-ea"/>
              </a:rPr>
              <a:t>圆形度</a:t>
            </a:r>
            <a:endParaRPr lang="en-US" altLang="zh-CN" sz="2800" spc="-10" dirty="0">
              <a:latin typeface="+mn-ea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zh-CN" altLang="en-US" sz="2800" spc="-10" dirty="0">
                <a:latin typeface="+mn-ea"/>
              </a:rPr>
              <a:t>纹理特征：灰度共生矩阵等</a:t>
            </a:r>
            <a:endParaRPr lang="en-US" sz="2800" dirty="0"/>
          </a:p>
        </p:txBody>
      </p:sp>
      <p:sp>
        <p:nvSpPr>
          <p:cNvPr id="5" name="Oval 4"/>
          <p:cNvSpPr/>
          <p:nvPr/>
        </p:nvSpPr>
        <p:spPr>
          <a:xfrm>
            <a:off x="1018903" y="2165102"/>
            <a:ext cx="992777" cy="49972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1018902" y="3032718"/>
            <a:ext cx="1306287" cy="49972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文本框 119"/>
          <p:cNvSpPr txBox="1"/>
          <p:nvPr/>
        </p:nvSpPr>
        <p:spPr>
          <a:xfrm>
            <a:off x="8007244" y="4087679"/>
            <a:ext cx="1897708" cy="49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400" spc="-10" dirty="0">
                <a:solidFill>
                  <a:schemeClr val="accent1"/>
                </a:solidFill>
                <a:latin typeface="+mn-ea"/>
              </a:rPr>
              <a:t>面积</a:t>
            </a:r>
            <a:endParaRPr lang="en-US" altLang="zh-CN" sz="2400" spc="-10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18" name="文本框 119"/>
          <p:cNvSpPr txBox="1"/>
          <p:nvPr/>
        </p:nvSpPr>
        <p:spPr>
          <a:xfrm>
            <a:off x="5591662" y="2066359"/>
            <a:ext cx="659430" cy="1384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400" spc="-10" dirty="0">
                <a:solidFill>
                  <a:schemeClr val="accent1"/>
                </a:solidFill>
                <a:latin typeface="+mn-ea"/>
              </a:rPr>
              <a:t>圆形度</a:t>
            </a:r>
            <a:endParaRPr lang="en-US" altLang="zh-CN" sz="2400" spc="-10" dirty="0">
              <a:solidFill>
                <a:schemeClr val="accent1"/>
              </a:solidFill>
              <a:latin typeface="+mn-ea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7348" y="797765"/>
            <a:ext cx="5362899" cy="3323069"/>
          </a:xfrm>
          <a:prstGeom prst="rect">
            <a:avLst/>
          </a:prstGeom>
        </p:spPr>
      </p:pic>
      <p:sp>
        <p:nvSpPr>
          <p:cNvPr id="19" name="文本框 119"/>
          <p:cNvSpPr txBox="1"/>
          <p:nvPr/>
        </p:nvSpPr>
        <p:spPr>
          <a:xfrm>
            <a:off x="549129" y="4538390"/>
            <a:ext cx="11403926" cy="633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3200" spc="-10" dirty="0">
                <a:latin typeface="+mn-ea"/>
              </a:rPr>
              <a:t>特征选择是一个重要的“</a:t>
            </a:r>
            <a:r>
              <a:rPr lang="zh-CN" altLang="en-US" sz="3200" spc="-10" dirty="0">
                <a:solidFill>
                  <a:srgbClr val="C00000"/>
                </a:solidFill>
                <a:latin typeface="+mn-ea"/>
              </a:rPr>
              <a:t>数据预处理</a:t>
            </a:r>
            <a:r>
              <a:rPr lang="zh-CN" altLang="en-US" sz="3200" spc="-10" dirty="0">
                <a:latin typeface="+mn-ea"/>
              </a:rPr>
              <a:t>”过程</a:t>
            </a:r>
            <a:endParaRPr lang="en-US" altLang="zh-CN" sz="3200" spc="-10" dirty="0">
              <a:latin typeface="+mn-ea"/>
            </a:endParaRPr>
          </a:p>
        </p:txBody>
      </p:sp>
      <p:sp>
        <p:nvSpPr>
          <p:cNvPr id="20" name="文本框 119"/>
          <p:cNvSpPr txBox="1"/>
          <p:nvPr/>
        </p:nvSpPr>
        <p:spPr>
          <a:xfrm>
            <a:off x="1018902" y="5208512"/>
            <a:ext cx="8778241" cy="565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zh-CN" altLang="en-US" sz="2800" spc="-10" dirty="0">
                <a:latin typeface="+mn-ea"/>
              </a:rPr>
              <a:t>避免维数灾难，降低学习任务难度，减少计算开销</a:t>
            </a:r>
            <a:endParaRPr lang="en-US" altLang="zh-CN" sz="2800" spc="-10" dirty="0">
              <a:latin typeface="+mn-ea"/>
            </a:endParaRPr>
          </a:p>
        </p:txBody>
      </p:sp>
      <p:sp>
        <p:nvSpPr>
          <p:cNvPr id="21" name="文本框 119"/>
          <p:cNvSpPr txBox="1"/>
          <p:nvPr/>
        </p:nvSpPr>
        <p:spPr>
          <a:xfrm>
            <a:off x="1018902" y="5757122"/>
            <a:ext cx="8203475" cy="565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zh-CN" altLang="en-US" sz="2800" spc="-10" dirty="0">
                <a:latin typeface="+mn-ea"/>
              </a:rPr>
              <a:t>特征选择可能会降低模型的预测能力</a:t>
            </a:r>
            <a:endParaRPr lang="en-US" altLang="zh-CN" sz="2800" spc="-10" dirty="0">
              <a:latin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F69888C-E133-43D9-A638-B5C95925B91C}" type="slidenum">
              <a:rPr lang="zh-CN" altLang="en-US" smtClean="0"/>
              <a:t>35</a:t>
            </a:fld>
            <a:endParaRPr lang="zh-CN" alt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566961" y="265803"/>
            <a:ext cx="7440283" cy="426497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4000" dirty="0"/>
              <a:t>4</a:t>
            </a:r>
            <a:r>
              <a:rPr lang="zh-CN" altLang="en-US" sz="4000" dirty="0"/>
              <a:t>、</a:t>
            </a:r>
            <a:r>
              <a:rPr lang="zh-CN" altLang="en-US" sz="4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特征选择</a:t>
            </a:r>
          </a:p>
        </p:txBody>
      </p:sp>
      <p:sp>
        <p:nvSpPr>
          <p:cNvPr id="12" name="AutoShape 4" descr="[公式]"/>
          <p:cNvSpPr>
            <a:spLocks noChangeAspect="1" noChangeArrowheads="1"/>
          </p:cNvSpPr>
          <p:nvPr/>
        </p:nvSpPr>
        <p:spPr bwMode="auto">
          <a:xfrm>
            <a:off x="4013200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5" name="文本框 119"/>
          <p:cNvSpPr txBox="1"/>
          <p:nvPr/>
        </p:nvSpPr>
        <p:spPr>
          <a:xfrm>
            <a:off x="566960" y="939865"/>
            <a:ext cx="11403926" cy="565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800" spc="-10" dirty="0">
                <a:latin typeface="+mn-ea"/>
              </a:rPr>
              <a:t>特征选择包含</a:t>
            </a:r>
            <a:r>
              <a:rPr lang="zh-CN" altLang="en-US" sz="2800" spc="-10" dirty="0">
                <a:solidFill>
                  <a:schemeClr val="accent1"/>
                </a:solidFill>
                <a:latin typeface="+mn-ea"/>
              </a:rPr>
              <a:t>特征子集搜索</a:t>
            </a:r>
            <a:r>
              <a:rPr lang="zh-CN" altLang="en-US" sz="2800" spc="-10" dirty="0">
                <a:latin typeface="+mn-ea"/>
              </a:rPr>
              <a:t>机制与</a:t>
            </a:r>
            <a:r>
              <a:rPr lang="zh-CN" altLang="en-US" sz="2800" spc="-10" dirty="0">
                <a:solidFill>
                  <a:schemeClr val="accent1"/>
                </a:solidFill>
                <a:latin typeface="+mn-ea"/>
              </a:rPr>
              <a:t>子集评价</a:t>
            </a:r>
            <a:r>
              <a:rPr lang="zh-CN" altLang="en-US" sz="2800" spc="-10" dirty="0">
                <a:latin typeface="+mn-ea"/>
              </a:rPr>
              <a:t>机制</a:t>
            </a:r>
            <a:endParaRPr lang="en-US" altLang="zh-CN" sz="2800" spc="-10" dirty="0">
              <a:latin typeface="+mn-ea"/>
            </a:endParaRPr>
          </a:p>
        </p:txBody>
      </p:sp>
      <p:sp>
        <p:nvSpPr>
          <p:cNvPr id="6" name="文本框 119"/>
          <p:cNvSpPr txBox="1"/>
          <p:nvPr/>
        </p:nvSpPr>
        <p:spPr>
          <a:xfrm>
            <a:off x="566960" y="1589314"/>
            <a:ext cx="5251269" cy="565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zh-CN" altLang="en-US" sz="2800" spc="-10" dirty="0">
                <a:solidFill>
                  <a:srgbClr val="7030A0"/>
                </a:solidFill>
                <a:latin typeface="+mn-ea"/>
              </a:rPr>
              <a:t>子集搜索</a:t>
            </a:r>
            <a:endParaRPr lang="en-US" altLang="zh-CN" sz="2800" spc="-10" dirty="0">
              <a:solidFill>
                <a:schemeClr val="accent1"/>
              </a:solidFill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119"/>
              <p:cNvSpPr txBox="1"/>
              <p:nvPr/>
            </p:nvSpPr>
            <p:spPr>
              <a:xfrm>
                <a:off x="973004" y="2281049"/>
                <a:ext cx="10652035" cy="5655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buFont typeface="Wingdings" panose="05000000000000000000" pitchFamily="2" charset="2"/>
                  <a:buChar char="ü"/>
                </a:pPr>
                <a:r>
                  <a:rPr lang="zh-CN" altLang="en-US" sz="2800" spc="-10" dirty="0">
                    <a:latin typeface="+mn-ea"/>
                  </a:rPr>
                  <a:t>前向搜索：</a:t>
                </a:r>
                <a:r>
                  <a:rPr lang="en-US" altLang="zh-CN" sz="2800" spc="-10" dirty="0">
                    <a:latin typeface="+mn-ea"/>
                  </a:rPr>
                  <a:t>1. </a:t>
                </a:r>
                <a:r>
                  <a:rPr lang="zh-CN" altLang="en-US" sz="2800" spc="-10" dirty="0">
                    <a:latin typeface="+mn-ea"/>
                  </a:rPr>
                  <a:t>将每一特征作为一子集，选定最优的单个特征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2800" i="1" spc="-1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i="1" spc="-1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pc="-1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800" b="0" i="1" spc="-1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sz="2800" spc="-10" dirty="0">
                  <a:latin typeface="+mn-ea"/>
                </a:endParaRPr>
              </a:p>
            </p:txBody>
          </p:sp>
        </mc:Choice>
        <mc:Fallback xmlns="">
          <p:sp>
            <p:nvSpPr>
              <p:cNvPr id="8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004" y="2281049"/>
                <a:ext cx="10652035" cy="565539"/>
              </a:xfrm>
              <a:prstGeom prst="rect">
                <a:avLst/>
              </a:prstGeom>
              <a:blipFill rotWithShape="1">
                <a:blip r:embed="rId3"/>
                <a:stretch>
                  <a:fillRect l="-2" t="-23" r="1" b="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119"/>
              <p:cNvSpPr txBox="1"/>
              <p:nvPr/>
            </p:nvSpPr>
            <p:spPr>
              <a:xfrm>
                <a:off x="3192595" y="2711189"/>
                <a:ext cx="8660674" cy="6620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2800" spc="-10" dirty="0">
                    <a:latin typeface="+mn-ea"/>
                  </a:rPr>
                  <a:t>2. </a:t>
                </a:r>
                <a:r>
                  <a:rPr lang="zh-CN" altLang="en-US" sz="2800" spc="-10" dirty="0">
                    <a:latin typeface="+mn-ea"/>
                  </a:rPr>
                  <a:t>在上一轮选定集中增加一个特征，选定最优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2800" i="1" spc="-1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i="1" spc="-1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 spc="-1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800" i="1" spc="-1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800" b="0" i="1" spc="-1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800" i="1" spc="-1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 spc="-1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800" b="0" i="1" spc="-1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sz="2800" spc="-10" dirty="0">
                  <a:latin typeface="+mn-ea"/>
                </a:endParaRPr>
              </a:p>
            </p:txBody>
          </p:sp>
        </mc:Choice>
        <mc:Fallback xmlns="">
          <p:sp>
            <p:nvSpPr>
              <p:cNvPr id="9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2595" y="2711189"/>
                <a:ext cx="8660674" cy="662041"/>
              </a:xfrm>
              <a:prstGeom prst="rect">
                <a:avLst/>
              </a:prstGeom>
              <a:blipFill rotWithShape="1">
                <a:blip r:embed="rId4"/>
                <a:stretch>
                  <a:fillRect l="-5" t="-56" r="4" b="-18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119"/>
              <p:cNvSpPr txBox="1"/>
              <p:nvPr/>
            </p:nvSpPr>
            <p:spPr>
              <a:xfrm>
                <a:off x="3192595" y="3250500"/>
                <a:ext cx="8660674" cy="5655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2800" spc="-10" dirty="0">
                    <a:latin typeface="+mn-ea"/>
                  </a:rPr>
                  <a:t>3. …</a:t>
                </a:r>
                <a:r>
                  <a:rPr lang="zh-CN" altLang="en-US" sz="2800" spc="-10" dirty="0">
                    <a:latin typeface="+mn-ea"/>
                  </a:rPr>
                  <a:t>，直到最优</a:t>
                </a:r>
                <a14:m>
                  <m:oMath xmlns:m="http://schemas.openxmlformats.org/officeDocument/2006/math">
                    <m:r>
                      <a:rPr lang="en-US" altLang="zh-CN" sz="2800" b="0" i="1" spc="-1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800" b="0" i="1" spc="-1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sz="2800" spc="-10" dirty="0">
                    <a:latin typeface="+mn-ea"/>
                  </a:rPr>
                  <a:t>特征子集不如</a:t>
                </a:r>
                <a:r>
                  <a:rPr lang="zh-CN" altLang="en-US" sz="2800" spc="-10" dirty="0">
                    <a:solidFill>
                      <a:srgbClr val="FF0000"/>
                    </a:solidFill>
                    <a:latin typeface="+mn-ea"/>
                  </a:rPr>
                  <a:t>上轮选定集</a:t>
                </a:r>
                <a:r>
                  <a:rPr lang="zh-CN" altLang="en-US" sz="2800" spc="-10" dirty="0">
                    <a:latin typeface="+mn-ea"/>
                  </a:rPr>
                  <a:t>结束</a:t>
                </a:r>
                <a:endParaRPr lang="en-US" altLang="zh-CN" sz="2800" spc="-10" dirty="0">
                  <a:latin typeface="+mn-ea"/>
                </a:endParaRPr>
              </a:p>
            </p:txBody>
          </p:sp>
        </mc:Choice>
        <mc:Fallback xmlns="">
          <p:sp>
            <p:nvSpPr>
              <p:cNvPr id="10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2595" y="3250500"/>
                <a:ext cx="8660674" cy="565539"/>
              </a:xfrm>
              <a:prstGeom prst="rect">
                <a:avLst/>
              </a:prstGeom>
              <a:blipFill rotWithShape="1">
                <a:blip r:embed="rId5"/>
                <a:stretch>
                  <a:fillRect l="-5" t="-101" r="4" b="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19"/>
          <p:cNvSpPr txBox="1"/>
          <p:nvPr/>
        </p:nvSpPr>
        <p:spPr>
          <a:xfrm>
            <a:off x="942905" y="4225004"/>
            <a:ext cx="10652035" cy="565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2800" spc="-10" dirty="0">
                <a:latin typeface="+mn-ea"/>
              </a:rPr>
              <a:t>后向搜索：从完整特征子集开始，每次去掉一个无关特征</a:t>
            </a:r>
            <a:endParaRPr lang="en-US" altLang="zh-CN" sz="2800" spc="-10" dirty="0">
              <a:latin typeface="+mn-ea"/>
            </a:endParaRPr>
          </a:p>
        </p:txBody>
      </p:sp>
      <p:sp>
        <p:nvSpPr>
          <p:cNvPr id="13" name="文本框 119"/>
          <p:cNvSpPr txBox="1"/>
          <p:nvPr/>
        </p:nvSpPr>
        <p:spPr>
          <a:xfrm>
            <a:off x="973004" y="5094349"/>
            <a:ext cx="11403925" cy="565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2800" spc="-10" dirty="0">
                <a:latin typeface="+mn-ea"/>
              </a:rPr>
              <a:t>双向搜索：每一轮增加选定特征（此后不删除），并减少无关特征</a:t>
            </a:r>
            <a:endParaRPr lang="en-US" altLang="zh-CN" sz="2800" spc="-10" dirty="0">
              <a:latin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F69888C-E133-43D9-A638-B5C95925B91C}" type="slidenum">
              <a:rPr lang="zh-CN" altLang="en-US" smtClean="0"/>
              <a:t>36</a:t>
            </a:fld>
            <a:endParaRPr lang="zh-CN" alt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566961" y="265803"/>
            <a:ext cx="7440283" cy="426497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4000" dirty="0"/>
              <a:t>4</a:t>
            </a:r>
            <a:r>
              <a:rPr lang="zh-CN" altLang="en-US" sz="4000" dirty="0"/>
              <a:t>、</a:t>
            </a:r>
            <a:r>
              <a:rPr lang="zh-CN" altLang="en-US" sz="4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特征选择</a:t>
            </a:r>
          </a:p>
        </p:txBody>
      </p:sp>
      <p:sp>
        <p:nvSpPr>
          <p:cNvPr id="12" name="AutoShape 4" descr="[公式]"/>
          <p:cNvSpPr>
            <a:spLocks noChangeAspect="1" noChangeArrowheads="1"/>
          </p:cNvSpPr>
          <p:nvPr/>
        </p:nvSpPr>
        <p:spPr bwMode="auto">
          <a:xfrm>
            <a:off x="4013200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7" name="文本框 119"/>
          <p:cNvSpPr txBox="1"/>
          <p:nvPr/>
        </p:nvSpPr>
        <p:spPr>
          <a:xfrm>
            <a:off x="566960" y="1505404"/>
            <a:ext cx="5251269" cy="565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zh-CN" altLang="en-US" sz="2800" spc="-10" dirty="0">
                <a:solidFill>
                  <a:srgbClr val="7030A0"/>
                </a:solidFill>
                <a:latin typeface="+mn-ea"/>
              </a:rPr>
              <a:t>子集评价</a:t>
            </a:r>
            <a:endParaRPr lang="en-US" altLang="zh-CN" sz="2800" spc="-10" dirty="0"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19"/>
              <p:cNvSpPr txBox="1"/>
              <p:nvPr/>
            </p:nvSpPr>
            <p:spPr>
              <a:xfrm>
                <a:off x="786600" y="2032564"/>
                <a:ext cx="11174345" cy="10826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buFont typeface="Wingdings" panose="05000000000000000000" pitchFamily="2" charset="2"/>
                  <a:buChar char="ü"/>
                </a:pPr>
                <a:r>
                  <a:rPr lang="zh-CN" altLang="en-US" sz="2800" spc="-10" dirty="0">
                    <a:latin typeface="+mn-ea"/>
                  </a:rPr>
                  <a:t>给定数据集</a:t>
                </a:r>
                <a14:m>
                  <m:oMath xmlns:m="http://schemas.openxmlformats.org/officeDocument/2006/math">
                    <m:r>
                      <a:rPr lang="zh-CN" altLang="en-US" sz="2800" i="1" spc="-10" smtClean="0">
                        <a:latin typeface="Cambria Math" panose="02040503050406030204" pitchFamily="18" charset="0"/>
                      </a:rPr>
                      <m:t>𝒟</m:t>
                    </m:r>
                  </m:oMath>
                </a14:m>
                <a:r>
                  <a:rPr lang="zh-CN" altLang="en-US" sz="2800" spc="-10" dirty="0">
                    <a:latin typeface="+mn-ea"/>
                  </a:rPr>
                  <a:t>，假定</a:t>
                </a:r>
                <a14:m>
                  <m:oMath xmlns:m="http://schemas.openxmlformats.org/officeDocument/2006/math">
                    <m:r>
                      <a:rPr lang="zh-CN" altLang="en-US" sz="2800" i="1" spc="-10">
                        <a:latin typeface="Cambria Math" panose="02040503050406030204" pitchFamily="18" charset="0"/>
                      </a:rPr>
                      <m:t>𝒟</m:t>
                    </m:r>
                  </m:oMath>
                </a14:m>
                <a:r>
                  <a:rPr lang="zh-CN" altLang="en-US" sz="2800" spc="-10" dirty="0">
                    <a:latin typeface="+mn-ea"/>
                  </a:rPr>
                  <a:t>中第</a:t>
                </a:r>
                <a14:m>
                  <m:oMath xmlns:m="http://schemas.openxmlformats.org/officeDocument/2006/math">
                    <m:r>
                      <a:rPr lang="en-US" altLang="zh-CN" sz="2800" b="0" i="1" spc="-1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sz="2800" spc="-10" dirty="0">
                    <a:latin typeface="+mn-ea"/>
                  </a:rPr>
                  <a:t>类样本所占比例为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pc="-1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pc="-1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800" b="0" i="1" spc="-1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800" b="0" i="1" spc="-10" smtClean="0">
                        <a:latin typeface="Cambria Math" panose="02040503050406030204" pitchFamily="18" charset="0"/>
                      </a:rPr>
                      <m:t>, (</m:t>
                    </m:r>
                    <m:r>
                      <a:rPr lang="en-US" altLang="zh-CN" sz="2800" b="0" i="1" spc="-1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2800" b="0" i="1" spc="-10" smtClean="0">
                        <a:latin typeface="Cambria Math" panose="02040503050406030204" pitchFamily="18" charset="0"/>
                      </a:rPr>
                      <m:t>=1,2,…,</m:t>
                    </m:r>
                    <m:d>
                      <m:dPr>
                        <m:begChr m:val="|"/>
                        <m:endChr m:val="|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𝒴</m:t>
                        </m:r>
                      </m:e>
                    </m:d>
                    <m:r>
                      <a:rPr lang="en-US" altLang="zh-CN" sz="2800" b="0" i="1" spc="-1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spc="-10" dirty="0">
                    <a:latin typeface="+mn-ea"/>
                  </a:rPr>
                  <a:t>，其信息熵定义为</a:t>
                </a:r>
                <a:endParaRPr lang="en-US" altLang="zh-CN" sz="2800" spc="-10" dirty="0">
                  <a:latin typeface="+mn-ea"/>
                </a:endParaRPr>
              </a:p>
            </p:txBody>
          </p:sp>
        </mc:Choice>
        <mc:Fallback xmlns="">
          <p:sp>
            <p:nvSpPr>
              <p:cNvPr id="14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600" y="2032564"/>
                <a:ext cx="11174345" cy="1082604"/>
              </a:xfrm>
              <a:prstGeom prst="rect">
                <a:avLst/>
              </a:prstGeom>
              <a:blipFill rotWithShape="1">
                <a:blip r:embed="rId3"/>
                <a:stretch>
                  <a:fillRect l="-4" t="-52" r="1" b="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402652" y="2573866"/>
                <a:ext cx="3386696" cy="1062407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i="1" smtClean="0">
                          <a:latin typeface="Cambria Math" panose="02040503050406030204" pitchFamily="18" charset="0"/>
                        </a:rPr>
                        <m:t>Ent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 spc="-10">
                              <a:latin typeface="Cambria Math" panose="02040503050406030204" pitchFamily="18" charset="0"/>
                            </a:rPr>
                            <m:t>𝒟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𝒴</m:t>
                              </m:r>
                            </m:e>
                          </m:d>
                        </m:sup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i="1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400" dirty="0">
                  <a:latin typeface="+mn-ea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2652" y="2573866"/>
                <a:ext cx="3386696" cy="1062407"/>
              </a:xfrm>
              <a:prstGeom prst="rect">
                <a:avLst/>
              </a:prstGeom>
              <a:blipFill rotWithShape="1">
                <a:blip r:embed="rId4"/>
                <a:stretch>
                  <a:fillRect l="-6" t="-20" r="-1356" b="-41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119"/>
          <p:cNvSpPr txBox="1"/>
          <p:nvPr/>
        </p:nvSpPr>
        <p:spPr>
          <a:xfrm>
            <a:off x="566960" y="939865"/>
            <a:ext cx="11403926" cy="565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800" spc="-10" dirty="0">
                <a:latin typeface="+mn-ea"/>
              </a:rPr>
              <a:t>特征选择包含</a:t>
            </a:r>
            <a:r>
              <a:rPr lang="zh-CN" altLang="en-US" sz="2800" spc="-10" dirty="0">
                <a:solidFill>
                  <a:schemeClr val="accent1"/>
                </a:solidFill>
                <a:latin typeface="+mn-ea"/>
              </a:rPr>
              <a:t>特征子集搜索</a:t>
            </a:r>
            <a:r>
              <a:rPr lang="zh-CN" altLang="en-US" sz="2800" spc="-10" dirty="0">
                <a:latin typeface="+mn-ea"/>
              </a:rPr>
              <a:t>机制与</a:t>
            </a:r>
            <a:r>
              <a:rPr lang="zh-CN" altLang="en-US" sz="2800" spc="-10" dirty="0">
                <a:solidFill>
                  <a:schemeClr val="accent1"/>
                </a:solidFill>
                <a:latin typeface="+mn-ea"/>
              </a:rPr>
              <a:t>子集评价</a:t>
            </a:r>
            <a:r>
              <a:rPr lang="zh-CN" altLang="en-US" sz="2800" spc="-10" dirty="0">
                <a:latin typeface="+mn-ea"/>
              </a:rPr>
              <a:t>机制</a:t>
            </a:r>
            <a:endParaRPr lang="en-US" altLang="zh-CN" sz="2800" spc="-10" dirty="0"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19"/>
              <p:cNvSpPr txBox="1"/>
              <p:nvPr/>
            </p:nvSpPr>
            <p:spPr>
              <a:xfrm>
                <a:off x="796541" y="3656470"/>
                <a:ext cx="11174345" cy="10826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buFont typeface="Wingdings" panose="05000000000000000000" pitchFamily="2" charset="2"/>
                  <a:buChar char="ü"/>
                </a:pPr>
                <a:r>
                  <a:rPr lang="zh-CN" altLang="en-US" sz="2800" spc="-10" dirty="0">
                    <a:latin typeface="+mn-ea"/>
                  </a:rPr>
                  <a:t>对属性子集</a:t>
                </a:r>
                <a14:m>
                  <m:oMath xmlns:m="http://schemas.openxmlformats.org/officeDocument/2006/math">
                    <m:r>
                      <a:rPr lang="en-US" altLang="zh-CN" sz="2800" i="1" spc="-10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sz="2800" spc="-10" dirty="0">
                    <a:latin typeface="+mn-ea"/>
                  </a:rPr>
                  <a:t>，根据其取值将</a:t>
                </a:r>
                <a14:m>
                  <m:oMath xmlns:m="http://schemas.openxmlformats.org/officeDocument/2006/math">
                    <m:r>
                      <a:rPr lang="zh-CN" altLang="en-US" sz="2800" i="1" spc="-10" smtClean="0">
                        <a:latin typeface="Cambria Math" panose="02040503050406030204" pitchFamily="18" charset="0"/>
                      </a:rPr>
                      <m:t>𝒟</m:t>
                    </m:r>
                  </m:oMath>
                </a14:m>
                <a:r>
                  <a:rPr lang="zh-CN" altLang="en-US" sz="2800" spc="-10" dirty="0">
                    <a:latin typeface="+mn-ea"/>
                  </a:rPr>
                  <a:t>分成</a:t>
                </a:r>
                <a14:m>
                  <m:oMath xmlns:m="http://schemas.openxmlformats.org/officeDocument/2006/math">
                    <m:r>
                      <a:rPr lang="en-US" altLang="zh-CN" sz="2800" i="1" spc="-10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zh-CN" altLang="en-US" sz="2800" spc="-10" dirty="0">
                    <a:latin typeface="+mn-ea"/>
                  </a:rPr>
                  <a:t>个子集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2800" i="1" spc="-1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800" i="1" spc="-1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800" i="1" spc="-10">
                                <a:latin typeface="Cambria Math" panose="02040503050406030204" pitchFamily="18" charset="0"/>
                              </a:rPr>
                              <m:t>𝒟</m:t>
                            </m:r>
                          </m:e>
                          <m:sup>
                            <m:r>
                              <a:rPr lang="en-US" altLang="zh-CN" sz="2800" b="0" i="1" spc="-1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altLang="zh-CN" sz="2800" b="0" i="1" spc="-10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sz="2800" b="0" i="1" spc="-1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800" i="1" spc="-10">
                                <a:latin typeface="Cambria Math" panose="02040503050406030204" pitchFamily="18" charset="0"/>
                              </a:rPr>
                              <m:t>𝒟</m:t>
                            </m:r>
                          </m:e>
                          <m:sup>
                            <m:r>
                              <a:rPr lang="en-US" altLang="zh-CN" sz="2800" b="0" i="1" spc="-1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800" b="0" i="1" spc="-10" smtClean="0">
                            <a:latin typeface="Cambria Math" panose="02040503050406030204" pitchFamily="18" charset="0"/>
                          </a:rPr>
                          <m:t>,…</m:t>
                        </m:r>
                        <m:sSup>
                          <m:sSupPr>
                            <m:ctrlPr>
                              <a:rPr lang="en-US" altLang="zh-CN" sz="2800" b="0" i="1" spc="-1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800" i="1" spc="-10">
                                <a:latin typeface="Cambria Math" panose="02040503050406030204" pitchFamily="18" charset="0"/>
                              </a:rPr>
                              <m:t>𝒟</m:t>
                            </m:r>
                          </m:e>
                          <m:sup>
                            <m:r>
                              <a:rPr lang="en-US" altLang="zh-CN" sz="2800" b="0" i="1" spc="-10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sz="2800" spc="-10" dirty="0">
                    <a:latin typeface="+mn-ea"/>
                  </a:rPr>
                  <a:t>，每个子集中样本在</a:t>
                </a:r>
                <a14:m>
                  <m:oMath xmlns:m="http://schemas.openxmlformats.org/officeDocument/2006/math">
                    <m:r>
                      <a:rPr lang="en-US" altLang="zh-CN" sz="2800" i="1" spc="-10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sz="2800" spc="-10" dirty="0">
                    <a:latin typeface="+mn-ea"/>
                  </a:rPr>
                  <a:t>上取值相同，则属性</a:t>
                </a:r>
                <a14:m>
                  <m:oMath xmlns:m="http://schemas.openxmlformats.org/officeDocument/2006/math">
                    <m:r>
                      <a:rPr lang="en-US" altLang="zh-CN" sz="2800" i="1" spc="-10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sz="2800" spc="-10" dirty="0">
                    <a:latin typeface="+mn-ea"/>
                  </a:rPr>
                  <a:t>的信息增益为</a:t>
                </a:r>
                <a:endParaRPr lang="en-US" altLang="zh-CN" sz="2800" spc="-10" dirty="0">
                  <a:latin typeface="+mn-ea"/>
                </a:endParaRPr>
              </a:p>
            </p:txBody>
          </p:sp>
        </mc:Choice>
        <mc:Fallback xmlns="">
          <p:sp>
            <p:nvSpPr>
              <p:cNvPr id="16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541" y="3656470"/>
                <a:ext cx="11174345" cy="1082604"/>
              </a:xfrm>
              <a:prstGeom prst="rect">
                <a:avLst/>
              </a:prstGeom>
              <a:blipFill rotWithShape="1">
                <a:blip r:embed="rId5"/>
                <a:stretch>
                  <a:fillRect l="-2" t="-13" r="4" b="-6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512216" y="4725061"/>
                <a:ext cx="5167568" cy="106227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i="1" smtClean="0">
                          <a:latin typeface="Cambria Math" panose="02040503050406030204" pitchFamily="18" charset="0"/>
                        </a:rPr>
                        <m:t>Gain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i="1">
                          <a:latin typeface="Cambria Math" panose="02040503050406030204" pitchFamily="18" charset="0"/>
                        </a:rPr>
                        <m:t>Ent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 spc="-10">
                              <a:latin typeface="Cambria Math" panose="02040503050406030204" pitchFamily="18" charset="0"/>
                            </a:rPr>
                            <m:t>𝒟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d>
                        </m:sup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CN" sz="2400" i="1" spc="-1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400" i="1" spc="-10">
                                          <a:latin typeface="Cambria Math" panose="02040503050406030204" pitchFamily="18" charset="0"/>
                                        </a:rPr>
                                        <m:t>𝒟</m:t>
                                      </m:r>
                                    </m:e>
                                    <m:sup>
                                      <m:r>
                                        <a:rPr lang="en-US" altLang="zh-CN" sz="2400" b="0" i="1" spc="-10" smtClean="0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sup>
                                  </m:sSup>
                                </m:e>
                              </m:d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400" i="1" spc="-10">
                                      <a:latin typeface="Cambria Math" panose="02040503050406030204" pitchFamily="18" charset="0"/>
                                    </a:rPr>
                                    <m:t>𝒟</m:t>
                                  </m:r>
                                </m:e>
                              </m:d>
                            </m:den>
                          </m:f>
                          <m:r>
                            <m:rPr>
                              <m:sty m:val="p"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Ent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altLang="zh-CN" sz="2400" i="1" spc="-1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 spc="-10">
                                  <a:latin typeface="Cambria Math" panose="02040503050406030204" pitchFamily="18" charset="0"/>
                                </a:rPr>
                                <m:t>𝒟</m:t>
                              </m:r>
                            </m:e>
                            <m:sup>
                              <m:r>
                                <a:rPr lang="en-US" altLang="zh-CN" sz="2400" b="0" i="1" spc="-10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 </m:t>
                          </m:r>
                        </m:e>
                      </m:nary>
                    </m:oMath>
                  </m:oMathPara>
                </a14:m>
                <a:endParaRPr lang="en-US" sz="2400" dirty="0">
                  <a:latin typeface="+mn-ea"/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2216" y="4725061"/>
                <a:ext cx="5167568" cy="1062278"/>
              </a:xfrm>
              <a:prstGeom prst="rect">
                <a:avLst/>
              </a:prstGeom>
              <a:blipFill rotWithShape="1">
                <a:blip r:embed="rId6"/>
                <a:stretch>
                  <a:fillRect l="-1" t="-2" r="-566" b="-28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19"/>
              <p:cNvSpPr txBox="1"/>
              <p:nvPr/>
            </p:nvSpPr>
            <p:spPr>
              <a:xfrm>
                <a:off x="1254034" y="5773326"/>
                <a:ext cx="10602061" cy="5655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2800" spc="-10" dirty="0">
                    <a:latin typeface="+mn-ea"/>
                  </a:rPr>
                  <a:t>信息增益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1">
                        <a:latin typeface="Cambria Math" panose="02040503050406030204" pitchFamily="18" charset="0"/>
                      </a:rPr>
                      <m:t>Gain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zh-CN" altLang="en-US" sz="2800" spc="-10" dirty="0">
                    <a:latin typeface="+mn-ea"/>
                  </a:rPr>
                  <a:t>越大，特征子集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sz="2800" spc="-10" dirty="0">
                    <a:latin typeface="+mn-ea"/>
                  </a:rPr>
                  <a:t>包含的有助于分类的信息越多</a:t>
                </a:r>
                <a:endParaRPr lang="en-US" altLang="zh-CN" sz="2800" spc="-10" dirty="0">
                  <a:latin typeface="+mn-ea"/>
                </a:endParaRPr>
              </a:p>
            </p:txBody>
          </p:sp>
        </mc:Choice>
        <mc:Fallback xmlns="">
          <p:sp>
            <p:nvSpPr>
              <p:cNvPr id="19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4034" y="5773326"/>
                <a:ext cx="10602061" cy="565539"/>
              </a:xfrm>
              <a:prstGeom prst="rect">
                <a:avLst/>
              </a:prstGeom>
              <a:blipFill rotWithShape="1">
                <a:blip r:embed="rId7"/>
                <a:stretch>
                  <a:fillRect l="-5" t="-96" b="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灯片编号占位符 2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F69888C-E133-43D9-A638-B5C95925B91C}" type="slidenum">
              <a:rPr lang="zh-CN" altLang="en-US" smtClean="0"/>
              <a:t>37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" grpId="0" animBg="1"/>
      <p:bldP spid="16" grpId="0"/>
      <p:bldP spid="18" grpId="0" animBg="1"/>
      <p:bldP spid="1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566961" y="265803"/>
            <a:ext cx="7440283" cy="426497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4000" dirty="0"/>
              <a:t>4</a:t>
            </a:r>
            <a:r>
              <a:rPr lang="zh-CN" altLang="en-US" sz="4000" dirty="0"/>
              <a:t>、</a:t>
            </a:r>
            <a:r>
              <a:rPr lang="zh-CN" altLang="en-US" sz="4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特征选择</a:t>
            </a:r>
          </a:p>
        </p:txBody>
      </p:sp>
      <p:sp>
        <p:nvSpPr>
          <p:cNvPr id="12" name="AutoShape 4" descr="[公式]"/>
          <p:cNvSpPr>
            <a:spLocks noChangeAspect="1" noChangeArrowheads="1"/>
          </p:cNvSpPr>
          <p:nvPr/>
        </p:nvSpPr>
        <p:spPr bwMode="auto">
          <a:xfrm>
            <a:off x="4013200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7" name="文本框 119"/>
          <p:cNvSpPr txBox="1"/>
          <p:nvPr/>
        </p:nvSpPr>
        <p:spPr>
          <a:xfrm>
            <a:off x="566960" y="1505404"/>
            <a:ext cx="5251269" cy="565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zh-CN" altLang="en-US" sz="2800" spc="-10" dirty="0">
                <a:solidFill>
                  <a:srgbClr val="7030A0"/>
                </a:solidFill>
                <a:latin typeface="+mn-ea"/>
              </a:rPr>
              <a:t>过滤式选择</a:t>
            </a:r>
            <a:endParaRPr lang="en-US" altLang="zh-CN" sz="2800" spc="-10" dirty="0">
              <a:latin typeface="+mn-ea"/>
            </a:endParaRPr>
          </a:p>
        </p:txBody>
      </p:sp>
      <p:sp>
        <p:nvSpPr>
          <p:cNvPr id="14" name="文本框 119"/>
          <p:cNvSpPr txBox="1"/>
          <p:nvPr/>
        </p:nvSpPr>
        <p:spPr>
          <a:xfrm>
            <a:off x="786600" y="2032564"/>
            <a:ext cx="11174345" cy="565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2800" spc="-10" dirty="0">
                <a:latin typeface="+mn-ea"/>
              </a:rPr>
              <a:t>特征选择与后续学习</a:t>
            </a:r>
            <a:r>
              <a:rPr lang="zh-CN" altLang="en-US" sz="2800" b="1" spc="-10" dirty="0">
                <a:solidFill>
                  <a:schemeClr val="accent1"/>
                </a:solidFill>
                <a:latin typeface="+mn-ea"/>
              </a:rPr>
              <a:t>无关</a:t>
            </a:r>
            <a:endParaRPr lang="en-US" altLang="zh-CN" sz="2800" b="1" spc="-10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15" name="文本框 119"/>
          <p:cNvSpPr txBox="1"/>
          <p:nvPr/>
        </p:nvSpPr>
        <p:spPr>
          <a:xfrm>
            <a:off x="566960" y="939865"/>
            <a:ext cx="11403926" cy="565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800" spc="-10" dirty="0">
                <a:latin typeface="+mn-ea"/>
              </a:rPr>
              <a:t>特征选择法大致可分为：</a:t>
            </a:r>
            <a:r>
              <a:rPr lang="zh-CN" altLang="en-US" sz="2800" spc="-10" dirty="0">
                <a:solidFill>
                  <a:schemeClr val="accent1"/>
                </a:solidFill>
                <a:latin typeface="+mn-ea"/>
              </a:rPr>
              <a:t>过滤式</a:t>
            </a:r>
            <a:r>
              <a:rPr lang="zh-CN" altLang="en-US" sz="2800" spc="-10" dirty="0">
                <a:latin typeface="+mn-ea"/>
              </a:rPr>
              <a:t>、</a:t>
            </a:r>
            <a:r>
              <a:rPr lang="zh-CN" altLang="en-US" sz="2800" spc="-10" dirty="0">
                <a:solidFill>
                  <a:schemeClr val="accent1"/>
                </a:solidFill>
                <a:latin typeface="+mn-ea"/>
              </a:rPr>
              <a:t>包裹式</a:t>
            </a:r>
            <a:r>
              <a:rPr lang="zh-CN" altLang="en-US" sz="2800" spc="-10" dirty="0">
                <a:latin typeface="+mn-ea"/>
              </a:rPr>
              <a:t>、</a:t>
            </a:r>
            <a:r>
              <a:rPr lang="zh-CN" altLang="en-US" sz="2800" spc="-10" dirty="0">
                <a:solidFill>
                  <a:schemeClr val="accent1"/>
                </a:solidFill>
                <a:latin typeface="+mn-ea"/>
              </a:rPr>
              <a:t>嵌入式</a:t>
            </a:r>
            <a:endParaRPr lang="en-US" altLang="zh-CN" sz="2800" spc="-10" dirty="0">
              <a:solidFill>
                <a:schemeClr val="accent1"/>
              </a:solidFill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19"/>
              <p:cNvSpPr txBox="1"/>
              <p:nvPr/>
            </p:nvSpPr>
            <p:spPr>
              <a:xfrm>
                <a:off x="786599" y="2636482"/>
                <a:ext cx="11174345" cy="5769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buFont typeface="Wingdings" panose="05000000000000000000" pitchFamily="2" charset="2"/>
                  <a:buChar char="ü"/>
                </a:pPr>
                <a:r>
                  <a:rPr lang="zh-CN" altLang="en-US" sz="2800" spc="-10" dirty="0">
                    <a:latin typeface="+mn-ea"/>
                  </a:rPr>
                  <a:t>设计一个相关统计量分量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 spc="-1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 spc="-1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p>
                        <m:r>
                          <a:rPr lang="en-US" altLang="zh-CN" sz="2800" b="0" i="1" spc="-1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</m:oMath>
                </a14:m>
                <a:r>
                  <a:rPr lang="zh-CN" altLang="en-US" sz="2800" spc="-10" dirty="0">
                    <a:latin typeface="+mn-ea"/>
                  </a:rPr>
                  <a:t>来度量</a:t>
                </a:r>
                <a:r>
                  <a:rPr lang="zh-CN" altLang="en-US" sz="2800" spc="-10" dirty="0">
                    <a:solidFill>
                      <a:srgbClr val="FF0000"/>
                    </a:solidFill>
                    <a:latin typeface="+mn-ea"/>
                  </a:rPr>
                  <a:t>每个特征</a:t>
                </a:r>
                <a14:m>
                  <m:oMath xmlns:m="http://schemas.openxmlformats.org/officeDocument/2006/math">
                    <m:r>
                      <a:rPr lang="en-US" altLang="zh-CN" sz="2800" b="0" i="1" spc="-1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zh-CN" altLang="en-US" sz="2800" spc="-10" dirty="0">
                    <a:solidFill>
                      <a:srgbClr val="FF0000"/>
                    </a:solidFill>
                    <a:latin typeface="+mn-ea"/>
                  </a:rPr>
                  <a:t>的重要性</a:t>
                </a:r>
                <a:r>
                  <a:rPr lang="zh-CN" altLang="en-US" sz="2800" spc="-10" dirty="0">
                    <a:latin typeface="+mn-ea"/>
                  </a:rPr>
                  <a:t>，如</a:t>
                </a:r>
                <a:r>
                  <a:rPr lang="en-US" altLang="zh-CN" sz="2800" spc="-10" dirty="0">
                    <a:latin typeface="+mn-ea"/>
                  </a:rPr>
                  <a:t>Relief</a:t>
                </a:r>
                <a:r>
                  <a:rPr lang="zh-CN" altLang="en-US" sz="2800" spc="-10" dirty="0">
                    <a:latin typeface="+mn-ea"/>
                  </a:rPr>
                  <a:t>法</a:t>
                </a:r>
                <a:endParaRPr lang="en-US" altLang="zh-CN" sz="2800" spc="-10" dirty="0">
                  <a:latin typeface="+mn-ea"/>
                </a:endParaRPr>
              </a:p>
            </p:txBody>
          </p:sp>
        </mc:Choice>
        <mc:Fallback xmlns="">
          <p:sp>
            <p:nvSpPr>
              <p:cNvPr id="13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599" y="2636482"/>
                <a:ext cx="11174345" cy="576953"/>
              </a:xfrm>
              <a:prstGeom prst="rect">
                <a:avLst/>
              </a:prstGeom>
              <a:blipFill rotWithShape="1">
                <a:blip r:embed="rId3"/>
                <a:stretch>
                  <a:fillRect l="-4" t="-103" r="1" b="-36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119"/>
              <p:cNvSpPr txBox="1"/>
              <p:nvPr/>
            </p:nvSpPr>
            <p:spPr>
              <a:xfrm>
                <a:off x="1187194" y="3213435"/>
                <a:ext cx="10895950" cy="5315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2400" i="1" spc="-10" dirty="0">
                    <a:latin typeface="+mn-ea"/>
                  </a:rPr>
                  <a:t>对样本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pc="-1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pc="-1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400" b="0" i="1" spc="-1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400" i="1" spc="-10" dirty="0">
                    <a:latin typeface="+mn-ea"/>
                  </a:rPr>
                  <a:t>，在其同类样本中选择最近邻样本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pc="-1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pc="-1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400" i="1" spc="-1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400" b="0" i="1" spc="-1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0" i="1" spc="-10" smtClean="0">
                            <a:latin typeface="Cambria Math" panose="02040503050406030204" pitchFamily="18" charset="0"/>
                          </a:rPr>
                          <m:t>𝑛h</m:t>
                        </m:r>
                      </m:sub>
                    </m:sSub>
                  </m:oMath>
                </a14:m>
                <a:r>
                  <a:rPr lang="zh-CN" altLang="en-US" sz="2400" i="1" spc="-10" dirty="0">
                    <a:latin typeface="+mn-ea"/>
                  </a:rPr>
                  <a:t>，称为“</a:t>
                </a:r>
                <a:r>
                  <a:rPr lang="zh-CN" altLang="en-US" sz="2400" i="1" spc="-10" dirty="0">
                    <a:solidFill>
                      <a:schemeClr val="accent1"/>
                    </a:solidFill>
                    <a:latin typeface="+mn-ea"/>
                  </a:rPr>
                  <a:t>猜中近邻</a:t>
                </a:r>
                <a:r>
                  <a:rPr lang="zh-CN" altLang="en-US" sz="2400" i="1" spc="-10" dirty="0">
                    <a:latin typeface="+mn-ea"/>
                  </a:rPr>
                  <a:t>”</a:t>
                </a:r>
                <a:endParaRPr lang="en-US" altLang="zh-CN" sz="2400" i="1" spc="-10" dirty="0">
                  <a:latin typeface="+mn-ea"/>
                </a:endParaRPr>
              </a:p>
            </p:txBody>
          </p:sp>
        </mc:Choice>
        <mc:Fallback xmlns="">
          <p:sp>
            <p:nvSpPr>
              <p:cNvPr id="21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194" y="3213435"/>
                <a:ext cx="10895950" cy="531556"/>
              </a:xfrm>
              <a:prstGeom prst="rect">
                <a:avLst/>
              </a:prstGeom>
              <a:blipFill rotWithShape="1">
                <a:blip r:embed="rId4"/>
                <a:stretch>
                  <a:fillRect l="-3" t="-63" r="3" b="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119"/>
              <p:cNvSpPr txBox="1"/>
              <p:nvPr/>
            </p:nvSpPr>
            <p:spPr>
              <a:xfrm>
                <a:off x="1187194" y="3674735"/>
                <a:ext cx="10895950" cy="5315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2400" i="1" spc="-10" dirty="0">
                    <a:latin typeface="+mn-ea"/>
                  </a:rPr>
                  <a:t>对样本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pc="-1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pc="-1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400" b="0" i="1" spc="-1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400" i="1" spc="-10" dirty="0">
                    <a:latin typeface="+mn-ea"/>
                  </a:rPr>
                  <a:t>，在其异类样本中选择最近邻样本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pc="-1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pc="-1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400" i="1" spc="-1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400" b="0" i="1" spc="-1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0" i="1" spc="-10" smtClean="0">
                            <a:latin typeface="Cambria Math" panose="02040503050406030204" pitchFamily="18" charset="0"/>
                          </a:rPr>
                          <m:t>𝑛𝑚</m:t>
                        </m:r>
                      </m:sub>
                    </m:sSub>
                  </m:oMath>
                </a14:m>
                <a:r>
                  <a:rPr lang="zh-CN" altLang="en-US" sz="2400" i="1" spc="-10" dirty="0">
                    <a:latin typeface="+mn-ea"/>
                  </a:rPr>
                  <a:t>，称为“</a:t>
                </a:r>
                <a:r>
                  <a:rPr lang="zh-CN" altLang="en-US" sz="2400" i="1" spc="-10" dirty="0">
                    <a:solidFill>
                      <a:schemeClr val="accent1"/>
                    </a:solidFill>
                    <a:latin typeface="+mn-ea"/>
                  </a:rPr>
                  <a:t>猜错近邻</a:t>
                </a:r>
                <a:r>
                  <a:rPr lang="zh-CN" altLang="en-US" sz="2400" i="1" spc="-10" dirty="0">
                    <a:latin typeface="+mn-ea"/>
                  </a:rPr>
                  <a:t>”</a:t>
                </a:r>
                <a:endParaRPr lang="en-US" altLang="zh-CN" sz="2400" i="1" spc="-10" dirty="0">
                  <a:latin typeface="+mn-ea"/>
                </a:endParaRPr>
              </a:p>
            </p:txBody>
          </p:sp>
        </mc:Choice>
        <mc:Fallback xmlns="">
          <p:sp>
            <p:nvSpPr>
              <p:cNvPr id="23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194" y="3674735"/>
                <a:ext cx="10895950" cy="531556"/>
              </a:xfrm>
              <a:prstGeom prst="rect">
                <a:avLst/>
              </a:prstGeom>
              <a:blipFill rotWithShape="1">
                <a:blip r:embed="rId5"/>
                <a:stretch>
                  <a:fillRect l="-3" t="-118" r="3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070267" y="4206291"/>
                <a:ext cx="6051465" cy="896207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p>
                      </m:sSup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diff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Sup>
                                    <m:sSubSupPr>
                                      <m:ctrlPr>
                                        <a:rPr lang="en-US" altLang="zh-CN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p>
                                  </m:sSubSup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Sup>
                                    <m:sSubSupPr>
                                      <m:ctrl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𝑛h</m:t>
                                      </m:r>
                                    </m:sub>
                                    <m:sup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p>
                                  </m:sSub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diff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Sup>
                                    <m:sSubSupPr>
                                      <m:ctrlPr>
                                        <a:rPr lang="en-US" altLang="zh-CN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p>
                                  </m:sSub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Sup>
                                    <m:sSubSup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𝑛𝑚</m:t>
                                      </m:r>
                                    </m:sub>
                                    <m:sup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p>
                                  </m:sSub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2400" dirty="0">
                  <a:latin typeface="+mn-ea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0267" y="4206291"/>
                <a:ext cx="6051465" cy="896207"/>
              </a:xfrm>
              <a:prstGeom prst="rect">
                <a:avLst/>
              </a:prstGeom>
              <a:blipFill rotWithShape="1">
                <a:blip r:embed="rId6"/>
                <a:stretch>
                  <a:fillRect l="-1" t="-6" r="10" b="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119"/>
              <p:cNvSpPr txBox="1"/>
              <p:nvPr/>
            </p:nvSpPr>
            <p:spPr>
              <a:xfrm>
                <a:off x="172923" y="5010584"/>
                <a:ext cx="12191999" cy="6015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bSup>
                  </m:oMath>
                </a14:m>
                <a:r>
                  <a:rPr lang="zh-CN" altLang="en-US" sz="2400" i="1" spc="-10" dirty="0">
                    <a:latin typeface="+mn-ea"/>
                  </a:rPr>
                  <a:t>表示样本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pc="-1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pc="-1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400" b="0" i="1" spc="-10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zh-CN" altLang="en-US" sz="2400" i="1" spc="-10" dirty="0">
                    <a:latin typeface="+mn-ea"/>
                  </a:rPr>
                  <a:t>在属性</a:t>
                </a:r>
                <a14:m>
                  <m:oMath xmlns:m="http://schemas.openxmlformats.org/officeDocument/2006/math">
                    <m:r>
                      <a:rPr lang="en-US" altLang="zh-CN" sz="2400" i="1" spc="-1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zh-CN" altLang="en-US" sz="2400" i="1" spc="-10" dirty="0">
                    <a:latin typeface="+mn-ea"/>
                  </a:rPr>
                  <a:t>上的取值；</a:t>
                </a:r>
                <a:r>
                  <a:rPr lang="en-US" altLang="zh-CN" sz="2400" dirty="0"/>
                  <a:t> </a:t>
                </a:r>
                <a:r>
                  <a:rPr lang="zh-CN" altLang="en-US" sz="2400" dirty="0"/>
                  <a:t>若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bSup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bSup>
                    <m:r>
                      <a:rPr lang="zh-CN" altLang="en-US" sz="2400" b="0" i="1" smtClea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则</m:t>
                    </m:r>
                    <m:r>
                      <m:rPr>
                        <m:sty m:val="p"/>
                      </m:rPr>
                      <a:rPr lang="en-US" altLang="zh-CN" sz="2400" i="1">
                        <a:latin typeface="Cambria Math" panose="02040503050406030204" pitchFamily="18" charset="0"/>
                      </a:rPr>
                      <m:t>diff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p>
                        </m:sSub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p>
                        </m:sSubSup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2400" i="1" spc="-10" dirty="0">
                    <a:latin typeface="+mn-ea"/>
                  </a:rPr>
                  <a:t>，否则为</a:t>
                </a:r>
                <a:r>
                  <a:rPr lang="en-US" altLang="zh-CN" sz="2400" i="1" spc="-10" dirty="0">
                    <a:solidFill>
                      <a:schemeClr val="accent1"/>
                    </a:solidFill>
                    <a:latin typeface="+mn-ea"/>
                  </a:rPr>
                  <a:t>1</a:t>
                </a:r>
                <a:r>
                  <a:rPr lang="en-US" altLang="zh-CN" sz="2400" i="1" spc="-10" dirty="0">
                    <a:latin typeface="+mn-ea"/>
                  </a:rPr>
                  <a:t>(</a:t>
                </a:r>
                <a:r>
                  <a:rPr lang="zh-CN" altLang="en-US" sz="2400" i="1" spc="-10" dirty="0">
                    <a:latin typeface="+mn-ea"/>
                  </a:rPr>
                  <a:t>或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400" i="1" spc="-1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CN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zh-CN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p>
                        </m:sSubSup>
                        <m:r>
                          <a:rPr lang="en-US" altLang="zh-CN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zh-CN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  <m:sup>
                            <m:r>
                              <a:rPr lang="en-US" altLang="zh-CN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altLang="zh-CN" sz="2400" i="1" spc="-10" dirty="0">
                    <a:latin typeface="+mn-ea"/>
                  </a:rPr>
                  <a:t>)</a:t>
                </a:r>
              </a:p>
            </p:txBody>
          </p:sp>
        </mc:Choice>
        <mc:Fallback xmlns="">
          <p:sp>
            <p:nvSpPr>
              <p:cNvPr id="26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923" y="5010584"/>
                <a:ext cx="12191999" cy="601575"/>
              </a:xfrm>
              <a:prstGeom prst="rect">
                <a:avLst/>
              </a:prstGeom>
              <a:blipFill rotWithShape="1">
                <a:blip r:embed="rId7"/>
                <a:stretch>
                  <a:fillRect l="-2" t="-72" r="2" b="-50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119"/>
              <p:cNvSpPr txBox="1"/>
              <p:nvPr/>
            </p:nvSpPr>
            <p:spPr>
              <a:xfrm>
                <a:off x="820947" y="5681399"/>
                <a:ext cx="11174345" cy="5769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buFont typeface="Wingdings" panose="05000000000000000000" pitchFamily="2" charset="2"/>
                  <a:buChar char="ü"/>
                </a:pPr>
                <a:r>
                  <a:rPr lang="zh-CN" altLang="en-US" sz="2800" spc="-10" dirty="0">
                    <a:solidFill>
                      <a:srgbClr val="FF0000"/>
                    </a:solidFill>
                    <a:latin typeface="+mn-ea"/>
                  </a:rPr>
                  <a:t>特征子集的重要性</a:t>
                </a:r>
                <a:r>
                  <a:rPr lang="zh-CN" altLang="en-US" sz="2800" spc="-10" dirty="0">
                    <a:latin typeface="+mn-ea"/>
                  </a:rPr>
                  <a:t>则由子集中每个特征的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 spc="-1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 spc="-1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p>
                        <m:r>
                          <a:rPr lang="en-US" altLang="zh-CN" sz="2800" i="1" spc="-1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</m:oMath>
                </a14:m>
                <a:r>
                  <a:rPr lang="zh-CN" altLang="en-US" sz="2800" spc="-10" dirty="0">
                    <a:latin typeface="+mn-ea"/>
                  </a:rPr>
                  <a:t>之和决定</a:t>
                </a:r>
                <a:endParaRPr lang="en-US" altLang="zh-CN" sz="2800" spc="-10" dirty="0">
                  <a:latin typeface="+mn-ea"/>
                </a:endParaRPr>
              </a:p>
            </p:txBody>
          </p:sp>
        </mc:Choice>
        <mc:Fallback xmlns="">
          <p:sp>
            <p:nvSpPr>
              <p:cNvPr id="28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947" y="5681399"/>
                <a:ext cx="11174345" cy="576953"/>
              </a:xfrm>
              <a:prstGeom prst="rect">
                <a:avLst/>
              </a:prstGeom>
              <a:blipFill rotWithShape="1">
                <a:blip r:embed="rId8"/>
                <a:stretch>
                  <a:fillRect l="-5" t="-9" r="1" b="-3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F69888C-E133-43D9-A638-B5C95925B91C}" type="slidenum">
              <a:rPr lang="zh-CN" altLang="en-US" smtClean="0"/>
              <a:t>38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/>
      <p:bldP spid="13" grpId="0"/>
      <p:bldP spid="21" grpId="0"/>
      <p:bldP spid="23" grpId="0"/>
      <p:bldP spid="5" grpId="0" animBg="1"/>
      <p:bldP spid="26" grpId="0"/>
      <p:bldP spid="28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566961" y="265803"/>
            <a:ext cx="7440283" cy="426497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4000" dirty="0"/>
              <a:t>4</a:t>
            </a:r>
            <a:r>
              <a:rPr lang="zh-CN" altLang="en-US" sz="4000" dirty="0"/>
              <a:t>、</a:t>
            </a:r>
            <a:r>
              <a:rPr lang="zh-CN" altLang="en-US" sz="4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特征选择</a:t>
            </a:r>
          </a:p>
        </p:txBody>
      </p:sp>
      <p:sp>
        <p:nvSpPr>
          <p:cNvPr id="12" name="AutoShape 4" descr="[公式]"/>
          <p:cNvSpPr>
            <a:spLocks noChangeAspect="1" noChangeArrowheads="1"/>
          </p:cNvSpPr>
          <p:nvPr/>
        </p:nvSpPr>
        <p:spPr bwMode="auto">
          <a:xfrm>
            <a:off x="4013200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7" name="文本框 119"/>
          <p:cNvSpPr txBox="1"/>
          <p:nvPr/>
        </p:nvSpPr>
        <p:spPr>
          <a:xfrm>
            <a:off x="566960" y="1505404"/>
            <a:ext cx="5251269" cy="565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zh-CN" altLang="en-US" sz="2800" spc="-10" dirty="0">
                <a:solidFill>
                  <a:srgbClr val="7030A0"/>
                </a:solidFill>
                <a:latin typeface="+mn-ea"/>
              </a:rPr>
              <a:t>包裹式选择</a:t>
            </a:r>
            <a:endParaRPr lang="en-US" altLang="zh-CN" sz="2800" spc="-10" dirty="0">
              <a:latin typeface="+mn-ea"/>
            </a:endParaRPr>
          </a:p>
        </p:txBody>
      </p:sp>
      <p:sp>
        <p:nvSpPr>
          <p:cNvPr id="14" name="文本框 119"/>
          <p:cNvSpPr txBox="1"/>
          <p:nvPr/>
        </p:nvSpPr>
        <p:spPr>
          <a:xfrm>
            <a:off x="786600" y="2032564"/>
            <a:ext cx="11174345" cy="1599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2800" spc="-10" dirty="0">
                <a:latin typeface="+mn-ea"/>
              </a:rPr>
              <a:t>将最终模型的性能作为特征子集的评价标准，如</a:t>
            </a:r>
            <a:r>
              <a:rPr lang="en-US" altLang="zh-CN" sz="2800" spc="-10" dirty="0">
                <a:solidFill>
                  <a:schemeClr val="accent1"/>
                </a:solidFill>
                <a:latin typeface="+mn-ea"/>
              </a:rPr>
              <a:t>LVW(Las Vegas Wrapper)</a:t>
            </a:r>
            <a:r>
              <a:rPr lang="zh-CN" altLang="en-US" sz="2800" spc="-10" dirty="0">
                <a:latin typeface="+mn-ea"/>
              </a:rPr>
              <a:t>方法</a:t>
            </a:r>
            <a:endParaRPr lang="en-US" altLang="zh-CN" sz="2800" spc="-10" dirty="0">
              <a:latin typeface="+mn-ea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ü"/>
            </a:pPr>
            <a:endParaRPr lang="en-US" altLang="zh-CN" sz="2800" spc="-10" dirty="0">
              <a:latin typeface="+mn-ea"/>
            </a:endParaRPr>
          </a:p>
        </p:txBody>
      </p:sp>
      <p:sp>
        <p:nvSpPr>
          <p:cNvPr id="15" name="文本框 119"/>
          <p:cNvSpPr txBox="1"/>
          <p:nvPr/>
        </p:nvSpPr>
        <p:spPr>
          <a:xfrm>
            <a:off x="566960" y="939865"/>
            <a:ext cx="11403926" cy="565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800" spc="-10" dirty="0">
                <a:latin typeface="+mn-ea"/>
              </a:rPr>
              <a:t>特征选择法大致可分为：</a:t>
            </a:r>
            <a:r>
              <a:rPr lang="zh-CN" altLang="en-US" sz="2800" spc="-10" dirty="0">
                <a:solidFill>
                  <a:schemeClr val="accent1"/>
                </a:solidFill>
                <a:latin typeface="+mn-ea"/>
              </a:rPr>
              <a:t>过滤式</a:t>
            </a:r>
            <a:r>
              <a:rPr lang="zh-CN" altLang="en-US" sz="2800" spc="-10" dirty="0">
                <a:latin typeface="+mn-ea"/>
              </a:rPr>
              <a:t>、</a:t>
            </a:r>
            <a:r>
              <a:rPr lang="zh-CN" altLang="en-US" sz="2800" spc="-10" dirty="0">
                <a:solidFill>
                  <a:schemeClr val="accent1"/>
                </a:solidFill>
                <a:latin typeface="+mn-ea"/>
              </a:rPr>
              <a:t>包裹式</a:t>
            </a:r>
            <a:r>
              <a:rPr lang="zh-CN" altLang="en-US" sz="2800" spc="-10" dirty="0">
                <a:latin typeface="+mn-ea"/>
              </a:rPr>
              <a:t>、</a:t>
            </a:r>
            <a:r>
              <a:rPr lang="zh-CN" altLang="en-US" sz="2800" spc="-10" dirty="0">
                <a:solidFill>
                  <a:schemeClr val="accent1"/>
                </a:solidFill>
                <a:latin typeface="+mn-ea"/>
              </a:rPr>
              <a:t>嵌入式</a:t>
            </a:r>
            <a:endParaRPr lang="en-US" altLang="zh-CN" sz="2800" spc="-10" dirty="0">
              <a:solidFill>
                <a:schemeClr val="accent1"/>
              </a:solidFill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119"/>
              <p:cNvSpPr txBox="1"/>
              <p:nvPr/>
            </p:nvSpPr>
            <p:spPr>
              <a:xfrm>
                <a:off x="1271108" y="3146230"/>
                <a:ext cx="10689838" cy="22707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zh-CN" altLang="en-US" sz="2400" spc="-10" dirty="0">
                    <a:latin typeface="+mn-ea"/>
                  </a:rPr>
                  <a:t>初始化最优特征子集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pc="-10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pc="-10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zh-CN" altLang="en-US" sz="2400" b="0" i="1" spc="-10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2400" b="0" i="1" spc="-1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pc="-10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sz="2400" spc="-10" dirty="0">
                    <a:latin typeface="+mn-ea"/>
                  </a:rPr>
                  <a:t>，</a:t>
                </a:r>
                <a:r>
                  <a:rPr lang="en-US" altLang="zh-CN" sz="2400" spc="-1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i="1" spc="-10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sz="2400" spc="-10" dirty="0">
                    <a:latin typeface="+mn-ea"/>
                  </a:rPr>
                  <a:t>为初始完整特征子集，训练模型，用</a:t>
                </a:r>
                <a:r>
                  <a:rPr lang="zh-CN" altLang="en-US" sz="2400" spc="-10" dirty="0">
                    <a:solidFill>
                      <a:schemeClr val="accent1"/>
                    </a:solidFill>
                    <a:latin typeface="+mn-ea"/>
                  </a:rPr>
                  <a:t>交叉验证法</a:t>
                </a:r>
                <a:r>
                  <a:rPr lang="zh-CN" altLang="en-US" sz="2400" spc="-10" dirty="0">
                    <a:latin typeface="+mn-ea"/>
                  </a:rPr>
                  <a:t>估计其误差</a:t>
                </a:r>
                <a:endParaRPr lang="en-US" altLang="zh-CN" sz="2400" spc="-10" dirty="0">
                  <a:latin typeface="+mn-ea"/>
                </a:endParaRP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zh-CN" altLang="en-US" sz="2400" spc="-10" dirty="0">
                    <a:solidFill>
                      <a:srgbClr val="FF0000"/>
                    </a:solidFill>
                    <a:latin typeface="+mn-ea"/>
                  </a:rPr>
                  <a:t>随机产生</a:t>
                </a:r>
                <a:r>
                  <a:rPr lang="zh-CN" altLang="en-US" sz="2400" spc="-10" dirty="0">
                    <a:latin typeface="+mn-ea"/>
                  </a:rPr>
                  <a:t>特征子集</a:t>
                </a:r>
                <a14:m>
                  <m:oMath xmlns:m="http://schemas.openxmlformats.org/officeDocument/2006/math">
                    <m:r>
                      <a:rPr lang="en-US" altLang="zh-CN" sz="2400" b="0" i="1" spc="-1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2400" b="0" i="1" spc="-1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sz="2400" spc="-10" dirty="0">
                    <a:latin typeface="+mn-ea"/>
                  </a:rPr>
                  <a:t>，</a:t>
                </a:r>
                <a:r>
                  <a:rPr lang="zh-CN" altLang="en-US" sz="2400" spc="-10" dirty="0">
                    <a:solidFill>
                      <a:srgbClr val="FF0000"/>
                    </a:solidFill>
                    <a:latin typeface="+mn-ea"/>
                  </a:rPr>
                  <a:t>训练模型并计算误差</a:t>
                </a:r>
                <a:r>
                  <a:rPr lang="zh-CN" altLang="en-US" sz="2400" spc="-10" dirty="0">
                    <a:latin typeface="+mn-ea"/>
                  </a:rPr>
                  <a:t>，若它比当前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pc="-1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 spc="-10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zh-CN" altLang="en-US" sz="2400" i="1" spc="-1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sz="2400" spc="-10" dirty="0">
                    <a:latin typeface="+mn-ea"/>
                  </a:rPr>
                  <a:t>对应的误差更小，则令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pc="-1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 spc="-10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zh-CN" altLang="en-US" sz="2400" i="1" spc="-1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2400" i="1" spc="-1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spc="-10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2400" b="0" i="0" spc="-10" dirty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US" altLang="zh-CN" sz="2400" spc="-10" dirty="0">
                  <a:latin typeface="+mn-ea"/>
                </a:endParaRP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zh-CN" altLang="en-US" sz="2400" spc="-10" dirty="0">
                    <a:latin typeface="+mn-ea"/>
                  </a:rPr>
                  <a:t>重复步骤</a:t>
                </a:r>
                <a:r>
                  <a:rPr lang="en-US" altLang="zh-CN" sz="2400" spc="-10" dirty="0">
                    <a:latin typeface="+mn-ea"/>
                  </a:rPr>
                  <a:t>2</a:t>
                </a:r>
                <a:r>
                  <a:rPr lang="zh-CN" altLang="en-US" sz="2400" spc="-10" dirty="0">
                    <a:latin typeface="+mn-ea"/>
                  </a:rPr>
                  <a:t>，直至运行时间达到上限，输出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pc="-1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 spc="-10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zh-CN" altLang="en-US" sz="2400" i="1" spc="-1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US" altLang="zh-CN" sz="2400" spc="-10" dirty="0">
                  <a:latin typeface="+mn-ea"/>
                </a:endParaRPr>
              </a:p>
            </p:txBody>
          </p:sp>
        </mc:Choice>
        <mc:Fallback xmlns="">
          <p:sp>
            <p:nvSpPr>
              <p:cNvPr id="8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1108" y="3146230"/>
                <a:ext cx="10689838" cy="2270750"/>
              </a:xfrm>
              <a:prstGeom prst="rect">
                <a:avLst/>
              </a:prstGeom>
              <a:blipFill rotWithShape="1">
                <a:blip r:embed="rId3"/>
                <a:stretch>
                  <a:fillRect l="-4" t="-19" r="-1942" b="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119"/>
          <p:cNvSpPr txBox="1"/>
          <p:nvPr/>
        </p:nvSpPr>
        <p:spPr>
          <a:xfrm>
            <a:off x="272013" y="5669156"/>
            <a:ext cx="11647973" cy="49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zh-CN" altLang="en-US" sz="2400" i="1" spc="-10" dirty="0">
                <a:solidFill>
                  <a:schemeClr val="accent1"/>
                </a:solidFill>
                <a:latin typeface="+mn-ea"/>
              </a:rPr>
              <a:t>最终模型性能比过滤式选择的更好，但计算开销大，若时间限制，有可能给不出解</a:t>
            </a:r>
            <a:endParaRPr lang="en-US" altLang="zh-CN" sz="2400" i="1" spc="-10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F69888C-E133-43D9-A638-B5C95925B91C}" type="slidenum">
              <a:rPr lang="zh-CN" altLang="en-US" smtClean="0"/>
              <a:t>39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566961" y="265803"/>
            <a:ext cx="7440283" cy="426497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4000" dirty="0"/>
              <a:t>4</a:t>
            </a:r>
            <a:r>
              <a:rPr lang="zh-CN" altLang="en-US" sz="4000" dirty="0"/>
              <a:t>、</a:t>
            </a:r>
            <a:r>
              <a:rPr lang="zh-CN" altLang="en-US" sz="4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特征选择</a:t>
            </a:r>
          </a:p>
        </p:txBody>
      </p:sp>
      <p:sp>
        <p:nvSpPr>
          <p:cNvPr id="12" name="AutoShape 4" descr="[公式]"/>
          <p:cNvSpPr>
            <a:spLocks noChangeAspect="1" noChangeArrowheads="1"/>
          </p:cNvSpPr>
          <p:nvPr/>
        </p:nvSpPr>
        <p:spPr bwMode="auto">
          <a:xfrm>
            <a:off x="4013200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7" name="文本框 119"/>
          <p:cNvSpPr txBox="1"/>
          <p:nvPr/>
        </p:nvSpPr>
        <p:spPr>
          <a:xfrm>
            <a:off x="566960" y="1505404"/>
            <a:ext cx="5251269" cy="565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zh-CN" altLang="en-US" sz="2800" spc="-10" dirty="0">
                <a:solidFill>
                  <a:srgbClr val="7030A0"/>
                </a:solidFill>
                <a:latin typeface="+mn-ea"/>
              </a:rPr>
              <a:t>嵌入式选择</a:t>
            </a:r>
            <a:endParaRPr lang="en-US" altLang="zh-CN" sz="2800" spc="-10" dirty="0"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19"/>
              <p:cNvSpPr txBox="1"/>
              <p:nvPr/>
            </p:nvSpPr>
            <p:spPr>
              <a:xfrm>
                <a:off x="786600" y="2032564"/>
                <a:ext cx="11174345" cy="10826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buFont typeface="Wingdings" panose="05000000000000000000" pitchFamily="2" charset="2"/>
                  <a:buChar char="ü"/>
                </a:pPr>
                <a:r>
                  <a:rPr lang="zh-CN" altLang="en-US" sz="2800" spc="-10" dirty="0">
                    <a:latin typeface="+mn-ea"/>
                  </a:rPr>
                  <a:t>特征选择过程与模型训练过程融为一体，在模型训练的过程中自动进行特征选择。如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pc="-1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pc="-1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sz="2800" b="0" i="1" spc="-1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800" spc="-10" dirty="0">
                    <a:solidFill>
                      <a:srgbClr val="FF0000"/>
                    </a:solidFill>
                    <a:latin typeface="+mn-ea"/>
                  </a:rPr>
                  <a:t>正则化</a:t>
                </a:r>
                <a:endParaRPr lang="en-US" altLang="zh-CN" sz="2800" spc="-10" dirty="0">
                  <a:latin typeface="+mn-ea"/>
                </a:endParaRPr>
              </a:p>
            </p:txBody>
          </p:sp>
        </mc:Choice>
        <mc:Fallback xmlns="">
          <p:sp>
            <p:nvSpPr>
              <p:cNvPr id="14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600" y="2032564"/>
                <a:ext cx="11174345" cy="1082604"/>
              </a:xfrm>
              <a:prstGeom prst="rect">
                <a:avLst/>
              </a:prstGeom>
              <a:blipFill rotWithShape="1">
                <a:blip r:embed="rId3"/>
                <a:stretch>
                  <a:fillRect l="-4" t="-52" r="1" b="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119"/>
          <p:cNvSpPr txBox="1"/>
          <p:nvPr/>
        </p:nvSpPr>
        <p:spPr>
          <a:xfrm>
            <a:off x="566960" y="939865"/>
            <a:ext cx="11403926" cy="565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800" spc="-10" dirty="0">
                <a:latin typeface="+mn-ea"/>
              </a:rPr>
              <a:t>特征选择法大致可分为：</a:t>
            </a:r>
            <a:r>
              <a:rPr lang="zh-CN" altLang="en-US" sz="2800" spc="-10" dirty="0">
                <a:solidFill>
                  <a:schemeClr val="accent1"/>
                </a:solidFill>
                <a:latin typeface="+mn-ea"/>
              </a:rPr>
              <a:t>过滤式</a:t>
            </a:r>
            <a:r>
              <a:rPr lang="zh-CN" altLang="en-US" sz="2800" spc="-10" dirty="0">
                <a:latin typeface="+mn-ea"/>
              </a:rPr>
              <a:t>、</a:t>
            </a:r>
            <a:r>
              <a:rPr lang="zh-CN" altLang="en-US" sz="2800" spc="-10" dirty="0">
                <a:solidFill>
                  <a:schemeClr val="accent1"/>
                </a:solidFill>
                <a:latin typeface="+mn-ea"/>
              </a:rPr>
              <a:t>包裹式</a:t>
            </a:r>
            <a:r>
              <a:rPr lang="zh-CN" altLang="en-US" sz="2800" spc="-10" dirty="0">
                <a:latin typeface="+mn-ea"/>
              </a:rPr>
              <a:t>、</a:t>
            </a:r>
            <a:r>
              <a:rPr lang="zh-CN" altLang="en-US" sz="2800" spc="-10" dirty="0">
                <a:solidFill>
                  <a:schemeClr val="accent1"/>
                </a:solidFill>
                <a:latin typeface="+mn-ea"/>
              </a:rPr>
              <a:t>嵌入式</a:t>
            </a:r>
            <a:endParaRPr lang="en-US" altLang="zh-CN" sz="2800" spc="-10" dirty="0">
              <a:solidFill>
                <a:schemeClr val="accent1"/>
              </a:solidFill>
              <a:latin typeface="+mn-ea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1735629" y="4017132"/>
            <a:ext cx="8720741" cy="727467"/>
            <a:chOff x="1907520" y="2726370"/>
            <a:chExt cx="8720741" cy="727467"/>
          </a:xfrm>
        </p:grpSpPr>
        <p:grpSp>
          <p:nvGrpSpPr>
            <p:cNvPr id="2" name="Group 1"/>
            <p:cNvGrpSpPr/>
            <p:nvPr/>
          </p:nvGrpSpPr>
          <p:grpSpPr>
            <a:xfrm>
              <a:off x="1907520" y="2726370"/>
              <a:ext cx="7821417" cy="727467"/>
              <a:chOff x="2641678" y="5130630"/>
              <a:chExt cx="7821417" cy="72746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/>
                  <p:cNvSpPr txBox="1"/>
                  <p:nvPr/>
                </p:nvSpPr>
                <p:spPr>
                  <a:xfrm>
                    <a:off x="3004285" y="5130630"/>
                    <a:ext cx="7458810" cy="542521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sz="2800" dirty="0"/>
                      <a:t>min      </a:t>
                    </a:r>
                    <a14:m>
                      <m:oMath xmlns:m="http://schemas.openxmlformats.org/officeDocument/2006/math">
                        <m:nary>
                          <m:naryPr>
                            <m:chr m:val="∑"/>
                            <m:ctrlPr>
                              <a:rPr lang="en-US" altLang="zh-CN" sz="2800" i="1" spc="-10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2800" b="0" i="1" spc="-10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2800" b="0" i="1" spc="-10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altLang="zh-CN" sz="2800" b="0" i="1" spc="-10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altLang="zh-CN" sz="2800" i="1" spc="-1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b="0" i="1" spc="-1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US" altLang="zh-CN" sz="2800" i="1" spc="-10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800" b="1" i="1" spc="-10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p>
                                    <m:r>
                                      <a:rPr lang="en-US" altLang="zh-CN" sz="2800" b="0" i="1" spc="-10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US" altLang="zh-CN" sz="2800" b="1" i="1" spc="-10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spc="-10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sz="2800" i="1" spc="-10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CN" sz="2800" b="0" i="1" spc="-1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2800" i="1" spc="-10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0" i="1" spc="-10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2800" b="0" i="1" spc="-10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CN" sz="2800" b="0" i="1" spc="-1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sz="2800" b="0" i="1" spc="-1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  <m:r>
                          <a:rPr lang="en-US" altLang="zh-CN" sz="2800" b="1" i="1" spc="-1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800" i="1" spc="-1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  <m:sSub>
                          <m:sSubPr>
                            <m:ctrlPr>
                              <a:rPr lang="en-US" altLang="zh-CN" sz="2800" i="1" spc="-10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altLang="zh-CN" sz="2800" i="1" spc="-10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b="1" i="1" spc="-10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</m:d>
                          </m:e>
                          <m:sub>
                            <m:r>
                              <a:rPr lang="en-US" altLang="zh-CN" sz="2800" b="0" i="1" spc="-10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8" name="TextBox 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04285" y="5130630"/>
                    <a:ext cx="7458810" cy="542521"/>
                  </a:xfrm>
                  <a:prstGeom prst="rect">
                    <a:avLst/>
                  </a:prstGeom>
                  <a:blipFill rotWithShape="1">
                    <a:blip r:embed="rId4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/>
                  <p:cNvSpPr txBox="1"/>
                  <p:nvPr/>
                </p:nvSpPr>
                <p:spPr>
                  <a:xfrm>
                    <a:off x="2641678" y="5488765"/>
                    <a:ext cx="1757855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 spc="-1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𝒘</m:t>
                          </m:r>
                        </m:oMath>
                      </m:oMathPara>
                    </a14:m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9" name="TextBox 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41678" y="5488765"/>
                    <a:ext cx="1757855" cy="369332"/>
                  </a:xfrm>
                  <a:prstGeom prst="rect">
                    <a:avLst/>
                  </a:prstGeom>
                  <a:blipFill rotWithShape="1">
                    <a:blip r:embed="rId5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8007244" y="2853136"/>
                  <a:ext cx="2621017" cy="39074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zh-CN" altLang="en-US" sz="1800" spc="-10" dirty="0">
                      <a:latin typeface="+mn-ea"/>
                    </a:rPr>
                    <a:t>其中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800" i="1" spc="-1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1800" i="1" spc="-1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b="1" i="1" spc="-1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𝒘</m:t>
                              </m:r>
                            </m:e>
                          </m:d>
                        </m:e>
                        <m:sub>
                          <m:r>
                            <a:rPr lang="en-US" altLang="zh-CN" sz="1800" b="0" i="1" spc="-1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800" b="0" i="1" spc="-1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1800" b="0" i="1" spc="-1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1800" b="0" i="1" spc="-1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1800" b="0" i="1" spc="-1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0" i="1" spc="-1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sz="1800" b="0" i="1" spc="-1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</m:e>
                      </m:nary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07244" y="2853136"/>
                  <a:ext cx="2621017" cy="390748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19"/>
              <p:cNvSpPr txBox="1"/>
              <p:nvPr/>
            </p:nvSpPr>
            <p:spPr>
              <a:xfrm>
                <a:off x="1187195" y="3355749"/>
                <a:ext cx="9628852" cy="4979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2400" i="1" spc="-10" dirty="0">
                    <a:latin typeface="+mn-ea"/>
                  </a:rPr>
                  <a:t>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pc="-1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spc="-1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sz="2400" i="1" spc="-1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400" i="1" spc="-10" dirty="0">
                    <a:latin typeface="+mn-ea"/>
                  </a:rPr>
                  <a:t>范数替代多项式拟合中的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pc="-1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spc="-1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sz="2400" b="0" i="1" spc="-1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400" i="1" spc="-10" dirty="0">
                    <a:latin typeface="+mn-ea"/>
                  </a:rPr>
                  <a:t>范数的平方，模型优化函数为</a:t>
                </a:r>
                <a:endParaRPr lang="en-US" altLang="zh-CN" sz="2400" i="1" spc="-10" dirty="0">
                  <a:latin typeface="+mn-ea"/>
                </a:endParaRPr>
              </a:p>
            </p:txBody>
          </p:sp>
        </mc:Choice>
        <mc:Fallback xmlns="">
          <p:sp>
            <p:nvSpPr>
              <p:cNvPr id="13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195" y="3355749"/>
                <a:ext cx="9628852" cy="497957"/>
              </a:xfrm>
              <a:prstGeom prst="rect">
                <a:avLst/>
              </a:prstGeom>
              <a:blipFill rotWithShape="1">
                <a:blip r:embed="rId7"/>
                <a:stretch>
                  <a:fillRect l="-4" t="-82" r="1" b="1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19"/>
              <p:cNvSpPr txBox="1"/>
              <p:nvPr/>
            </p:nvSpPr>
            <p:spPr>
              <a:xfrm>
                <a:off x="1187195" y="4849845"/>
                <a:ext cx="10086052" cy="511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2400" i="1" spc="-10" dirty="0">
                    <a:latin typeface="+mn-ea"/>
                  </a:rPr>
                  <a:t>用</a:t>
                </a:r>
                <a:r>
                  <a:rPr lang="zh-CN" altLang="en-US" sz="2400" i="1" spc="-10" dirty="0">
                    <a:solidFill>
                      <a:schemeClr val="accent1"/>
                    </a:solidFill>
                    <a:latin typeface="+mn-ea"/>
                  </a:rPr>
                  <a:t>梯度下降法</a:t>
                </a:r>
                <a:r>
                  <a:rPr lang="zh-CN" altLang="en-US" sz="2400" i="1" spc="-10" dirty="0">
                    <a:latin typeface="+mn-ea"/>
                  </a:rPr>
                  <a:t>求使得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2400" i="1" spc="-1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i="1" spc="-1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400" i="1" spc="-1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CN" sz="2400" i="1" spc="-1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p>
                          <m:sSupPr>
                            <m:ctrlPr>
                              <a:rPr lang="en-US" altLang="zh-CN" sz="2400" i="1" spc="-1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 spc="-1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altLang="zh-CN" sz="2400" i="1" spc="-1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1" i="1" spc="-1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  <m:sup>
                                <m:r>
                                  <a:rPr lang="en-US" altLang="zh-CN" sz="2400" i="1" spc="-1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altLang="zh-CN" sz="2400" b="1" i="1" spc="-1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spc="-1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400" i="1" spc="-1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2400" i="1" spc="-1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400" i="1" spc="-1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 spc="-1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2400" i="1" spc="-1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2400" i="1" spc="-1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400" i="1" spc="-1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zh-CN" altLang="en-US" sz="2400" i="1" spc="-10" dirty="0">
                    <a:latin typeface="+mn-ea"/>
                  </a:rPr>
                  <a:t>最小的</a:t>
                </a:r>
                <a14:m>
                  <m:oMath xmlns:m="http://schemas.openxmlformats.org/officeDocument/2006/math">
                    <m:r>
                      <a:rPr lang="en-US" altLang="zh-CN" sz="2400" b="1" i="1" spc="-1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𝒘</m:t>
                    </m:r>
                    <m:r>
                      <a:rPr lang="en-US" altLang="zh-CN" sz="2400" b="1" i="1" spc="-1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i="1" spc="-10" dirty="0">
                    <a:latin typeface="+mn-ea"/>
                  </a:rPr>
                  <a:t>，同时考虑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pc="-1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spc="-1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sz="2400" i="1" spc="-1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400" i="1" spc="-10" dirty="0">
                    <a:latin typeface="+mn-ea"/>
                  </a:rPr>
                  <a:t>范数的最小化</a:t>
                </a:r>
                <a:endParaRPr lang="en-US" altLang="zh-CN" sz="2400" i="1" spc="-10" dirty="0">
                  <a:latin typeface="+mn-ea"/>
                </a:endParaRPr>
              </a:p>
            </p:txBody>
          </p:sp>
        </mc:Choice>
        <mc:Fallback xmlns="">
          <p:sp>
            <p:nvSpPr>
              <p:cNvPr id="16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195" y="4849845"/>
                <a:ext cx="10086052" cy="511550"/>
              </a:xfrm>
              <a:prstGeom prst="rect">
                <a:avLst/>
              </a:prstGeom>
              <a:blipFill rotWithShape="1">
                <a:blip r:embed="rId8"/>
                <a:stretch>
                  <a:fillRect l="-4" t="-68" r="1" b="-117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文本框 119"/>
          <p:cNvSpPr txBox="1"/>
          <p:nvPr/>
        </p:nvSpPr>
        <p:spPr>
          <a:xfrm>
            <a:off x="1515277" y="5662360"/>
            <a:ext cx="1896126" cy="5115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i="1" spc="-10" dirty="0">
                <a:latin typeface="+mn-ea"/>
              </a:rPr>
              <a:t>西瓜书</a:t>
            </a:r>
            <a:r>
              <a:rPr lang="en-US" altLang="zh-CN" sz="2400" i="1" spc="-10" dirty="0">
                <a:latin typeface="+mn-ea"/>
              </a:rPr>
              <a:t>P253</a:t>
            </a:r>
          </a:p>
        </p:txBody>
      </p:sp>
      <p:sp>
        <p:nvSpPr>
          <p:cNvPr id="6" name="Down Arrow 5"/>
          <p:cNvSpPr/>
          <p:nvPr/>
        </p:nvSpPr>
        <p:spPr>
          <a:xfrm rot="10800000">
            <a:off x="2379425" y="5344738"/>
            <a:ext cx="167832" cy="376195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F69888C-E133-43D9-A638-B5C95925B91C}" type="slidenum">
              <a:rPr lang="zh-CN" altLang="en-US" smtClean="0"/>
              <a:t>40</a:t>
            </a:fld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4B0ADD7-CE1D-184B-9061-79A47FD28C09}"/>
              </a:ext>
            </a:extLst>
          </p:cNvPr>
          <p:cNvSpPr txBox="1"/>
          <p:nvPr/>
        </p:nvSpPr>
        <p:spPr>
          <a:xfrm>
            <a:off x="5444320" y="5899991"/>
            <a:ext cx="61005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dirty="0"/>
              <a:t>特征选择 </a:t>
            </a:r>
            <a:r>
              <a:rPr lang="en-US" altLang="zh-CN" dirty="0"/>
              <a:t>= </a:t>
            </a:r>
            <a:r>
              <a:rPr lang="zh-CN" altLang="en-US" dirty="0"/>
              <a:t>机器学习中最早的‘可解释性’思想。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/>
      <p:bldP spid="18" grpId="0" animBg="1"/>
      <p:bldP spid="6" grpId="0" animBg="1"/>
      <p:bldP spid="19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566961" y="265803"/>
            <a:ext cx="7440283" cy="426497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4000" dirty="0"/>
              <a:t>5</a:t>
            </a:r>
            <a:r>
              <a:rPr lang="zh-CN" altLang="en-US" sz="4000" dirty="0"/>
              <a:t>、</a:t>
            </a:r>
            <a:r>
              <a:rPr lang="zh-CN" altLang="en-US" sz="4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偏差</a:t>
            </a:r>
            <a:r>
              <a:rPr lang="en-US" altLang="zh-CN" sz="4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4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方差平衡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19"/>
              <p:cNvSpPr txBox="1"/>
              <p:nvPr/>
            </p:nvSpPr>
            <p:spPr>
              <a:xfrm>
                <a:off x="394037" y="1292810"/>
                <a:ext cx="11403926" cy="12241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3200" spc="-10" dirty="0">
                    <a:latin typeface="+mn-ea"/>
                  </a:rPr>
                  <a:t>为进一步理解模型的泛化性能，下面对模型泛化错误率</a:t>
                </a:r>
                <a14:m>
                  <m:oMath xmlns:m="http://schemas.openxmlformats.org/officeDocument/2006/math">
                    <m:r>
                      <a:rPr lang="en-US" altLang="zh-CN" sz="3200" b="0" i="1" spc="-1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3200" b="0" i="1" spc="-1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200" b="0" i="1" spc="-1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CN" sz="3200" b="0" i="1" spc="-10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altLang="zh-CN" sz="3200" b="0" i="1" spc="-1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𝒟</m:t>
                    </m:r>
                    <m:r>
                      <a:rPr lang="en-US" altLang="zh-CN" sz="3200" b="0" i="1" spc="-1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200" spc="-10" dirty="0">
                    <a:latin typeface="+mn-ea"/>
                  </a:rPr>
                  <a:t>进行分解，即“</a:t>
                </a:r>
                <a:r>
                  <a:rPr lang="zh-CN" altLang="en-US" sz="3200" spc="-10" dirty="0">
                    <a:solidFill>
                      <a:srgbClr val="C00000"/>
                    </a:solidFill>
                    <a:latin typeface="+mn-ea"/>
                  </a:rPr>
                  <a:t>偏差</a:t>
                </a:r>
                <a:r>
                  <a:rPr lang="en-US" altLang="zh-CN" sz="3200" spc="-10" dirty="0">
                    <a:solidFill>
                      <a:srgbClr val="C00000"/>
                    </a:solidFill>
                    <a:latin typeface="+mn-ea"/>
                  </a:rPr>
                  <a:t>-</a:t>
                </a:r>
                <a:r>
                  <a:rPr lang="zh-CN" altLang="en-US" sz="3200" spc="-10" dirty="0">
                    <a:solidFill>
                      <a:srgbClr val="C00000"/>
                    </a:solidFill>
                    <a:latin typeface="+mn-ea"/>
                  </a:rPr>
                  <a:t>方差分解</a:t>
                </a:r>
                <a:r>
                  <a:rPr lang="zh-CN" altLang="en-US" sz="3200" spc="-10" dirty="0">
                    <a:latin typeface="+mn-ea"/>
                  </a:rPr>
                  <a:t>”</a:t>
                </a:r>
                <a:endParaRPr lang="en-US" altLang="zh-CN" sz="3200" spc="-10" dirty="0">
                  <a:latin typeface="+mn-ea"/>
                </a:endParaRPr>
              </a:p>
            </p:txBody>
          </p:sp>
        </mc:Choice>
        <mc:Fallback xmlns="">
          <p:sp>
            <p:nvSpPr>
              <p:cNvPr id="18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037" y="1292810"/>
                <a:ext cx="11403926" cy="1224118"/>
              </a:xfrm>
              <a:prstGeom prst="rect">
                <a:avLst/>
              </a:prstGeom>
              <a:blipFill rotWithShape="1">
                <a:blip r:embed="rId3"/>
                <a:stretch>
                  <a:fillRect l="-3" t="-48" r="3" b="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119"/>
              <p:cNvSpPr txBox="1"/>
              <p:nvPr/>
            </p:nvSpPr>
            <p:spPr>
              <a:xfrm>
                <a:off x="822226" y="2700626"/>
                <a:ext cx="10849612" cy="6331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buFont typeface="Wingdings" panose="05000000000000000000" pitchFamily="2" charset="2"/>
                  <a:buChar char="v"/>
                </a:pPr>
                <a:r>
                  <a:rPr lang="zh-CN" altLang="en-US" sz="3200" spc="-10" dirty="0">
                    <a:latin typeface="+mn-ea"/>
                  </a:rPr>
                  <a:t>不同训练集得到的学习模型不同，对</a:t>
                </a:r>
                <a:r>
                  <a:rPr lang="zh-CN" altLang="en-US" sz="3200" spc="-10" dirty="0">
                    <a:solidFill>
                      <a:schemeClr val="accent1"/>
                    </a:solidFill>
                    <a:latin typeface="+mn-ea"/>
                  </a:rPr>
                  <a:t>测试样本</a:t>
                </a:r>
                <a14:m>
                  <m:oMath xmlns:m="http://schemas.openxmlformats.org/officeDocument/2006/math">
                    <m:r>
                      <a:rPr lang="en-US" altLang="zh-CN" sz="3200" b="1" i="1" spc="-1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zh-CN" altLang="en-US" sz="3200" spc="-10" dirty="0">
                    <a:latin typeface="+mn-ea"/>
                  </a:rPr>
                  <a:t>，令</a:t>
                </a:r>
                <a:endParaRPr lang="en-US" altLang="zh-CN" sz="3200" spc="-10" dirty="0">
                  <a:latin typeface="+mn-ea"/>
                </a:endParaRPr>
              </a:p>
            </p:txBody>
          </p:sp>
        </mc:Choice>
        <mc:Fallback xmlns="">
          <p:sp>
            <p:nvSpPr>
              <p:cNvPr id="24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226" y="2700626"/>
                <a:ext cx="10849612" cy="633187"/>
              </a:xfrm>
              <a:prstGeom prst="rect">
                <a:avLst/>
              </a:prstGeom>
              <a:blipFill rotWithShape="1">
                <a:blip r:embed="rId4"/>
                <a:stretch>
                  <a:fillRect l="-5" t="-96" r="5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AutoShape 4" descr="[公式]"/>
          <p:cNvSpPr>
            <a:spLocks noChangeAspect="1" noChangeArrowheads="1"/>
          </p:cNvSpPr>
          <p:nvPr/>
        </p:nvSpPr>
        <p:spPr bwMode="auto">
          <a:xfrm>
            <a:off x="4013200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822226" y="4589745"/>
                <a:ext cx="8747335" cy="5655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buFont typeface="Arial" panose="020B060402020209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800" b="0" i="1" spc="-1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CN" sz="2800" b="0" i="1" spc="-1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0" i="1" spc="-1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800" b="0" i="1" spc="-1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altLang="zh-CN" sz="2800" i="1" spc="-1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𝒟</m:t>
                    </m:r>
                    <m:r>
                      <a:rPr lang="en-US" altLang="zh-CN" sz="2800" b="0" i="1" spc="-1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spc="-10" dirty="0">
                    <a:latin typeface="+mn-ea"/>
                  </a:rPr>
                  <a:t>为训练集</a:t>
                </a:r>
                <a14:m>
                  <m:oMath xmlns:m="http://schemas.openxmlformats.org/officeDocument/2006/math">
                    <m:r>
                      <a:rPr lang="en-US" altLang="zh-CN" sz="2800" i="1" spc="-1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𝒟</m:t>
                    </m:r>
                  </m:oMath>
                </a14:m>
                <a:r>
                  <a:rPr lang="zh-CN" altLang="en-US" sz="2800" spc="-10" dirty="0">
                    <a:latin typeface="+mn-ea"/>
                  </a:rPr>
                  <a:t>上学得的模型</a:t>
                </a:r>
                <a14:m>
                  <m:oMath xmlns:m="http://schemas.openxmlformats.org/officeDocument/2006/math">
                    <m:r>
                      <a:rPr lang="en-US" altLang="zh-CN" sz="2800" b="0" i="1" spc="-10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zh-CN" altLang="en-US" sz="2800" spc="-10" dirty="0">
                    <a:latin typeface="+mn-ea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2800" b="1" i="1" spc="-1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zh-CN" altLang="en-US" sz="2800" spc="-10" dirty="0">
                    <a:latin typeface="+mn-ea"/>
                  </a:rPr>
                  <a:t>上的预测输出</a:t>
                </a:r>
                <a:endParaRPr lang="en-US" altLang="zh-CN" sz="2800" spc="-10" dirty="0">
                  <a:latin typeface="+mn-ea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226" y="4589745"/>
                <a:ext cx="8747335" cy="565539"/>
              </a:xfrm>
              <a:prstGeom prst="rect">
                <a:avLst/>
              </a:prstGeom>
              <a:blipFill rotWithShape="1">
                <a:blip r:embed="rId5"/>
                <a:stretch>
                  <a:fillRect l="-6" t="-106" r="1" b="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822226" y="3961241"/>
                <a:ext cx="6101254" cy="5655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buFont typeface="Arial" panose="020B060402020209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800" b="0" i="1" spc="-1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sz="2800" spc="-10" dirty="0">
                    <a:latin typeface="+mn-ea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2800" b="1" i="1" spc="-1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zh-CN" altLang="en-US" sz="2800" spc="-10" dirty="0">
                    <a:latin typeface="+mn-ea"/>
                  </a:rPr>
                  <a:t>的真实标记；</a:t>
                </a:r>
                <a:endParaRPr lang="en-US" altLang="zh-CN" sz="2800" spc="-10" dirty="0">
                  <a:latin typeface="+mn-ea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226" y="3961241"/>
                <a:ext cx="6101254" cy="565539"/>
              </a:xfrm>
              <a:prstGeom prst="rect">
                <a:avLst/>
              </a:prstGeom>
              <a:blipFill rotWithShape="1">
                <a:blip r:embed="rId6"/>
                <a:stretch>
                  <a:fillRect l="-9" t="-20" r="1" b="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822226" y="3314069"/>
                <a:ext cx="610125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Arial" panose="020B060402020209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pc="-1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pc="-1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800" i="1" spc="-1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𝒟</m:t>
                        </m:r>
                      </m:sub>
                    </m:sSub>
                  </m:oMath>
                </a14:m>
                <a:r>
                  <a:rPr lang="zh-CN" altLang="en-US" sz="2800" spc="-10" dirty="0">
                    <a:latin typeface="+mn-ea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2800" b="1" i="1" spc="-1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zh-CN" altLang="en-US" sz="2800" spc="-10" dirty="0">
                    <a:latin typeface="+mn-ea"/>
                  </a:rPr>
                  <a:t>在数据集中的标记；</a:t>
                </a:r>
                <a:endParaRPr lang="en-US" sz="28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226" y="3314069"/>
                <a:ext cx="6101254" cy="523220"/>
              </a:xfrm>
              <a:prstGeom prst="rect">
                <a:avLst/>
              </a:prstGeom>
              <a:blipFill rotWithShape="1">
                <a:blip r:embed="rId7"/>
                <a:stretch>
                  <a:fillRect l="-9" t="-1" r="1" b="1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119"/>
          <p:cNvSpPr txBox="1"/>
          <p:nvPr/>
        </p:nvSpPr>
        <p:spPr>
          <a:xfrm>
            <a:off x="545069" y="5466118"/>
            <a:ext cx="4373772" cy="633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3200" spc="-10" dirty="0">
                <a:latin typeface="+mn-ea"/>
              </a:rPr>
              <a:t>数据集本身</a:t>
            </a:r>
            <a:r>
              <a:rPr lang="zh-CN" altLang="en-US" sz="3200" spc="-10" dirty="0">
                <a:solidFill>
                  <a:srgbClr val="FF0000"/>
                </a:solidFill>
                <a:latin typeface="+mn-ea"/>
              </a:rPr>
              <a:t>噪声</a:t>
            </a:r>
            <a:r>
              <a:rPr lang="zh-CN" altLang="en-US" sz="3200" spc="-10" dirty="0">
                <a:latin typeface="+mn-ea"/>
              </a:rPr>
              <a:t>为</a:t>
            </a:r>
            <a:endParaRPr lang="en-US" altLang="zh-CN" sz="3200" spc="-10" dirty="0"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4918841" y="5565190"/>
                <a:ext cx="311091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p>
                          <m:r>
                            <a:rPr lang="en-US" altLang="zh-CN" sz="28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𝒟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800" i="1" spc="-1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spc="-1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800" i="1" spc="-1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𝒟</m:t>
                              </m:r>
                            </m:sub>
                          </m:sSub>
                          <m:r>
                            <a:rPr lang="en-US" altLang="zh-CN" sz="2800" b="0" i="1" spc="-1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b="0" i="1" spc="-10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sz="2800" b="0" i="1" spc="-1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8841" y="5565190"/>
                <a:ext cx="3110915" cy="430887"/>
              </a:xfrm>
              <a:prstGeom prst="rect">
                <a:avLst/>
              </a:prstGeom>
              <a:blipFill rotWithShape="1">
                <a:blip r:embed="rId8"/>
                <a:stretch>
                  <a:fillRect l="-4" t="-12" r="-3036" b="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F69888C-E133-43D9-A638-B5C95925B91C}" type="slidenum">
              <a:rPr lang="zh-CN" altLang="en-US" smtClean="0"/>
              <a:t>41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8" grpId="0"/>
      <p:bldP spid="10" grpId="0"/>
      <p:bldP spid="13" grpId="0"/>
      <p:bldP spid="15" grpId="0"/>
      <p:bldP spid="1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566961" y="265803"/>
            <a:ext cx="7440283" cy="426497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4000" dirty="0"/>
              <a:t>5</a:t>
            </a:r>
            <a:r>
              <a:rPr lang="zh-CN" altLang="en-US" sz="4000" dirty="0"/>
              <a:t>、</a:t>
            </a:r>
            <a:r>
              <a:rPr lang="zh-CN" altLang="en-US" sz="4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偏差</a:t>
            </a:r>
            <a:r>
              <a:rPr lang="en-US" altLang="zh-CN" sz="4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4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方差平衡 </a:t>
            </a:r>
          </a:p>
        </p:txBody>
      </p:sp>
      <p:sp>
        <p:nvSpPr>
          <p:cNvPr id="12" name="AutoShape 4" descr="[公式]"/>
          <p:cNvSpPr>
            <a:spLocks noChangeAspect="1" noChangeArrowheads="1"/>
          </p:cNvSpPr>
          <p:nvPr/>
        </p:nvSpPr>
        <p:spPr bwMode="auto">
          <a:xfrm>
            <a:off x="4013200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19"/>
              <p:cNvSpPr txBox="1"/>
              <p:nvPr/>
            </p:nvSpPr>
            <p:spPr>
              <a:xfrm>
                <a:off x="566961" y="1051072"/>
                <a:ext cx="10849612" cy="6331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buFont typeface="Wingdings" panose="05000000000000000000" pitchFamily="2" charset="2"/>
                  <a:buChar char="ü"/>
                </a:pPr>
                <a:r>
                  <a:rPr lang="zh-CN" altLang="en-US" sz="3200" spc="-10" dirty="0">
                    <a:latin typeface="+mn-ea"/>
                  </a:rPr>
                  <a:t>训练集</a:t>
                </a:r>
                <a14:m>
                  <m:oMath xmlns:m="http://schemas.openxmlformats.org/officeDocument/2006/math">
                    <m:r>
                      <a:rPr lang="zh-CN" altLang="en-US" sz="3200" i="1" spc="-10">
                        <a:latin typeface="Cambria Math" panose="02040503050406030204" pitchFamily="18" charset="0"/>
                      </a:rPr>
                      <m:t>𝒟</m:t>
                    </m:r>
                  </m:oMath>
                </a14:m>
                <a:r>
                  <a:rPr lang="zh-CN" altLang="en-US" sz="3200" spc="-10" dirty="0">
                    <a:latin typeface="+mn-ea"/>
                  </a:rPr>
                  <a:t>得到模型的</a:t>
                </a:r>
                <a:r>
                  <a:rPr lang="zh-CN" altLang="en-US" sz="3200" b="1" spc="-10" dirty="0">
                    <a:solidFill>
                      <a:schemeClr val="accent1"/>
                    </a:solidFill>
                    <a:latin typeface="+mn-ea"/>
                  </a:rPr>
                  <a:t>期望预测</a:t>
                </a:r>
                <a:r>
                  <a:rPr lang="zh-CN" altLang="en-US" sz="3200" spc="-10" dirty="0">
                    <a:latin typeface="+mn-ea"/>
                  </a:rPr>
                  <a:t>为</a:t>
                </a:r>
                <a:endParaRPr lang="en-US" altLang="zh-CN" sz="3200" spc="-10" dirty="0">
                  <a:latin typeface="+mn-ea"/>
                </a:endParaRPr>
              </a:p>
            </p:txBody>
          </p:sp>
        </mc:Choice>
        <mc:Fallback xmlns="">
          <p:sp>
            <p:nvSpPr>
              <p:cNvPr id="14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961" y="1051072"/>
                <a:ext cx="10849612" cy="633187"/>
              </a:xfrm>
              <a:prstGeom prst="rect">
                <a:avLst/>
              </a:prstGeom>
              <a:blipFill rotWithShape="1">
                <a:blip r:embed="rId3"/>
                <a:stretch>
                  <a:fillRect l="-5" t="-23" r="5" b="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295351" y="1152221"/>
                <a:ext cx="313457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acc>
                      <m:d>
                        <m:d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𝒟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2800" i="1" spc="-1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altLang="zh-CN" sz="2800" i="1" spc="-1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1" i="1" spc="-1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800" i="1" spc="-1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altLang="zh-CN" sz="2800" i="1" spc="-1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𝒟</m:t>
                      </m:r>
                      <m:r>
                        <a:rPr lang="en-US" altLang="zh-CN" sz="2800" i="1" spc="-1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5351" y="1152221"/>
                <a:ext cx="3134576" cy="430887"/>
              </a:xfrm>
              <a:prstGeom prst="rect">
                <a:avLst/>
              </a:prstGeom>
              <a:blipFill rotWithShape="1">
                <a:blip r:embed="rId4"/>
                <a:stretch>
                  <a:fillRect l="-15" t="-77" r="-3402" b="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19"/>
              <p:cNvSpPr txBox="1"/>
              <p:nvPr/>
            </p:nvSpPr>
            <p:spPr>
              <a:xfrm>
                <a:off x="566960" y="1785408"/>
                <a:ext cx="11462129" cy="6331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buFont typeface="Wingdings" panose="05000000000000000000" pitchFamily="2" charset="2"/>
                  <a:buChar char="ü"/>
                </a:pPr>
                <a:r>
                  <a:rPr lang="zh-CN" altLang="en-US" sz="3200" spc="-10" dirty="0">
                    <a:latin typeface="+mn-ea"/>
                  </a:rPr>
                  <a:t>使用样本数相同的不同训练集</a:t>
                </a:r>
                <a14:m>
                  <m:oMath xmlns:m="http://schemas.openxmlformats.org/officeDocument/2006/math">
                    <m:r>
                      <a:rPr lang="zh-CN" altLang="en-US" sz="3200" i="1" spc="-10" smtClean="0">
                        <a:latin typeface="Cambria Math" panose="02040503050406030204" pitchFamily="18" charset="0"/>
                      </a:rPr>
                      <m:t>𝒟</m:t>
                    </m:r>
                  </m:oMath>
                </a14:m>
                <a:r>
                  <a:rPr lang="zh-CN" altLang="en-US" sz="3200" spc="-10" dirty="0">
                    <a:latin typeface="+mn-ea"/>
                  </a:rPr>
                  <a:t>产生的</a:t>
                </a:r>
                <a:r>
                  <a:rPr lang="zh-CN" altLang="en-US" sz="3200" spc="-10" dirty="0">
                    <a:solidFill>
                      <a:srgbClr val="FF0000"/>
                    </a:solidFill>
                    <a:latin typeface="+mn-ea"/>
                  </a:rPr>
                  <a:t>方差</a:t>
                </a:r>
                <a:r>
                  <a:rPr lang="zh-CN" altLang="en-US" sz="3200" spc="-10" dirty="0">
                    <a:latin typeface="+mn-ea"/>
                  </a:rPr>
                  <a:t>（</a:t>
                </a:r>
                <a:r>
                  <a:rPr lang="en-US" altLang="zh-CN" sz="3200" spc="-10" dirty="0">
                    <a:latin typeface="+mn-ea"/>
                  </a:rPr>
                  <a:t>variance</a:t>
                </a:r>
                <a:r>
                  <a:rPr lang="zh-CN" altLang="en-US" sz="3200" spc="-10" dirty="0">
                    <a:latin typeface="+mn-ea"/>
                  </a:rPr>
                  <a:t>）为</a:t>
                </a:r>
                <a:endParaRPr lang="en-US" altLang="zh-CN" sz="3200" spc="-10" dirty="0">
                  <a:latin typeface="+mn-ea"/>
                </a:endParaRPr>
              </a:p>
            </p:txBody>
          </p:sp>
        </mc:Choice>
        <mc:Fallback xmlns="">
          <p:sp>
            <p:nvSpPr>
              <p:cNvPr id="11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960" y="1785408"/>
                <a:ext cx="11462129" cy="633187"/>
              </a:xfrm>
              <a:prstGeom prst="rect">
                <a:avLst/>
              </a:prstGeom>
              <a:blipFill rotWithShape="1">
                <a:blip r:embed="rId5"/>
                <a:stretch>
                  <a:fillRect l="-5" t="-67" r="2" b="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433053" y="2548536"/>
                <a:ext cx="511742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𝑎𝑟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𝒟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i="1" spc="-1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altLang="zh-CN" sz="2800" i="1" spc="-1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b="1" i="1" spc="-1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sz="2800" i="1" spc="-10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altLang="zh-CN" sz="2800" i="1" spc="-1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𝒟</m:t>
                              </m:r>
                            </m:e>
                          </m:d>
                          <m:r>
                            <a:rPr lang="en-US" altLang="zh-CN" sz="2800" b="0" i="1" spc="-1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</m:acc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US" altLang="zh-CN" sz="2800" b="0" i="1" spc="-1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3053" y="2548536"/>
                <a:ext cx="5117427" cy="430887"/>
              </a:xfrm>
              <a:prstGeom prst="rect">
                <a:avLst/>
              </a:prstGeom>
              <a:blipFill rotWithShape="1">
                <a:blip r:embed="rId6"/>
                <a:stretch>
                  <a:fillRect l="-5" t="-65" r="-1671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本框 119"/>
          <p:cNvSpPr txBox="1"/>
          <p:nvPr/>
        </p:nvSpPr>
        <p:spPr>
          <a:xfrm>
            <a:off x="566960" y="3112406"/>
            <a:ext cx="10849612" cy="633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3200" spc="-10" dirty="0">
                <a:latin typeface="+mn-ea"/>
              </a:rPr>
              <a:t>期望输出与真实标记的差别称为</a:t>
            </a:r>
            <a:r>
              <a:rPr lang="zh-CN" altLang="en-US" sz="3200" spc="-10" dirty="0">
                <a:solidFill>
                  <a:srgbClr val="FF0000"/>
                </a:solidFill>
                <a:latin typeface="+mn-ea"/>
              </a:rPr>
              <a:t>偏差</a:t>
            </a:r>
            <a:r>
              <a:rPr lang="zh-CN" altLang="en-US" sz="3200" spc="-10" dirty="0">
                <a:latin typeface="+mn-ea"/>
              </a:rPr>
              <a:t>（</a:t>
            </a:r>
            <a:r>
              <a:rPr lang="en-US" altLang="zh-CN" sz="3200" spc="-10" dirty="0">
                <a:latin typeface="+mn-ea"/>
              </a:rPr>
              <a:t>bias</a:t>
            </a:r>
            <a:r>
              <a:rPr lang="zh-CN" altLang="en-US" sz="3200" spc="-10" dirty="0">
                <a:latin typeface="+mn-ea"/>
              </a:rPr>
              <a:t>），即</a:t>
            </a:r>
            <a:endParaRPr lang="en-US" altLang="zh-CN" sz="3200" spc="-10" dirty="0"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433052" y="3869410"/>
                <a:ext cx="376365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𝑏𝑖𝑎𝑠</m:t>
                          </m:r>
                        </m:e>
                        <m:sup>
                          <m:r>
                            <a:rPr lang="en-US" sz="28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hr m:val="̅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</m:acc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sz="2800" i="1" spc="-1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3052" y="3869410"/>
                <a:ext cx="3763659" cy="430887"/>
              </a:xfrm>
              <a:prstGeom prst="rect">
                <a:avLst/>
              </a:prstGeom>
              <a:blipFill rotWithShape="1">
                <a:blip r:embed="rId7"/>
                <a:stretch>
                  <a:fillRect l="-6" t="-82" r="-2490" b="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19"/>
              <p:cNvSpPr txBox="1"/>
              <p:nvPr/>
            </p:nvSpPr>
            <p:spPr>
              <a:xfrm>
                <a:off x="39984" y="4704701"/>
                <a:ext cx="11903564" cy="6322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3200" spc="-10" dirty="0">
                    <a:latin typeface="+mn-ea"/>
                  </a:rPr>
                  <a:t>假定噪声期望为零，即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𝒟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CN" sz="3200" i="1" spc="-1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i="1" spc="-1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i="1" spc="-1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3200" i="1" spc="-1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𝒟</m:t>
                            </m:r>
                          </m:sub>
                        </m:sSub>
                        <m:r>
                          <a:rPr lang="en-US" altLang="zh-CN" sz="3200" i="1" spc="-1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200" i="1" spc="-1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sz="32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3200" spc="-10" dirty="0">
                    <a:latin typeface="+mn-ea"/>
                  </a:rPr>
                  <a:t>，对期望泛化误差分解得</a:t>
                </a:r>
                <a:endParaRPr lang="en-US" sz="3200" dirty="0"/>
              </a:p>
            </p:txBody>
          </p:sp>
        </mc:Choice>
        <mc:Fallback xmlns="">
          <p:sp>
            <p:nvSpPr>
              <p:cNvPr id="19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84" y="4704701"/>
                <a:ext cx="11903564" cy="632224"/>
              </a:xfrm>
              <a:prstGeom prst="rect">
                <a:avLst/>
              </a:prstGeom>
              <a:blipFill rotWithShape="1">
                <a:blip r:embed="rId8"/>
                <a:stretch>
                  <a:fillRect l="-5" t="-98" r="4" b="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1484987" y="5568978"/>
                <a:ext cx="901355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𝒟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𝒟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800" i="1" spc="-10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i="1" spc="-1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d>
                                    <m:dPr>
                                      <m:ctrlPr>
                                        <a:rPr lang="en-US" altLang="zh-CN" sz="2800" i="1" spc="-1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800" b="1" i="1" spc="-1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  <m:r>
                                        <a:rPr lang="en-US" altLang="zh-CN" sz="2800" i="1" spc="-10">
                                          <a:latin typeface="Cambria Math" panose="02040503050406030204" pitchFamily="18" charset="0"/>
                                        </a:rPr>
                                        <m:t>;</m:t>
                                      </m:r>
                                      <m:r>
                                        <a:rPr lang="en-US" altLang="zh-CN" sz="2800" i="1" spc="-1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𝒟</m:t>
                                      </m:r>
                                    </m:e>
                                  </m:d>
                                  <m:r>
                                    <a:rPr lang="en-US" altLang="zh-CN" sz="2800" b="0" i="1" spc="-1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2800" b="0" i="1" spc="-1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b="0" i="1" spc="-10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𝒟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𝑏𝑖𝑎𝑠</m:t>
                          </m:r>
                        </m:e>
                        <m:sup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𝑣𝑎𝑟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p>
                          <m: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4987" y="5568978"/>
                <a:ext cx="9013558" cy="430887"/>
              </a:xfrm>
              <a:prstGeom prst="rect">
                <a:avLst/>
              </a:prstGeom>
              <a:blipFill rotWithShape="1">
                <a:blip r:embed="rId9"/>
                <a:stretch>
                  <a:fillRect l="-4" t="-6" r="-401" b="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F69888C-E133-43D9-A638-B5C95925B91C}" type="slidenum">
              <a:rPr lang="zh-CN" altLang="en-US" smtClean="0"/>
              <a:t>42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5" grpId="0"/>
      <p:bldP spid="16" grpId="0"/>
      <p:bldP spid="17" grpId="0"/>
      <p:bldP spid="19" grpId="0"/>
      <p:bldP spid="2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566961" y="265803"/>
            <a:ext cx="7440283" cy="426497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4000" dirty="0"/>
              <a:t>5</a:t>
            </a:r>
            <a:r>
              <a:rPr lang="zh-CN" altLang="en-US" sz="4000" dirty="0"/>
              <a:t>、</a:t>
            </a:r>
            <a:r>
              <a:rPr lang="zh-CN" altLang="en-US" sz="4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偏差</a:t>
            </a:r>
            <a:r>
              <a:rPr lang="en-US" altLang="zh-CN" sz="4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4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方差平衡 </a:t>
            </a:r>
          </a:p>
        </p:txBody>
      </p:sp>
      <p:sp>
        <p:nvSpPr>
          <p:cNvPr id="12" name="AutoShape 4" descr="[公式]"/>
          <p:cNvSpPr>
            <a:spLocks noChangeAspect="1" noChangeArrowheads="1"/>
          </p:cNvSpPr>
          <p:nvPr/>
        </p:nvSpPr>
        <p:spPr bwMode="auto">
          <a:xfrm>
            <a:off x="4013200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9" name="文本框 119"/>
          <p:cNvSpPr txBox="1"/>
          <p:nvPr/>
        </p:nvSpPr>
        <p:spPr>
          <a:xfrm>
            <a:off x="288436" y="1929731"/>
            <a:ext cx="11903564" cy="6322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3200" spc="-10" dirty="0">
                <a:latin typeface="+mn-ea"/>
              </a:rPr>
              <a:t>泛化误差可分解为偏差、方差与噪声之和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1384838" y="1246100"/>
                <a:ext cx="901355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𝒟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𝒟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800" i="1" spc="-10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i="1" spc="-1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d>
                                    <m:dPr>
                                      <m:ctrlPr>
                                        <a:rPr lang="en-US" altLang="zh-CN" sz="2800" i="1" spc="-1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800" b="1" i="1" spc="-1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  <m:r>
                                        <a:rPr lang="en-US" altLang="zh-CN" sz="2800" i="1" spc="-10">
                                          <a:latin typeface="Cambria Math" panose="02040503050406030204" pitchFamily="18" charset="0"/>
                                        </a:rPr>
                                        <m:t>;</m:t>
                                      </m:r>
                                      <m:r>
                                        <a:rPr lang="en-US" altLang="zh-CN" sz="2800" i="1" spc="-1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𝒟</m:t>
                                      </m:r>
                                    </m:e>
                                  </m:d>
                                  <m:r>
                                    <a:rPr lang="en-US" altLang="zh-CN" sz="2800" b="0" i="1" spc="-1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2800" b="0" i="1" spc="-1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b="0" i="1" spc="-10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𝒟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𝑏𝑖𝑎𝑠</m:t>
                          </m:r>
                        </m:e>
                        <m:sup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𝑣𝑎𝑟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p>
                          <m: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4838" y="1246100"/>
                <a:ext cx="9013558" cy="430887"/>
              </a:xfrm>
              <a:prstGeom prst="rect">
                <a:avLst/>
              </a:prstGeom>
              <a:blipFill rotWithShape="1">
                <a:blip r:embed="rId3"/>
                <a:stretch>
                  <a:fillRect l="-6" t="-53" r="-399" b="1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680245" y="2753704"/>
            <a:ext cx="1083150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zh-CN" altLang="en-US" sz="2800" b="0" i="0" kern="1200" dirty="0">
                <a:solidFill>
                  <a:srgbClr val="7030A0"/>
                </a:solidFill>
                <a:effectLst/>
                <a:latin typeface="+mn-lt"/>
                <a:ea typeface="+mn-ea"/>
                <a:cs typeface="+mn-cs"/>
              </a:rPr>
              <a:t>偏差</a:t>
            </a:r>
            <a:r>
              <a:rPr lang="zh-CN" altLang="en-US" sz="2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度量了学习算法的</a:t>
            </a:r>
            <a:r>
              <a:rPr lang="zh-CN" altLang="en-US" sz="2800" b="0" i="0" kern="1200" dirty="0">
                <a:solidFill>
                  <a:schemeClr val="accent1"/>
                </a:solidFill>
                <a:effectLst/>
                <a:latin typeface="+mn-lt"/>
                <a:ea typeface="+mn-ea"/>
                <a:cs typeface="+mn-cs"/>
              </a:rPr>
              <a:t>期望预测与真实结果的偏离程度</a:t>
            </a:r>
            <a:r>
              <a:rPr lang="zh-CN" altLang="en-US" sz="2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，即刻画了学习</a:t>
            </a:r>
            <a:r>
              <a:rPr lang="zh-CN" altLang="en-US" sz="2800" b="0" i="0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算法本身</a:t>
            </a:r>
            <a:r>
              <a:rPr lang="zh-CN" altLang="en-US" sz="2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的拟合能力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245" y="3805465"/>
            <a:ext cx="1083150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zh-CN" altLang="en-US" sz="2800" dirty="0">
                <a:solidFill>
                  <a:srgbClr val="7030A0"/>
                </a:solidFill>
              </a:rPr>
              <a:t>方差</a:t>
            </a:r>
            <a:r>
              <a:rPr lang="zh-CN" altLang="en-US" sz="2800" dirty="0"/>
              <a:t>度量了同样大小的</a:t>
            </a:r>
            <a:r>
              <a:rPr lang="zh-CN" altLang="en-US" sz="2800" dirty="0">
                <a:solidFill>
                  <a:schemeClr val="accent1"/>
                </a:solidFill>
              </a:rPr>
              <a:t>训练集的变动所导致的学习性能的变化</a:t>
            </a:r>
            <a:r>
              <a:rPr lang="zh-CN" altLang="en-US" sz="2800" dirty="0"/>
              <a:t>，即刻画了</a:t>
            </a:r>
            <a:r>
              <a:rPr lang="zh-CN" altLang="en-US" sz="2800" dirty="0">
                <a:solidFill>
                  <a:srgbClr val="FF0000"/>
                </a:solidFill>
              </a:rPr>
              <a:t>数据扰动</a:t>
            </a:r>
            <a:r>
              <a:rPr lang="zh-CN" altLang="en-US" sz="2800" dirty="0"/>
              <a:t>所造成的影响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0245" y="4849939"/>
            <a:ext cx="1083150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zh-CN" altLang="en-US" sz="2800" dirty="0">
                <a:solidFill>
                  <a:srgbClr val="7030A0"/>
                </a:solidFill>
              </a:rPr>
              <a:t>噪声</a:t>
            </a:r>
            <a:r>
              <a:rPr lang="zh-CN" altLang="en-US" sz="2800" dirty="0"/>
              <a:t>表达了当前任务上任何学习算法所能达到的</a:t>
            </a:r>
            <a:r>
              <a:rPr lang="zh-CN" altLang="en-US" sz="2800" dirty="0">
                <a:solidFill>
                  <a:schemeClr val="accent1"/>
                </a:solidFill>
              </a:rPr>
              <a:t>期望泛化误差的下界</a:t>
            </a:r>
            <a:r>
              <a:rPr lang="zh-CN" altLang="en-US" sz="2800" dirty="0"/>
              <a:t>，即刻画了</a:t>
            </a:r>
            <a:r>
              <a:rPr lang="zh-CN" altLang="en-US" sz="2800" dirty="0">
                <a:solidFill>
                  <a:srgbClr val="FF0000"/>
                </a:solidFill>
              </a:rPr>
              <a:t>学习问题本身</a:t>
            </a:r>
            <a:r>
              <a:rPr lang="zh-CN" altLang="en-US" sz="2800" dirty="0"/>
              <a:t>的难度</a:t>
            </a:r>
            <a:endParaRPr lang="en-US" altLang="zh-CN" sz="28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F69888C-E133-43D9-A638-B5C95925B91C}" type="slidenum">
              <a:rPr lang="zh-CN" altLang="en-US" smtClean="0"/>
              <a:t>43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8" grpId="0"/>
      <p:bldP spid="20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566961" y="265803"/>
            <a:ext cx="7440283" cy="426497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4000" dirty="0"/>
              <a:t>5</a:t>
            </a:r>
            <a:r>
              <a:rPr lang="zh-CN" altLang="en-US" sz="4000" dirty="0"/>
              <a:t>、</a:t>
            </a:r>
            <a:r>
              <a:rPr lang="zh-CN" altLang="en-US" sz="4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偏差</a:t>
            </a:r>
            <a:r>
              <a:rPr lang="en-US" altLang="zh-CN" sz="4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4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方差平衡 </a:t>
            </a:r>
          </a:p>
        </p:txBody>
      </p:sp>
      <p:sp>
        <p:nvSpPr>
          <p:cNvPr id="12" name="AutoShape 4" descr="[公式]"/>
          <p:cNvSpPr>
            <a:spLocks noChangeAspect="1" noChangeArrowheads="1"/>
          </p:cNvSpPr>
          <p:nvPr/>
        </p:nvSpPr>
        <p:spPr bwMode="auto">
          <a:xfrm>
            <a:off x="4013200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2" name="AutoShape 2" descr="Bias / variance tradeoff math - Cross Validated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0" name="文本框 119"/>
          <p:cNvSpPr txBox="1"/>
          <p:nvPr/>
        </p:nvSpPr>
        <p:spPr>
          <a:xfrm>
            <a:off x="296617" y="856738"/>
            <a:ext cx="11903564" cy="6322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3200" spc="-10" dirty="0">
                <a:latin typeface="+mn-ea"/>
              </a:rPr>
              <a:t>偏差与方差是有冲突的，称为“偏差</a:t>
            </a:r>
            <a:r>
              <a:rPr lang="en-US" altLang="zh-CN" sz="3200" spc="-10" dirty="0">
                <a:latin typeface="+mn-ea"/>
              </a:rPr>
              <a:t>-</a:t>
            </a:r>
            <a:r>
              <a:rPr lang="zh-CN" altLang="en-US" sz="3200" spc="-10" dirty="0">
                <a:latin typeface="+mn-ea"/>
              </a:rPr>
              <a:t>方差窘境”</a:t>
            </a:r>
            <a:endParaRPr lang="en-US" sz="3200" dirty="0"/>
          </a:p>
        </p:txBody>
      </p:sp>
      <p:sp>
        <p:nvSpPr>
          <p:cNvPr id="11" name="文本框 119"/>
          <p:cNvSpPr txBox="1"/>
          <p:nvPr/>
        </p:nvSpPr>
        <p:spPr>
          <a:xfrm>
            <a:off x="296617" y="4967973"/>
            <a:ext cx="5019966" cy="9404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2400" dirty="0"/>
              <a:t>训练不足时</a:t>
            </a:r>
            <a:r>
              <a:rPr lang="zh-CN" altLang="en-US" sz="2400" dirty="0"/>
              <a:t>，模型拟合能力差，</a:t>
            </a:r>
            <a:r>
              <a:rPr lang="zh-CN" altLang="en-US" sz="2400" dirty="0">
                <a:solidFill>
                  <a:srgbClr val="FF0000"/>
                </a:solidFill>
              </a:rPr>
              <a:t>偏差</a:t>
            </a:r>
            <a:r>
              <a:rPr lang="zh-CN" altLang="en-US" sz="2400" dirty="0"/>
              <a:t>主导了泛化误差</a:t>
            </a:r>
            <a:endParaRPr lang="en-US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2784" y="1502967"/>
            <a:ext cx="4431229" cy="3427511"/>
          </a:xfrm>
          <a:prstGeom prst="rect">
            <a:avLst/>
          </a:prstGeom>
        </p:spPr>
      </p:pic>
      <p:sp>
        <p:nvSpPr>
          <p:cNvPr id="13" name="文本框 119"/>
          <p:cNvSpPr txBox="1"/>
          <p:nvPr/>
        </p:nvSpPr>
        <p:spPr>
          <a:xfrm>
            <a:off x="5773784" y="4967973"/>
            <a:ext cx="6239544" cy="138364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2400" dirty="0"/>
              <a:t>训练充足后</a:t>
            </a:r>
            <a:r>
              <a:rPr lang="zh-CN" altLang="en-US" sz="2400" dirty="0"/>
              <a:t>，模型拟合能力强，数据本身特点会被学到，发生过拟合，对数据扰动敏感，</a:t>
            </a:r>
            <a:r>
              <a:rPr lang="zh-CN" altLang="en-US" sz="2400" dirty="0">
                <a:solidFill>
                  <a:srgbClr val="FF0000"/>
                </a:solidFill>
              </a:rPr>
              <a:t>方差</a:t>
            </a:r>
            <a:r>
              <a:rPr lang="zh-CN" altLang="en-US" sz="2400" dirty="0"/>
              <a:t>主导泛化误差</a:t>
            </a:r>
            <a:endParaRPr lang="en-US" sz="24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F69888C-E133-43D9-A638-B5C95925B91C}" type="slidenum">
              <a:rPr lang="zh-CN" altLang="en-US" smtClean="0"/>
              <a:t>44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566961" y="265803"/>
            <a:ext cx="5810689" cy="426497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4000" dirty="0"/>
              <a:t>本章小结</a:t>
            </a:r>
          </a:p>
        </p:txBody>
      </p:sp>
      <p:sp>
        <p:nvSpPr>
          <p:cNvPr id="6" name="文本框 119"/>
          <p:cNvSpPr txBox="1"/>
          <p:nvPr/>
        </p:nvSpPr>
        <p:spPr>
          <a:xfrm>
            <a:off x="474916" y="905548"/>
            <a:ext cx="11390577" cy="633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3200" spc="-10" dirty="0">
                <a:latin typeface="+mn-ea"/>
              </a:rPr>
              <a:t>模型选择方法：</a:t>
            </a:r>
            <a:r>
              <a:rPr lang="zh-CN" altLang="en-US" sz="3200" spc="-10" dirty="0">
                <a:solidFill>
                  <a:schemeClr val="accent1"/>
                </a:solidFill>
                <a:latin typeface="+mn-ea"/>
              </a:rPr>
              <a:t>留出法</a:t>
            </a:r>
            <a:r>
              <a:rPr lang="zh-CN" altLang="en-US" sz="3200" spc="-10" dirty="0">
                <a:latin typeface="+mn-ea"/>
              </a:rPr>
              <a:t>、</a:t>
            </a:r>
            <a:r>
              <a:rPr lang="zh-CN" altLang="en-US" sz="3200" spc="-10" dirty="0">
                <a:solidFill>
                  <a:schemeClr val="accent1"/>
                </a:solidFill>
                <a:latin typeface="+mn-ea"/>
              </a:rPr>
              <a:t>交叉验证法</a:t>
            </a:r>
            <a:r>
              <a:rPr lang="zh-CN" altLang="en-US" sz="3200" spc="-10" dirty="0">
                <a:latin typeface="+mn-ea"/>
              </a:rPr>
              <a:t>、</a:t>
            </a:r>
            <a:r>
              <a:rPr lang="zh-CN" altLang="en-US" sz="3200" spc="-10" dirty="0">
                <a:solidFill>
                  <a:schemeClr val="accent1"/>
                </a:solidFill>
                <a:latin typeface="+mn-ea"/>
              </a:rPr>
              <a:t>自助法</a:t>
            </a:r>
            <a:endParaRPr lang="en-US" altLang="zh-CN" sz="3200" spc="-10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9" name="文本框 119"/>
          <p:cNvSpPr txBox="1"/>
          <p:nvPr/>
        </p:nvSpPr>
        <p:spPr>
          <a:xfrm>
            <a:off x="434315" y="1631286"/>
            <a:ext cx="11390577" cy="633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3200" spc="-10" dirty="0">
                <a:latin typeface="+mn-ea"/>
              </a:rPr>
              <a:t>模型性能度量指标：</a:t>
            </a:r>
            <a:endParaRPr lang="en-US" altLang="zh-CN" sz="3200" spc="-10" dirty="0">
              <a:latin typeface="+mn-ea"/>
            </a:endParaRPr>
          </a:p>
        </p:txBody>
      </p:sp>
      <p:sp>
        <p:nvSpPr>
          <p:cNvPr id="11" name="文本框 119"/>
          <p:cNvSpPr txBox="1"/>
          <p:nvPr/>
        </p:nvSpPr>
        <p:spPr>
          <a:xfrm>
            <a:off x="1257158" y="2164113"/>
            <a:ext cx="5251269" cy="565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zh-CN" altLang="en-US" sz="2800" spc="-10" dirty="0">
                <a:solidFill>
                  <a:srgbClr val="7030A0"/>
                </a:solidFill>
                <a:latin typeface="+mn-ea"/>
              </a:rPr>
              <a:t>回归</a:t>
            </a:r>
            <a:r>
              <a:rPr lang="zh-CN" altLang="en-US" sz="2800" spc="-10" dirty="0">
                <a:latin typeface="+mn-ea"/>
              </a:rPr>
              <a:t>任务：</a:t>
            </a:r>
            <a:r>
              <a:rPr lang="zh-CN" altLang="en-US" sz="2800" spc="-10" dirty="0">
                <a:solidFill>
                  <a:schemeClr val="accent1"/>
                </a:solidFill>
                <a:latin typeface="+mn-ea"/>
              </a:rPr>
              <a:t>均方误差</a:t>
            </a:r>
            <a:endParaRPr lang="en-US" altLang="zh-CN" sz="2800" spc="-10" dirty="0">
              <a:solidFill>
                <a:schemeClr val="accent1"/>
              </a:solidFill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9"/>
              <p:cNvSpPr txBox="1"/>
              <p:nvPr/>
            </p:nvSpPr>
            <p:spPr>
              <a:xfrm>
                <a:off x="1257158" y="2578985"/>
                <a:ext cx="9924644" cy="10826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buFont typeface="Arial" panose="020B0604020202090204" pitchFamily="34" charset="0"/>
                  <a:buChar char="•"/>
                </a:pPr>
                <a:r>
                  <a:rPr lang="zh-CN" altLang="en-US" sz="2800" spc="-10" dirty="0">
                    <a:solidFill>
                      <a:srgbClr val="7030A0"/>
                    </a:solidFill>
                    <a:latin typeface="+mn-ea"/>
                  </a:rPr>
                  <a:t>分类</a:t>
                </a:r>
                <a:r>
                  <a:rPr lang="zh-CN" altLang="en-US" sz="2800" spc="-10" dirty="0">
                    <a:latin typeface="+mn-ea"/>
                  </a:rPr>
                  <a:t>任务：错误率（或精度）；查准率、查全率与</a:t>
                </a:r>
                <a14:m>
                  <m:oMath xmlns:m="http://schemas.openxmlformats.org/officeDocument/2006/math">
                    <m:r>
                      <a:rPr lang="en-US" altLang="zh-CN" sz="2800" b="0" i="1" spc="-1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sz="2800" b="0" i="1" spc="-1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800" spc="-10" dirty="0">
                    <a:latin typeface="+mn-ea"/>
                  </a:rPr>
                  <a:t>；   </a:t>
                </a:r>
                <a:r>
                  <a:rPr lang="en-US" altLang="zh-CN" sz="2800" spc="-10" dirty="0">
                    <a:latin typeface="+mn-ea"/>
                  </a:rPr>
                  <a:t>ROC</a:t>
                </a:r>
                <a:r>
                  <a:rPr lang="zh-CN" altLang="en-US" sz="2800" spc="-10" dirty="0">
                    <a:latin typeface="+mn-ea"/>
                  </a:rPr>
                  <a:t>与</a:t>
                </a:r>
                <a:r>
                  <a:rPr lang="en-US" altLang="zh-CN" sz="2800" spc="-10" dirty="0">
                    <a:latin typeface="+mn-ea"/>
                  </a:rPr>
                  <a:t>AUC</a:t>
                </a:r>
                <a:r>
                  <a:rPr lang="zh-CN" altLang="en-US" sz="2800" spc="-10" dirty="0">
                    <a:latin typeface="+mn-ea"/>
                  </a:rPr>
                  <a:t>；代价敏感错误率</a:t>
                </a:r>
                <a:endParaRPr lang="en-US" altLang="zh-CN" sz="2800" spc="-10" dirty="0">
                  <a:latin typeface="+mn-ea"/>
                </a:endParaRPr>
              </a:p>
            </p:txBody>
          </p:sp>
        </mc:Choice>
        <mc:Fallback xmlns="">
          <p:sp>
            <p:nvSpPr>
              <p:cNvPr id="12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7158" y="2578985"/>
                <a:ext cx="9924644" cy="1082604"/>
              </a:xfrm>
              <a:prstGeom prst="rect">
                <a:avLst/>
              </a:prstGeom>
              <a:blipFill rotWithShape="1">
                <a:blip r:embed="rId3"/>
                <a:stretch>
                  <a:fillRect l="-5" t="-23" r="1" b="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19"/>
          <p:cNvSpPr txBox="1"/>
          <p:nvPr/>
        </p:nvSpPr>
        <p:spPr>
          <a:xfrm>
            <a:off x="434314" y="3641290"/>
            <a:ext cx="11390577" cy="633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3200" spc="-10" dirty="0">
                <a:solidFill>
                  <a:srgbClr val="FF0000"/>
                </a:solidFill>
                <a:latin typeface="+mn-ea"/>
              </a:rPr>
              <a:t>过拟合</a:t>
            </a:r>
            <a:r>
              <a:rPr lang="zh-CN" altLang="en-US" sz="3200" spc="-10" dirty="0">
                <a:latin typeface="+mn-ea"/>
              </a:rPr>
              <a:t>产生因素：</a:t>
            </a:r>
            <a:r>
              <a:rPr lang="zh-CN" altLang="en-US" sz="2800" spc="-10" dirty="0">
                <a:latin typeface="+mn-ea"/>
              </a:rPr>
              <a:t>数据集规模、噪声、问题复杂度、</a:t>
            </a:r>
            <a:r>
              <a:rPr lang="en-US" altLang="zh-CN" sz="2800" spc="-10" dirty="0">
                <a:latin typeface="+mn-ea"/>
              </a:rPr>
              <a:t>VC</a:t>
            </a:r>
            <a:r>
              <a:rPr lang="zh-CN" altLang="en-US" sz="2800" spc="-10" dirty="0">
                <a:latin typeface="+mn-ea"/>
              </a:rPr>
              <a:t>维</a:t>
            </a:r>
            <a:endParaRPr lang="en-US" altLang="zh-CN" sz="2800" spc="-10" dirty="0"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19"/>
              <p:cNvSpPr txBox="1"/>
              <p:nvPr/>
            </p:nvSpPr>
            <p:spPr>
              <a:xfrm>
                <a:off x="475063" y="4349976"/>
                <a:ext cx="11390577" cy="6331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spc="-1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spc="-1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altLang="zh-CN" sz="3200" b="0" i="1" spc="-1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3200" spc="-10" dirty="0">
                    <a:solidFill>
                      <a:srgbClr val="FF0000"/>
                    </a:solidFill>
                    <a:latin typeface="+mn-ea"/>
                  </a:rPr>
                  <a:t>正则化</a:t>
                </a:r>
                <a:r>
                  <a:rPr lang="zh-CN" altLang="en-US" sz="3200" spc="-10" dirty="0">
                    <a:latin typeface="+mn-ea"/>
                  </a:rPr>
                  <a:t>方法来减少过拟合</a:t>
                </a:r>
                <a:endParaRPr lang="en-US" altLang="zh-CN" sz="3200" spc="-10" dirty="0">
                  <a:latin typeface="+mn-ea"/>
                </a:endParaRPr>
              </a:p>
            </p:txBody>
          </p:sp>
        </mc:Choice>
        <mc:Fallback xmlns="">
          <p:sp>
            <p:nvSpPr>
              <p:cNvPr id="14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063" y="4349976"/>
                <a:ext cx="11390577" cy="633187"/>
              </a:xfrm>
              <a:prstGeom prst="rect">
                <a:avLst/>
              </a:prstGeom>
              <a:blipFill rotWithShape="1">
                <a:blip r:embed="rId4"/>
                <a:stretch>
                  <a:fillRect l="-1" t="-36" b="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119"/>
          <p:cNvSpPr txBox="1"/>
          <p:nvPr/>
        </p:nvSpPr>
        <p:spPr>
          <a:xfrm>
            <a:off x="434315" y="5708901"/>
            <a:ext cx="11390577" cy="633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3200" spc="-10" dirty="0">
                <a:latin typeface="+mn-ea"/>
              </a:rPr>
              <a:t>模型</a:t>
            </a:r>
            <a:r>
              <a:rPr lang="zh-CN" altLang="en-US" sz="3200" spc="-10" dirty="0">
                <a:solidFill>
                  <a:srgbClr val="FF0000"/>
                </a:solidFill>
                <a:latin typeface="+mn-ea"/>
              </a:rPr>
              <a:t>偏差</a:t>
            </a:r>
            <a:r>
              <a:rPr lang="en-US" altLang="zh-CN" sz="3200" spc="-10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3200" spc="-10" dirty="0">
                <a:solidFill>
                  <a:srgbClr val="FF0000"/>
                </a:solidFill>
                <a:latin typeface="+mn-ea"/>
              </a:rPr>
              <a:t>方差</a:t>
            </a:r>
            <a:r>
              <a:rPr lang="zh-CN" altLang="en-US" sz="3200" spc="-10" dirty="0">
                <a:latin typeface="+mn-ea"/>
              </a:rPr>
              <a:t>分解与</a:t>
            </a:r>
            <a:r>
              <a:rPr lang="zh-CN" altLang="en-US" sz="3200" spc="-10" dirty="0">
                <a:solidFill>
                  <a:srgbClr val="FF0000"/>
                </a:solidFill>
                <a:latin typeface="+mn-ea"/>
              </a:rPr>
              <a:t>平衡</a:t>
            </a:r>
            <a:endParaRPr lang="en-US" altLang="zh-CN" sz="3200" spc="-1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6" name="文本框 119"/>
          <p:cNvSpPr txBox="1"/>
          <p:nvPr/>
        </p:nvSpPr>
        <p:spPr>
          <a:xfrm>
            <a:off x="474916" y="5058524"/>
            <a:ext cx="11663452" cy="633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3200" spc="-10" dirty="0">
                <a:latin typeface="+mn-ea"/>
              </a:rPr>
              <a:t>特征选择方法（子集搜索与评价）：过滤式、包裹式、嵌入式 </a:t>
            </a:r>
            <a:endParaRPr lang="en-US" altLang="zh-CN" sz="3200" spc="-10" dirty="0">
              <a:latin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F69888C-E133-43D9-A638-B5C95925B91C}" type="slidenum">
              <a:rPr lang="zh-CN" altLang="en-US" smtClean="0"/>
              <a:t>45</a:t>
            </a:fld>
            <a:endParaRPr lang="zh-CN" altLang="en-US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null,&quot;Name&quot;:&quot;正常&quot;,&quot;HeaderHeight&quot;:15.0,&quot;FooterHeight&quot;:9.0,&quot;SideMargin&quot;:5.5,&quot;TopMargin&quot;:0.0,&quot;BottomMargin&quot;:0.0,&quot;IntervalMargin&quot;:1.5,&quot;SettingType&quot;:&quot;System&quot;}"/>
</p:tagLst>
</file>

<file path=ppt/theme/theme1.xml><?xml version="1.0" encoding="utf-8"?>
<a:theme xmlns:a="http://schemas.openxmlformats.org/drawingml/2006/main" name="Office 主题​​">
  <a:themeElements>
    <a:clrScheme name="华科模板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6BCC"/>
      </a:accent1>
      <a:accent2>
        <a:srgbClr val="01E6C0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华科模板">
      <a:majorFont>
        <a:latin typeface="Segoe UI"/>
        <a:ea typeface="微软雅黑"/>
        <a:cs typeface=""/>
      </a:majorFont>
      <a:minorFont>
        <a:latin typeface="Segoe U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dirty="0" smtClean="0">
            <a:latin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</TotalTime>
  <Words>4376</Words>
  <Application>Microsoft Macintosh PowerPoint</Application>
  <PresentationFormat>宽屏</PresentationFormat>
  <Paragraphs>492</Paragraphs>
  <Slides>45</Slides>
  <Notes>45</Notes>
  <HiddenSlides>0</HiddenSlides>
  <MMClips>1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45</vt:i4>
      </vt:variant>
    </vt:vector>
  </HeadingPairs>
  <TitlesOfParts>
    <vt:vector size="60" baseType="lpstr">
      <vt:lpstr>等线</vt:lpstr>
      <vt:lpstr>方正大黑简体</vt:lpstr>
      <vt:lpstr>微软雅黑</vt:lpstr>
      <vt:lpstr>Arial</vt:lpstr>
      <vt:lpstr>Calibri</vt:lpstr>
      <vt:lpstr>Cambria Math</vt:lpstr>
      <vt:lpstr>Century Gothic</vt:lpstr>
      <vt:lpstr>Courier New</vt:lpstr>
      <vt:lpstr>Eras Bold ITC</vt:lpstr>
      <vt:lpstr>Impact</vt:lpstr>
      <vt:lpstr>Segoe UI</vt:lpstr>
      <vt:lpstr>Segoe UI Light</vt:lpstr>
      <vt:lpstr>Wingdings</vt:lpstr>
      <vt:lpstr>Office 主题​​</vt:lpstr>
      <vt:lpstr>1_OfficePLUS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越 李</dc:creator>
  <cp:lastModifiedBy>Microsoft Office User</cp:lastModifiedBy>
  <cp:revision>1644</cp:revision>
  <dcterms:created xsi:type="dcterms:W3CDTF">2025-11-10T01:35:55Z</dcterms:created>
  <dcterms:modified xsi:type="dcterms:W3CDTF">2025-11-10T09:24:30Z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Nuaxnuy@DESKTOP-GLORKB7</vt:lpwstr>
  </property>
  <property fmtid="{D5CDD505-2E9C-101B-9397-08002B2CF9AE}" pid="5" name="MSIP_Label_f42aa342-8706-4288-bd11-ebb85995028c_SetDate">
    <vt:lpwstr>2019-04-13T04:11:03.2251178Z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ActionId">
    <vt:lpwstr>a7992e6a-8a3a-4a97-ad53-c673d0603080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  <property fmtid="{D5CDD505-2E9C-101B-9397-08002B2CF9AE}" pid="11" name="ICV">
    <vt:lpwstr>9A6FFE43598EC7977B411169CC739F2A_42</vt:lpwstr>
  </property>
  <property fmtid="{D5CDD505-2E9C-101B-9397-08002B2CF9AE}" pid="12" name="KSOProductBuildVer">
    <vt:lpwstr>2052-12.1.23141.23141</vt:lpwstr>
  </property>
</Properties>
</file>