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8" r:id="rId2"/>
    <p:sldId id="263" r:id="rId3"/>
    <p:sldId id="279" r:id="rId4"/>
    <p:sldId id="262" r:id="rId5"/>
    <p:sldId id="261" r:id="rId6"/>
    <p:sldId id="260" r:id="rId7"/>
    <p:sldId id="259" r:id="rId8"/>
    <p:sldId id="268" r:id="rId9"/>
    <p:sldId id="267" r:id="rId10"/>
    <p:sldId id="266" r:id="rId11"/>
    <p:sldId id="265" r:id="rId12"/>
    <p:sldId id="272" r:id="rId13"/>
    <p:sldId id="271" r:id="rId14"/>
    <p:sldId id="270" r:id="rId15"/>
    <p:sldId id="269" r:id="rId16"/>
    <p:sldId id="264" r:id="rId17"/>
    <p:sldId id="276" r:id="rId18"/>
    <p:sldId id="275" r:id="rId19"/>
    <p:sldId id="274" r:id="rId20"/>
    <p:sldId id="280" r:id="rId21"/>
    <p:sldId id="273" r:id="rId22"/>
    <p:sldId id="288" r:id="rId23"/>
    <p:sldId id="286" r:id="rId24"/>
    <p:sldId id="291" r:id="rId25"/>
    <p:sldId id="290" r:id="rId26"/>
    <p:sldId id="289" r:id="rId27"/>
    <p:sldId id="285" r:id="rId28"/>
    <p:sldId id="296" r:id="rId29"/>
    <p:sldId id="316" r:id="rId30"/>
    <p:sldId id="322" r:id="rId31"/>
  </p:sldIdLst>
  <p:sldSz cx="12192000" cy="6858000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0" autoAdjust="0"/>
    <p:restoredTop sz="83136" autoAdjust="0"/>
  </p:normalViewPr>
  <p:slideViewPr>
    <p:cSldViewPr snapToGrid="0" showGuides="1">
      <p:cViewPr varScale="1">
        <p:scale>
          <a:sx n="91" d="100"/>
          <a:sy n="91" d="100"/>
        </p:scale>
        <p:origin x="816" y="64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E83172E3-F20B-44BE-828C-3C09110EA16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747627"/>
            <a:ext cx="4434999" cy="356436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7" y="6747627"/>
            <a:ext cx="4434999" cy="356436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BCE22387-8F54-493C-9BD5-26C4F5303C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6437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1"/>
            <a:ext cx="4434999" cy="356437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83826F6-A5A6-4DAF-A128-D06AF7315F1C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6088" y="887413"/>
            <a:ext cx="4262437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418830"/>
            <a:ext cx="8187690" cy="2797225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747627"/>
            <a:ext cx="4434999" cy="356436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7"/>
            <a:ext cx="4434999" cy="356436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9B48034B-207C-4E0E-A5F6-40709A49423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979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ea"/>
                <a:ea typeface="+mn-ea"/>
              </a:defRPr>
            </a:lvl1pPr>
            <a:lvl2pPr>
              <a:lnSpc>
                <a:spcPct val="100000"/>
              </a:lnSpc>
              <a:defRPr>
                <a:latin typeface="+mn-ea"/>
                <a:ea typeface="+mn-ea"/>
              </a:defRPr>
            </a:lvl2pPr>
            <a:lvl3pPr>
              <a:lnSpc>
                <a:spcPct val="100000"/>
              </a:lnSpc>
              <a:defRPr>
                <a:latin typeface="+mn-ea"/>
                <a:ea typeface="+mn-ea"/>
              </a:defRPr>
            </a:lvl3pPr>
            <a:lvl4pPr>
              <a:lnSpc>
                <a:spcPct val="100000"/>
              </a:lnSpc>
              <a:defRPr>
                <a:latin typeface="+mn-ea"/>
                <a:ea typeface="+mn-ea"/>
              </a:defRPr>
            </a:lvl4pPr>
            <a:lvl5pPr>
              <a:lnSpc>
                <a:spcPct val="100000"/>
              </a:lnSpc>
              <a:defRPr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fld id="{A7AA09E4-EDB9-4D6A-8918-B1B0AEC6D61D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94522" y="914397"/>
            <a:ext cx="11178074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fld id="{A7AA09E4-EDB9-4D6A-8918-B1B0AEC6D61D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en-US" altLang="zh-CN" dirty="0"/>
              <a:t>ROS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的重要概念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182395" y="1226976"/>
            <a:ext cx="3203925" cy="511349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术语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名称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坐标变换</a:t>
            </a: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(TF)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客户端库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异构设备间的通信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文件系统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构建系统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8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  <a:t>1</a:t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altLang="ko-KR" sz="2400" dirty="0">
                <a:solidFill>
                  <a:srgbClr val="FF0000"/>
                </a:solidFill>
                <a:latin typeface="+mj-ea"/>
              </a:rPr>
              <a:t>Node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（节点）</a:t>
            </a:r>
            <a:endParaRPr lang="en-US" altLang="ko-KR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ko-KR" sz="1600" u="sng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</a:t>
            </a:r>
            <a:r>
              <a:rPr lang="zh-CN" altLang="en-US" sz="1600" u="sng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中运行的最小处理器单元。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它可以看作是单个可执行程序。</a:t>
            </a:r>
            <a:endParaRPr lang="en-US" altLang="zh-CN" sz="16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中，系统由多个节点组成。每个节点通过消息通信发送和接收数据。</a:t>
            </a:r>
            <a:endParaRPr lang="en-US" altLang="zh-CN" sz="16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rgbClr val="333333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ko-KR" sz="2400" dirty="0">
                <a:solidFill>
                  <a:srgbClr val="FF0000"/>
                </a:solidFill>
                <a:latin typeface="+mj-ea"/>
              </a:rPr>
              <a:t>Package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（功能包）</a:t>
            </a:r>
            <a:endParaRPr lang="en-US" altLang="ko-KR" sz="24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u="sng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一个或多个节点，用于节点执行的消息等。</a:t>
            </a:r>
            <a:endParaRPr lang="en-US" altLang="zh-CN" sz="1600" u="sng" dirty="0">
              <a:solidFill>
                <a:srgbClr val="5B9BD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元功能包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dirty="0" err="1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metapackage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是一个具有共同目的的功能包的集合。 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altLang="ko-KR" sz="2000" dirty="0">
              <a:solidFill>
                <a:srgbClr val="333333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altLang="ko-KR" sz="2400" dirty="0">
                <a:solidFill>
                  <a:srgbClr val="FF0000"/>
                </a:solidFill>
                <a:latin typeface="+mj-ea"/>
              </a:rPr>
              <a:t>Message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（消息）</a:t>
            </a:r>
            <a:endParaRPr lang="en-US" altLang="ko-KR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u="sng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节点之间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通过消息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(message)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来发送和接收数据。</a:t>
            </a:r>
            <a:endParaRPr lang="en-US" altLang="zh-CN" sz="16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消息是诸如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integer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floating point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600" dirty="0" err="1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boolean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等类型的变量。</a:t>
            </a:r>
            <a:endParaRPr lang="en-US" altLang="zh-CN" sz="16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用户还可以使用诸如消息里包括消息的简单数据结构 或列举消息的消息数组的结构。</a:t>
            </a:r>
            <a:endParaRPr lang="en-US" altLang="zh-CN" sz="16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使用消息的通信方法包括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TCPROS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UDPROS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</a:t>
            </a:r>
            <a:endParaRPr lang="en-US" altLang="zh-CN" sz="16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根据情况使用单向消息发送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接收方式的话题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(topic)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和双向消息请求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(request)/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 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(response)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方式的服务</a:t>
            </a:r>
            <a:r>
              <a:rPr lang="en-US" altLang="zh-CN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(service)</a:t>
            </a:r>
            <a:r>
              <a:rPr lang="zh-CN" altLang="en-US" sz="16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</a:t>
            </a:r>
          </a:p>
          <a:p>
            <a:endParaRPr lang="ko-KR" altLang="ko-KR" sz="2000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ko-KR" dirty="0"/>
              <a:t>ROS1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通信方式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</a:rPr>
              <a:t>3</a:t>
            </a:fld>
            <a:endParaRPr lang="ko-KR" altLang="en-US" dirty="0">
              <a:solidFill>
                <a:srgbClr val="5B9BD5"/>
              </a:solidFill>
            </a:endParaRPr>
          </a:p>
        </p:txBody>
      </p:sp>
      <p:grpSp>
        <p:nvGrpSpPr>
          <p:cNvPr id="4" name="그룹 5"/>
          <p:cNvGrpSpPr/>
          <p:nvPr/>
        </p:nvGrpSpPr>
        <p:grpSpPr>
          <a:xfrm>
            <a:off x="1837762" y="905123"/>
            <a:ext cx="8516477" cy="5991945"/>
            <a:chOff x="1193131" y="-2148"/>
            <a:chExt cx="9816614" cy="6906684"/>
          </a:xfrm>
        </p:grpSpPr>
        <p:sp>
          <p:nvSpPr>
            <p:cNvPr id="5" name="Rectangle 1"/>
            <p:cNvSpPr/>
            <p:nvPr/>
          </p:nvSpPr>
          <p:spPr>
            <a:xfrm>
              <a:off x="1193131" y="993628"/>
              <a:ext cx="9816614" cy="52599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6" name="Oval 2"/>
            <p:cNvSpPr/>
            <p:nvPr/>
          </p:nvSpPr>
          <p:spPr>
            <a:xfrm>
              <a:off x="1220277" y="1065949"/>
              <a:ext cx="3009099" cy="3009099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sz="2800" dirty="0">
                <a:solidFill>
                  <a:prstClr val="white"/>
                </a:solidFill>
                <a:latin typeface="Malgun Gothic" panose="020B0503020000020004" charset="-127"/>
              </a:endParaRPr>
            </a:p>
          </p:txBody>
        </p:sp>
        <p:sp>
          <p:nvSpPr>
            <p:cNvPr id="7" name="Oval 3"/>
            <p:cNvSpPr/>
            <p:nvPr/>
          </p:nvSpPr>
          <p:spPr>
            <a:xfrm>
              <a:off x="7897309" y="1065949"/>
              <a:ext cx="3009099" cy="3009099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sz="2800" dirty="0">
                <a:solidFill>
                  <a:prstClr val="white"/>
                </a:solidFill>
                <a:latin typeface="Malgun Gothic" panose="020B0503020000020004" charset="-127"/>
              </a:endParaRPr>
            </a:p>
          </p:txBody>
        </p:sp>
        <p:cxnSp>
          <p:nvCxnSpPr>
            <p:cNvPr id="8" name="Curved Connector 5"/>
            <p:cNvCxnSpPr/>
            <p:nvPr/>
          </p:nvCxnSpPr>
          <p:spPr>
            <a:xfrm>
              <a:off x="4304119" y="2284780"/>
              <a:ext cx="3528765" cy="1"/>
            </a:xfrm>
            <a:prstGeom prst="curvedConnector3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urved Connector 7"/>
            <p:cNvCxnSpPr/>
            <p:nvPr/>
          </p:nvCxnSpPr>
          <p:spPr>
            <a:xfrm>
              <a:off x="4304119" y="2487450"/>
              <a:ext cx="3528765" cy="1"/>
            </a:xfrm>
            <a:prstGeom prst="curvedConnector3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1"/>
            <p:cNvSpPr txBox="1"/>
            <p:nvPr/>
          </p:nvSpPr>
          <p:spPr>
            <a:xfrm>
              <a:off x="5112291" y="2478594"/>
              <a:ext cx="2008842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</a:rPr>
                <a:t>Service response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1" name="TextBox 12"/>
            <p:cNvSpPr txBox="1"/>
            <p:nvPr/>
          </p:nvSpPr>
          <p:spPr>
            <a:xfrm>
              <a:off x="5193591" y="1912651"/>
              <a:ext cx="1846243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</a:rPr>
                <a:t>Service request</a:t>
              </a:r>
            </a:p>
          </p:txBody>
        </p:sp>
        <p:cxnSp>
          <p:nvCxnSpPr>
            <p:cNvPr id="12" name="Straight Arrow Connector 14"/>
            <p:cNvCxnSpPr/>
            <p:nvPr/>
          </p:nvCxnSpPr>
          <p:spPr>
            <a:xfrm flipV="1">
              <a:off x="5628078" y="5948324"/>
              <a:ext cx="0" cy="454519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6"/>
            <p:cNvCxnSpPr/>
            <p:nvPr/>
          </p:nvCxnSpPr>
          <p:spPr>
            <a:xfrm>
              <a:off x="6390078" y="5948324"/>
              <a:ext cx="0" cy="454519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5"/>
            <p:cNvSpPr txBox="1"/>
            <p:nvPr/>
          </p:nvSpPr>
          <p:spPr>
            <a:xfrm>
              <a:off x="6066912" y="6478821"/>
              <a:ext cx="759783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</a:rPr>
                <a:t>Read</a:t>
              </a: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5304912" y="6478821"/>
              <a:ext cx="808267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prstClr val="black"/>
                  </a:solidFill>
                </a:rPr>
                <a:t>Write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16" name="Curved Connector 21"/>
            <p:cNvCxnSpPr/>
            <p:nvPr/>
          </p:nvCxnSpPr>
          <p:spPr>
            <a:xfrm flipV="1">
              <a:off x="4377472" y="1495211"/>
              <a:ext cx="3384376" cy="1"/>
            </a:xfrm>
            <a:prstGeom prst="curvedConnector3">
              <a:avLst/>
            </a:prstGeom>
            <a:ln w="66675">
              <a:solidFill>
                <a:schemeClr val="tx1">
                  <a:lumMod val="50000"/>
                  <a:lumOff val="50000"/>
                </a:schemeClr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8"/>
            <p:cNvSpPr txBox="1"/>
            <p:nvPr/>
          </p:nvSpPr>
          <p:spPr>
            <a:xfrm>
              <a:off x="5709140" y="1094302"/>
              <a:ext cx="815140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</a:rPr>
                <a:t>Topic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18" name="Rounded Rectangle 23"/>
            <p:cNvSpPr/>
            <p:nvPr/>
          </p:nvSpPr>
          <p:spPr>
            <a:xfrm>
              <a:off x="1979179" y="1396263"/>
              <a:ext cx="1440000" cy="459863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</a:rPr>
                <a:t>Publisher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19" name="Rounded Rectangle 24"/>
            <p:cNvSpPr/>
            <p:nvPr/>
          </p:nvSpPr>
          <p:spPr>
            <a:xfrm>
              <a:off x="8653986" y="1400241"/>
              <a:ext cx="1515411" cy="459863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</a:rPr>
                <a:t>Subscriber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20" name="Rounded Rectangle 25"/>
            <p:cNvSpPr/>
            <p:nvPr/>
          </p:nvSpPr>
          <p:spPr>
            <a:xfrm>
              <a:off x="8424323" y="2243198"/>
              <a:ext cx="1961950" cy="459863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</a:rPr>
                <a:t>Service client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21" name="Rounded Rectangle 26"/>
            <p:cNvSpPr/>
            <p:nvPr/>
          </p:nvSpPr>
          <p:spPr>
            <a:xfrm>
              <a:off x="1878156" y="2239071"/>
              <a:ext cx="1693340" cy="459863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</a:rPr>
                <a:t>Service server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22" name="Rounded Rectangle 38"/>
            <p:cNvSpPr/>
            <p:nvPr/>
          </p:nvSpPr>
          <p:spPr>
            <a:xfrm>
              <a:off x="4973606" y="4839639"/>
              <a:ext cx="2012810" cy="102820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prstClr val="white"/>
                  </a:solidFill>
                </a:rPr>
                <a:t>Parameter server</a:t>
              </a:r>
            </a:p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(ROS Master)</a:t>
              </a:r>
            </a:p>
          </p:txBody>
        </p:sp>
        <p:sp>
          <p:nvSpPr>
            <p:cNvPr id="23" name="TextBox 24"/>
            <p:cNvSpPr txBox="1"/>
            <p:nvPr/>
          </p:nvSpPr>
          <p:spPr>
            <a:xfrm>
              <a:off x="3881724" y="-2148"/>
              <a:ext cx="4470003" cy="9578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信息通信</a:t>
              </a:r>
              <a:endPara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/>
              <a:r>
                <a:rPr lang="en-US" sz="24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24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主题、服务、操作、参数</a:t>
              </a:r>
              <a:r>
                <a:rPr lang="en-US" sz="24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  <p:sp>
          <p:nvSpPr>
            <p:cNvPr id="24" name="TextBox 25"/>
            <p:cNvSpPr txBox="1"/>
            <p:nvPr/>
          </p:nvSpPr>
          <p:spPr>
            <a:xfrm>
              <a:off x="4923827" y="3916795"/>
              <a:ext cx="2385775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</a:rPr>
                <a:t>Deliver action result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25" name="TextBox 26"/>
            <p:cNvSpPr txBox="1"/>
            <p:nvPr/>
          </p:nvSpPr>
          <p:spPr>
            <a:xfrm>
              <a:off x="4990344" y="3035824"/>
              <a:ext cx="2252739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</a:rPr>
                <a:t>Deliver action goal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26" name="TextBox 27"/>
            <p:cNvSpPr txBox="1"/>
            <p:nvPr/>
          </p:nvSpPr>
          <p:spPr>
            <a:xfrm>
              <a:off x="4739055" y="3477032"/>
              <a:ext cx="2755321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</a:rPr>
                <a:t>Deliver action feedback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cxnSp>
          <p:nvCxnSpPr>
            <p:cNvPr id="27" name="Curved Connector 5"/>
            <p:cNvCxnSpPr/>
            <p:nvPr/>
          </p:nvCxnSpPr>
          <p:spPr>
            <a:xfrm>
              <a:off x="4300813" y="3424291"/>
              <a:ext cx="3528765" cy="1"/>
            </a:xfrm>
            <a:prstGeom prst="curvedConnector3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7"/>
            <p:cNvCxnSpPr/>
            <p:nvPr/>
          </p:nvCxnSpPr>
          <p:spPr>
            <a:xfrm>
              <a:off x="4300813" y="3864464"/>
              <a:ext cx="3528765" cy="1"/>
            </a:xfrm>
            <a:prstGeom prst="curvedConnector3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7"/>
            <p:cNvCxnSpPr/>
            <p:nvPr/>
          </p:nvCxnSpPr>
          <p:spPr>
            <a:xfrm>
              <a:off x="4299907" y="4286126"/>
              <a:ext cx="3528765" cy="1"/>
            </a:xfrm>
            <a:prstGeom prst="curvedConnector3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31"/>
            <p:cNvSpPr/>
            <p:nvPr/>
          </p:nvSpPr>
          <p:spPr>
            <a:xfrm>
              <a:off x="2265977" y="661745"/>
              <a:ext cx="898361" cy="4257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节点</a:t>
              </a:r>
              <a:r>
                <a:rPr lang="en-US" altLang="ko-KR" b="1" dirty="0">
                  <a:solidFill>
                    <a:prstClr val="black"/>
                  </a:solidFill>
                  <a:latin typeface="Malgun Gothic" panose="020B0503020000020004" charset="-127"/>
                </a:rPr>
                <a:t>1</a:t>
              </a:r>
            </a:p>
          </p:txBody>
        </p:sp>
        <p:sp>
          <p:nvSpPr>
            <p:cNvPr id="31" name="직사각형 32"/>
            <p:cNvSpPr/>
            <p:nvPr/>
          </p:nvSpPr>
          <p:spPr>
            <a:xfrm>
              <a:off x="8970029" y="661745"/>
              <a:ext cx="898361" cy="4257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节点</a:t>
              </a:r>
              <a:r>
                <a:rPr lang="en-US" altLang="ko-KR" b="1" dirty="0">
                  <a:solidFill>
                    <a:prstClr val="black"/>
                  </a:solidFill>
                  <a:latin typeface="Malgun Gothic" panose="020B0503020000020004" charset="-127"/>
                </a:rPr>
                <a:t>2</a:t>
              </a:r>
            </a:p>
          </p:txBody>
        </p:sp>
        <p:sp>
          <p:nvSpPr>
            <p:cNvPr id="32" name="Rounded Rectangle 25"/>
            <p:cNvSpPr/>
            <p:nvPr/>
          </p:nvSpPr>
          <p:spPr>
            <a:xfrm>
              <a:off x="8532985" y="3128328"/>
              <a:ext cx="1757413" cy="459863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</a:rPr>
                <a:t>Action client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sp>
          <p:nvSpPr>
            <p:cNvPr id="33" name="Rounded Rectangle 26"/>
            <p:cNvSpPr/>
            <p:nvPr/>
          </p:nvSpPr>
          <p:spPr>
            <a:xfrm>
              <a:off x="1862971" y="3130559"/>
              <a:ext cx="1693340" cy="459863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prstClr val="white"/>
                  </a:solidFill>
                </a:rPr>
                <a:t>Action server</a:t>
              </a:r>
              <a:endParaRPr lang="en-US" sz="1400" b="1" dirty="0">
                <a:solidFill>
                  <a:prstClr val="white"/>
                </a:solidFill>
              </a:endParaRPr>
            </a:p>
          </p:txBody>
        </p:sp>
        <p:cxnSp>
          <p:nvCxnSpPr>
            <p:cNvPr id="34" name="꺾인 연결선 35"/>
            <p:cNvCxnSpPr>
              <a:stCxn id="6" idx="4"/>
              <a:endCxn id="22" idx="1"/>
            </p:cNvCxnSpPr>
            <p:nvPr/>
          </p:nvCxnSpPr>
          <p:spPr>
            <a:xfrm rot="16200000" flipH="1">
              <a:off x="3209871" y="3590003"/>
              <a:ext cx="1278691" cy="2248779"/>
            </a:xfrm>
            <a:prstGeom prst="bentConnector2">
              <a:avLst/>
            </a:prstGeom>
            <a:ln w="38100">
              <a:solidFill>
                <a:schemeClr val="accent3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꺾인 연결선 36"/>
            <p:cNvCxnSpPr>
              <a:stCxn id="7" idx="4"/>
              <a:endCxn id="22" idx="3"/>
            </p:cNvCxnSpPr>
            <p:nvPr/>
          </p:nvCxnSpPr>
          <p:spPr>
            <a:xfrm rot="5400000">
              <a:off x="7554793" y="3506672"/>
              <a:ext cx="1278691" cy="2415443"/>
            </a:xfrm>
            <a:prstGeom prst="bentConnector2">
              <a:avLst/>
            </a:prstGeom>
            <a:ln w="38100">
              <a:solidFill>
                <a:schemeClr val="accent3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7"/>
            <p:cNvSpPr txBox="1"/>
            <p:nvPr/>
          </p:nvSpPr>
          <p:spPr>
            <a:xfrm>
              <a:off x="2656647" y="4984406"/>
              <a:ext cx="1277145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</a:rPr>
                <a:t>parameter</a:t>
              </a:r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37" name="TextBox 38"/>
            <p:cNvSpPr txBox="1"/>
            <p:nvPr/>
          </p:nvSpPr>
          <p:spPr>
            <a:xfrm>
              <a:off x="8176315" y="4984406"/>
              <a:ext cx="1277145" cy="4257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prstClr val="black"/>
                  </a:solidFill>
                </a:rPr>
                <a:t>parameter</a:t>
              </a:r>
              <a:endParaRPr lang="en-US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en-US" altLang="en-US" dirty="0"/>
              <a:t>ROS </a:t>
            </a:r>
            <a:r>
              <a:rPr lang="zh-CN" altLang="en-US" dirty="0"/>
              <a:t>通信方式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4" name="TextBox 19"/>
          <p:cNvSpPr txBox="1"/>
          <p:nvPr/>
        </p:nvSpPr>
        <p:spPr>
          <a:xfrm>
            <a:off x="0" y="6581000"/>
            <a:ext cx="6550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http://www.dreamstime.com/illustration/people-talk-listen-tin-can-phone-communication.html</a:t>
            </a:r>
          </a:p>
        </p:txBody>
      </p:sp>
      <p:pic>
        <p:nvPicPr>
          <p:cNvPr id="5" name="Picture 2" descr="http://thumbs.dreamstime.com/t/communication-380313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05" y="1378560"/>
            <a:ext cx="3202251" cy="1918953"/>
          </a:xfrm>
          <a:prstGeom prst="rect">
            <a:avLst/>
          </a:prstGeom>
          <a:noFill/>
        </p:spPr>
      </p:pic>
      <p:sp>
        <p:nvSpPr>
          <p:cNvPr id="6" name="TextBox 76"/>
          <p:cNvSpPr txBox="1"/>
          <p:nvPr/>
        </p:nvSpPr>
        <p:spPr>
          <a:xfrm>
            <a:off x="860334" y="2884166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Publisher</a:t>
            </a:r>
            <a:endParaRPr lang="en-US" dirty="0"/>
          </a:p>
        </p:txBody>
      </p:sp>
      <p:sp>
        <p:nvSpPr>
          <p:cNvPr id="7" name="TextBox 77"/>
          <p:cNvSpPr txBox="1"/>
          <p:nvPr/>
        </p:nvSpPr>
        <p:spPr>
          <a:xfrm>
            <a:off x="2853428" y="2890728"/>
            <a:ext cx="1170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Subscriber</a:t>
            </a:r>
            <a:endParaRPr lang="en-US" dirty="0"/>
          </a:p>
        </p:txBody>
      </p:sp>
      <p:sp>
        <p:nvSpPr>
          <p:cNvPr id="8" name="TextBox 78"/>
          <p:cNvSpPr txBox="1"/>
          <p:nvPr/>
        </p:nvSpPr>
        <p:spPr>
          <a:xfrm>
            <a:off x="1999861" y="2153370"/>
            <a:ext cx="768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</a:t>
            </a:r>
          </a:p>
        </p:txBody>
      </p:sp>
      <p:grpSp>
        <p:nvGrpSpPr>
          <p:cNvPr id="9" name="Group 6"/>
          <p:cNvGrpSpPr/>
          <p:nvPr/>
        </p:nvGrpSpPr>
        <p:grpSpPr>
          <a:xfrm>
            <a:off x="783105" y="3466792"/>
            <a:ext cx="3202251" cy="2382901"/>
            <a:chOff x="6195375" y="1105499"/>
            <a:chExt cx="3202251" cy="2382901"/>
          </a:xfrm>
        </p:grpSpPr>
        <p:pic>
          <p:nvPicPr>
            <p:cNvPr id="10" name="Picture 2" descr="http://thumbs.dreamstime.com/t/communication-38031352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5375" y="1355751"/>
              <a:ext cx="3202251" cy="1918953"/>
            </a:xfrm>
            <a:prstGeom prst="rect">
              <a:avLst/>
            </a:prstGeom>
            <a:noFill/>
          </p:spPr>
        </p:pic>
        <p:pic>
          <p:nvPicPr>
            <p:cNvPr id="11" name="Picture 2" descr="http://thumbs.dreamstime.com/t/communication-38031352.jpg"/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973" b="48872"/>
            <a:stretch>
              <a:fillRect/>
            </a:stretch>
          </p:blipFill>
          <p:spPr bwMode="auto">
            <a:xfrm rot="20032473">
              <a:off x="7883818" y="1105499"/>
              <a:ext cx="1281770" cy="981132"/>
            </a:xfrm>
            <a:prstGeom prst="rect">
              <a:avLst/>
            </a:prstGeom>
            <a:noFill/>
          </p:spPr>
        </p:pic>
        <p:pic>
          <p:nvPicPr>
            <p:cNvPr id="12" name="Picture 2" descr="http://thumbs.dreamstime.com/t/communication-38031352.jpg"/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99"/>
            <a:stretch>
              <a:fillRect/>
            </a:stretch>
          </p:blipFill>
          <p:spPr bwMode="auto">
            <a:xfrm>
              <a:off x="7785560" y="1356008"/>
              <a:ext cx="1607568" cy="1918953"/>
            </a:xfrm>
            <a:prstGeom prst="rect">
              <a:avLst/>
            </a:prstGeom>
            <a:noFill/>
          </p:spPr>
        </p:pic>
        <p:pic>
          <p:nvPicPr>
            <p:cNvPr id="13" name="Picture 2" descr="http://thumbs.dreamstime.com/t/communication-38031352.jpg"/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19"/>
            <a:stretch>
              <a:fillRect/>
            </a:stretch>
          </p:blipFill>
          <p:spPr bwMode="auto">
            <a:xfrm rot="991977">
              <a:off x="7799354" y="1569447"/>
              <a:ext cx="1546067" cy="1918953"/>
            </a:xfrm>
            <a:prstGeom prst="rect">
              <a:avLst/>
            </a:prstGeom>
            <a:noFill/>
          </p:spPr>
        </p:pic>
      </p:grpSp>
      <p:sp>
        <p:nvSpPr>
          <p:cNvPr id="14" name="Rounded Rectangle 7"/>
          <p:cNvSpPr/>
          <p:nvPr/>
        </p:nvSpPr>
        <p:spPr>
          <a:xfrm>
            <a:off x="5391617" y="1954624"/>
            <a:ext cx="1584176" cy="568078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/>
              <a:t>Publisher</a:t>
            </a:r>
            <a:endParaRPr lang="en-US" dirty="0"/>
          </a:p>
        </p:txBody>
      </p:sp>
      <p:sp>
        <p:nvSpPr>
          <p:cNvPr id="15" name="Rounded Rectangle 30"/>
          <p:cNvSpPr/>
          <p:nvPr/>
        </p:nvSpPr>
        <p:spPr>
          <a:xfrm>
            <a:off x="9581190" y="1954624"/>
            <a:ext cx="1584176" cy="568078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/>
              <a:t>Subscriber</a:t>
            </a:r>
            <a:endParaRPr lang="en-US"/>
          </a:p>
        </p:txBody>
      </p:sp>
      <p:cxnSp>
        <p:nvCxnSpPr>
          <p:cNvPr id="16" name="Straight Arrow Connector 13"/>
          <p:cNvCxnSpPr/>
          <p:nvPr/>
        </p:nvCxnSpPr>
        <p:spPr>
          <a:xfrm>
            <a:off x="7119809" y="2238663"/>
            <a:ext cx="2304256" cy="0"/>
          </a:xfrm>
          <a:prstGeom prst="straightConnector1">
            <a:avLst/>
          </a:prstGeom>
          <a:ln w="666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2"/>
          <p:cNvSpPr/>
          <p:nvPr/>
        </p:nvSpPr>
        <p:spPr>
          <a:xfrm>
            <a:off x="7882168" y="1873324"/>
            <a:ext cx="768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333333"/>
                </a:solidFill>
              </a:rPr>
              <a:t>Topic</a:t>
            </a:r>
            <a:endParaRPr lang="en-US" dirty="0"/>
          </a:p>
        </p:txBody>
      </p:sp>
      <p:sp>
        <p:nvSpPr>
          <p:cNvPr id="18" name="TextBox 88"/>
          <p:cNvSpPr txBox="1"/>
          <p:nvPr/>
        </p:nvSpPr>
        <p:spPr>
          <a:xfrm>
            <a:off x="5328931" y="2554279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测位</a:t>
            </a:r>
            <a:r>
              <a:rPr lang="en-US" dirty="0" err="1"/>
              <a:t>Odometry</a:t>
            </a:r>
            <a:endParaRPr lang="en-US" dirty="0"/>
          </a:p>
        </p:txBody>
      </p:sp>
      <p:sp>
        <p:nvSpPr>
          <p:cNvPr id="19" name="TextBox 89"/>
          <p:cNvSpPr txBox="1"/>
          <p:nvPr/>
        </p:nvSpPr>
        <p:spPr>
          <a:xfrm>
            <a:off x="9985640" y="2538828"/>
            <a:ext cx="775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SLAM</a:t>
            </a:r>
            <a:endParaRPr lang="en-US" dirty="0"/>
          </a:p>
        </p:txBody>
      </p:sp>
      <p:sp>
        <p:nvSpPr>
          <p:cNvPr id="20" name="Rectangle 38"/>
          <p:cNvSpPr/>
          <p:nvPr/>
        </p:nvSpPr>
        <p:spPr>
          <a:xfrm>
            <a:off x="7353750" y="2500728"/>
            <a:ext cx="1825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>
                <a:solidFill>
                  <a:srgbClr val="333333"/>
                </a:solidFill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位置信息</a:t>
            </a:r>
            <a:r>
              <a:rPr lang="en-US" altLang="ko-KR" dirty="0">
                <a:solidFill>
                  <a:srgbClr val="333333"/>
                </a:solidFill>
              </a:rPr>
              <a:t>x, y, </a:t>
            </a:r>
            <a:r>
              <a:rPr lang="en-US" altLang="ja-JP" dirty="0">
                <a:solidFill>
                  <a:srgbClr val="333333"/>
                </a:solidFill>
              </a:rPr>
              <a:t>θ</a:t>
            </a:r>
            <a:r>
              <a:rPr lang="en-US" altLang="ko-KR" dirty="0">
                <a:solidFill>
                  <a:srgbClr val="333333"/>
                </a:solidFill>
              </a:rPr>
              <a:t>)</a:t>
            </a:r>
            <a:endParaRPr lang="en-US" dirty="0"/>
          </a:p>
        </p:txBody>
      </p:sp>
      <p:sp>
        <p:nvSpPr>
          <p:cNvPr id="21" name="Rounded Rectangle 43"/>
          <p:cNvSpPr/>
          <p:nvPr/>
        </p:nvSpPr>
        <p:spPr>
          <a:xfrm>
            <a:off x="5391617" y="4410882"/>
            <a:ext cx="1584176" cy="568078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/>
              <a:t>Publisher</a:t>
            </a:r>
            <a:endParaRPr lang="en-US"/>
          </a:p>
        </p:txBody>
      </p:sp>
      <p:sp>
        <p:nvSpPr>
          <p:cNvPr id="22" name="Rounded Rectangle 44"/>
          <p:cNvSpPr/>
          <p:nvPr/>
        </p:nvSpPr>
        <p:spPr>
          <a:xfrm>
            <a:off x="9581190" y="3898840"/>
            <a:ext cx="1584176" cy="568078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/>
              <a:t>Subscriber</a:t>
            </a:r>
            <a:endParaRPr lang="en-US"/>
          </a:p>
        </p:txBody>
      </p:sp>
      <p:sp>
        <p:nvSpPr>
          <p:cNvPr id="23" name="Rectangle 46"/>
          <p:cNvSpPr/>
          <p:nvPr/>
        </p:nvSpPr>
        <p:spPr>
          <a:xfrm>
            <a:off x="8025043" y="4510255"/>
            <a:ext cx="670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333333"/>
                </a:solidFill>
              </a:rPr>
              <a:t>Topic</a:t>
            </a:r>
            <a:endParaRPr lang="en-US" dirty="0"/>
          </a:p>
        </p:txBody>
      </p:sp>
      <p:sp>
        <p:nvSpPr>
          <p:cNvPr id="24" name="TextBox 94"/>
          <p:cNvSpPr txBox="1"/>
          <p:nvPr/>
        </p:nvSpPr>
        <p:spPr>
          <a:xfrm>
            <a:off x="5514297" y="500334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距离传感器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TextBox 95"/>
          <p:cNvSpPr txBox="1"/>
          <p:nvPr/>
        </p:nvSpPr>
        <p:spPr>
          <a:xfrm>
            <a:off x="9851342" y="4462726"/>
            <a:ext cx="1043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机器人</a:t>
            </a:r>
            <a:r>
              <a:rPr lang="en-US" altLang="ko-KR" dirty="0"/>
              <a:t>A</a:t>
            </a:r>
            <a:endParaRPr lang="en-US" dirty="0"/>
          </a:p>
        </p:txBody>
      </p:sp>
      <p:sp>
        <p:nvSpPr>
          <p:cNvPr id="26" name="Rectangle 50"/>
          <p:cNvSpPr/>
          <p:nvPr/>
        </p:nvSpPr>
        <p:spPr>
          <a:xfrm>
            <a:off x="7582028" y="5185692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>
                <a:solidFill>
                  <a:srgbClr val="333333"/>
                </a:solidFill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障碍物</a:t>
            </a:r>
            <a:r>
              <a:rPr lang="en-US" altLang="ko-KR" dirty="0">
                <a:solidFill>
                  <a:srgbClr val="333333"/>
                </a:solidFill>
              </a:rPr>
              <a:t>x, y)</a:t>
            </a:r>
            <a:endParaRPr lang="en-US" dirty="0"/>
          </a:p>
        </p:txBody>
      </p:sp>
      <p:sp>
        <p:nvSpPr>
          <p:cNvPr id="27" name="Rounded Rectangle 51"/>
          <p:cNvSpPr/>
          <p:nvPr/>
        </p:nvSpPr>
        <p:spPr>
          <a:xfrm>
            <a:off x="9581190" y="4908258"/>
            <a:ext cx="1584176" cy="568078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/>
              <a:t>Subscriber</a:t>
            </a:r>
            <a:endParaRPr lang="en-US"/>
          </a:p>
        </p:txBody>
      </p:sp>
      <p:sp>
        <p:nvSpPr>
          <p:cNvPr id="28" name="TextBox 98"/>
          <p:cNvSpPr txBox="1"/>
          <p:nvPr/>
        </p:nvSpPr>
        <p:spPr>
          <a:xfrm>
            <a:off x="9857752" y="5491194"/>
            <a:ext cx="1031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机器人</a:t>
            </a:r>
            <a:r>
              <a:rPr lang="en-US" altLang="ko-KR" dirty="0"/>
              <a:t>B</a:t>
            </a:r>
            <a:endParaRPr lang="en-US" dirty="0"/>
          </a:p>
        </p:txBody>
      </p:sp>
      <p:cxnSp>
        <p:nvCxnSpPr>
          <p:cNvPr id="29" name="Straight Arrow Connector 56"/>
          <p:cNvCxnSpPr/>
          <p:nvPr/>
        </p:nvCxnSpPr>
        <p:spPr>
          <a:xfrm rot="720000">
            <a:off x="7166641" y="4952756"/>
            <a:ext cx="2304256" cy="0"/>
          </a:xfrm>
          <a:prstGeom prst="straightConnector1">
            <a:avLst/>
          </a:prstGeom>
          <a:ln w="666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57"/>
          <p:cNvCxnSpPr/>
          <p:nvPr/>
        </p:nvCxnSpPr>
        <p:spPr>
          <a:xfrm rot="-720000">
            <a:off x="7166641" y="4451387"/>
            <a:ext cx="2304256" cy="0"/>
          </a:xfrm>
          <a:prstGeom prst="straightConnector1">
            <a:avLst/>
          </a:prstGeom>
          <a:ln w="666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102"/>
          <p:cNvSpPr txBox="1"/>
          <p:nvPr/>
        </p:nvSpPr>
        <p:spPr>
          <a:xfrm>
            <a:off x="858909" y="5468182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Publisher</a:t>
            </a:r>
            <a:endParaRPr lang="en-US" dirty="0"/>
          </a:p>
        </p:txBody>
      </p:sp>
      <p:sp>
        <p:nvSpPr>
          <p:cNvPr id="32" name="TextBox 103"/>
          <p:cNvSpPr txBox="1"/>
          <p:nvPr/>
        </p:nvSpPr>
        <p:spPr>
          <a:xfrm>
            <a:off x="2852003" y="5474744"/>
            <a:ext cx="1170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Subscriber</a:t>
            </a:r>
            <a:endParaRPr lang="en-US" dirty="0"/>
          </a:p>
        </p:txBody>
      </p:sp>
      <p:sp>
        <p:nvSpPr>
          <p:cNvPr id="33" name="TextBox 104"/>
          <p:cNvSpPr txBox="1"/>
          <p:nvPr/>
        </p:nvSpPr>
        <p:spPr>
          <a:xfrm>
            <a:off x="2000634" y="4528956"/>
            <a:ext cx="854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*</a:t>
            </a:r>
            <a:r>
              <a:rPr lang="en-US" dirty="0"/>
              <a:t>Topic</a:t>
            </a:r>
          </a:p>
        </p:txBody>
      </p:sp>
      <p:sp>
        <p:nvSpPr>
          <p:cNvPr id="34" name="Text Placeholder 2"/>
          <p:cNvSpPr txBox="1"/>
          <p:nvPr/>
        </p:nvSpPr>
        <p:spPr>
          <a:xfrm>
            <a:off x="3583038" y="296018"/>
            <a:ext cx="5025925" cy="51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主题、发布者、订阅者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b="1">
              <a:latin typeface="+mn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b="1">
              <a:latin typeface="+mn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b="1" dirty="0">
              <a:latin typeface="+mn-ea"/>
            </a:endParaRPr>
          </a:p>
        </p:txBody>
      </p:sp>
      <p:sp>
        <p:nvSpPr>
          <p:cNvPr id="35" name="CustomShape 2"/>
          <p:cNvSpPr/>
          <p:nvPr/>
        </p:nvSpPr>
        <p:spPr>
          <a:xfrm>
            <a:off x="4309695" y="5780281"/>
            <a:ext cx="2103120" cy="671760"/>
          </a:xfrm>
          <a:prstGeom prst="rect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Vector3 linear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Vector3 angular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6" name="TextShape 3"/>
          <p:cNvSpPr txBox="1"/>
          <p:nvPr/>
        </p:nvSpPr>
        <p:spPr>
          <a:xfrm>
            <a:off x="4309695" y="5446201"/>
            <a:ext cx="1554480" cy="383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example.msg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en-US" altLang="en-US" dirty="0"/>
              <a:t>ROS</a:t>
            </a:r>
            <a:r>
              <a:rPr lang="zh-CN" altLang="en-US" dirty="0"/>
              <a:t>通信方式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4" name="Text Placeholder 2"/>
          <p:cNvSpPr txBox="1"/>
          <p:nvPr/>
        </p:nvSpPr>
        <p:spPr>
          <a:xfrm>
            <a:off x="2621738" y="326778"/>
            <a:ext cx="6948524" cy="360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服务，服务服务器，服务客户端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b="1">
              <a:latin typeface="+mj-ea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b="1">
              <a:latin typeface="+mj-ea"/>
              <a:ea typeface="+mj-ea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en-US" b="1" dirty="0">
              <a:latin typeface="+mj-ea"/>
              <a:ea typeface="+mj-ea"/>
            </a:endParaRPr>
          </a:p>
        </p:txBody>
      </p:sp>
      <p:sp>
        <p:nvSpPr>
          <p:cNvPr id="5" name="TextBox 19"/>
          <p:cNvSpPr txBox="1"/>
          <p:nvPr/>
        </p:nvSpPr>
        <p:spPr>
          <a:xfrm>
            <a:off x="0" y="6581000"/>
            <a:ext cx="6550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http://www.dreamstime.com/illustration/people-talk-listen-tin-can-phone-communication.html</a:t>
            </a:r>
          </a:p>
        </p:txBody>
      </p:sp>
      <p:pic>
        <p:nvPicPr>
          <p:cNvPr id="6" name="Picture 2" descr="http://thumbs.dreamstime.com/t/communication-380313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63" y="4414734"/>
            <a:ext cx="3202251" cy="1918953"/>
          </a:xfrm>
          <a:prstGeom prst="rect">
            <a:avLst/>
          </a:prstGeom>
          <a:noFill/>
        </p:spPr>
      </p:pic>
      <p:pic>
        <p:nvPicPr>
          <p:cNvPr id="7" name="Picture 2" descr="http://thumbs.dreamstime.com/t/communication-380313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69463" y="1869191"/>
            <a:ext cx="3202251" cy="1918953"/>
          </a:xfrm>
          <a:prstGeom prst="rect">
            <a:avLst/>
          </a:prstGeom>
          <a:noFill/>
        </p:spPr>
      </p:pic>
      <p:sp>
        <p:nvSpPr>
          <p:cNvPr id="8" name="TextBox 26"/>
          <p:cNvSpPr txBox="1"/>
          <p:nvPr/>
        </p:nvSpPr>
        <p:spPr>
          <a:xfrm>
            <a:off x="5025700" y="33921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服务端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27"/>
          <p:cNvSpPr txBox="1"/>
          <p:nvPr/>
        </p:nvSpPr>
        <p:spPr>
          <a:xfrm>
            <a:off x="6767175" y="33921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28"/>
          <p:cNvSpPr txBox="1"/>
          <p:nvPr/>
        </p:nvSpPr>
        <p:spPr>
          <a:xfrm>
            <a:off x="5849335" y="19519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服务请求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Picture 2" descr="https://encrypted-tbn2.gstatic.com/images?q=tbn:ANd9GcQEZ0v47GV3FQWrOXNRx2asVQFe7jjyLyM8hfNck96tycKlaqCijQ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t="19969" r="11646" b="19552"/>
          <a:stretch>
            <a:fillRect/>
          </a:stretch>
        </p:blipFill>
        <p:spPr bwMode="auto">
          <a:xfrm rot="21079307">
            <a:off x="1265535" y="2451822"/>
            <a:ext cx="3700345" cy="3468467"/>
          </a:xfrm>
          <a:prstGeom prst="rect">
            <a:avLst/>
          </a:prstGeom>
          <a:noFill/>
        </p:spPr>
      </p:pic>
      <p:pic>
        <p:nvPicPr>
          <p:cNvPr id="12" name="Picture 2" descr="https://encrypted-tbn2.gstatic.com/images?q=tbn:ANd9GcQEZ0v47GV3FQWrOXNRx2asVQFe7jjyLyM8hfNck96tycKlaqCijQ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t="19969" r="11646" b="19552"/>
          <a:stretch>
            <a:fillRect/>
          </a:stretch>
        </p:blipFill>
        <p:spPr bwMode="auto">
          <a:xfrm flipH="1">
            <a:off x="7886367" y="1176404"/>
            <a:ext cx="3678933" cy="2621008"/>
          </a:xfrm>
          <a:prstGeom prst="rect">
            <a:avLst/>
          </a:prstGeom>
          <a:noFill/>
        </p:spPr>
      </p:pic>
      <p:sp>
        <p:nvSpPr>
          <p:cNvPr id="13" name="Rectangle 23"/>
          <p:cNvSpPr/>
          <p:nvPr/>
        </p:nvSpPr>
        <p:spPr>
          <a:xfrm>
            <a:off x="8629117" y="1996180"/>
            <a:ext cx="232788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Wawati SC" charset="-122"/>
                <a:ea typeface="Wawati SC" charset="-122"/>
                <a:cs typeface="Wawati SC" charset="-122"/>
              </a:rPr>
              <a:t>Hey ~ </a:t>
            </a:r>
            <a:r>
              <a:rPr lang="zh-CN" altLang="en-US" sz="2800" dirty="0">
                <a:latin typeface="Wawati SC" charset="-122"/>
                <a:ea typeface="Wawati SC" charset="-122"/>
                <a:cs typeface="Wawati SC" charset="-122"/>
              </a:rPr>
              <a:t>服务器</a:t>
            </a:r>
            <a:r>
              <a:rPr lang="en-US" altLang="ko-KR" sz="2800" dirty="0">
                <a:latin typeface="Wawati SC" charset="-122"/>
                <a:ea typeface="Wawati SC" charset="-122"/>
                <a:cs typeface="Wawati SC" charset="-122"/>
              </a:rPr>
              <a:t>!</a:t>
            </a:r>
          </a:p>
          <a:p>
            <a:r>
              <a:rPr lang="zh-CN" altLang="en-US" sz="2800" dirty="0">
                <a:latin typeface="Wawati SC" charset="-122"/>
                <a:ea typeface="Wawati SC" charset="-122"/>
                <a:cs typeface="Wawati SC" charset="-122"/>
              </a:rPr>
              <a:t>现在是几点</a:t>
            </a:r>
            <a:r>
              <a:rPr lang="en-US" altLang="ko-KR" sz="2800" dirty="0">
                <a:latin typeface="Wawati SC" charset="-122"/>
                <a:ea typeface="Wawati SC" charset="-122"/>
                <a:cs typeface="Wawati SC" charset="-122"/>
              </a:rPr>
              <a:t>?</a:t>
            </a:r>
          </a:p>
        </p:txBody>
      </p:sp>
      <p:sp>
        <p:nvSpPr>
          <p:cNvPr id="14" name="Rectangle 11"/>
          <p:cNvSpPr/>
          <p:nvPr/>
        </p:nvSpPr>
        <p:spPr>
          <a:xfrm>
            <a:off x="1756730" y="3147724"/>
            <a:ext cx="258869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Wawati SC" charset="-122"/>
                <a:ea typeface="Wawati SC" charset="-122"/>
                <a:cs typeface="Wawati SC" charset="-122"/>
              </a:rPr>
              <a:t>你问我现在几点？</a:t>
            </a:r>
            <a:endParaRPr lang="en-US" altLang="zh-CN" sz="2800" dirty="0">
              <a:latin typeface="Wawati SC" charset="-122"/>
              <a:ea typeface="Wawati SC" charset="-122"/>
              <a:cs typeface="Wawati SC" charset="-122"/>
            </a:endParaRPr>
          </a:p>
          <a:p>
            <a:r>
              <a:rPr lang="zh-CN" altLang="en-US" sz="2800" dirty="0">
                <a:latin typeface="Wawati SC" charset="-122"/>
                <a:ea typeface="Wawati SC" charset="-122"/>
                <a:cs typeface="Wawati SC" charset="-122"/>
              </a:rPr>
              <a:t>我看一看哈～</a:t>
            </a:r>
            <a:endParaRPr lang="en-US" altLang="zh-CN" sz="2800" dirty="0">
              <a:latin typeface="Wawati SC" charset="-122"/>
              <a:ea typeface="Wawati SC" charset="-122"/>
              <a:cs typeface="Wawati SC" charset="-122"/>
            </a:endParaRPr>
          </a:p>
          <a:p>
            <a:r>
              <a:rPr lang="zh-CN" altLang="en-US" sz="2800" dirty="0">
                <a:latin typeface="Wawati SC" charset="-122"/>
                <a:ea typeface="Wawati SC" charset="-122"/>
                <a:cs typeface="Wawati SC" charset="-122"/>
              </a:rPr>
              <a:t>现在是</a:t>
            </a:r>
            <a:r>
              <a:rPr lang="en-US" altLang="zh-CN" sz="2800" dirty="0">
                <a:latin typeface="Wawati SC" charset="-122"/>
                <a:ea typeface="Wawati SC" charset="-122"/>
                <a:cs typeface="Wawati SC" charset="-122"/>
              </a:rPr>
              <a:t>12:00</a:t>
            </a:r>
            <a:r>
              <a:rPr lang="zh-CN" altLang="en-US" sz="2800" dirty="0">
                <a:latin typeface="Wawati SC" charset="-122"/>
                <a:ea typeface="Wawati SC" charset="-122"/>
                <a:cs typeface="Wawati SC" charset="-122"/>
              </a:rPr>
              <a:t>！</a:t>
            </a:r>
            <a:endParaRPr lang="en-US" altLang="ko-KR" sz="2800" dirty="0">
              <a:latin typeface="Wawati SC" charset="-122"/>
              <a:ea typeface="Wawati SC" charset="-122"/>
              <a:cs typeface="Wawati SC" charset="-122"/>
            </a:endParaRPr>
          </a:p>
        </p:txBody>
      </p:sp>
      <p:sp>
        <p:nvSpPr>
          <p:cNvPr id="15" name="Left Arrow 8"/>
          <p:cNvSpPr/>
          <p:nvPr/>
        </p:nvSpPr>
        <p:spPr>
          <a:xfrm>
            <a:off x="6165563" y="2860176"/>
            <a:ext cx="480050" cy="207017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24"/>
          <p:cNvSpPr/>
          <p:nvPr/>
        </p:nvSpPr>
        <p:spPr>
          <a:xfrm rot="10800000">
            <a:off x="6155921" y="5406590"/>
            <a:ext cx="480050" cy="207017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21"/>
          <p:cNvSpPr txBox="1"/>
          <p:nvPr/>
        </p:nvSpPr>
        <p:spPr>
          <a:xfrm>
            <a:off x="6767175" y="59889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Box 23"/>
          <p:cNvSpPr txBox="1"/>
          <p:nvPr/>
        </p:nvSpPr>
        <p:spPr>
          <a:xfrm>
            <a:off x="5849335" y="449676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服务响应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CustomShape 2"/>
          <p:cNvSpPr/>
          <p:nvPr/>
        </p:nvSpPr>
        <p:spPr>
          <a:xfrm>
            <a:off x="8058529" y="5239550"/>
            <a:ext cx="3657600" cy="1094137"/>
          </a:xfrm>
          <a:prstGeom prst="rect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sensor_msgs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/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CamerInfo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camera_info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---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bool success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String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status_message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0" name="TextShape 3"/>
          <p:cNvSpPr txBox="1"/>
          <p:nvPr/>
        </p:nvSpPr>
        <p:spPr>
          <a:xfrm>
            <a:off x="8058529" y="4856151"/>
            <a:ext cx="1554480" cy="383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example.srv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1" name="TextBox 26"/>
          <p:cNvSpPr txBox="1"/>
          <p:nvPr/>
        </p:nvSpPr>
        <p:spPr>
          <a:xfrm>
            <a:off x="4972172" y="598441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服务端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en-US" dirty="0"/>
              <a:t>ROS</a:t>
            </a:r>
            <a:r>
              <a:rPr lang="zh-CN" altLang="en-US" dirty="0"/>
              <a:t>通信方式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4" name="Picture 2" descr="http://thumbs.dreamstime.com/t/communication-380313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082" y="5189185"/>
            <a:ext cx="2753225" cy="1625901"/>
          </a:xfrm>
          <a:prstGeom prst="rect">
            <a:avLst/>
          </a:prstGeom>
          <a:noFill/>
        </p:spPr>
      </p:pic>
      <p:sp>
        <p:nvSpPr>
          <p:cNvPr id="5" name="TextBox 7"/>
          <p:cNvSpPr txBox="1"/>
          <p:nvPr/>
        </p:nvSpPr>
        <p:spPr>
          <a:xfrm>
            <a:off x="4517616" y="525483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传送动作结果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Picture 2" descr="http://thumbs.dreamstime.com/t/communication-380313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27082" y="1706218"/>
            <a:ext cx="2753225" cy="1625901"/>
          </a:xfrm>
          <a:prstGeom prst="rect">
            <a:avLst/>
          </a:prstGeom>
          <a:noFill/>
        </p:spPr>
      </p:pic>
      <p:sp>
        <p:nvSpPr>
          <p:cNvPr id="7" name="TextBox 11"/>
          <p:cNvSpPr txBox="1"/>
          <p:nvPr/>
        </p:nvSpPr>
        <p:spPr>
          <a:xfrm>
            <a:off x="4523959" y="177633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传递动作目标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Picture 2" descr="https://encrypted-tbn2.gstatic.com/images?q=tbn:ANd9GcQEZ0v47GV3FQWrOXNRx2asVQFe7jjyLyM8hfNck96tycKlaqCijQ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t="19969" r="11646" b="19552"/>
          <a:stretch>
            <a:fillRect/>
          </a:stretch>
        </p:blipFill>
        <p:spPr bwMode="auto">
          <a:xfrm>
            <a:off x="1147722" y="4849153"/>
            <a:ext cx="3311261" cy="1161467"/>
          </a:xfrm>
          <a:prstGeom prst="rect">
            <a:avLst/>
          </a:prstGeom>
          <a:noFill/>
        </p:spPr>
      </p:pic>
      <p:pic>
        <p:nvPicPr>
          <p:cNvPr id="9" name="Picture 2" descr="https://encrypted-tbn2.gstatic.com/images?q=tbn:ANd9GcQEZ0v47GV3FQWrOXNRx2asVQFe7jjyLyM8hfNck96tycKlaqCijQ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t="19969" r="11646" b="19552"/>
          <a:stretch>
            <a:fillRect/>
          </a:stretch>
        </p:blipFill>
        <p:spPr bwMode="auto">
          <a:xfrm flipH="1">
            <a:off x="6029501" y="786775"/>
            <a:ext cx="2608522" cy="2011789"/>
          </a:xfrm>
          <a:prstGeom prst="rect">
            <a:avLst/>
          </a:prstGeom>
          <a:noFill/>
        </p:spPr>
      </p:pic>
      <p:sp>
        <p:nvSpPr>
          <p:cNvPr id="10" name="Rectangle 23"/>
          <p:cNvSpPr/>
          <p:nvPr/>
        </p:nvSpPr>
        <p:spPr>
          <a:xfrm>
            <a:off x="6403963" y="1341064"/>
            <a:ext cx="22717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latin typeface="Wawati SC" charset="-122"/>
                <a:ea typeface="Wawati SC" charset="-122"/>
                <a:cs typeface="Wawati SC" charset="-122"/>
              </a:rPr>
              <a:t>Hey ~ </a:t>
            </a:r>
            <a:r>
              <a:rPr lang="zh-CN" altLang="en-US" sz="2000" dirty="0">
                <a:latin typeface="Wawati SC" charset="-122"/>
                <a:ea typeface="Wawati SC" charset="-122"/>
                <a:cs typeface="Wawati SC" charset="-122"/>
              </a:rPr>
              <a:t>服务器，</a:t>
            </a:r>
            <a:endParaRPr lang="en-US" altLang="zh-CN" sz="2000" dirty="0">
              <a:latin typeface="Wawati SC" charset="-122"/>
              <a:ea typeface="Wawati SC" charset="-122"/>
              <a:cs typeface="Wawati SC" charset="-122"/>
            </a:endParaRPr>
          </a:p>
          <a:p>
            <a:r>
              <a:rPr lang="zh-CN" altLang="en-US" sz="2000" dirty="0">
                <a:latin typeface="Wawati SC" charset="-122"/>
                <a:ea typeface="Wawati SC" charset="-122"/>
                <a:cs typeface="Wawati SC" charset="-122"/>
              </a:rPr>
              <a:t>干点儿家务活吧。</a:t>
            </a:r>
            <a:r>
              <a:rPr lang="en-US" altLang="ko-KR" sz="2000" dirty="0">
                <a:latin typeface="Nanum Pen Script" panose="03040600000000000000" pitchFamily="66" charset="-127"/>
                <a:ea typeface="Nanum Pen Script" panose="03040600000000000000" pitchFamily="66" charset="-127"/>
              </a:rPr>
              <a:t>.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592954" y="5128359"/>
            <a:ext cx="29778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Wawati SC" charset="-122"/>
                <a:ea typeface="Wawati SC" charset="-122"/>
                <a:cs typeface="Wawati SC" charset="-122"/>
              </a:rPr>
              <a:t>我都做完啦！</a:t>
            </a:r>
            <a:endParaRPr lang="en-US" altLang="ko-KR" sz="2800" dirty="0">
              <a:latin typeface="Wawati SC" charset="-122"/>
              <a:ea typeface="Wawati SC" charset="-122"/>
              <a:cs typeface="Wawati SC" charset="-122"/>
            </a:endParaRPr>
          </a:p>
        </p:txBody>
      </p:sp>
      <p:sp>
        <p:nvSpPr>
          <p:cNvPr id="12" name="Left Arrow 8"/>
          <p:cNvSpPr/>
          <p:nvPr/>
        </p:nvSpPr>
        <p:spPr>
          <a:xfrm>
            <a:off x="5027418" y="2545866"/>
            <a:ext cx="412736" cy="175403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Left Arrow 24"/>
          <p:cNvSpPr/>
          <p:nvPr/>
        </p:nvSpPr>
        <p:spPr>
          <a:xfrm rot="10800000">
            <a:off x="5019128" y="6029571"/>
            <a:ext cx="412736" cy="175403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4" name="Picture 2" descr="http://thumbs.dreamstime.com/t/communication-3803135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141" y="3326292"/>
            <a:ext cx="2753225" cy="1625901"/>
          </a:xfrm>
          <a:prstGeom prst="rect">
            <a:avLst/>
          </a:prstGeom>
          <a:noFill/>
        </p:spPr>
      </p:pic>
      <p:sp>
        <p:nvSpPr>
          <p:cNvPr id="15" name="TextBox 21"/>
          <p:cNvSpPr txBox="1"/>
          <p:nvPr/>
        </p:nvSpPr>
        <p:spPr>
          <a:xfrm>
            <a:off x="4512676" y="339194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传送动作反馈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altLang="ko-KR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中间结果</a:t>
            </a:r>
            <a:r>
              <a:rPr lang="en-US" altLang="ko-KR"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Left Arrow 24"/>
          <p:cNvSpPr/>
          <p:nvPr/>
        </p:nvSpPr>
        <p:spPr>
          <a:xfrm rot="10800000">
            <a:off x="5014187" y="4166678"/>
            <a:ext cx="412736" cy="175403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7" name="Picture 2" descr="https://encrypted-tbn2.gstatic.com/images?q=tbn:ANd9GcQEZ0v47GV3FQWrOXNRx2asVQFe7jjyLyM8hfNck96tycKlaqCijQ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t="19969" r="11646" b="19552"/>
          <a:stretch>
            <a:fillRect/>
          </a:stretch>
        </p:blipFill>
        <p:spPr bwMode="auto">
          <a:xfrm rot="21079307">
            <a:off x="2537124" y="2722606"/>
            <a:ext cx="1469556" cy="1133376"/>
          </a:xfrm>
          <a:prstGeom prst="rect">
            <a:avLst/>
          </a:prstGeom>
          <a:noFill/>
        </p:spPr>
      </p:pic>
      <p:sp>
        <p:nvSpPr>
          <p:cNvPr id="18" name="Rectangle 11"/>
          <p:cNvSpPr/>
          <p:nvPr/>
        </p:nvSpPr>
        <p:spPr>
          <a:xfrm>
            <a:off x="2742061" y="2899625"/>
            <a:ext cx="11657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Wawati SC" charset="-122"/>
                <a:ea typeface="Wawati SC" charset="-122"/>
                <a:cs typeface="Wawati SC" charset="-122"/>
              </a:rPr>
              <a:t>我洗完衣服了。</a:t>
            </a:r>
            <a:endParaRPr lang="en-US" altLang="ko-KR" sz="2000" dirty="0">
              <a:latin typeface="Wawati SC" charset="-122"/>
              <a:ea typeface="Wawati SC" charset="-122"/>
              <a:cs typeface="Wawati SC" charset="-122"/>
            </a:endParaRPr>
          </a:p>
        </p:txBody>
      </p:sp>
      <p:pic>
        <p:nvPicPr>
          <p:cNvPr id="19" name="Picture 2" descr="https://encrypted-tbn2.gstatic.com/images?q=tbn:ANd9GcQEZ0v47GV3FQWrOXNRx2asVQFe7jjyLyM8hfNck96tycKlaqCijQ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t="19969" r="11646" b="19552"/>
          <a:stretch>
            <a:fillRect/>
          </a:stretch>
        </p:blipFill>
        <p:spPr bwMode="auto">
          <a:xfrm>
            <a:off x="382555" y="2424627"/>
            <a:ext cx="2420798" cy="1074184"/>
          </a:xfrm>
          <a:prstGeom prst="rect">
            <a:avLst/>
          </a:prstGeom>
          <a:noFill/>
        </p:spPr>
      </p:pic>
      <p:sp>
        <p:nvSpPr>
          <p:cNvPr id="20" name="Rectangle 11"/>
          <p:cNvSpPr/>
          <p:nvPr/>
        </p:nvSpPr>
        <p:spPr>
          <a:xfrm>
            <a:off x="830291" y="2762029"/>
            <a:ext cx="22257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Wawati SC" charset="-122"/>
                <a:ea typeface="Wawati SC" charset="-122"/>
                <a:cs typeface="Wawati SC" charset="-122"/>
              </a:rPr>
              <a:t>我刷完碗了。</a:t>
            </a:r>
            <a:r>
              <a:rPr lang="en-US" altLang="ko-KR" dirty="0">
                <a:latin typeface="Nanum Pen Script" panose="03040600000000000000" pitchFamily="66" charset="-127"/>
                <a:ea typeface="Nanum Pen Script" panose="03040600000000000000" pitchFamily="66" charset="-127"/>
              </a:rPr>
              <a:t>.</a:t>
            </a:r>
          </a:p>
        </p:txBody>
      </p:sp>
      <p:pic>
        <p:nvPicPr>
          <p:cNvPr id="21" name="Picture 2" descr="https://encrypted-tbn2.gstatic.com/images?q=tbn:ANd9GcQEZ0v47GV3FQWrOXNRx2asVQFe7jjyLyM8hfNck96tycKlaqCijQ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4" t="19969" r="11646" b="19552"/>
          <a:stretch>
            <a:fillRect/>
          </a:stretch>
        </p:blipFill>
        <p:spPr bwMode="auto">
          <a:xfrm rot="21079307">
            <a:off x="1370730" y="3435021"/>
            <a:ext cx="1602732" cy="1236086"/>
          </a:xfrm>
          <a:prstGeom prst="rect">
            <a:avLst/>
          </a:prstGeom>
          <a:noFill/>
        </p:spPr>
      </p:pic>
      <p:sp>
        <p:nvSpPr>
          <p:cNvPr id="22" name="Rectangle 11"/>
          <p:cNvSpPr/>
          <p:nvPr/>
        </p:nvSpPr>
        <p:spPr>
          <a:xfrm>
            <a:off x="1712494" y="3668078"/>
            <a:ext cx="10978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Wawati SC" charset="-122"/>
                <a:ea typeface="Wawati SC" charset="-122"/>
                <a:cs typeface="Wawati SC" charset="-122"/>
              </a:rPr>
              <a:t>我打扫完了。</a:t>
            </a:r>
            <a:endParaRPr lang="en-US" altLang="ko-KR" sz="2000" dirty="0">
              <a:latin typeface="Wawati SC" charset="-122"/>
              <a:ea typeface="Wawati SC" charset="-122"/>
              <a:cs typeface="Wawati SC" charset="-122"/>
            </a:endParaRPr>
          </a:p>
        </p:txBody>
      </p:sp>
      <p:sp>
        <p:nvSpPr>
          <p:cNvPr id="23" name="Text Placeholder 2"/>
          <p:cNvSpPr txBox="1"/>
          <p:nvPr/>
        </p:nvSpPr>
        <p:spPr>
          <a:xfrm>
            <a:off x="2744391" y="324649"/>
            <a:ext cx="6703218" cy="360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动作，动作服务器，动作客户端</a:t>
            </a:r>
            <a:endParaRPr lang="en-US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TextBox 31"/>
          <p:cNvSpPr txBox="1"/>
          <p:nvPr/>
        </p:nvSpPr>
        <p:spPr>
          <a:xfrm>
            <a:off x="3959960" y="302104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25" name="TextBox 32"/>
          <p:cNvSpPr txBox="1"/>
          <p:nvPr/>
        </p:nvSpPr>
        <p:spPr>
          <a:xfrm>
            <a:off x="5701435" y="302104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26" name="TextBox 33"/>
          <p:cNvSpPr txBox="1"/>
          <p:nvPr/>
        </p:nvSpPr>
        <p:spPr>
          <a:xfrm>
            <a:off x="3930774" y="453656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27" name="TextBox 34"/>
          <p:cNvSpPr txBox="1"/>
          <p:nvPr/>
        </p:nvSpPr>
        <p:spPr>
          <a:xfrm>
            <a:off x="5672249" y="453656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28" name="TextBox 35"/>
          <p:cNvSpPr txBox="1"/>
          <p:nvPr/>
        </p:nvSpPr>
        <p:spPr>
          <a:xfrm>
            <a:off x="3913565" y="642905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29" name="TextBox 36"/>
          <p:cNvSpPr txBox="1"/>
          <p:nvPr/>
        </p:nvSpPr>
        <p:spPr>
          <a:xfrm>
            <a:off x="5655040" y="6429058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</a:p>
        </p:txBody>
      </p:sp>
      <p:sp>
        <p:nvSpPr>
          <p:cNvPr id="30" name="CustomShape 2"/>
          <p:cNvSpPr/>
          <p:nvPr/>
        </p:nvSpPr>
        <p:spPr>
          <a:xfrm>
            <a:off x="7152762" y="4654070"/>
            <a:ext cx="4023360" cy="1630521"/>
          </a:xfrm>
          <a:prstGeom prst="rect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geometry_msgs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/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PoseStamped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start_pose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geometry_msgs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/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PoseStamped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goal_pose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---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geometry_msgs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/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PoseStamped</a:t>
            </a:r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result_pose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---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  <a:p>
            <a:r>
              <a:rPr lang="en-US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float32 </a:t>
            </a:r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percent_complete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1" name="TextShape 3"/>
          <p:cNvSpPr txBox="1"/>
          <p:nvPr/>
        </p:nvSpPr>
        <p:spPr>
          <a:xfrm>
            <a:off x="7152762" y="4337991"/>
            <a:ext cx="1554480" cy="383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16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j-lt"/>
                <a:cs typeface="Times New Roman" panose="02020603050405020304" pitchFamily="18" charset="0"/>
              </a:rPr>
              <a:t>example.action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/>
          <a:lstStyle/>
          <a:p>
            <a:r>
              <a:rPr lang="en-US" altLang="ko-KR" dirty="0"/>
              <a:t>ROS1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最基本的特征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zh-CN" altLang="en-US" b="1" u="sng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节点间的消息通信</a:t>
            </a:r>
            <a:r>
              <a:rPr lang="en-US" altLang="ko-KR" b="1" u="sng" dirty="0">
                <a:solidFill>
                  <a:srgbClr val="FF0000"/>
                </a:solidFill>
              </a:rPr>
              <a:t>!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5" name="그룹 2"/>
          <p:cNvGrpSpPr/>
          <p:nvPr/>
        </p:nvGrpSpPr>
        <p:grpSpPr>
          <a:xfrm>
            <a:off x="2882643" y="2157994"/>
            <a:ext cx="6426714" cy="3667956"/>
            <a:chOff x="2882643" y="1885280"/>
            <a:chExt cx="6426714" cy="3667956"/>
          </a:xfrm>
        </p:grpSpPr>
        <p:sp>
          <p:nvSpPr>
            <p:cNvPr id="6" name="Rectangle 12"/>
            <p:cNvSpPr/>
            <p:nvPr/>
          </p:nvSpPr>
          <p:spPr>
            <a:xfrm>
              <a:off x="2882643" y="1885280"/>
              <a:ext cx="6426714" cy="36679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" name="Oval 9"/>
            <p:cNvSpPr/>
            <p:nvPr/>
          </p:nvSpPr>
          <p:spPr>
            <a:xfrm>
              <a:off x="5563348" y="1988841"/>
              <a:ext cx="1064462" cy="106446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zh-CN" altLang="en-US" sz="2100" dirty="0">
                  <a:latin typeface="+mj-ea"/>
                  <a:ea typeface="+mj-ea"/>
                </a:rPr>
                <a:t>主节点</a:t>
              </a:r>
              <a:endParaRPr lang="en-US" sz="2100" dirty="0">
                <a:latin typeface="+mj-ea"/>
                <a:ea typeface="+mj-ea"/>
              </a:endParaRPr>
            </a:p>
          </p:txBody>
        </p:sp>
        <p:sp>
          <p:nvSpPr>
            <p:cNvPr id="8" name="Oval 10"/>
            <p:cNvSpPr/>
            <p:nvPr/>
          </p:nvSpPr>
          <p:spPr>
            <a:xfrm>
              <a:off x="3659655" y="3609021"/>
              <a:ext cx="1064462" cy="106446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100" dirty="0">
                  <a:latin typeface="+mj-ea"/>
                  <a:ea typeface="+mj-ea"/>
                </a:rPr>
                <a:t>节点</a:t>
              </a:r>
              <a:r>
                <a:rPr lang="en-US" altLang="ko-KR" sz="2100" dirty="0">
                  <a:latin typeface="+mj-ea"/>
                  <a:ea typeface="+mj-ea"/>
                </a:rPr>
                <a:t>1</a:t>
              </a:r>
              <a:endParaRPr lang="en-US" sz="2100" dirty="0">
                <a:latin typeface="+mj-ea"/>
                <a:ea typeface="+mj-ea"/>
              </a:endParaRPr>
            </a:p>
          </p:txBody>
        </p:sp>
        <p:sp>
          <p:nvSpPr>
            <p:cNvPr id="9" name="Oval 11"/>
            <p:cNvSpPr/>
            <p:nvPr/>
          </p:nvSpPr>
          <p:spPr>
            <a:xfrm>
              <a:off x="7467040" y="3609021"/>
              <a:ext cx="1064462" cy="106446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zh-CN" altLang="en-US" sz="2100" dirty="0">
                  <a:latin typeface="+mj-ea"/>
                  <a:ea typeface="+mj-ea"/>
                </a:rPr>
                <a:t>节点</a:t>
              </a:r>
              <a:r>
                <a:rPr lang="en-US" altLang="ko-KR" sz="2100" dirty="0">
                  <a:latin typeface="+mj-ea"/>
                  <a:ea typeface="+mj-ea"/>
                </a:rPr>
                <a:t>2</a:t>
              </a:r>
              <a:endParaRPr lang="en-US" sz="2100" dirty="0">
                <a:latin typeface="+mj-ea"/>
                <a:ea typeface="+mj-ea"/>
              </a:endParaRPr>
            </a:p>
          </p:txBody>
        </p:sp>
        <p:cxnSp>
          <p:nvCxnSpPr>
            <p:cNvPr id="10" name="Curved Connector 14"/>
            <p:cNvCxnSpPr>
              <a:stCxn id="8" idx="0"/>
            </p:cNvCxnSpPr>
            <p:nvPr/>
          </p:nvCxnSpPr>
          <p:spPr>
            <a:xfrm rot="5400000" flipH="1" flipV="1">
              <a:off x="4333643" y="2379318"/>
              <a:ext cx="1087948" cy="1371461"/>
            </a:xfrm>
            <a:prstGeom prst="curvedConnector2">
              <a:avLst/>
            </a:prstGeom>
            <a:ln w="31750"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urved Connector 16"/>
            <p:cNvCxnSpPr>
              <a:stCxn id="7" idx="2"/>
              <a:endCxn id="8" idx="7"/>
            </p:cNvCxnSpPr>
            <p:nvPr/>
          </p:nvCxnSpPr>
          <p:spPr>
            <a:xfrm rot="10800000" flipV="1">
              <a:off x="4568232" y="2521072"/>
              <a:ext cx="995117" cy="1243835"/>
            </a:xfrm>
            <a:prstGeom prst="curvedConnector2">
              <a:avLst/>
            </a:prstGeom>
            <a:ln w="31750"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8"/>
            <p:cNvCxnSpPr>
              <a:stCxn id="7" idx="6"/>
              <a:endCxn id="9" idx="0"/>
            </p:cNvCxnSpPr>
            <p:nvPr/>
          </p:nvCxnSpPr>
          <p:spPr>
            <a:xfrm>
              <a:off x="6627809" y="2521072"/>
              <a:ext cx="1371462" cy="1087949"/>
            </a:xfrm>
            <a:prstGeom prst="curvedConnector2">
              <a:avLst/>
            </a:prstGeom>
            <a:ln w="3175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20"/>
            <p:cNvCxnSpPr>
              <a:stCxn id="7" idx="6"/>
              <a:endCxn id="9" idx="1"/>
            </p:cNvCxnSpPr>
            <p:nvPr/>
          </p:nvCxnSpPr>
          <p:spPr>
            <a:xfrm>
              <a:off x="6627811" y="2521073"/>
              <a:ext cx="995117" cy="1243835"/>
            </a:xfrm>
            <a:prstGeom prst="curvedConnector2">
              <a:avLst/>
            </a:prstGeom>
            <a:ln w="31750"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23"/>
            <p:cNvCxnSpPr/>
            <p:nvPr/>
          </p:nvCxnSpPr>
          <p:spPr>
            <a:xfrm>
              <a:off x="4764954" y="4026781"/>
              <a:ext cx="2646574" cy="1"/>
            </a:xfrm>
            <a:prstGeom prst="curvedConnector3">
              <a:avLst/>
            </a:prstGeom>
            <a:ln w="31750"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27"/>
            <p:cNvCxnSpPr>
              <a:stCxn id="8" idx="5"/>
              <a:endCxn id="9" idx="3"/>
            </p:cNvCxnSpPr>
            <p:nvPr/>
          </p:nvCxnSpPr>
          <p:spPr>
            <a:xfrm rot="16200000" flipH="1">
              <a:off x="6095579" y="2990248"/>
              <a:ext cx="9525" cy="3054697"/>
            </a:xfrm>
            <a:prstGeom prst="curvedConnector3">
              <a:avLst>
                <a:gd name="adj1" fmla="val 4636606"/>
              </a:avLst>
            </a:prstGeom>
            <a:ln w="38100"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urved Connector 31"/>
            <p:cNvCxnSpPr/>
            <p:nvPr/>
          </p:nvCxnSpPr>
          <p:spPr>
            <a:xfrm>
              <a:off x="4764954" y="4311099"/>
              <a:ext cx="2646574" cy="1"/>
            </a:xfrm>
            <a:prstGeom prst="curvedConnector3">
              <a:avLst/>
            </a:prstGeom>
            <a:ln w="31750"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39"/>
            <p:cNvSpPr txBox="1"/>
            <p:nvPr/>
          </p:nvSpPr>
          <p:spPr>
            <a:xfrm>
              <a:off x="7667554" y="2680407"/>
              <a:ext cx="88197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节点信息</a:t>
              </a:r>
              <a:endParaRPr 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TextBox 40"/>
            <p:cNvSpPr txBox="1"/>
            <p:nvPr/>
          </p:nvSpPr>
          <p:spPr>
            <a:xfrm>
              <a:off x="3103021" y="2679186"/>
              <a:ext cx="88197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节点信息</a:t>
              </a:r>
              <a:endParaRPr lang="en-US" altLang="ko-KR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TextBox 41"/>
            <p:cNvSpPr txBox="1"/>
            <p:nvPr/>
          </p:nvSpPr>
          <p:spPr>
            <a:xfrm>
              <a:off x="5655021" y="4041068"/>
              <a:ext cx="88197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访问信息</a:t>
              </a:r>
              <a:endParaRPr 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" name="TextBox 42"/>
            <p:cNvSpPr txBox="1"/>
            <p:nvPr/>
          </p:nvSpPr>
          <p:spPr>
            <a:xfrm>
              <a:off x="4878365" y="5013178"/>
              <a:ext cx="243528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信息通信</a:t>
              </a:r>
              <a:r>
                <a:rPr lang="en-US" sz="13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话题、服务、动作</a:t>
              </a:r>
              <a:r>
                <a:rPr lang="en-US" sz="13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1.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运行主节点</a:t>
            </a:r>
            <a:r>
              <a:rPr lang="en-US" altLang="ko-KR" sz="2000" b="1" dirty="0"/>
              <a:t>: </a:t>
            </a:r>
            <a:r>
              <a:rPr lang="en-US" altLang="en-US" sz="2000" dirty="0"/>
              <a:t>XMLRPC(XML-Remote Procedure Call)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/>
              <a:t>$ </a:t>
            </a:r>
            <a:r>
              <a:rPr lang="en-US" altLang="en-US" sz="2000" dirty="0" err="1"/>
              <a:t>roscore</a:t>
            </a:r>
            <a:endParaRPr lang="en-US" altLang="en-US" sz="2000" dirty="0"/>
          </a:p>
          <a:p>
            <a:endParaRPr lang="en-US" sz="2000" i="1" dirty="0"/>
          </a:p>
        </p:txBody>
      </p:sp>
      <p:sp>
        <p:nvSpPr>
          <p:cNvPr id="3" name="Oval 6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latin typeface="+mj-ea"/>
                <a:ea typeface="+mj-ea"/>
              </a:rPr>
              <a:t>主节点</a:t>
            </a:r>
            <a:endParaRPr lang="en-US" sz="2100" dirty="0">
              <a:latin typeface="+mj-ea"/>
              <a:ea typeface="+mj-ea"/>
            </a:endParaRPr>
          </a:p>
        </p:txBody>
      </p:sp>
      <p:sp>
        <p:nvSpPr>
          <p:cNvPr id="4" name="TextBox 20"/>
          <p:cNvSpPr txBox="1"/>
          <p:nvPr/>
        </p:nvSpPr>
        <p:spPr>
          <a:xfrm>
            <a:off x="4807828" y="3093552"/>
            <a:ext cx="257634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/>
              <a:t>XMLRPC: </a:t>
            </a:r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</a:t>
            </a:r>
            <a:br>
              <a:rPr lang="en-US" altLang="ko-KR" sz="1350" dirty="0"/>
            </a:br>
            <a:r>
              <a:rPr lang="en-US" altLang="ko-KR" sz="1350" dirty="0"/>
              <a:t>http://ROS_MASTER_URI:11311</a:t>
            </a:r>
            <a:br>
              <a:rPr lang="en-US" altLang="ko-KR" sz="1350" dirty="0"/>
            </a:br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节点信息管理</a:t>
            </a:r>
            <a:endParaRPr lang="en-US"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2.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运行订阅者节点</a:t>
            </a:r>
            <a:r>
              <a:rPr lang="en-US" altLang="ko-KR" sz="2000" b="1" dirty="0"/>
              <a:t>	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/>
              <a:t>$</a:t>
            </a:r>
            <a:r>
              <a:rPr lang="en-US" altLang="en-US" sz="2000" dirty="0" err="1"/>
              <a:t>rosrun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packagename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nodename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4" name="Oval 5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</a:t>
            </a:r>
            <a:endParaRPr lang="en-US" sz="21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val 7"/>
          <p:cNvSpPr/>
          <p:nvPr/>
        </p:nvSpPr>
        <p:spPr>
          <a:xfrm>
            <a:off x="7467040" y="363361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6" name="Curved Connector 10"/>
          <p:cNvCxnSpPr>
            <a:stCxn id="4" idx="6"/>
            <a:endCxn id="5" idx="0"/>
          </p:cNvCxnSpPr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solidFill>
              <a:srgbClr val="FF0000"/>
            </a:solidFill>
            <a:headEnd type="triangle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9"/>
          <p:cNvSpPr txBox="1"/>
          <p:nvPr/>
        </p:nvSpPr>
        <p:spPr>
          <a:xfrm>
            <a:off x="4807828" y="3093552"/>
            <a:ext cx="257634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rgbClr val="FF0000"/>
                </a:solidFill>
              </a:rPr>
              <a:t>XMLRPC: </a:t>
            </a:r>
            <a:r>
              <a:rPr lang="en-US" altLang="ko-KR" sz="1350" dirty="0">
                <a:solidFill>
                  <a:srgbClr val="FF0000"/>
                </a:solidFill>
              </a:rPr>
              <a:t>server</a:t>
            </a:r>
            <a:br>
              <a:rPr lang="en-US" altLang="ko-KR" sz="1350" dirty="0"/>
            </a:br>
            <a:r>
              <a:rPr lang="en-US" altLang="ko-KR" sz="1350" dirty="0"/>
              <a:t>http://ROS_MASTER_URI:11311</a:t>
            </a:r>
            <a:br>
              <a:rPr lang="en-US" altLang="ko-KR" sz="1350" dirty="0"/>
            </a:br>
            <a:r>
              <a:rPr lang="en-US" altLang="ko-KR" sz="1350" dirty="0"/>
              <a:t>Node information management</a:t>
            </a:r>
            <a:endParaRPr lang="en-US" sz="1350" dirty="0"/>
          </a:p>
        </p:txBody>
      </p:sp>
      <p:grpSp>
        <p:nvGrpSpPr>
          <p:cNvPr id="8" name="Group 11"/>
          <p:cNvGrpSpPr/>
          <p:nvPr/>
        </p:nvGrpSpPr>
        <p:grpSpPr>
          <a:xfrm>
            <a:off x="7918855" y="2032209"/>
            <a:ext cx="2412616" cy="950551"/>
            <a:chOff x="7985964" y="1944783"/>
            <a:chExt cx="2304256" cy="1081040"/>
          </a:xfrm>
        </p:grpSpPr>
        <p:sp>
          <p:nvSpPr>
            <p:cNvPr id="9" name="TextBox 15"/>
            <p:cNvSpPr txBox="1"/>
            <p:nvPr/>
          </p:nvSpPr>
          <p:spPr>
            <a:xfrm>
              <a:off x="7985964" y="1944783"/>
              <a:ext cx="1855886" cy="1032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订阅者节点信息</a:t>
              </a:r>
              <a:r>
                <a:rPr lang="en-US" altLang="ko-KR" sz="105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:</a:t>
              </a:r>
            </a:p>
            <a:p>
              <a:r>
                <a:rPr lang="en-US" sz="1050" dirty="0">
                  <a:latin typeface="+mn-ea"/>
                </a:rPr>
                <a:t>/subscriber_node_name,</a:t>
              </a:r>
            </a:p>
            <a:p>
              <a:r>
                <a:rPr lang="en-US" sz="1050" dirty="0">
                  <a:latin typeface="+mn-ea"/>
                </a:rPr>
                <a:t>/topic_name,</a:t>
              </a:r>
            </a:p>
            <a:p>
              <a:r>
                <a:rPr lang="en-US" sz="1050" dirty="0">
                  <a:latin typeface="+mn-ea"/>
                </a:rPr>
                <a:t>message_type,</a:t>
              </a:r>
            </a:p>
            <a:p>
              <a:r>
                <a:rPr lang="en-US" sz="1050" dirty="0">
                  <a:latin typeface="+mn-ea"/>
                </a:rPr>
                <a:t>http://ROS_HOSTNAME:1234</a:t>
              </a:r>
            </a:p>
          </p:txBody>
        </p:sp>
        <p:sp>
          <p:nvSpPr>
            <p:cNvPr id="10" name="Folded Corner 21"/>
            <p:cNvSpPr/>
            <p:nvPr/>
          </p:nvSpPr>
          <p:spPr>
            <a:xfrm>
              <a:off x="8017836" y="1948040"/>
              <a:ext cx="2272384" cy="1077783"/>
            </a:xfrm>
            <a:prstGeom prst="foldedCorner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1" name="TextBox 22"/>
          <p:cNvSpPr txBox="1"/>
          <p:nvPr/>
        </p:nvSpPr>
        <p:spPr>
          <a:xfrm>
            <a:off x="7000439" y="4746714"/>
            <a:ext cx="199766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XMLRPC: client</a:t>
            </a:r>
          </a:p>
          <a:p>
            <a:pPr algn="ctr"/>
            <a:r>
              <a:rPr lang="en-US" sz="1050" dirty="0">
                <a:latin typeface="+mn-ea"/>
              </a:rPr>
              <a:t>http://ROS_HOSTNAME:1234</a:t>
            </a:r>
          </a:p>
          <a:p>
            <a:pPr algn="ctr"/>
            <a:r>
              <a:rPr lang="en-US" sz="1050" dirty="0">
                <a:latin typeface="+mn-ea"/>
              </a:rPr>
              <a:t>Information subscribe</a:t>
            </a:r>
          </a:p>
        </p:txBody>
      </p:sp>
      <p:sp>
        <p:nvSpPr>
          <p:cNvPr id="12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3.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运行发布者节点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ko-KR" sz="2000" dirty="0"/>
              <a:t>$</a:t>
            </a:r>
            <a:r>
              <a:rPr lang="en-US" altLang="en-US" sz="2000" dirty="0" err="1"/>
              <a:t>rosrun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packagename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nodename</a:t>
            </a:r>
            <a:endParaRPr lang="en-US" altLang="ko-KR" sz="2000" dirty="0"/>
          </a:p>
          <a:p>
            <a:endParaRPr lang="en-US" altLang="en-US" sz="2000" dirty="0"/>
          </a:p>
        </p:txBody>
      </p:sp>
      <p:sp>
        <p:nvSpPr>
          <p:cNvPr id="3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4" name="Curved Connector 9"/>
          <p:cNvCxnSpPr/>
          <p:nvPr/>
        </p:nvCxnSpPr>
        <p:spPr>
          <a:xfrm rot="5400000" flipH="1" flipV="1">
            <a:off x="4333643" y="2403909"/>
            <a:ext cx="1087948" cy="1371461"/>
          </a:xfrm>
          <a:prstGeom prst="curvedConnector2">
            <a:avLst/>
          </a:prstGeom>
          <a:ln w="3175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11"/>
          <p:cNvCxnSpPr/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0"/>
          <p:cNvSpPr txBox="1"/>
          <p:nvPr/>
        </p:nvSpPr>
        <p:spPr>
          <a:xfrm>
            <a:off x="4807828" y="3093552"/>
            <a:ext cx="257634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rgbClr val="FF0000"/>
                </a:solidFill>
              </a:rPr>
              <a:t>XMLRPC: </a:t>
            </a:r>
            <a:r>
              <a:rPr lang="en-US" altLang="ko-KR" sz="1350" dirty="0">
                <a:solidFill>
                  <a:srgbClr val="FF0000"/>
                </a:solidFill>
              </a:rPr>
              <a:t>server</a:t>
            </a:r>
            <a:br>
              <a:rPr lang="en-US" altLang="ko-KR" sz="1350" dirty="0"/>
            </a:br>
            <a:r>
              <a:rPr lang="en-US" altLang="ko-KR" sz="1350" dirty="0"/>
              <a:t>http://ROS_MASTER_URI:11311</a:t>
            </a:r>
            <a:br>
              <a:rPr lang="en-US" altLang="ko-KR" sz="1350" dirty="0"/>
            </a:br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节点信息管理</a:t>
            </a:r>
            <a:endParaRPr lang="en-US"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Group 3"/>
          <p:cNvGrpSpPr/>
          <p:nvPr/>
        </p:nvGrpSpPr>
        <p:grpSpPr>
          <a:xfrm>
            <a:off x="1607736" y="2227090"/>
            <a:ext cx="2662662" cy="1035891"/>
            <a:chOff x="1919536" y="1962778"/>
            <a:chExt cx="2756619" cy="1077783"/>
          </a:xfrm>
        </p:grpSpPr>
        <p:sp>
          <p:nvSpPr>
            <p:cNvPr id="8" name="TextBox 21"/>
            <p:cNvSpPr txBox="1"/>
            <p:nvPr/>
          </p:nvSpPr>
          <p:spPr>
            <a:xfrm>
              <a:off x="1919536" y="1971417"/>
              <a:ext cx="2011729" cy="992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发布者节点信息</a:t>
              </a:r>
              <a:r>
                <a:rPr lang="en-US" altLang="ko-KR" sz="1200" dirty="0">
                  <a:latin typeface="+mn-ea"/>
                </a:rPr>
                <a:t>:</a:t>
              </a:r>
            </a:p>
            <a:p>
              <a:r>
                <a:rPr lang="en-US" sz="1050" dirty="0">
                  <a:latin typeface="+mn-ea"/>
                </a:rPr>
                <a:t>/publisher_node_name,</a:t>
              </a:r>
            </a:p>
            <a:p>
              <a:r>
                <a:rPr lang="en-US" sz="1050" dirty="0">
                  <a:latin typeface="+mn-ea"/>
                </a:rPr>
                <a:t>/topic_name,</a:t>
              </a:r>
            </a:p>
            <a:p>
              <a:r>
                <a:rPr lang="en-US" sz="1050" dirty="0">
                  <a:latin typeface="+mn-ea"/>
                </a:rPr>
                <a:t>message_type,</a:t>
              </a:r>
            </a:p>
            <a:p>
              <a:r>
                <a:rPr lang="en-US" sz="1050" dirty="0">
                  <a:latin typeface="+mn-ea"/>
                </a:rPr>
                <a:t>http://ROS_HOSTNAME:5678</a:t>
              </a:r>
            </a:p>
          </p:txBody>
        </p:sp>
        <p:sp>
          <p:nvSpPr>
            <p:cNvPr id="9" name="Folded Corner 23"/>
            <p:cNvSpPr/>
            <p:nvPr/>
          </p:nvSpPr>
          <p:spPr>
            <a:xfrm>
              <a:off x="1933589" y="1962778"/>
              <a:ext cx="2742566" cy="1077783"/>
            </a:xfrm>
            <a:prstGeom prst="foldedCorner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0" name="TextBox 24"/>
          <p:cNvSpPr txBox="1"/>
          <p:nvPr/>
        </p:nvSpPr>
        <p:spPr>
          <a:xfrm>
            <a:off x="3193054" y="4746714"/>
            <a:ext cx="199766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XMLRPC: client</a:t>
            </a:r>
          </a:p>
          <a:p>
            <a:pPr algn="ctr"/>
            <a:r>
              <a:rPr lang="en-US" sz="1050" dirty="0">
                <a:latin typeface="+mn-ea"/>
              </a:rPr>
              <a:t>http://ROS_HOSTNAME:5678</a:t>
            </a:r>
          </a:p>
          <a:p>
            <a:pPr algn="ctr"/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发送信息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7"/>
          <p:cNvSpPr txBox="1"/>
          <p:nvPr/>
        </p:nvSpPr>
        <p:spPr>
          <a:xfrm>
            <a:off x="7770193" y="2704998"/>
            <a:ext cx="14013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订阅者节点信息</a:t>
            </a:r>
            <a:endParaRPr lang="en-US"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val 5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</a:t>
            </a:r>
            <a:endParaRPr lang="en-US" sz="21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val 6"/>
          <p:cNvSpPr/>
          <p:nvPr/>
        </p:nvSpPr>
        <p:spPr>
          <a:xfrm>
            <a:off x="3659655" y="363361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" name="Oval 7"/>
          <p:cNvSpPr/>
          <p:nvPr/>
        </p:nvSpPr>
        <p:spPr>
          <a:xfrm>
            <a:off x="7467040" y="363361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endParaRPr lang="en-US" sz="2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4.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通知发布者信息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主节点通知订阅节点新的发布服务器信息</a:t>
            </a:r>
            <a:r>
              <a:rPr lang="zh-CN" altLang="en-US" sz="2000" dirty="0"/>
              <a:t>。</a:t>
            </a:r>
            <a:r>
              <a:rPr lang="en-US" altLang="en-US" sz="2000" dirty="0"/>
              <a:t> </a:t>
            </a:r>
            <a:endParaRPr lang="en-US" altLang="ko-KR" sz="2000" dirty="0"/>
          </a:p>
        </p:txBody>
      </p:sp>
      <p:sp>
        <p:nvSpPr>
          <p:cNvPr id="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4" name="Oval 5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</a:t>
            </a:r>
            <a:endParaRPr lang="en-US" sz="21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val 6"/>
          <p:cNvSpPr/>
          <p:nvPr/>
        </p:nvSpPr>
        <p:spPr>
          <a:xfrm>
            <a:off x="3659655" y="363361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latin typeface="+mj-ea"/>
                <a:ea typeface="+mj-ea"/>
              </a:rPr>
              <a:t>1</a:t>
            </a:r>
            <a:endParaRPr lang="en-US" sz="2100" dirty="0">
              <a:latin typeface="+mj-ea"/>
              <a:ea typeface="+mj-ea"/>
            </a:endParaRPr>
          </a:p>
        </p:txBody>
      </p:sp>
      <p:sp>
        <p:nvSpPr>
          <p:cNvPr id="6" name="Oval 7"/>
          <p:cNvSpPr/>
          <p:nvPr/>
        </p:nvSpPr>
        <p:spPr>
          <a:xfrm>
            <a:off x="7467040" y="363361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7" name="Curved Connector 22"/>
          <p:cNvCxnSpPr/>
          <p:nvPr/>
        </p:nvCxnSpPr>
        <p:spPr>
          <a:xfrm rot="5400000" flipH="1" flipV="1">
            <a:off x="4333643" y="2403909"/>
            <a:ext cx="1087948" cy="1371461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23"/>
          <p:cNvCxnSpPr/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24"/>
          <p:cNvCxnSpPr/>
          <p:nvPr/>
        </p:nvCxnSpPr>
        <p:spPr>
          <a:xfrm>
            <a:off x="6627811" y="2545664"/>
            <a:ext cx="995117" cy="1243835"/>
          </a:xfrm>
          <a:prstGeom prst="curvedConnector2">
            <a:avLst/>
          </a:prstGeom>
          <a:ln w="3175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1"/>
          <p:cNvGrpSpPr/>
          <p:nvPr/>
        </p:nvGrpSpPr>
        <p:grpSpPr>
          <a:xfrm>
            <a:off x="4745274" y="3442274"/>
            <a:ext cx="3062568" cy="998154"/>
            <a:chOff x="5219700" y="3796171"/>
            <a:chExt cx="2309247" cy="809547"/>
          </a:xfrm>
        </p:grpSpPr>
        <p:sp>
          <p:nvSpPr>
            <p:cNvPr id="11" name="Folded Corner 28"/>
            <p:cNvSpPr/>
            <p:nvPr/>
          </p:nvSpPr>
          <p:spPr>
            <a:xfrm>
              <a:off x="5271976" y="3797381"/>
              <a:ext cx="1952229" cy="808337"/>
            </a:xfrm>
            <a:prstGeom prst="foldedCorner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" name="TextBox 27"/>
            <p:cNvSpPr txBox="1"/>
            <p:nvPr/>
          </p:nvSpPr>
          <p:spPr>
            <a:xfrm>
              <a:off x="5219700" y="3796171"/>
              <a:ext cx="2309247" cy="748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发布者节点信息</a:t>
              </a:r>
              <a:r>
                <a:rPr lang="en-US" altLang="ko-KR" sz="12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:</a:t>
              </a:r>
            </a:p>
            <a:p>
              <a:r>
                <a:rPr lang="en-US" sz="1050" dirty="0">
                  <a:latin typeface="+mn-ea"/>
                </a:rPr>
                <a:t>/publisher_node_name,</a:t>
              </a:r>
            </a:p>
            <a:p>
              <a:r>
                <a:rPr lang="en-US" sz="1050" dirty="0">
                  <a:latin typeface="+mn-ea"/>
                </a:rPr>
                <a:t>/topic_name,</a:t>
              </a:r>
            </a:p>
            <a:p>
              <a:r>
                <a:rPr lang="en-US" sz="1050" dirty="0">
                  <a:latin typeface="+mn-ea"/>
                </a:rPr>
                <a:t>message_type,</a:t>
              </a:r>
            </a:p>
            <a:p>
              <a:r>
                <a:rPr lang="en-US" sz="1050" dirty="0">
                  <a:latin typeface="+mn-ea"/>
                </a:rPr>
                <a:t>http://ROS_HOSTNAME:5678</a:t>
              </a:r>
            </a:p>
          </p:txBody>
        </p:sp>
      </p:grpSp>
      <p:sp>
        <p:nvSpPr>
          <p:cNvPr id="13" name="TextBox 39"/>
          <p:cNvSpPr txBox="1"/>
          <p:nvPr/>
        </p:nvSpPr>
        <p:spPr>
          <a:xfrm>
            <a:off x="5390520" y="3093551"/>
            <a:ext cx="141096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rgbClr val="FF0000"/>
                </a:solidFill>
              </a:rPr>
              <a:t>XMLRPC: </a:t>
            </a:r>
            <a:r>
              <a:rPr lang="en-US" altLang="ko-KR" sz="1350" dirty="0">
                <a:solidFill>
                  <a:srgbClr val="FF0000"/>
                </a:solidFill>
              </a:rPr>
              <a:t>server</a:t>
            </a:r>
            <a:endParaRPr lang="en-US" sz="1350" dirty="0"/>
          </a:p>
        </p:txBody>
      </p:sp>
      <p:sp>
        <p:nvSpPr>
          <p:cNvPr id="14" name="TextBox 41"/>
          <p:cNvSpPr txBox="1"/>
          <p:nvPr/>
        </p:nvSpPr>
        <p:spPr>
          <a:xfrm>
            <a:off x="3542544" y="2659750"/>
            <a:ext cx="8771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发布者</a:t>
            </a:r>
            <a:endParaRPr lang="en-US" altLang="zh-CN"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节点信息</a:t>
            </a:r>
            <a:endParaRPr lang="en-US"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Box 21"/>
          <p:cNvSpPr txBox="1"/>
          <p:nvPr/>
        </p:nvSpPr>
        <p:spPr>
          <a:xfrm>
            <a:off x="7770193" y="2704998"/>
            <a:ext cx="8771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订阅者</a:t>
            </a:r>
            <a:endParaRPr lang="en-US" altLang="zh-CN"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3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节点信息</a:t>
            </a:r>
            <a:endParaRPr lang="en-US" sz="13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8"/>
          <p:cNvSpPr txBox="1"/>
          <p:nvPr/>
        </p:nvSpPr>
        <p:spPr>
          <a:xfrm>
            <a:off x="7027691" y="4746714"/>
            <a:ext cx="194316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XMLRPC: 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</a:t>
            </a:r>
            <a:endParaRPr lang="en-US" altLang="zh-CN" sz="105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sz="1050" dirty="0">
                <a:latin typeface="+mn-ea"/>
              </a:rPr>
              <a:t>http://ROS_HOSTNAME:1234</a:t>
            </a:r>
          </a:p>
          <a:p>
            <a:pPr algn="ctr"/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接收信息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5.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订阅者节点的连接请求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订阅者节点根据从主节点接收的发布者信息，向发布者节点请求直接连接。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4" name="Curved Connector 9"/>
          <p:cNvCxnSpPr/>
          <p:nvPr/>
        </p:nvCxnSpPr>
        <p:spPr>
          <a:xfrm rot="5400000" flipH="1" flipV="1">
            <a:off x="4333643" y="2403909"/>
            <a:ext cx="1087948" cy="1371461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10"/>
          <p:cNvCxnSpPr/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17"/>
          <p:cNvCxnSpPr/>
          <p:nvPr/>
        </p:nvCxnSpPr>
        <p:spPr>
          <a:xfrm>
            <a:off x="6627811" y="2545664"/>
            <a:ext cx="995117" cy="1243835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18"/>
          <p:cNvCxnSpPr/>
          <p:nvPr/>
        </p:nvCxnSpPr>
        <p:spPr>
          <a:xfrm>
            <a:off x="4764954" y="4102521"/>
            <a:ext cx="2646574" cy="1"/>
          </a:xfrm>
          <a:prstGeom prst="curvedConnector3">
            <a:avLst/>
          </a:prstGeom>
          <a:ln w="31750">
            <a:solidFill>
              <a:srgbClr val="FF000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9"/>
          <p:cNvSpPr txBox="1"/>
          <p:nvPr/>
        </p:nvSpPr>
        <p:spPr>
          <a:xfrm>
            <a:off x="5127435" y="3795629"/>
            <a:ext cx="17043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>
                <a:solidFill>
                  <a:srgbClr val="FF0000"/>
                </a:solidFill>
              </a:rPr>
              <a:t>TCPROS</a:t>
            </a:r>
            <a:r>
              <a:rPr lang="zh-CN" altLang="en-US" sz="1350" dirty="0">
                <a:solidFill>
                  <a:srgbClr val="FF0000"/>
                </a:solidFill>
              </a:rPr>
              <a:t>。</a:t>
            </a:r>
            <a:r>
              <a:rPr lang="zh-CN" altLang="en-US" sz="13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访问请求</a:t>
            </a:r>
            <a:endParaRPr lang="en-US" sz="135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15"/>
          <p:cNvSpPr txBox="1"/>
          <p:nvPr/>
        </p:nvSpPr>
        <p:spPr>
          <a:xfrm>
            <a:off x="7027692" y="4746714"/>
            <a:ext cx="194316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XMLRPC: 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</a:t>
            </a:r>
            <a:endParaRPr lang="en-US" altLang="zh-CN" sz="105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sz="1050" dirty="0">
                <a:latin typeface="+mn-ea"/>
              </a:rPr>
              <a:t>http://ROS_HOSTNAME:1234</a:t>
            </a:r>
          </a:p>
          <a:p>
            <a:pPr algn="ctr"/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接收信息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TextBox 16"/>
          <p:cNvSpPr txBox="1"/>
          <p:nvPr/>
        </p:nvSpPr>
        <p:spPr>
          <a:xfrm>
            <a:off x="3220306" y="4746714"/>
            <a:ext cx="194316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XMLRPC: </a:t>
            </a:r>
            <a:r>
              <a:rPr lang="zh-CN" altLang="en-US" sz="105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</a:t>
            </a:r>
            <a:endParaRPr lang="en-US" altLang="zh-CN" sz="105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sz="1050" dirty="0">
                <a:latin typeface="+mn-ea"/>
              </a:rPr>
              <a:t>http://ROS_HOSTNAME:5678</a:t>
            </a:r>
          </a:p>
          <a:p>
            <a:pPr algn="ctr"/>
            <a:r>
              <a:rPr lang="zh-CN" altLang="en-US" sz="105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发送信息</a:t>
            </a:r>
            <a:endParaRPr lang="en-US" sz="105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val 5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</a:t>
            </a:r>
            <a:endParaRPr lang="en-US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val 6"/>
          <p:cNvSpPr/>
          <p:nvPr/>
        </p:nvSpPr>
        <p:spPr>
          <a:xfrm>
            <a:off x="3659655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3" name="Oval 7"/>
          <p:cNvSpPr/>
          <p:nvPr/>
        </p:nvSpPr>
        <p:spPr>
          <a:xfrm>
            <a:off x="7467040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6.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发布者节点的连接响应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发布者节点将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URI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地址和端口作为连接响应发送给订阅者节点</a:t>
            </a:r>
            <a:endParaRPr lang="en-US" altLang="ko-KR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4" name="Curved Connector 8"/>
          <p:cNvCxnSpPr/>
          <p:nvPr/>
        </p:nvCxnSpPr>
        <p:spPr>
          <a:xfrm rot="5400000" flipH="1" flipV="1">
            <a:off x="4333643" y="2403909"/>
            <a:ext cx="1087948" cy="1371461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9"/>
          <p:cNvCxnSpPr/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0"/>
          <p:cNvSpPr txBox="1"/>
          <p:nvPr/>
        </p:nvSpPr>
        <p:spPr>
          <a:xfrm>
            <a:off x="7000439" y="4746714"/>
            <a:ext cx="199766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XMLRPC: client</a:t>
            </a:r>
          </a:p>
          <a:p>
            <a:pPr algn="ctr"/>
            <a:r>
              <a:rPr lang="en-US" sz="1050" dirty="0">
                <a:latin typeface="+mn-ea"/>
              </a:rPr>
              <a:t>http://ROS_HOSTNAME:1234</a:t>
            </a:r>
          </a:p>
          <a:p>
            <a:pPr algn="ctr"/>
            <a:r>
              <a:rPr lang="en-US" altLang="ko-KR" sz="1050" dirty="0">
                <a:latin typeface="+mn-ea"/>
              </a:rPr>
              <a:t>Subscribe information</a:t>
            </a:r>
            <a:endParaRPr lang="en-US" sz="1050" dirty="0">
              <a:latin typeface="+mn-ea"/>
            </a:endParaRPr>
          </a:p>
        </p:txBody>
      </p:sp>
      <p:cxnSp>
        <p:nvCxnSpPr>
          <p:cNvPr id="7" name="Curved Connector 11"/>
          <p:cNvCxnSpPr/>
          <p:nvPr/>
        </p:nvCxnSpPr>
        <p:spPr>
          <a:xfrm>
            <a:off x="6627811" y="2545664"/>
            <a:ext cx="995117" cy="1243835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12"/>
          <p:cNvCxnSpPr/>
          <p:nvPr/>
        </p:nvCxnSpPr>
        <p:spPr>
          <a:xfrm>
            <a:off x="4764954" y="4102521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/>
          <p:cNvSpPr txBox="1"/>
          <p:nvPr/>
        </p:nvSpPr>
        <p:spPr>
          <a:xfrm>
            <a:off x="4934395" y="4281683"/>
            <a:ext cx="22910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>
                <a:solidFill>
                  <a:srgbClr val="FF0000"/>
                </a:solidFill>
              </a:rPr>
              <a:t>TCPROS connection response</a:t>
            </a:r>
            <a:endParaRPr lang="en-US" sz="1350" dirty="0">
              <a:solidFill>
                <a:srgbClr val="FF0000"/>
              </a:solidFill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3220305" y="4746714"/>
            <a:ext cx="19431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XMLRPC: server</a:t>
            </a:r>
          </a:p>
          <a:p>
            <a:pPr algn="ctr"/>
            <a:r>
              <a:rPr lang="en-US" sz="1050" dirty="0">
                <a:latin typeface="+mn-ea"/>
              </a:rPr>
              <a:t>http://ROS_HOSTNAME:5678</a:t>
            </a:r>
          </a:p>
          <a:p>
            <a:pPr algn="ctr"/>
            <a:r>
              <a:rPr lang="en-US" altLang="ko-KR" sz="1050" dirty="0">
                <a:latin typeface="+mn-ea"/>
              </a:rPr>
              <a:t>Publish information</a:t>
            </a:r>
          </a:p>
          <a:p>
            <a:pPr algn="ctr"/>
            <a:endParaRPr lang="en-US" sz="1050" dirty="0">
              <a:latin typeface="+mn-ea"/>
            </a:endParaRPr>
          </a:p>
        </p:txBody>
      </p:sp>
      <p:cxnSp>
        <p:nvCxnSpPr>
          <p:cNvPr id="11" name="Curved Connector 15"/>
          <p:cNvCxnSpPr/>
          <p:nvPr/>
        </p:nvCxnSpPr>
        <p:spPr>
          <a:xfrm>
            <a:off x="4764954" y="4263431"/>
            <a:ext cx="2646574" cy="1"/>
          </a:xfrm>
          <a:prstGeom prst="curvedConnector3">
            <a:avLst/>
          </a:prstGeom>
          <a:ln w="3175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/>
          <p:cNvSpPr txBox="1"/>
          <p:nvPr/>
        </p:nvSpPr>
        <p:spPr>
          <a:xfrm>
            <a:off x="5052287" y="4482898"/>
            <a:ext cx="20874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+mn-ea"/>
              </a:rPr>
              <a:t>(http://ROS_HOSTNAME:3456)</a:t>
            </a:r>
          </a:p>
        </p:txBody>
      </p:sp>
      <p:sp>
        <p:nvSpPr>
          <p:cNvPr id="13" name="Oval 5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</a:t>
            </a:r>
            <a:endParaRPr lang="en-US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val 6"/>
          <p:cNvSpPr/>
          <p:nvPr/>
        </p:nvSpPr>
        <p:spPr>
          <a:xfrm>
            <a:off x="3659655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5" name="Oval 7"/>
          <p:cNvSpPr/>
          <p:nvPr/>
        </p:nvSpPr>
        <p:spPr>
          <a:xfrm>
            <a:off x="7467040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7"/>
          <p:cNvSpPr/>
          <p:nvPr/>
        </p:nvSpPr>
        <p:spPr>
          <a:xfrm>
            <a:off x="7467040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" name="Oval 6"/>
          <p:cNvSpPr/>
          <p:nvPr/>
        </p:nvSpPr>
        <p:spPr>
          <a:xfrm>
            <a:off x="3659655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7. TCP ROS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连接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订阅者节点使用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TCPROS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创建一个与发布者节点对应的客户端，并直接与发布者节点连接。节点间通信使用一种称为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TCPROS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TCP/IP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方式。 </a:t>
            </a:r>
          </a:p>
        </p:txBody>
      </p:sp>
      <p:sp>
        <p:nvSpPr>
          <p:cNvPr id="5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6" name="Oval 5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</a:t>
            </a:r>
            <a:endParaRPr lang="en-US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7" name="Curved Connector 8"/>
          <p:cNvCxnSpPr/>
          <p:nvPr/>
        </p:nvCxnSpPr>
        <p:spPr>
          <a:xfrm rot="5400000" flipH="1" flipV="1">
            <a:off x="4333643" y="2403909"/>
            <a:ext cx="1087948" cy="1371461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9"/>
          <p:cNvCxnSpPr/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11"/>
          <p:cNvCxnSpPr/>
          <p:nvPr/>
        </p:nvCxnSpPr>
        <p:spPr>
          <a:xfrm>
            <a:off x="6627811" y="2545664"/>
            <a:ext cx="995117" cy="1243835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12"/>
          <p:cNvCxnSpPr/>
          <p:nvPr/>
        </p:nvCxnSpPr>
        <p:spPr>
          <a:xfrm>
            <a:off x="4764954" y="4102521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3"/>
          <p:cNvSpPr txBox="1"/>
          <p:nvPr/>
        </p:nvSpPr>
        <p:spPr>
          <a:xfrm>
            <a:off x="5320864" y="4551713"/>
            <a:ext cx="16802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>
                <a:solidFill>
                  <a:srgbClr val="FF0000"/>
                </a:solidFill>
              </a:rPr>
              <a:t>TCPROS Connection</a:t>
            </a:r>
            <a:endParaRPr lang="en-US" sz="1350" dirty="0">
              <a:solidFill>
                <a:srgbClr val="FF0000"/>
              </a:solidFill>
            </a:endParaRPr>
          </a:p>
        </p:txBody>
      </p:sp>
      <p:cxnSp>
        <p:nvCxnSpPr>
          <p:cNvPr id="12" name="Curved Connector 15"/>
          <p:cNvCxnSpPr/>
          <p:nvPr/>
        </p:nvCxnSpPr>
        <p:spPr>
          <a:xfrm>
            <a:off x="4764954" y="4263431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7"/>
          <p:cNvCxnSpPr/>
          <p:nvPr/>
        </p:nvCxnSpPr>
        <p:spPr>
          <a:xfrm>
            <a:off x="4766284" y="4551714"/>
            <a:ext cx="2646574" cy="1"/>
          </a:xfrm>
          <a:prstGeom prst="curvedConnector3">
            <a:avLst/>
          </a:prstGeom>
          <a:ln w="31750" cmpd="sng">
            <a:solidFill>
              <a:srgbClr val="0070C0"/>
            </a:solidFill>
            <a:prstDash val="sys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8"/>
          <p:cNvSpPr txBox="1"/>
          <p:nvPr/>
        </p:nvSpPr>
        <p:spPr>
          <a:xfrm>
            <a:off x="7189098" y="4801964"/>
            <a:ext cx="16097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 : Client</a:t>
            </a:r>
          </a:p>
          <a:p>
            <a:pPr algn="ctr"/>
            <a:r>
              <a:rPr lang="en-US" sz="1050" dirty="0">
                <a:latin typeface="+mn-ea"/>
              </a:rPr>
              <a:t>ROS_HOSTNAME:7890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Subscribe information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TextBox 20"/>
          <p:cNvSpPr txBox="1"/>
          <p:nvPr/>
        </p:nvSpPr>
        <p:spPr>
          <a:xfrm>
            <a:off x="3398239" y="4792660"/>
            <a:ext cx="158729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TCPROS: Server</a:t>
            </a:r>
          </a:p>
          <a:p>
            <a:pPr algn="ctr"/>
            <a:r>
              <a:rPr lang="en-US" sz="1050" dirty="0">
                <a:latin typeface="+mn-ea"/>
              </a:rPr>
              <a:t>ROS_HOSTNAME:3456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Publish information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8.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发送消息</a:t>
            </a:r>
            <a:endParaRPr lang="en-US" altLang="ko-KR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发布者节点向订阅者节点发送消息。节点间通信使用一种称为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TCPROS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TCP/IP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方式。</a:t>
            </a: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4" name="Oval 6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zh-CN" altLang="en-US" sz="2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主节点</a:t>
            </a:r>
            <a:endParaRPr lang="en-US" sz="2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" name="Curved Connector 9"/>
          <p:cNvCxnSpPr/>
          <p:nvPr/>
        </p:nvCxnSpPr>
        <p:spPr>
          <a:xfrm rot="5400000" flipH="1" flipV="1">
            <a:off x="4333643" y="2403909"/>
            <a:ext cx="1087948" cy="1371461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10"/>
          <p:cNvCxnSpPr/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12"/>
          <p:cNvCxnSpPr/>
          <p:nvPr/>
        </p:nvCxnSpPr>
        <p:spPr>
          <a:xfrm>
            <a:off x="6627811" y="2545664"/>
            <a:ext cx="995117" cy="1243835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13"/>
          <p:cNvCxnSpPr/>
          <p:nvPr/>
        </p:nvCxnSpPr>
        <p:spPr>
          <a:xfrm>
            <a:off x="4764954" y="4102521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16"/>
          <p:cNvCxnSpPr/>
          <p:nvPr/>
        </p:nvCxnSpPr>
        <p:spPr>
          <a:xfrm>
            <a:off x="4764954" y="4263431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17"/>
          <p:cNvCxnSpPr/>
          <p:nvPr/>
        </p:nvCxnSpPr>
        <p:spPr>
          <a:xfrm>
            <a:off x="4766284" y="4551714"/>
            <a:ext cx="2646574" cy="1"/>
          </a:xfrm>
          <a:prstGeom prst="curvedConnector3">
            <a:avLst/>
          </a:prstGeom>
          <a:ln w="31750" cmpd="sng">
            <a:solidFill>
              <a:srgbClr val="0070C0"/>
            </a:solidFill>
            <a:prstDash val="sys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8"/>
          <p:cNvCxnSpPr/>
          <p:nvPr/>
        </p:nvCxnSpPr>
        <p:spPr>
          <a:xfrm rot="16200000" flipH="1">
            <a:off x="6095579" y="3014839"/>
            <a:ext cx="9525" cy="3054697"/>
          </a:xfrm>
          <a:prstGeom prst="curvedConnector3">
            <a:avLst>
              <a:gd name="adj1" fmla="val 4636606"/>
            </a:avLst>
          </a:prstGeom>
          <a:ln w="38100"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9"/>
          <p:cNvSpPr txBox="1"/>
          <p:nvPr/>
        </p:nvSpPr>
        <p:spPr>
          <a:xfrm>
            <a:off x="5515554" y="5037769"/>
            <a:ext cx="11608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 dirty="0">
                <a:solidFill>
                  <a:srgbClr val="FF0000"/>
                </a:solidFill>
              </a:rPr>
              <a:t>Send message</a:t>
            </a:r>
          </a:p>
          <a:p>
            <a:pPr algn="ctr"/>
            <a:r>
              <a:rPr lang="en-US" sz="1350" dirty="0">
                <a:solidFill>
                  <a:srgbClr val="FF0000"/>
                </a:solidFill>
              </a:rPr>
              <a:t>(Topic)</a:t>
            </a:r>
          </a:p>
        </p:txBody>
      </p:sp>
      <p:sp>
        <p:nvSpPr>
          <p:cNvPr id="13" name="TextBox 21"/>
          <p:cNvSpPr txBox="1"/>
          <p:nvPr/>
        </p:nvSpPr>
        <p:spPr>
          <a:xfrm>
            <a:off x="7194402" y="4740125"/>
            <a:ext cx="16097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 : Client</a:t>
            </a:r>
          </a:p>
          <a:p>
            <a:pPr algn="ctr"/>
            <a:r>
              <a:rPr lang="en-US" sz="1050" dirty="0">
                <a:latin typeface="+mn-ea"/>
              </a:rPr>
              <a:t>ROS_HOSTNAME:7890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Subscribe information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" name="TextBox 22"/>
          <p:cNvSpPr txBox="1"/>
          <p:nvPr/>
        </p:nvSpPr>
        <p:spPr>
          <a:xfrm>
            <a:off x="3398238" y="4740125"/>
            <a:ext cx="158729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TCPROS: Server</a:t>
            </a:r>
          </a:p>
          <a:p>
            <a:pPr algn="ctr"/>
            <a:r>
              <a:rPr lang="en-US" sz="1050" dirty="0">
                <a:latin typeface="+mn-ea"/>
              </a:rPr>
              <a:t>ROS_HOSTNAME:3456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Publish information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" name="Oval 6"/>
          <p:cNvSpPr/>
          <p:nvPr/>
        </p:nvSpPr>
        <p:spPr>
          <a:xfrm>
            <a:off x="3659655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" name="Oval 7"/>
          <p:cNvSpPr/>
          <p:nvPr/>
        </p:nvSpPr>
        <p:spPr>
          <a:xfrm>
            <a:off x="7467040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</a:t>
            </a:r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7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在话题模式下，除非连接被终止，否则将连续发送消息。也就是说，连续性。</a:t>
            </a:r>
            <a:endParaRPr lang="en-US" altLang="ko-KR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4" name="TextBox 11"/>
          <p:cNvSpPr txBox="1"/>
          <p:nvPr/>
        </p:nvSpPr>
        <p:spPr>
          <a:xfrm>
            <a:off x="7194402" y="4740125"/>
            <a:ext cx="16097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 : Client</a:t>
            </a:r>
          </a:p>
          <a:p>
            <a:pPr algn="ctr"/>
            <a:r>
              <a:rPr lang="en-US" sz="1050" dirty="0">
                <a:latin typeface="+mn-ea"/>
              </a:rPr>
              <a:t>ROS_HOSTNAME:7890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Subscribe information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TextBox 15"/>
          <p:cNvSpPr txBox="1"/>
          <p:nvPr/>
        </p:nvSpPr>
        <p:spPr>
          <a:xfrm>
            <a:off x="3398238" y="4740125"/>
            <a:ext cx="158729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TCPROS: Server</a:t>
            </a:r>
          </a:p>
          <a:p>
            <a:pPr algn="ctr"/>
            <a:r>
              <a:rPr lang="en-US" sz="1050" dirty="0">
                <a:latin typeface="+mn-ea"/>
              </a:rPr>
              <a:t>ROS_HOSTNAME:3456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Publish information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6" name="Curved Connector 16"/>
          <p:cNvCxnSpPr/>
          <p:nvPr/>
        </p:nvCxnSpPr>
        <p:spPr>
          <a:xfrm flipV="1">
            <a:off x="4840545" y="4159518"/>
            <a:ext cx="2538282" cy="1"/>
          </a:xfrm>
          <a:prstGeom prst="curvedConnector3">
            <a:avLst/>
          </a:prstGeom>
          <a:ln w="66675">
            <a:solidFill>
              <a:srgbClr val="0070C0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9"/>
          <p:cNvSpPr txBox="1"/>
          <p:nvPr/>
        </p:nvSpPr>
        <p:spPr>
          <a:xfrm>
            <a:off x="5515555" y="4276401"/>
            <a:ext cx="116089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 dirty="0">
                <a:solidFill>
                  <a:srgbClr val="FF0000"/>
                </a:solidFill>
              </a:rPr>
              <a:t>Send message</a:t>
            </a:r>
          </a:p>
          <a:p>
            <a:pPr algn="ctr"/>
            <a:r>
              <a:rPr lang="en-US" sz="1350" dirty="0">
                <a:solidFill>
                  <a:srgbClr val="FF0000"/>
                </a:solidFill>
              </a:rPr>
              <a:t>(Topic)</a:t>
            </a:r>
          </a:p>
        </p:txBody>
      </p:sp>
      <p:sp>
        <p:nvSpPr>
          <p:cNvPr id="8" name="Oval 6"/>
          <p:cNvSpPr/>
          <p:nvPr/>
        </p:nvSpPr>
        <p:spPr>
          <a:xfrm>
            <a:off x="3659655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Node1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Oval 7"/>
          <p:cNvSpPr/>
          <p:nvPr/>
        </p:nvSpPr>
        <p:spPr>
          <a:xfrm>
            <a:off x="7467040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Node2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altLang="en-US" sz="2000" b="1" dirty="0"/>
              <a:t>9.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服务请求和响应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只执行一次服务请求和服务响应，并断开它们之间的连接。</a:t>
            </a:r>
            <a:endParaRPr lang="en-US" altLang="ko-KR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4" name="Oval 5"/>
          <p:cNvSpPr/>
          <p:nvPr/>
        </p:nvSpPr>
        <p:spPr>
          <a:xfrm>
            <a:off x="5563348" y="2013432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2100" dirty="0">
                <a:solidFill>
                  <a:schemeClr val="tx1"/>
                </a:solidFill>
                <a:latin typeface="+mj-ea"/>
                <a:ea typeface="+mj-ea"/>
              </a:rPr>
              <a:t>Master</a:t>
            </a:r>
            <a:endParaRPr lang="en-US" sz="21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5" name="Curved Connector 8"/>
          <p:cNvCxnSpPr/>
          <p:nvPr/>
        </p:nvCxnSpPr>
        <p:spPr>
          <a:xfrm rot="5400000" flipH="1" flipV="1">
            <a:off x="4333643" y="2403909"/>
            <a:ext cx="1087948" cy="1371461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9"/>
          <p:cNvCxnSpPr/>
          <p:nvPr/>
        </p:nvCxnSpPr>
        <p:spPr>
          <a:xfrm>
            <a:off x="6627809" y="2545663"/>
            <a:ext cx="1371462" cy="1087949"/>
          </a:xfrm>
          <a:prstGeom prst="curvedConnector2">
            <a:avLst/>
          </a:prstGeom>
          <a:ln w="317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11"/>
          <p:cNvCxnSpPr/>
          <p:nvPr/>
        </p:nvCxnSpPr>
        <p:spPr>
          <a:xfrm>
            <a:off x="6627811" y="2545664"/>
            <a:ext cx="995117" cy="1243835"/>
          </a:xfrm>
          <a:prstGeom prst="curvedConnector2">
            <a:avLst/>
          </a:prstGeom>
          <a:ln w="31750"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12"/>
          <p:cNvCxnSpPr/>
          <p:nvPr/>
        </p:nvCxnSpPr>
        <p:spPr>
          <a:xfrm>
            <a:off x="4764954" y="4102521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14"/>
          <p:cNvCxnSpPr/>
          <p:nvPr/>
        </p:nvCxnSpPr>
        <p:spPr>
          <a:xfrm>
            <a:off x="4764954" y="4263431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15"/>
          <p:cNvCxnSpPr/>
          <p:nvPr/>
        </p:nvCxnSpPr>
        <p:spPr>
          <a:xfrm>
            <a:off x="4766284" y="4551714"/>
            <a:ext cx="2646574" cy="1"/>
          </a:xfrm>
          <a:prstGeom prst="curvedConnector3">
            <a:avLst/>
          </a:prstGeom>
          <a:ln w="31750" cmpd="sng">
            <a:solidFill>
              <a:srgbClr val="0070C0"/>
            </a:solidFill>
            <a:prstDash val="sys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6"/>
          <p:cNvCxnSpPr/>
          <p:nvPr/>
        </p:nvCxnSpPr>
        <p:spPr>
          <a:xfrm rot="16200000" flipH="1">
            <a:off x="6095579" y="3014839"/>
            <a:ext cx="9525" cy="3054697"/>
          </a:xfrm>
          <a:prstGeom prst="curvedConnector3">
            <a:avLst>
              <a:gd name="adj1" fmla="val 4636606"/>
            </a:avLst>
          </a:prstGeom>
          <a:ln w="381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/>
          <p:cNvSpPr txBox="1"/>
          <p:nvPr/>
        </p:nvSpPr>
        <p:spPr>
          <a:xfrm>
            <a:off x="5212585" y="5037769"/>
            <a:ext cx="176683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 dirty="0">
                <a:solidFill>
                  <a:srgbClr val="FF0000"/>
                </a:solidFill>
              </a:rPr>
              <a:t>Send/Receive message</a:t>
            </a:r>
          </a:p>
          <a:p>
            <a:pPr algn="ctr"/>
            <a:r>
              <a:rPr lang="ko-KR" altLang="en-US" sz="1350" dirty="0">
                <a:solidFill>
                  <a:srgbClr val="FF0000"/>
                </a:solidFill>
              </a:rPr>
              <a:t> </a:t>
            </a:r>
            <a:r>
              <a:rPr lang="en-US" sz="1350" dirty="0">
                <a:solidFill>
                  <a:srgbClr val="FF0000"/>
                </a:solidFill>
              </a:rPr>
              <a:t>(Service)</a:t>
            </a:r>
          </a:p>
        </p:txBody>
      </p:sp>
      <p:sp>
        <p:nvSpPr>
          <p:cNvPr id="13" name="Oval 6"/>
          <p:cNvSpPr/>
          <p:nvPr/>
        </p:nvSpPr>
        <p:spPr>
          <a:xfrm>
            <a:off x="3659655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Node1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" name="Oval 7"/>
          <p:cNvSpPr/>
          <p:nvPr/>
        </p:nvSpPr>
        <p:spPr>
          <a:xfrm>
            <a:off x="7467040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Node2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5" name="TextBox 22"/>
          <p:cNvSpPr txBox="1"/>
          <p:nvPr/>
        </p:nvSpPr>
        <p:spPr>
          <a:xfrm>
            <a:off x="7220852" y="4776129"/>
            <a:ext cx="15568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 : Client</a:t>
            </a:r>
          </a:p>
          <a:p>
            <a:pPr algn="ctr"/>
            <a:r>
              <a:rPr lang="en-US" sz="1050" dirty="0">
                <a:latin typeface="+mn-ea"/>
              </a:rPr>
              <a:t>ROS_HOSTNAME:7890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service request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TextBox 23"/>
          <p:cNvSpPr txBox="1"/>
          <p:nvPr/>
        </p:nvSpPr>
        <p:spPr>
          <a:xfrm>
            <a:off x="3398238" y="4776129"/>
            <a:ext cx="158729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TCPROS: server</a:t>
            </a:r>
          </a:p>
          <a:p>
            <a:pPr algn="ctr"/>
            <a:r>
              <a:rPr lang="en-US" sz="1050" dirty="0">
                <a:latin typeface="+mn-ea"/>
              </a:rPr>
              <a:t>ROS_HOSTNAME:3456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Service response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7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与话题模式不同，服务只连接一次，并在执行服务请求和服务响应后断开连接。也就是说，这是一次性的。</a:t>
            </a:r>
            <a:endParaRPr lang="en-US" altLang="ko-KR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4" name="Oval 6"/>
          <p:cNvSpPr/>
          <p:nvPr/>
        </p:nvSpPr>
        <p:spPr>
          <a:xfrm>
            <a:off x="3659655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Node1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" name="Oval 7"/>
          <p:cNvSpPr/>
          <p:nvPr/>
        </p:nvSpPr>
        <p:spPr>
          <a:xfrm>
            <a:off x="7467040" y="3663027"/>
            <a:ext cx="1064462" cy="10644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2100" dirty="0">
                <a:solidFill>
                  <a:srgbClr val="FF0000"/>
                </a:solidFill>
                <a:latin typeface="+mj-ea"/>
                <a:ea typeface="+mj-ea"/>
              </a:rPr>
              <a:t>Node2</a:t>
            </a:r>
            <a:endParaRPr lang="en-US" sz="2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TextBox 10"/>
          <p:cNvSpPr txBox="1"/>
          <p:nvPr/>
        </p:nvSpPr>
        <p:spPr>
          <a:xfrm>
            <a:off x="7220852" y="4776129"/>
            <a:ext cx="15568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 : Client</a:t>
            </a:r>
          </a:p>
          <a:p>
            <a:pPr algn="ctr"/>
            <a:r>
              <a:rPr lang="en-US" sz="1050" dirty="0">
                <a:latin typeface="+mn-ea"/>
              </a:rPr>
              <a:t>ROS_HOSTNAME:7890</a:t>
            </a:r>
          </a:p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service request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7" name="Curved Connector 12"/>
          <p:cNvCxnSpPr/>
          <p:nvPr/>
        </p:nvCxnSpPr>
        <p:spPr>
          <a:xfrm>
            <a:off x="4764954" y="4131936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3"/>
          <p:cNvSpPr txBox="1"/>
          <p:nvPr/>
        </p:nvSpPr>
        <p:spPr>
          <a:xfrm>
            <a:off x="3398238" y="4776129"/>
            <a:ext cx="158729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  <a:latin typeface="+mn-ea"/>
              </a:rPr>
              <a:t>TCPROS: server</a:t>
            </a:r>
          </a:p>
          <a:p>
            <a:pPr algn="ctr"/>
            <a:r>
              <a:rPr lang="en-US" sz="1050" dirty="0">
                <a:latin typeface="+mn-ea"/>
              </a:rPr>
              <a:t>ROS_HOSTNAME:3456</a:t>
            </a:r>
          </a:p>
          <a:p>
            <a:pPr algn="ctr"/>
            <a:r>
              <a:rPr lang="en-US" altLang="ko-KR" sz="1050" b="1" dirty="0">
                <a:solidFill>
                  <a:srgbClr val="FF0000"/>
                </a:solidFill>
                <a:latin typeface="+mn-ea"/>
              </a:rPr>
              <a:t>Service response</a:t>
            </a:r>
            <a:endParaRPr lang="en-US" sz="105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9" name="Curved Connector 14"/>
          <p:cNvCxnSpPr/>
          <p:nvPr/>
        </p:nvCxnSpPr>
        <p:spPr>
          <a:xfrm>
            <a:off x="4764954" y="4292846"/>
            <a:ext cx="2646574" cy="1"/>
          </a:xfrm>
          <a:prstGeom prst="curvedConnector3">
            <a:avLst/>
          </a:prstGeom>
          <a:ln w="31750"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7"/>
          <p:cNvSpPr txBox="1"/>
          <p:nvPr/>
        </p:nvSpPr>
        <p:spPr>
          <a:xfrm>
            <a:off x="5361668" y="4311100"/>
            <a:ext cx="14686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 dirty="0">
                <a:solidFill>
                  <a:srgbClr val="FF0000"/>
                </a:solidFill>
              </a:rPr>
              <a:t>Receive message</a:t>
            </a:r>
          </a:p>
          <a:p>
            <a:pPr algn="ctr"/>
            <a:r>
              <a:rPr lang="en-US" altLang="ko-KR" sz="1350" dirty="0">
                <a:solidFill>
                  <a:srgbClr val="FF0000"/>
                </a:solidFill>
              </a:rPr>
              <a:t>(Service response</a:t>
            </a:r>
            <a:r>
              <a:rPr lang="en-US" sz="135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1" name="TextBox 18"/>
          <p:cNvSpPr txBox="1"/>
          <p:nvPr/>
        </p:nvSpPr>
        <p:spPr>
          <a:xfrm>
            <a:off x="5433171" y="3663028"/>
            <a:ext cx="133402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50" dirty="0">
                <a:solidFill>
                  <a:srgbClr val="FF0000"/>
                </a:solidFill>
              </a:rPr>
              <a:t>Send Message</a:t>
            </a:r>
          </a:p>
          <a:p>
            <a:pPr algn="ctr"/>
            <a:r>
              <a:rPr lang="en-US" sz="1350" dirty="0">
                <a:solidFill>
                  <a:srgbClr val="FF0000"/>
                </a:solidFill>
              </a:rPr>
              <a:t>(service request)</a:t>
            </a:r>
          </a:p>
        </p:txBody>
      </p:sp>
      <p:sp>
        <p:nvSpPr>
          <p:cNvPr id="12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消息通信的过程</a:t>
            </a:r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/>
          <a:lstStyle/>
          <a:p>
            <a:r>
              <a:rPr lang="en-US" altLang="en-US" b="1" dirty="0" err="1">
                <a:latin typeface="+mj-ea"/>
              </a:rPr>
              <a:t>turtlesim</a:t>
            </a:r>
            <a:r>
              <a:rPr lang="en-US" altLang="en-US" b="1" dirty="0">
                <a:latin typeface="+mj-ea"/>
              </a:rPr>
              <a:t> </a:t>
            </a:r>
            <a:r>
              <a:rPr lang="en-US" altLang="ko-KR" b="1" dirty="0">
                <a:latin typeface="+mj-ea"/>
              </a:rPr>
              <a:t>package</a:t>
            </a:r>
            <a:endParaRPr lang="en-US" altLang="en-US" dirty="0">
              <a:latin typeface="+mj-ea"/>
            </a:endParaRPr>
          </a:p>
          <a:p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/>
              <a:t>roscore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/>
              <a:t>rosrun</a:t>
            </a:r>
            <a:r>
              <a:rPr lang="en-US" altLang="en-US" dirty="0"/>
              <a:t> </a:t>
            </a:r>
            <a:r>
              <a:rPr lang="en-US" altLang="en-US" dirty="0" err="1"/>
              <a:t>turtlesim</a:t>
            </a:r>
            <a:r>
              <a:rPr lang="en-US" altLang="en-US" dirty="0"/>
              <a:t> </a:t>
            </a:r>
            <a:r>
              <a:rPr lang="en-US" altLang="en-US" dirty="0" err="1"/>
              <a:t>turtlesim_node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/>
              <a:t>rosrun</a:t>
            </a:r>
            <a:r>
              <a:rPr lang="en-US" altLang="en-US" dirty="0"/>
              <a:t> </a:t>
            </a:r>
            <a:r>
              <a:rPr lang="en-US" altLang="en-US" dirty="0" err="1"/>
              <a:t>turtlesim</a:t>
            </a:r>
            <a:r>
              <a:rPr lang="en-US" altLang="en-US" dirty="0"/>
              <a:t> </a:t>
            </a:r>
            <a:r>
              <a:rPr lang="en-US" altLang="en-US" dirty="0" err="1"/>
              <a:t>turtle_teleop_key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err="1"/>
              <a:t>rosrun</a:t>
            </a:r>
            <a:r>
              <a:rPr lang="en-US" altLang="en-US" dirty="0"/>
              <a:t> </a:t>
            </a:r>
            <a:r>
              <a:rPr lang="en-US" altLang="en-US" dirty="0" err="1"/>
              <a:t>rqt_graph</a:t>
            </a:r>
            <a:r>
              <a:rPr lang="en-US" altLang="en-US" dirty="0"/>
              <a:t> </a:t>
            </a:r>
            <a:r>
              <a:rPr lang="en-US" altLang="en-US" dirty="0" err="1"/>
              <a:t>rqt_graph</a:t>
            </a:r>
            <a:endParaRPr lang="en-US" altLang="en-US" dirty="0"/>
          </a:p>
        </p:txBody>
      </p:sp>
      <p:sp>
        <p:nvSpPr>
          <p:cNvPr id="3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19</a:t>
            </a:fld>
            <a:endParaRPr lang="ko-KR" altLang="en-US" dirty="0"/>
          </a:p>
        </p:txBody>
      </p:sp>
      <p:pic>
        <p:nvPicPr>
          <p:cNvPr id="4" name="Picture 3" descr="http://cafeptthumb3.phinf.naver.net/20130908_8/passionvirus_13786285093853Assa_PNG/tutlesim2.png?type=w74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304" y="1862826"/>
            <a:ext cx="2012949" cy="2404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http://cafeptthumb1.phinf.naver.net/20130908_119/passionvirus_1378628509564KKVq0_PNG/tutlesim3.png?type=w74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277" y="1862826"/>
            <a:ext cx="1984857" cy="2404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://cafeptthumb4.phinf.naver.net/20130916_103/passionvirus_13793076135113bdo5_PNG/rqtgraph.png?type=w74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303" y="4460862"/>
            <a:ext cx="4230060" cy="14524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理解消息通信概念</a:t>
            </a:r>
            <a:r>
              <a:rPr lang="en-US" altLang="ko-KR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!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抓住消息传播理念</a:t>
            </a:r>
            <a:r>
              <a:rPr lang="en-US" altLang="ko-KR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!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Text Placeholder 1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/>
          <a:lstStyle/>
          <a:p>
            <a:r>
              <a:rPr lang="en-US" altLang="ko-KR" dirty="0"/>
              <a:t>10.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例子</a:t>
            </a:r>
            <a:r>
              <a:rPr lang="en-US" altLang="ko-KR" dirty="0"/>
              <a:t>!  </a:t>
            </a:r>
            <a:r>
              <a:rPr lang="en-US" altLang="en-US" dirty="0" err="1">
                <a:latin typeface="+mj-ea"/>
              </a:rPr>
              <a:t>turtlesim</a:t>
            </a:r>
            <a:endParaRPr lang="en-US" altLang="ko-KR" dirty="0">
              <a:latin typeface="+mj-e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F19DD69B-5B93-40AA-9F86-65D820C689CC}" type="slidenum">
              <a:rPr lang="ko-KR" altLang="en-US" smtClean="0"/>
              <a:t>20</a:t>
            </a:fld>
            <a:endParaRPr lang="ko-KR" altLang="en-US" dirty="0"/>
          </a:p>
        </p:txBody>
      </p:sp>
      <p:grpSp>
        <p:nvGrpSpPr>
          <p:cNvPr id="5" name="Group 1"/>
          <p:cNvGrpSpPr/>
          <p:nvPr/>
        </p:nvGrpSpPr>
        <p:grpSpPr>
          <a:xfrm>
            <a:off x="1857289" y="1442900"/>
            <a:ext cx="8417505" cy="5255021"/>
            <a:chOff x="355085" y="1446931"/>
            <a:chExt cx="6747542" cy="4212468"/>
          </a:xfrm>
        </p:grpSpPr>
        <p:sp>
          <p:nvSpPr>
            <p:cNvPr id="6" name="Rectangle 4"/>
            <p:cNvSpPr/>
            <p:nvPr/>
          </p:nvSpPr>
          <p:spPr>
            <a:xfrm>
              <a:off x="375463" y="1446931"/>
              <a:ext cx="6426714" cy="42124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7" name="Oval 5"/>
            <p:cNvSpPr/>
            <p:nvPr/>
          </p:nvSpPr>
          <p:spPr>
            <a:xfrm>
              <a:off x="3123861" y="1550269"/>
              <a:ext cx="1064462" cy="106446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2400" dirty="0" err="1">
                  <a:solidFill>
                    <a:schemeClr val="tx1"/>
                  </a:solidFill>
                  <a:latin typeface="+mj-ea"/>
                  <a:ea typeface="+mj-ea"/>
                </a:rPr>
                <a:t>roscore</a:t>
              </a:r>
              <a:endParaRPr lang="en-US" sz="240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Oval 6"/>
            <p:cNvSpPr/>
            <p:nvPr/>
          </p:nvSpPr>
          <p:spPr>
            <a:xfrm>
              <a:off x="1220168" y="3731473"/>
              <a:ext cx="1064462" cy="106446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sz="36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9" name="Oval 7"/>
            <p:cNvSpPr/>
            <p:nvPr/>
          </p:nvSpPr>
          <p:spPr>
            <a:xfrm>
              <a:off x="5027553" y="3731473"/>
              <a:ext cx="1064462" cy="106446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sz="36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cxnSp>
          <p:nvCxnSpPr>
            <p:cNvPr id="10" name="Curved Connector 8"/>
            <p:cNvCxnSpPr>
              <a:endCxn id="7" idx="2"/>
            </p:cNvCxnSpPr>
            <p:nvPr/>
          </p:nvCxnSpPr>
          <p:spPr>
            <a:xfrm rot="5400000" flipH="1" flipV="1">
              <a:off x="1613643" y="2221258"/>
              <a:ext cx="1648973" cy="1371461"/>
            </a:xfrm>
            <a:prstGeom prst="curvedConnector2">
              <a:avLst/>
            </a:prstGeom>
            <a:ln w="31750"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urved Connector 9"/>
            <p:cNvCxnSpPr>
              <a:stCxn id="7" idx="6"/>
            </p:cNvCxnSpPr>
            <p:nvPr/>
          </p:nvCxnSpPr>
          <p:spPr>
            <a:xfrm>
              <a:off x="4188322" y="2082501"/>
              <a:ext cx="1371462" cy="1648972"/>
            </a:xfrm>
            <a:prstGeom prst="curvedConnector2">
              <a:avLst/>
            </a:prstGeom>
            <a:ln w="3175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0"/>
            <p:cNvSpPr txBox="1"/>
            <p:nvPr/>
          </p:nvSpPr>
          <p:spPr>
            <a:xfrm>
              <a:off x="4460869" y="4844574"/>
              <a:ext cx="2197831" cy="6661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n-ea"/>
                </a:rPr>
                <a:t>http://192.168.4.100:50051</a:t>
              </a:r>
            </a:p>
            <a:p>
              <a:pPr algn="ctr"/>
              <a:r>
                <a:rPr lang="en-US" sz="1600" dirty="0" err="1">
                  <a:latin typeface="+mn-ea"/>
                </a:rPr>
                <a:t>turtlesim_node</a:t>
              </a:r>
              <a:r>
                <a:rPr lang="en-US" sz="1600" dirty="0">
                  <a:latin typeface="+mn-ea"/>
                </a:rPr>
                <a:t> </a:t>
              </a:r>
              <a:r>
                <a:rPr lang="en-US" altLang="ko-KR" sz="1600" dirty="0">
                  <a:latin typeface="+mn-ea"/>
                </a:rPr>
                <a:t>Node</a:t>
              </a:r>
              <a:endParaRPr lang="en-US" sz="1600" dirty="0">
                <a:latin typeface="+mn-ea"/>
              </a:endParaRPr>
            </a:p>
            <a:p>
              <a:pPr algn="ctr"/>
              <a:r>
                <a:rPr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接收信息</a:t>
              </a:r>
              <a:endParaRPr 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3482" y="4844574"/>
              <a:ext cx="2197831" cy="6661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+mn-ea"/>
                </a:rPr>
                <a:t>http://192.168.4.100:45704</a:t>
              </a:r>
            </a:p>
            <a:p>
              <a:pPr algn="ctr"/>
              <a:r>
                <a:rPr lang="en-US" sz="1600" dirty="0" err="1">
                  <a:latin typeface="+mn-ea"/>
                </a:rPr>
                <a:t>turtle_teleop_key</a:t>
              </a:r>
              <a:r>
                <a:rPr lang="en-US" sz="1600" dirty="0">
                  <a:latin typeface="+mn-ea"/>
                </a:rPr>
                <a:t> </a:t>
              </a:r>
              <a:r>
                <a:rPr lang="en-US" altLang="ko-KR" sz="1600" dirty="0">
                  <a:latin typeface="+mn-ea"/>
                </a:rPr>
                <a:t>Node</a:t>
              </a:r>
              <a:endParaRPr lang="en-US" sz="1600" dirty="0">
                <a:latin typeface="+mn-ea"/>
              </a:endParaRPr>
            </a:p>
            <a:p>
              <a:pPr algn="ctr"/>
              <a:r>
                <a:rPr lang="zh-CN" altLang="en-US" sz="16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发送信息</a:t>
              </a:r>
              <a:endParaRPr 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14" name="Curved Connector 18"/>
            <p:cNvCxnSpPr/>
            <p:nvPr/>
          </p:nvCxnSpPr>
          <p:spPr>
            <a:xfrm flipV="1">
              <a:off x="2401058" y="4263967"/>
              <a:ext cx="2538282" cy="1"/>
            </a:xfrm>
            <a:prstGeom prst="curvedConnector3">
              <a:avLst/>
            </a:prstGeom>
            <a:ln w="66675">
              <a:solidFill>
                <a:srgbClr val="FF0000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9"/>
            <p:cNvSpPr txBox="1"/>
            <p:nvPr/>
          </p:nvSpPr>
          <p:spPr>
            <a:xfrm>
              <a:off x="2905314" y="4380850"/>
              <a:ext cx="1502399" cy="5674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发送信息</a:t>
              </a:r>
              <a:endParaRPr lang="en-US" altLang="ko-KR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algn="ctr"/>
              <a:r>
                <a:rPr lang="en-US" altLang="ko-KR" sz="2000" dirty="0">
                  <a:solidFill>
                    <a:srgbClr val="FF0000"/>
                  </a:solidFill>
                </a:rPr>
                <a:t>/turtle1/</a:t>
              </a:r>
              <a:r>
                <a:rPr lang="en-US" altLang="ko-KR" sz="2000" dirty="0" err="1">
                  <a:solidFill>
                    <a:srgbClr val="FF0000"/>
                  </a:solidFill>
                </a:rPr>
                <a:t>cmd_vel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  <p:grpSp>
          <p:nvGrpSpPr>
            <p:cNvPr id="16" name="Group 20"/>
            <p:cNvGrpSpPr/>
            <p:nvPr/>
          </p:nvGrpSpPr>
          <p:grpSpPr>
            <a:xfrm>
              <a:off x="3025118" y="2971085"/>
              <a:ext cx="1905151" cy="972151"/>
              <a:chOff x="1749995" y="1962778"/>
              <a:chExt cx="2540201" cy="1296203"/>
            </a:xfrm>
          </p:grpSpPr>
          <p:sp>
            <p:nvSpPr>
              <p:cNvPr id="33" name="Folded Corner 21"/>
              <p:cNvSpPr/>
              <p:nvPr/>
            </p:nvSpPr>
            <p:spPr>
              <a:xfrm>
                <a:off x="1764048" y="1962778"/>
                <a:ext cx="2526148" cy="1296203"/>
              </a:xfrm>
              <a:prstGeom prst="foldedCorner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34" name="TextBox 22"/>
              <p:cNvSpPr txBox="1"/>
              <p:nvPr/>
            </p:nvSpPr>
            <p:spPr>
              <a:xfrm>
                <a:off x="1749995" y="1971417"/>
                <a:ext cx="2177955" cy="108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发布者节点信息</a:t>
                </a:r>
                <a:r>
                  <a:rPr lang="en-US" altLang="ko-KR" sz="1050" dirty="0">
                    <a:latin typeface="+mn-ea"/>
                  </a:rPr>
                  <a:t>:</a:t>
                </a:r>
              </a:p>
              <a:p>
                <a:r>
                  <a:rPr lang="en-US" sz="1200" dirty="0">
                    <a:latin typeface="+mn-ea"/>
                  </a:rPr>
                  <a:t>/</a:t>
                </a:r>
                <a:r>
                  <a:rPr lang="en-US" sz="1200" dirty="0" err="1">
                    <a:latin typeface="+mn-ea"/>
                  </a:rPr>
                  <a:t>teleop_turtle</a:t>
                </a:r>
                <a:r>
                  <a:rPr lang="en-US" sz="1200" dirty="0">
                    <a:latin typeface="+mn-ea"/>
                  </a:rPr>
                  <a:t>,</a:t>
                </a:r>
              </a:p>
              <a:p>
                <a:r>
                  <a:rPr lang="en-US" sz="1200" dirty="0">
                    <a:latin typeface="+mn-ea"/>
                  </a:rPr>
                  <a:t>/turtle1/</a:t>
                </a:r>
                <a:r>
                  <a:rPr lang="en-US" sz="1200" dirty="0" err="1">
                    <a:latin typeface="+mn-ea"/>
                  </a:rPr>
                  <a:t>cmd_vel</a:t>
                </a:r>
                <a:r>
                  <a:rPr lang="en-US" sz="1200" dirty="0">
                    <a:latin typeface="+mn-ea"/>
                  </a:rPr>
                  <a:t>,</a:t>
                </a:r>
              </a:p>
              <a:p>
                <a:r>
                  <a:rPr lang="en-US" sz="1200" dirty="0" err="1">
                    <a:latin typeface="+mn-ea"/>
                  </a:rPr>
                  <a:t>geomety_msgs</a:t>
                </a:r>
                <a:r>
                  <a:rPr lang="en-US" sz="1200" dirty="0">
                    <a:latin typeface="+mn-ea"/>
                  </a:rPr>
                  <a:t>/Twist,</a:t>
                </a:r>
              </a:p>
              <a:p>
                <a:r>
                  <a:rPr lang="en-US" sz="1200" dirty="0">
                    <a:latin typeface="+mn-ea"/>
                  </a:rPr>
                  <a:t>http://192.168.4.100:45704</a:t>
                </a:r>
              </a:p>
            </p:txBody>
          </p:sp>
        </p:grpSp>
        <p:grpSp>
          <p:nvGrpSpPr>
            <p:cNvPr id="17" name="Group 24"/>
            <p:cNvGrpSpPr/>
            <p:nvPr/>
          </p:nvGrpSpPr>
          <p:grpSpPr>
            <a:xfrm>
              <a:off x="355085" y="1530723"/>
              <a:ext cx="1767721" cy="953359"/>
              <a:chOff x="1694097" y="1962778"/>
              <a:chExt cx="2356960" cy="1271146"/>
            </a:xfrm>
          </p:grpSpPr>
          <p:sp>
            <p:nvSpPr>
              <p:cNvPr id="31" name="TextBox 25"/>
              <p:cNvSpPr txBox="1"/>
              <p:nvPr/>
            </p:nvSpPr>
            <p:spPr>
              <a:xfrm>
                <a:off x="1694097" y="1971417"/>
                <a:ext cx="2177955" cy="11513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发布者节点信息</a:t>
                </a:r>
                <a:r>
                  <a:rPr lang="en-US" altLang="ko-KR" sz="1600" dirty="0">
                    <a:latin typeface="+mn-ea"/>
                  </a:rPr>
                  <a:t>:</a:t>
                </a:r>
              </a:p>
              <a:p>
                <a:r>
                  <a:rPr lang="en-US" sz="1200" dirty="0">
                    <a:latin typeface="+mn-ea"/>
                  </a:rPr>
                  <a:t>/</a:t>
                </a:r>
                <a:r>
                  <a:rPr lang="en-US" sz="1200" dirty="0" err="1">
                    <a:latin typeface="+mn-ea"/>
                  </a:rPr>
                  <a:t>teleop_turtle</a:t>
                </a:r>
                <a:r>
                  <a:rPr lang="en-US" sz="1200" dirty="0">
                    <a:latin typeface="+mn-ea"/>
                  </a:rPr>
                  <a:t>,</a:t>
                </a:r>
              </a:p>
              <a:p>
                <a:r>
                  <a:rPr lang="en-US" sz="1200" dirty="0">
                    <a:latin typeface="+mn-ea"/>
                  </a:rPr>
                  <a:t>/turtle1/</a:t>
                </a:r>
                <a:r>
                  <a:rPr lang="en-US" sz="1200" dirty="0" err="1">
                    <a:latin typeface="+mn-ea"/>
                  </a:rPr>
                  <a:t>cmd_vel</a:t>
                </a:r>
                <a:r>
                  <a:rPr lang="en-US" sz="1200" dirty="0">
                    <a:latin typeface="+mn-ea"/>
                  </a:rPr>
                  <a:t>,</a:t>
                </a:r>
              </a:p>
              <a:p>
                <a:r>
                  <a:rPr lang="en-US" sz="1200" dirty="0" err="1">
                    <a:latin typeface="+mn-ea"/>
                  </a:rPr>
                  <a:t>geomety_msgs</a:t>
                </a:r>
                <a:r>
                  <a:rPr lang="en-US" sz="1200" dirty="0">
                    <a:latin typeface="+mn-ea"/>
                  </a:rPr>
                  <a:t>/Twist,</a:t>
                </a:r>
              </a:p>
              <a:p>
                <a:r>
                  <a:rPr lang="en-US" sz="1200" dirty="0">
                    <a:latin typeface="+mn-ea"/>
                  </a:rPr>
                  <a:t>http://192.168.4.100:45704</a:t>
                </a:r>
              </a:p>
            </p:txBody>
          </p:sp>
          <p:sp>
            <p:nvSpPr>
              <p:cNvPr id="32" name="Folded Corner 26"/>
              <p:cNvSpPr/>
              <p:nvPr/>
            </p:nvSpPr>
            <p:spPr>
              <a:xfrm>
                <a:off x="1708150" y="1962778"/>
                <a:ext cx="2342907" cy="1271146"/>
              </a:xfrm>
              <a:prstGeom prst="foldedCorner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grpSp>
          <p:nvGrpSpPr>
            <p:cNvPr id="18" name="Group 27"/>
            <p:cNvGrpSpPr/>
            <p:nvPr/>
          </p:nvGrpSpPr>
          <p:grpSpPr>
            <a:xfrm>
              <a:off x="5230718" y="1517226"/>
              <a:ext cx="1871909" cy="966856"/>
              <a:chOff x="8194939" y="1944783"/>
              <a:chExt cx="2495878" cy="1289142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8194939" y="1944783"/>
                <a:ext cx="2464972" cy="108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订阅者节点信息</a:t>
                </a:r>
                <a:r>
                  <a:rPr lang="en-US" altLang="ko-KR" sz="11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:</a:t>
                </a:r>
              </a:p>
              <a:p>
                <a:r>
                  <a:rPr lang="en-US" sz="1200" dirty="0">
                    <a:latin typeface="+mn-ea"/>
                  </a:rPr>
                  <a:t>/</a:t>
                </a:r>
                <a:r>
                  <a:rPr lang="en-US" sz="1200" dirty="0" err="1">
                    <a:latin typeface="+mn-ea"/>
                  </a:rPr>
                  <a:t>turtlesim</a:t>
                </a:r>
                <a:r>
                  <a:rPr lang="en-US" sz="1200" dirty="0">
                    <a:latin typeface="+mn-ea"/>
                  </a:rPr>
                  <a:t>,</a:t>
                </a:r>
              </a:p>
              <a:p>
                <a:r>
                  <a:rPr lang="en-US" sz="1200" dirty="0">
                    <a:latin typeface="+mn-ea"/>
                  </a:rPr>
                  <a:t>/turtle1/</a:t>
                </a:r>
                <a:r>
                  <a:rPr lang="en-US" sz="1200" dirty="0" err="1">
                    <a:latin typeface="+mn-ea"/>
                  </a:rPr>
                  <a:t>cmd_vel</a:t>
                </a:r>
                <a:r>
                  <a:rPr lang="en-US" sz="1200" dirty="0">
                    <a:latin typeface="+mn-ea"/>
                  </a:rPr>
                  <a:t>,</a:t>
                </a:r>
              </a:p>
              <a:p>
                <a:r>
                  <a:rPr lang="en-US" sz="1200" dirty="0" err="1">
                    <a:latin typeface="+mn-ea"/>
                  </a:rPr>
                  <a:t>geomety_msgs</a:t>
                </a:r>
                <a:r>
                  <a:rPr lang="en-US" sz="1200" dirty="0">
                    <a:latin typeface="+mn-ea"/>
                  </a:rPr>
                  <a:t>/Twist,</a:t>
                </a:r>
              </a:p>
              <a:p>
                <a:r>
                  <a:rPr lang="en-US" sz="1200" dirty="0">
                    <a:latin typeface="+mn-ea"/>
                  </a:rPr>
                  <a:t>http://192.168.4.100:50051</a:t>
                </a:r>
              </a:p>
            </p:txBody>
          </p:sp>
          <p:sp>
            <p:nvSpPr>
              <p:cNvPr id="30" name="Folded Corner 29"/>
              <p:cNvSpPr/>
              <p:nvPr/>
            </p:nvSpPr>
            <p:spPr>
              <a:xfrm>
                <a:off x="8194939" y="1948040"/>
                <a:ext cx="2495878" cy="1285885"/>
              </a:xfrm>
              <a:prstGeom prst="foldedCorner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sp>
          <p:nvSpPr>
            <p:cNvPr id="19" name="TextBox 30"/>
            <p:cNvSpPr txBox="1"/>
            <p:nvPr/>
          </p:nvSpPr>
          <p:spPr>
            <a:xfrm>
              <a:off x="2819295" y="2251963"/>
              <a:ext cx="1633467" cy="715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主节点</a:t>
              </a:r>
              <a:br>
                <a:rPr lang="en-US" altLang="ko-KR" sz="1600" dirty="0">
                  <a:solidFill>
                    <a:srgbClr val="FF0000"/>
                  </a:solidFill>
                  <a:latin typeface="+mn-ea"/>
                </a:rPr>
              </a:br>
              <a:br>
                <a:rPr lang="en-US" altLang="ko-KR" sz="1200" dirty="0">
                  <a:latin typeface="+mn-ea"/>
                </a:rPr>
              </a:br>
              <a:r>
                <a:rPr lang="en-US" altLang="ko-KR" sz="1200" dirty="0">
                  <a:latin typeface="+mn-ea"/>
                </a:rPr>
                <a:t>http://192.168.4.100:11311</a:t>
              </a:r>
              <a:br>
                <a:rPr lang="en-US" altLang="ko-KR" sz="1200" dirty="0">
                  <a:latin typeface="+mn-ea"/>
                </a:rPr>
              </a:br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节点管理信息</a:t>
              </a:r>
              <a:endParaRPr lang="en-US" sz="12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pic>
          <p:nvPicPr>
            <p:cNvPr id="20" name="Picture 4" descr="http://www3.pcmag.com/media/images/306327-logitech-k810-bluetooth-illuminated-keyboard.jpg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536" y="3841710"/>
              <a:ext cx="1205882" cy="734382"/>
            </a:xfrm>
            <a:prstGeom prst="rect">
              <a:avLst/>
            </a:prstGeom>
            <a:noFill/>
          </p:spPr>
        </p:pic>
        <p:sp>
          <p:nvSpPr>
            <p:cNvPr id="21" name="TextBox 31"/>
            <p:cNvSpPr txBox="1"/>
            <p:nvPr/>
          </p:nvSpPr>
          <p:spPr>
            <a:xfrm>
              <a:off x="1356912" y="4367266"/>
              <a:ext cx="867619" cy="32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/>
                <a:t>← ↑↓ →</a:t>
              </a:r>
              <a:endParaRPr lang="en-US" sz="2000" dirty="0"/>
            </a:p>
          </p:txBody>
        </p:sp>
        <p:sp>
          <p:nvSpPr>
            <p:cNvPr id="22" name="TextBox 39"/>
            <p:cNvSpPr txBox="1"/>
            <p:nvPr/>
          </p:nvSpPr>
          <p:spPr>
            <a:xfrm>
              <a:off x="3511983" y="3947496"/>
              <a:ext cx="358766" cy="3207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b="1" dirty="0"/>
                <a:t>④</a:t>
              </a:r>
              <a:endParaRPr lang="en-US" sz="2000" b="1" dirty="0"/>
            </a:p>
          </p:txBody>
        </p:sp>
        <p:sp>
          <p:nvSpPr>
            <p:cNvPr id="23" name="Rectangle 42"/>
            <p:cNvSpPr/>
            <p:nvPr/>
          </p:nvSpPr>
          <p:spPr>
            <a:xfrm>
              <a:off x="4832849" y="2068524"/>
              <a:ext cx="358766" cy="320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2000" b="1" dirty="0"/>
                <a:t>①</a:t>
              </a:r>
              <a:endParaRPr lang="en-US" sz="2000" dirty="0"/>
            </a:p>
          </p:txBody>
        </p:sp>
        <p:sp>
          <p:nvSpPr>
            <p:cNvPr id="24" name="Rectangle 43"/>
            <p:cNvSpPr/>
            <p:nvPr/>
          </p:nvSpPr>
          <p:spPr>
            <a:xfrm>
              <a:off x="2150763" y="2068524"/>
              <a:ext cx="358766" cy="320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2000" b="1" dirty="0"/>
                <a:t>②</a:t>
              </a:r>
              <a:endParaRPr lang="en-US" sz="2000" dirty="0"/>
            </a:p>
          </p:txBody>
        </p:sp>
        <p:sp>
          <p:nvSpPr>
            <p:cNvPr id="25" name="Rectangle 44"/>
            <p:cNvSpPr/>
            <p:nvPr/>
          </p:nvSpPr>
          <p:spPr>
            <a:xfrm>
              <a:off x="4671916" y="2711086"/>
              <a:ext cx="358766" cy="3207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2000" b="1" dirty="0"/>
                <a:t>③</a:t>
              </a:r>
              <a:endParaRPr lang="en-US" sz="2000" dirty="0"/>
            </a:p>
          </p:txBody>
        </p:sp>
        <p:cxnSp>
          <p:nvCxnSpPr>
            <p:cNvPr id="26" name="Curved Connector 51"/>
            <p:cNvCxnSpPr/>
            <p:nvPr/>
          </p:nvCxnSpPr>
          <p:spPr>
            <a:xfrm rot="420000">
              <a:off x="4106896" y="2350734"/>
              <a:ext cx="1371462" cy="1648972"/>
            </a:xfrm>
            <a:prstGeom prst="curvedConnector2">
              <a:avLst/>
            </a:prstGeom>
            <a:ln w="31750">
              <a:headEnd type="non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Isosceles Triangle 38"/>
            <p:cNvSpPr/>
            <p:nvPr/>
          </p:nvSpPr>
          <p:spPr>
            <a:xfrm rot="9926753">
              <a:off x="5247185" y="3300646"/>
              <a:ext cx="108012" cy="108012"/>
            </a:xfrm>
            <a:prstGeom prst="triangl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pic>
          <p:nvPicPr>
            <p:cNvPr id="28" name="Picture 2" descr="http://cafeptthumb4.phinf.naver.net/20130908_119/passionvirus_1378628509564KKVq0_PNG/tutlesim3.png?type=w74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8041" y="3412282"/>
              <a:ext cx="1340661" cy="141276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5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名称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내용 개체 틀 6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节点或消息的唯一标识符</a:t>
            </a: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ko-KR" dirty="0"/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主题、服务、操作、参数</a:t>
            </a:r>
            <a:r>
              <a:rPr lang="en-US" altLang="ko-KR" dirty="0"/>
              <a:t>)</a:t>
            </a:r>
            <a:endParaRPr lang="en-US" altLang="ko-KR" b="1" dirty="0"/>
          </a:p>
          <a:p>
            <a:pPr lvl="1"/>
            <a:r>
              <a:rPr lang="en-US" altLang="ko-KR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支持称为图（</a:t>
            </a:r>
            <a:r>
              <a:rPr lang="en-US" altLang="ko-KR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的抽象数据类型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ko-KR" b="1" dirty="0"/>
              <a:t>Global</a:t>
            </a:r>
          </a:p>
          <a:p>
            <a:pPr lvl="2"/>
            <a:r>
              <a:rPr lang="en-US" altLang="ko-KR" dirty="0"/>
              <a:t>Use the name as is or prepend a slash (/) to the name.</a:t>
            </a:r>
          </a:p>
          <a:p>
            <a:pPr lvl="1"/>
            <a:r>
              <a:rPr lang="en-US" altLang="ko-KR" b="1" dirty="0"/>
              <a:t>Private</a:t>
            </a:r>
            <a:endParaRPr lang="en-US" altLang="ko-KR" dirty="0"/>
          </a:p>
          <a:p>
            <a:pPr lvl="2"/>
            <a:r>
              <a:rPr lang="en-US" altLang="ko-KR" dirty="0"/>
              <a:t>Prepend a tilde (~) to the name</a:t>
            </a: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这将在第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章中详细介绍。在这里，我们通过修改话题名称来理解名称的用法</a:t>
            </a:r>
            <a:endParaRPr lang="en-US" altLang="ko-KR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21</a:t>
            </a:fld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973776" y="4818908"/>
          <a:ext cx="10509660" cy="146304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721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76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Relative (</a:t>
                      </a:r>
                      <a:r>
                        <a:rPr lang="zh-CN" altLang="en-US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基本</a:t>
                      </a:r>
                      <a:r>
                        <a:rPr lang="en-US" dirty="0">
                          <a:effectLst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Global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Private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/node1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bar -&gt; /bar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/bar -&gt; /bar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~bar -&gt; /node1/bar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/wg/node2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bar -&gt; /wg/bar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/bar -&gt; /bar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~bar -&gt; /</a:t>
                      </a:r>
                      <a:r>
                        <a:rPr lang="en-US" dirty="0" err="1">
                          <a:effectLst/>
                        </a:rPr>
                        <a:t>wg</a:t>
                      </a:r>
                      <a:r>
                        <a:rPr lang="en-US" dirty="0">
                          <a:effectLst/>
                        </a:rPr>
                        <a:t>/node2/bar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/wg/node3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foo/bar -&gt; /wg/foo/bar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/foo/bar -&gt; /foo/bar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~foo/bar -&gt; /</a:t>
                      </a:r>
                      <a:r>
                        <a:rPr lang="en-US" dirty="0" err="1">
                          <a:effectLst/>
                        </a:rPr>
                        <a:t>wg</a:t>
                      </a:r>
                      <a:r>
                        <a:rPr lang="en-US" dirty="0">
                          <a:effectLst/>
                        </a:rPr>
                        <a:t>/node3/foo/bar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3595" y="1247296"/>
            <a:ext cx="3915125" cy="5113497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命令概述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shell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71500" indent="-571500">
              <a:lnSpc>
                <a:spcPct val="150000"/>
              </a:lnSpc>
              <a:buAutoNum type="arabicPeriod"/>
            </a:pP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执行命令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71500" indent="-571500">
              <a:lnSpc>
                <a:spcPct val="150000"/>
              </a:lnSpc>
              <a:buAutoNum type="arabicPeriod"/>
            </a:pP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信息命令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71500" indent="-571500">
              <a:lnSpc>
                <a:spcPct val="150000"/>
              </a:lnSpc>
              <a:buAutoNum type="arabicPeriod"/>
            </a:pP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catkin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71500" indent="-571500">
              <a:lnSpc>
                <a:spcPct val="150000"/>
              </a:lnSpc>
              <a:buAutoNum type="arabicPeriod"/>
            </a:pPr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功能包命令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4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  <a:t>22</a:t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09720" y="206511"/>
            <a:ext cx="2484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</a:rPr>
              <a:t>ROS </a:t>
            </a:r>
            <a:r>
              <a:rPr lang="zh-CN" altLang="en-US" sz="4000" b="1" dirty="0">
                <a:solidFill>
                  <a:srgbClr val="FF0000"/>
                </a:solidFill>
              </a:rPr>
              <a:t>命令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ko-KR" dirty="0"/>
              <a:t>ROS shell </a:t>
            </a:r>
            <a:r>
              <a:rPr lang="zh-CN" altLang="en-US" dirty="0"/>
              <a:t>命令</a:t>
            </a:r>
            <a:endParaRPr lang="ko-KR" altLang="en-US" dirty="0"/>
          </a:p>
        </p:txBody>
      </p:sp>
      <p:sp>
        <p:nvSpPr>
          <p:cNvPr id="3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23</a:t>
            </a:fld>
            <a:endParaRPr lang="ko-KR" altLang="en-US" dirty="0"/>
          </a:p>
        </p:txBody>
      </p:sp>
      <p:graphicFrame>
        <p:nvGraphicFramePr>
          <p:cNvPr id="4" name="내용 개체 틀 7"/>
          <p:cNvGraphicFramePr>
            <a:graphicFrameLocks noGrp="1"/>
          </p:cNvGraphicFramePr>
          <p:nvPr>
            <p:ph idx="1"/>
          </p:nvPr>
        </p:nvGraphicFramePr>
        <p:xfrm>
          <a:off x="382554" y="1162373"/>
          <a:ext cx="11290042" cy="49890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8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086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重要度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命令释义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b="1" kern="100" dirty="0">
                          <a:solidFill>
                            <a:schemeClr val="lt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详细说明</a:t>
                      </a:r>
                      <a:endParaRPr lang="ko-KR" altLang="ko-KR" sz="1800" b="1" kern="100" dirty="0">
                        <a:solidFill>
                          <a:schemeClr val="lt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029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roscd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ros+cd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(changes directory)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移动到指定的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功能包目录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029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rosls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★☆☆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ros+ls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(lists files)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显示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功能包的文件和目录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029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rosed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★☆☆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ros+ed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(editor)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编辑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功能包文件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029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roscp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★☆☆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ros+cp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(copies files)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复制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功能包文件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029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rospd</a:t>
                      </a:r>
                      <a:endParaRPr lang="ko-KR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☆☆☆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ros+pushd</a:t>
                      </a:r>
                      <a:endParaRPr lang="ko-KR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添加目录至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目录索引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029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rosd</a:t>
                      </a:r>
                      <a:endParaRPr lang="ko-KR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☆☆☆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ros+directory</a:t>
                      </a:r>
                      <a:endParaRPr lang="ko-KR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显示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目录索引中的目录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ko-KR" dirty="0"/>
              <a:t>ROS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执行命令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" name="내용 개체 틀 4"/>
          <p:cNvGraphicFramePr>
            <a:graphicFrameLocks noGrp="1"/>
          </p:cNvGraphicFramePr>
          <p:nvPr>
            <p:ph idx="1"/>
          </p:nvPr>
        </p:nvGraphicFramePr>
        <p:xfrm>
          <a:off x="382554" y="1162371"/>
          <a:ext cx="11290043" cy="4974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7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2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76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重要度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命令释义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b="1" kern="100" dirty="0">
                          <a:solidFill>
                            <a:schemeClr val="lt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详细说明</a:t>
                      </a:r>
                      <a:endParaRPr lang="ko-KR" altLang="ko-KR" sz="1800" b="1" kern="100" dirty="0">
                        <a:solidFill>
                          <a:schemeClr val="lt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245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roscore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ros+core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master (ROS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名称服务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rosout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日记记录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parameter server (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参数管理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6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rosrun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ros+run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运行节点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6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roslaunch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ros+launch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运行多个节点及设置运行选项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76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rosclean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ros+clean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检查或删除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日志文件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24</a:t>
            </a:fld>
            <a:endParaRPr lang="ko-KR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ko-KR" dirty="0"/>
              <a:t>ROS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信息命令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" name="내용 개체 틀 4"/>
          <p:cNvGraphicFramePr>
            <a:graphicFrameLocks noGrp="1"/>
          </p:cNvGraphicFramePr>
          <p:nvPr>
            <p:ph idx="1"/>
          </p:nvPr>
        </p:nvGraphicFramePr>
        <p:xfrm>
          <a:off x="382555" y="1177875"/>
          <a:ext cx="11290041" cy="5067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5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1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5413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重要度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命令释义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b="1" kern="100" dirty="0">
                          <a:solidFill>
                            <a:schemeClr val="lt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详细说明</a:t>
                      </a:r>
                      <a:endParaRPr lang="ko-KR" altLang="ko-KR" sz="1800" b="1" kern="100" dirty="0">
                        <a:solidFill>
                          <a:schemeClr val="lt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rostopic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ros+topic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确认</a:t>
                      </a:r>
                      <a:r>
                        <a:rPr lang="en-US" altLang="zh-CN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话题信息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rosservice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ros+service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确认</a:t>
                      </a:r>
                      <a:r>
                        <a:rPr lang="en-US" altLang="zh-CN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服务信息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rosnode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ros+node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确认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节点信息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rosparam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ros+param</a:t>
                      </a: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(parameter)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确认和修改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参数信息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rosbag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ros+bag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记录和回放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消息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rosmsg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ros+msg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显示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消息类型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rossrv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ros+srv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显示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服务类型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rosversion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★☆☆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ros+version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显示</a:t>
                      </a:r>
                      <a:r>
                        <a:rPr lang="en-US" altLang="zh-CN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功能包的版本信息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694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roswtf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☆☆☆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ros+wtf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检查</a:t>
                      </a:r>
                      <a:r>
                        <a:rPr lang="en-US" altLang="zh-CN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25</a:t>
            </a:fld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ko-KR" dirty="0"/>
              <a:t>ROS catkin </a:t>
            </a:r>
            <a:r>
              <a:rPr lang="zh-CN" altLang="en-US" dirty="0"/>
              <a:t>命令</a:t>
            </a:r>
            <a:endParaRPr lang="ko-KR" altLang="en-US" dirty="0"/>
          </a:p>
        </p:txBody>
      </p:sp>
      <p:graphicFrame>
        <p:nvGraphicFramePr>
          <p:cNvPr id="3" name="내용 개체 틀 4"/>
          <p:cNvGraphicFramePr>
            <a:graphicFrameLocks noGrp="1"/>
          </p:cNvGraphicFramePr>
          <p:nvPr>
            <p:ph idx="1"/>
          </p:nvPr>
        </p:nvGraphicFramePr>
        <p:xfrm>
          <a:off x="382555" y="1208868"/>
          <a:ext cx="11290041" cy="51144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9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7609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</a:t>
                      </a:r>
                      <a:endParaRPr lang="ko-KR" sz="18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重要度</a:t>
                      </a:r>
                      <a:endParaRPr lang="ko-KR" sz="18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b="1" kern="100" dirty="0">
                          <a:solidFill>
                            <a:schemeClr val="lt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详细说明</a:t>
                      </a:r>
                      <a:endParaRPr lang="ko-KR" altLang="ko-KR" sz="1800" b="1" kern="100" dirty="0">
                        <a:solidFill>
                          <a:schemeClr val="lt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547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catkin_create_pkg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自动生成功能包</a:t>
                      </a:r>
                      <a:endParaRPr lang="ko-KR" altLang="ko-KR" sz="1800" kern="1200" dirty="0">
                        <a:solidFill>
                          <a:schemeClr val="dk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547">
                <a:tc>
                  <a:txBody>
                    <a:bodyPr/>
                    <a:lstStyle/>
                    <a:p>
                      <a:pPr marL="6159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catkin_make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基于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catkin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构建系统的构建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547">
                <a:tc>
                  <a:txBody>
                    <a:bodyPr/>
                    <a:lstStyle/>
                    <a:p>
                      <a:pPr marL="6159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catkin_eclipse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对于用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catkin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构建系统生成的功能包进行修改，使其能在 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Eclipse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环境中使用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547">
                <a:tc>
                  <a:txBody>
                    <a:bodyPr/>
                    <a:lstStyle/>
                    <a:p>
                      <a:pPr marL="6159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catkin_prepare_release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发布时用到的日志整理和版本标记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547">
                <a:tc>
                  <a:txBody>
                    <a:bodyPr/>
                    <a:lstStyle/>
                    <a:p>
                      <a:pPr marL="6159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catkin_generate_changelog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marR="0" indent="0" algn="l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在发布时生成或更新</a:t>
                      </a:r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CHANGELOG.rst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文件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547">
                <a:tc>
                  <a:txBody>
                    <a:bodyPr/>
                    <a:lstStyle/>
                    <a:p>
                      <a:pPr marL="6159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catkin_init_workspace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初始化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catkin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构建系统的工作目录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547">
                <a:tc>
                  <a:txBody>
                    <a:bodyPr/>
                    <a:lstStyle/>
                    <a:p>
                      <a:pPr marL="6159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  <a:latin typeface="+mn-ea"/>
                          <a:ea typeface="+mn-ea"/>
                        </a:rPr>
                        <a:t>catkin_find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★☆☆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r>
                        <a:rPr lang="zh-CN" altLang="fi-FI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搜索</a:t>
                      </a:r>
                      <a:r>
                        <a:rPr lang="fi-FI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catkin </a:t>
                      </a:r>
                      <a:endParaRPr lang="fi-FI" altLang="zh-CN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26</a:t>
            </a:fld>
            <a:endParaRPr lang="ko-KR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ko-KR" dirty="0"/>
              <a:t>ROS </a:t>
            </a:r>
            <a:r>
              <a:rPr lang="zh-CN" altLang="en-US" dirty="0"/>
              <a:t>功能包命令</a:t>
            </a:r>
            <a:endParaRPr lang="ko-KR" altLang="en-US" dirty="0"/>
          </a:p>
        </p:txBody>
      </p:sp>
      <p:graphicFrame>
        <p:nvGraphicFramePr>
          <p:cNvPr id="3" name="내용 개체 틀 4"/>
          <p:cNvGraphicFramePr>
            <a:graphicFrameLocks noGrp="1"/>
          </p:cNvGraphicFramePr>
          <p:nvPr>
            <p:ph idx="1"/>
          </p:nvPr>
        </p:nvGraphicFramePr>
        <p:xfrm>
          <a:off x="382556" y="1208871"/>
          <a:ext cx="11290040" cy="50524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1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9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17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重要度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635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命令释义</a:t>
                      </a:r>
                      <a:endParaRPr lang="ko-KR" sz="24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zh-CN" altLang="en-US" sz="1800" b="1" kern="100" dirty="0">
                          <a:solidFill>
                            <a:schemeClr val="lt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详细说明</a:t>
                      </a:r>
                      <a:endParaRPr lang="ko-KR" altLang="ko-KR" sz="1800" b="1" kern="100" dirty="0">
                        <a:solidFill>
                          <a:schemeClr val="lt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7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rospack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★★★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ros+pack(age)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查看与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功能包相关的信息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7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rosinstall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ros+install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安装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附加功能包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7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rosdep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★★☆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ros+dep(endencies)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安装该功能包的依赖性文件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17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roslocate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☆☆☆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ros+locate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功能包信息相关命令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7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roscreate-pkg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☆☆☆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ros+create-pkg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自动生成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用于旧的</a:t>
                      </a:r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rosbuild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1778">
                <a:tc>
                  <a:txBody>
                    <a:bodyPr/>
                    <a:lstStyle/>
                    <a:p>
                      <a:pPr marL="60960"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rosmake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☆☆☆</a:t>
                      </a:r>
                      <a:endParaRPr lang="ko-KR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ros+make</a:t>
                      </a:r>
                      <a:endParaRPr lang="ko-KR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2000" marR="73025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构建 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功能包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用于旧的</a:t>
                      </a:r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rosbuild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 </a:t>
                      </a:r>
                      <a:endParaRPr lang="zh-CN" altLang="en-US"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2000" marR="7302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27</a:t>
            </a:fld>
            <a:endParaRPr lang="ko-KR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579636" y="234494"/>
            <a:ext cx="2092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rgbClr val="FF0000"/>
                </a:solidFill>
                <a:latin typeface="+mn-ea"/>
                <a:ea typeface="+mn-ea"/>
              </a:rPr>
              <a:t>ROS 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工具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RViz</a:t>
            </a:r>
            <a:r>
              <a:rPr lang="en-US" altLang="ko-KR" dirty="0"/>
              <a:t> (ROS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可视化工具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 Placeholder 12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650074"/>
          </a:xfrm>
        </p:spPr>
        <p:txBody>
          <a:bodyPr>
            <a:normAutofit lnSpcReduction="10000"/>
          </a:bodyPr>
          <a:lstStyle/>
          <a:p>
            <a:pPr marL="285750" indent="-285750"/>
            <a:r>
              <a:rPr lang="en-US" altLang="ko-KR" sz="2400" dirty="0">
                <a:solidFill>
                  <a:srgbClr val="00B0F0"/>
                </a:solidFill>
              </a:rPr>
              <a:t>ROS</a:t>
            </a:r>
            <a:r>
              <a:rPr lang="zh-CN" altLang="en-US" sz="2400" dirty="0">
                <a:solidFill>
                  <a:srgbClr val="00B0F0"/>
                </a:solidFill>
              </a:rPr>
              <a:t>的三维可视化工具</a:t>
            </a:r>
            <a:endParaRPr lang="en-US" altLang="ko-KR" sz="2400" dirty="0">
              <a:solidFill>
                <a:srgbClr val="00B0F0"/>
              </a:solidFill>
            </a:endParaRPr>
          </a:p>
          <a:p>
            <a:pPr marL="586105" lvl="1" indent="-285750"/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传感器数据可视化</a:t>
            </a:r>
            <a:endParaRPr lang="en-US" altLang="zh-CN"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86105" lvl="1" indent="-285750"/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激光距离传感器（</a:t>
            </a:r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LDS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）的距离数据</a:t>
            </a:r>
            <a:endParaRPr lang="en-US" altLang="zh-CN"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86105" lvl="1" indent="-285750"/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来自深度相机的点云数据，如“</a:t>
            </a:r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RealSense”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、“</a:t>
            </a:r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Kinect”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、“</a:t>
            </a:r>
            <a:r>
              <a:rPr lang="en-US" altLang="zh-CN" sz="19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Xtion</a:t>
            </a:r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等。</a:t>
            </a:r>
            <a:endParaRPr lang="en-US" altLang="zh-CN"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86105" lvl="1" indent="-285750"/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摄像机图像数据</a:t>
            </a:r>
            <a:endParaRPr lang="en-US" altLang="zh-CN"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86105" lvl="1" indent="-285750"/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IMU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传感器的惯性数据</a:t>
            </a:r>
            <a:r>
              <a:rPr lang="en-US" altLang="zh-CN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……</a:t>
            </a:r>
          </a:p>
          <a:p>
            <a:pPr marL="586105" lvl="1" indent="-285750"/>
            <a:endParaRPr lang="en-US" altLang="ko-KR"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/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表示机器人配置和计划运动</a:t>
            </a:r>
            <a:endParaRPr lang="en-US" altLang="ko-KR" sz="2400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86105" lvl="1" indent="-285750"/>
            <a:r>
              <a:rPr lang="en-US" altLang="ko-KR" sz="1900" dirty="0"/>
              <a:t>URDF</a:t>
            </a:r>
            <a:r>
              <a:rPr lang="ja-JP" altLang="en-US" sz="1900" dirty="0"/>
              <a:t>（</a:t>
            </a:r>
            <a:r>
              <a:rPr lang="zh-CN" altLang="en-US" sz="19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统一机器人描述格式</a:t>
            </a:r>
            <a:r>
              <a:rPr lang="ja-JP" altLang="en-US" sz="1900" dirty="0"/>
              <a:t>）</a:t>
            </a:r>
            <a:endParaRPr lang="en-US" altLang="ja-JP" sz="1900" dirty="0"/>
          </a:p>
          <a:p>
            <a:pPr marL="586105" lvl="1" indent="-285750"/>
            <a:endParaRPr lang="en-US" altLang="ja-JP" sz="1000" dirty="0"/>
          </a:p>
          <a:p>
            <a:pPr marL="285750" indent="-285750"/>
            <a:r>
              <a:rPr lang="en-US" altLang="ko-KR" sz="2400" dirty="0">
                <a:solidFill>
                  <a:srgbClr val="00B0F0"/>
                </a:solidFill>
              </a:rPr>
              <a:t>Navigation</a:t>
            </a: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导航</a:t>
            </a:r>
            <a:endParaRPr lang="en-US" altLang="ko-KR" sz="2400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/>
            <a:endParaRPr lang="en-US" altLang="ko-KR" sz="2400" dirty="0">
              <a:solidFill>
                <a:srgbClr val="00B0F0"/>
              </a:solidFill>
            </a:endParaRPr>
          </a:p>
          <a:p>
            <a:pPr marL="285750" indent="-285750"/>
            <a:r>
              <a:rPr lang="en-US" altLang="ko-KR" sz="2400" dirty="0">
                <a:solidFill>
                  <a:srgbClr val="00B0F0"/>
                </a:solidFill>
              </a:rPr>
              <a:t>Manipulation</a:t>
            </a: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操纵</a:t>
            </a:r>
            <a:endParaRPr lang="en-US" altLang="ko-KR" sz="2400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en-US" altLang="ko-KR" sz="2400" dirty="0">
              <a:solidFill>
                <a:srgbClr val="00B0F0"/>
              </a:solidFill>
            </a:endParaRPr>
          </a:p>
          <a:p>
            <a:pPr marL="285750" indent="-285750"/>
            <a:r>
              <a:rPr lang="en-US" altLang="ko-KR" sz="2400" dirty="0">
                <a:solidFill>
                  <a:srgbClr val="00B0F0"/>
                </a:solidFill>
              </a:rPr>
              <a:t>Tele-operation</a:t>
            </a:r>
            <a:r>
              <a:rPr lang="zh-CN" altLang="en-US" sz="2400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远程操作</a:t>
            </a:r>
            <a:endParaRPr lang="ko-KR" altLang="en-US" sz="2400" dirty="0">
              <a:solidFill>
                <a:srgbClr val="00B0F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7" name="직사각형 4"/>
          <p:cNvSpPr/>
          <p:nvPr/>
        </p:nvSpPr>
        <p:spPr>
          <a:xfrm>
            <a:off x="954217" y="2355511"/>
            <a:ext cx="10283584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b="1" dirty="0">
                <a:solidFill>
                  <a:schemeClr val="accent1"/>
                </a:solidFill>
                <a:latin typeface="Wawati SC" charset="-122"/>
                <a:ea typeface="Wawati SC" charset="-122"/>
                <a:cs typeface="Wawati SC" charset="-122"/>
              </a:rPr>
              <a:t>三维模拟器</a:t>
            </a:r>
            <a:r>
              <a:rPr lang="en-US" altLang="ko-KR" sz="8800" b="1" dirty="0">
                <a:solidFill>
                  <a:schemeClr val="accent1"/>
                </a:solidFill>
                <a:latin typeface="Wawati SC" charset="-122"/>
                <a:ea typeface="Wawati SC" charset="-122"/>
                <a:cs typeface="Wawati SC" charset="-122"/>
              </a:rPr>
              <a:t>: Gazebo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/>
          <a:lstStyle/>
          <a:p>
            <a:r>
              <a:rPr lang="en-US" altLang="ko-KR" dirty="0"/>
              <a:t>Gazebo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Gazebo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是具有物理引擎、机器人模型、传感器、环境模型等功能的三维仿真平台。它可以帮助您获得与真实环境中的</a:t>
            </a:r>
            <a:r>
              <a:rPr lang="zh-CN" altLang="en-US" sz="2000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数据相似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的数据。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Gazebo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被认为是最近引进的开放式模拟器中最好的模拟器。此外，它还被选为</a:t>
            </a:r>
            <a:r>
              <a:rPr lang="en-US" altLang="zh-CN" sz="2000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DARPA</a:t>
            </a:r>
            <a:r>
              <a:rPr lang="zh-CN" altLang="en-US" sz="2000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机器人挑战赛的官方模拟器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ko-KR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</a:t>
            </a:r>
            <a:r>
              <a:rPr lang="zh-CN" altLang="en-US" sz="2000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高度兼容</a:t>
            </a:r>
            <a:r>
              <a:rPr lang="en-US" altLang="ko-KR" sz="2000" dirty="0">
                <a:solidFill>
                  <a:srgbClr val="5B9BD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ko-KR" altLang="en-US" sz="2000" dirty="0">
              <a:solidFill>
                <a:srgbClr val="5B9BD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</a:rPr>
              <a:t>30</a:t>
            </a:fld>
            <a:endParaRPr lang="ko-KR" altLang="en-US" dirty="0">
              <a:solidFill>
                <a:srgbClr val="5B9BD5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27" y="4283350"/>
            <a:ext cx="1895238" cy="220952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051" y="4286022"/>
            <a:ext cx="4934426" cy="2290831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6611779"/>
            <a:ext cx="12779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prstClr val="black"/>
                </a:solidFill>
              </a:rPr>
              <a:t>http://gazebosim.org/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010" y="4322766"/>
            <a:ext cx="3234944" cy="21701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rea">
      <a:majorFont>
        <a:latin typeface="Times New Roman"/>
        <a:ea typeface="Malgun Gothic"/>
        <a:cs typeface=""/>
      </a:majorFont>
      <a:minorFont>
        <a:latin typeface="Times New Roman"/>
        <a:ea typeface="Malgun Gothic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2204</Words>
  <Application>Microsoft Office PowerPoint</Application>
  <PresentationFormat>宽屏</PresentationFormat>
  <Paragraphs>553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맑은 고딕</vt:lpstr>
      <vt:lpstr>맑은 고딕</vt:lpstr>
      <vt:lpstr>Nanum Pen Script</vt:lpstr>
      <vt:lpstr>Wawati SC</vt:lpstr>
      <vt:lpstr>宋体</vt:lpstr>
      <vt:lpstr>微软雅黑</vt:lpstr>
      <vt:lpstr>Arial</vt:lpstr>
      <vt:lpstr>Times New Roman</vt:lpstr>
      <vt:lpstr>Wingdings</vt:lpstr>
      <vt:lpstr>Office Theme</vt:lpstr>
      <vt:lpstr>ROS的重要概念</vt:lpstr>
      <vt:lpstr>PowerPoint 演示文稿</vt:lpstr>
      <vt:lpstr>ROS1 通信方式</vt:lpstr>
      <vt:lpstr>ROS 通信方式</vt:lpstr>
      <vt:lpstr>ROS通信方式</vt:lpstr>
      <vt:lpstr>ROS通信方式</vt:lpstr>
      <vt:lpstr>消息通信的过程</vt:lpstr>
      <vt:lpstr>消息通信的过程</vt:lpstr>
      <vt:lpstr>消息通信的过程</vt:lpstr>
      <vt:lpstr>消息通信的过程</vt:lpstr>
      <vt:lpstr>消息通信的过程</vt:lpstr>
      <vt:lpstr>消息通信的过程</vt:lpstr>
      <vt:lpstr>消息通信的过程</vt:lpstr>
      <vt:lpstr>消息通信的过程</vt:lpstr>
      <vt:lpstr>消息通信的过程</vt:lpstr>
      <vt:lpstr>消息通信的过程</vt:lpstr>
      <vt:lpstr>消息通信的过程</vt:lpstr>
      <vt:lpstr>消息通信的过程</vt:lpstr>
      <vt:lpstr>理解消息通信概念!</vt:lpstr>
      <vt:lpstr>抓住消息传播理念!</vt:lpstr>
      <vt:lpstr>名称</vt:lpstr>
      <vt:lpstr>PowerPoint 演示文稿</vt:lpstr>
      <vt:lpstr>ROS shell 命令</vt:lpstr>
      <vt:lpstr>ROS 执行命令</vt:lpstr>
      <vt:lpstr>ROS 信息命令</vt:lpstr>
      <vt:lpstr>ROS catkin 命令</vt:lpstr>
      <vt:lpstr>ROS 功能包命令</vt:lpstr>
      <vt:lpstr>RViz (ROS 可视化工具)</vt:lpstr>
      <vt:lpstr>PowerPoint 演示文稿</vt:lpstr>
      <vt:lpstr>Gazebo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Yoonseok Pyo</dc:creator>
  <cp:lastModifiedBy>1546230753@qq.com</cp:lastModifiedBy>
  <cp:revision>575</cp:revision>
  <cp:lastPrinted>2023-06-06T01:53:00Z</cp:lastPrinted>
  <dcterms:created xsi:type="dcterms:W3CDTF">2015-12-13T03:35:00Z</dcterms:created>
  <dcterms:modified xsi:type="dcterms:W3CDTF">2026-05-17T01:06:09Z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0536C1078C164D0BA7D9876CA5B7E5F3_12</vt:lpwstr>
  </property>
</Properties>
</file>