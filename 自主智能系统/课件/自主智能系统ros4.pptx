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7" r:id="rId2"/>
    <p:sldId id="266" r:id="rId3"/>
    <p:sldId id="278" r:id="rId4"/>
    <p:sldId id="267" r:id="rId5"/>
    <p:sldId id="279" r:id="rId6"/>
    <p:sldId id="285" r:id="rId7"/>
    <p:sldId id="284" r:id="rId8"/>
    <p:sldId id="274" r:id="rId9"/>
    <p:sldId id="275" r:id="rId10"/>
    <p:sldId id="277" r:id="rId11"/>
    <p:sldId id="281" r:id="rId12"/>
    <p:sldId id="282" r:id="rId13"/>
    <p:sldId id="283" r:id="rId14"/>
    <p:sldId id="287" r:id="rId15"/>
    <p:sldId id="286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20" autoAdjust="0"/>
    <p:restoredTop sz="94387" autoAdjust="0"/>
  </p:normalViewPr>
  <p:slideViewPr>
    <p:cSldViewPr snapToGrid="0" showGuides="1">
      <p:cViewPr varScale="1">
        <p:scale>
          <a:sx n="99" d="100"/>
          <a:sy n="99" d="100"/>
        </p:scale>
        <p:origin x="68" y="176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29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3172E3-F20B-44BE-828C-3C09110EA160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22387-8F54-493C-9BD5-26C4F5303C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3826F6-A5A6-4DAF-A128-D06AF7315F1C}" type="datetimeFigureOut">
              <a:rPr lang="ko-KR" altLang="en-US" smtClean="0"/>
              <a:t>2026-05-17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48034B-207C-4E0E-A5F6-40709A49423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979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A7AA09E4-EDB9-4D6A-8918-B1B0AEC6D61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555" y="234494"/>
            <a:ext cx="11290041" cy="679903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002060"/>
                </a:solidFill>
                <a:latin typeface="+mn-ea"/>
                <a:ea typeface="+mn-ea"/>
              </a:defRPr>
            </a:lvl1pPr>
          </a:lstStyle>
          <a:p>
            <a:r>
              <a:rPr lang="en-US" altLang="ko-KR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555" y="998376"/>
            <a:ext cx="11290041" cy="5494498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+mn-ea"/>
                <a:ea typeface="+mn-ea"/>
              </a:defRPr>
            </a:lvl1pPr>
            <a:lvl2pPr>
              <a:lnSpc>
                <a:spcPct val="100000"/>
              </a:lnSpc>
              <a:defRPr>
                <a:latin typeface="+mn-ea"/>
                <a:ea typeface="+mn-ea"/>
              </a:defRPr>
            </a:lvl2pPr>
            <a:lvl3pPr>
              <a:lnSpc>
                <a:spcPct val="100000"/>
              </a:lnSpc>
              <a:defRPr>
                <a:latin typeface="+mn-ea"/>
                <a:ea typeface="+mn-ea"/>
              </a:defRPr>
            </a:lvl3pPr>
            <a:lvl4pPr>
              <a:lnSpc>
                <a:spcPct val="100000"/>
              </a:lnSpc>
              <a:defRPr>
                <a:latin typeface="+mn-ea"/>
                <a:ea typeface="+mn-ea"/>
              </a:defRPr>
            </a:lvl4pPr>
            <a:lvl5pPr>
              <a:lnSpc>
                <a:spcPct val="100000"/>
              </a:lnSpc>
              <a:defRPr>
                <a:latin typeface="+mn-ea"/>
                <a:ea typeface="+mn-ea"/>
              </a:defRPr>
            </a:lvl5pPr>
          </a:lstStyle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743200" cy="365125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>
            <a:lvl1pPr>
              <a:defRPr sz="1400">
                <a:solidFill>
                  <a:schemeClr val="accent1"/>
                </a:solidFill>
                <a:latin typeface="+mn-lt"/>
              </a:defRPr>
            </a:lvl1pPr>
          </a:lstStyle>
          <a:p>
            <a:fld id="{A7AA09E4-EDB9-4D6A-8918-B1B0AEC6D61D}" type="slidenum">
              <a:rPr lang="ko-KR" altLang="en-US" smtClean="0"/>
              <a:t>‹#›</a:t>
            </a:fld>
            <a:endParaRPr lang="ko-KR" alt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94522" y="914397"/>
            <a:ext cx="11178074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492874"/>
            <a:ext cx="2743200" cy="365125"/>
          </a:xfrm>
        </p:spPr>
        <p:txBody>
          <a:bodyPr/>
          <a:lstStyle>
            <a:lvl1pPr>
              <a:defRPr sz="1400">
                <a:solidFill>
                  <a:schemeClr val="accent1"/>
                </a:solidFill>
                <a:latin typeface="+mn-lt"/>
              </a:defRPr>
            </a:lvl1pPr>
          </a:lstStyle>
          <a:p>
            <a:fld id="{A7AA09E4-EDB9-4D6A-8918-B1B0AEC6D61D}" type="slidenum">
              <a:rPr lang="ko-KR" altLang="en-US" smtClean="0"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A09E4-EDB9-4D6A-8918-B1B0AEC6D61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withrobot/oCam/tree/master/Products/oCamS-1CGN-U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hyperlink" Target="http://wiki.ros.org/dynamixel_workbench" TargetMode="External"/><Relationship Id="rId7" Type="http://schemas.openxmlformats.org/officeDocument/2006/relationships/image" Target="../media/image4.png"/><Relationship Id="rId2" Type="http://schemas.openxmlformats.org/officeDocument/2006/relationships/hyperlink" Target="http://wiki.ros.org/dynamixel_sdk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microsoft.com/office/2007/relationships/hdphoto" Target="../media/hdphoto1.wdp"/><Relationship Id="rId10" Type="http://schemas.openxmlformats.org/officeDocument/2006/relationships/image" Target="../media/image19.jpeg"/><Relationship Id="rId4" Type="http://schemas.openxmlformats.org/officeDocument/2006/relationships/image" Target="../media/image15.png"/><Relationship Id="rId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3035" y="1436526"/>
            <a:ext cx="4772375" cy="439998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机器人软件包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传感器软件包</a:t>
            </a:r>
            <a:endParaRPr lang="en-US" altLang="ko-KR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相机</a:t>
            </a:r>
            <a:endParaRPr lang="en-US" altLang="ko-KR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深度相机</a:t>
            </a:r>
            <a:endParaRPr lang="en-US" altLang="ko-KR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激光测距传感器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电机软件包</a:t>
            </a:r>
            <a:endParaRPr lang="en-US" altLang="ko-KR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altLang="ko-KR" b="1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Dynamixel</a:t>
            </a:r>
            <a:endParaRPr lang="en-US" altLang="ko-KR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如何使用开源软件包</a:t>
            </a:r>
            <a:endParaRPr lang="ko-KR" altLang="en-US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494522" y="914397"/>
            <a:ext cx="11290041" cy="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>
                <a:solidFill>
                  <a:srgbClr val="5B9BD5"/>
                </a:solidFill>
                <a:latin typeface="Malgun Gothic" panose="020B0503020000020004" charset="-127"/>
                <a:cs typeface="Tahoma" panose="020B0604030504040204" pitchFamily="34" charset="0"/>
              </a:rPr>
              <a:t>1</a:t>
            </a:fld>
            <a:endParaRPr lang="ko-KR" altLang="en-US" dirty="0">
              <a:solidFill>
                <a:srgbClr val="5B9BD5"/>
              </a:solidFill>
              <a:latin typeface="Malgun Gothic" panose="020B0503020000020004" charset="-127"/>
              <a:cs typeface="Tahoma" panose="020B0604030504040204" pitchFamily="34" charset="0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3603456" y="76013"/>
            <a:ext cx="6715786" cy="83294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 anchorCtr="0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002060"/>
                </a:solidFill>
                <a:latin typeface="+mn-ea"/>
                <a:ea typeface="+mn-ea"/>
                <a:cs typeface="+mj-cs"/>
              </a:defRPr>
            </a:lvl1pPr>
          </a:lstStyle>
          <a:p>
            <a:r>
              <a:rPr lang="zh-CN" altLang="en-US" sz="4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机器人</a:t>
            </a:r>
            <a:r>
              <a:rPr lang="en-US" altLang="ko-KR" sz="4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传感器</a:t>
            </a:r>
            <a:r>
              <a:rPr lang="en-US" altLang="ko-KR" sz="4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电机</a:t>
            </a:r>
            <a:endParaRPr lang="ko-KR" altLang="en-US" sz="40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618134" y="2355511"/>
            <a:ext cx="6955751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8800" b="1" dirty="0">
                <a:solidFill>
                  <a:schemeClr val="accent1"/>
                </a:solidFill>
                <a:latin typeface="Wawati SC" charset="-122"/>
                <a:ea typeface="Wawati SC" charset="-122"/>
                <a:cs typeface="Wawati SC" charset="-122"/>
              </a:rPr>
              <a:t>传感器软件包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传感器软件包的类型</a:t>
            </a:r>
            <a:endParaRPr lang="en-US" altLang="ko-KR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一维测距仪</a:t>
            </a:r>
            <a:endParaRPr lang="en-US" altLang="ko-KR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en-US" altLang="ko-KR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可以用于制造低成本机器人的红外线性距离传感器</a:t>
            </a:r>
            <a:endParaRPr lang="en-US" altLang="ko-KR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二维测距仪</a:t>
            </a:r>
            <a:endParaRPr lang="en-US" altLang="ko-KR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可以测量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2D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平面上的距离的传感器，主要用于导航</a:t>
            </a:r>
            <a:endParaRPr lang="en-US" altLang="ko-KR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ko-KR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3D 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传感器</a:t>
            </a:r>
            <a:endParaRPr lang="en-US" altLang="ko-KR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3D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距离测量中使用的传感器，例如英特尔的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RealSense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，微软的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Kinect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，华硕的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Xti</a:t>
            </a:r>
            <a:r>
              <a:rPr lang="en-US" altLang="ko-KR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on</a:t>
            </a:r>
            <a:endParaRPr lang="en-US" altLang="ko-KR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音频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语音识别</a:t>
            </a:r>
            <a:endParaRPr lang="en-US" altLang="ko-KR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当前，与语音识别相关的部分很少，但在不断增加</a:t>
            </a:r>
            <a:endParaRPr lang="en-US" altLang="ko-KR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相机</a:t>
            </a:r>
            <a:endParaRPr lang="en-US" altLang="ko-KR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用于对象识别，面部识别，字符识别等的相机驱动程序以及各种应用程序包</a:t>
            </a:r>
            <a:endParaRPr lang="en-US" altLang="ko-KR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传感器接口</a:t>
            </a:r>
            <a:endParaRPr lang="en-US" altLang="ko-KR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很少有传感器支持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Web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协议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仍然有许多传感器可以从微处理器获取数据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这些传感器可与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MCU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UART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或小型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PC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ROS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一起使用</a:t>
            </a:r>
            <a:r>
              <a:rPr lang="en-US" altLang="ko-KR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endParaRPr lang="ko-KR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/>
              <a:t>3</a:t>
            </a:fld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TextShape 1"/>
          <p:cNvSpPr txBox="1"/>
          <p:nvPr/>
        </p:nvSpPr>
        <p:spPr>
          <a:xfrm>
            <a:off x="9448920" y="649296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>
              <a:lnSpc>
                <a:spcPct val="100000"/>
              </a:lnSpc>
            </a:pPr>
            <a:fld id="{AEF141AD-FC13-41EB-91F3-012DDCBA8DCB}" type="slidenum">
              <a:rPr lang="en-US" sz="1400" b="0" strike="noStrike" spc="-1">
                <a:solidFill>
                  <a:srgbClr val="9BBAE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4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 panose="02020603050405020304"/>
            </a:endParaRPr>
          </a:p>
        </p:txBody>
      </p:sp>
      <p:sp>
        <p:nvSpPr>
          <p:cNvPr id="293" name="CustomShape 2"/>
          <p:cNvSpPr/>
          <p:nvPr/>
        </p:nvSpPr>
        <p:spPr>
          <a:xfrm>
            <a:off x="2451240" y="666360"/>
            <a:ext cx="7288920" cy="4662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zh-CN" altLang="en-US" sz="6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Wawati SC" charset="-122"/>
                <a:ea typeface="Wawati SC" charset="-122"/>
                <a:cs typeface="Wawati SC" charset="-122"/>
              </a:rPr>
              <a:t>练习</a:t>
            </a:r>
            <a:endParaRPr lang="en-US" altLang="zh-CN" sz="60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Wawati SC" charset="-122"/>
              <a:ea typeface="Wawati SC" charset="-122"/>
              <a:cs typeface="Wawati SC" charset="-122"/>
            </a:endParaRPr>
          </a:p>
          <a:p>
            <a:pPr algn="ctr">
              <a:lnSpc>
                <a:spcPct val="100000"/>
              </a:lnSpc>
            </a:pPr>
            <a:r>
              <a:rPr lang="en-US" sz="6000" b="0" strike="noStrike" spc="-1" dirty="0">
                <a:solidFill>
                  <a:srgbClr val="00B0F0"/>
                </a:solidFill>
                <a:uFill>
                  <a:solidFill>
                    <a:srgbClr val="FFFFFF"/>
                  </a:solidFill>
                </a:uFill>
                <a:latin typeface="Wawati SC" charset="-122"/>
                <a:ea typeface="Wawati SC" charset="-122"/>
                <a:cs typeface="Wawati SC" charset="-122"/>
              </a:rPr>
              <a:t>‘LRF, IMU, USB </a:t>
            </a:r>
            <a:r>
              <a:rPr lang="zh-CN" altLang="en-US" sz="6000" b="0" strike="noStrike" spc="-1" dirty="0">
                <a:solidFill>
                  <a:srgbClr val="00B0F0"/>
                </a:solidFill>
                <a:uFill>
                  <a:solidFill>
                    <a:srgbClr val="FFFFFF"/>
                  </a:solidFill>
                </a:uFill>
                <a:latin typeface="Wawati SC" charset="-122"/>
                <a:ea typeface="Wawati SC" charset="-122"/>
                <a:cs typeface="Wawati SC" charset="-122"/>
              </a:rPr>
              <a:t>相机</a:t>
            </a:r>
            <a:r>
              <a:rPr lang="en-US" sz="6000" b="0" strike="noStrike" spc="-1" dirty="0">
                <a:solidFill>
                  <a:srgbClr val="00B0F0"/>
                </a:solidFill>
                <a:uFill>
                  <a:solidFill>
                    <a:srgbClr val="FFFFFF"/>
                  </a:solidFill>
                </a:uFill>
                <a:latin typeface="Wawati SC" charset="-122"/>
                <a:ea typeface="Wawati SC" charset="-122"/>
                <a:cs typeface="Wawati SC" charset="-122"/>
              </a:rPr>
              <a:t>,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Wawati SC" charset="-122"/>
              <a:ea typeface="Wawati SC" charset="-122"/>
              <a:cs typeface="Wawati SC" charset="-122"/>
            </a:endParaRPr>
          </a:p>
          <a:p>
            <a:pPr algn="ctr">
              <a:lnSpc>
                <a:spcPct val="100000"/>
              </a:lnSpc>
            </a:pPr>
            <a:r>
              <a:rPr lang="zh-CN" altLang="en-US" sz="6000" b="0" strike="noStrike" spc="-1" dirty="0">
                <a:solidFill>
                  <a:srgbClr val="00B0F0"/>
                </a:solidFill>
                <a:uFill>
                  <a:solidFill>
                    <a:srgbClr val="FFFFFF"/>
                  </a:solidFill>
                </a:uFill>
                <a:latin typeface="Wawati SC" charset="-122"/>
                <a:ea typeface="Wawati SC" charset="-122"/>
                <a:cs typeface="Wawati SC" charset="-122"/>
              </a:rPr>
              <a:t>深度相机</a:t>
            </a:r>
            <a:r>
              <a:rPr lang="en-US" sz="6000" b="0" strike="noStrike" spc="-1" dirty="0">
                <a:solidFill>
                  <a:srgbClr val="00B0F0"/>
                </a:solidFill>
                <a:uFill>
                  <a:solidFill>
                    <a:srgbClr val="FFFFFF"/>
                  </a:solidFill>
                </a:uFill>
                <a:latin typeface="Wawati SC" charset="-122"/>
                <a:ea typeface="Wawati SC" charset="-122"/>
                <a:cs typeface="Wawati SC" charset="-122"/>
              </a:rPr>
              <a:t>, </a:t>
            </a:r>
            <a:r>
              <a:rPr lang="zh-CN" altLang="en-US" sz="6000" b="0" strike="noStrike" spc="-1" dirty="0">
                <a:solidFill>
                  <a:srgbClr val="00B0F0"/>
                </a:solidFill>
                <a:uFill>
                  <a:solidFill>
                    <a:srgbClr val="FFFFFF"/>
                  </a:solidFill>
                </a:uFill>
                <a:latin typeface="Wawati SC" charset="-122"/>
                <a:ea typeface="Wawati SC" charset="-122"/>
                <a:cs typeface="Wawati SC" charset="-122"/>
              </a:rPr>
              <a:t>机器人模型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Wawati SC" charset="-122"/>
              <a:ea typeface="Wawati SC" charset="-122"/>
              <a:cs typeface="Wawati SC" charset="-122"/>
            </a:endParaRPr>
          </a:p>
          <a:p>
            <a:pPr algn="ctr">
              <a:lnSpc>
                <a:spcPct val="100000"/>
              </a:lnSpc>
            </a:pPr>
            <a:r>
              <a:rPr lang="zh-CN" altLang="en-US" sz="6000" b="0" strike="noStrike" spc="-1" dirty="0">
                <a:solidFill>
                  <a:srgbClr val="00B0F0"/>
                </a:solidFill>
                <a:uFill>
                  <a:solidFill>
                    <a:srgbClr val="FFFFFF"/>
                  </a:solidFill>
                </a:uFill>
                <a:latin typeface="Wawati SC" charset="-122"/>
                <a:ea typeface="Wawati SC" charset="-122"/>
                <a:cs typeface="Wawati SC" charset="-122"/>
              </a:rPr>
              <a:t>让我们通过</a:t>
            </a:r>
            <a:r>
              <a:rPr lang="en-US" sz="6000" b="0" strike="noStrike" spc="-1" dirty="0" err="1">
                <a:solidFill>
                  <a:srgbClr val="00B0F0"/>
                </a:solidFill>
                <a:uFill>
                  <a:solidFill>
                    <a:srgbClr val="FFFFFF"/>
                  </a:solidFill>
                </a:uFill>
                <a:latin typeface="Wawati SC" charset="-122"/>
                <a:ea typeface="Wawati SC" charset="-122"/>
                <a:cs typeface="Wawati SC" charset="-122"/>
              </a:rPr>
              <a:t>Rviz</a:t>
            </a:r>
            <a:r>
              <a:rPr lang="zh-CN" altLang="en-US" sz="6000" b="0" strike="noStrike" spc="-1" dirty="0">
                <a:solidFill>
                  <a:srgbClr val="00B0F0"/>
                </a:solidFill>
                <a:uFill>
                  <a:solidFill>
                    <a:srgbClr val="FFFFFF"/>
                  </a:solidFill>
                </a:uFill>
                <a:latin typeface="Wawati SC" charset="-122"/>
                <a:ea typeface="Wawati SC" charset="-122"/>
                <a:cs typeface="Wawati SC" charset="-122"/>
              </a:rPr>
              <a:t>来检验</a:t>
            </a:r>
            <a:r>
              <a:rPr lang="en-US" sz="6000" b="0" strike="noStrike" spc="-1" dirty="0">
                <a:solidFill>
                  <a:srgbClr val="00B0F0"/>
                </a:solidFill>
                <a:uFill>
                  <a:solidFill>
                    <a:srgbClr val="FFFFFF"/>
                  </a:solidFill>
                </a:uFill>
                <a:latin typeface="Nanum Pen Script"/>
                <a:ea typeface="Nanum Pen Script"/>
              </a:rPr>
              <a:t>’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 panose="020B0604020202020204"/>
            </a:endParaRPr>
          </a:p>
          <a:p>
            <a:pPr algn="ctr">
              <a:lnSpc>
                <a:spcPct val="100000"/>
              </a:lnSpc>
            </a:pP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 panose="020B0604020202020204"/>
            </a:endParaRPr>
          </a:p>
        </p:txBody>
      </p:sp>
      <p:sp>
        <p:nvSpPr>
          <p:cNvPr id="294" name="CustomShape 3"/>
          <p:cNvSpPr/>
          <p:nvPr/>
        </p:nvSpPr>
        <p:spPr>
          <a:xfrm>
            <a:off x="2261160" y="5001840"/>
            <a:ext cx="7669800" cy="1309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zh-CN" altLang="en-US" sz="4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Wawati SC" charset="-122"/>
                <a:ea typeface="Wawati SC" charset="-122"/>
                <a:cs typeface="Wawati SC" charset="-122"/>
              </a:rPr>
              <a:t>使用</a:t>
            </a:r>
            <a:r>
              <a:rPr lang="en-US" altLang="zh-CN" sz="4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Wawati SC" charset="-122"/>
                <a:ea typeface="Wawati SC" charset="-122"/>
                <a:cs typeface="Wawati SC" charset="-122"/>
              </a:rPr>
              <a:t>PC</a:t>
            </a:r>
            <a:r>
              <a:rPr lang="zh-CN" altLang="en-US" sz="4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Wawati SC" charset="-122"/>
                <a:ea typeface="Wawati SC" charset="-122"/>
                <a:cs typeface="Wawati SC" charset="-122"/>
              </a:rPr>
              <a:t>的</a:t>
            </a:r>
            <a:r>
              <a:rPr lang="en-US" altLang="zh-CN" sz="40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Wawati SC" charset="-122"/>
                <a:ea typeface="Wawati SC" charset="-122"/>
                <a:cs typeface="Wawati SC" charset="-122"/>
              </a:rPr>
              <a:t>Rviz</a:t>
            </a:r>
            <a:r>
              <a:rPr lang="zh-CN" altLang="en-US" sz="4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Wawati SC" charset="-122"/>
                <a:ea typeface="Wawati SC" charset="-122"/>
                <a:cs typeface="Wawati SC" charset="-122"/>
              </a:rPr>
              <a:t>观察来自</a:t>
            </a:r>
            <a:endParaRPr lang="en-US" altLang="zh-CN" sz="40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Wawati SC" charset="-122"/>
              <a:ea typeface="Wawati SC" charset="-122"/>
              <a:cs typeface="Wawati SC" charset="-122"/>
            </a:endParaRPr>
          </a:p>
          <a:p>
            <a:pPr algn="ctr">
              <a:lnSpc>
                <a:spcPct val="100000"/>
              </a:lnSpc>
            </a:pPr>
            <a:r>
              <a:rPr lang="zh-CN" altLang="en-US" sz="4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Wawati SC" charset="-122"/>
                <a:ea typeface="Wawati SC" charset="-122"/>
                <a:cs typeface="Wawati SC" charset="-122"/>
              </a:rPr>
              <a:t>已接收传感器的数据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Wawati SC" charset="-122"/>
              <a:ea typeface="Wawati SC" charset="-122"/>
              <a:cs typeface="Wawati SC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TextShape 1"/>
          <p:cNvSpPr txBox="1"/>
          <p:nvPr/>
        </p:nvSpPr>
        <p:spPr>
          <a:xfrm>
            <a:off x="382680" y="234360"/>
            <a:ext cx="11289600" cy="679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zh-CN" altLang="en-US" sz="3600" b="1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传感器包练习 </a:t>
            </a:r>
            <a:r>
              <a:rPr lang="en-US" altLang="ko-KR" sz="3600" b="1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#1 (USB </a:t>
            </a:r>
            <a:r>
              <a:rPr lang="zh-CN" altLang="en-US" sz="3600" b="1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相机</a:t>
            </a:r>
            <a:r>
              <a:rPr lang="en-US" altLang="ko-KR" sz="3600" b="1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ko-KR" alt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7" name="TextShape 2"/>
          <p:cNvSpPr txBox="1"/>
          <p:nvPr/>
        </p:nvSpPr>
        <p:spPr>
          <a:xfrm>
            <a:off x="9448920" y="649296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800A06C6-C198-4254-A565-6976710E2118}" type="slidenum">
              <a:rPr lang="en-US" sz="1400" spc="-1">
                <a:solidFill>
                  <a:srgbClr val="9BBAE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5</a:t>
            </a:fld>
            <a:endParaRPr lang="en-US" sz="1400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 panose="02020603050405020304"/>
            </a:endParaRPr>
          </a:p>
        </p:txBody>
      </p:sp>
      <p:sp>
        <p:nvSpPr>
          <p:cNvPr id="318" name="CustomShape 3"/>
          <p:cNvSpPr/>
          <p:nvPr/>
        </p:nvSpPr>
        <p:spPr>
          <a:xfrm>
            <a:off x="382680" y="1196640"/>
            <a:ext cx="11289600" cy="24620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r>
              <a:rPr lang="en-US" altLang="ko-KR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$ </a:t>
            </a:r>
            <a:r>
              <a:rPr lang="en-US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sudo </a:t>
            </a:r>
            <a:r>
              <a:rPr lang="en-US" spc="-1" dirty="0">
                <a:solidFill>
                  <a:prstClr val="white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apt-get install </a:t>
            </a:r>
            <a:r>
              <a:rPr lang="en-US" spc="-1" dirty="0" err="1">
                <a:solidFill>
                  <a:prstClr val="white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ros</a:t>
            </a:r>
            <a:r>
              <a:rPr lang="en-US" spc="-1" dirty="0">
                <a:solidFill>
                  <a:prstClr val="white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-kinetic-</a:t>
            </a:r>
            <a:r>
              <a:rPr lang="en-US" spc="-1" dirty="0" err="1">
                <a:solidFill>
                  <a:prstClr val="white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uvc</a:t>
            </a:r>
            <a:r>
              <a:rPr lang="en-US" spc="-1" dirty="0">
                <a:solidFill>
                  <a:prstClr val="white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-camera</a:t>
            </a:r>
            <a:br>
              <a:rPr lang="en-US" spc="-1" dirty="0">
                <a:solidFill>
                  <a:prstClr val="white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</a:br>
            <a:endParaRPr lang="en-US" spc="-1" dirty="0">
              <a:solidFill>
                <a:prstClr val="white"/>
              </a:solidFill>
              <a:uFill>
                <a:solidFill>
                  <a:srgbClr val="FFFFFF"/>
                </a:solidFill>
              </a:uFill>
              <a:latin typeface="Times New Roman" panose="02020603050405020304"/>
              <a:ea typeface="Malgun Gothic" panose="020B0503020000020004" charset="-127"/>
            </a:endParaRPr>
          </a:p>
          <a:p>
            <a:r>
              <a:rPr lang="en-US" altLang="ko-KR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$ </a:t>
            </a:r>
            <a:r>
              <a:rPr lang="en-US" altLang="ko-KR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</a:rPr>
              <a:t>rosrun </a:t>
            </a:r>
            <a:r>
              <a:rPr lang="en-US" altLang="ko-KR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uvc_camera</a:t>
            </a:r>
            <a:r>
              <a:rPr lang="en-US" altLang="ko-KR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altLang="ko-KR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uvc_camera_node</a:t>
            </a:r>
            <a:endParaRPr lang="en-US" spc="-1" dirty="0">
              <a:solidFill>
                <a:prstClr val="white"/>
              </a:solidFill>
              <a:uFill>
                <a:solidFill>
                  <a:srgbClr val="FFFFFF"/>
                </a:solidFill>
              </a:uFill>
              <a:latin typeface="Times New Roman" panose="02020603050405020304"/>
              <a:ea typeface="Malgun Gothic" panose="020B0503020000020004" charset="-127"/>
            </a:endParaRPr>
          </a:p>
          <a:p>
            <a:r>
              <a:rPr lang="en-US" altLang="ko-KR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$ </a:t>
            </a:r>
            <a:r>
              <a:rPr lang="en-US" altLang="ko-KR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rosrun </a:t>
            </a:r>
            <a:r>
              <a:rPr lang="en-US" altLang="ko-KR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uvc_camera</a:t>
            </a:r>
            <a:r>
              <a:rPr lang="en-US" altLang="ko-KR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</a:t>
            </a:r>
            <a:r>
              <a:rPr lang="en-US" altLang="ko-KR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uvc_camera_node</a:t>
            </a:r>
            <a:r>
              <a:rPr lang="en-US" altLang="ko-KR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_device:=/dev/video?</a:t>
            </a:r>
            <a:br>
              <a:rPr lang="en-US" altLang="ko-KR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</a:br>
            <a:endParaRPr lang="en-US" altLang="ko-KR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r>
              <a:rPr lang="en-US" altLang="ko-KR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$ </a:t>
            </a:r>
            <a:r>
              <a:rPr lang="en-US" altLang="ko-KR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</a:rPr>
              <a:t>rosrun</a:t>
            </a:r>
            <a:r>
              <a:rPr lang="en-US" altLang="ko-KR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altLang="ko-KR" spc="-1" dirty="0" err="1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</a:rPr>
              <a:t>image_view</a:t>
            </a:r>
            <a:r>
              <a:rPr lang="en-US" altLang="ko-KR" spc="-1" dirty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altLang="ko-KR" spc="-1" dirty="0" err="1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</a:rPr>
              <a:t>image_view</a:t>
            </a:r>
            <a:r>
              <a:rPr lang="en-US" altLang="ko-KR" spc="-1" dirty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</a:rPr>
              <a:t> image:=/</a:t>
            </a:r>
            <a:r>
              <a:rPr lang="en-US" altLang="ko-KR" spc="-1" dirty="0" err="1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</a:rPr>
              <a:t>image_raw</a:t>
            </a:r>
            <a:endParaRPr lang="en-US" altLang="ko-KR" spc="-1" dirty="0">
              <a:solidFill>
                <a:schemeClr val="bg1"/>
              </a:solidFill>
              <a:uFill>
                <a:solidFill>
                  <a:srgbClr val="FFFFFF"/>
                </a:solidFill>
              </a:uFill>
              <a:latin typeface="Times New Roman" panose="02020603050405020304"/>
              <a:ea typeface="Malgun Gothic" panose="020B0503020000020004" charset="-127"/>
            </a:endParaRPr>
          </a:p>
          <a:p>
            <a:r>
              <a:rPr lang="en-US" altLang="ko-KR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$ </a:t>
            </a:r>
            <a:r>
              <a:rPr lang="en-US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</a:rPr>
              <a:t>rqt_image_view</a:t>
            </a:r>
            <a:r>
              <a:rPr lang="en-US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pc="-1" dirty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</a:rPr>
              <a:t>image:=/</a:t>
            </a:r>
            <a:r>
              <a:rPr lang="en-US" spc="-1" dirty="0" err="1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</a:rPr>
              <a:t>image_raw</a:t>
            </a:r>
            <a:endParaRPr lang="en-US" spc="-1" dirty="0">
              <a:solidFill>
                <a:schemeClr val="bg1"/>
              </a:solidFill>
              <a:uFill>
                <a:solidFill>
                  <a:srgbClr val="FFFFFF"/>
                </a:solidFill>
              </a:uFill>
            </a:endParaRPr>
          </a:p>
          <a:p>
            <a:r>
              <a:rPr lang="en-US" altLang="ko-KR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$ </a:t>
            </a:r>
            <a:r>
              <a:rPr lang="en-US" altLang="ko-KR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</a:rPr>
              <a:t>rviz</a:t>
            </a:r>
            <a:endParaRPr lang="en-US" spc="-1" dirty="0">
              <a:solidFill>
                <a:srgbClr val="FFFF00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319" name="CustomShape 4"/>
          <p:cNvSpPr/>
          <p:nvPr/>
        </p:nvSpPr>
        <p:spPr>
          <a:xfrm>
            <a:off x="502200" y="3760705"/>
            <a:ext cx="9050040" cy="309693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* </a:t>
            </a:r>
            <a:r>
              <a:rPr lang="zh-CN" altLang="en-US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选择</a:t>
            </a:r>
            <a:r>
              <a:rPr lang="en-US" sz="20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Rviz</a:t>
            </a:r>
            <a:r>
              <a:rPr lang="zh-CN" altLang="en-US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展示选项</a:t>
            </a:r>
            <a:endParaRPr lang="en-US" sz="20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1) </a:t>
            </a:r>
            <a:r>
              <a:rPr lang="zh-CN" altLang="en-US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改变固定坐标系</a:t>
            </a:r>
            <a:endParaRPr lang="en-US" sz="20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Global Options &gt; </a:t>
            </a:r>
            <a:r>
              <a:rPr lang="en-US" sz="2000" spc="-1" dirty="0">
                <a:solidFill>
                  <a:srgbClr val="00B0F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Fixed Frame = camera</a:t>
            </a:r>
            <a:endParaRPr lang="en-US" sz="20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2) </a:t>
            </a:r>
            <a:r>
              <a:rPr lang="zh-CN" altLang="en-US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添加图像展示</a:t>
            </a:r>
            <a:endParaRPr lang="en-US" sz="20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Click ‘Add’ in the bottom left corner of </a:t>
            </a:r>
            <a:r>
              <a:rPr lang="en-US" sz="20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Rviz</a:t>
            </a:r>
            <a:r>
              <a:rPr lang="en-US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then select </a:t>
            </a:r>
            <a:r>
              <a:rPr lang="en-US" sz="2000" spc="-1" dirty="0">
                <a:solidFill>
                  <a:srgbClr val="00B0F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Image</a:t>
            </a:r>
            <a:endParaRPr lang="en-US" sz="20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(Add &gt; by display &gt; </a:t>
            </a:r>
            <a:r>
              <a:rPr lang="en-US" sz="20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Rviz</a:t>
            </a:r>
            <a:r>
              <a:rPr lang="en-US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&gt; Image)</a:t>
            </a:r>
          </a:p>
          <a:p>
            <a:pPr>
              <a:lnSpc>
                <a:spcPct val="150000"/>
              </a:lnSpc>
            </a:pPr>
            <a:r>
              <a:rPr lang="en-US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3) </a:t>
            </a:r>
            <a:r>
              <a:rPr lang="zh-CN" altLang="en-US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改变话题</a:t>
            </a:r>
            <a:endParaRPr lang="en-US" sz="20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Change the value of ‘Image &gt; Image Topic’ to "</a:t>
            </a:r>
            <a:r>
              <a:rPr lang="en-US" sz="2000" spc="-1" dirty="0">
                <a:solidFill>
                  <a:srgbClr val="00B0F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en-US" sz="2000" spc="-1" dirty="0" err="1">
                <a:solidFill>
                  <a:srgbClr val="00B0F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image_raw</a:t>
            </a:r>
            <a:r>
              <a:rPr lang="en-US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</a:p>
        </p:txBody>
      </p:sp>
      <p:sp>
        <p:nvSpPr>
          <p:cNvPr id="321" name="CustomShape 6"/>
          <p:cNvSpPr/>
          <p:nvPr/>
        </p:nvSpPr>
        <p:spPr>
          <a:xfrm>
            <a:off x="7078640" y="1494590"/>
            <a:ext cx="454284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r>
              <a:rPr lang="en-US" spc="-1" dirty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If there are more than two cameras,</a:t>
            </a:r>
            <a:endParaRPr lang="en-US" spc="-1" dirty="0">
              <a:solidFill>
                <a:schemeClr val="bg1"/>
              </a:solidFill>
              <a:uFill>
                <a:solidFill>
                  <a:srgbClr val="FFFFFF"/>
                </a:solidFill>
              </a:uFill>
            </a:endParaRPr>
          </a:p>
          <a:p>
            <a:r>
              <a:rPr lang="en-US" spc="-1" dirty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Enter the device number you want to use </a:t>
            </a:r>
            <a:br>
              <a:rPr lang="en-US" spc="-1" dirty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</a:br>
            <a:r>
              <a:rPr lang="en-US" spc="-1" dirty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instead of the question mark</a:t>
            </a:r>
          </a:p>
          <a:p>
            <a:r>
              <a:rPr lang="en-US" spc="-1" dirty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(Especially, for notebooks)</a:t>
            </a:r>
            <a:endParaRPr lang="en-US" spc="-1" dirty="0">
              <a:solidFill>
                <a:schemeClr val="bg1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8" name="CustomShape 6"/>
          <p:cNvSpPr/>
          <p:nvPr/>
        </p:nvSpPr>
        <p:spPr>
          <a:xfrm>
            <a:off x="7076919" y="2877445"/>
            <a:ext cx="4542840" cy="41372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r>
              <a:rPr lang="en-US" altLang="ko-KR" spc="-1" dirty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Three ways to view image messages</a:t>
            </a:r>
            <a:endParaRPr lang="en-US" spc="-1" dirty="0">
              <a:solidFill>
                <a:schemeClr val="bg1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2" name="오른쪽 중괄호 1"/>
          <p:cNvSpPr/>
          <p:nvPr/>
        </p:nvSpPr>
        <p:spPr>
          <a:xfrm>
            <a:off x="6629400" y="2698750"/>
            <a:ext cx="231775" cy="638175"/>
          </a:xfrm>
          <a:prstGeom prst="rightBrac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화살표 연결선 3"/>
          <p:cNvCxnSpPr/>
          <p:nvPr/>
        </p:nvCxnSpPr>
        <p:spPr>
          <a:xfrm flipH="1">
            <a:off x="6216001" y="1700818"/>
            <a:ext cx="826798" cy="49375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2" descr="logitech camera에 대한 이미지 검색결과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5867" y="4758322"/>
            <a:ext cx="1459115" cy="1253228"/>
          </a:xfrm>
          <a:prstGeom prst="rect">
            <a:avLst/>
          </a:prstGeom>
          <a:noFill/>
        </p:spPr>
      </p:pic>
      <p:pic>
        <p:nvPicPr>
          <p:cNvPr id="15" name="Picture 14" descr="logitech camera에 대한 이미지 검색결과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5725" y="4770197"/>
            <a:ext cx="1186389" cy="1253228"/>
          </a:xfrm>
          <a:prstGeom prst="rect">
            <a:avLst/>
          </a:prstGeom>
          <a:noFill/>
        </p:spPr>
      </p:pic>
      <p:pic>
        <p:nvPicPr>
          <p:cNvPr id="16" name="Picture 16" descr="microsoft camera에 대한 이미지 검색결과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34" r="23580"/>
          <a:stretch>
            <a:fillRect/>
          </a:stretch>
        </p:blipFill>
        <p:spPr bwMode="auto">
          <a:xfrm>
            <a:off x="10207852" y="4898336"/>
            <a:ext cx="1014028" cy="113064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pc="-1" dirty="0"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传感器包练习 </a:t>
            </a:r>
            <a:r>
              <a:rPr lang="en-US" altLang="ko-KR" spc="-1" dirty="0"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#2 (</a:t>
            </a:r>
            <a:r>
              <a:rPr lang="zh-CN" altLang="en-US" spc="-1" dirty="0"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远程传输图像</a:t>
            </a:r>
            <a:r>
              <a:rPr lang="en-US" altLang="ko-KR" spc="-1" dirty="0"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ko-KR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2555" y="5143500"/>
            <a:ext cx="11290041" cy="1133474"/>
          </a:xfrm>
        </p:spPr>
        <p:txBody>
          <a:bodyPr>
            <a:no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修改</a:t>
            </a:r>
            <a:r>
              <a:rPr lang="en-US" altLang="ko-KR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两个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PC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en-US" altLang="ko-KR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‘~/.</a:t>
            </a:r>
            <a:r>
              <a:rPr lang="en-US" altLang="ko-KR" sz="2400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bashrc</a:t>
            </a:r>
            <a:r>
              <a:rPr lang="en-US" altLang="ko-KR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’ (ROS_MASTER_URI and</a:t>
            </a:r>
            <a:r>
              <a:rPr lang="ko-KR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ko-KR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ROS_HOSTNAME)</a:t>
            </a:r>
          </a:p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在远程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PC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执行</a:t>
            </a:r>
            <a:r>
              <a:rPr lang="en-US" altLang="ko-KR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ko-KR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’</a:t>
            </a:r>
            <a:r>
              <a:rPr lang="en-US" altLang="ko-KR" sz="2400" b="1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roscore</a:t>
            </a:r>
            <a:r>
              <a:rPr lang="en-US" altLang="ko-KR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’</a:t>
            </a:r>
            <a:r>
              <a:rPr lang="en-US" altLang="ko-KR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&amp;</a:t>
            </a:r>
            <a:r>
              <a:rPr lang="ko-KR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ko-KR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’</a:t>
            </a:r>
            <a:r>
              <a:rPr lang="en-US" altLang="ko-KR" sz="2400" b="1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rqt_image_view</a:t>
            </a:r>
            <a:r>
              <a:rPr lang="en-US" altLang="ko-KR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image:=/</a:t>
            </a:r>
            <a:r>
              <a:rPr lang="en-US" altLang="ko-KR" sz="2400" b="1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image_raw</a:t>
            </a:r>
            <a:endParaRPr lang="en-US" altLang="ko-KR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在传感器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PC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执行</a:t>
            </a:r>
            <a:r>
              <a:rPr lang="en-US" altLang="ko-KR" sz="24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ko-KR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’</a:t>
            </a:r>
            <a:r>
              <a:rPr lang="en-US" altLang="ko-KR" sz="2400" b="1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rosrun</a:t>
            </a:r>
            <a:r>
              <a:rPr lang="en-US" altLang="ko-KR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ko-KR" sz="2400" b="1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uvc_camera</a:t>
            </a:r>
            <a:r>
              <a:rPr lang="en-US" altLang="ko-KR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’, ‘</a:t>
            </a:r>
            <a:r>
              <a:rPr lang="en-US" altLang="ko-KR" sz="2400" b="1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uvc_camera_node</a:t>
            </a:r>
            <a:r>
              <a:rPr lang="en-US" altLang="ko-KR" sz="24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’</a:t>
            </a:r>
            <a:endParaRPr lang="ko-KR" altLang="en-US" sz="2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95900" y="3611779"/>
            <a:ext cx="5229806" cy="800304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Courier 10 Pitch" pitchFamily="1"/>
              </a:defRPr>
            </a:pPr>
            <a:r>
              <a:rPr lang="en-US" sz="1600" b="0" i="0" u="none" strike="noStrike" kern="1200" cap="none" dirty="0">
                <a:ln>
                  <a:noFill/>
                </a:ln>
                <a:latin typeface="+mn-ea"/>
                <a:cs typeface="FreeSans" pitchFamily="2"/>
              </a:rPr>
              <a:t>ROS_MASTER_URI = </a:t>
            </a:r>
            <a:r>
              <a:rPr lang="en-US" sz="1600" b="1" i="0" u="none" strike="noStrike" kern="1200" cap="none" dirty="0">
                <a:ln>
                  <a:noFill/>
                </a:ln>
                <a:solidFill>
                  <a:srgbClr val="6666FF"/>
                </a:solidFill>
                <a:latin typeface="+mn-ea"/>
                <a:cs typeface="FreeSans" pitchFamily="2"/>
              </a:rPr>
              <a:t>http://</a:t>
            </a:r>
            <a:r>
              <a:rPr lang="en-US" sz="1600" b="1" i="0" u="none" strike="noStrike" kern="1200" cap="none" dirty="0">
                <a:ln>
                  <a:noFill/>
                </a:ln>
                <a:solidFill>
                  <a:srgbClr val="FF3333"/>
                </a:solidFill>
                <a:latin typeface="+mn-ea"/>
                <a:cs typeface="FreeSans" pitchFamily="2"/>
              </a:rPr>
              <a:t>IP_OF_REMOTE_PC</a:t>
            </a:r>
            <a:r>
              <a:rPr lang="en-US" sz="1600" b="1" i="0" u="none" strike="noStrike" kern="1200" cap="none" dirty="0">
                <a:ln>
                  <a:noFill/>
                </a:ln>
                <a:solidFill>
                  <a:srgbClr val="6666FF"/>
                </a:solidFill>
                <a:latin typeface="+mn-ea"/>
                <a:cs typeface="FreeSans" pitchFamily="2"/>
              </a:rPr>
              <a:t>:11311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Courier 10 Pitch" pitchFamily="1"/>
              </a:defRPr>
            </a:pPr>
            <a:r>
              <a:rPr lang="en-US" sz="1600" b="0" i="0" u="none" strike="noStrike" kern="1200" cap="none" dirty="0">
                <a:ln>
                  <a:noFill/>
                </a:ln>
                <a:latin typeface="+mn-ea"/>
                <a:cs typeface="FreeSans" pitchFamily="2"/>
              </a:rPr>
              <a:t>ROS_HOSTNAME   = </a:t>
            </a:r>
            <a:r>
              <a:rPr lang="en-US" sz="1600" b="1" i="0" u="none" strike="noStrike" kern="1200" cap="none" dirty="0">
                <a:ln>
                  <a:noFill/>
                </a:ln>
                <a:solidFill>
                  <a:srgbClr val="006600"/>
                </a:solidFill>
                <a:latin typeface="+mn-ea"/>
                <a:cs typeface="FreeSans" pitchFamily="2"/>
              </a:rPr>
              <a:t>IP_OF_SENSOR_PC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59019" y="3611779"/>
            <a:ext cx="4350201" cy="447845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Courier 10 Pitch" pitchFamily="1"/>
              </a:defRPr>
            </a:pPr>
            <a:r>
              <a:rPr lang="en-US" sz="1600" b="0" i="0" u="none" strike="noStrike" kern="1200" cap="none" dirty="0">
                <a:ln>
                  <a:noFill/>
                </a:ln>
                <a:latin typeface="+mn-ea"/>
                <a:cs typeface="FreeSans" pitchFamily="2"/>
              </a:rPr>
              <a:t>ROS_MASTER_URI = </a:t>
            </a:r>
            <a:r>
              <a:rPr lang="en-US" sz="1600" b="1" i="0" u="none" strike="noStrike" kern="1200" cap="none" dirty="0">
                <a:ln>
                  <a:noFill/>
                </a:ln>
                <a:solidFill>
                  <a:srgbClr val="6666FF"/>
                </a:solidFill>
                <a:latin typeface="+mn-ea"/>
                <a:cs typeface="FreeSans" pitchFamily="2"/>
              </a:rPr>
              <a:t>http://</a:t>
            </a:r>
            <a:r>
              <a:rPr lang="en-US" sz="1600" b="1" i="0" u="none" strike="noStrike" kern="1200" cap="none" dirty="0">
                <a:ln>
                  <a:noFill/>
                </a:ln>
                <a:solidFill>
                  <a:srgbClr val="FF3333"/>
                </a:solidFill>
                <a:latin typeface="+mn-ea"/>
                <a:cs typeface="FreeSans" pitchFamily="2"/>
              </a:rPr>
              <a:t>IP_OF_REMOTE_PC</a:t>
            </a:r>
            <a:r>
              <a:rPr lang="en-US" sz="1600" b="1" i="0" u="none" strike="noStrike" kern="1200" cap="none" dirty="0">
                <a:ln>
                  <a:noFill/>
                </a:ln>
                <a:solidFill>
                  <a:srgbClr val="6666FF"/>
                </a:solidFill>
                <a:latin typeface="+mn-ea"/>
                <a:cs typeface="FreeSans" pitchFamily="2"/>
              </a:rPr>
              <a:t>:11311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latin typeface="Courier 10 Pitch" pitchFamily="1"/>
              </a:defRPr>
            </a:pPr>
            <a:r>
              <a:rPr lang="en-US" sz="1600" b="0" i="0" u="none" strike="noStrike" kern="1200" cap="none" dirty="0">
                <a:ln>
                  <a:noFill/>
                </a:ln>
                <a:latin typeface="+mn-ea"/>
                <a:cs typeface="FreeSans" pitchFamily="2"/>
              </a:rPr>
              <a:t>ROS_HOSTNAME   = </a:t>
            </a:r>
            <a:r>
              <a:rPr lang="en-US" sz="1600" b="1" i="0" u="none" strike="noStrike" kern="1200" cap="none" dirty="0">
                <a:ln>
                  <a:noFill/>
                </a:ln>
                <a:solidFill>
                  <a:srgbClr val="FF3333"/>
                </a:solidFill>
                <a:latin typeface="+mn-ea"/>
                <a:cs typeface="FreeSans" pitchFamily="2"/>
              </a:rPr>
              <a:t>IP_OF_REMOTE_PC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0528" y="4356391"/>
            <a:ext cx="5468461" cy="489963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Liberation Sans" pitchFamily="34"/>
              </a:defRPr>
            </a:pPr>
            <a:r>
              <a:rPr lang="en-US" sz="1800" b="0" i="0" u="none" strike="noStrike" kern="1200" cap="none" dirty="0">
                <a:ln>
                  <a:noFill/>
                </a:ln>
                <a:latin typeface="+mn-ea"/>
                <a:cs typeface="FreeSans" pitchFamily="2"/>
              </a:rPr>
              <a:t>* Example of running ROS Master on a</a:t>
            </a:r>
            <a:r>
              <a:rPr lang="en-US" altLang="ko-KR" dirty="0">
                <a:latin typeface="+mn-ea"/>
                <a:cs typeface="FreeSans" pitchFamily="2"/>
              </a:rPr>
              <a:t> r</a:t>
            </a:r>
            <a:r>
              <a:rPr lang="en-US" sz="1800" b="0" i="0" u="none" strike="noStrike" kern="1200" cap="none" dirty="0">
                <a:ln>
                  <a:noFill/>
                </a:ln>
                <a:latin typeface="+mn-ea"/>
                <a:cs typeface="FreeSans" pitchFamily="2"/>
              </a:rPr>
              <a:t>emote PC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605360" y="1960776"/>
            <a:ext cx="1630244" cy="1487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20568" y="1509010"/>
            <a:ext cx="567204" cy="514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00462" y="1509010"/>
            <a:ext cx="567204" cy="514207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자유형 15"/>
          <p:cNvSpPr/>
          <p:nvPr/>
        </p:nvSpPr>
        <p:spPr>
          <a:xfrm>
            <a:off x="2549271" y="1256748"/>
            <a:ext cx="1236962" cy="29105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0">
            <a:solidFill>
              <a:schemeClr val="tx1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/>
            </a:pPr>
            <a:r>
              <a:rPr lang="en-US" sz="1800" b="1" i="0" u="none" strike="noStrike" kern="1200" cap="none" dirty="0">
                <a:ln>
                  <a:noFill/>
                </a:ln>
                <a:solidFill>
                  <a:srgbClr val="00B050"/>
                </a:solidFill>
                <a:latin typeface="+mn-ea"/>
                <a:cs typeface="FreeSans" pitchFamily="2"/>
              </a:rPr>
              <a:t>Sensor PC</a:t>
            </a:r>
          </a:p>
        </p:txBody>
      </p:sp>
      <p:sp>
        <p:nvSpPr>
          <p:cNvPr id="17" name="자유형 16"/>
          <p:cNvSpPr/>
          <p:nvPr/>
        </p:nvSpPr>
        <p:spPr>
          <a:xfrm>
            <a:off x="7802001" y="1256748"/>
            <a:ext cx="1236962" cy="29105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0">
            <a:solidFill>
              <a:schemeClr val="tx1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FFFFF"/>
                </a:solidFill>
              </a:defRPr>
            </a:pPr>
            <a:r>
              <a:rPr lang="en-US" sz="1800" b="1" i="0" u="none" strike="noStrike" kern="1200" cap="none" dirty="0">
                <a:ln>
                  <a:noFill/>
                </a:ln>
                <a:solidFill>
                  <a:srgbClr val="FF0000"/>
                </a:solidFill>
                <a:latin typeface="+mn-ea"/>
                <a:cs typeface="FreeSans" pitchFamily="2"/>
              </a:rPr>
              <a:t>Remote PC</a:t>
            </a: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358889" y="1969927"/>
            <a:ext cx="1630244" cy="1487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4" t="5962" r="4383" b="4952"/>
          <a:stretch>
            <a:fillRect/>
          </a:stretch>
        </p:blipFill>
        <p:spPr>
          <a:xfrm>
            <a:off x="5161469" y="1880200"/>
            <a:ext cx="1377617" cy="1010653"/>
          </a:xfrm>
          <a:prstGeom prst="rect">
            <a:avLst/>
          </a:prstGeom>
        </p:spPr>
      </p:pic>
      <p:cxnSp>
        <p:nvCxnSpPr>
          <p:cNvPr id="23" name="직선 화살표 연결선 22"/>
          <p:cNvCxnSpPr/>
          <p:nvPr/>
        </p:nvCxnSpPr>
        <p:spPr>
          <a:xfrm>
            <a:off x="4403362" y="2998653"/>
            <a:ext cx="2835638" cy="0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12" descr="logitech camera에 대한 이미지 검색결과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947" y="1547798"/>
            <a:ext cx="1236746" cy="1062236"/>
          </a:xfrm>
          <a:prstGeom prst="rect">
            <a:avLst/>
          </a:prstGeom>
          <a:noFill/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5641" y="1378746"/>
            <a:ext cx="1724267" cy="16078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pc="-1" dirty="0"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传感器包练习 </a:t>
            </a:r>
            <a:r>
              <a:rPr lang="en-US" altLang="ko-KR" spc="-1" dirty="0"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#3 (</a:t>
            </a:r>
            <a:r>
              <a:rPr lang="zh-CN" altLang="en-US" spc="-1" dirty="0"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相机标定</a:t>
            </a:r>
            <a:r>
              <a:rPr lang="en-US" altLang="ko-KR" spc="-1" dirty="0"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ko-KR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5" name="CustomShape 3"/>
          <p:cNvSpPr/>
          <p:nvPr/>
        </p:nvSpPr>
        <p:spPr>
          <a:xfrm>
            <a:off x="382996" y="1196816"/>
            <a:ext cx="11289600" cy="11018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r>
              <a:rPr lang="en-US" altLang="ko-KR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ea typeface="Malgun Gothic" panose="020B0503020000020004" charset="-127"/>
              </a:rPr>
              <a:t>$ </a:t>
            </a:r>
            <a:r>
              <a:rPr lang="en-US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</a:rPr>
              <a:t>sudo apt-get install</a:t>
            </a:r>
            <a:r>
              <a:rPr lang="en-US" spc="-1" dirty="0">
                <a:solidFill>
                  <a:prstClr val="white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pc="-1" dirty="0" err="1">
                <a:solidFill>
                  <a:prstClr val="white"/>
                </a:solidFill>
                <a:uFill>
                  <a:solidFill>
                    <a:srgbClr val="FFFFFF"/>
                  </a:solidFill>
                </a:uFill>
              </a:rPr>
              <a:t>ros</a:t>
            </a:r>
            <a:r>
              <a:rPr lang="en-US" spc="-1" dirty="0">
                <a:solidFill>
                  <a:prstClr val="white"/>
                </a:solidFill>
                <a:uFill>
                  <a:solidFill>
                    <a:srgbClr val="FFFFFF"/>
                  </a:solidFill>
                </a:uFill>
              </a:rPr>
              <a:t>-kinetic-camera-calibration </a:t>
            </a:r>
          </a:p>
          <a:p>
            <a:r>
              <a:rPr lang="en-US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$</a:t>
            </a:r>
            <a:r>
              <a:rPr lang="en-US" spc="-1" dirty="0">
                <a:solidFill>
                  <a:prstClr val="white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</a:rPr>
              <a:t>rosrun</a:t>
            </a:r>
            <a:r>
              <a:rPr lang="en-US" spc="-1" dirty="0">
                <a:solidFill>
                  <a:prstClr val="white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pc="-1" dirty="0" err="1">
                <a:solidFill>
                  <a:prstClr val="white"/>
                </a:solidFill>
                <a:uFill>
                  <a:solidFill>
                    <a:srgbClr val="FFFFFF"/>
                  </a:solidFill>
                </a:uFill>
              </a:rPr>
              <a:t>uvc_camera</a:t>
            </a:r>
            <a:r>
              <a:rPr lang="en-US" spc="-1" dirty="0">
                <a:solidFill>
                  <a:prstClr val="white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pc="-1" dirty="0" err="1">
                <a:solidFill>
                  <a:prstClr val="white"/>
                </a:solidFill>
                <a:uFill>
                  <a:solidFill>
                    <a:srgbClr val="FFFFFF"/>
                  </a:solidFill>
                </a:uFill>
              </a:rPr>
              <a:t>uvc_camera_node</a:t>
            </a:r>
            <a:endParaRPr lang="en-US" spc="-1" dirty="0">
              <a:solidFill>
                <a:prstClr val="white"/>
              </a:solidFill>
              <a:uFill>
                <a:solidFill>
                  <a:srgbClr val="FFFFFF"/>
                </a:solidFill>
              </a:uFill>
            </a:endParaRPr>
          </a:p>
          <a:p>
            <a:r>
              <a:rPr lang="en-US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$</a:t>
            </a:r>
            <a:r>
              <a:rPr lang="en-US" spc="-1" dirty="0">
                <a:solidFill>
                  <a:prstClr val="white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</a:rPr>
              <a:t>rosrun</a:t>
            </a:r>
            <a:r>
              <a:rPr lang="en-US" spc="-1" dirty="0">
                <a:solidFill>
                  <a:prstClr val="white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pc="-1" dirty="0" err="1">
                <a:solidFill>
                  <a:prstClr val="white"/>
                </a:solidFill>
                <a:uFill>
                  <a:solidFill>
                    <a:srgbClr val="FFFFFF"/>
                  </a:solidFill>
                </a:uFill>
              </a:rPr>
              <a:t>camera_calibration</a:t>
            </a:r>
            <a:r>
              <a:rPr lang="en-US" spc="-1" dirty="0">
                <a:solidFill>
                  <a:prstClr val="white"/>
                </a:solidFill>
                <a:uFill>
                  <a:solidFill>
                    <a:srgbClr val="FFFFFF"/>
                  </a:solidFill>
                </a:uFill>
              </a:rPr>
              <a:t> cameracalibrator.py --size 8x6 --square 0.024 image:=/</a:t>
            </a:r>
            <a:r>
              <a:rPr lang="en-US" spc="-1" dirty="0" err="1">
                <a:solidFill>
                  <a:prstClr val="white"/>
                </a:solidFill>
                <a:uFill>
                  <a:solidFill>
                    <a:srgbClr val="FFFFFF"/>
                  </a:solidFill>
                </a:uFill>
              </a:rPr>
              <a:t>image_raw</a:t>
            </a:r>
            <a:r>
              <a:rPr lang="en-US" spc="-1" dirty="0">
                <a:solidFill>
                  <a:prstClr val="white"/>
                </a:solidFill>
                <a:uFill>
                  <a:solidFill>
                    <a:srgbClr val="FFFFFF"/>
                  </a:solidFill>
                </a:uFill>
              </a:rPr>
              <a:t> camera:=/camera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3874" y="2387600"/>
            <a:ext cx="5867401" cy="42585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TextShape 1"/>
          <p:cNvSpPr txBox="1"/>
          <p:nvPr/>
        </p:nvSpPr>
        <p:spPr>
          <a:xfrm>
            <a:off x="382680" y="234360"/>
            <a:ext cx="11289600" cy="679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zh-CN" altLang="en-US" sz="3600" b="1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传感器包练习  </a:t>
            </a:r>
            <a:r>
              <a:rPr lang="en-US" altLang="ko-KR" sz="3600" b="1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#4 (</a:t>
            </a:r>
            <a:r>
              <a:rPr lang="zh-CN" altLang="en-US" sz="3600" b="1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深度相机</a:t>
            </a:r>
            <a:r>
              <a:rPr lang="en-US" altLang="ko-KR" sz="3600" b="1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ko-KR" altLang="en-US" sz="3600" b="1" spc="-1" dirty="0">
              <a:solidFill>
                <a:srgbClr val="002060"/>
              </a:solidFill>
              <a:uFill>
                <a:solidFill>
                  <a:srgbClr val="FFFFFF"/>
                </a:solidFill>
              </a:u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6" name="TextShape 2"/>
          <p:cNvSpPr txBox="1"/>
          <p:nvPr/>
        </p:nvSpPr>
        <p:spPr>
          <a:xfrm>
            <a:off x="9448920" y="649296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DEC38D54-6EE0-4D95-88F1-26DA90D87C0C}" type="slidenum">
              <a:rPr lang="en-US" sz="1400" spc="-1">
                <a:solidFill>
                  <a:srgbClr val="9BBAE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8</a:t>
            </a:fld>
            <a:endParaRPr lang="en-US" sz="1400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 panose="02020603050405020304"/>
            </a:endParaRPr>
          </a:p>
        </p:txBody>
      </p:sp>
      <p:sp>
        <p:nvSpPr>
          <p:cNvPr id="327" name="CustomShape 3"/>
          <p:cNvSpPr/>
          <p:nvPr/>
        </p:nvSpPr>
        <p:spPr>
          <a:xfrm>
            <a:off x="382680" y="1017416"/>
            <a:ext cx="11289600" cy="1461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r>
              <a:rPr lang="en-US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$ </a:t>
            </a:r>
            <a:r>
              <a:rPr lang="en-US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sudo</a:t>
            </a:r>
            <a:r>
              <a:rPr lang="en-US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apt-get install 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ros-kinetic-openni2-camera ros-kinetic-openni2-launch
</a:t>
            </a:r>
            <a:r>
              <a:rPr lang="en-US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$ </a:t>
            </a:r>
            <a:r>
              <a:rPr lang="en-US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tar -</a:t>
            </a:r>
            <a:r>
              <a:rPr lang="en-US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xvf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Sensor-Bin-Linux-x64-v5.1.0.41.tar.bz2</a:t>
            </a:r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r>
              <a:rPr lang="en-US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$ </a:t>
            </a:r>
            <a:r>
              <a:rPr lang="en-US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cd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Sensor-Bin-Linux-x64-v5.1.0.41/</a:t>
            </a:r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r>
              <a:rPr lang="en-US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$ </a:t>
            </a:r>
            <a:r>
              <a:rPr lang="en-US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sudo</a:t>
            </a:r>
            <a:r>
              <a:rPr lang="en-US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</a:t>
            </a:r>
            <a:r>
              <a:rPr lang="en-US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sh</a:t>
            </a:r>
            <a:r>
              <a:rPr lang="en-US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install.sh </a:t>
            </a:r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r>
              <a:rPr lang="en-US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$ </a:t>
            </a:r>
            <a:r>
              <a:rPr lang="en-US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roslaunch</a:t>
            </a:r>
            <a:r>
              <a:rPr lang="en-US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openni2_launch openni2.launch</a:t>
            </a:r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328" name="CustomShape 4"/>
          <p:cNvSpPr/>
          <p:nvPr/>
        </p:nvSpPr>
        <p:spPr>
          <a:xfrm>
            <a:off x="510840" y="4141159"/>
            <a:ext cx="7776360" cy="26596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r>
              <a:rPr lang="en-US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* Change the display options of </a:t>
            </a:r>
            <a:r>
              <a:rPr lang="en-US" sz="20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RViz</a:t>
            </a:r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endParaRPr lang="en-US" sz="105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 panose="02020603050405020304"/>
              <a:ea typeface="Malgun Gothic" panose="020B0503020000020004" charset="-127"/>
            </a:endParaRPr>
          </a:p>
          <a:p>
            <a:r>
              <a:rPr lang="en-US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1) Change fixed frame</a:t>
            </a:r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r>
              <a:rPr lang="en-US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  Change ‘Global Options &gt; Fixed Frame’ to "</a:t>
            </a:r>
            <a:r>
              <a:rPr lang="en-US" sz="2000" spc="-1" dirty="0" err="1">
                <a:solidFill>
                  <a:srgbClr val="00B0F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camera_depth_frame</a:t>
            </a:r>
            <a:r>
              <a:rPr lang="en-US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"</a:t>
            </a:r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r>
              <a:rPr lang="en-US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2) Add &amp; configure PointCloud2</a:t>
            </a:r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r>
              <a:rPr lang="en-US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  Click ‘Add’ at the bottom left of </a:t>
            </a:r>
            <a:r>
              <a:rPr lang="en-US" sz="20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rviz</a:t>
            </a:r>
            <a:r>
              <a:rPr lang="en-US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, then select </a:t>
            </a:r>
            <a:r>
              <a:rPr lang="en-US" sz="2000" spc="-1" dirty="0">
                <a:solidFill>
                  <a:srgbClr val="00B0F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PointCloud2</a:t>
            </a:r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r>
              <a:rPr lang="en-US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3) Change topic name &amp; detail settings</a:t>
            </a:r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330" name="CustomShape 6"/>
          <p:cNvSpPr/>
          <p:nvPr/>
        </p:nvSpPr>
        <p:spPr>
          <a:xfrm>
            <a:off x="9033375" y="1025756"/>
            <a:ext cx="29163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(In case of ASUS’s </a:t>
            </a:r>
            <a:r>
              <a:rPr lang="en-US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Xtion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)</a:t>
            </a:r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8" name="CustomShape 3"/>
          <p:cNvSpPr/>
          <p:nvPr/>
        </p:nvSpPr>
        <p:spPr>
          <a:xfrm>
            <a:off x="382680" y="2606516"/>
            <a:ext cx="11289600" cy="1461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r>
              <a:rPr lang="en-US" altLang="ko-KR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$ </a:t>
            </a:r>
            <a:r>
              <a:rPr lang="en-US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sudo</a:t>
            </a:r>
            <a:r>
              <a:rPr lang="en-US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apt-get install </a:t>
            </a:r>
            <a:r>
              <a:rPr lang="en-US" spc="-1" dirty="0" err="1">
                <a:solidFill>
                  <a:prstClr val="white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ros</a:t>
            </a:r>
            <a:r>
              <a:rPr lang="en-US" spc="-1" dirty="0">
                <a:solidFill>
                  <a:prstClr val="white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-kinetic-</a:t>
            </a:r>
            <a:r>
              <a:rPr lang="en-US" spc="-1" dirty="0" err="1">
                <a:solidFill>
                  <a:prstClr val="white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astra</a:t>
            </a:r>
            <a:r>
              <a:rPr lang="en-US" spc="-1" dirty="0">
                <a:solidFill>
                  <a:prstClr val="white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-camera </a:t>
            </a:r>
            <a:r>
              <a:rPr lang="en-US" spc="-1" dirty="0" err="1">
                <a:solidFill>
                  <a:prstClr val="white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ros</a:t>
            </a:r>
            <a:r>
              <a:rPr lang="en-US" spc="-1" dirty="0">
                <a:solidFill>
                  <a:prstClr val="white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-kinetic-</a:t>
            </a:r>
            <a:r>
              <a:rPr lang="en-US" spc="-1" dirty="0" err="1">
                <a:solidFill>
                  <a:prstClr val="white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astra</a:t>
            </a:r>
            <a:r>
              <a:rPr lang="en-US" spc="-1" dirty="0">
                <a:solidFill>
                  <a:prstClr val="white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-launch</a:t>
            </a:r>
          </a:p>
          <a:p>
            <a:r>
              <a:rPr lang="en-US" altLang="ko-KR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$ </a:t>
            </a:r>
            <a:r>
              <a:rPr lang="en-US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wget</a:t>
            </a:r>
            <a:r>
              <a:rPr lang="en-US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</a:t>
            </a:r>
            <a:r>
              <a:rPr lang="en-US" spc="-1" dirty="0">
                <a:solidFill>
                  <a:prstClr val="white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https://raw.githubusercontent.com/tfoote/ros_astra_camera/master/orbbec-usb.rules</a:t>
            </a:r>
          </a:p>
          <a:p>
            <a:r>
              <a:rPr lang="en-US" altLang="ko-KR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$ </a:t>
            </a:r>
            <a:r>
              <a:rPr lang="en-US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wget</a:t>
            </a:r>
            <a:r>
              <a:rPr lang="en-US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</a:t>
            </a:r>
            <a:r>
              <a:rPr lang="en-US" spc="-1" dirty="0">
                <a:solidFill>
                  <a:prstClr val="white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https://raw.githubusercontent.com/tfoote/ros_astra_camera/master/install.sh</a:t>
            </a:r>
          </a:p>
          <a:p>
            <a:r>
              <a:rPr lang="en-US" altLang="ko-KR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$ </a:t>
            </a:r>
            <a:r>
              <a:rPr lang="en-US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sudo</a:t>
            </a:r>
            <a:r>
              <a:rPr lang="en-US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</a:t>
            </a:r>
            <a:r>
              <a:rPr lang="en-US" spc="-1" dirty="0">
                <a:solidFill>
                  <a:prstClr val="white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./install.sh</a:t>
            </a:r>
          </a:p>
          <a:p>
            <a:r>
              <a:rPr lang="en-US" altLang="ko-KR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$ </a:t>
            </a:r>
            <a:r>
              <a:rPr lang="en-US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roslaunch</a:t>
            </a:r>
            <a:r>
              <a:rPr lang="en-US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</a:t>
            </a:r>
            <a:r>
              <a:rPr lang="en-US" spc="-1" dirty="0" err="1">
                <a:solidFill>
                  <a:prstClr val="white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astra_launch</a:t>
            </a:r>
            <a:r>
              <a:rPr lang="en-US" spc="-1" dirty="0">
                <a:solidFill>
                  <a:prstClr val="white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</a:t>
            </a:r>
            <a:r>
              <a:rPr lang="en-US" spc="-1" dirty="0" err="1">
                <a:solidFill>
                  <a:prstClr val="white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astra.launch</a:t>
            </a:r>
            <a:endParaRPr lang="en-US" spc="-1" dirty="0">
              <a:solidFill>
                <a:prstClr val="white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9" name="CustomShape 6"/>
          <p:cNvSpPr/>
          <p:nvPr/>
        </p:nvSpPr>
        <p:spPr>
          <a:xfrm>
            <a:off x="9576900" y="2626680"/>
            <a:ext cx="29163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(In case of ASTRA)</a:t>
            </a:r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914"/>
          <a:stretch>
            <a:fillRect/>
          </a:stretch>
        </p:blipFill>
        <p:spPr>
          <a:xfrm>
            <a:off x="8389765" y="4092768"/>
            <a:ext cx="3662535" cy="1436703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86"/>
          <a:stretch>
            <a:fillRect/>
          </a:stretch>
        </p:blipFill>
        <p:spPr>
          <a:xfrm>
            <a:off x="8378553" y="5150662"/>
            <a:ext cx="3571182" cy="16501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TextShape 2"/>
          <p:cNvSpPr txBox="1"/>
          <p:nvPr/>
        </p:nvSpPr>
        <p:spPr>
          <a:xfrm>
            <a:off x="9448920" y="649296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25292FFD-DB27-450B-B4DF-FEDA3E62C23D}" type="slidenum">
              <a:rPr lang="en-US" sz="1400" spc="-1">
                <a:solidFill>
                  <a:srgbClr val="9BBAE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9</a:t>
            </a:fld>
            <a:endParaRPr lang="en-US" sz="1400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 panose="02020603050405020304"/>
            </a:endParaRPr>
          </a:p>
        </p:txBody>
      </p:sp>
      <p:sp>
        <p:nvSpPr>
          <p:cNvPr id="333" name="CustomShape 3"/>
          <p:cNvSpPr/>
          <p:nvPr/>
        </p:nvSpPr>
        <p:spPr>
          <a:xfrm>
            <a:off x="382680" y="1692360"/>
            <a:ext cx="11289600" cy="13701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r>
              <a:rPr lang="en-US" sz="24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$ </a:t>
            </a:r>
            <a:r>
              <a:rPr lang="en-US" sz="2400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sudo</a:t>
            </a:r>
            <a:r>
              <a:rPr lang="en-US" sz="2400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apt-get install </a:t>
            </a:r>
            <a:r>
              <a:rPr lang="en-US" sz="2400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ros</a:t>
            </a:r>
            <a:r>
              <a:rPr lang="en-US" sz="2400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-kinetic-</a:t>
            </a:r>
            <a:r>
              <a:rPr lang="en-US" sz="2400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librealsense</a:t>
            </a:r>
            <a:r>
              <a:rPr lang="en-US" sz="2400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</a:t>
            </a:r>
            <a:r>
              <a:rPr lang="en-US" sz="2400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ros</a:t>
            </a:r>
            <a:r>
              <a:rPr lang="en-US" sz="2400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-kinetic-</a:t>
            </a:r>
            <a:r>
              <a:rPr lang="en-US" sz="2400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realsense</a:t>
            </a:r>
            <a:r>
              <a:rPr lang="en-US" sz="2400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-camera
</a:t>
            </a:r>
            <a:r>
              <a:rPr lang="en-US" sz="24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$ </a:t>
            </a:r>
            <a:r>
              <a:rPr lang="en-US" sz="2400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roslaunch</a:t>
            </a:r>
            <a:r>
              <a:rPr lang="en-US" sz="2400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</a:t>
            </a:r>
            <a:r>
              <a:rPr lang="en-US" sz="2400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realsense_camera</a:t>
            </a:r>
            <a:r>
              <a:rPr lang="en-US" sz="2400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r200_nodelet_default.launch</a:t>
            </a:r>
            <a:endParaRPr lang="en-US" sz="16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r>
              <a:rPr lang="en-US" sz="2400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$</a:t>
            </a:r>
            <a:r>
              <a:rPr lang="en-US" sz="2400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</a:t>
            </a:r>
            <a:r>
              <a:rPr lang="en-US" sz="2400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rosrun</a:t>
            </a:r>
            <a:r>
              <a:rPr lang="en-US" sz="2400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</a:t>
            </a:r>
            <a:r>
              <a:rPr lang="en-US" sz="2400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rviz</a:t>
            </a:r>
            <a:r>
              <a:rPr lang="en-US" sz="2400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</a:t>
            </a:r>
            <a:r>
              <a:rPr lang="en-US" sz="2400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rviz</a:t>
            </a:r>
            <a:r>
              <a:rPr lang="en-US" sz="2400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-d </a:t>
            </a:r>
            <a:r>
              <a:rPr lang="en-US" sz="2400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rviz</a:t>
            </a:r>
            <a:r>
              <a:rPr lang="en-US" sz="2400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/realsenseRvizConfiguration1.rviz</a:t>
            </a:r>
            <a:endParaRPr lang="en-US" sz="16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334" name="CustomShape 4"/>
          <p:cNvSpPr/>
          <p:nvPr/>
        </p:nvSpPr>
        <p:spPr>
          <a:xfrm>
            <a:off x="502200" y="3537360"/>
            <a:ext cx="7776360" cy="3138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r>
              <a:rPr lang="en-US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* Change the display options of </a:t>
            </a:r>
            <a:r>
              <a:rPr lang="en-US" sz="20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RViz</a:t>
            </a:r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r>
              <a:rPr lang="en-US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1) Change fixed frame</a:t>
            </a:r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r>
              <a:rPr lang="en-US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  Change ‘Global Options &gt; Fixed Frame’ to "</a:t>
            </a:r>
            <a:r>
              <a:rPr lang="en-US" sz="2000" spc="-1" dirty="0" err="1">
                <a:solidFill>
                  <a:srgbClr val="00B0F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camera_depth_frame</a:t>
            </a:r>
            <a:r>
              <a:rPr lang="en-US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"</a:t>
            </a:r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r>
              <a:rPr lang="en-US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2) </a:t>
            </a:r>
            <a:r>
              <a:rPr lang="en-US" altLang="ko-KR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Add &amp; configure PointCloud2</a:t>
            </a:r>
          </a:p>
          <a:p>
            <a:r>
              <a:rPr lang="en-US" altLang="ko-KR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   Click ‘Add’ at the bottom left of </a:t>
            </a:r>
            <a:r>
              <a:rPr lang="en-US" altLang="ko-KR" sz="20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rviz</a:t>
            </a:r>
            <a:r>
              <a:rPr lang="en-US" altLang="ko-KR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, then select </a:t>
            </a:r>
            <a:r>
              <a:rPr lang="en-US" altLang="ko-KR" sz="2000" spc="-1" dirty="0">
                <a:solidFill>
                  <a:srgbClr val="00B0F0"/>
                </a:solidFill>
                <a:uFill>
                  <a:solidFill>
                    <a:srgbClr val="FFFFFF"/>
                  </a:solidFill>
                </a:uFill>
              </a:rPr>
              <a:t>PointCloud2</a:t>
            </a:r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r>
              <a:rPr lang="en-US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3) </a:t>
            </a:r>
            <a:r>
              <a:rPr lang="en-US" altLang="ko-KR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</a:rPr>
              <a:t>Change topic name &amp; detail settings</a:t>
            </a:r>
          </a:p>
        </p:txBody>
      </p:sp>
      <p:sp>
        <p:nvSpPr>
          <p:cNvPr id="335" name="CustomShape 5"/>
          <p:cNvSpPr/>
          <p:nvPr/>
        </p:nvSpPr>
        <p:spPr>
          <a:xfrm>
            <a:off x="9386280" y="1139400"/>
            <a:ext cx="221400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r>
              <a:rPr lang="en-US" b="1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(In case of RealSense)</a:t>
            </a:r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</p:txBody>
      </p:sp>
      <p:pic>
        <p:nvPicPr>
          <p:cNvPr id="7" name="Picture 6" descr="r200 realsense에 대한 이미지 검색결과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9173" y="4497724"/>
            <a:ext cx="3826489" cy="873592"/>
          </a:xfrm>
          <a:prstGeom prst="rect">
            <a:avLst/>
          </a:prstGeom>
          <a:noFill/>
        </p:spPr>
      </p:pic>
      <p:sp>
        <p:nvSpPr>
          <p:cNvPr id="8" name="TextShape 1"/>
          <p:cNvSpPr txBox="1"/>
          <p:nvPr/>
        </p:nvSpPr>
        <p:spPr>
          <a:xfrm>
            <a:off x="382680" y="234360"/>
            <a:ext cx="11289600" cy="679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zh-CN" altLang="en-US" sz="3600" b="1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传感器包练习  </a:t>
            </a:r>
            <a:r>
              <a:rPr lang="en-US" altLang="ko-KR" sz="3600" b="1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#4 (</a:t>
            </a:r>
            <a:r>
              <a:rPr lang="zh-CN" altLang="en-US" sz="3600" b="1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深度相机</a:t>
            </a:r>
            <a:r>
              <a:rPr lang="en-US" altLang="ko-KR" sz="3600" b="1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ko-KR" altLang="en-US" sz="3600" b="1" spc="-1" dirty="0">
              <a:solidFill>
                <a:srgbClr val="002060"/>
              </a:solidFill>
              <a:uFill>
                <a:solidFill>
                  <a:srgbClr val="FFFFFF"/>
                </a:solidFill>
              </a:u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TextShape 1"/>
          <p:cNvSpPr txBox="1"/>
          <p:nvPr/>
        </p:nvSpPr>
        <p:spPr>
          <a:xfrm>
            <a:off x="382680" y="234360"/>
            <a:ext cx="11289600" cy="679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zh-CN" altLang="en-US" sz="3600" b="1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传感器包练习  </a:t>
            </a:r>
            <a:r>
              <a:rPr lang="en-US" altLang="ko-KR" sz="3600" b="1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#5 (</a:t>
            </a:r>
            <a:r>
              <a:rPr lang="zh-CN" altLang="en-US" sz="3600" b="1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立体相机</a:t>
            </a:r>
            <a:r>
              <a:rPr lang="en-US" altLang="ko-KR" sz="3600" b="1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ko-KR" altLang="en-US" sz="3600" b="1" spc="-1" dirty="0">
              <a:solidFill>
                <a:srgbClr val="002060"/>
              </a:solidFill>
              <a:uFill>
                <a:solidFill>
                  <a:srgbClr val="FFFFFF"/>
                </a:solidFill>
              </a:u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2" name="TextShape 2"/>
          <p:cNvSpPr txBox="1"/>
          <p:nvPr/>
        </p:nvSpPr>
        <p:spPr>
          <a:xfrm>
            <a:off x="9448920" y="649296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25292FFD-DB27-450B-B4DF-FEDA3E62C23D}" type="slidenum">
              <a:rPr lang="en-US" sz="1400" spc="-1">
                <a:solidFill>
                  <a:srgbClr val="9BBAE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10</a:t>
            </a:fld>
            <a:endParaRPr lang="en-US" sz="1400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 panose="02020603050405020304"/>
            </a:endParaRPr>
          </a:p>
        </p:txBody>
      </p:sp>
      <p:sp>
        <p:nvSpPr>
          <p:cNvPr id="333" name="CustomShape 3"/>
          <p:cNvSpPr/>
          <p:nvPr/>
        </p:nvSpPr>
        <p:spPr>
          <a:xfrm>
            <a:off x="382680" y="1134225"/>
            <a:ext cx="11289600" cy="26503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r>
              <a:rPr lang="en-US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$ </a:t>
            </a:r>
            <a:r>
              <a:rPr lang="en-US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sudo apt-get install 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libv4l-dev </a:t>
            </a:r>
            <a:r>
              <a:rPr lang="en-US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libudev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-dev </a:t>
            </a:r>
            <a:r>
              <a:rPr lang="en-US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ros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-kinetic-</a:t>
            </a:r>
            <a:r>
              <a:rPr lang="en-US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rtabmap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*</a:t>
            </a:r>
          </a:p>
          <a:p>
            <a:r>
              <a:rPr lang="en-US" altLang="ko-KR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$</a:t>
            </a:r>
            <a:r>
              <a:rPr lang="en-US" altLang="ko-KR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altLang="ko-KR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</a:rPr>
              <a:t>cd ~/</a:t>
            </a:r>
            <a:r>
              <a:rPr lang="en-US" altLang="ko-KR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</a:rPr>
              <a:t>catkin_ws</a:t>
            </a:r>
            <a:r>
              <a:rPr lang="en-US" altLang="ko-KR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</a:rPr>
              <a:t>/</a:t>
            </a:r>
            <a:r>
              <a:rPr lang="en-US" altLang="ko-KR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</a:rPr>
              <a:t>src</a:t>
            </a:r>
            <a:r>
              <a:rPr lang="en-US" altLang="ko-KR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</a:rPr>
              <a:t>/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
</a:t>
            </a:r>
            <a:r>
              <a:rPr lang="en-US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$ </a:t>
            </a:r>
            <a:r>
              <a:rPr lang="en-US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</a:rPr>
              <a:t>svn</a:t>
            </a:r>
            <a:r>
              <a:rPr lang="en-US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</a:rPr>
              <a:t> export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 https://github.com/withrobot/oCam/trunk/Software/oCamS_ROS_Package/ocams</a:t>
            </a:r>
          </a:p>
          <a:p>
            <a:r>
              <a:rPr lang="en-US" altLang="ko-KR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$ </a:t>
            </a:r>
            <a:r>
              <a:rPr lang="en-US" altLang="ko-KR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</a:rPr>
              <a:t>cd </a:t>
            </a:r>
            <a:r>
              <a:rPr lang="en-US" altLang="ko-KR" spc="-1" dirty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</a:rPr>
              <a:t>~/</a:t>
            </a:r>
            <a:r>
              <a:rPr lang="en-US" altLang="ko-KR" spc="-1" dirty="0" err="1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</a:rPr>
              <a:t>catkin_ws</a:t>
            </a:r>
            <a:r>
              <a:rPr lang="en-US" altLang="ko-KR" spc="-1" dirty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</a:rPr>
              <a:t>/ &amp;&amp; </a:t>
            </a:r>
            <a:r>
              <a:rPr lang="en-US" altLang="ko-KR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</a:rPr>
              <a:t>catkin_make</a:t>
            </a:r>
            <a:endParaRPr lang="en-US" spc="-1" dirty="0">
              <a:solidFill>
                <a:srgbClr val="FF0000"/>
              </a:solidFill>
              <a:uFill>
                <a:solidFill>
                  <a:srgbClr val="FFFFFF"/>
                </a:solidFill>
              </a:uFill>
              <a:latin typeface="Times New Roman" panose="02020603050405020304"/>
              <a:ea typeface="Malgun Gothic" panose="020B0503020000020004" charset="-127"/>
            </a:endParaRPr>
          </a:p>
          <a:p>
            <a:r>
              <a:rPr lang="en-US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$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</a:t>
            </a:r>
            <a:r>
              <a:rPr lang="en-US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</a:rPr>
              <a:t>sudo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</a:rPr>
              <a:t>gedit</a:t>
            </a:r>
            <a:r>
              <a:rPr lang="en-US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/</a:t>
            </a:r>
            <a:r>
              <a:rPr lang="en-US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etc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/</a:t>
            </a:r>
            <a:r>
              <a:rPr lang="en-US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udev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/</a:t>
            </a:r>
            <a:r>
              <a:rPr lang="en-US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rules.d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/99-ttyacms.rules</a:t>
            </a:r>
          </a:p>
          <a:p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ATTRS{</a:t>
            </a:r>
            <a:r>
              <a:rPr lang="en-US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idVendor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}=="04b4" ATTRS{</a:t>
            </a:r>
            <a:r>
              <a:rPr lang="en-US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idProduct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}=="00f9", MODE="0666", ENV{ID_MM_DEVICE_IGNORE}="1"</a:t>
            </a:r>
          </a:p>
          <a:p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ATTRS{</a:t>
            </a:r>
            <a:r>
              <a:rPr lang="en-US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idVendor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}=="04b4" ATTRS{</a:t>
            </a:r>
            <a:r>
              <a:rPr lang="en-US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idProduct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}=="00f8", MODE="0666", ENV{ID_MM_DEVICE_IGNORE}="1"</a:t>
            </a:r>
          </a:p>
          <a:p>
            <a:r>
              <a:rPr lang="en-US" altLang="ko-KR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$</a:t>
            </a:r>
            <a:r>
              <a:rPr lang="en-US" altLang="ko-KR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altLang="ko-KR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</a:rPr>
              <a:t>s</a:t>
            </a:r>
            <a:r>
              <a:rPr lang="en-US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</a:rPr>
              <a:t>udo </a:t>
            </a:r>
            <a:r>
              <a:rPr lang="en-US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</a:rPr>
              <a:t>udevadm</a:t>
            </a:r>
            <a:r>
              <a:rPr lang="en-US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pc="-1" dirty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</a:rPr>
              <a:t>control --reload-rules </a:t>
            </a:r>
          </a:p>
          <a:p>
            <a:r>
              <a:rPr lang="en-US" altLang="ko-KR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</a:rPr>
              <a:t>$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</a:rPr>
              <a:t>roslaunch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ocams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lang="en-US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pointcloud.launch</a:t>
            </a:r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335" name="CustomShape 5"/>
          <p:cNvSpPr/>
          <p:nvPr/>
        </p:nvSpPr>
        <p:spPr>
          <a:xfrm>
            <a:off x="8841591" y="3788885"/>
            <a:ext cx="221400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r>
              <a:rPr lang="en-US" b="1" spc="-1" dirty="0">
                <a:uFill>
                  <a:solidFill>
                    <a:srgbClr val="FFFFFF"/>
                  </a:solidFill>
                </a:uFill>
                <a:latin typeface="+mn-ea"/>
              </a:rPr>
              <a:t>(In case of </a:t>
            </a:r>
            <a:r>
              <a:rPr lang="en-US" b="1" spc="-1" dirty="0" err="1">
                <a:uFill>
                  <a:solidFill>
                    <a:srgbClr val="FFFFFF"/>
                  </a:solidFill>
                </a:uFill>
                <a:latin typeface="+mn-ea"/>
              </a:rPr>
              <a:t>oCam</a:t>
            </a:r>
            <a:r>
              <a:rPr lang="en-US" b="1" spc="-1" dirty="0">
                <a:uFill>
                  <a:solidFill>
                    <a:srgbClr val="FFFFFF"/>
                  </a:solidFill>
                </a:uFill>
                <a:latin typeface="+mn-ea"/>
              </a:rPr>
              <a:t>-Stereo)</a:t>
            </a:r>
            <a:endParaRPr lang="en-US" spc="-1" dirty="0">
              <a:uFill>
                <a:solidFill>
                  <a:srgbClr val="FFFFFF"/>
                </a:solidFill>
              </a:uFill>
              <a:latin typeface="+mn-ea"/>
            </a:endParaRPr>
          </a:p>
        </p:txBody>
      </p:sp>
      <p:pic>
        <p:nvPicPr>
          <p:cNvPr id="1026" name="Picture 2" descr="ScreenShot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313"/>
          <a:stretch>
            <a:fillRect/>
          </a:stretch>
        </p:blipFill>
        <p:spPr bwMode="auto">
          <a:xfrm>
            <a:off x="2266640" y="4340975"/>
            <a:ext cx="7521680" cy="1337657"/>
          </a:xfrm>
          <a:prstGeom prst="rect">
            <a:avLst/>
          </a:prstGeom>
          <a:noFill/>
        </p:spPr>
      </p:pic>
      <p:sp>
        <p:nvSpPr>
          <p:cNvPr id="3" name="직사각형 2"/>
          <p:cNvSpPr/>
          <p:nvPr/>
        </p:nvSpPr>
        <p:spPr>
          <a:xfrm>
            <a:off x="2387693" y="5824414"/>
            <a:ext cx="72795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hlinkClick r:id="rId3"/>
              </a:rPr>
              <a:t>https://github.com/withrobot/oCam/tree/master/Products/oCamS-1CGN-U</a:t>
            </a:r>
            <a:endParaRPr lang="en-US" altLang="ko-K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TextShape 2"/>
          <p:cNvSpPr txBox="1"/>
          <p:nvPr/>
        </p:nvSpPr>
        <p:spPr>
          <a:xfrm>
            <a:off x="182880" y="5153400"/>
            <a:ext cx="11765280" cy="1582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ko-KR" altLang="en-US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algun Gothic" panose="020B0503020000020004" charset="-127"/>
                <a:ea typeface="Malgun Gothic" panose="020B0503020000020004" charset="-127"/>
              </a:rPr>
              <a:t>* </a:t>
            </a:r>
            <a:r>
              <a:rPr lang="zh-CN" altLang="en-US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algun Gothic" panose="020B0503020000020004" charset="-127"/>
                <a:ea typeface="Malgun Gothic" panose="020B0503020000020004" charset="-127"/>
              </a:rPr>
              <a:t>改变</a:t>
            </a:r>
            <a:r>
              <a:rPr lang="en-US" altLang="ko-KR" sz="16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algun Gothic" panose="020B0503020000020004" charset="-127"/>
                <a:ea typeface="Malgun Gothic" panose="020B0503020000020004" charset="-127"/>
              </a:rPr>
              <a:t>Rviz</a:t>
            </a:r>
            <a:r>
              <a:rPr lang="zh-CN" altLang="en-US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algun Gothic" panose="020B0503020000020004" charset="-127"/>
                <a:ea typeface="Malgun Gothic" panose="020B0503020000020004" charset="-127"/>
              </a:rPr>
              <a:t>显示选项卡</a:t>
            </a:r>
            <a:endParaRPr lang="ko-KR" altLang="en-US" sz="28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 panose="02020603050405020304"/>
            </a:endParaRPr>
          </a:p>
          <a:p>
            <a:r>
              <a:rPr lang="en-US" altLang="ko-KR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algun Gothic" panose="020B0503020000020004" charset="-127"/>
                <a:ea typeface="Malgun Gothic" panose="020B0503020000020004" charset="-127"/>
              </a:rPr>
              <a:t>1) </a:t>
            </a:r>
            <a:r>
              <a:rPr lang="zh-CN" altLang="en-US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algun Gothic" panose="020B0503020000020004" charset="-127"/>
                <a:ea typeface="Malgun Gothic" panose="020B0503020000020004" charset="-127"/>
              </a:rPr>
              <a:t>选择固定坐标系</a:t>
            </a:r>
            <a:r>
              <a:rPr lang="en-US" altLang="ko-KR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algun Gothic" panose="020B0503020000020004" charset="-127"/>
                <a:ea typeface="Malgun Gothic" panose="020B0503020000020004" charset="-127"/>
              </a:rPr>
              <a:t>:	   Global Options &gt; </a:t>
            </a:r>
            <a:r>
              <a:rPr lang="en-US" altLang="ko-KR" sz="1600" spc="-1" dirty="0">
                <a:solidFill>
                  <a:srgbClr val="00B0F0"/>
                </a:solidFill>
                <a:uFill>
                  <a:solidFill>
                    <a:srgbClr val="FFFFFF"/>
                  </a:solidFill>
                </a:uFill>
                <a:latin typeface="Malgun Gothic" panose="020B0503020000020004" charset="-127"/>
                <a:ea typeface="Malgun Gothic" panose="020B0503020000020004" charset="-127"/>
              </a:rPr>
              <a:t>Fixed Frame = laser</a:t>
            </a:r>
            <a:endParaRPr lang="ko-KR" altLang="en-US" sz="28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 panose="02020603050405020304"/>
            </a:endParaRPr>
          </a:p>
          <a:p>
            <a:r>
              <a:rPr lang="en-US" altLang="ko-KR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algun Gothic" panose="020B0503020000020004" charset="-127"/>
                <a:ea typeface="Malgun Gothic" panose="020B0503020000020004" charset="-127"/>
              </a:rPr>
              <a:t>2)</a:t>
            </a:r>
            <a:r>
              <a:rPr lang="zh-CN" altLang="en-US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algun Gothic" panose="020B0503020000020004" charset="-127"/>
              </a:rPr>
              <a:t>添加和配置轴</a:t>
            </a:r>
            <a:r>
              <a:rPr lang="en-US" altLang="ko-KR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algun Gothic" panose="020B0503020000020004" charset="-127"/>
                <a:ea typeface="Malgun Gothic" panose="020B0503020000020004" charset="-127"/>
              </a:rPr>
              <a:t>:	   Click ‘Add’ at the bottom left of </a:t>
            </a:r>
            <a:r>
              <a:rPr lang="en-US" altLang="ko-KR" sz="16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algun Gothic" panose="020B0503020000020004" charset="-127"/>
                <a:ea typeface="Malgun Gothic" panose="020B0503020000020004" charset="-127"/>
              </a:rPr>
              <a:t>rviz</a:t>
            </a:r>
            <a:r>
              <a:rPr lang="en-US" altLang="ko-KR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algun Gothic" panose="020B0503020000020004" charset="-127"/>
                <a:ea typeface="Malgun Gothic" panose="020B0503020000020004" charset="-127"/>
              </a:rPr>
              <a:t>, then add </a:t>
            </a:r>
            <a:r>
              <a:rPr lang="en-US" altLang="ko-KR" sz="1600" spc="-1" dirty="0">
                <a:solidFill>
                  <a:srgbClr val="00B0F0"/>
                </a:solidFill>
                <a:uFill>
                  <a:solidFill>
                    <a:srgbClr val="FFFFFF"/>
                  </a:solidFill>
                </a:uFill>
                <a:latin typeface="Malgun Gothic" panose="020B0503020000020004" charset="-127"/>
                <a:ea typeface="Malgun Gothic" panose="020B0503020000020004" charset="-127"/>
              </a:rPr>
              <a:t>Axes</a:t>
            </a:r>
            <a:r>
              <a:rPr lang="ko-KR" altLang="en-US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algun Gothic" panose="020B0503020000020004" charset="-127"/>
                <a:ea typeface="Malgun Gothic" panose="020B0503020000020004" charset="-127"/>
              </a:rPr>
              <a:t> </a:t>
            </a:r>
            <a:r>
              <a:rPr lang="en-US" altLang="ko-KR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algun Gothic" panose="020B0503020000020004" charset="-127"/>
                <a:ea typeface="Malgun Gothic" panose="020B0503020000020004" charset="-127"/>
              </a:rPr>
              <a:t>(Change ‘Length’ &amp;</a:t>
            </a:r>
            <a:r>
              <a:rPr lang="ko-KR" altLang="en-US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algun Gothic" panose="020B0503020000020004" charset="-127"/>
                <a:ea typeface="Malgun Gothic" panose="020B0503020000020004" charset="-127"/>
              </a:rPr>
              <a:t> </a:t>
            </a:r>
            <a:r>
              <a:rPr lang="en-US" altLang="ko-KR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algun Gothic" panose="020B0503020000020004" charset="-127"/>
                <a:ea typeface="Malgun Gothic" panose="020B0503020000020004" charset="-127"/>
              </a:rPr>
              <a:t>‘Radius’ is option)</a:t>
            </a:r>
            <a:endParaRPr lang="ko-KR" altLang="en-US" sz="28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 panose="02020603050405020304"/>
            </a:endParaRPr>
          </a:p>
          <a:p>
            <a:r>
              <a:rPr lang="en-US" altLang="ko-KR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algun Gothic" panose="020B0503020000020004" charset="-127"/>
                <a:ea typeface="Malgun Gothic" panose="020B0503020000020004" charset="-127"/>
              </a:rPr>
              <a:t>3)</a:t>
            </a:r>
            <a:r>
              <a:rPr lang="zh-CN" altLang="en-US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algun Gothic" panose="020B0503020000020004" charset="-127"/>
              </a:rPr>
              <a:t>添加和配置</a:t>
            </a:r>
            <a:r>
              <a:rPr lang="en-US" altLang="ko-KR" sz="16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algun Gothic" panose="020B0503020000020004" charset="-127"/>
                <a:ea typeface="Malgun Gothic" panose="020B0503020000020004" charset="-127"/>
              </a:rPr>
              <a:t>LaserScan</a:t>
            </a:r>
            <a:r>
              <a:rPr lang="en-US" altLang="ko-KR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algun Gothic" panose="020B0503020000020004" charset="-127"/>
                <a:ea typeface="Malgun Gothic" panose="020B0503020000020004" charset="-127"/>
              </a:rPr>
              <a:t>:  Click ‘Add’ at the bottom left of </a:t>
            </a:r>
            <a:r>
              <a:rPr lang="en-US" altLang="ko-KR" sz="16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algun Gothic" panose="020B0503020000020004" charset="-127"/>
                <a:ea typeface="Malgun Gothic" panose="020B0503020000020004" charset="-127"/>
              </a:rPr>
              <a:t>rviz</a:t>
            </a:r>
            <a:r>
              <a:rPr lang="en-US" altLang="ko-KR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algun Gothic" panose="020B0503020000020004" charset="-127"/>
                <a:ea typeface="Malgun Gothic" panose="020B0503020000020004" charset="-127"/>
              </a:rPr>
              <a:t>, then add </a:t>
            </a:r>
            <a:r>
              <a:rPr lang="en-US" altLang="ko-KR" sz="1600" spc="-1" dirty="0" err="1">
                <a:solidFill>
                  <a:srgbClr val="00B0F0"/>
                </a:solidFill>
                <a:uFill>
                  <a:solidFill>
                    <a:srgbClr val="FFFFFF"/>
                  </a:solidFill>
                </a:uFill>
                <a:latin typeface="Malgun Gothic" panose="020B0503020000020004" charset="-127"/>
                <a:ea typeface="Malgun Gothic" panose="020B0503020000020004" charset="-127"/>
              </a:rPr>
              <a:t>LaserScan</a:t>
            </a:r>
            <a:endParaRPr lang="ko-KR" altLang="en-US" sz="28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 panose="02020603050405020304"/>
            </a:endParaRPr>
          </a:p>
          <a:p>
            <a:r>
              <a:rPr lang="ko-KR" altLang="en-US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algun Gothic" panose="020B0503020000020004" charset="-127"/>
                <a:ea typeface="Malgun Gothic" panose="020B0503020000020004" charset="-127"/>
              </a:rPr>
              <a:t> 				           </a:t>
            </a:r>
            <a:r>
              <a:rPr lang="en-US" altLang="ko-KR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algun Gothic" panose="020B0503020000020004" charset="-127"/>
                <a:ea typeface="Malgun Gothic" panose="020B0503020000020004" charset="-127"/>
              </a:rPr>
              <a:t>(</a:t>
            </a:r>
            <a:r>
              <a:rPr lang="en-US" altLang="ko-KR" sz="1600" spc="-1" dirty="0">
                <a:solidFill>
                  <a:srgbClr val="00B0F0"/>
                </a:solidFill>
                <a:uFill>
                  <a:solidFill>
                    <a:srgbClr val="FFFFFF"/>
                  </a:solidFill>
                </a:uFill>
                <a:latin typeface="Malgun Gothic" panose="020B0503020000020004" charset="-127"/>
                <a:ea typeface="Malgun Gothic" panose="020B0503020000020004" charset="-127"/>
              </a:rPr>
              <a:t>Topic</a:t>
            </a:r>
            <a:r>
              <a:rPr lang="ko-KR" altLang="en-US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algun Gothic" panose="020B0503020000020004" charset="-127"/>
                <a:ea typeface="Malgun Gothic" panose="020B0503020000020004" charset="-127"/>
              </a:rPr>
              <a:t> </a:t>
            </a:r>
            <a:r>
              <a:rPr lang="en-US" altLang="ko-KR" sz="16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Malgun Gothic" panose="020B0503020000020004" charset="-127"/>
                <a:ea typeface="Malgun Gothic" panose="020B0503020000020004" charset="-127"/>
              </a:rPr>
              <a:t>designation is required, ‘Color Transformer’, ‘Color’, etc. are options)</a:t>
            </a:r>
            <a:endParaRPr lang="ko-KR" altLang="en-US" sz="28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 panose="02020603050405020304"/>
            </a:endParaRPr>
          </a:p>
        </p:txBody>
      </p:sp>
      <p:sp>
        <p:nvSpPr>
          <p:cNvPr id="300" name="TextShape 3"/>
          <p:cNvSpPr txBox="1"/>
          <p:nvPr/>
        </p:nvSpPr>
        <p:spPr>
          <a:xfrm>
            <a:off x="9448920" y="649296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D8D46A8D-B953-431C-9ECF-08DF2485060B}" type="slidenum">
              <a:rPr lang="en-US" sz="1400" spc="-1">
                <a:solidFill>
                  <a:srgbClr val="9BBAE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11</a:t>
            </a:fld>
            <a:endParaRPr lang="en-US" sz="1400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 panose="02020603050405020304"/>
            </a:endParaRPr>
          </a:p>
        </p:txBody>
      </p:sp>
      <p:sp>
        <p:nvSpPr>
          <p:cNvPr id="301" name="CustomShape 4"/>
          <p:cNvSpPr/>
          <p:nvPr/>
        </p:nvSpPr>
        <p:spPr>
          <a:xfrm>
            <a:off x="382680" y="2541240"/>
            <a:ext cx="11289600" cy="1461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r>
              <a:rPr lang="en-US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$ </a:t>
            </a:r>
            <a:r>
              <a:rPr lang="en-US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cs</a:t>
            </a:r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r>
              <a:rPr lang="en-US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$ </a:t>
            </a:r>
            <a:r>
              <a:rPr lang="en-US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git</a:t>
            </a:r>
            <a:r>
              <a:rPr lang="en-US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clone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https://github.com/robopeak/rplidar_ros.git</a:t>
            </a:r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r>
              <a:rPr lang="en-US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$ </a:t>
            </a:r>
            <a:r>
              <a:rPr lang="en-US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cm</a:t>
            </a:r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r>
              <a:rPr lang="en-US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$ </a:t>
            </a:r>
            <a:r>
              <a:rPr lang="en-US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sudo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</a:t>
            </a:r>
            <a:r>
              <a:rPr lang="en-US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chmod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</a:t>
            </a:r>
            <a:r>
              <a:rPr lang="en-US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a+rw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/dev/ttyUSB0</a:t>
            </a:r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r>
              <a:rPr lang="en-US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$ </a:t>
            </a:r>
            <a:r>
              <a:rPr lang="en-US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roslaunch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</a:t>
            </a:r>
            <a:r>
              <a:rPr lang="en-US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rplidar_ros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</a:t>
            </a:r>
            <a:r>
              <a:rPr lang="en-US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rplidar.launch</a:t>
            </a:r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302" name="CustomShape 5"/>
          <p:cNvSpPr/>
          <p:nvPr/>
        </p:nvSpPr>
        <p:spPr>
          <a:xfrm>
            <a:off x="382680" y="4081320"/>
            <a:ext cx="11289600" cy="913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r>
              <a:rPr lang="en-US" spc="-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$ </a:t>
            </a:r>
            <a:r>
              <a:rPr lang="en-US" spc="-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sudo apt-get install </a:t>
            </a:r>
            <a:r>
              <a:rPr lang="en-US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ros-kinetic-urg-node</a:t>
            </a:r>
            <a:endParaRPr lang="en-US" spc="-1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r>
              <a:rPr lang="en-US" spc="-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$</a:t>
            </a:r>
            <a:r>
              <a:rPr lang="en-US" spc="-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sudo chmod a+rw </a:t>
            </a:r>
            <a:r>
              <a:rPr lang="en-US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/dev/ttyACM0
</a:t>
            </a:r>
            <a:r>
              <a:rPr lang="en-US" spc="-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$ </a:t>
            </a:r>
            <a:r>
              <a:rPr lang="en-US" spc="-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rosrun </a:t>
            </a:r>
            <a:r>
              <a:rPr lang="en-US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urg_node urg_node</a:t>
            </a:r>
            <a:endParaRPr lang="en-US" spc="-1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303" name="CustomShape 6"/>
          <p:cNvSpPr/>
          <p:nvPr/>
        </p:nvSpPr>
        <p:spPr>
          <a:xfrm>
            <a:off x="9184200" y="2536920"/>
            <a:ext cx="21513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(In case of </a:t>
            </a:r>
            <a:r>
              <a:rPr lang="en-US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RPLiDAR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)</a:t>
            </a:r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304" name="CustomShape 7"/>
          <p:cNvSpPr/>
          <p:nvPr/>
        </p:nvSpPr>
        <p:spPr>
          <a:xfrm>
            <a:off x="9159720" y="4025160"/>
            <a:ext cx="217440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(In case of HOKUYO)</a:t>
            </a:r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306" name="CustomShape 9"/>
          <p:cNvSpPr/>
          <p:nvPr/>
        </p:nvSpPr>
        <p:spPr>
          <a:xfrm>
            <a:off x="383040" y="993240"/>
            <a:ext cx="11289600" cy="1461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r>
              <a:rPr lang="en-US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$ </a:t>
            </a:r>
            <a:r>
              <a:rPr lang="en-US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cs</a:t>
            </a:r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r>
              <a:rPr lang="en-US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$ </a:t>
            </a:r>
            <a:r>
              <a:rPr lang="en-US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git</a:t>
            </a:r>
            <a:r>
              <a:rPr lang="en-US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clone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https://github.com/ROBOTIS-GIT/hls_lfcd_lds_driver.git</a:t>
            </a:r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r>
              <a:rPr lang="en-US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$ </a:t>
            </a:r>
            <a:r>
              <a:rPr lang="en-US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cm</a:t>
            </a:r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r>
              <a:rPr lang="en-US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$ </a:t>
            </a:r>
            <a:r>
              <a:rPr lang="en-US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sudo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</a:t>
            </a:r>
            <a:r>
              <a:rPr lang="en-US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chmod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</a:t>
            </a:r>
            <a:r>
              <a:rPr lang="en-US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a+rw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/dev/ttyUSB0</a:t>
            </a:r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r>
              <a:rPr lang="en-US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$ </a:t>
            </a:r>
            <a:r>
              <a:rPr lang="en-US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roslaunch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</a:t>
            </a:r>
            <a:r>
              <a:rPr lang="en-US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hls_lfcd_lds_driver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</a:t>
            </a:r>
            <a:r>
              <a:rPr lang="en-US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view_hlds_laser.launch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</a:t>
            </a:r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307" name="CustomShape 10"/>
          <p:cNvSpPr/>
          <p:nvPr/>
        </p:nvSpPr>
        <p:spPr>
          <a:xfrm>
            <a:off x="9184560" y="988920"/>
            <a:ext cx="215136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(In case of LDS)</a:t>
            </a:r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</p:txBody>
      </p:sp>
      <p:sp>
        <p:nvSpPr>
          <p:cNvPr id="11" name="TextShape 1"/>
          <p:cNvSpPr txBox="1"/>
          <p:nvPr/>
        </p:nvSpPr>
        <p:spPr>
          <a:xfrm>
            <a:off x="382680" y="234360"/>
            <a:ext cx="11289600" cy="679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zh-CN" altLang="en-US" sz="3600" b="1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传感器包练习 </a:t>
            </a:r>
            <a:r>
              <a:rPr lang="en-US" altLang="ko-KR" sz="3600" b="1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#6 (LDS)</a:t>
            </a:r>
            <a:endParaRPr lang="ko-KR" altLang="en-US" sz="3600" b="1" spc="-1" dirty="0">
              <a:solidFill>
                <a:srgbClr val="002060"/>
              </a:solidFill>
              <a:uFill>
                <a:solidFill>
                  <a:srgbClr val="FFFFFF"/>
                </a:solidFill>
              </a:u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TextShape 2"/>
          <p:cNvSpPr txBox="1"/>
          <p:nvPr/>
        </p:nvSpPr>
        <p:spPr>
          <a:xfrm>
            <a:off x="9448920" y="649296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A4FA13BC-36A1-489B-AC01-851FA3A5A5A9}" type="slidenum">
              <a:rPr lang="en-US" sz="1400" spc="-1">
                <a:solidFill>
                  <a:srgbClr val="9BBAE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12</a:t>
            </a:fld>
            <a:endParaRPr lang="en-US" sz="1400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 panose="02020603050405020304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804231" y="998400"/>
            <a:ext cx="10016109" cy="5676900"/>
            <a:chOff x="46001" y="0"/>
            <a:chExt cx="12099997" cy="6858000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001" y="0"/>
              <a:ext cx="12099997" cy="6858000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2975264" y="630542"/>
              <a:ext cx="2339697" cy="408991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ja-JP" sz="1600" b="1" dirty="0">
                  <a:solidFill>
                    <a:schemeClr val="bg1"/>
                  </a:solidFill>
                </a:rPr>
                <a:t>Fixed Frame</a:t>
              </a:r>
              <a:r>
                <a:rPr lang="ja-JP" altLang="en-US" sz="1600" b="1" dirty="0">
                  <a:solidFill>
                    <a:schemeClr val="bg1"/>
                  </a:solidFill>
                </a:rPr>
                <a:t>：</a:t>
              </a:r>
              <a:r>
                <a:rPr lang="en-US" sz="1600" b="1" dirty="0">
                  <a:solidFill>
                    <a:schemeClr val="bg1"/>
                  </a:solidFill>
                </a:rPr>
                <a:t>laser</a:t>
              </a:r>
            </a:p>
          </p:txBody>
        </p:sp>
        <p:cxnSp>
          <p:nvCxnSpPr>
            <p:cNvPr id="7" name="Straight Arrow Connector 5"/>
            <p:cNvCxnSpPr>
              <a:stCxn id="6" idx="1"/>
            </p:cNvCxnSpPr>
            <p:nvPr/>
          </p:nvCxnSpPr>
          <p:spPr>
            <a:xfrm flipH="1" flipV="1">
              <a:off x="1629065" y="815209"/>
              <a:ext cx="1346199" cy="19829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2975264" y="2831524"/>
              <a:ext cx="1994458" cy="29744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tIns="0" bIns="0" rtlCol="0">
              <a:spAutoFit/>
            </a:bodyPr>
            <a:lstStyle/>
            <a:p>
              <a:r>
                <a:rPr lang="en-US" altLang="ja-JP" sz="1600" b="1" dirty="0">
                  <a:solidFill>
                    <a:schemeClr val="bg1"/>
                  </a:solidFill>
                </a:rPr>
                <a:t>Axis Length</a:t>
              </a:r>
              <a:r>
                <a:rPr lang="ja-JP" altLang="en-US" sz="1600" b="1" dirty="0">
                  <a:solidFill>
                    <a:schemeClr val="bg1"/>
                  </a:solidFill>
                </a:rPr>
                <a:t>：</a:t>
              </a:r>
              <a:r>
                <a:rPr lang="en-US" altLang="ja-JP" sz="1600" b="1" dirty="0">
                  <a:solidFill>
                    <a:schemeClr val="bg1"/>
                  </a:solidFill>
                </a:rPr>
                <a:t>1</a:t>
              </a:r>
              <a:endParaRPr lang="en-US" sz="1600" b="1" dirty="0">
                <a:solidFill>
                  <a:schemeClr val="bg1"/>
                </a:solidFill>
              </a:endParaRPr>
            </a:p>
          </p:txBody>
        </p:sp>
        <p:cxnSp>
          <p:nvCxnSpPr>
            <p:cNvPr id="9" name="Straight Arrow Connector 13"/>
            <p:cNvCxnSpPr/>
            <p:nvPr/>
          </p:nvCxnSpPr>
          <p:spPr>
            <a:xfrm flipH="1">
              <a:off x="1629064" y="3040030"/>
              <a:ext cx="1346198" cy="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2975264" y="3147845"/>
              <a:ext cx="2159384" cy="29744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tIns="0" bIns="0" rtlCol="0">
              <a:spAutoFit/>
            </a:bodyPr>
            <a:lstStyle/>
            <a:p>
              <a:r>
                <a:rPr lang="en-US" altLang="ko-KR" sz="1600" b="1" dirty="0">
                  <a:solidFill>
                    <a:schemeClr val="bg1"/>
                  </a:solidFill>
                </a:rPr>
                <a:t>Axis Radius</a:t>
              </a:r>
              <a:r>
                <a:rPr lang="ja-JP" altLang="en-US" sz="1600" b="1" dirty="0">
                  <a:solidFill>
                    <a:schemeClr val="bg1"/>
                  </a:solidFill>
                </a:rPr>
                <a:t>：</a:t>
              </a:r>
              <a:r>
                <a:rPr lang="en-US" altLang="ja-JP" sz="1600" b="1" dirty="0">
                  <a:solidFill>
                    <a:schemeClr val="bg1"/>
                  </a:solidFill>
                </a:rPr>
                <a:t>0.1</a:t>
              </a:r>
              <a:endParaRPr lang="en-US" sz="16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1" name="Straight Arrow Connector 17"/>
            <p:cNvCxnSpPr/>
            <p:nvPr/>
          </p:nvCxnSpPr>
          <p:spPr>
            <a:xfrm flipH="1">
              <a:off x="1629064" y="3217363"/>
              <a:ext cx="1344159" cy="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2973221" y="3469470"/>
              <a:ext cx="2271918" cy="29744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tIns="0" bIns="0" rtlCol="0">
              <a:spAutoFit/>
            </a:bodyPr>
            <a:lstStyle/>
            <a:p>
              <a:r>
                <a:rPr lang="en-US" altLang="ko-KR" sz="1600" b="1" dirty="0">
                  <a:solidFill>
                    <a:schemeClr val="bg1"/>
                  </a:solidFill>
                </a:rPr>
                <a:t>Topic name</a:t>
              </a:r>
              <a:r>
                <a:rPr lang="ja-JP" altLang="en-US" sz="1600" b="1" dirty="0">
                  <a:solidFill>
                    <a:schemeClr val="bg1"/>
                  </a:solidFill>
                </a:rPr>
                <a:t>：</a:t>
              </a:r>
              <a:r>
                <a:rPr lang="en-US" altLang="ja-JP" sz="1600" b="1" dirty="0">
                  <a:solidFill>
                    <a:schemeClr val="bg1"/>
                  </a:solidFill>
                </a:rPr>
                <a:t>/scan</a:t>
              </a:r>
              <a:endParaRPr lang="en-US" sz="16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3" name="Straight Arrow Connector 23"/>
            <p:cNvCxnSpPr/>
            <p:nvPr/>
          </p:nvCxnSpPr>
          <p:spPr>
            <a:xfrm flipH="1">
              <a:off x="1629064" y="3603281"/>
              <a:ext cx="1344158" cy="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3000662" y="4463276"/>
              <a:ext cx="4267493" cy="29744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tIns="0" bIns="0" rtlCol="0">
              <a:spAutoFit/>
            </a:bodyPr>
            <a:lstStyle/>
            <a:p>
              <a:r>
                <a:rPr lang="en-US" altLang="ko-KR" sz="1600" b="1" dirty="0">
                  <a:solidFill>
                    <a:schemeClr val="bg1"/>
                  </a:solidFill>
                </a:rPr>
                <a:t>Color Conversion Criteria</a:t>
              </a:r>
              <a:r>
                <a:rPr lang="ja-JP" altLang="en-US" sz="1600" b="1" dirty="0">
                  <a:solidFill>
                    <a:schemeClr val="bg1"/>
                  </a:solidFill>
                </a:rPr>
                <a:t>：</a:t>
              </a:r>
              <a:r>
                <a:rPr lang="en-US" altLang="ja-JP" sz="1600" b="1" dirty="0" err="1">
                  <a:solidFill>
                    <a:schemeClr val="bg1"/>
                  </a:solidFill>
                </a:rPr>
                <a:t>FlatColor</a:t>
              </a:r>
              <a:endParaRPr lang="en-US" sz="16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5" name="Straight Arrow Connector 25"/>
            <p:cNvCxnSpPr/>
            <p:nvPr/>
          </p:nvCxnSpPr>
          <p:spPr>
            <a:xfrm flipH="1">
              <a:off x="1841500" y="4581792"/>
              <a:ext cx="1157123" cy="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3000661" y="4742226"/>
              <a:ext cx="3039179" cy="297448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tIns="0" bIns="0" rtlCol="0">
              <a:spAutoFit/>
            </a:bodyPr>
            <a:lstStyle/>
            <a:p>
              <a:r>
                <a:rPr lang="en-US" altLang="ko-KR" sz="1600" b="1" dirty="0">
                  <a:solidFill>
                    <a:schemeClr val="bg1"/>
                  </a:solidFill>
                </a:rPr>
                <a:t>Color</a:t>
              </a:r>
              <a:r>
                <a:rPr lang="ja-JP" altLang="en-US" sz="1600" b="1" dirty="0">
                  <a:solidFill>
                    <a:schemeClr val="bg1"/>
                  </a:solidFill>
                </a:rPr>
                <a:t>：</a:t>
              </a:r>
              <a:r>
                <a:rPr lang="en-US" altLang="ja-JP" sz="1600" b="1" dirty="0">
                  <a:solidFill>
                    <a:schemeClr val="bg1"/>
                  </a:solidFill>
                </a:rPr>
                <a:t>255;0;0 (Red</a:t>
              </a:r>
              <a:r>
                <a:rPr lang="en-US" altLang="ko-KR" sz="1600" b="1" dirty="0">
                  <a:solidFill>
                    <a:schemeClr val="bg1"/>
                  </a:solidFill>
                </a:rPr>
                <a:t>)</a:t>
              </a:r>
              <a:endParaRPr lang="en-US" altLang="ja-JP" sz="16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7" name="Straight Arrow Connector 27"/>
            <p:cNvCxnSpPr/>
            <p:nvPr/>
          </p:nvCxnSpPr>
          <p:spPr>
            <a:xfrm flipH="1">
              <a:off x="1841500" y="4861676"/>
              <a:ext cx="1161884" cy="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6723212" y="441156"/>
              <a:ext cx="2662088" cy="408991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1600" b="1" dirty="0" err="1">
                  <a:solidFill>
                    <a:schemeClr val="bg1"/>
                  </a:solidFill>
                </a:rPr>
                <a:t>Views:TopDownOrtho</a:t>
              </a:r>
              <a:r>
                <a:rPr lang="en-US" sz="1600" b="1" dirty="0">
                  <a:solidFill>
                    <a:schemeClr val="bg1"/>
                  </a:solidFill>
                </a:rPr>
                <a:t> </a:t>
              </a:r>
            </a:p>
          </p:txBody>
        </p:sp>
        <p:cxnSp>
          <p:nvCxnSpPr>
            <p:cNvPr id="19" name="Straight Arrow Connector 5"/>
            <p:cNvCxnSpPr/>
            <p:nvPr/>
          </p:nvCxnSpPr>
          <p:spPr>
            <a:xfrm>
              <a:off x="9385300" y="645652"/>
              <a:ext cx="1171864" cy="0"/>
            </a:xfrm>
            <a:prstGeom prst="straightConnector1">
              <a:avLst/>
            </a:prstGeom>
            <a:ln w="38100"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Shape 1"/>
          <p:cNvSpPr txBox="1"/>
          <p:nvPr/>
        </p:nvSpPr>
        <p:spPr>
          <a:xfrm>
            <a:off x="382680" y="234360"/>
            <a:ext cx="11289600" cy="679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zh-CN" altLang="en-US" sz="3600" b="1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传感器包练习 </a:t>
            </a:r>
            <a:r>
              <a:rPr lang="en-US" altLang="ko-KR" sz="3600" b="1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#6 (LDS)</a:t>
            </a:r>
            <a:endParaRPr lang="ko-KR" altLang="en-US" sz="3600" b="1" spc="-1" dirty="0">
              <a:solidFill>
                <a:srgbClr val="002060"/>
              </a:solidFill>
              <a:uFill>
                <a:solidFill>
                  <a:srgbClr val="FFFFFF"/>
                </a:solidFill>
              </a:u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TextShape 1"/>
          <p:cNvSpPr txBox="1"/>
          <p:nvPr/>
        </p:nvSpPr>
        <p:spPr>
          <a:xfrm>
            <a:off x="382680" y="234360"/>
            <a:ext cx="11289600" cy="679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r>
              <a:rPr lang="zh-CN" altLang="en-US" sz="3600" b="1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传感器包练习  </a:t>
            </a:r>
            <a:r>
              <a:rPr lang="en-US" altLang="ko-KR" sz="3600" b="1" spc="-1" dirty="0">
                <a:solidFill>
                  <a:srgbClr val="002060"/>
                </a:solidFill>
                <a:uFill>
                  <a:solidFill>
                    <a:srgbClr val="FFFFFF"/>
                  </a:solidFill>
                </a:u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#7 (IMU)</a:t>
            </a:r>
            <a:endParaRPr lang="ko-KR" altLang="en-US" sz="3600" b="1" spc="-1" dirty="0">
              <a:solidFill>
                <a:srgbClr val="002060"/>
              </a:solidFill>
              <a:uFill>
                <a:solidFill>
                  <a:srgbClr val="FFFFFF"/>
                </a:solidFill>
              </a:u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2" name="TextShape 2"/>
          <p:cNvSpPr txBox="1"/>
          <p:nvPr/>
        </p:nvSpPr>
        <p:spPr>
          <a:xfrm>
            <a:off x="9448920" y="649296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r"/>
            <a:fld id="{73A47C04-42E6-4B0B-9329-3EC235D2B955}" type="slidenum">
              <a:rPr lang="en-US" sz="1400" spc="-1">
                <a:solidFill>
                  <a:srgbClr val="9BBAE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13</a:t>
            </a:fld>
            <a:endParaRPr lang="en-US" sz="1400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 panose="02020603050405020304"/>
            </a:endParaRPr>
          </a:p>
        </p:txBody>
      </p:sp>
      <p:sp>
        <p:nvSpPr>
          <p:cNvPr id="313" name="CustomShape 3"/>
          <p:cNvSpPr/>
          <p:nvPr/>
        </p:nvSpPr>
        <p:spPr>
          <a:xfrm>
            <a:off x="382680" y="1222560"/>
            <a:ext cx="11289600" cy="155359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r>
              <a:rPr lang="en-US" altLang="ko-KR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ea typeface="Malgun Gothic" panose="020B0503020000020004" charset="-127"/>
                <a:cs typeface="Times New Roman" panose="02020603050405020304" pitchFamily="18" charset="0"/>
              </a:rPr>
              <a:t>$</a:t>
            </a:r>
            <a:r>
              <a:rPr lang="en-US" altLang="ko-KR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ea typeface="Malgun Gothic" panose="020B0503020000020004" charset="-127"/>
                <a:cs typeface="Times New Roman" panose="02020603050405020304" pitchFamily="18" charset="0"/>
              </a:rPr>
              <a:t> </a:t>
            </a:r>
            <a:r>
              <a:rPr lang="en-US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cs</a:t>
            </a:r>
            <a:endParaRPr lang="en-US" spc="-1" dirty="0">
              <a:solidFill>
                <a:srgbClr val="FFFF00"/>
              </a:solidFill>
              <a:uFill>
                <a:solidFill>
                  <a:srgbClr val="FFFFFF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ea typeface="Malgun Gothic" panose="020B0503020000020004" charset="-127"/>
                <a:cs typeface="Times New Roman" panose="02020603050405020304" pitchFamily="18" charset="0"/>
              </a:rPr>
              <a:t>$</a:t>
            </a:r>
            <a:r>
              <a:rPr lang="en-US" altLang="ko-KR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ea typeface="Malgun Gothic" panose="020B0503020000020004" charset="-127"/>
                <a:cs typeface="Times New Roman" panose="02020603050405020304" pitchFamily="18" charset="0"/>
              </a:rPr>
              <a:t> </a:t>
            </a:r>
            <a:r>
              <a:rPr lang="en-US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en-US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clone </a:t>
            </a:r>
            <a:r>
              <a:rPr lang="en-US" spc="-1" dirty="0">
                <a:solidFill>
                  <a:prstClr val="white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https://github.com/robotpilot/myahrs_driver.git</a:t>
            </a:r>
          </a:p>
          <a:p>
            <a:r>
              <a:rPr lang="en-US" altLang="ko-KR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ea typeface="Malgun Gothic" panose="020B0503020000020004" charset="-127"/>
                <a:cs typeface="Times New Roman" panose="02020603050405020304" pitchFamily="18" charset="0"/>
              </a:rPr>
              <a:t>$</a:t>
            </a:r>
            <a:r>
              <a:rPr lang="en-US" altLang="ko-KR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ea typeface="Malgun Gothic" panose="020B0503020000020004" charset="-127"/>
                <a:cs typeface="Times New Roman" panose="02020603050405020304" pitchFamily="18" charset="0"/>
              </a:rPr>
              <a:t> </a:t>
            </a:r>
            <a:r>
              <a:rPr lang="en-US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cm</a:t>
            </a:r>
          </a:p>
          <a:p>
            <a:r>
              <a:rPr lang="en-US" altLang="ko-KR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ea typeface="Malgun Gothic" panose="020B0503020000020004" charset="-127"/>
                <a:cs typeface="Times New Roman" panose="02020603050405020304" pitchFamily="18" charset="0"/>
              </a:rPr>
              <a:t>$</a:t>
            </a:r>
            <a:r>
              <a:rPr lang="en-US" altLang="ko-KR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ea typeface="Malgun Gothic" panose="020B0503020000020004" charset="-127"/>
                <a:cs typeface="Times New Roman" panose="02020603050405020304" pitchFamily="18" charset="0"/>
              </a:rPr>
              <a:t> </a:t>
            </a:r>
            <a:r>
              <a:rPr lang="en-US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US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chmod</a:t>
            </a:r>
            <a:r>
              <a:rPr lang="en-US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" dirty="0" err="1">
                <a:solidFill>
                  <a:prstClr val="white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a+rw</a:t>
            </a:r>
            <a:r>
              <a:rPr lang="en-US" spc="-1" dirty="0">
                <a:solidFill>
                  <a:prstClr val="white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/dev/ttyACM0</a:t>
            </a:r>
          </a:p>
          <a:p>
            <a:r>
              <a:rPr lang="en-US" altLang="ko-KR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ea typeface="Malgun Gothic" panose="020B0503020000020004" charset="-127"/>
                <a:cs typeface="Times New Roman" panose="02020603050405020304" pitchFamily="18" charset="0"/>
              </a:rPr>
              <a:t>$</a:t>
            </a:r>
            <a:r>
              <a:rPr lang="en-US" altLang="ko-KR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ea typeface="Malgun Gothic" panose="020B0503020000020004" charset="-127"/>
                <a:cs typeface="Times New Roman" panose="02020603050405020304" pitchFamily="18" charset="0"/>
              </a:rPr>
              <a:t> </a:t>
            </a:r>
            <a:r>
              <a:rPr lang="en-US" spc="-1" dirty="0" err="1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roslaunch</a:t>
            </a:r>
            <a:r>
              <a:rPr lang="en-US" spc="-1" dirty="0">
                <a:solidFill>
                  <a:srgbClr val="FFFF0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" dirty="0" err="1">
                <a:solidFill>
                  <a:prstClr val="white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myahrs_driver</a:t>
            </a:r>
            <a:r>
              <a:rPr lang="en-US" spc="-1" dirty="0">
                <a:solidFill>
                  <a:prstClr val="white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" dirty="0" err="1">
                <a:solidFill>
                  <a:prstClr val="white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myahrs_driver.launch</a:t>
            </a:r>
            <a:endParaRPr lang="en-US" spc="-1" dirty="0">
              <a:solidFill>
                <a:prstClr val="white"/>
              </a:solidFill>
              <a:uFill>
                <a:solidFill>
                  <a:srgbClr val="FFFFFF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4" name="CustomShape 4"/>
          <p:cNvSpPr/>
          <p:nvPr/>
        </p:nvSpPr>
        <p:spPr>
          <a:xfrm>
            <a:off x="8246200" y="1285212"/>
            <a:ext cx="2878200" cy="36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(In case of </a:t>
            </a:r>
            <a:r>
              <a:rPr lang="en-US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withrobot’s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 </a:t>
            </a:r>
            <a:r>
              <a:rPr lang="en-US" spc="-1" dirty="0" err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myAHRS</a:t>
            </a:r>
            <a:r>
              <a:rPr lang="en-US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/>
                <a:ea typeface="Malgun Gothic" panose="020B0503020000020004" charset="-127"/>
              </a:rPr>
              <a:t>+)</a:t>
            </a:r>
            <a:endParaRPr lang="en-US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</p:txBody>
      </p:sp>
      <p:pic>
        <p:nvPicPr>
          <p:cNvPr id="31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2236680" y="2899720"/>
            <a:ext cx="6708126" cy="37786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3182391" y="2355511"/>
            <a:ext cx="5827236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8800" b="1" dirty="0">
                <a:solidFill>
                  <a:schemeClr val="accent1"/>
                </a:solidFill>
                <a:latin typeface="Wawati SC" charset="-122"/>
                <a:ea typeface="Wawati SC" charset="-122"/>
                <a:cs typeface="Wawati SC" charset="-122"/>
              </a:rPr>
              <a:t>电机驱动包</a:t>
            </a:r>
            <a:endParaRPr lang="ko-KR" altLang="en-US" sz="8800" b="1" dirty="0">
              <a:solidFill>
                <a:schemeClr val="accent1"/>
              </a:solidFill>
              <a:latin typeface="Wawati SC" charset="-122"/>
              <a:ea typeface="Wawati SC" charset="-122"/>
              <a:cs typeface="Wawati SC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</a:t>
            </a:r>
            <a:r>
              <a:rPr lang="en-US" altLang="ko-KR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ROS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控制</a:t>
            </a:r>
            <a:r>
              <a:rPr lang="en-US" altLang="ko-KR" dirty="0" err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Dynamixel</a:t>
            </a:r>
            <a:endParaRPr lang="ko-KR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2555" y="998376"/>
            <a:ext cx="11290041" cy="3476776"/>
          </a:xfrm>
        </p:spPr>
        <p:txBody>
          <a:bodyPr>
            <a:normAutofit lnSpcReduction="10000"/>
          </a:bodyPr>
          <a:lstStyle/>
          <a:p>
            <a:r>
              <a:rPr lang="en-US" altLang="ko-KR" b="1" dirty="0" err="1"/>
              <a:t>DynamixelSDK</a:t>
            </a:r>
            <a:r>
              <a:rPr lang="en-US" altLang="ko-KR" dirty="0"/>
              <a:t> (</a:t>
            </a:r>
            <a:r>
              <a:rPr lang="en-US" altLang="ko-KR" dirty="0">
                <a:hlinkClick r:id="rId2"/>
              </a:rPr>
              <a:t>http://wiki.ros.org/dynamixel_sdk</a:t>
            </a:r>
            <a:r>
              <a:rPr lang="en-US" altLang="ko-KR" dirty="0"/>
              <a:t>)</a:t>
            </a:r>
          </a:p>
          <a:p>
            <a:pPr lvl="1"/>
            <a:r>
              <a:rPr lang="zh-CN" altLang="en-US" dirty="0"/>
              <a:t>支持三大代表操作系统</a:t>
            </a:r>
            <a:r>
              <a:rPr lang="ko-KR" altLang="en-US" dirty="0"/>
              <a:t> </a:t>
            </a:r>
            <a:r>
              <a:rPr lang="en-US" altLang="ko-KR" dirty="0"/>
              <a:t>(Linux, Windows, </a:t>
            </a:r>
            <a:r>
              <a:rPr lang="en-US" altLang="ko-KR" dirty="0" err="1"/>
              <a:t>MacOS</a:t>
            </a:r>
            <a:r>
              <a:rPr lang="en-US" altLang="ko-KR" dirty="0"/>
              <a:t>)</a:t>
            </a:r>
          </a:p>
          <a:p>
            <a:pPr lvl="1"/>
            <a:r>
              <a:rPr lang="zh-CN" altLang="en-US" dirty="0"/>
              <a:t>支持的编程语言有</a:t>
            </a:r>
            <a:r>
              <a:rPr lang="en-US" altLang="ko-KR" dirty="0"/>
              <a:t>C, C++, C#, Python, Java, MATLAB, LabVIEW, etc.</a:t>
            </a:r>
          </a:p>
          <a:p>
            <a:pPr lvl="1"/>
            <a:r>
              <a:rPr lang="zh-CN" altLang="en-US" dirty="0"/>
              <a:t>支持</a:t>
            </a:r>
            <a:r>
              <a:rPr lang="en-US" altLang="ko-KR" dirty="0"/>
              <a:t> ROS</a:t>
            </a:r>
          </a:p>
          <a:p>
            <a:pPr lvl="1"/>
            <a:endParaRPr lang="en-US" altLang="ko-KR" dirty="0"/>
          </a:p>
          <a:p>
            <a:r>
              <a:rPr lang="en-US" altLang="ko-KR" b="1" dirty="0" err="1"/>
              <a:t>dynamixel_workbench</a:t>
            </a:r>
            <a:r>
              <a:rPr lang="en-US" altLang="ko-KR" dirty="0"/>
              <a:t> (</a:t>
            </a:r>
            <a:r>
              <a:rPr lang="en-US" altLang="ko-KR" dirty="0">
                <a:hlinkClick r:id="rId3"/>
              </a:rPr>
              <a:t>http://wiki.ros.org/dynamixel_workbench</a:t>
            </a:r>
            <a:r>
              <a:rPr lang="en-US" altLang="ko-KR" dirty="0"/>
              <a:t>)</a:t>
            </a:r>
          </a:p>
          <a:p>
            <a:pPr lvl="1"/>
            <a:r>
              <a:rPr lang="zh-CN" altLang="en-US" dirty="0"/>
              <a:t>提供各种示例以方便在</a:t>
            </a:r>
            <a:r>
              <a:rPr lang="en-US" altLang="ko-KR" dirty="0"/>
              <a:t>ROS</a:t>
            </a:r>
            <a:r>
              <a:rPr lang="zh-CN" altLang="en-US" dirty="0"/>
              <a:t>中使用</a:t>
            </a:r>
            <a:endParaRPr lang="en-US" altLang="ko-KR" dirty="0"/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ROS</a:t>
            </a:r>
            <a:r>
              <a:rPr lang="zh-CN" altLang="en-US" dirty="0"/>
              <a:t>下提供</a:t>
            </a:r>
            <a:r>
              <a:rPr lang="en-US" altLang="zh-CN" dirty="0"/>
              <a:t>GUI</a:t>
            </a:r>
            <a:r>
              <a:rPr lang="zh-CN" altLang="en-US" dirty="0"/>
              <a:t>工具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09E4-EDB9-4D6A-8918-B1B0AEC6D61D}" type="slidenum">
              <a:rPr lang="ko-KR" altLang="en-US" smtClean="0"/>
              <a:t>15</a:t>
            </a:fld>
            <a:endParaRPr lang="ko-KR" altLang="en-US" dirty="0"/>
          </a:p>
        </p:txBody>
      </p:sp>
      <p:grpSp>
        <p:nvGrpSpPr>
          <p:cNvPr id="5" name="그룹 4"/>
          <p:cNvGrpSpPr/>
          <p:nvPr/>
        </p:nvGrpSpPr>
        <p:grpSpPr>
          <a:xfrm>
            <a:off x="610667" y="4374476"/>
            <a:ext cx="10971733" cy="2483524"/>
            <a:chOff x="1231697" y="3926390"/>
            <a:chExt cx="10971733" cy="2483524"/>
          </a:xfrm>
        </p:grpSpPr>
        <p:pic>
          <p:nvPicPr>
            <p:cNvPr id="6" name="Picture 3" descr="C:\Users\Darby\Documents\Darby\170523 개정판(머니퓰레이터 장, 사진추가)\170522 개정판(머니퓰레이터 장, 사진추가)\첨부파일\다운로드 파일\그림 37-1.jpg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066" b="18937"/>
            <a:stretch>
              <a:fillRect/>
            </a:stretch>
          </p:blipFill>
          <p:spPr bwMode="auto">
            <a:xfrm>
              <a:off x="4527541" y="4942396"/>
              <a:ext cx="1587609" cy="1127148"/>
            </a:xfrm>
            <a:prstGeom prst="rect">
              <a:avLst/>
            </a:prstGeom>
            <a:noFill/>
          </p:spPr>
        </p:pic>
        <p:sp>
          <p:nvSpPr>
            <p:cNvPr id="7" name="TextBox 6"/>
            <p:cNvSpPr txBox="1"/>
            <p:nvPr/>
          </p:nvSpPr>
          <p:spPr>
            <a:xfrm>
              <a:off x="3444241" y="3926390"/>
              <a:ext cx="36389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U2D2</a:t>
              </a:r>
              <a:endParaRPr lang="ko-KR" altLang="en-US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444241" y="5974456"/>
              <a:ext cx="36389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SMPS2DYNAMIXEL</a:t>
              </a:r>
              <a:endParaRPr lang="ko-KR" altLang="en-US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776828" y="5948249"/>
              <a:ext cx="442660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b="1" dirty="0"/>
                <a:t>Dynamixel</a:t>
              </a:r>
              <a:endParaRPr lang="ko-KR" altLang="en-US" sz="2400" b="1" dirty="0"/>
            </a:p>
          </p:txBody>
        </p:sp>
        <p:pic>
          <p:nvPicPr>
            <p:cNvPr id="10" name="Picture 2" descr="C:\Users\Darby\Desktop\_MG_8996__burned.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309715">
              <a:off x="4597150" y="3928800"/>
              <a:ext cx="1448390" cy="1373755"/>
            </a:xfrm>
            <a:prstGeom prst="rect">
              <a:avLst/>
            </a:prstGeom>
            <a:noFill/>
          </p:spPr>
        </p:pic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>
            <a:xfrm>
              <a:off x="1231697" y="4144309"/>
              <a:ext cx="2048714" cy="18695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왼쪽/오른쪽 화살표 12"/>
            <p:cNvSpPr/>
            <p:nvPr/>
          </p:nvSpPr>
          <p:spPr>
            <a:xfrm>
              <a:off x="3444240" y="4942396"/>
              <a:ext cx="816082" cy="286193"/>
            </a:xfrm>
            <a:prstGeom prst="left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왼쪽/오른쪽 화살표 13"/>
            <p:cNvSpPr/>
            <p:nvPr/>
          </p:nvSpPr>
          <p:spPr>
            <a:xfrm>
              <a:off x="6268067" y="4942396"/>
              <a:ext cx="816082" cy="286193"/>
            </a:xfrm>
            <a:prstGeom prst="left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5" name="Picture 6" descr="DXL_SDK_image.jp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1249" y="4592395"/>
            <a:ext cx="5013111" cy="1783236"/>
          </a:xfrm>
          <a:prstGeom prst="rect">
            <a:avLst/>
          </a:prstGeom>
          <a:noFill/>
        </p:spPr>
      </p:pic>
      <p:pic>
        <p:nvPicPr>
          <p:cNvPr id="16" name="Picture 80" descr="http://1.bp.blogspot.com/_F0i917zfySk/TJi2_QnJEkI/AAAAAAAAB78/QVKobsbPX78/s1600/ros_enabled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6050" y="4359908"/>
            <a:ext cx="2383049" cy="830344"/>
          </a:xfrm>
          <a:prstGeom prst="rect">
            <a:avLst/>
          </a:prstGeom>
          <a:noFill/>
        </p:spPr>
      </p:pic>
      <p:pic>
        <p:nvPicPr>
          <p:cNvPr id="3074" name="Picture 2" descr="DYNAMIXEL_SDK_Logo.jp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4531" y="2412518"/>
            <a:ext cx="4686546" cy="4552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rea">
      <a:majorFont>
        <a:latin typeface="Times New Roman"/>
        <a:ea typeface="Malgun Gothic"/>
        <a:cs typeface=""/>
      </a:majorFont>
      <a:minorFont>
        <a:latin typeface="Times New Roman"/>
        <a:ea typeface="Malgun Gothic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1419</Words>
  <Application>Microsoft Office PowerPoint</Application>
  <PresentationFormat>宽屏</PresentationFormat>
  <Paragraphs>174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맑은 고딕</vt:lpstr>
      <vt:lpstr>맑은 고딕</vt:lpstr>
      <vt:lpstr>Nanum Pen Script</vt:lpstr>
      <vt:lpstr>Wawati SC</vt:lpstr>
      <vt:lpstr>宋体</vt:lpstr>
      <vt:lpstr>微软雅黑</vt:lpstr>
      <vt:lpstr>Arial</vt:lpstr>
      <vt:lpstr>Times New Roman</vt:lpstr>
      <vt:lpstr>Office Theme</vt:lpstr>
      <vt:lpstr>PowerPoint 演示文稿</vt:lpstr>
      <vt:lpstr>PowerPoint 演示文稿</vt:lpstr>
      <vt:lpstr>传感器软件包的类型</vt:lpstr>
      <vt:lpstr>PowerPoint 演示文稿</vt:lpstr>
      <vt:lpstr>PowerPoint 演示文稿</vt:lpstr>
      <vt:lpstr>传感器包练习 #2 (远程传输图像)</vt:lpstr>
      <vt:lpstr>传感器包练习 #3 (相机标定)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通过ROS 控制Dynamixel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Yoonseok Pyo</dc:creator>
  <cp:lastModifiedBy>1546230753@qq.com</cp:lastModifiedBy>
  <cp:revision>544</cp:revision>
  <dcterms:created xsi:type="dcterms:W3CDTF">2015-12-13T03:35:00Z</dcterms:created>
  <dcterms:modified xsi:type="dcterms:W3CDTF">2026-05-17T01:45:18Z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22236C8E7BB643C8BB6F47B84CCE388E_12</vt:lpwstr>
  </property>
  <property fmtid="{D5CDD505-2E9C-101B-9397-08002B2CF9AE}" pid="3" name="KSOProductBuildVer">
    <vt:lpwstr>2052-12.1.0.25865</vt:lpwstr>
  </property>
</Properties>
</file>